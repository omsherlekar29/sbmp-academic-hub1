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3"/>
  </p:notesMasterIdLst>
  <p:sldIdLst>
    <p:sldId id="256" r:id="rId5"/>
    <p:sldId id="295" r:id="rId6"/>
    <p:sldId id="373" r:id="rId7"/>
    <p:sldId id="297" r:id="rId8"/>
    <p:sldId id="296" r:id="rId9"/>
    <p:sldId id="322" r:id="rId10"/>
    <p:sldId id="323" r:id="rId11"/>
    <p:sldId id="324" r:id="rId12"/>
    <p:sldId id="325" r:id="rId13"/>
    <p:sldId id="335" r:id="rId14"/>
    <p:sldId id="336" r:id="rId15"/>
    <p:sldId id="372" r:id="rId16"/>
    <p:sldId id="371" r:id="rId17"/>
    <p:sldId id="330" r:id="rId18"/>
    <p:sldId id="327" r:id="rId19"/>
    <p:sldId id="332" r:id="rId20"/>
    <p:sldId id="333" r:id="rId21"/>
    <p:sldId id="334" r:id="rId22"/>
    <p:sldId id="374" r:id="rId23"/>
    <p:sldId id="329" r:id="rId24"/>
    <p:sldId id="331" r:id="rId25"/>
    <p:sldId id="337" r:id="rId26"/>
    <p:sldId id="338" r:id="rId27"/>
    <p:sldId id="341" r:id="rId28"/>
    <p:sldId id="339" r:id="rId29"/>
    <p:sldId id="342" r:id="rId30"/>
    <p:sldId id="344" r:id="rId31"/>
    <p:sldId id="299" r:id="rId32"/>
    <p:sldId id="340" r:id="rId33"/>
    <p:sldId id="345" r:id="rId34"/>
    <p:sldId id="343" r:id="rId35"/>
    <p:sldId id="346" r:id="rId36"/>
    <p:sldId id="347" r:id="rId37"/>
    <p:sldId id="348" r:id="rId38"/>
    <p:sldId id="349" r:id="rId39"/>
    <p:sldId id="350" r:id="rId40"/>
    <p:sldId id="351" r:id="rId41"/>
    <p:sldId id="352" r:id="rId42"/>
    <p:sldId id="353" r:id="rId43"/>
    <p:sldId id="354" r:id="rId44"/>
    <p:sldId id="355" r:id="rId45"/>
    <p:sldId id="356" r:id="rId46"/>
    <p:sldId id="357" r:id="rId47"/>
    <p:sldId id="358" r:id="rId48"/>
    <p:sldId id="375" r:id="rId49"/>
    <p:sldId id="376" r:id="rId50"/>
    <p:sldId id="359" r:id="rId51"/>
    <p:sldId id="360" r:id="rId52"/>
    <p:sldId id="361" r:id="rId53"/>
    <p:sldId id="362" r:id="rId54"/>
    <p:sldId id="363" r:id="rId55"/>
    <p:sldId id="364" r:id="rId56"/>
    <p:sldId id="365" r:id="rId57"/>
    <p:sldId id="369" r:id="rId58"/>
    <p:sldId id="366" r:id="rId59"/>
    <p:sldId id="370" r:id="rId60"/>
    <p:sldId id="367" r:id="rId61"/>
    <p:sldId id="311"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28" autoAdjust="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6682FA-61F8-48C9-ACB6-E6DE2C8C8AA7}" type="datetimeFigureOut">
              <a:rPr lang="en-IN" smtClean="0"/>
              <a:t>03-09-2025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89DD3E-200E-49C4-9545-AB0FBD36665F}" type="slidenum">
              <a:rPr lang="en-IN" smtClean="0"/>
              <a:t>‹#›</a:t>
            </a:fld>
            <a:endParaRPr lang="en-IN"/>
          </a:p>
        </p:txBody>
      </p:sp>
    </p:spTree>
    <p:extLst>
      <p:ext uri="{BB962C8B-B14F-4D97-AF65-F5344CB8AC3E}">
        <p14:creationId xmlns:p14="http://schemas.microsoft.com/office/powerpoint/2010/main" val="2137867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F89DD3E-200E-49C4-9545-AB0FBD36665F}" type="slidenum">
              <a:rPr lang="en-IN" smtClean="0"/>
              <a:t>10</a:t>
            </a:fld>
            <a:endParaRPr lang="en-IN"/>
          </a:p>
        </p:txBody>
      </p:sp>
    </p:spTree>
    <p:extLst>
      <p:ext uri="{BB962C8B-B14F-4D97-AF65-F5344CB8AC3E}">
        <p14:creationId xmlns:p14="http://schemas.microsoft.com/office/powerpoint/2010/main" val="3608251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F89DD3E-200E-49C4-9545-AB0FBD36665F}" type="slidenum">
              <a:rPr lang="en-IN" smtClean="0"/>
              <a:t>23</a:t>
            </a:fld>
            <a:endParaRPr lang="en-IN"/>
          </a:p>
        </p:txBody>
      </p:sp>
    </p:spTree>
    <p:extLst>
      <p:ext uri="{BB962C8B-B14F-4D97-AF65-F5344CB8AC3E}">
        <p14:creationId xmlns:p14="http://schemas.microsoft.com/office/powerpoint/2010/main" val="4180631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7EFA074-0CD1-49C7-8F51-A2D49589A2CD}"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1567393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EFA074-0CD1-49C7-8F51-A2D49589A2CD}"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4187624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EFA074-0CD1-49C7-8F51-A2D49589A2CD}"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1232238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7EFA074-0CD1-49C7-8F51-A2D49589A2CD}" type="datetimeFigureOut">
              <a:rPr lang="en-IN" smtClean="0"/>
              <a:t>03-09-2025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497556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7EFA074-0CD1-49C7-8F51-A2D49589A2CD}" type="datetimeFigureOut">
              <a:rPr lang="en-IN" smtClean="0"/>
              <a:t>03-09-2025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2297872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7EFA074-0CD1-49C7-8F51-A2D49589A2CD}" type="datetimeFigureOut">
              <a:rPr lang="en-IN" smtClean="0"/>
              <a:t>03-09-2025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3371340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EFA074-0CD1-49C7-8F51-A2D49589A2CD}" type="datetimeFigureOut">
              <a:rPr lang="en-IN" smtClean="0"/>
              <a:t>03-09-2025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1650458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FA074-0CD1-49C7-8F51-A2D49589A2CD}" type="datetimeFigureOut">
              <a:rPr lang="en-IN" smtClean="0"/>
              <a:t>03-09-2025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1018199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FA074-0CD1-49C7-8F51-A2D49589A2CD}" type="datetimeFigureOut">
              <a:rPr lang="en-IN" smtClean="0"/>
              <a:t>03-09-2025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4019389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EFA074-0CD1-49C7-8F51-A2D49589A2CD}"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2755190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EFA074-0CD1-49C7-8F51-A2D49589A2CD}"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B6C0-72FB-4358-9C85-DFA9576D1D37}" type="slidenum">
              <a:rPr lang="en-IN" smtClean="0"/>
              <a:t>‹#›</a:t>
            </a:fld>
            <a:endParaRPr lang="en-IN"/>
          </a:p>
        </p:txBody>
      </p:sp>
    </p:spTree>
    <p:extLst>
      <p:ext uri="{BB962C8B-B14F-4D97-AF65-F5344CB8AC3E}">
        <p14:creationId xmlns:p14="http://schemas.microsoft.com/office/powerpoint/2010/main" val="1062756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EFA074-0CD1-49C7-8F51-A2D49589A2CD}" type="datetimeFigureOut">
              <a:rPr lang="en-IN" smtClean="0"/>
              <a:t>03-09-2025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BB6C0-72FB-4358-9C85-DFA9576D1D37}" type="slidenum">
              <a:rPr lang="en-IN" smtClean="0"/>
              <a:t>‹#›</a:t>
            </a:fld>
            <a:endParaRPr lang="en-IN"/>
          </a:p>
        </p:txBody>
      </p:sp>
    </p:spTree>
    <p:extLst>
      <p:ext uri="{BB962C8B-B14F-4D97-AF65-F5344CB8AC3E}">
        <p14:creationId xmlns:p14="http://schemas.microsoft.com/office/powerpoint/2010/main" val="3294524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9600" b="1" dirty="0"/>
              <a:t>Unit 2</a:t>
            </a:r>
          </a:p>
        </p:txBody>
      </p:sp>
      <p:sp>
        <p:nvSpPr>
          <p:cNvPr id="3" name="Subtitle 2"/>
          <p:cNvSpPr>
            <a:spLocks noGrp="1"/>
          </p:cNvSpPr>
          <p:nvPr>
            <p:ph type="subTitle" idx="1"/>
          </p:nvPr>
        </p:nvSpPr>
        <p:spPr/>
        <p:txBody>
          <a:bodyPr>
            <a:normAutofit/>
          </a:bodyPr>
          <a:lstStyle/>
          <a:p>
            <a:r>
              <a:rPr lang="en-IN" sz="4000" b="1" dirty="0"/>
              <a:t>Methods of Communication</a:t>
            </a:r>
          </a:p>
        </p:txBody>
      </p:sp>
      <p:sp>
        <p:nvSpPr>
          <p:cNvPr id="4" name="Subtitle 2">
            <a:extLst>
              <a:ext uri="{FF2B5EF4-FFF2-40B4-BE49-F238E27FC236}">
                <a16:creationId xmlns:a16="http://schemas.microsoft.com/office/drawing/2014/main" id="{A25AB219-B119-4DAE-9527-8FDEE14BFFFB}"/>
              </a:ext>
            </a:extLst>
          </p:cNvPr>
          <p:cNvSpPr txBox="1">
            <a:spLocks/>
          </p:cNvSpPr>
          <p:nvPr/>
        </p:nvSpPr>
        <p:spPr>
          <a:xfrm>
            <a:off x="9350188" y="5203592"/>
            <a:ext cx="2635624" cy="165576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4000" b="1" dirty="0">
                <a:solidFill>
                  <a:srgbClr val="FF0000"/>
                </a:solidFill>
              </a:rPr>
              <a:t>Pratik Shah</a:t>
            </a:r>
          </a:p>
          <a:p>
            <a:r>
              <a:rPr lang="en-IN" sz="4000" b="1" dirty="0">
                <a:solidFill>
                  <a:srgbClr val="FF0000"/>
                </a:solidFill>
              </a:rPr>
              <a:t>I – B</a:t>
            </a:r>
          </a:p>
          <a:p>
            <a:r>
              <a:rPr lang="en-IN" sz="4000" b="1" dirty="0">
                <a:solidFill>
                  <a:srgbClr val="FF0000"/>
                </a:solidFill>
              </a:rPr>
              <a:t>2024-2025</a:t>
            </a:r>
          </a:p>
        </p:txBody>
      </p:sp>
    </p:spTree>
    <p:extLst>
      <p:ext uri="{BB962C8B-B14F-4D97-AF65-F5344CB8AC3E}">
        <p14:creationId xmlns:p14="http://schemas.microsoft.com/office/powerpoint/2010/main" val="1694778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11D1B8-1134-4799-B289-E2270BA0DA22}"/>
              </a:ext>
            </a:extLst>
          </p:cNvPr>
          <p:cNvPicPr>
            <a:picLocks noChangeAspect="1"/>
          </p:cNvPicPr>
          <p:nvPr/>
        </p:nvPicPr>
        <p:blipFill>
          <a:blip r:embed="rId2"/>
          <a:stretch>
            <a:fillRect/>
          </a:stretch>
        </p:blipFill>
        <p:spPr>
          <a:xfrm>
            <a:off x="496500" y="1355757"/>
            <a:ext cx="10985631" cy="3530008"/>
          </a:xfrm>
          <a:prstGeom prst="rect">
            <a:avLst/>
          </a:prstGeom>
        </p:spPr>
      </p:pic>
    </p:spTree>
    <p:extLst>
      <p:ext uri="{BB962C8B-B14F-4D97-AF65-F5344CB8AC3E}">
        <p14:creationId xmlns:p14="http://schemas.microsoft.com/office/powerpoint/2010/main" val="2479234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94424" y="169413"/>
            <a:ext cx="9814560" cy="5520690"/>
          </a:xfrm>
          <a:prstGeom prst="rect">
            <a:avLst/>
          </a:prstGeom>
        </p:spPr>
      </p:pic>
    </p:spTree>
    <p:extLst>
      <p:ext uri="{BB962C8B-B14F-4D97-AF65-F5344CB8AC3E}">
        <p14:creationId xmlns:p14="http://schemas.microsoft.com/office/powerpoint/2010/main" val="2377133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28B41AA-2BE0-4C14-B3FF-787FC8F789AA}"/>
              </a:ext>
            </a:extLst>
          </p:cNvPr>
          <p:cNvSpPr txBox="1">
            <a:spLocks/>
          </p:cNvSpPr>
          <p:nvPr/>
        </p:nvSpPr>
        <p:spPr>
          <a:xfrm>
            <a:off x="325925" y="715225"/>
            <a:ext cx="11713675" cy="162057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4800" b="1" dirty="0"/>
              <a:t>2.1</a:t>
            </a:r>
          </a:p>
          <a:p>
            <a:pPr marL="0" indent="0" algn="ctr">
              <a:buNone/>
            </a:pPr>
            <a:r>
              <a:rPr lang="en-IN" sz="4800" b="1" dirty="0"/>
              <a:t> Verbal Communication</a:t>
            </a:r>
          </a:p>
        </p:txBody>
      </p:sp>
      <p:pic>
        <p:nvPicPr>
          <p:cNvPr id="4" name="Picture 3"/>
          <p:cNvPicPr>
            <a:picLocks noChangeAspect="1"/>
          </p:cNvPicPr>
          <p:nvPr/>
        </p:nvPicPr>
        <p:blipFill>
          <a:blip r:embed="rId2"/>
          <a:stretch>
            <a:fillRect/>
          </a:stretch>
        </p:blipFill>
        <p:spPr>
          <a:xfrm>
            <a:off x="3881484" y="2766395"/>
            <a:ext cx="4602555" cy="2816764"/>
          </a:xfrm>
          <a:prstGeom prst="rect">
            <a:avLst/>
          </a:prstGeom>
        </p:spPr>
      </p:pic>
    </p:spTree>
    <p:extLst>
      <p:ext uri="{BB962C8B-B14F-4D97-AF65-F5344CB8AC3E}">
        <p14:creationId xmlns:p14="http://schemas.microsoft.com/office/powerpoint/2010/main" val="272427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0B218F-2A19-492B-A19F-F358768A288F}"/>
              </a:ext>
            </a:extLst>
          </p:cNvPr>
          <p:cNvSpPr txBox="1"/>
          <p:nvPr/>
        </p:nvSpPr>
        <p:spPr>
          <a:xfrm>
            <a:off x="80682" y="125227"/>
            <a:ext cx="11519647" cy="646331"/>
          </a:xfrm>
          <a:prstGeom prst="rect">
            <a:avLst/>
          </a:prstGeom>
          <a:noFill/>
        </p:spPr>
        <p:txBody>
          <a:bodyPr wrap="square">
            <a:spAutoFit/>
          </a:bodyPr>
          <a:lstStyle/>
          <a:p>
            <a:pPr algn="ctr"/>
            <a:r>
              <a:rPr lang="en-US" sz="3600" b="1" dirty="0">
                <a:solidFill>
                  <a:srgbClr val="FF0000"/>
                </a:solidFill>
              </a:rPr>
              <a:t>Verbal Communication: </a:t>
            </a:r>
          </a:p>
        </p:txBody>
      </p:sp>
      <p:sp>
        <p:nvSpPr>
          <p:cNvPr id="4" name="TextBox 3">
            <a:extLst>
              <a:ext uri="{FF2B5EF4-FFF2-40B4-BE49-F238E27FC236}">
                <a16:creationId xmlns:a16="http://schemas.microsoft.com/office/drawing/2014/main" id="{09D302D0-34AD-45CB-BE3E-19C7BD55F8B4}"/>
              </a:ext>
            </a:extLst>
          </p:cNvPr>
          <p:cNvSpPr txBox="1"/>
          <p:nvPr/>
        </p:nvSpPr>
        <p:spPr>
          <a:xfrm>
            <a:off x="313765" y="987950"/>
            <a:ext cx="11519646" cy="5632311"/>
          </a:xfrm>
          <a:prstGeom prst="rect">
            <a:avLst/>
          </a:prstGeom>
          <a:noFill/>
        </p:spPr>
        <p:txBody>
          <a:bodyPr wrap="square">
            <a:spAutoFit/>
          </a:bodyPr>
          <a:lstStyle/>
          <a:p>
            <a:pPr marL="571500" indent="-571500">
              <a:buFont typeface="Arial" panose="020B0604020202020204" pitchFamily="34" charset="0"/>
              <a:buChar char="•"/>
            </a:pPr>
            <a:r>
              <a:rPr lang="en-IN" sz="3600" dirty="0"/>
              <a:t>Verbal communication refers to the form of communication in which message is transmitted verbally;</a:t>
            </a:r>
          </a:p>
          <a:p>
            <a:r>
              <a:rPr lang="en-IN" sz="3600" dirty="0"/>
              <a:t> </a:t>
            </a:r>
          </a:p>
          <a:p>
            <a:pPr marL="571500" indent="-571500">
              <a:buFont typeface="Arial" panose="020B0604020202020204" pitchFamily="34" charset="0"/>
              <a:buChar char="•"/>
            </a:pPr>
            <a:r>
              <a:rPr lang="en-IN" sz="3600" dirty="0">
                <a:solidFill>
                  <a:srgbClr val="00B050"/>
                </a:solidFill>
              </a:rPr>
              <a:t>communication is done by word of mouth and writing.</a:t>
            </a:r>
          </a:p>
          <a:p>
            <a:r>
              <a:rPr lang="en-IN" sz="3600" dirty="0">
                <a:solidFill>
                  <a:srgbClr val="00B050"/>
                </a:solidFill>
              </a:rPr>
              <a:t> </a:t>
            </a:r>
          </a:p>
          <a:p>
            <a:pPr marL="571500" indent="-571500">
              <a:buFont typeface="Arial" panose="020B0604020202020204" pitchFamily="34" charset="0"/>
              <a:buChar char="•"/>
            </a:pPr>
            <a:r>
              <a:rPr lang="en-IN" sz="3600" dirty="0"/>
              <a:t>Objective of every communication is to have people understand what we are trying to convey</a:t>
            </a:r>
          </a:p>
          <a:p>
            <a:pPr marL="571500" indent="-571500">
              <a:buFont typeface="Arial" panose="020B0604020202020204" pitchFamily="34" charset="0"/>
              <a:buChar char="•"/>
            </a:pPr>
            <a:endParaRPr lang="en-IN" sz="3600" dirty="0"/>
          </a:p>
          <a:p>
            <a:pPr marL="571500" indent="-571500">
              <a:buFont typeface="Arial" panose="020B0604020202020204" pitchFamily="34" charset="0"/>
              <a:buChar char="•"/>
            </a:pPr>
            <a:r>
              <a:rPr lang="en-IN" sz="3600" dirty="0">
                <a:solidFill>
                  <a:srgbClr val="FF00FF"/>
                </a:solidFill>
              </a:rPr>
              <a:t>In verbal communication always remember the acronym KISS - keep it short and simple.</a:t>
            </a:r>
          </a:p>
        </p:txBody>
      </p:sp>
    </p:spTree>
    <p:extLst>
      <p:ext uri="{BB962C8B-B14F-4D97-AF65-F5344CB8AC3E}">
        <p14:creationId xmlns:p14="http://schemas.microsoft.com/office/powerpoint/2010/main" val="4119366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0611424-42FD-4C1D-93BC-26E263ADEA86}"/>
              </a:ext>
            </a:extLst>
          </p:cNvPr>
          <p:cNvSpPr txBox="1">
            <a:spLocks/>
          </p:cNvSpPr>
          <p:nvPr/>
        </p:nvSpPr>
        <p:spPr>
          <a:xfrm>
            <a:off x="309283" y="265766"/>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When we talk to others, we assume that others understand what we are saying because we know what we are saying. </a:t>
            </a:r>
          </a:p>
          <a:p>
            <a:r>
              <a:rPr lang="en-IN" dirty="0">
                <a:solidFill>
                  <a:srgbClr val="FF0000"/>
                </a:solidFill>
              </a:rPr>
              <a:t>But this is not the case for audience.</a:t>
            </a:r>
          </a:p>
          <a:p>
            <a:r>
              <a:rPr lang="en-IN" dirty="0"/>
              <a:t> Usually people bring their own attitude, perception, emotions and thoughts about the topic and hence creates barrier in delivering the right meaning.</a:t>
            </a:r>
          </a:p>
          <a:p>
            <a:endParaRPr lang="en-IN" dirty="0"/>
          </a:p>
        </p:txBody>
      </p:sp>
      <p:sp>
        <p:nvSpPr>
          <p:cNvPr id="3" name="Content Placeholder 2">
            <a:extLst>
              <a:ext uri="{FF2B5EF4-FFF2-40B4-BE49-F238E27FC236}">
                <a16:creationId xmlns:a16="http://schemas.microsoft.com/office/drawing/2014/main" id="{E7DAFDC1-0A7F-4CD9-BDEF-1DB58559D5D1}"/>
              </a:ext>
            </a:extLst>
          </p:cNvPr>
          <p:cNvSpPr txBox="1">
            <a:spLocks/>
          </p:cNvSpPr>
          <p:nvPr/>
        </p:nvSpPr>
        <p:spPr>
          <a:xfrm>
            <a:off x="596153" y="4075766"/>
            <a:ext cx="7126453" cy="23250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solidFill>
                  <a:srgbClr val="0070C0"/>
                </a:solidFill>
              </a:rPr>
              <a:t>We need to think from the </a:t>
            </a:r>
            <a:r>
              <a:rPr lang="en-IN" b="1" dirty="0" smtClean="0">
                <a:solidFill>
                  <a:srgbClr val="0070C0"/>
                </a:solidFill>
              </a:rPr>
              <a:t>receivers </a:t>
            </a:r>
            <a:r>
              <a:rPr lang="en-IN" b="1" dirty="0">
                <a:solidFill>
                  <a:srgbClr val="0070C0"/>
                </a:solidFill>
              </a:rPr>
              <a:t>point of  view.</a:t>
            </a:r>
          </a:p>
          <a:p>
            <a:r>
              <a:rPr lang="en-IN" b="1" dirty="0">
                <a:solidFill>
                  <a:srgbClr val="0070C0"/>
                </a:solidFill>
              </a:rPr>
              <a:t>Would he understand the message?</a:t>
            </a:r>
          </a:p>
          <a:p>
            <a:r>
              <a:rPr lang="en-IN" b="1" dirty="0">
                <a:solidFill>
                  <a:srgbClr val="0070C0"/>
                </a:solidFill>
              </a:rPr>
              <a:t>How will it sound on the other side of the table? </a:t>
            </a:r>
          </a:p>
        </p:txBody>
      </p:sp>
      <p:pic>
        <p:nvPicPr>
          <p:cNvPr id="4" name="Picture 3"/>
          <p:cNvPicPr>
            <a:picLocks noChangeAspect="1"/>
          </p:cNvPicPr>
          <p:nvPr/>
        </p:nvPicPr>
        <p:blipFill>
          <a:blip r:embed="rId2"/>
          <a:stretch>
            <a:fillRect/>
          </a:stretch>
        </p:blipFill>
        <p:spPr>
          <a:xfrm>
            <a:off x="7722606" y="2770123"/>
            <a:ext cx="4096735" cy="2738829"/>
          </a:xfrm>
          <a:prstGeom prst="rect">
            <a:avLst/>
          </a:prstGeom>
        </p:spPr>
      </p:pic>
    </p:spTree>
    <p:extLst>
      <p:ext uri="{BB962C8B-B14F-4D97-AF65-F5344CB8AC3E}">
        <p14:creationId xmlns:p14="http://schemas.microsoft.com/office/powerpoint/2010/main" val="1470699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E97FB57A-2B52-41AA-B586-61F64F086761}"/>
              </a:ext>
            </a:extLst>
          </p:cNvPr>
          <p:cNvSpPr txBox="1">
            <a:spLocks/>
          </p:cNvSpPr>
          <p:nvPr/>
        </p:nvSpPr>
        <p:spPr>
          <a:xfrm>
            <a:off x="552261" y="760491"/>
            <a:ext cx="11487339" cy="1493822"/>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4800" b="1" dirty="0"/>
              <a:t>2.1.1</a:t>
            </a:r>
          </a:p>
          <a:p>
            <a:pPr marL="0" indent="0" algn="ctr">
              <a:buNone/>
            </a:pPr>
            <a:r>
              <a:rPr lang="en-IN" sz="4800" b="1" dirty="0"/>
              <a:t> Oral &amp; Written Communication</a:t>
            </a:r>
          </a:p>
        </p:txBody>
      </p:sp>
      <p:pic>
        <p:nvPicPr>
          <p:cNvPr id="3" name="Picture 2"/>
          <p:cNvPicPr>
            <a:picLocks noChangeAspect="1"/>
          </p:cNvPicPr>
          <p:nvPr/>
        </p:nvPicPr>
        <p:blipFill>
          <a:blip r:embed="rId2"/>
          <a:stretch>
            <a:fillRect/>
          </a:stretch>
        </p:blipFill>
        <p:spPr>
          <a:xfrm>
            <a:off x="3028855" y="2405487"/>
            <a:ext cx="6534150" cy="3676650"/>
          </a:xfrm>
          <a:prstGeom prst="rect">
            <a:avLst/>
          </a:prstGeom>
        </p:spPr>
      </p:pic>
    </p:spTree>
    <p:extLst>
      <p:ext uri="{BB962C8B-B14F-4D97-AF65-F5344CB8AC3E}">
        <p14:creationId xmlns:p14="http://schemas.microsoft.com/office/powerpoint/2010/main" val="4049428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CD17AFC5-0956-4458-9DD3-69DCE9C9B234}"/>
              </a:ext>
            </a:extLst>
          </p:cNvPr>
          <p:cNvPicPr>
            <a:picLocks noChangeAspect="1"/>
          </p:cNvPicPr>
          <p:nvPr/>
        </p:nvPicPr>
        <p:blipFill>
          <a:blip r:embed="rId2"/>
          <a:stretch>
            <a:fillRect/>
          </a:stretch>
        </p:blipFill>
        <p:spPr>
          <a:xfrm>
            <a:off x="3040316" y="1840324"/>
            <a:ext cx="6719391" cy="4246711"/>
          </a:xfrm>
          <a:prstGeom prst="rect">
            <a:avLst/>
          </a:prstGeom>
        </p:spPr>
      </p:pic>
      <p:sp>
        <p:nvSpPr>
          <p:cNvPr id="3" name="Title 1">
            <a:extLst>
              <a:ext uri="{FF2B5EF4-FFF2-40B4-BE49-F238E27FC236}">
                <a16:creationId xmlns:a16="http://schemas.microsoft.com/office/drawing/2014/main" id="{79434F12-B1AB-41C9-B99F-6894B37F0194}"/>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5400" b="1" dirty="0">
                <a:solidFill>
                  <a:srgbClr val="FF0000"/>
                </a:solidFill>
              </a:rPr>
              <a:t>Types of verbal communication</a:t>
            </a:r>
          </a:p>
        </p:txBody>
      </p:sp>
    </p:spTree>
    <p:extLst>
      <p:ext uri="{BB962C8B-B14F-4D97-AF65-F5344CB8AC3E}">
        <p14:creationId xmlns:p14="http://schemas.microsoft.com/office/powerpoint/2010/main" val="1489203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822FD-0880-42BB-BFCE-89633AD6AF36}"/>
              </a:ext>
            </a:extLst>
          </p:cNvPr>
          <p:cNvSpPr txBox="1">
            <a:spLocks/>
          </p:cNvSpPr>
          <p:nvPr/>
        </p:nvSpPr>
        <p:spPr>
          <a:xfrm>
            <a:off x="1905000" y="105149"/>
            <a:ext cx="8382000" cy="69271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800" b="1" dirty="0">
                <a:solidFill>
                  <a:srgbClr val="FF0000"/>
                </a:solidFill>
              </a:rPr>
              <a:t>		Oral communication</a:t>
            </a:r>
          </a:p>
        </p:txBody>
      </p:sp>
      <p:sp>
        <p:nvSpPr>
          <p:cNvPr id="3" name="Content Placeholder 2">
            <a:extLst>
              <a:ext uri="{FF2B5EF4-FFF2-40B4-BE49-F238E27FC236}">
                <a16:creationId xmlns:a16="http://schemas.microsoft.com/office/drawing/2014/main" id="{16819E58-5353-4EF0-9EFC-766E69F806E5}"/>
              </a:ext>
            </a:extLst>
          </p:cNvPr>
          <p:cNvSpPr txBox="1">
            <a:spLocks/>
          </p:cNvSpPr>
          <p:nvPr/>
        </p:nvSpPr>
        <p:spPr>
          <a:xfrm>
            <a:off x="379093" y="1050201"/>
            <a:ext cx="5333644" cy="5503473"/>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3900" dirty="0"/>
              <a:t>Oral communication is the exchange of information through oral use of words. </a:t>
            </a:r>
          </a:p>
          <a:p>
            <a:r>
              <a:rPr lang="en-IN" sz="3900" dirty="0"/>
              <a:t>Generally, oral communication takes place </a:t>
            </a:r>
            <a:r>
              <a:rPr lang="en-IN" sz="3900" dirty="0">
                <a:solidFill>
                  <a:srgbClr val="00B050"/>
                </a:solidFill>
              </a:rPr>
              <a:t>in face-to-face conversation, meeting, interviews, telephonic conversation etc. </a:t>
            </a:r>
          </a:p>
          <a:p>
            <a:r>
              <a:rPr lang="en-IN" sz="3900" dirty="0"/>
              <a:t>In case of oral communication, </a:t>
            </a:r>
            <a:r>
              <a:rPr lang="en-IN" sz="3900" dirty="0">
                <a:solidFill>
                  <a:srgbClr val="0066FF"/>
                </a:solidFill>
              </a:rPr>
              <a:t>information is exchanged between sender and receiver directly. </a:t>
            </a:r>
          </a:p>
          <a:p>
            <a:endParaRPr lang="en-IN" sz="3000" dirty="0"/>
          </a:p>
          <a:p>
            <a:r>
              <a:rPr lang="en-IN" sz="3000" dirty="0"/>
              <a:t>The effectiveness of oral conversations </a:t>
            </a:r>
            <a:r>
              <a:rPr lang="en-IN" sz="3000" dirty="0">
                <a:solidFill>
                  <a:srgbClr val="FF00FF"/>
                </a:solidFill>
              </a:rPr>
              <a:t>depends on the clarity of speech, voice modulation, pitch, volume, speed, and even non-verbal communications such as body language and visual clues</a:t>
            </a:r>
            <a:r>
              <a:rPr lang="en-IN" sz="3000" dirty="0"/>
              <a:t>. </a:t>
            </a:r>
          </a:p>
          <a:p>
            <a:endParaRPr lang="en-IN" dirty="0"/>
          </a:p>
        </p:txBody>
      </p:sp>
      <p:pic>
        <p:nvPicPr>
          <p:cNvPr id="4" name="Picture 3"/>
          <p:cNvPicPr>
            <a:picLocks noChangeAspect="1"/>
          </p:cNvPicPr>
          <p:nvPr/>
        </p:nvPicPr>
        <p:blipFill>
          <a:blip r:embed="rId2"/>
          <a:stretch>
            <a:fillRect/>
          </a:stretch>
        </p:blipFill>
        <p:spPr>
          <a:xfrm>
            <a:off x="6000498" y="1991762"/>
            <a:ext cx="5975332" cy="3139383"/>
          </a:xfrm>
          <a:prstGeom prst="rect">
            <a:avLst/>
          </a:prstGeom>
        </p:spPr>
      </p:pic>
    </p:spTree>
    <p:extLst>
      <p:ext uri="{BB962C8B-B14F-4D97-AF65-F5344CB8AC3E}">
        <p14:creationId xmlns:p14="http://schemas.microsoft.com/office/powerpoint/2010/main" val="1069391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2A006A-3EFB-4F80-907F-135B24DBB497}"/>
              </a:ext>
            </a:extLst>
          </p:cNvPr>
          <p:cNvSpPr txBox="1"/>
          <p:nvPr/>
        </p:nvSpPr>
        <p:spPr>
          <a:xfrm>
            <a:off x="224118" y="169440"/>
            <a:ext cx="8249926" cy="523220"/>
          </a:xfrm>
          <a:prstGeom prst="rect">
            <a:avLst/>
          </a:prstGeom>
          <a:noFill/>
        </p:spPr>
        <p:txBody>
          <a:bodyPr wrap="square">
            <a:spAutoFit/>
          </a:bodyPr>
          <a:lstStyle/>
          <a:p>
            <a:pPr algn="l" fontAlgn="base"/>
            <a:r>
              <a:rPr lang="en-IN" sz="2800" b="1" i="0" dirty="0">
                <a:solidFill>
                  <a:srgbClr val="FF0000"/>
                </a:solidFill>
                <a:effectLst/>
                <a:latin typeface="inherit"/>
              </a:rPr>
              <a:t>Advantages of Oral communication</a:t>
            </a:r>
            <a:endParaRPr lang="en-IN" sz="2800" b="1" i="0" dirty="0">
              <a:solidFill>
                <a:srgbClr val="FF0000"/>
              </a:solidFill>
              <a:effectLst/>
              <a:latin typeface="Ubuntu"/>
            </a:endParaRPr>
          </a:p>
        </p:txBody>
      </p:sp>
      <p:sp>
        <p:nvSpPr>
          <p:cNvPr id="5" name="TextBox 4">
            <a:extLst>
              <a:ext uri="{FF2B5EF4-FFF2-40B4-BE49-F238E27FC236}">
                <a16:creationId xmlns:a16="http://schemas.microsoft.com/office/drawing/2014/main" id="{7891FD6B-A99E-4292-A329-3965130513D7}"/>
              </a:ext>
            </a:extLst>
          </p:cNvPr>
          <p:cNvSpPr txBox="1"/>
          <p:nvPr/>
        </p:nvSpPr>
        <p:spPr>
          <a:xfrm>
            <a:off x="224118" y="807852"/>
            <a:ext cx="11752729" cy="369332"/>
          </a:xfrm>
          <a:prstGeom prst="rect">
            <a:avLst/>
          </a:prstGeom>
          <a:noFill/>
        </p:spPr>
        <p:txBody>
          <a:bodyPr wrap="square">
            <a:spAutoFit/>
          </a:bodyPr>
          <a:lstStyle/>
          <a:p>
            <a:pPr algn="l" fontAlgn="base"/>
            <a:endParaRPr lang="en-US" b="0" i="0" dirty="0">
              <a:effectLst/>
              <a:latin typeface="Ubuntu"/>
            </a:endParaRPr>
          </a:p>
        </p:txBody>
      </p:sp>
      <p:sp>
        <p:nvSpPr>
          <p:cNvPr id="6" name="TextBox 5">
            <a:extLst>
              <a:ext uri="{FF2B5EF4-FFF2-40B4-BE49-F238E27FC236}">
                <a16:creationId xmlns:a16="http://schemas.microsoft.com/office/drawing/2014/main" id="{DFD4B300-EA83-4C34-87CD-82229827BCC6}"/>
              </a:ext>
            </a:extLst>
          </p:cNvPr>
          <p:cNvSpPr txBox="1"/>
          <p:nvPr/>
        </p:nvSpPr>
        <p:spPr>
          <a:xfrm>
            <a:off x="224118" y="606583"/>
            <a:ext cx="10015351" cy="6186309"/>
          </a:xfrm>
          <a:prstGeom prst="rect">
            <a:avLst/>
          </a:prstGeom>
          <a:noFill/>
        </p:spPr>
        <p:txBody>
          <a:bodyPr wrap="square">
            <a:spAutoFit/>
          </a:bodyPr>
          <a:lstStyle/>
          <a:p>
            <a:pPr algn="l"/>
            <a:r>
              <a:rPr lang="en-US" b="1" i="0" dirty="0">
                <a:solidFill>
                  <a:srgbClr val="0070C0"/>
                </a:solidFill>
                <a:effectLst/>
                <a:latin typeface="Nunito Sans" pitchFamily="2" charset="0"/>
              </a:rPr>
              <a:t>#1 Time-Saving</a:t>
            </a:r>
          </a:p>
          <a:p>
            <a:pPr algn="l"/>
            <a:r>
              <a:rPr lang="en-US" b="0" i="0" dirty="0">
                <a:effectLst/>
                <a:latin typeface="-apple-system"/>
              </a:rPr>
              <a:t>If immediate action is required, oral communication is the most effective method. On the other hand, handwritten correspondence takes a long time to reach its sender. You can easily do oral communication via phone calls or conversations with subordinates, which saves time, which is crucial for business.</a:t>
            </a:r>
          </a:p>
          <a:p>
            <a:pPr algn="l"/>
            <a:endParaRPr lang="en-US" b="0" i="0" dirty="0">
              <a:effectLst/>
              <a:latin typeface="-apple-system"/>
            </a:endParaRPr>
          </a:p>
          <a:p>
            <a:pPr algn="l"/>
            <a:r>
              <a:rPr lang="en-US" b="1" i="0" dirty="0">
                <a:solidFill>
                  <a:srgbClr val="0070C0"/>
                </a:solidFill>
                <a:effectLst/>
                <a:latin typeface="Nunito Sans" pitchFamily="2" charset="0"/>
              </a:rPr>
              <a:t>#2 Reduction of Cost</a:t>
            </a:r>
          </a:p>
          <a:p>
            <a:pPr algn="l"/>
            <a:r>
              <a:rPr lang="en-US" b="0" i="0" dirty="0">
                <a:effectLst/>
                <a:latin typeface="-apple-system"/>
              </a:rPr>
              <a:t>Oral communication does not require the acquisition and upkeep of pens, paper, or typewriters; money is saved. It can also be accomplished without traveling to communicate with people outside the organization. Thus, oral communication can be a cheaper form of communication than other forms.</a:t>
            </a:r>
          </a:p>
          <a:p>
            <a:pPr algn="l"/>
            <a:endParaRPr lang="en-US" b="0" i="0" dirty="0">
              <a:effectLst/>
              <a:latin typeface="-apple-system"/>
            </a:endParaRPr>
          </a:p>
          <a:p>
            <a:pPr algn="l"/>
            <a:r>
              <a:rPr lang="en-US" b="1" i="0" dirty="0">
                <a:solidFill>
                  <a:srgbClr val="0070C0"/>
                </a:solidFill>
                <a:effectLst/>
                <a:latin typeface="Nunito Sans" pitchFamily="2" charset="0"/>
              </a:rPr>
              <a:t>#3 Easiness</a:t>
            </a:r>
          </a:p>
          <a:p>
            <a:pPr algn="l"/>
            <a:r>
              <a:rPr lang="en-US" b="0" i="0" dirty="0">
                <a:effectLst/>
                <a:latin typeface="-apple-system"/>
              </a:rPr>
              <a:t>Oral communication requires little preparation to send a message. It is an easy method of communication. It does not require a pen, pencil, or other writing instrument, like written communication. Hence, verbal communication reduces or eliminates the need for written communication, making the job much easier.</a:t>
            </a:r>
          </a:p>
          <a:p>
            <a:pPr algn="l"/>
            <a:endParaRPr lang="en-US" b="0" i="0" dirty="0">
              <a:effectLst/>
              <a:latin typeface="-apple-system"/>
            </a:endParaRPr>
          </a:p>
          <a:p>
            <a:pPr algn="l"/>
            <a:r>
              <a:rPr lang="en-US" b="1" i="0" dirty="0">
                <a:solidFill>
                  <a:srgbClr val="0070C0"/>
                </a:solidFill>
                <a:effectLst/>
                <a:latin typeface="Nunito Sans" pitchFamily="2" charset="0"/>
              </a:rPr>
              <a:t>#4 Quick Feedback</a:t>
            </a:r>
          </a:p>
          <a:p>
            <a:pPr algn="l"/>
            <a:r>
              <a:rPr lang="en-US" b="0" i="0" dirty="0">
                <a:effectLst/>
                <a:latin typeface="-apple-system"/>
              </a:rPr>
              <a:t>It provides quick feedback in verbal messages, another significant advantage. As a result, the sender or speaker can make quick decisions regarding other choices. In most situations, such as meetings and phone calls, oral or spoken communication facilitates instant feedback. </a:t>
            </a:r>
          </a:p>
        </p:txBody>
      </p:sp>
      <p:pic>
        <p:nvPicPr>
          <p:cNvPr id="2" name="Picture 1"/>
          <p:cNvPicPr>
            <a:picLocks noChangeAspect="1"/>
          </p:cNvPicPr>
          <p:nvPr/>
        </p:nvPicPr>
        <p:blipFill>
          <a:blip r:embed="rId3"/>
          <a:stretch>
            <a:fillRect/>
          </a:stretch>
        </p:blipFill>
        <p:spPr>
          <a:xfrm>
            <a:off x="10746375" y="1177184"/>
            <a:ext cx="1076475" cy="2105319"/>
          </a:xfrm>
          <a:prstGeom prst="rect">
            <a:avLst/>
          </a:prstGeom>
        </p:spPr>
      </p:pic>
      <p:pic>
        <p:nvPicPr>
          <p:cNvPr id="4" name="Picture 3"/>
          <p:cNvPicPr>
            <a:picLocks noChangeAspect="1"/>
          </p:cNvPicPr>
          <p:nvPr/>
        </p:nvPicPr>
        <p:blipFill>
          <a:blip r:embed="rId4"/>
          <a:stretch>
            <a:fillRect/>
          </a:stretch>
        </p:blipFill>
        <p:spPr>
          <a:xfrm>
            <a:off x="9469847" y="4099267"/>
            <a:ext cx="2553056" cy="1629002"/>
          </a:xfrm>
          <a:prstGeom prst="rect">
            <a:avLst/>
          </a:prstGeom>
        </p:spPr>
      </p:pic>
    </p:spTree>
    <p:extLst>
      <p:ext uri="{BB962C8B-B14F-4D97-AF65-F5344CB8AC3E}">
        <p14:creationId xmlns:p14="http://schemas.microsoft.com/office/powerpoint/2010/main" val="2404826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266630" y="828462"/>
            <a:ext cx="1128665" cy="1215485"/>
          </a:xfrm>
          <a:prstGeom prst="rect">
            <a:avLst/>
          </a:prstGeom>
        </p:spPr>
      </p:pic>
      <p:sp>
        <p:nvSpPr>
          <p:cNvPr id="2" name="TextBox 1">
            <a:extLst>
              <a:ext uri="{FF2B5EF4-FFF2-40B4-BE49-F238E27FC236}">
                <a16:creationId xmlns:a16="http://schemas.microsoft.com/office/drawing/2014/main" id="{93C8A23B-BDD1-4CF6-9743-1DB7835955DE}"/>
              </a:ext>
            </a:extLst>
          </p:cNvPr>
          <p:cNvSpPr txBox="1"/>
          <p:nvPr/>
        </p:nvSpPr>
        <p:spPr>
          <a:xfrm>
            <a:off x="224118" y="169440"/>
            <a:ext cx="7064188" cy="523220"/>
          </a:xfrm>
          <a:prstGeom prst="rect">
            <a:avLst/>
          </a:prstGeom>
          <a:noFill/>
        </p:spPr>
        <p:txBody>
          <a:bodyPr wrap="square">
            <a:spAutoFit/>
          </a:bodyPr>
          <a:lstStyle/>
          <a:p>
            <a:pPr algn="l" fontAlgn="base"/>
            <a:r>
              <a:rPr lang="en-IN" sz="2800" b="1" i="0" dirty="0">
                <a:solidFill>
                  <a:srgbClr val="FF0000"/>
                </a:solidFill>
                <a:effectLst/>
                <a:latin typeface="inherit"/>
              </a:rPr>
              <a:t>Disadvantages of </a:t>
            </a:r>
            <a:r>
              <a:rPr lang="en-IN" sz="2800" b="1" i="0" dirty="0" smtClean="0">
                <a:solidFill>
                  <a:srgbClr val="FF0000"/>
                </a:solidFill>
                <a:effectLst/>
                <a:latin typeface="inherit"/>
              </a:rPr>
              <a:t>oral communication</a:t>
            </a:r>
            <a:endParaRPr lang="en-IN" sz="2800" b="1" i="0" dirty="0">
              <a:solidFill>
                <a:srgbClr val="FF0000"/>
              </a:solidFill>
              <a:effectLst/>
              <a:latin typeface="Ubuntu"/>
            </a:endParaRPr>
          </a:p>
        </p:txBody>
      </p:sp>
      <p:sp>
        <p:nvSpPr>
          <p:cNvPr id="5" name="TextBox 4">
            <a:extLst>
              <a:ext uri="{FF2B5EF4-FFF2-40B4-BE49-F238E27FC236}">
                <a16:creationId xmlns:a16="http://schemas.microsoft.com/office/drawing/2014/main" id="{59CAB3CF-959B-47A9-9E00-E30831F42A33}"/>
              </a:ext>
            </a:extLst>
          </p:cNvPr>
          <p:cNvSpPr txBox="1"/>
          <p:nvPr/>
        </p:nvSpPr>
        <p:spPr>
          <a:xfrm>
            <a:off x="224118" y="610136"/>
            <a:ext cx="9771826" cy="5940088"/>
          </a:xfrm>
          <a:prstGeom prst="rect">
            <a:avLst/>
          </a:prstGeom>
          <a:noFill/>
        </p:spPr>
        <p:txBody>
          <a:bodyPr wrap="square">
            <a:spAutoFit/>
          </a:bodyPr>
          <a:lstStyle/>
          <a:p>
            <a:pPr algn="l"/>
            <a:r>
              <a:rPr lang="en-US" sz="2000" b="1" i="0" dirty="0">
                <a:solidFill>
                  <a:srgbClr val="0070C0"/>
                </a:solidFill>
                <a:effectLst/>
                <a:latin typeface="Nunito Sans" pitchFamily="2" charset="0"/>
              </a:rPr>
              <a:t>#1 No Record</a:t>
            </a:r>
          </a:p>
          <a:p>
            <a:pPr algn="l"/>
            <a:r>
              <a:rPr lang="en-US" sz="2000" b="0" i="0" dirty="0">
                <a:effectLst/>
                <a:latin typeface="-apple-system"/>
              </a:rPr>
              <a:t>Informal communication is typically carried out through oral means. Messages exchanged are not recorded or included in the record book. In the future, these messages cannot be retrieved. There is no evidence of a statement or information left in the event of future disagreements or confusion.</a:t>
            </a:r>
          </a:p>
          <a:p>
            <a:pPr algn="l"/>
            <a:endParaRPr lang="en-US" sz="2000" b="0" i="0" dirty="0">
              <a:effectLst/>
              <a:latin typeface="-apple-system"/>
            </a:endParaRPr>
          </a:p>
          <a:p>
            <a:pPr algn="l"/>
            <a:r>
              <a:rPr lang="en-US" sz="2000" b="1" i="0" dirty="0">
                <a:solidFill>
                  <a:srgbClr val="0070C0"/>
                </a:solidFill>
                <a:effectLst/>
                <a:latin typeface="Nunito Sans" pitchFamily="2" charset="0"/>
              </a:rPr>
              <a:t>#2 Misunderstanding</a:t>
            </a:r>
          </a:p>
          <a:p>
            <a:pPr algn="l"/>
            <a:r>
              <a:rPr lang="en-US" sz="2000" b="0" i="0" dirty="0">
                <a:effectLst/>
                <a:latin typeface="-apple-system"/>
              </a:rPr>
              <a:t>Due to limits in human memory, verbal communications cannot be retained in their complete context. Communication will only be possible due to proper attention to the oral statements; hence, it may result in misunderstandings when communicating lengthy messages or information. This is because the receiver might need to remember long-spoken messages.</a:t>
            </a:r>
          </a:p>
          <a:p>
            <a:pPr algn="l"/>
            <a:endParaRPr lang="en-US" sz="2000" b="0" i="0" dirty="0">
              <a:effectLst/>
              <a:latin typeface="-apple-system"/>
            </a:endParaRPr>
          </a:p>
          <a:p>
            <a:pPr algn="l"/>
            <a:r>
              <a:rPr lang="en-US" sz="2000" b="1" i="0" dirty="0">
                <a:solidFill>
                  <a:srgbClr val="0070C0"/>
                </a:solidFill>
                <a:effectLst/>
                <a:latin typeface="Nunito Sans" pitchFamily="2" charset="0"/>
              </a:rPr>
              <a:t>#3 No Legal Validity</a:t>
            </a:r>
          </a:p>
          <a:p>
            <a:pPr algn="l"/>
            <a:r>
              <a:rPr lang="en-US" sz="2000" b="0" i="0" dirty="0">
                <a:effectLst/>
                <a:latin typeface="-apple-system"/>
              </a:rPr>
              <a:t>Oral communication has no legal standing as verbal messages are not documented, and the speaker can easily refuse them if the situation goes against him. Oral communication, thus, has no legal value and cannot be used legally in the future unless it is recorded.</a:t>
            </a:r>
          </a:p>
          <a:p>
            <a:pPr algn="l"/>
            <a:endParaRPr lang="en-US" sz="2000" b="0" i="0" dirty="0">
              <a:effectLst/>
              <a:latin typeface="-apple-system"/>
            </a:endParaRPr>
          </a:p>
        </p:txBody>
      </p:sp>
      <p:pic>
        <p:nvPicPr>
          <p:cNvPr id="4" name="Picture 3"/>
          <p:cNvPicPr>
            <a:picLocks noChangeAspect="1"/>
          </p:cNvPicPr>
          <p:nvPr/>
        </p:nvPicPr>
        <p:blipFill>
          <a:blip r:embed="rId3"/>
          <a:stretch>
            <a:fillRect/>
          </a:stretch>
        </p:blipFill>
        <p:spPr>
          <a:xfrm>
            <a:off x="9995944" y="2262273"/>
            <a:ext cx="1798857" cy="1798857"/>
          </a:xfrm>
          <a:prstGeom prst="rect">
            <a:avLst/>
          </a:prstGeom>
        </p:spPr>
      </p:pic>
      <p:pic>
        <p:nvPicPr>
          <p:cNvPr id="6" name="Picture 5"/>
          <p:cNvPicPr>
            <a:picLocks noChangeAspect="1"/>
          </p:cNvPicPr>
          <p:nvPr/>
        </p:nvPicPr>
        <p:blipFill>
          <a:blip r:embed="rId4"/>
          <a:stretch>
            <a:fillRect/>
          </a:stretch>
        </p:blipFill>
        <p:spPr>
          <a:xfrm>
            <a:off x="9856299" y="4279456"/>
            <a:ext cx="1738172" cy="1871878"/>
          </a:xfrm>
          <a:prstGeom prst="rect">
            <a:avLst/>
          </a:prstGeom>
        </p:spPr>
      </p:pic>
    </p:spTree>
    <p:extLst>
      <p:ext uri="{BB962C8B-B14F-4D97-AF65-F5344CB8AC3E}">
        <p14:creationId xmlns:p14="http://schemas.microsoft.com/office/powerpoint/2010/main" val="1550687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2261" y="851025"/>
            <a:ext cx="8564578" cy="1477328"/>
          </a:xfrm>
          <a:prstGeom prst="rect">
            <a:avLst/>
          </a:prstGeom>
        </p:spPr>
        <p:txBody>
          <a:bodyPr wrap="square">
            <a:spAutoFit/>
          </a:bodyPr>
          <a:lstStyle/>
          <a:p>
            <a:r>
              <a:rPr lang="en-US" b="1" dirty="0">
                <a:solidFill>
                  <a:srgbClr val="0070C0"/>
                </a:solidFill>
                <a:latin typeface="Nunito Sans" pitchFamily="2" charset="0"/>
              </a:rPr>
              <a:t>#4 Assigning Responsibility</a:t>
            </a:r>
          </a:p>
          <a:p>
            <a:r>
              <a:rPr lang="en-US" dirty="0">
                <a:latin typeface="-apple-system"/>
              </a:rPr>
              <a:t>Since there is no evidence to support oral communication, holding someone accountable can take a lot of work. Despite the ease with which it can be carried out, oral communication also has the drawback of making it easier to assign responsibilities.</a:t>
            </a:r>
          </a:p>
        </p:txBody>
      </p:sp>
      <p:pic>
        <p:nvPicPr>
          <p:cNvPr id="3" name="Picture 2"/>
          <p:cNvPicPr>
            <a:picLocks noChangeAspect="1"/>
          </p:cNvPicPr>
          <p:nvPr/>
        </p:nvPicPr>
        <p:blipFill>
          <a:blip r:embed="rId2"/>
          <a:stretch>
            <a:fillRect/>
          </a:stretch>
        </p:blipFill>
        <p:spPr>
          <a:xfrm>
            <a:off x="7831249" y="2653090"/>
            <a:ext cx="3086476" cy="1400034"/>
          </a:xfrm>
          <a:prstGeom prst="rect">
            <a:avLst/>
          </a:prstGeom>
        </p:spPr>
      </p:pic>
    </p:spTree>
    <p:extLst>
      <p:ext uri="{BB962C8B-B14F-4D97-AF65-F5344CB8AC3E}">
        <p14:creationId xmlns:p14="http://schemas.microsoft.com/office/powerpoint/2010/main" val="3292416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614737" y="947737"/>
            <a:ext cx="5601691" cy="4962525"/>
          </a:xfrm>
          <a:prstGeom prst="rect">
            <a:avLst/>
          </a:prstGeom>
        </p:spPr>
      </p:pic>
    </p:spTree>
    <p:extLst>
      <p:ext uri="{BB962C8B-B14F-4D97-AF65-F5344CB8AC3E}">
        <p14:creationId xmlns:p14="http://schemas.microsoft.com/office/powerpoint/2010/main" val="1703682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D66A37-700A-48AF-A28A-1309B6CAD12E}"/>
              </a:ext>
            </a:extLst>
          </p:cNvPr>
          <p:cNvPicPr>
            <a:picLocks noChangeAspect="1"/>
          </p:cNvPicPr>
          <p:nvPr/>
        </p:nvPicPr>
        <p:blipFill>
          <a:blip r:embed="rId2"/>
          <a:stretch>
            <a:fillRect/>
          </a:stretch>
        </p:blipFill>
        <p:spPr>
          <a:xfrm>
            <a:off x="1308848" y="955581"/>
            <a:ext cx="10049435" cy="5745962"/>
          </a:xfrm>
          <a:prstGeom prst="rect">
            <a:avLst/>
          </a:prstGeom>
        </p:spPr>
      </p:pic>
      <p:sp>
        <p:nvSpPr>
          <p:cNvPr id="6" name="Title 1">
            <a:extLst>
              <a:ext uri="{FF2B5EF4-FFF2-40B4-BE49-F238E27FC236}">
                <a16:creationId xmlns:a16="http://schemas.microsoft.com/office/drawing/2014/main" id="{D7C087B1-0D68-45C1-B855-14CF49BBA103}"/>
              </a:ext>
            </a:extLst>
          </p:cNvPr>
          <p:cNvSpPr txBox="1">
            <a:spLocks/>
          </p:cNvSpPr>
          <p:nvPr/>
        </p:nvSpPr>
        <p:spPr>
          <a:xfrm>
            <a:off x="1376082" y="110471"/>
            <a:ext cx="10515600" cy="84511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5400" b="1" dirty="0">
                <a:solidFill>
                  <a:srgbClr val="FF0000"/>
                </a:solidFill>
              </a:rPr>
              <a:t>Oral communication image</a:t>
            </a:r>
          </a:p>
        </p:txBody>
      </p:sp>
    </p:spTree>
    <p:extLst>
      <p:ext uri="{BB962C8B-B14F-4D97-AF65-F5344CB8AC3E}">
        <p14:creationId xmlns:p14="http://schemas.microsoft.com/office/powerpoint/2010/main" val="1575157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26DE798-7E19-45C2-817D-6C68F8EC234D}"/>
              </a:ext>
            </a:extLst>
          </p:cNvPr>
          <p:cNvSpPr txBox="1">
            <a:spLocks/>
          </p:cNvSpPr>
          <p:nvPr/>
        </p:nvSpPr>
        <p:spPr>
          <a:xfrm>
            <a:off x="201706" y="768096"/>
            <a:ext cx="7095206" cy="60899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Written communication means </a:t>
            </a:r>
            <a:r>
              <a:rPr lang="en-IN" b="1" dirty="0">
                <a:solidFill>
                  <a:srgbClr val="00B050"/>
                </a:solidFill>
              </a:rPr>
              <a:t>exchanging information in written words. </a:t>
            </a:r>
          </a:p>
          <a:p>
            <a:r>
              <a:rPr lang="en-IN" dirty="0"/>
              <a:t>This type of communication is essential for formal business communications and issuing legal instructions. </a:t>
            </a:r>
          </a:p>
          <a:p>
            <a:r>
              <a:rPr lang="en-IN" dirty="0"/>
              <a:t>In this method of communication, </a:t>
            </a:r>
            <a:r>
              <a:rPr lang="en-IN" sz="3200" b="1" dirty="0">
                <a:solidFill>
                  <a:srgbClr val="7030A0"/>
                </a:solidFill>
              </a:rPr>
              <a:t>words are used not orally but in written form. </a:t>
            </a:r>
          </a:p>
          <a:p>
            <a:r>
              <a:rPr lang="en-IN" dirty="0"/>
              <a:t>So by written communication </a:t>
            </a:r>
            <a:r>
              <a:rPr lang="en-IN" b="1" dirty="0">
                <a:solidFill>
                  <a:srgbClr val="FF0000"/>
                </a:solidFill>
              </a:rPr>
              <a:t>we mean meaningful application of written words in communication. </a:t>
            </a:r>
          </a:p>
          <a:p>
            <a:r>
              <a:rPr lang="en-IN" dirty="0"/>
              <a:t>Here communicator presents </a:t>
            </a:r>
            <a:r>
              <a:rPr lang="en-IN" b="1" dirty="0">
                <a:solidFill>
                  <a:srgbClr val="0070C0"/>
                </a:solidFill>
              </a:rPr>
              <a:t>all his thoughts, views, opinions etc</a:t>
            </a:r>
            <a:r>
              <a:rPr lang="en-IN" dirty="0"/>
              <a:t>. in written form. </a:t>
            </a:r>
          </a:p>
          <a:p>
            <a:r>
              <a:rPr lang="en-IN" dirty="0"/>
              <a:t>Without reading the message, receiver cannot understand it.</a:t>
            </a:r>
          </a:p>
          <a:p>
            <a:endParaRPr lang="en-IN" b="1" dirty="0">
              <a:solidFill>
                <a:srgbClr val="7030A0"/>
              </a:solidFill>
            </a:endParaRPr>
          </a:p>
        </p:txBody>
      </p:sp>
      <p:sp>
        <p:nvSpPr>
          <p:cNvPr id="3" name="Title 1">
            <a:extLst>
              <a:ext uri="{FF2B5EF4-FFF2-40B4-BE49-F238E27FC236}">
                <a16:creationId xmlns:a16="http://schemas.microsoft.com/office/drawing/2014/main" id="{9B5D403B-9875-4A18-B91B-B9A116CCE7C4}"/>
              </a:ext>
            </a:extLst>
          </p:cNvPr>
          <p:cNvSpPr txBox="1">
            <a:spLocks/>
          </p:cNvSpPr>
          <p:nvPr/>
        </p:nvSpPr>
        <p:spPr>
          <a:xfrm>
            <a:off x="2622177" y="0"/>
            <a:ext cx="10515600" cy="84511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5400" b="1" dirty="0">
                <a:solidFill>
                  <a:srgbClr val="FF0000"/>
                </a:solidFill>
              </a:rPr>
              <a:t>Written communication</a:t>
            </a:r>
          </a:p>
        </p:txBody>
      </p:sp>
      <p:pic>
        <p:nvPicPr>
          <p:cNvPr id="5" name="Picture 4"/>
          <p:cNvPicPr>
            <a:picLocks noChangeAspect="1"/>
          </p:cNvPicPr>
          <p:nvPr/>
        </p:nvPicPr>
        <p:blipFill>
          <a:blip r:embed="rId2"/>
          <a:stretch>
            <a:fillRect/>
          </a:stretch>
        </p:blipFill>
        <p:spPr>
          <a:xfrm>
            <a:off x="7296911" y="1371601"/>
            <a:ext cx="4773169" cy="3183666"/>
          </a:xfrm>
          <a:prstGeom prst="rect">
            <a:avLst/>
          </a:prstGeom>
        </p:spPr>
      </p:pic>
    </p:spTree>
    <p:extLst>
      <p:ext uri="{BB962C8B-B14F-4D97-AF65-F5344CB8AC3E}">
        <p14:creationId xmlns:p14="http://schemas.microsoft.com/office/powerpoint/2010/main" val="2662086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2A006A-3EFB-4F80-907F-135B24DBB497}"/>
              </a:ext>
            </a:extLst>
          </p:cNvPr>
          <p:cNvSpPr txBox="1"/>
          <p:nvPr/>
        </p:nvSpPr>
        <p:spPr>
          <a:xfrm>
            <a:off x="224117" y="169440"/>
            <a:ext cx="7543755" cy="523220"/>
          </a:xfrm>
          <a:prstGeom prst="rect">
            <a:avLst/>
          </a:prstGeom>
          <a:noFill/>
        </p:spPr>
        <p:txBody>
          <a:bodyPr wrap="square">
            <a:spAutoFit/>
          </a:bodyPr>
          <a:lstStyle/>
          <a:p>
            <a:pPr algn="l" fontAlgn="base"/>
            <a:r>
              <a:rPr lang="en-IN" sz="2800" b="1" i="0" dirty="0">
                <a:solidFill>
                  <a:srgbClr val="FF0000"/>
                </a:solidFill>
                <a:effectLst/>
                <a:latin typeface="inherit"/>
              </a:rPr>
              <a:t>Advantages of written communication</a:t>
            </a:r>
            <a:endParaRPr lang="en-IN" sz="2800" b="1" i="0" dirty="0">
              <a:solidFill>
                <a:srgbClr val="FF0000"/>
              </a:solidFill>
              <a:effectLst/>
              <a:latin typeface="Ubuntu"/>
            </a:endParaRPr>
          </a:p>
        </p:txBody>
      </p:sp>
      <p:sp>
        <p:nvSpPr>
          <p:cNvPr id="5" name="TextBox 4">
            <a:extLst>
              <a:ext uri="{FF2B5EF4-FFF2-40B4-BE49-F238E27FC236}">
                <a16:creationId xmlns:a16="http://schemas.microsoft.com/office/drawing/2014/main" id="{7891FD6B-A99E-4292-A329-3965130513D7}"/>
              </a:ext>
            </a:extLst>
          </p:cNvPr>
          <p:cNvSpPr txBox="1"/>
          <p:nvPr/>
        </p:nvSpPr>
        <p:spPr>
          <a:xfrm>
            <a:off x="224118" y="807852"/>
            <a:ext cx="11752729" cy="5909310"/>
          </a:xfrm>
          <a:prstGeom prst="rect">
            <a:avLst/>
          </a:prstGeom>
          <a:noFill/>
        </p:spPr>
        <p:txBody>
          <a:bodyPr wrap="square">
            <a:spAutoFit/>
          </a:bodyPr>
          <a:lstStyle/>
          <a:p>
            <a:pPr algn="l" fontAlgn="base"/>
            <a:r>
              <a:rPr lang="en-US" b="0" i="0" dirty="0">
                <a:solidFill>
                  <a:srgbClr val="0070C0"/>
                </a:solidFill>
                <a:effectLst/>
                <a:latin typeface="Ubuntu"/>
              </a:rPr>
              <a:t>1</a:t>
            </a:r>
            <a:r>
              <a:rPr lang="en-US" b="1" i="0" dirty="0">
                <a:solidFill>
                  <a:srgbClr val="0070C0"/>
                </a:solidFill>
                <a:effectLst/>
                <a:latin typeface="inherit"/>
              </a:rPr>
              <a:t>) Easy to Preserve:-</a:t>
            </a:r>
            <a:endParaRPr lang="en-US" b="0" i="0" dirty="0">
              <a:solidFill>
                <a:srgbClr val="0070C0"/>
              </a:solidFill>
              <a:effectLst/>
              <a:latin typeface="Ubuntu"/>
            </a:endParaRPr>
          </a:p>
          <a:p>
            <a:pPr algn="l" fontAlgn="base"/>
            <a:r>
              <a:rPr lang="en-US" b="0" i="0" dirty="0">
                <a:effectLst/>
                <a:latin typeface="Ubuntu"/>
              </a:rPr>
              <a:t>One of the main advantages of written communication is that the documents are easy to preserve if they are in written form. Oral and Non-verbal communication is not preserved. </a:t>
            </a:r>
          </a:p>
          <a:p>
            <a:pPr algn="l" fontAlgn="base"/>
            <a:endParaRPr lang="en-US" dirty="0">
              <a:latin typeface="Ubuntu"/>
            </a:endParaRPr>
          </a:p>
          <a:p>
            <a:pPr algn="l" fontAlgn="base"/>
            <a:r>
              <a:rPr lang="en-US" b="1" i="0" dirty="0">
                <a:solidFill>
                  <a:srgbClr val="0070C0"/>
                </a:solidFill>
                <a:effectLst/>
                <a:latin typeface="inherit"/>
              </a:rPr>
              <a:t>2)Clarity and Clear Understanding:-</a:t>
            </a:r>
            <a:endParaRPr lang="en-US" b="0" i="0" dirty="0">
              <a:solidFill>
                <a:srgbClr val="0070C0"/>
              </a:solidFill>
              <a:effectLst/>
              <a:latin typeface="Ubuntu"/>
            </a:endParaRPr>
          </a:p>
          <a:p>
            <a:pPr algn="l" fontAlgn="base"/>
            <a:r>
              <a:rPr lang="en-US" b="0" i="0" dirty="0">
                <a:effectLst/>
                <a:latin typeface="Ubuntu"/>
              </a:rPr>
              <a:t>Another advantage of written communication is it provides a clear and comprehensive grasp of the message to be conveyed. Written communication provides us a facility to read the message many times until the recipient fully comprehends it.</a:t>
            </a:r>
          </a:p>
          <a:p>
            <a:pPr algn="l" fontAlgn="base"/>
            <a:endParaRPr lang="en-US" b="0" i="0" dirty="0">
              <a:effectLst/>
              <a:latin typeface="Ubuntu"/>
            </a:endParaRPr>
          </a:p>
          <a:p>
            <a:pPr algn="l" fontAlgn="base"/>
            <a:r>
              <a:rPr lang="en-US" b="1" i="0" dirty="0">
                <a:solidFill>
                  <a:srgbClr val="0070C0"/>
                </a:solidFill>
                <a:effectLst/>
                <a:latin typeface="inherit"/>
              </a:rPr>
              <a:t>3) Permanent Record:-</a:t>
            </a:r>
            <a:endParaRPr lang="en-US" b="0" i="0" dirty="0">
              <a:solidFill>
                <a:srgbClr val="0070C0"/>
              </a:solidFill>
              <a:effectLst/>
              <a:latin typeface="Ubuntu"/>
            </a:endParaRPr>
          </a:p>
          <a:p>
            <a:pPr algn="l" fontAlgn="base"/>
            <a:r>
              <a:rPr lang="en-US" b="0" i="0" dirty="0">
                <a:effectLst/>
                <a:latin typeface="Ubuntu"/>
              </a:rPr>
              <a:t>Another important advantage of written communication is that the documents of written communication act as a permanent record. </a:t>
            </a:r>
          </a:p>
          <a:p>
            <a:pPr algn="l" fontAlgn="base"/>
            <a:endParaRPr lang="en-US" b="0" i="0" dirty="0">
              <a:effectLst/>
              <a:latin typeface="Ubuntu"/>
            </a:endParaRPr>
          </a:p>
          <a:p>
            <a:pPr algn="l" fontAlgn="base"/>
            <a:r>
              <a:rPr lang="en-US" b="1" i="0" dirty="0">
                <a:solidFill>
                  <a:srgbClr val="0070C0"/>
                </a:solidFill>
                <a:effectLst/>
                <a:latin typeface="inherit"/>
              </a:rPr>
              <a:t>4)Makes Presentation Easy:-</a:t>
            </a:r>
            <a:endParaRPr lang="en-US" b="0" i="0" dirty="0">
              <a:solidFill>
                <a:srgbClr val="0070C0"/>
              </a:solidFill>
              <a:effectLst/>
              <a:latin typeface="Ubuntu"/>
            </a:endParaRPr>
          </a:p>
          <a:p>
            <a:pPr algn="l" fontAlgn="base"/>
            <a:r>
              <a:rPr lang="en-US" b="0" i="0" dirty="0">
                <a:effectLst/>
                <a:latin typeface="Ubuntu"/>
              </a:rPr>
              <a:t>Written communication provides us the advantage of representing any complex matter or information easily and more attractively. For business organizations, the executives can present the information more accurately and clearly through written communication</a:t>
            </a:r>
          </a:p>
          <a:p>
            <a:pPr algn="l" fontAlgn="base"/>
            <a:endParaRPr lang="en-US" dirty="0">
              <a:latin typeface="Ubuntu"/>
            </a:endParaRPr>
          </a:p>
          <a:p>
            <a:pPr algn="l" fontAlgn="base"/>
            <a:r>
              <a:rPr lang="en-US" b="1" i="0" dirty="0">
                <a:solidFill>
                  <a:srgbClr val="0070C0"/>
                </a:solidFill>
                <a:effectLst/>
                <a:latin typeface="inherit"/>
              </a:rPr>
              <a:t>5) Serves as a Legal document:-</a:t>
            </a:r>
            <a:endParaRPr lang="en-US" b="0" i="0" dirty="0">
              <a:solidFill>
                <a:srgbClr val="0070C0"/>
              </a:solidFill>
              <a:effectLst/>
              <a:latin typeface="Ubuntu"/>
            </a:endParaRPr>
          </a:p>
          <a:p>
            <a:pPr algn="l" fontAlgn="base"/>
            <a:r>
              <a:rPr lang="en-US" b="0" i="0" dirty="0">
                <a:effectLst/>
                <a:latin typeface="Ubuntu"/>
              </a:rPr>
              <a:t>Documents in the written format serve as legal evidence for important business activities and transactions. In the event of a lawsuit, the one which is used as admissible evidence is written communication</a:t>
            </a:r>
          </a:p>
          <a:p>
            <a:pPr algn="l" fontAlgn="base"/>
            <a:endParaRPr lang="en-US" b="0" i="0" dirty="0">
              <a:effectLst/>
              <a:latin typeface="Ubuntu"/>
            </a:endParaRPr>
          </a:p>
        </p:txBody>
      </p:sp>
    </p:spTree>
    <p:extLst>
      <p:ext uri="{BB962C8B-B14F-4D97-AF65-F5344CB8AC3E}">
        <p14:creationId xmlns:p14="http://schemas.microsoft.com/office/powerpoint/2010/main" val="3640964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AF241B-30FB-458A-855B-1C017BA558F5}"/>
              </a:ext>
            </a:extLst>
          </p:cNvPr>
          <p:cNvSpPr txBox="1"/>
          <p:nvPr/>
        </p:nvSpPr>
        <p:spPr>
          <a:xfrm>
            <a:off x="188259" y="218398"/>
            <a:ext cx="11689976" cy="2585323"/>
          </a:xfrm>
          <a:prstGeom prst="rect">
            <a:avLst/>
          </a:prstGeom>
          <a:noFill/>
        </p:spPr>
        <p:txBody>
          <a:bodyPr wrap="square">
            <a:spAutoFit/>
          </a:bodyPr>
          <a:lstStyle/>
          <a:p>
            <a:pPr algn="l" fontAlgn="base"/>
            <a:r>
              <a:rPr lang="en-US" b="1" i="0" dirty="0">
                <a:solidFill>
                  <a:srgbClr val="0070C0"/>
                </a:solidFill>
                <a:effectLst/>
                <a:latin typeface="inherit"/>
              </a:rPr>
              <a:t>6) No wastage of time and money:-</a:t>
            </a:r>
            <a:endParaRPr lang="en-US" b="0" i="0" dirty="0">
              <a:solidFill>
                <a:srgbClr val="0070C0"/>
              </a:solidFill>
              <a:effectLst/>
              <a:latin typeface="Ubuntu"/>
            </a:endParaRPr>
          </a:p>
          <a:p>
            <a:pPr algn="l" fontAlgn="base"/>
            <a:r>
              <a:rPr lang="en-US" b="0" i="0" dirty="0">
                <a:effectLst/>
                <a:latin typeface="Ubuntu"/>
              </a:rPr>
              <a:t>Written communication can serve another advantage as it prevents waste of time and money. It is because all the parties or members communicating their ideas or data can share it even without meeting each other</a:t>
            </a:r>
            <a:r>
              <a:rPr lang="en-US" dirty="0">
                <a:latin typeface="Ubuntu"/>
              </a:rPr>
              <a:t>.</a:t>
            </a:r>
          </a:p>
          <a:p>
            <a:pPr algn="l" fontAlgn="base"/>
            <a:endParaRPr lang="en-US" dirty="0">
              <a:latin typeface="Ubuntu"/>
            </a:endParaRPr>
          </a:p>
          <a:p>
            <a:pPr algn="l" fontAlgn="base"/>
            <a:r>
              <a:rPr lang="en-US" b="1" dirty="0">
                <a:solidFill>
                  <a:srgbClr val="0070C0"/>
                </a:solidFill>
                <a:latin typeface="inherit"/>
              </a:rPr>
              <a:t>7</a:t>
            </a:r>
            <a:r>
              <a:rPr lang="en-US" b="1" i="0" dirty="0">
                <a:solidFill>
                  <a:srgbClr val="0070C0"/>
                </a:solidFill>
                <a:effectLst/>
                <a:latin typeface="inherit"/>
              </a:rPr>
              <a:t>) Ease in verification –</a:t>
            </a:r>
            <a:endParaRPr lang="en-US" b="0" i="0" dirty="0">
              <a:solidFill>
                <a:srgbClr val="0070C0"/>
              </a:solidFill>
              <a:effectLst/>
              <a:latin typeface="Ubuntu"/>
            </a:endParaRPr>
          </a:p>
          <a:p>
            <a:pPr algn="l" fontAlgn="base"/>
            <a:r>
              <a:rPr lang="en-US" b="0" i="0" dirty="0">
                <a:effectLst/>
                <a:latin typeface="Ubuntu"/>
              </a:rPr>
              <a:t>you might have easily guessed this advantage of written communication. You can easily verify if there is some confusion. You can refer to the written record and verify if something acclaimed or said is true or not. It is easy to verify in case any misunderstanding occurs between the parties.</a:t>
            </a:r>
          </a:p>
          <a:p>
            <a:pPr algn="l" fontAlgn="base"/>
            <a:endParaRPr lang="en-US" b="0" i="0" dirty="0">
              <a:effectLst/>
              <a:latin typeface="Ubuntu"/>
            </a:endParaRPr>
          </a:p>
        </p:txBody>
      </p:sp>
    </p:spTree>
    <p:extLst>
      <p:ext uri="{BB962C8B-B14F-4D97-AF65-F5344CB8AC3E}">
        <p14:creationId xmlns:p14="http://schemas.microsoft.com/office/powerpoint/2010/main" val="3242998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C8A23B-BDD1-4CF6-9743-1DB7835955DE}"/>
              </a:ext>
            </a:extLst>
          </p:cNvPr>
          <p:cNvSpPr txBox="1"/>
          <p:nvPr/>
        </p:nvSpPr>
        <p:spPr>
          <a:xfrm>
            <a:off x="224118" y="169440"/>
            <a:ext cx="7449670" cy="523220"/>
          </a:xfrm>
          <a:prstGeom prst="rect">
            <a:avLst/>
          </a:prstGeom>
          <a:noFill/>
        </p:spPr>
        <p:txBody>
          <a:bodyPr wrap="square">
            <a:spAutoFit/>
          </a:bodyPr>
          <a:lstStyle/>
          <a:p>
            <a:pPr algn="l" fontAlgn="base"/>
            <a:r>
              <a:rPr lang="en-IN" sz="2800" b="1" i="0" dirty="0">
                <a:solidFill>
                  <a:srgbClr val="FF0000"/>
                </a:solidFill>
                <a:effectLst/>
                <a:latin typeface="inherit"/>
              </a:rPr>
              <a:t>Disadvantages of written communication</a:t>
            </a:r>
            <a:endParaRPr lang="en-IN" sz="2800" b="1" i="0" dirty="0">
              <a:solidFill>
                <a:srgbClr val="FF0000"/>
              </a:solidFill>
              <a:effectLst/>
              <a:latin typeface="Ubuntu"/>
            </a:endParaRPr>
          </a:p>
        </p:txBody>
      </p:sp>
      <p:sp>
        <p:nvSpPr>
          <p:cNvPr id="4" name="TextBox 3">
            <a:extLst>
              <a:ext uri="{FF2B5EF4-FFF2-40B4-BE49-F238E27FC236}">
                <a16:creationId xmlns:a16="http://schemas.microsoft.com/office/drawing/2014/main" id="{CF2D3260-74B3-4865-8059-32AF4C60EA55}"/>
              </a:ext>
            </a:extLst>
          </p:cNvPr>
          <p:cNvSpPr txBox="1"/>
          <p:nvPr/>
        </p:nvSpPr>
        <p:spPr>
          <a:xfrm>
            <a:off x="224118" y="692660"/>
            <a:ext cx="11313458" cy="5909310"/>
          </a:xfrm>
          <a:prstGeom prst="rect">
            <a:avLst/>
          </a:prstGeom>
          <a:noFill/>
        </p:spPr>
        <p:txBody>
          <a:bodyPr wrap="square">
            <a:spAutoFit/>
          </a:bodyPr>
          <a:lstStyle/>
          <a:p>
            <a:pPr algn="l" fontAlgn="base"/>
            <a:r>
              <a:rPr lang="en-US" b="1" i="0" dirty="0">
                <a:effectLst/>
                <a:latin typeface="inherit"/>
              </a:rPr>
              <a:t>1) Expensive:-</a:t>
            </a:r>
            <a:endParaRPr lang="en-US" b="0" i="0" dirty="0">
              <a:effectLst/>
              <a:latin typeface="Ubuntu"/>
            </a:endParaRPr>
          </a:p>
          <a:p>
            <a:pPr algn="l" fontAlgn="base"/>
            <a:r>
              <a:rPr lang="en-US" b="0" i="0" dirty="0">
                <a:effectLst/>
                <a:latin typeface="Ubuntu"/>
              </a:rPr>
              <a:t>One of the disadvantages of written communication is being costlier than other communications. For written communication, paper, pen, ink, typewriters, printing machines, and maintaining such equipment and machinery, a computer and a large number of employees are necessary for its execution. Also, it is expensive as a group of individuals to prepare and distribute the organization’s letters which is quite costly for any organization. </a:t>
            </a:r>
          </a:p>
          <a:p>
            <a:pPr algn="l" fontAlgn="base"/>
            <a:endParaRPr lang="en-US" b="0" i="0" dirty="0">
              <a:effectLst/>
              <a:latin typeface="Ubuntu"/>
            </a:endParaRPr>
          </a:p>
          <a:p>
            <a:pPr algn="l" fontAlgn="base"/>
            <a:r>
              <a:rPr lang="en-US" b="1" i="0" dirty="0">
                <a:effectLst/>
                <a:latin typeface="inherit"/>
              </a:rPr>
              <a:t>2) Time Consuming:-</a:t>
            </a:r>
            <a:endParaRPr lang="en-US" b="0" i="0" dirty="0">
              <a:effectLst/>
              <a:latin typeface="Ubuntu"/>
            </a:endParaRPr>
          </a:p>
          <a:p>
            <a:pPr algn="l" fontAlgn="base"/>
            <a:r>
              <a:rPr lang="en-US" b="0" i="0" dirty="0">
                <a:effectLst/>
                <a:latin typeface="Ubuntu"/>
              </a:rPr>
              <a:t>Written communication is not only expensive but also very time-consuming. Drafting and forming a message in written form takes much more time than conveying orally. A written message can take two or three days to reach its intended recipient, but an oral communication message can be conveyed in a matter of seconds over the phone. </a:t>
            </a:r>
          </a:p>
          <a:p>
            <a:pPr algn="l" fontAlgn="base"/>
            <a:endParaRPr lang="en-US" dirty="0">
              <a:latin typeface="Ubuntu"/>
            </a:endParaRPr>
          </a:p>
          <a:p>
            <a:pPr algn="l" fontAlgn="base"/>
            <a:r>
              <a:rPr lang="en-US" b="1" i="0" dirty="0">
                <a:effectLst/>
                <a:latin typeface="inherit"/>
              </a:rPr>
              <a:t>3) Lack of confidentiality:-</a:t>
            </a:r>
            <a:endParaRPr lang="en-US" b="0" i="0" dirty="0">
              <a:effectLst/>
              <a:latin typeface="Ubuntu"/>
            </a:endParaRPr>
          </a:p>
          <a:p>
            <a:pPr algn="l" fontAlgn="base"/>
            <a:r>
              <a:rPr lang="en-US" b="0" i="0" dirty="0">
                <a:effectLst/>
                <a:latin typeface="Ubuntu"/>
              </a:rPr>
              <a:t>Keeping the information confidential is not always possible in written communication which serves as one of the biggest disadvantages of written communication. Since written communication is forwarded to every person who is concerned with the information or particular matter, there is a possibility of leakage of information by any employees, which is likely to have negative effects on the organization and may also lead to losses.</a:t>
            </a:r>
          </a:p>
          <a:p>
            <a:pPr algn="l" fontAlgn="base"/>
            <a:endParaRPr lang="en-US" b="0" i="0" dirty="0">
              <a:effectLst/>
              <a:latin typeface="Ubuntu"/>
            </a:endParaRPr>
          </a:p>
          <a:p>
            <a:pPr algn="l" fontAlgn="base"/>
            <a:r>
              <a:rPr lang="en-US" b="1" i="0" dirty="0">
                <a:effectLst/>
                <a:latin typeface="inherit"/>
              </a:rPr>
              <a:t>4) Delay in response and decision making:-</a:t>
            </a:r>
            <a:endParaRPr lang="en-US" b="0" i="0" dirty="0">
              <a:effectLst/>
              <a:latin typeface="Ubuntu"/>
            </a:endParaRPr>
          </a:p>
          <a:p>
            <a:pPr algn="l" fontAlgn="base"/>
            <a:r>
              <a:rPr lang="en-US" b="0" i="0" dirty="0">
                <a:effectLst/>
                <a:latin typeface="Ubuntu"/>
              </a:rPr>
              <a:t>If the recipient of the message lives far at a distance and has any doubt which is required to be clear, the response is not spontaneous as there is a lack of immediate response, which eventually leads to a delay in further decision making.</a:t>
            </a:r>
          </a:p>
          <a:p>
            <a:pPr algn="l" fontAlgn="base"/>
            <a:endParaRPr lang="en-US" b="0" i="0" dirty="0">
              <a:effectLst/>
              <a:latin typeface="Ubuntu"/>
            </a:endParaRPr>
          </a:p>
        </p:txBody>
      </p:sp>
    </p:spTree>
    <p:extLst>
      <p:ext uri="{BB962C8B-B14F-4D97-AF65-F5344CB8AC3E}">
        <p14:creationId xmlns:p14="http://schemas.microsoft.com/office/powerpoint/2010/main" val="1754824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57724" y="1904999"/>
            <a:ext cx="4450061" cy="3834897"/>
          </a:xfrm>
          <a:prstGeom prst="rect">
            <a:avLst/>
          </a:prstGeom>
        </p:spPr>
      </p:pic>
    </p:spTree>
    <p:extLst>
      <p:ext uri="{BB962C8B-B14F-4D97-AF65-F5344CB8AC3E}">
        <p14:creationId xmlns:p14="http://schemas.microsoft.com/office/powerpoint/2010/main" val="3579984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Importance of Effective Written Communication Skills - SoME Education">
            <a:extLst>
              <a:ext uri="{FF2B5EF4-FFF2-40B4-BE49-F238E27FC236}">
                <a16:creationId xmlns:a16="http://schemas.microsoft.com/office/drawing/2014/main" id="{3AE3141D-6475-4101-B09F-BB632727FD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247" y="1066240"/>
            <a:ext cx="9467726" cy="532559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229FEA18-7177-4065-9C80-64BDC11631BC}"/>
              </a:ext>
            </a:extLst>
          </p:cNvPr>
          <p:cNvSpPr txBox="1">
            <a:spLocks/>
          </p:cNvSpPr>
          <p:nvPr/>
        </p:nvSpPr>
        <p:spPr>
          <a:xfrm>
            <a:off x="963706" y="43609"/>
            <a:ext cx="10515600" cy="84511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5400" b="1" dirty="0">
                <a:solidFill>
                  <a:srgbClr val="FF0000"/>
                </a:solidFill>
              </a:rPr>
              <a:t>Written communication image</a:t>
            </a:r>
          </a:p>
        </p:txBody>
      </p:sp>
    </p:spTree>
    <p:extLst>
      <p:ext uri="{BB962C8B-B14F-4D97-AF65-F5344CB8AC3E}">
        <p14:creationId xmlns:p14="http://schemas.microsoft.com/office/powerpoint/2010/main" val="4239237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3386F63C-14EB-4BEA-8D3B-10D181AA70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798" y="158245"/>
            <a:ext cx="10493189" cy="6541510"/>
          </a:xfrm>
          <a:prstGeom prst="rect">
            <a:avLst/>
          </a:prstGeom>
        </p:spPr>
      </p:pic>
    </p:spTree>
    <p:extLst>
      <p:ext uri="{BB962C8B-B14F-4D97-AF65-F5344CB8AC3E}">
        <p14:creationId xmlns:p14="http://schemas.microsoft.com/office/powerpoint/2010/main" val="1344716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28B41AA-2BE0-4C14-B3FF-787FC8F789AA}"/>
              </a:ext>
            </a:extLst>
          </p:cNvPr>
          <p:cNvSpPr txBox="1">
            <a:spLocks/>
          </p:cNvSpPr>
          <p:nvPr/>
        </p:nvSpPr>
        <p:spPr>
          <a:xfrm>
            <a:off x="-238763" y="744605"/>
            <a:ext cx="11698941"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4800" b="1" dirty="0"/>
              <a:t>2.2</a:t>
            </a:r>
          </a:p>
          <a:p>
            <a:pPr marL="0" indent="0" algn="ctr">
              <a:buNone/>
            </a:pPr>
            <a:r>
              <a:rPr lang="en-IN" sz="4800" b="1" dirty="0"/>
              <a:t> Formal and Informal </a:t>
            </a:r>
          </a:p>
        </p:txBody>
      </p:sp>
      <p:pic>
        <p:nvPicPr>
          <p:cNvPr id="3" name="Picture 2"/>
          <p:cNvPicPr>
            <a:picLocks noChangeAspect="1"/>
          </p:cNvPicPr>
          <p:nvPr/>
        </p:nvPicPr>
        <p:blipFill>
          <a:blip r:embed="rId2"/>
          <a:stretch>
            <a:fillRect/>
          </a:stretch>
        </p:blipFill>
        <p:spPr>
          <a:xfrm>
            <a:off x="3246668" y="2465087"/>
            <a:ext cx="5489927" cy="3086644"/>
          </a:xfrm>
          <a:prstGeom prst="rect">
            <a:avLst/>
          </a:prstGeom>
        </p:spPr>
      </p:pic>
    </p:spTree>
    <p:extLst>
      <p:ext uri="{BB962C8B-B14F-4D97-AF65-F5344CB8AC3E}">
        <p14:creationId xmlns:p14="http://schemas.microsoft.com/office/powerpoint/2010/main" val="36421189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824547-F2F6-4386-9F47-1EC4AA645572}"/>
              </a:ext>
            </a:extLst>
          </p:cNvPr>
          <p:cNvSpPr txBox="1"/>
          <p:nvPr/>
        </p:nvSpPr>
        <p:spPr>
          <a:xfrm>
            <a:off x="331693" y="320236"/>
            <a:ext cx="11600331" cy="6832640"/>
          </a:xfrm>
          <a:prstGeom prst="rect">
            <a:avLst/>
          </a:prstGeom>
          <a:noFill/>
        </p:spPr>
        <p:txBody>
          <a:bodyPr wrap="square">
            <a:spAutoFit/>
          </a:bodyPr>
          <a:lstStyle/>
          <a:p>
            <a:pPr algn="ctr"/>
            <a:r>
              <a:rPr lang="en-US" sz="3600" b="1" i="0" dirty="0">
                <a:solidFill>
                  <a:srgbClr val="FF0000"/>
                </a:solidFill>
                <a:effectLst/>
                <a:latin typeface="ui-sans-serif"/>
              </a:rPr>
              <a:t>What is formal communication?</a:t>
            </a:r>
          </a:p>
          <a:p>
            <a:pPr marL="285750" indent="-285750">
              <a:buFont typeface="Arial" panose="020B0604020202020204" pitchFamily="34" charset="0"/>
              <a:buChar char="•"/>
            </a:pPr>
            <a:r>
              <a:rPr lang="en-US" sz="2400" b="1" i="0" dirty="0">
                <a:solidFill>
                  <a:srgbClr val="00B050"/>
                </a:solidFill>
                <a:effectLst/>
                <a:latin typeface="ui-sans-serif"/>
              </a:rPr>
              <a:t>Formal communication refers to the flow of official information through proper, predefined channels and routes.</a:t>
            </a:r>
            <a:r>
              <a:rPr lang="en-US" sz="2400" b="0" i="0" dirty="0">
                <a:effectLst/>
                <a:latin typeface="ui-sans-serif"/>
              </a:rPr>
              <a:t> </a:t>
            </a:r>
          </a:p>
          <a:p>
            <a:pPr marL="285750" indent="-285750">
              <a:buFont typeface="Arial" panose="020B0604020202020204" pitchFamily="34" charset="0"/>
              <a:buChar char="•"/>
            </a:pPr>
            <a:endParaRPr lang="en-US" sz="2400" b="0" i="0" dirty="0">
              <a:effectLst/>
              <a:latin typeface="ui-sans-serif"/>
            </a:endParaRPr>
          </a:p>
          <a:p>
            <a:pPr marL="285750" indent="-285750">
              <a:buFont typeface="Arial" panose="020B0604020202020204" pitchFamily="34" charset="0"/>
              <a:buChar char="•"/>
            </a:pPr>
            <a:r>
              <a:rPr lang="en-US" sz="2400" b="1" i="0" dirty="0">
                <a:solidFill>
                  <a:srgbClr val="7030A0"/>
                </a:solidFill>
                <a:effectLst/>
                <a:latin typeface="ui-sans-serif"/>
              </a:rPr>
              <a:t>The flow of information is controlled and needs deliberate effort to be properly communicated. </a:t>
            </a:r>
          </a:p>
          <a:p>
            <a:pPr marL="285750" indent="-285750">
              <a:buFont typeface="Arial" panose="020B0604020202020204" pitchFamily="34" charset="0"/>
              <a:buChar char="•"/>
            </a:pPr>
            <a:endParaRPr lang="en-US" sz="2400" b="1" i="0" dirty="0">
              <a:solidFill>
                <a:srgbClr val="7030A0"/>
              </a:solidFill>
              <a:effectLst/>
              <a:latin typeface="ui-sans-serif"/>
            </a:endParaRPr>
          </a:p>
          <a:p>
            <a:pPr marL="285750" indent="-285750">
              <a:buFont typeface="Arial" panose="020B0604020202020204" pitchFamily="34" charset="0"/>
              <a:buChar char="•"/>
            </a:pPr>
            <a:r>
              <a:rPr lang="en-US" sz="2400" b="1" i="0" dirty="0">
                <a:solidFill>
                  <a:srgbClr val="00B050"/>
                </a:solidFill>
                <a:effectLst/>
                <a:latin typeface="ui-sans-serif"/>
              </a:rPr>
              <a:t>Formal communication follows a hierarchical structure and chain of command. </a:t>
            </a:r>
          </a:p>
          <a:p>
            <a:pPr marL="285750" indent="-285750">
              <a:buFont typeface="Arial" panose="020B0604020202020204" pitchFamily="34" charset="0"/>
              <a:buChar char="•"/>
            </a:pPr>
            <a:endParaRPr lang="en-US" sz="2400" b="1" i="0" dirty="0">
              <a:solidFill>
                <a:srgbClr val="00B050"/>
              </a:solidFill>
              <a:effectLst/>
              <a:latin typeface="ui-sans-serif"/>
            </a:endParaRPr>
          </a:p>
          <a:p>
            <a:pPr marL="285750" indent="-285750">
              <a:buFont typeface="Arial" panose="020B0604020202020204" pitchFamily="34" charset="0"/>
              <a:buChar char="•"/>
            </a:pPr>
            <a:r>
              <a:rPr lang="en-US" sz="2400" b="1" i="0" dirty="0">
                <a:solidFill>
                  <a:srgbClr val="7030A0"/>
                </a:solidFill>
                <a:effectLst/>
                <a:latin typeface="ui-sans-serif"/>
              </a:rPr>
              <a:t>The structure is typically top down, from leaders in various departments and senior staff in the organization, which funnel down to lower level employees</a:t>
            </a:r>
            <a:r>
              <a:rPr lang="en-US" sz="2400" b="0" i="0" dirty="0">
                <a:effectLst/>
                <a:latin typeface="ui-sans-serif"/>
              </a:rPr>
              <a:t>. </a:t>
            </a:r>
          </a:p>
          <a:p>
            <a:pPr marL="285750" indent="-285750">
              <a:buFont typeface="Arial" panose="020B0604020202020204" pitchFamily="34" charset="0"/>
              <a:buChar char="•"/>
            </a:pPr>
            <a:endParaRPr lang="en-US" sz="2400" b="0" i="0" dirty="0">
              <a:effectLst/>
              <a:latin typeface="ui-sans-serif"/>
            </a:endParaRPr>
          </a:p>
          <a:p>
            <a:pPr marL="285750" indent="-285750">
              <a:buFont typeface="Arial" panose="020B0604020202020204" pitchFamily="34" charset="0"/>
              <a:buChar char="•"/>
            </a:pPr>
            <a:r>
              <a:rPr lang="en-US" sz="2400" b="1" i="0" dirty="0">
                <a:solidFill>
                  <a:srgbClr val="00B050"/>
                </a:solidFill>
                <a:effectLst/>
                <a:latin typeface="ui-sans-serif"/>
              </a:rPr>
              <a:t>Employees are bound to follow formal communication channels while performing their duties.</a:t>
            </a:r>
          </a:p>
          <a:p>
            <a:pPr marL="285750" indent="-285750">
              <a:buFont typeface="Arial" panose="020B0604020202020204" pitchFamily="34" charset="0"/>
              <a:buChar char="•"/>
            </a:pPr>
            <a:endParaRPr lang="en-US" sz="2400" b="1" i="0" dirty="0">
              <a:solidFill>
                <a:srgbClr val="00B050"/>
              </a:solidFill>
              <a:effectLst/>
              <a:latin typeface="ui-sans-serif"/>
            </a:endParaRPr>
          </a:p>
          <a:p>
            <a:pPr marL="285750" indent="-285750">
              <a:buFont typeface="Arial" panose="020B0604020202020204" pitchFamily="34" charset="0"/>
              <a:buChar char="•"/>
            </a:pPr>
            <a:r>
              <a:rPr lang="en-US" sz="2400" b="1" i="0" dirty="0">
                <a:solidFill>
                  <a:srgbClr val="7030A0"/>
                </a:solidFill>
                <a:effectLst/>
                <a:latin typeface="ui-sans-serif"/>
              </a:rPr>
              <a:t>Formal communication is considered effective as it is a </a:t>
            </a:r>
            <a:r>
              <a:rPr lang="en-US" sz="2400" b="1" i="0" u="none" strike="noStrike" dirty="0">
                <a:solidFill>
                  <a:srgbClr val="7030A0"/>
                </a:solidFill>
                <a:effectLst/>
                <a:latin typeface="ui-sans-serif"/>
              </a:rPr>
              <a:t>timely and systematic flow of communication</a:t>
            </a:r>
            <a:r>
              <a:rPr lang="en-US" sz="2400" b="1" i="0" dirty="0">
                <a:solidFill>
                  <a:srgbClr val="7030A0"/>
                </a:solidFill>
                <a:effectLst/>
                <a:latin typeface="ui-sans-serif"/>
              </a:rPr>
              <a:t>.</a:t>
            </a:r>
          </a:p>
          <a:p>
            <a:endParaRPr lang="en-US" b="0" i="0" dirty="0">
              <a:effectLst/>
              <a:latin typeface="ui-sans-serif"/>
            </a:endParaRPr>
          </a:p>
        </p:txBody>
      </p:sp>
    </p:spTree>
    <p:extLst>
      <p:ext uri="{BB962C8B-B14F-4D97-AF65-F5344CB8AC3E}">
        <p14:creationId xmlns:p14="http://schemas.microsoft.com/office/powerpoint/2010/main" val="889994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ormal Communication – Infowala.com">
            <a:extLst>
              <a:ext uri="{FF2B5EF4-FFF2-40B4-BE49-F238E27FC236}">
                <a16:creationId xmlns:a16="http://schemas.microsoft.com/office/drawing/2014/main" id="{05A58B7D-4D29-4B64-AF46-EBF5289B7C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988" y="310684"/>
            <a:ext cx="5163671" cy="3445137"/>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pic>
        <p:nvPicPr>
          <p:cNvPr id="4100" name="Picture 4" descr="Which of the Following Is an Example of Formal Communication ...">
            <a:extLst>
              <a:ext uri="{FF2B5EF4-FFF2-40B4-BE49-F238E27FC236}">
                <a16:creationId xmlns:a16="http://schemas.microsoft.com/office/drawing/2014/main" id="{32B3C365-C3A8-481B-8C31-27CC66D8A1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851057"/>
            <a:ext cx="5677239" cy="3244943"/>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671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6332E8-E53C-4AC9-A95C-3718589EE86F}"/>
              </a:ext>
            </a:extLst>
          </p:cNvPr>
          <p:cNvSpPr txBox="1"/>
          <p:nvPr/>
        </p:nvSpPr>
        <p:spPr>
          <a:xfrm>
            <a:off x="233081" y="197346"/>
            <a:ext cx="11672047" cy="5386090"/>
          </a:xfrm>
          <a:prstGeom prst="rect">
            <a:avLst/>
          </a:prstGeom>
          <a:noFill/>
        </p:spPr>
        <p:txBody>
          <a:bodyPr wrap="square">
            <a:spAutoFit/>
          </a:bodyPr>
          <a:lstStyle/>
          <a:p>
            <a:pPr algn="ctr"/>
            <a:r>
              <a:rPr lang="en-US" sz="3200" b="1" i="0" dirty="0">
                <a:solidFill>
                  <a:srgbClr val="FF0000"/>
                </a:solidFill>
                <a:effectLst/>
                <a:latin typeface="ui-sans-serif"/>
              </a:rPr>
              <a:t>What is informal communication?</a:t>
            </a:r>
          </a:p>
          <a:p>
            <a:pPr marL="285750" indent="-285750" algn="l">
              <a:buFont typeface="Arial" panose="020B0604020202020204" pitchFamily="34" charset="0"/>
              <a:buChar char="•"/>
            </a:pPr>
            <a:r>
              <a:rPr lang="en-US" sz="2400" b="1" dirty="0">
                <a:solidFill>
                  <a:srgbClr val="0070C0"/>
                </a:solidFill>
                <a:latin typeface="ui-sans-serif"/>
              </a:rPr>
              <a:t>I</a:t>
            </a:r>
            <a:r>
              <a:rPr lang="en-US" sz="2400" b="1" i="0" u="none" strike="noStrike" dirty="0">
                <a:solidFill>
                  <a:srgbClr val="0070C0"/>
                </a:solidFill>
                <a:effectLst/>
                <a:latin typeface="ui-sans-serif"/>
              </a:rPr>
              <a:t>nformal communication</a:t>
            </a:r>
            <a:r>
              <a:rPr lang="en-US" sz="2400" b="1" i="0" dirty="0">
                <a:solidFill>
                  <a:srgbClr val="0070C0"/>
                </a:solidFill>
                <a:effectLst/>
                <a:latin typeface="ui-sans-serif"/>
              </a:rPr>
              <a:t> refers to communication which is multi-dimensional. </a:t>
            </a:r>
          </a:p>
          <a:p>
            <a:pPr marL="285750" indent="-285750" algn="l">
              <a:buFont typeface="Arial" panose="020B0604020202020204" pitchFamily="34" charset="0"/>
              <a:buChar char="•"/>
            </a:pPr>
            <a:endParaRPr lang="en-US" sz="2400" b="1" i="0" dirty="0">
              <a:solidFill>
                <a:srgbClr val="0070C0"/>
              </a:solidFill>
              <a:effectLst/>
              <a:latin typeface="ui-sans-serif"/>
            </a:endParaRPr>
          </a:p>
          <a:p>
            <a:pPr marL="285750" indent="-285750" algn="l">
              <a:buFont typeface="Arial" panose="020B0604020202020204" pitchFamily="34" charset="0"/>
              <a:buChar char="•"/>
            </a:pPr>
            <a:r>
              <a:rPr lang="en-US" sz="2400" b="1" i="0" dirty="0">
                <a:solidFill>
                  <a:srgbClr val="C00000"/>
                </a:solidFill>
                <a:effectLst/>
                <a:latin typeface="Nunito Sans" pitchFamily="2" charset="0"/>
              </a:rPr>
              <a:t>Informal Communication in the workplace refers to the exchanging of information outside formal channels such as office memos or scheduled meetings. It can take many forms, such as casual conversations between colleagues, watercooler discussions, or social media interactions.  </a:t>
            </a:r>
          </a:p>
          <a:p>
            <a:pPr marL="285750" indent="-285750" algn="l">
              <a:buFont typeface="Arial" panose="020B0604020202020204" pitchFamily="34" charset="0"/>
              <a:buChar char="•"/>
            </a:pPr>
            <a:endParaRPr lang="en-US" sz="2400" b="0" i="0" dirty="0">
              <a:effectLst/>
              <a:latin typeface="Nunito Sans" pitchFamily="2" charset="0"/>
            </a:endParaRPr>
          </a:p>
          <a:p>
            <a:pPr marL="285750" indent="-285750" algn="l">
              <a:buFont typeface="Arial" panose="020B0604020202020204" pitchFamily="34" charset="0"/>
              <a:buChar char="•"/>
            </a:pPr>
            <a:r>
              <a:rPr lang="en-US" sz="2400" b="1" i="0" dirty="0">
                <a:solidFill>
                  <a:srgbClr val="0070C0"/>
                </a:solidFill>
                <a:effectLst/>
                <a:latin typeface="Nunito Sans" pitchFamily="2" charset="0"/>
              </a:rPr>
              <a:t>Informal Communication plays an essential role in developing relationships, creating a positive work culture, and sharing creative ideas.</a:t>
            </a:r>
          </a:p>
          <a:p>
            <a:pPr marL="285750" indent="-285750" algn="l">
              <a:buFont typeface="Arial" panose="020B0604020202020204" pitchFamily="34" charset="0"/>
              <a:buChar char="•"/>
            </a:pPr>
            <a:endParaRPr lang="en-US" sz="2400" b="1" i="0" dirty="0">
              <a:solidFill>
                <a:srgbClr val="0070C0"/>
              </a:solidFill>
              <a:effectLst/>
              <a:latin typeface="Nunito Sans" pitchFamily="2" charset="0"/>
            </a:endParaRPr>
          </a:p>
          <a:p>
            <a:pPr marL="285750" indent="-285750" algn="l">
              <a:buFont typeface="Arial" panose="020B0604020202020204" pitchFamily="34" charset="0"/>
              <a:buChar char="•"/>
            </a:pPr>
            <a:r>
              <a:rPr lang="en-US" sz="2400" b="1" i="0" dirty="0">
                <a:solidFill>
                  <a:srgbClr val="C00000"/>
                </a:solidFill>
                <a:effectLst/>
                <a:latin typeface="ui-sans-serif"/>
              </a:rPr>
              <a:t>Informal communication is considered effective as employees can discuss work-related issues which saves the organization time and money. It also helps to build more productive and healthy relationships in the workforce.</a:t>
            </a:r>
          </a:p>
        </p:txBody>
      </p:sp>
    </p:spTree>
    <p:extLst>
      <p:ext uri="{BB962C8B-B14F-4D97-AF65-F5344CB8AC3E}">
        <p14:creationId xmlns:p14="http://schemas.microsoft.com/office/powerpoint/2010/main" val="1209554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E56EB7-4D45-4748-8FFE-4C9790C4A98A}"/>
              </a:ext>
            </a:extLst>
          </p:cNvPr>
          <p:cNvPicPr>
            <a:picLocks noChangeAspect="1"/>
          </p:cNvPicPr>
          <p:nvPr/>
        </p:nvPicPr>
        <p:blipFill>
          <a:blip r:embed="rId2"/>
          <a:stretch>
            <a:fillRect/>
          </a:stretch>
        </p:blipFill>
        <p:spPr>
          <a:xfrm>
            <a:off x="410136" y="258857"/>
            <a:ext cx="5685864" cy="2842932"/>
          </a:xfrm>
          <a:prstGeom prst="rect">
            <a:avLst/>
          </a:prstGeom>
          <a:ln w="38100">
            <a:solidFill>
              <a:schemeClr val="tx1"/>
            </a:solidFill>
          </a:ln>
        </p:spPr>
      </p:pic>
      <p:pic>
        <p:nvPicPr>
          <p:cNvPr id="5124" name="Picture 4" descr="Informal Communication: The Powerhouse in Workplaces - Shiftbase">
            <a:extLst>
              <a:ext uri="{FF2B5EF4-FFF2-40B4-BE49-F238E27FC236}">
                <a16:creationId xmlns:a16="http://schemas.microsoft.com/office/drawing/2014/main" id="{FC79AF4F-E596-4EED-A574-B460FEFFF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4588" y="1368519"/>
            <a:ext cx="5501783" cy="3669646"/>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ECDD237-82CC-4DCE-B8B4-A6A4C592508A}"/>
              </a:ext>
            </a:extLst>
          </p:cNvPr>
          <p:cNvPicPr>
            <a:picLocks noChangeAspect="1"/>
          </p:cNvPicPr>
          <p:nvPr/>
        </p:nvPicPr>
        <p:blipFill>
          <a:blip r:embed="rId4"/>
          <a:stretch>
            <a:fillRect/>
          </a:stretch>
        </p:blipFill>
        <p:spPr>
          <a:xfrm>
            <a:off x="515470" y="3543020"/>
            <a:ext cx="5323958" cy="2990290"/>
          </a:xfrm>
          <a:prstGeom prst="rect">
            <a:avLst/>
          </a:prstGeom>
          <a:ln w="38100">
            <a:solidFill>
              <a:schemeClr val="tx1"/>
            </a:solidFill>
          </a:ln>
        </p:spPr>
      </p:pic>
    </p:spTree>
    <p:extLst>
      <p:ext uri="{BB962C8B-B14F-4D97-AF65-F5344CB8AC3E}">
        <p14:creationId xmlns:p14="http://schemas.microsoft.com/office/powerpoint/2010/main" val="15924058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79C132EB-0F17-4161-8461-8CE6AD879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685" y="365124"/>
            <a:ext cx="11365913" cy="6214969"/>
          </a:xfrm>
          <a:prstGeom prst="rect">
            <a:avLst/>
          </a:prstGeom>
        </p:spPr>
      </p:pic>
    </p:spTree>
    <p:extLst>
      <p:ext uri="{BB962C8B-B14F-4D97-AF65-F5344CB8AC3E}">
        <p14:creationId xmlns:p14="http://schemas.microsoft.com/office/powerpoint/2010/main" val="933601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28B41AA-2BE0-4C14-B3FF-787FC8F789AA}"/>
              </a:ext>
            </a:extLst>
          </p:cNvPr>
          <p:cNvSpPr txBox="1">
            <a:spLocks/>
          </p:cNvSpPr>
          <p:nvPr/>
        </p:nvSpPr>
        <p:spPr>
          <a:xfrm>
            <a:off x="246529" y="0"/>
            <a:ext cx="11698941" cy="1655762"/>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4800" b="1" dirty="0"/>
              <a:t>2.3</a:t>
            </a:r>
          </a:p>
          <a:p>
            <a:pPr marL="0" indent="0" algn="ctr">
              <a:buNone/>
            </a:pPr>
            <a:r>
              <a:rPr lang="en-US" sz="4800" b="1" dirty="0"/>
              <a:t>Non-verbal Communication and Body Language</a:t>
            </a:r>
            <a:endParaRPr lang="en-IN" sz="4800" b="1" dirty="0"/>
          </a:p>
        </p:txBody>
      </p:sp>
      <p:sp>
        <p:nvSpPr>
          <p:cNvPr id="3" name="Subtitle 2">
            <a:extLst>
              <a:ext uri="{FF2B5EF4-FFF2-40B4-BE49-F238E27FC236}">
                <a16:creationId xmlns:a16="http://schemas.microsoft.com/office/drawing/2014/main" id="{0ED815FD-8F0C-4AE3-B0C9-791C0DB8A440}"/>
              </a:ext>
            </a:extLst>
          </p:cNvPr>
          <p:cNvSpPr txBox="1">
            <a:spLocks/>
          </p:cNvSpPr>
          <p:nvPr/>
        </p:nvSpPr>
        <p:spPr>
          <a:xfrm>
            <a:off x="412376" y="1889780"/>
            <a:ext cx="11698941"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4800" b="1" dirty="0"/>
              <a:t>2.3.1</a:t>
            </a:r>
          </a:p>
          <a:p>
            <a:pPr marL="0" indent="0" algn="ctr">
              <a:buNone/>
            </a:pPr>
            <a:r>
              <a:rPr lang="en-IN" sz="4800" b="1" dirty="0"/>
              <a:t>Forms of Non-Verbal Communication</a:t>
            </a:r>
          </a:p>
        </p:txBody>
      </p:sp>
      <p:sp>
        <p:nvSpPr>
          <p:cNvPr id="4" name="Subtitle 2">
            <a:extLst>
              <a:ext uri="{FF2B5EF4-FFF2-40B4-BE49-F238E27FC236}">
                <a16:creationId xmlns:a16="http://schemas.microsoft.com/office/drawing/2014/main" id="{4EA33419-BBC7-493C-948C-58AC05CBEF7F}"/>
              </a:ext>
            </a:extLst>
          </p:cNvPr>
          <p:cNvSpPr txBox="1">
            <a:spLocks/>
          </p:cNvSpPr>
          <p:nvPr/>
        </p:nvSpPr>
        <p:spPr>
          <a:xfrm>
            <a:off x="331694" y="3862015"/>
            <a:ext cx="11698941"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4800" b="1" dirty="0"/>
              <a:t>2.3.2</a:t>
            </a:r>
          </a:p>
          <a:p>
            <a:pPr marL="0" indent="0" algn="ctr">
              <a:buNone/>
            </a:pPr>
            <a:r>
              <a:rPr lang="en-IN" sz="4800" b="1" dirty="0"/>
              <a:t>Effective use of body language</a:t>
            </a:r>
          </a:p>
        </p:txBody>
      </p:sp>
    </p:spTree>
    <p:extLst>
      <p:ext uri="{BB962C8B-B14F-4D97-AF65-F5344CB8AC3E}">
        <p14:creationId xmlns:p14="http://schemas.microsoft.com/office/powerpoint/2010/main" val="1336546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2A8B3-815E-435E-B524-4D1417673826}"/>
              </a:ext>
            </a:extLst>
          </p:cNvPr>
          <p:cNvSpPr txBox="1">
            <a:spLocks/>
          </p:cNvSpPr>
          <p:nvPr/>
        </p:nvSpPr>
        <p:spPr>
          <a:xfrm>
            <a:off x="255494" y="167902"/>
            <a:ext cx="10515600" cy="65685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rgbClr val="FF0000"/>
                </a:solidFill>
              </a:rPr>
              <a:t>What Is Non Verbal Communication?</a:t>
            </a:r>
            <a:r>
              <a:rPr lang="en-IN" dirty="0"/>
              <a:t/>
            </a:r>
            <a:br>
              <a:rPr lang="en-IN" dirty="0"/>
            </a:br>
            <a:endParaRPr lang="en-IN" dirty="0"/>
          </a:p>
        </p:txBody>
      </p:sp>
      <p:sp>
        <p:nvSpPr>
          <p:cNvPr id="4" name="TextBox 3">
            <a:extLst>
              <a:ext uri="{FF2B5EF4-FFF2-40B4-BE49-F238E27FC236}">
                <a16:creationId xmlns:a16="http://schemas.microsoft.com/office/drawing/2014/main" id="{4CC14AA6-1969-419F-BFD8-7FC91496507C}"/>
              </a:ext>
            </a:extLst>
          </p:cNvPr>
          <p:cNvSpPr txBox="1"/>
          <p:nvPr/>
        </p:nvSpPr>
        <p:spPr>
          <a:xfrm>
            <a:off x="255493" y="1017965"/>
            <a:ext cx="11622741" cy="3046988"/>
          </a:xfrm>
          <a:prstGeom prst="rect">
            <a:avLst/>
          </a:prstGeom>
          <a:noFill/>
        </p:spPr>
        <p:txBody>
          <a:bodyPr wrap="square">
            <a:spAutoFit/>
          </a:bodyPr>
          <a:lstStyle/>
          <a:p>
            <a:r>
              <a:rPr lang="en-IN" sz="3200" dirty="0"/>
              <a:t>Non-verbal communication is the sending or receiving of wordless messages. </a:t>
            </a:r>
          </a:p>
          <a:p>
            <a:endParaRPr lang="en-IN" sz="3200" dirty="0"/>
          </a:p>
          <a:p>
            <a:r>
              <a:rPr lang="en-IN" sz="3200" dirty="0"/>
              <a:t>We can say that communication </a:t>
            </a:r>
            <a:r>
              <a:rPr lang="en-IN" sz="3200" b="1" dirty="0">
                <a:solidFill>
                  <a:srgbClr val="C00000"/>
                </a:solidFill>
              </a:rPr>
              <a:t>other than oral and written</a:t>
            </a:r>
            <a:r>
              <a:rPr lang="en-IN" sz="3200" dirty="0"/>
              <a:t>, as </a:t>
            </a:r>
            <a:r>
              <a:rPr lang="en-IN" sz="3200" b="1" dirty="0">
                <a:solidFill>
                  <a:srgbClr val="0070C0"/>
                </a:solidFill>
              </a:rPr>
              <a:t>gesture, body language, posture, tone of voice or facial expressions, is called non-verbal communication.</a:t>
            </a:r>
          </a:p>
        </p:txBody>
      </p:sp>
    </p:spTree>
    <p:extLst>
      <p:ext uri="{BB962C8B-B14F-4D97-AF65-F5344CB8AC3E}">
        <p14:creationId xmlns:p14="http://schemas.microsoft.com/office/powerpoint/2010/main" val="3927213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52AC8C0-D5DF-4ED1-8722-3876545F68AF}"/>
              </a:ext>
            </a:extLst>
          </p:cNvPr>
          <p:cNvPicPr>
            <a:picLocks noChangeAspect="1"/>
          </p:cNvPicPr>
          <p:nvPr/>
        </p:nvPicPr>
        <p:blipFill>
          <a:blip r:embed="rId2"/>
          <a:stretch>
            <a:fillRect/>
          </a:stretch>
        </p:blipFill>
        <p:spPr>
          <a:xfrm>
            <a:off x="107576" y="1102378"/>
            <a:ext cx="4437603" cy="4222657"/>
          </a:xfrm>
          <a:prstGeom prst="rect">
            <a:avLst/>
          </a:prstGeom>
        </p:spPr>
      </p:pic>
      <p:pic>
        <p:nvPicPr>
          <p:cNvPr id="3" name="Picture 2">
            <a:extLst>
              <a:ext uri="{FF2B5EF4-FFF2-40B4-BE49-F238E27FC236}">
                <a16:creationId xmlns:a16="http://schemas.microsoft.com/office/drawing/2014/main" id="{37DC5D76-8D55-4687-B904-6C17F330902D}"/>
              </a:ext>
            </a:extLst>
          </p:cNvPr>
          <p:cNvPicPr>
            <a:picLocks noChangeAspect="1"/>
          </p:cNvPicPr>
          <p:nvPr/>
        </p:nvPicPr>
        <p:blipFill>
          <a:blip r:embed="rId3"/>
          <a:stretch>
            <a:fillRect/>
          </a:stretch>
        </p:blipFill>
        <p:spPr>
          <a:xfrm>
            <a:off x="5297445" y="1195710"/>
            <a:ext cx="6473216" cy="4317584"/>
          </a:xfrm>
          <a:prstGeom prst="rect">
            <a:avLst/>
          </a:prstGeom>
        </p:spPr>
      </p:pic>
      <p:sp>
        <p:nvSpPr>
          <p:cNvPr id="5" name="TextBox 4">
            <a:extLst>
              <a:ext uri="{FF2B5EF4-FFF2-40B4-BE49-F238E27FC236}">
                <a16:creationId xmlns:a16="http://schemas.microsoft.com/office/drawing/2014/main" id="{BA72EA91-A610-42DF-94BD-CB223B0A9D68}"/>
              </a:ext>
            </a:extLst>
          </p:cNvPr>
          <p:cNvSpPr txBox="1"/>
          <p:nvPr/>
        </p:nvSpPr>
        <p:spPr>
          <a:xfrm>
            <a:off x="2904565" y="133581"/>
            <a:ext cx="6096000" cy="707886"/>
          </a:xfrm>
          <a:prstGeom prst="rect">
            <a:avLst/>
          </a:prstGeom>
          <a:noFill/>
        </p:spPr>
        <p:txBody>
          <a:bodyPr wrap="square">
            <a:spAutoFit/>
          </a:bodyPr>
          <a:lstStyle/>
          <a:p>
            <a:r>
              <a:rPr lang="en-IN" sz="4000" b="1" dirty="0">
                <a:solidFill>
                  <a:srgbClr val="FF0000"/>
                </a:solidFill>
              </a:rPr>
              <a:t>Non Verbal Communication</a:t>
            </a:r>
            <a:endParaRPr lang="en-IN" sz="4000" dirty="0"/>
          </a:p>
        </p:txBody>
      </p:sp>
    </p:spTree>
    <p:extLst>
      <p:ext uri="{BB962C8B-B14F-4D97-AF65-F5344CB8AC3E}">
        <p14:creationId xmlns:p14="http://schemas.microsoft.com/office/powerpoint/2010/main" val="1826662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424" y="409950"/>
            <a:ext cx="10515600" cy="710640"/>
          </a:xfrm>
        </p:spPr>
        <p:txBody>
          <a:bodyPr>
            <a:normAutofit fontScale="90000"/>
          </a:bodyPr>
          <a:lstStyle/>
          <a:p>
            <a:r>
              <a:rPr lang="en-IN" b="1" dirty="0"/>
              <a:t>Elements Of Non Verbal Communication</a:t>
            </a:r>
            <a:br>
              <a:rPr lang="en-IN" b="1" dirty="0"/>
            </a:br>
            <a:endParaRPr lang="en-IN" b="1" dirty="0"/>
          </a:p>
        </p:txBody>
      </p:sp>
      <p:sp>
        <p:nvSpPr>
          <p:cNvPr id="3" name="Content Placeholder 2"/>
          <p:cNvSpPr>
            <a:spLocks noGrp="1"/>
          </p:cNvSpPr>
          <p:nvPr>
            <p:ph idx="1"/>
          </p:nvPr>
        </p:nvSpPr>
        <p:spPr>
          <a:xfrm>
            <a:off x="273424" y="948531"/>
            <a:ext cx="11622741" cy="5138504"/>
          </a:xfrm>
        </p:spPr>
        <p:txBody>
          <a:bodyPr/>
          <a:lstStyle/>
          <a:p>
            <a:r>
              <a:rPr lang="en-IN" b="1" u="sng" dirty="0">
                <a:solidFill>
                  <a:srgbClr val="7030A0"/>
                </a:solidFill>
              </a:rPr>
              <a:t>Appearance:</a:t>
            </a:r>
            <a:r>
              <a:rPr lang="en-IN" b="1" dirty="0">
                <a:solidFill>
                  <a:srgbClr val="7030A0"/>
                </a:solidFill>
              </a:rPr>
              <a:t> </a:t>
            </a:r>
            <a:r>
              <a:rPr lang="en-IN" b="1" dirty="0"/>
              <a:t>clothing, hairstyle, neatness, use of cosmetics. Surrounding: room size, lighting, decorations, furnishings.</a:t>
            </a:r>
          </a:p>
          <a:p>
            <a:endParaRPr lang="en-IN" b="1" dirty="0"/>
          </a:p>
          <a:p>
            <a:r>
              <a:rPr lang="en-IN" b="1" u="sng" dirty="0">
                <a:solidFill>
                  <a:srgbClr val="C00000"/>
                </a:solidFill>
              </a:rPr>
              <a:t>Body Language</a:t>
            </a:r>
            <a:r>
              <a:rPr lang="en-IN" b="1" dirty="0">
                <a:solidFill>
                  <a:srgbClr val="C00000"/>
                </a:solidFill>
              </a:rPr>
              <a:t>: </a:t>
            </a:r>
            <a:r>
              <a:rPr lang="en-IN" b="1" dirty="0"/>
              <a:t>Facial expressions, gestures, postures.</a:t>
            </a:r>
          </a:p>
          <a:p>
            <a:endParaRPr lang="en-IN" b="1" dirty="0"/>
          </a:p>
          <a:p>
            <a:r>
              <a:rPr lang="en-IN" b="1" u="sng" dirty="0">
                <a:solidFill>
                  <a:srgbClr val="00B050"/>
                </a:solidFill>
              </a:rPr>
              <a:t>Sounds</a:t>
            </a:r>
            <a:r>
              <a:rPr lang="en-IN" b="1" dirty="0">
                <a:solidFill>
                  <a:srgbClr val="00B050"/>
                </a:solidFill>
              </a:rPr>
              <a:t>: </a:t>
            </a:r>
            <a:r>
              <a:rPr lang="en-IN" b="1" dirty="0"/>
              <a:t>Voice tone, Volume, Speech rate.</a:t>
            </a:r>
          </a:p>
        </p:txBody>
      </p:sp>
      <p:pic>
        <p:nvPicPr>
          <p:cNvPr id="4" name="Picture 3"/>
          <p:cNvPicPr>
            <a:picLocks noChangeAspect="1"/>
          </p:cNvPicPr>
          <p:nvPr/>
        </p:nvPicPr>
        <p:blipFill>
          <a:blip r:embed="rId2"/>
          <a:stretch>
            <a:fillRect/>
          </a:stretch>
        </p:blipFill>
        <p:spPr>
          <a:xfrm>
            <a:off x="6714575" y="3106217"/>
            <a:ext cx="5253308" cy="2500068"/>
          </a:xfrm>
          <a:prstGeom prst="rect">
            <a:avLst/>
          </a:prstGeom>
        </p:spPr>
      </p:pic>
    </p:spTree>
    <p:extLst>
      <p:ext uri="{BB962C8B-B14F-4D97-AF65-F5344CB8AC3E}">
        <p14:creationId xmlns:p14="http://schemas.microsoft.com/office/powerpoint/2010/main" val="913446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154BBB-56F5-4FCE-928F-9E78E4EFF40E}"/>
              </a:ext>
            </a:extLst>
          </p:cNvPr>
          <p:cNvSpPr txBox="1"/>
          <p:nvPr/>
        </p:nvSpPr>
        <p:spPr>
          <a:xfrm>
            <a:off x="3316941" y="3074005"/>
            <a:ext cx="6096000" cy="1107996"/>
          </a:xfrm>
          <a:prstGeom prst="rect">
            <a:avLst/>
          </a:prstGeom>
          <a:noFill/>
        </p:spPr>
        <p:txBody>
          <a:bodyPr wrap="square">
            <a:spAutoFit/>
          </a:bodyPr>
          <a:lstStyle/>
          <a:p>
            <a:r>
              <a:rPr lang="en-US" sz="6600" b="1" dirty="0"/>
              <a:t>Body Language</a:t>
            </a:r>
            <a:endParaRPr lang="en-IN" sz="6600" dirty="0"/>
          </a:p>
        </p:txBody>
      </p:sp>
      <p:pic>
        <p:nvPicPr>
          <p:cNvPr id="1026" name="Picture 2" descr="Body Language | VFC Street Medic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4403" y="962550"/>
            <a:ext cx="8601075" cy="32194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ody Language Speaks Louder Than Words | ZenBusin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4997" y="321706"/>
            <a:ext cx="9301163" cy="620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000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8C5F63-E391-4377-9AA4-EF75DFB07926}"/>
              </a:ext>
            </a:extLst>
          </p:cNvPr>
          <p:cNvSpPr txBox="1"/>
          <p:nvPr/>
        </p:nvSpPr>
        <p:spPr>
          <a:xfrm>
            <a:off x="116541" y="124616"/>
            <a:ext cx="9260541" cy="461665"/>
          </a:xfrm>
          <a:prstGeom prst="rect">
            <a:avLst/>
          </a:prstGeom>
          <a:noFill/>
        </p:spPr>
        <p:txBody>
          <a:bodyPr wrap="square">
            <a:spAutoFit/>
          </a:bodyPr>
          <a:lstStyle/>
          <a:p>
            <a:pPr fontAlgn="base"/>
            <a:r>
              <a:rPr lang="en-US" sz="2400" b="1" i="0" dirty="0">
                <a:solidFill>
                  <a:srgbClr val="FF0000"/>
                </a:solidFill>
                <a:effectLst/>
                <a:latin typeface="IBM Plex Sans" panose="020B0604020202020204" pitchFamily="34" charset="0"/>
              </a:rPr>
              <a:t>Body language in different cultures around the world: </a:t>
            </a:r>
          </a:p>
        </p:txBody>
      </p:sp>
      <p:sp>
        <p:nvSpPr>
          <p:cNvPr id="5" name="TextBox 4">
            <a:extLst>
              <a:ext uri="{FF2B5EF4-FFF2-40B4-BE49-F238E27FC236}">
                <a16:creationId xmlns:a16="http://schemas.microsoft.com/office/drawing/2014/main" id="{D0735527-AD99-43B9-905C-727B0CE35782}"/>
              </a:ext>
            </a:extLst>
          </p:cNvPr>
          <p:cNvSpPr txBox="1"/>
          <p:nvPr/>
        </p:nvSpPr>
        <p:spPr>
          <a:xfrm>
            <a:off x="304799" y="849450"/>
            <a:ext cx="11367247" cy="3046988"/>
          </a:xfrm>
          <a:prstGeom prst="rect">
            <a:avLst/>
          </a:prstGeom>
          <a:noFill/>
        </p:spPr>
        <p:txBody>
          <a:bodyPr wrap="square">
            <a:spAutoFit/>
          </a:bodyPr>
          <a:lstStyle/>
          <a:p>
            <a:pPr algn="l" fontAlgn="base"/>
            <a:r>
              <a:rPr lang="en-US" sz="2400" b="1" i="0" dirty="0">
                <a:solidFill>
                  <a:srgbClr val="7030A0"/>
                </a:solidFill>
                <a:effectLst/>
                <a:latin typeface="inherit"/>
              </a:rPr>
              <a:t>What is body language?</a:t>
            </a:r>
            <a:endParaRPr lang="en-US" sz="2400" b="1" i="0" dirty="0">
              <a:solidFill>
                <a:srgbClr val="7030A0"/>
              </a:solidFill>
              <a:effectLst/>
              <a:latin typeface="IBM Plex Sans" panose="020B0503050203000203" pitchFamily="34" charset="0"/>
            </a:endParaRPr>
          </a:p>
          <a:p>
            <a:pPr marL="342900" indent="-342900" algn="l" fontAlgn="base">
              <a:buFont typeface="Arial" panose="020B0604020202020204" pitchFamily="34" charset="0"/>
              <a:buChar char="•"/>
            </a:pPr>
            <a:r>
              <a:rPr lang="en-US" sz="2400" b="0" i="0" dirty="0">
                <a:solidFill>
                  <a:srgbClr val="2D2F3D"/>
                </a:solidFill>
                <a:effectLst/>
              </a:rPr>
              <a:t>Body language is the </a:t>
            </a:r>
            <a:r>
              <a:rPr lang="en-US" sz="2400" b="1" i="0" dirty="0">
                <a:solidFill>
                  <a:srgbClr val="00B050"/>
                </a:solidFill>
                <a:effectLst/>
              </a:rPr>
              <a:t>unspoken language we use through gestures, expressions, and movements.</a:t>
            </a:r>
            <a:r>
              <a:rPr lang="en-US" sz="2400" b="0" i="0" dirty="0">
                <a:solidFill>
                  <a:srgbClr val="2D2F3D"/>
                </a:solidFill>
                <a:effectLst/>
              </a:rPr>
              <a:t> </a:t>
            </a:r>
          </a:p>
          <a:p>
            <a:pPr marL="342900" indent="-342900" algn="l" fontAlgn="base">
              <a:buFont typeface="Arial" panose="020B0604020202020204" pitchFamily="34" charset="0"/>
              <a:buChar char="•"/>
            </a:pPr>
            <a:r>
              <a:rPr lang="en-US" sz="2400" b="0" i="0" dirty="0">
                <a:solidFill>
                  <a:srgbClr val="2D2F3D"/>
                </a:solidFill>
                <a:effectLst/>
              </a:rPr>
              <a:t>It adds depth to our words, showing emotions and intentions. </a:t>
            </a:r>
          </a:p>
          <a:p>
            <a:pPr marL="342900" indent="-342900" algn="l" fontAlgn="base">
              <a:buFont typeface="Arial" panose="020B0604020202020204" pitchFamily="34" charset="0"/>
              <a:buChar char="•"/>
            </a:pPr>
            <a:r>
              <a:rPr lang="en-US" sz="2400" b="0" i="0" dirty="0">
                <a:solidFill>
                  <a:srgbClr val="2D2F3D"/>
                </a:solidFill>
                <a:effectLst/>
              </a:rPr>
              <a:t>It bridges gaps in cross-cultural communication and enhances your connection with others. </a:t>
            </a:r>
          </a:p>
          <a:p>
            <a:pPr marL="342900" indent="-342900" algn="l" fontAlgn="base">
              <a:buFont typeface="Arial" panose="020B0604020202020204" pitchFamily="34" charset="0"/>
              <a:buChar char="•"/>
            </a:pPr>
            <a:r>
              <a:rPr lang="en-US" sz="2400" b="0" i="0" dirty="0">
                <a:solidFill>
                  <a:srgbClr val="2D2F3D"/>
                </a:solidFill>
                <a:effectLst/>
              </a:rPr>
              <a:t>Nonverbal communication includes facial expressions, gestures, posture, eye contact, and touch.</a:t>
            </a:r>
          </a:p>
        </p:txBody>
      </p:sp>
      <p:sp>
        <p:nvSpPr>
          <p:cNvPr id="7" name="TextBox 6">
            <a:extLst>
              <a:ext uri="{FF2B5EF4-FFF2-40B4-BE49-F238E27FC236}">
                <a16:creationId xmlns:a16="http://schemas.microsoft.com/office/drawing/2014/main" id="{63AB5F62-9098-4512-AC9D-EBBBB35764ED}"/>
              </a:ext>
            </a:extLst>
          </p:cNvPr>
          <p:cNvSpPr txBox="1"/>
          <p:nvPr/>
        </p:nvSpPr>
        <p:spPr>
          <a:xfrm>
            <a:off x="197222" y="4141661"/>
            <a:ext cx="11573437" cy="2308324"/>
          </a:xfrm>
          <a:prstGeom prst="rect">
            <a:avLst/>
          </a:prstGeom>
          <a:noFill/>
        </p:spPr>
        <p:txBody>
          <a:bodyPr wrap="square">
            <a:spAutoFit/>
          </a:bodyPr>
          <a:lstStyle/>
          <a:p>
            <a:r>
              <a:rPr lang="en-US" sz="2400" b="1" dirty="0">
                <a:solidFill>
                  <a:srgbClr val="FF0000"/>
                </a:solidFill>
              </a:rPr>
              <a:t>Does culture impact body language and non verbal communication?</a:t>
            </a:r>
          </a:p>
          <a:p>
            <a:r>
              <a:rPr lang="en-US" sz="2400" dirty="0"/>
              <a:t>Some aspects of nonverbal communication are universal, like basic facial expressions. For instance, a smile can work wonders pretty much anywhere!</a:t>
            </a:r>
          </a:p>
          <a:p>
            <a:endParaRPr lang="en-US" sz="2400" dirty="0"/>
          </a:p>
          <a:p>
            <a:r>
              <a:rPr lang="en-US" sz="2400" dirty="0"/>
              <a:t>However, others vary culturally. Different cultures have their </a:t>
            </a:r>
            <a:r>
              <a:rPr lang="en-US" sz="2400" b="1" dirty="0"/>
              <a:t>own set of norms, values, and social expectations</a:t>
            </a:r>
            <a:r>
              <a:rPr lang="en-US" sz="2400" dirty="0"/>
              <a:t>, which influence how people express themselves nonverbally.</a:t>
            </a:r>
            <a:endParaRPr lang="en-IN" sz="2400" dirty="0"/>
          </a:p>
        </p:txBody>
      </p:sp>
    </p:spTree>
    <p:extLst>
      <p:ext uri="{BB962C8B-B14F-4D97-AF65-F5344CB8AC3E}">
        <p14:creationId xmlns:p14="http://schemas.microsoft.com/office/powerpoint/2010/main" val="28459853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98696B-E968-447B-87A3-296F51770F2D}"/>
              </a:ext>
            </a:extLst>
          </p:cNvPr>
          <p:cNvSpPr txBox="1"/>
          <p:nvPr/>
        </p:nvSpPr>
        <p:spPr>
          <a:xfrm>
            <a:off x="107575" y="135500"/>
            <a:ext cx="11654117" cy="6032421"/>
          </a:xfrm>
          <a:prstGeom prst="rect">
            <a:avLst/>
          </a:prstGeom>
          <a:noFill/>
        </p:spPr>
        <p:txBody>
          <a:bodyPr wrap="square">
            <a:spAutoFit/>
          </a:bodyPr>
          <a:lstStyle/>
          <a:p>
            <a:pPr algn="l" fontAlgn="base"/>
            <a:r>
              <a:rPr lang="en-US" sz="3200" b="1" i="0" dirty="0">
                <a:solidFill>
                  <a:srgbClr val="FF0000"/>
                </a:solidFill>
                <a:effectLst/>
                <a:latin typeface="IBM Plex Sans" panose="020B0503050203000203" pitchFamily="34" charset="0"/>
              </a:rPr>
              <a:t>Body language in different cultures around the world</a:t>
            </a:r>
          </a:p>
          <a:p>
            <a:pPr marL="285750" indent="-285750" algn="l" fontAlgn="base">
              <a:buFont typeface="Arial" panose="020B0604020202020204" pitchFamily="34" charset="0"/>
              <a:buChar char="•"/>
            </a:pPr>
            <a:r>
              <a:rPr lang="en-US" sz="2400" b="1" i="0" dirty="0">
                <a:solidFill>
                  <a:srgbClr val="0070C0"/>
                </a:solidFill>
                <a:effectLst/>
                <a:latin typeface="IBM Plex Sans" panose="020B0503050203000203" pitchFamily="34" charset="0"/>
              </a:rPr>
              <a:t>As mentioned, culture has a significant impact on nonverbal communication. </a:t>
            </a:r>
          </a:p>
          <a:p>
            <a:pPr marL="285750" indent="-285750" algn="l" fontAlgn="base">
              <a:buFont typeface="Arial" panose="020B0604020202020204" pitchFamily="34" charset="0"/>
              <a:buChar char="•"/>
            </a:pPr>
            <a:r>
              <a:rPr lang="en-US" sz="2400" b="1" i="0" dirty="0">
                <a:solidFill>
                  <a:srgbClr val="C00000"/>
                </a:solidFill>
                <a:effectLst/>
                <a:latin typeface="IBM Plex Sans" panose="020B0503050203000203" pitchFamily="34" charset="0"/>
              </a:rPr>
              <a:t>Sometimes, nonverbal is even contradictory from one country to another. </a:t>
            </a:r>
          </a:p>
          <a:p>
            <a:pPr marL="285750" indent="-285750" algn="l" fontAlgn="base">
              <a:buFont typeface="Arial" panose="020B0604020202020204" pitchFamily="34" charset="0"/>
              <a:buChar char="•"/>
            </a:pPr>
            <a:r>
              <a:rPr lang="en-US" sz="2400" b="1" i="0" dirty="0">
                <a:solidFill>
                  <a:srgbClr val="C00000"/>
                </a:solidFill>
                <a:effectLst/>
                <a:latin typeface="IBM Plex Sans" panose="020B0503050203000203" pitchFamily="34" charset="0"/>
              </a:rPr>
              <a:t>Some gestures are even considered offensive </a:t>
            </a:r>
          </a:p>
          <a:p>
            <a:pPr marL="285750" indent="-285750" algn="l" fontAlgn="base">
              <a:buFont typeface="Arial" panose="020B0604020202020204" pitchFamily="34" charset="0"/>
              <a:buChar char="•"/>
            </a:pPr>
            <a:r>
              <a:rPr lang="en-US" sz="2400" b="1" i="0" dirty="0">
                <a:solidFill>
                  <a:srgbClr val="0070C0"/>
                </a:solidFill>
                <a:effectLst/>
                <a:latin typeface="IBM Plex Sans" panose="020B0503050203000203" pitchFamily="34" charset="0"/>
              </a:rPr>
              <a:t>Hence the importance of </a:t>
            </a:r>
            <a:r>
              <a:rPr lang="en-US" sz="2400" b="1" i="0" dirty="0">
                <a:solidFill>
                  <a:srgbClr val="0070C0"/>
                </a:solidFill>
                <a:effectLst/>
                <a:latin typeface="inherit"/>
              </a:rPr>
              <a:t>culture training</a:t>
            </a:r>
            <a:r>
              <a:rPr lang="en-US" sz="2400" b="1" i="0" dirty="0">
                <a:solidFill>
                  <a:srgbClr val="0070C0"/>
                </a:solidFill>
                <a:effectLst/>
                <a:latin typeface="IBM Plex Sans" panose="020B0503050203000203" pitchFamily="34" charset="0"/>
              </a:rPr>
              <a:t> if you work with people from different nationalities.</a:t>
            </a:r>
          </a:p>
          <a:p>
            <a:pPr marL="285750" indent="-285750" algn="l" fontAlgn="base">
              <a:buFont typeface="Arial" panose="020B0604020202020204" pitchFamily="34" charset="0"/>
              <a:buChar char="•"/>
            </a:pPr>
            <a:endParaRPr lang="en-US" b="0" i="0" dirty="0" smtClean="0">
              <a:solidFill>
                <a:srgbClr val="2D2F3D"/>
              </a:solidFill>
              <a:effectLst/>
              <a:latin typeface="IBM Plex Sans" panose="020B0503050203000203" pitchFamily="34" charset="0"/>
            </a:endParaRPr>
          </a:p>
          <a:p>
            <a:pPr marL="285750" indent="-285750" algn="l" fontAlgn="base">
              <a:buFont typeface="Arial" panose="020B0604020202020204" pitchFamily="34" charset="0"/>
              <a:buChar char="•"/>
            </a:pPr>
            <a:endParaRPr lang="en-US" dirty="0">
              <a:solidFill>
                <a:srgbClr val="2D2F3D"/>
              </a:solidFill>
              <a:latin typeface="IBM Plex Sans" panose="020B0503050203000203" pitchFamily="34" charset="0"/>
            </a:endParaRPr>
          </a:p>
          <a:p>
            <a:pPr marL="285750" indent="-285750" algn="l" fontAlgn="base">
              <a:buFont typeface="Arial" panose="020B0604020202020204" pitchFamily="34" charset="0"/>
              <a:buChar char="•"/>
            </a:pPr>
            <a:endParaRPr lang="en-US" b="0" i="0" dirty="0" smtClean="0">
              <a:solidFill>
                <a:srgbClr val="2D2F3D"/>
              </a:solidFill>
              <a:effectLst/>
              <a:latin typeface="IBM Plex Sans" panose="020B0503050203000203" pitchFamily="34" charset="0"/>
            </a:endParaRPr>
          </a:p>
          <a:p>
            <a:pPr marL="285750" indent="-285750" algn="l" fontAlgn="base">
              <a:buFont typeface="Arial" panose="020B0604020202020204" pitchFamily="34" charset="0"/>
              <a:buChar char="•"/>
            </a:pPr>
            <a:endParaRPr lang="en-US" dirty="0">
              <a:solidFill>
                <a:srgbClr val="2D2F3D"/>
              </a:solidFill>
              <a:latin typeface="IBM Plex Sans" panose="020B0503050203000203" pitchFamily="34" charset="0"/>
            </a:endParaRPr>
          </a:p>
          <a:p>
            <a:pPr marL="285750" indent="-285750" algn="l" fontAlgn="base">
              <a:buFont typeface="Arial" panose="020B0604020202020204" pitchFamily="34" charset="0"/>
              <a:buChar char="•"/>
            </a:pPr>
            <a:endParaRPr lang="en-US" b="0" i="0" dirty="0" smtClean="0">
              <a:solidFill>
                <a:srgbClr val="2D2F3D"/>
              </a:solidFill>
              <a:effectLst/>
              <a:latin typeface="IBM Plex Sans" panose="020B0503050203000203" pitchFamily="34" charset="0"/>
            </a:endParaRPr>
          </a:p>
          <a:p>
            <a:pPr marL="285750" indent="-285750" algn="l" fontAlgn="base">
              <a:buFont typeface="Arial" panose="020B0604020202020204" pitchFamily="34" charset="0"/>
              <a:buChar char="•"/>
            </a:pPr>
            <a:endParaRPr lang="en-US" dirty="0">
              <a:solidFill>
                <a:srgbClr val="2D2F3D"/>
              </a:solidFill>
              <a:latin typeface="IBM Plex Sans" panose="020B0503050203000203" pitchFamily="34" charset="0"/>
            </a:endParaRPr>
          </a:p>
          <a:p>
            <a:pPr marL="285750" indent="-285750" algn="l" fontAlgn="base">
              <a:buFont typeface="Arial" panose="020B0604020202020204" pitchFamily="34" charset="0"/>
              <a:buChar char="•"/>
            </a:pPr>
            <a:endParaRPr lang="en-US" b="0" i="0" dirty="0" smtClean="0">
              <a:solidFill>
                <a:srgbClr val="2D2F3D"/>
              </a:solidFill>
              <a:effectLst/>
              <a:latin typeface="IBM Plex Sans" panose="020B0503050203000203" pitchFamily="34" charset="0"/>
            </a:endParaRPr>
          </a:p>
          <a:p>
            <a:pPr marL="285750" indent="-285750" algn="l" fontAlgn="base">
              <a:buFont typeface="Arial" panose="020B0604020202020204" pitchFamily="34" charset="0"/>
              <a:buChar char="•"/>
            </a:pPr>
            <a:endParaRPr lang="en-US" b="0" i="0" dirty="0">
              <a:solidFill>
                <a:srgbClr val="2D2F3D"/>
              </a:solidFill>
              <a:effectLst/>
              <a:latin typeface="IBM Plex Sans" panose="020B0503050203000203" pitchFamily="34" charset="0"/>
            </a:endParaRPr>
          </a:p>
          <a:p>
            <a:pPr algn="l" fontAlgn="base"/>
            <a:r>
              <a:rPr lang="en-US" sz="2400" b="0" i="0" dirty="0">
                <a:solidFill>
                  <a:srgbClr val="2D2F3D"/>
                </a:solidFill>
                <a:effectLst/>
                <a:latin typeface="IBM Plex Sans" panose="020B0503050203000203" pitchFamily="34" charset="0"/>
              </a:rPr>
              <a:t>Below is an overview of body language cultural differences. We won’t mention laughing, as it universally expresses joy, amusement and connection.  Unless it’s a sarcastic or </a:t>
            </a:r>
            <a:r>
              <a:rPr lang="en-US" sz="2400" b="0" i="0" dirty="0">
                <a:solidFill>
                  <a:srgbClr val="2D2F3D"/>
                </a:solidFill>
                <a:effectLst/>
                <a:latin typeface="inherit"/>
              </a:rPr>
              <a:t>evil laugh</a:t>
            </a:r>
            <a:r>
              <a:rPr lang="en-US" sz="2400" b="0" i="0" dirty="0">
                <a:solidFill>
                  <a:srgbClr val="2D2F3D"/>
                </a:solidFill>
                <a:effectLst/>
                <a:latin typeface="IBM Plex Sans" panose="020B0503050203000203" pitchFamily="34" charset="0"/>
              </a:rPr>
              <a:t>, of course!</a:t>
            </a:r>
          </a:p>
          <a:p>
            <a:pPr algn="l" fontAlgn="base"/>
            <a:endParaRPr lang="en-US" b="0" i="0" dirty="0">
              <a:solidFill>
                <a:srgbClr val="2D2F3D"/>
              </a:solidFill>
              <a:effectLst/>
              <a:latin typeface="IBM Plex Sans" panose="020B0503050203000203" pitchFamily="34" charset="0"/>
            </a:endParaRPr>
          </a:p>
        </p:txBody>
      </p:sp>
      <p:sp>
        <p:nvSpPr>
          <p:cNvPr id="2" name="AutoShape 2" descr="Body Language in Different Cultures – Understanding Nonverbal Communication  Abroad - InspireAmbition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descr="Body Language in Different Cultures – Understanding Nonverbal Communication  Abroad - InspireAmbition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6" descr="Body Language in Different Cultures – Understanding Nonverbal Communication  Abroad - InspireAmbition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a:picLocks noChangeAspect="1"/>
          </p:cNvPicPr>
          <p:nvPr/>
        </p:nvPicPr>
        <p:blipFill>
          <a:blip r:embed="rId2"/>
          <a:stretch>
            <a:fillRect/>
          </a:stretch>
        </p:blipFill>
        <p:spPr>
          <a:xfrm>
            <a:off x="3467100" y="2124635"/>
            <a:ext cx="3758453" cy="2503130"/>
          </a:xfrm>
          <a:prstGeom prst="rect">
            <a:avLst/>
          </a:prstGeom>
        </p:spPr>
      </p:pic>
    </p:spTree>
    <p:extLst>
      <p:ext uri="{BB962C8B-B14F-4D97-AF65-F5344CB8AC3E}">
        <p14:creationId xmlns:p14="http://schemas.microsoft.com/office/powerpoint/2010/main" val="4215938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5496C3-2EE1-42C7-B869-ECC67897D904}"/>
              </a:ext>
            </a:extLst>
          </p:cNvPr>
          <p:cNvSpPr txBox="1"/>
          <p:nvPr/>
        </p:nvSpPr>
        <p:spPr>
          <a:xfrm>
            <a:off x="2537011" y="0"/>
            <a:ext cx="7879978" cy="584775"/>
          </a:xfrm>
          <a:prstGeom prst="rect">
            <a:avLst/>
          </a:prstGeom>
          <a:noFill/>
        </p:spPr>
        <p:txBody>
          <a:bodyPr wrap="square">
            <a:spAutoFit/>
          </a:bodyPr>
          <a:lstStyle/>
          <a:p>
            <a:pPr algn="l" fontAlgn="base"/>
            <a:r>
              <a:rPr lang="en-US" sz="3200" b="1" i="0" dirty="0">
                <a:solidFill>
                  <a:srgbClr val="FF0000"/>
                </a:solidFill>
                <a:effectLst/>
                <a:latin typeface="inherit"/>
              </a:rPr>
              <a:t>Facial expressions and head movements</a:t>
            </a:r>
            <a:endParaRPr lang="en-US" sz="3200" b="1" i="0" dirty="0">
              <a:solidFill>
                <a:srgbClr val="FF0000"/>
              </a:solidFill>
              <a:effectLst/>
              <a:latin typeface="IBM Plex Sans" panose="020B0503050203000203" pitchFamily="34" charset="0"/>
            </a:endParaRPr>
          </a:p>
        </p:txBody>
      </p:sp>
      <p:sp>
        <p:nvSpPr>
          <p:cNvPr id="5" name="TextBox 4">
            <a:extLst>
              <a:ext uri="{FF2B5EF4-FFF2-40B4-BE49-F238E27FC236}">
                <a16:creationId xmlns:a16="http://schemas.microsoft.com/office/drawing/2014/main" id="{1267BFF6-369A-4A7B-A6C0-F00AF7AC6DF2}"/>
              </a:ext>
            </a:extLst>
          </p:cNvPr>
          <p:cNvSpPr txBox="1"/>
          <p:nvPr/>
        </p:nvSpPr>
        <p:spPr>
          <a:xfrm>
            <a:off x="251011" y="568352"/>
            <a:ext cx="6275295" cy="5570756"/>
          </a:xfrm>
          <a:prstGeom prst="rect">
            <a:avLst/>
          </a:prstGeom>
          <a:noFill/>
        </p:spPr>
        <p:txBody>
          <a:bodyPr wrap="square">
            <a:spAutoFit/>
          </a:bodyPr>
          <a:lstStyle/>
          <a:p>
            <a:pPr algn="l" fontAlgn="base"/>
            <a:r>
              <a:rPr lang="en-US" sz="3200" b="1" i="0" dirty="0">
                <a:solidFill>
                  <a:srgbClr val="7030A0"/>
                </a:solidFill>
                <a:effectLst/>
                <a:latin typeface="inherit"/>
              </a:rPr>
              <a:t>North America</a:t>
            </a:r>
            <a:endParaRPr lang="en-US" sz="32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Smile:</a:t>
            </a:r>
            <a:r>
              <a:rPr lang="en-US" sz="2400" b="0" i="0" dirty="0">
                <a:solidFill>
                  <a:srgbClr val="2D2F3D"/>
                </a:solidFill>
                <a:effectLst/>
                <a:latin typeface="inherit"/>
              </a:rPr>
              <a:t> Happiness, friendliness, agreement.</a:t>
            </a:r>
          </a:p>
          <a:p>
            <a:pPr algn="l" fontAlgn="base">
              <a:buFont typeface="Arial" panose="020B0604020202020204" pitchFamily="34" charset="0"/>
              <a:buChar char="•"/>
            </a:pPr>
            <a:r>
              <a:rPr lang="en-US" sz="2400" b="1" i="0" dirty="0">
                <a:solidFill>
                  <a:srgbClr val="C00000"/>
                </a:solidFill>
                <a:effectLst/>
                <a:latin typeface="inherit"/>
              </a:rPr>
              <a:t>Eye contact</a:t>
            </a:r>
            <a:r>
              <a:rPr lang="en-US" sz="2400" b="1" i="0" dirty="0">
                <a:solidFill>
                  <a:srgbClr val="2D2F3D"/>
                </a:solidFill>
                <a:effectLst/>
                <a:latin typeface="inherit"/>
              </a:rPr>
              <a:t>: </a:t>
            </a:r>
            <a:r>
              <a:rPr lang="en-US" sz="2400" b="0" i="0" dirty="0">
                <a:solidFill>
                  <a:srgbClr val="2D2F3D"/>
                </a:solidFill>
                <a:effectLst/>
                <a:latin typeface="inherit"/>
              </a:rPr>
              <a:t>Sign of attentiveness, confidence, and honesty.</a:t>
            </a:r>
          </a:p>
          <a:p>
            <a:pPr algn="l" fontAlgn="base">
              <a:buFont typeface="Arial" panose="020B0604020202020204" pitchFamily="34" charset="0"/>
              <a:buChar char="•"/>
            </a:pPr>
            <a:r>
              <a:rPr lang="en-US" sz="2400" b="1" i="0" dirty="0">
                <a:solidFill>
                  <a:srgbClr val="C00000"/>
                </a:solidFill>
                <a:effectLst/>
                <a:latin typeface="inherit"/>
              </a:rPr>
              <a:t>Nodding:</a:t>
            </a:r>
            <a:r>
              <a:rPr lang="en-US" sz="2400" b="1" i="0" dirty="0">
                <a:solidFill>
                  <a:srgbClr val="2D2F3D"/>
                </a:solidFill>
                <a:effectLst/>
                <a:latin typeface="inherit"/>
              </a:rPr>
              <a:t> </a:t>
            </a:r>
            <a:r>
              <a:rPr lang="en-US" sz="2400" b="0" i="0" dirty="0">
                <a:solidFill>
                  <a:srgbClr val="2D2F3D"/>
                </a:solidFill>
                <a:effectLst/>
                <a:latin typeface="inherit"/>
              </a:rPr>
              <a:t>Agreement or understanding.</a:t>
            </a:r>
          </a:p>
          <a:p>
            <a:pPr algn="l" fontAlgn="base">
              <a:buFont typeface="Arial" panose="020B0604020202020204" pitchFamily="34" charset="0"/>
              <a:buChar char="•"/>
            </a:pPr>
            <a:r>
              <a:rPr lang="en-US" sz="2400" b="1" i="0" dirty="0">
                <a:solidFill>
                  <a:srgbClr val="C00000"/>
                </a:solidFill>
                <a:effectLst/>
                <a:latin typeface="inherit"/>
              </a:rPr>
              <a:t>Raised eyebrows: </a:t>
            </a:r>
            <a:r>
              <a:rPr lang="en-US" sz="2400" b="0" i="0" dirty="0">
                <a:solidFill>
                  <a:srgbClr val="2D2F3D"/>
                </a:solidFill>
                <a:effectLst/>
                <a:latin typeface="inherit"/>
              </a:rPr>
              <a:t>Surprise or curiosity.</a:t>
            </a:r>
          </a:p>
          <a:p>
            <a:pPr algn="l" fontAlgn="base"/>
            <a:endParaRPr lang="en-US" sz="2400" b="0" i="0" dirty="0">
              <a:solidFill>
                <a:srgbClr val="2D2F3D"/>
              </a:solidFill>
              <a:effectLst/>
              <a:latin typeface="inherit"/>
            </a:endParaRPr>
          </a:p>
          <a:p>
            <a:pPr algn="l" fontAlgn="base"/>
            <a:r>
              <a:rPr lang="en-US" sz="3600" b="1" i="0" dirty="0">
                <a:solidFill>
                  <a:srgbClr val="7030A0"/>
                </a:solidFill>
                <a:effectLst/>
                <a:latin typeface="inherit"/>
              </a:rPr>
              <a:t>Europe</a:t>
            </a:r>
            <a:endParaRPr lang="en-US" sz="36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Smile:</a:t>
            </a:r>
            <a:r>
              <a:rPr lang="en-US" sz="2400" b="0" i="0" dirty="0">
                <a:solidFill>
                  <a:srgbClr val="2D2F3D"/>
                </a:solidFill>
                <a:effectLst/>
                <a:latin typeface="inherit"/>
              </a:rPr>
              <a:t> Similar to North America, although some countries might smile less than what you’re used to in America </a:t>
            </a:r>
          </a:p>
          <a:p>
            <a:pPr algn="l" fontAlgn="base">
              <a:buFont typeface="Arial" panose="020B0604020202020204" pitchFamily="34" charset="0"/>
              <a:buChar char="•"/>
            </a:pPr>
            <a:r>
              <a:rPr lang="en-US" sz="2400" b="1" i="0" dirty="0">
                <a:solidFill>
                  <a:srgbClr val="C00000"/>
                </a:solidFill>
                <a:effectLst/>
                <a:latin typeface="inherit"/>
              </a:rPr>
              <a:t>Eye contact: </a:t>
            </a:r>
            <a:r>
              <a:rPr lang="en-US" sz="2400" b="0" i="0" dirty="0">
                <a:solidFill>
                  <a:srgbClr val="2D2F3D"/>
                </a:solidFill>
                <a:effectLst/>
                <a:latin typeface="inherit"/>
              </a:rPr>
              <a:t>Generally interpreted as attentiveness and honesty. Uncommon in Russia.</a:t>
            </a:r>
          </a:p>
          <a:p>
            <a:pPr algn="l" fontAlgn="base">
              <a:buFont typeface="Arial" panose="020B0604020202020204" pitchFamily="34" charset="0"/>
              <a:buChar char="•"/>
            </a:pPr>
            <a:r>
              <a:rPr lang="en-US" sz="2400" b="1" i="0" dirty="0">
                <a:solidFill>
                  <a:srgbClr val="C00000"/>
                </a:solidFill>
                <a:effectLst/>
                <a:latin typeface="inherit"/>
              </a:rPr>
              <a:t>Nodding: </a:t>
            </a:r>
            <a:r>
              <a:rPr lang="en-US" sz="2400" b="0" i="0" dirty="0">
                <a:solidFill>
                  <a:srgbClr val="2D2F3D"/>
                </a:solidFill>
                <a:effectLst/>
                <a:latin typeface="inherit"/>
              </a:rPr>
              <a:t>Agreement or acknowledgment.</a:t>
            </a:r>
          </a:p>
        </p:txBody>
      </p:sp>
      <p:pic>
        <p:nvPicPr>
          <p:cNvPr id="7170" name="Picture 2" descr="Two men nodding and smiling in agreement.">
            <a:extLst>
              <a:ext uri="{FF2B5EF4-FFF2-40B4-BE49-F238E27FC236}">
                <a16:creationId xmlns:a16="http://schemas.microsoft.com/office/drawing/2014/main" id="{6E9678DC-3B66-46CB-A15F-DD2AA92BA4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2097" y="2190583"/>
            <a:ext cx="5258892" cy="2695182"/>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07596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4677C1-B89D-49F8-ADF8-2484B6E41ECB}"/>
              </a:ext>
            </a:extLst>
          </p:cNvPr>
          <p:cNvSpPr txBox="1"/>
          <p:nvPr/>
        </p:nvSpPr>
        <p:spPr>
          <a:xfrm>
            <a:off x="304800" y="216409"/>
            <a:ext cx="11887200" cy="4401205"/>
          </a:xfrm>
          <a:prstGeom prst="rect">
            <a:avLst/>
          </a:prstGeom>
          <a:noFill/>
        </p:spPr>
        <p:txBody>
          <a:bodyPr wrap="square">
            <a:spAutoFit/>
          </a:bodyPr>
          <a:lstStyle/>
          <a:p>
            <a:pPr algn="l" fontAlgn="base"/>
            <a:r>
              <a:rPr lang="en-US" sz="3600" b="1" i="0" dirty="0">
                <a:solidFill>
                  <a:srgbClr val="7030A0"/>
                </a:solidFill>
                <a:effectLst/>
                <a:latin typeface="inherit"/>
              </a:rPr>
              <a:t>Asia</a:t>
            </a:r>
            <a:endParaRPr lang="en-US" sz="36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800" b="1" i="0" dirty="0">
                <a:solidFill>
                  <a:srgbClr val="C00000"/>
                </a:solidFill>
                <a:effectLst/>
                <a:latin typeface="inherit"/>
              </a:rPr>
              <a:t>Japan:</a:t>
            </a:r>
            <a:r>
              <a:rPr lang="en-US" sz="2400" b="0" i="0" dirty="0">
                <a:solidFill>
                  <a:srgbClr val="2D2F3D"/>
                </a:solidFill>
                <a:effectLst/>
                <a:latin typeface="inherit"/>
              </a:rPr>
              <a:t> Controlled smiling, blushing can signify embarrassment or shyness.</a:t>
            </a:r>
          </a:p>
          <a:p>
            <a:pPr algn="l" fontAlgn="base">
              <a:buFont typeface="Arial" panose="020B0604020202020204" pitchFamily="34" charset="0"/>
              <a:buChar char="•"/>
            </a:pPr>
            <a:r>
              <a:rPr lang="en-US" sz="2800" b="1" i="0" dirty="0">
                <a:solidFill>
                  <a:srgbClr val="C00000"/>
                </a:solidFill>
                <a:effectLst/>
                <a:latin typeface="inherit"/>
              </a:rPr>
              <a:t>China:</a:t>
            </a:r>
            <a:r>
              <a:rPr lang="en-US" sz="2400" b="0" i="0" dirty="0">
                <a:solidFill>
                  <a:srgbClr val="2D2F3D"/>
                </a:solidFill>
                <a:effectLst/>
                <a:latin typeface="inherit"/>
              </a:rPr>
              <a:t> Smiles can indicate politeness, respect, or discomfort.</a:t>
            </a:r>
          </a:p>
          <a:p>
            <a:pPr algn="l" fontAlgn="base">
              <a:buFont typeface="Arial" panose="020B0604020202020204" pitchFamily="34" charset="0"/>
              <a:buChar char="•"/>
            </a:pPr>
            <a:r>
              <a:rPr lang="en-US" sz="2400" b="1" i="0" dirty="0">
                <a:solidFill>
                  <a:srgbClr val="C00000"/>
                </a:solidFill>
                <a:effectLst/>
                <a:latin typeface="inherit"/>
              </a:rPr>
              <a:t>South Korea: </a:t>
            </a:r>
            <a:r>
              <a:rPr lang="en-US" sz="2400" b="0" i="0" dirty="0">
                <a:solidFill>
                  <a:srgbClr val="2D2F3D"/>
                </a:solidFill>
                <a:effectLst/>
                <a:latin typeface="inherit"/>
              </a:rPr>
              <a:t>Minimal smiling, nodding to show understanding.</a:t>
            </a:r>
          </a:p>
          <a:p>
            <a:pPr algn="l" fontAlgn="base">
              <a:buFont typeface="Arial" panose="020B0604020202020204" pitchFamily="34" charset="0"/>
              <a:buChar char="•"/>
            </a:pPr>
            <a:r>
              <a:rPr lang="en-US" sz="2400" b="1" i="0" dirty="0">
                <a:solidFill>
                  <a:srgbClr val="C00000"/>
                </a:solidFill>
                <a:effectLst/>
                <a:latin typeface="inherit"/>
              </a:rPr>
              <a:t>India: </a:t>
            </a:r>
            <a:r>
              <a:rPr lang="en-US" sz="2400" b="0" i="0" dirty="0">
                <a:solidFill>
                  <a:srgbClr val="2D2F3D"/>
                </a:solidFill>
                <a:effectLst/>
                <a:latin typeface="inherit"/>
              </a:rPr>
              <a:t>Nodding can mean acknowledgment more than agreement</a:t>
            </a:r>
          </a:p>
          <a:p>
            <a:pPr algn="l" fontAlgn="base"/>
            <a:endParaRPr lang="en-US" sz="2400" b="0" i="0" dirty="0">
              <a:solidFill>
                <a:srgbClr val="2D2F3D"/>
              </a:solidFill>
              <a:effectLst/>
              <a:latin typeface="inherit"/>
            </a:endParaRPr>
          </a:p>
          <a:p>
            <a:pPr algn="l" fontAlgn="base"/>
            <a:r>
              <a:rPr lang="en-US" sz="4000" b="1" i="0" dirty="0">
                <a:solidFill>
                  <a:srgbClr val="7030A0"/>
                </a:solidFill>
                <a:effectLst/>
                <a:latin typeface="inherit"/>
              </a:rPr>
              <a:t>Middle East</a:t>
            </a:r>
            <a:endParaRPr lang="en-US" sz="40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Smile: </a:t>
            </a:r>
            <a:r>
              <a:rPr lang="en-US" sz="2400" b="0" i="0" dirty="0">
                <a:solidFill>
                  <a:srgbClr val="2D2F3D"/>
                </a:solidFill>
                <a:effectLst/>
                <a:latin typeface="inherit"/>
              </a:rPr>
              <a:t>Reserved for close relationships, less common with strangers.</a:t>
            </a:r>
          </a:p>
          <a:p>
            <a:pPr algn="l" fontAlgn="base">
              <a:buFont typeface="Arial" panose="020B0604020202020204" pitchFamily="34" charset="0"/>
              <a:buChar char="•"/>
            </a:pPr>
            <a:r>
              <a:rPr lang="en-US" sz="2400" b="1" i="0" dirty="0">
                <a:solidFill>
                  <a:srgbClr val="C00000"/>
                </a:solidFill>
                <a:effectLst/>
                <a:latin typeface="inherit"/>
              </a:rPr>
              <a:t>Eye contact: </a:t>
            </a:r>
            <a:r>
              <a:rPr lang="en-US" sz="2400" b="0" i="0" dirty="0">
                <a:solidFill>
                  <a:srgbClr val="2D2F3D"/>
                </a:solidFill>
                <a:effectLst/>
                <a:latin typeface="inherit"/>
              </a:rPr>
              <a:t>Varies across cultures, can show respect or challenge.</a:t>
            </a:r>
          </a:p>
          <a:p>
            <a:pPr algn="l" fontAlgn="base">
              <a:buFont typeface="Arial" panose="020B0604020202020204" pitchFamily="34" charset="0"/>
              <a:buChar char="•"/>
            </a:pPr>
            <a:r>
              <a:rPr lang="en-US" sz="2800" b="1" i="0" dirty="0">
                <a:solidFill>
                  <a:srgbClr val="C00000"/>
                </a:solidFill>
                <a:effectLst/>
                <a:latin typeface="inherit"/>
              </a:rPr>
              <a:t>Nodding: </a:t>
            </a:r>
            <a:r>
              <a:rPr lang="en-US" sz="2400" b="0" i="0" dirty="0">
                <a:solidFill>
                  <a:srgbClr val="2D2F3D"/>
                </a:solidFill>
                <a:effectLst/>
                <a:latin typeface="inherit"/>
              </a:rPr>
              <a:t>Often slower and more deliberate, indicating agreement.</a:t>
            </a:r>
          </a:p>
        </p:txBody>
      </p:sp>
    </p:spTree>
    <p:extLst>
      <p:ext uri="{BB962C8B-B14F-4D97-AF65-F5344CB8AC3E}">
        <p14:creationId xmlns:p14="http://schemas.microsoft.com/office/powerpoint/2010/main" val="6186280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9AB875-7145-463C-B59C-ACE3EE31D312}"/>
              </a:ext>
            </a:extLst>
          </p:cNvPr>
          <p:cNvSpPr txBox="1"/>
          <p:nvPr/>
        </p:nvSpPr>
        <p:spPr>
          <a:xfrm>
            <a:off x="4993341" y="411700"/>
            <a:ext cx="6096000" cy="584775"/>
          </a:xfrm>
          <a:prstGeom prst="rect">
            <a:avLst/>
          </a:prstGeom>
          <a:noFill/>
        </p:spPr>
        <p:txBody>
          <a:bodyPr wrap="square">
            <a:spAutoFit/>
          </a:bodyPr>
          <a:lstStyle/>
          <a:p>
            <a:pPr algn="l" fontAlgn="base"/>
            <a:r>
              <a:rPr lang="en-IN" sz="3200" b="1" i="0" dirty="0">
                <a:solidFill>
                  <a:srgbClr val="FF0000"/>
                </a:solidFill>
                <a:effectLst/>
                <a:latin typeface="inherit"/>
              </a:rPr>
              <a:t>Hand gestures</a:t>
            </a:r>
            <a:endParaRPr lang="en-IN" sz="3200" b="1" i="0" dirty="0">
              <a:solidFill>
                <a:srgbClr val="FF0000"/>
              </a:solidFill>
              <a:effectLst/>
              <a:latin typeface="IBM Plex Sans" panose="020B0503050203000203" pitchFamily="34" charset="0"/>
            </a:endParaRPr>
          </a:p>
        </p:txBody>
      </p:sp>
      <p:pic>
        <p:nvPicPr>
          <p:cNvPr id="6146" name="Picture 2" descr="Friends taking a selfie and displaying the peace sign hand gesture.">
            <a:extLst>
              <a:ext uri="{FF2B5EF4-FFF2-40B4-BE49-F238E27FC236}">
                <a16:creationId xmlns:a16="http://schemas.microsoft.com/office/drawing/2014/main" id="{C625A80F-995B-44A1-827C-4E8273D956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9822" y="1341624"/>
            <a:ext cx="8870577" cy="481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4097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BEA325-579B-4E1C-9FE2-F84E75DDCE80}"/>
              </a:ext>
            </a:extLst>
          </p:cNvPr>
          <p:cNvSpPr txBox="1"/>
          <p:nvPr/>
        </p:nvSpPr>
        <p:spPr>
          <a:xfrm>
            <a:off x="251011" y="261408"/>
            <a:ext cx="11143130" cy="5755422"/>
          </a:xfrm>
          <a:prstGeom prst="rect">
            <a:avLst/>
          </a:prstGeom>
          <a:noFill/>
        </p:spPr>
        <p:txBody>
          <a:bodyPr wrap="square">
            <a:spAutoFit/>
          </a:bodyPr>
          <a:lstStyle/>
          <a:p>
            <a:r>
              <a:rPr lang="en-US" sz="3200" b="1" dirty="0">
                <a:solidFill>
                  <a:srgbClr val="7030A0"/>
                </a:solidFill>
              </a:rPr>
              <a:t>North America</a:t>
            </a:r>
          </a:p>
          <a:p>
            <a:r>
              <a:rPr lang="en-US" sz="2400" b="1" dirty="0">
                <a:solidFill>
                  <a:srgbClr val="C00000"/>
                </a:solidFill>
              </a:rPr>
              <a:t>Thumbs up: </a:t>
            </a:r>
            <a:r>
              <a:rPr lang="en-US" sz="2400" dirty="0"/>
              <a:t>Approval, agreement, or positivity.</a:t>
            </a:r>
          </a:p>
          <a:p>
            <a:r>
              <a:rPr lang="en-US" sz="2400" b="1" dirty="0">
                <a:solidFill>
                  <a:srgbClr val="C00000"/>
                </a:solidFill>
              </a:rPr>
              <a:t>Peace sign (V for Victory): </a:t>
            </a:r>
            <a:r>
              <a:rPr lang="en-US" sz="2400" dirty="0"/>
              <a:t>Generally means peace or victory.</a:t>
            </a:r>
          </a:p>
          <a:p>
            <a:r>
              <a:rPr lang="en-US" sz="3200" b="1" dirty="0">
                <a:solidFill>
                  <a:srgbClr val="7030A0"/>
                </a:solidFill>
              </a:rPr>
              <a:t>Europe</a:t>
            </a:r>
          </a:p>
          <a:p>
            <a:r>
              <a:rPr lang="en-US" sz="2400" b="1" dirty="0">
                <a:solidFill>
                  <a:srgbClr val="C00000"/>
                </a:solidFill>
              </a:rPr>
              <a:t>A-OK Sign (thumb and forefinger forming a circle): </a:t>
            </a:r>
            <a:r>
              <a:rPr lang="en-US" sz="2400" dirty="0"/>
              <a:t>In some countries, it means "okay" or "good," but can be offensive in others. In France, as mentioned, it can mean “zero”.</a:t>
            </a:r>
          </a:p>
          <a:p>
            <a:r>
              <a:rPr lang="en-US" sz="2400" b="1" dirty="0">
                <a:solidFill>
                  <a:srgbClr val="C00000"/>
                </a:solidFill>
              </a:rPr>
              <a:t>Crossed fingers: </a:t>
            </a:r>
            <a:r>
              <a:rPr lang="en-US" sz="2400" dirty="0"/>
              <a:t>Symbolizing luck or wishing for good fortune.</a:t>
            </a:r>
          </a:p>
          <a:p>
            <a:r>
              <a:rPr lang="en-US" sz="3200" b="1" dirty="0">
                <a:solidFill>
                  <a:srgbClr val="7030A0"/>
                </a:solidFill>
              </a:rPr>
              <a:t>Asia</a:t>
            </a:r>
          </a:p>
          <a:p>
            <a:r>
              <a:rPr lang="en-US" sz="2400" b="1" dirty="0">
                <a:solidFill>
                  <a:srgbClr val="C00000"/>
                </a:solidFill>
              </a:rPr>
              <a:t>China: </a:t>
            </a:r>
            <a:r>
              <a:rPr lang="en-US" sz="2400" dirty="0"/>
              <a:t>Beckoning gesture (palm down and to the side, fingers moving toward you): Used to call someone over.</a:t>
            </a:r>
          </a:p>
          <a:p>
            <a:r>
              <a:rPr lang="en-US" sz="2400" b="1" dirty="0">
                <a:solidFill>
                  <a:srgbClr val="C00000"/>
                </a:solidFill>
              </a:rPr>
              <a:t>South Korea: </a:t>
            </a:r>
            <a:r>
              <a:rPr lang="en-US" sz="2400" dirty="0"/>
              <a:t>The same gesture can be seen as rude.</a:t>
            </a:r>
          </a:p>
          <a:p>
            <a:r>
              <a:rPr lang="en-US" sz="3200" b="1" dirty="0">
                <a:solidFill>
                  <a:srgbClr val="7030A0"/>
                </a:solidFill>
              </a:rPr>
              <a:t>Middle East</a:t>
            </a:r>
          </a:p>
          <a:p>
            <a:r>
              <a:rPr lang="en-US" sz="2400" b="1" dirty="0">
                <a:solidFill>
                  <a:srgbClr val="C00000"/>
                </a:solidFill>
              </a:rPr>
              <a:t>Hand on heart: </a:t>
            </a:r>
            <a:r>
              <a:rPr lang="en-US" sz="2400" dirty="0"/>
              <a:t>Used to show sincerity or emphasize a statement.</a:t>
            </a:r>
          </a:p>
          <a:p>
            <a:r>
              <a:rPr lang="en-US" sz="2400" b="1" dirty="0">
                <a:solidFill>
                  <a:srgbClr val="C00000"/>
                </a:solidFill>
              </a:rPr>
              <a:t>Hand to mouth: </a:t>
            </a:r>
            <a:r>
              <a:rPr lang="en-US" sz="2400" dirty="0"/>
              <a:t>Can indicate surprise or disbelief.</a:t>
            </a:r>
            <a:endParaRPr lang="en-IN" sz="2400" dirty="0"/>
          </a:p>
        </p:txBody>
      </p:sp>
    </p:spTree>
    <p:extLst>
      <p:ext uri="{BB962C8B-B14F-4D97-AF65-F5344CB8AC3E}">
        <p14:creationId xmlns:p14="http://schemas.microsoft.com/office/powerpoint/2010/main" val="571574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4E45A3-6C3D-4DD8-8189-8B5D4E9100D1}"/>
              </a:ext>
            </a:extLst>
          </p:cNvPr>
          <p:cNvSpPr txBox="1"/>
          <p:nvPr/>
        </p:nvSpPr>
        <p:spPr>
          <a:xfrm>
            <a:off x="4437530" y="303910"/>
            <a:ext cx="1927411" cy="707886"/>
          </a:xfrm>
          <a:prstGeom prst="rect">
            <a:avLst/>
          </a:prstGeom>
          <a:noFill/>
        </p:spPr>
        <p:txBody>
          <a:bodyPr wrap="square">
            <a:spAutoFit/>
          </a:bodyPr>
          <a:lstStyle/>
          <a:p>
            <a:pPr algn="l" fontAlgn="base"/>
            <a:r>
              <a:rPr lang="en-IN" sz="4000" b="1" i="0" dirty="0">
                <a:solidFill>
                  <a:srgbClr val="FF0000"/>
                </a:solidFill>
                <a:effectLst/>
                <a:latin typeface="inherit"/>
              </a:rPr>
              <a:t>Silence</a:t>
            </a:r>
            <a:endParaRPr lang="en-IN" sz="4000" b="1" i="0" dirty="0">
              <a:solidFill>
                <a:srgbClr val="FF0000"/>
              </a:solidFill>
              <a:effectLst/>
              <a:latin typeface="IBM Plex Sans" panose="020B0503050203000203" pitchFamily="34" charset="0"/>
            </a:endParaRPr>
          </a:p>
        </p:txBody>
      </p:sp>
      <p:pic>
        <p:nvPicPr>
          <p:cNvPr id="8194" name="Picture 2" descr="Father and son enjoying the silence while camping.">
            <a:extLst>
              <a:ext uri="{FF2B5EF4-FFF2-40B4-BE49-F238E27FC236}">
                <a16:creationId xmlns:a16="http://schemas.microsoft.com/office/drawing/2014/main" id="{AEA50E43-D555-4EE6-AF83-C43A403F87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023" y="1382527"/>
            <a:ext cx="8498384" cy="4256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17649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611F2B-A272-407D-9522-B7A56C9A1988}"/>
              </a:ext>
            </a:extLst>
          </p:cNvPr>
          <p:cNvSpPr txBox="1"/>
          <p:nvPr/>
        </p:nvSpPr>
        <p:spPr>
          <a:xfrm>
            <a:off x="304800" y="373518"/>
            <a:ext cx="11537576" cy="6001643"/>
          </a:xfrm>
          <a:prstGeom prst="rect">
            <a:avLst/>
          </a:prstGeom>
          <a:noFill/>
        </p:spPr>
        <p:txBody>
          <a:bodyPr wrap="square">
            <a:spAutoFit/>
          </a:bodyPr>
          <a:lstStyle/>
          <a:p>
            <a:pPr algn="l" fontAlgn="base"/>
            <a:r>
              <a:rPr lang="en-US" sz="3200" b="1" i="0" dirty="0">
                <a:solidFill>
                  <a:srgbClr val="7030A0"/>
                </a:solidFill>
                <a:effectLst/>
                <a:latin typeface="inherit"/>
              </a:rPr>
              <a:t>North America</a:t>
            </a:r>
            <a:endParaRPr lang="en-US" sz="32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Silence in conversations: </a:t>
            </a:r>
            <a:r>
              <a:rPr lang="en-US" sz="2400" b="0" i="0" dirty="0">
                <a:solidFill>
                  <a:srgbClr val="2D2F3D"/>
                </a:solidFill>
                <a:effectLst/>
                <a:latin typeface="inherit"/>
              </a:rPr>
              <a:t>May indicate discomfort, awkwardness, or a pause for reflection.</a:t>
            </a:r>
          </a:p>
          <a:p>
            <a:pPr algn="l" fontAlgn="base">
              <a:buFont typeface="Arial" panose="020B0604020202020204" pitchFamily="34" charset="0"/>
              <a:buChar char="•"/>
            </a:pPr>
            <a:r>
              <a:rPr lang="en-US" sz="2400" b="1" i="0" dirty="0">
                <a:solidFill>
                  <a:srgbClr val="C00000"/>
                </a:solidFill>
                <a:effectLst/>
                <a:latin typeface="inherit"/>
              </a:rPr>
              <a:t>Silence in public spaces: </a:t>
            </a:r>
            <a:r>
              <a:rPr lang="en-US" sz="2400" b="0" i="0" dirty="0">
                <a:solidFill>
                  <a:srgbClr val="2D2F3D"/>
                </a:solidFill>
                <a:effectLst/>
                <a:latin typeface="inherit"/>
              </a:rPr>
              <a:t>Generally seen as normal, with no specific cultural connotations.</a:t>
            </a:r>
          </a:p>
          <a:p>
            <a:pPr algn="l" fontAlgn="base"/>
            <a:r>
              <a:rPr lang="en-US" sz="3200" b="1" i="0" dirty="0">
                <a:solidFill>
                  <a:srgbClr val="7030A0"/>
                </a:solidFill>
                <a:effectLst/>
                <a:latin typeface="inherit"/>
              </a:rPr>
              <a:t>Europe</a:t>
            </a:r>
            <a:endParaRPr lang="en-US" sz="32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Silence in conversations:</a:t>
            </a:r>
            <a:r>
              <a:rPr lang="en-US" sz="2400" b="1" i="0" dirty="0">
                <a:solidFill>
                  <a:srgbClr val="2D2F3D"/>
                </a:solidFill>
                <a:effectLst/>
                <a:latin typeface="inherit"/>
              </a:rPr>
              <a:t> </a:t>
            </a:r>
            <a:r>
              <a:rPr lang="en-US" sz="2400" b="0" i="0" dirty="0">
                <a:solidFill>
                  <a:srgbClr val="2D2F3D"/>
                </a:solidFill>
                <a:effectLst/>
                <a:latin typeface="inherit"/>
              </a:rPr>
              <a:t>May be perceived as listening attentively or needing time to think. </a:t>
            </a:r>
          </a:p>
          <a:p>
            <a:pPr algn="l" fontAlgn="base">
              <a:buFont typeface="Arial" panose="020B0604020202020204" pitchFamily="34" charset="0"/>
              <a:buChar char="•"/>
            </a:pPr>
            <a:r>
              <a:rPr lang="en-US" sz="2400" b="1" i="0" dirty="0">
                <a:solidFill>
                  <a:srgbClr val="C00000"/>
                </a:solidFill>
                <a:effectLst/>
                <a:latin typeface="inherit"/>
              </a:rPr>
              <a:t>Silence in public spaces</a:t>
            </a:r>
            <a:r>
              <a:rPr lang="en-US" sz="2400" b="0" i="0" dirty="0">
                <a:solidFill>
                  <a:srgbClr val="2D2F3D"/>
                </a:solidFill>
                <a:effectLst/>
                <a:latin typeface="inherit"/>
              </a:rPr>
              <a:t>: Considered normal, with variations based on context. For example, in countries like Spain or Italy, it’s unlikely to find a silent public space.</a:t>
            </a:r>
          </a:p>
          <a:p>
            <a:pPr algn="l" fontAlgn="base"/>
            <a:r>
              <a:rPr lang="en-US" sz="3200" b="1" i="0" dirty="0">
                <a:solidFill>
                  <a:srgbClr val="7030A0"/>
                </a:solidFill>
                <a:effectLst/>
                <a:latin typeface="inherit"/>
              </a:rPr>
              <a:t>Asia</a:t>
            </a:r>
            <a:endParaRPr lang="en-US" sz="32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Japan: </a:t>
            </a:r>
            <a:r>
              <a:rPr lang="en-US" sz="2400" b="0" i="0" dirty="0">
                <a:solidFill>
                  <a:srgbClr val="2D2F3D"/>
                </a:solidFill>
                <a:effectLst/>
                <a:latin typeface="inherit"/>
              </a:rPr>
              <a:t>Silence is valued and often used to convey respect, seriousness, or consideration.</a:t>
            </a:r>
          </a:p>
          <a:p>
            <a:pPr algn="l" fontAlgn="base">
              <a:buFont typeface="Arial" panose="020B0604020202020204" pitchFamily="34" charset="0"/>
              <a:buChar char="•"/>
            </a:pPr>
            <a:r>
              <a:rPr lang="en-US" sz="2400" b="1" i="0" dirty="0">
                <a:solidFill>
                  <a:srgbClr val="C00000"/>
                </a:solidFill>
                <a:effectLst/>
                <a:latin typeface="inherit"/>
              </a:rPr>
              <a:t>China: </a:t>
            </a:r>
            <a:r>
              <a:rPr lang="en-US" sz="2400" b="0" i="0" dirty="0">
                <a:solidFill>
                  <a:srgbClr val="2D2F3D"/>
                </a:solidFill>
                <a:effectLst/>
                <a:latin typeface="inherit"/>
              </a:rPr>
              <a:t>Silence might signal agreement, disagreement, or respect for the speaker.</a:t>
            </a:r>
          </a:p>
          <a:p>
            <a:pPr algn="l" fontAlgn="base">
              <a:buFont typeface="Arial" panose="020B0604020202020204" pitchFamily="34" charset="0"/>
              <a:buChar char="•"/>
            </a:pPr>
            <a:r>
              <a:rPr lang="en-US" sz="2400" b="1" i="0" dirty="0">
                <a:solidFill>
                  <a:srgbClr val="C00000"/>
                </a:solidFill>
                <a:effectLst/>
                <a:latin typeface="inherit"/>
              </a:rPr>
              <a:t>India: </a:t>
            </a:r>
            <a:r>
              <a:rPr lang="en-US" sz="2400" b="0" i="0" dirty="0">
                <a:solidFill>
                  <a:srgbClr val="2D2F3D"/>
                </a:solidFill>
                <a:effectLst/>
                <a:latin typeface="inherit"/>
              </a:rPr>
              <a:t>Silence in conversations can mean agreement, thoughtfulness, or attentiveness.</a:t>
            </a:r>
          </a:p>
          <a:p>
            <a:pPr algn="l" fontAlgn="base"/>
            <a:r>
              <a:rPr lang="en-US" sz="2400" b="0" i="0" dirty="0">
                <a:solidFill>
                  <a:srgbClr val="2D2F3D"/>
                </a:solidFill>
                <a:effectLst/>
                <a:latin typeface="inherit"/>
              </a:rPr>
              <a:t>Middle East</a:t>
            </a:r>
            <a:endParaRPr lang="en-US" sz="2400" b="0" i="0" dirty="0">
              <a:solidFill>
                <a:srgbClr val="2D2F3D"/>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Silence in conversations: </a:t>
            </a:r>
            <a:r>
              <a:rPr lang="en-US" sz="2400" b="0" i="0" dirty="0">
                <a:solidFill>
                  <a:srgbClr val="2D2F3D"/>
                </a:solidFill>
                <a:effectLst/>
                <a:latin typeface="inherit"/>
              </a:rPr>
              <a:t>Pauses are common, allowing speakers to gather their thoughts.</a:t>
            </a:r>
          </a:p>
          <a:p>
            <a:pPr algn="l" fontAlgn="base">
              <a:buFont typeface="Arial" panose="020B0604020202020204" pitchFamily="34" charset="0"/>
              <a:buChar char="•"/>
            </a:pPr>
            <a:r>
              <a:rPr lang="en-US" sz="2400" b="1" i="0" dirty="0">
                <a:solidFill>
                  <a:srgbClr val="C00000"/>
                </a:solidFill>
                <a:effectLst/>
                <a:latin typeface="inherit"/>
              </a:rPr>
              <a:t>Silence in public spaces: </a:t>
            </a:r>
            <a:r>
              <a:rPr lang="en-US" sz="2400" b="0" i="0" dirty="0">
                <a:solidFill>
                  <a:srgbClr val="2D2F3D"/>
                </a:solidFill>
                <a:effectLst/>
                <a:latin typeface="inherit"/>
              </a:rPr>
              <a:t>Considered normal, with variations based on cultural practices.</a:t>
            </a:r>
          </a:p>
        </p:txBody>
      </p:sp>
    </p:spTree>
    <p:extLst>
      <p:ext uri="{BB962C8B-B14F-4D97-AF65-F5344CB8AC3E}">
        <p14:creationId xmlns:p14="http://schemas.microsoft.com/office/powerpoint/2010/main" val="1342176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339D06-9F0B-40F5-8782-334A6ABF23DC}"/>
              </a:ext>
            </a:extLst>
          </p:cNvPr>
          <p:cNvSpPr txBox="1"/>
          <p:nvPr/>
        </p:nvSpPr>
        <p:spPr>
          <a:xfrm>
            <a:off x="4997823" y="223227"/>
            <a:ext cx="1855694" cy="584775"/>
          </a:xfrm>
          <a:prstGeom prst="rect">
            <a:avLst/>
          </a:prstGeom>
          <a:noFill/>
        </p:spPr>
        <p:txBody>
          <a:bodyPr wrap="square">
            <a:spAutoFit/>
          </a:bodyPr>
          <a:lstStyle/>
          <a:p>
            <a:pPr algn="l" fontAlgn="base"/>
            <a:r>
              <a:rPr lang="en-IN" sz="3200" b="1" i="0" dirty="0">
                <a:solidFill>
                  <a:srgbClr val="FF0000"/>
                </a:solidFill>
                <a:effectLst/>
                <a:latin typeface="inherit"/>
              </a:rPr>
              <a:t>Greetings</a:t>
            </a:r>
            <a:endParaRPr lang="en-IN" sz="3200" b="1" i="0" dirty="0">
              <a:solidFill>
                <a:srgbClr val="FF0000"/>
              </a:solidFill>
              <a:effectLst/>
              <a:latin typeface="IBM Plex Sans" panose="020B0503050203000203" pitchFamily="34" charset="0"/>
            </a:endParaRPr>
          </a:p>
        </p:txBody>
      </p:sp>
      <p:pic>
        <p:nvPicPr>
          <p:cNvPr id="9218" name="Picture 2" descr="Bowing is common for greetings in Asia.">
            <a:extLst>
              <a:ext uri="{FF2B5EF4-FFF2-40B4-BE49-F238E27FC236}">
                <a16:creationId xmlns:a16="http://schemas.microsoft.com/office/drawing/2014/main" id="{D38CB787-A040-48A1-811F-0434C1BD5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188" y="1168773"/>
            <a:ext cx="10083096" cy="5142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120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52FAF4-9AF9-4A1F-B3CE-8F40F5BE32DE}"/>
              </a:ext>
            </a:extLst>
          </p:cNvPr>
          <p:cNvSpPr txBox="1"/>
          <p:nvPr/>
        </p:nvSpPr>
        <p:spPr>
          <a:xfrm>
            <a:off x="532449" y="358164"/>
            <a:ext cx="11447929" cy="4832092"/>
          </a:xfrm>
          <a:prstGeom prst="rect">
            <a:avLst/>
          </a:prstGeom>
          <a:noFill/>
        </p:spPr>
        <p:txBody>
          <a:bodyPr wrap="square">
            <a:spAutoFit/>
          </a:bodyPr>
          <a:lstStyle/>
          <a:p>
            <a:pPr algn="l" fontAlgn="base"/>
            <a:r>
              <a:rPr lang="en-US" sz="2800" b="1" i="0" dirty="0">
                <a:solidFill>
                  <a:srgbClr val="7030A0"/>
                </a:solidFill>
                <a:effectLst/>
                <a:latin typeface="inherit"/>
              </a:rPr>
              <a:t>North America</a:t>
            </a:r>
            <a:endParaRPr lang="en-US" sz="28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800" b="1" i="0" dirty="0">
                <a:solidFill>
                  <a:srgbClr val="C00000"/>
                </a:solidFill>
                <a:effectLst/>
                <a:latin typeface="inherit"/>
              </a:rPr>
              <a:t>Handshake: </a:t>
            </a:r>
            <a:r>
              <a:rPr lang="en-US" sz="2800" b="0" i="0" dirty="0">
                <a:solidFill>
                  <a:srgbClr val="2D2F3D"/>
                </a:solidFill>
                <a:effectLst/>
                <a:latin typeface="inherit"/>
              </a:rPr>
              <a:t>Common greeting in professional and social settings.</a:t>
            </a:r>
          </a:p>
          <a:p>
            <a:pPr algn="l" fontAlgn="base">
              <a:buFont typeface="Arial" panose="020B0604020202020204" pitchFamily="34" charset="0"/>
              <a:buChar char="•"/>
            </a:pPr>
            <a:r>
              <a:rPr lang="en-US" sz="2800" b="1" i="0" dirty="0">
                <a:solidFill>
                  <a:srgbClr val="C00000"/>
                </a:solidFill>
                <a:effectLst/>
                <a:latin typeface="inherit"/>
              </a:rPr>
              <a:t>Hugs: </a:t>
            </a:r>
            <a:r>
              <a:rPr lang="en-US" sz="2800" b="0" i="0" dirty="0">
                <a:solidFill>
                  <a:srgbClr val="2D2F3D"/>
                </a:solidFill>
                <a:effectLst/>
                <a:latin typeface="inherit"/>
              </a:rPr>
              <a:t>Common among friends and family.</a:t>
            </a:r>
          </a:p>
          <a:p>
            <a:pPr algn="l" fontAlgn="base"/>
            <a:r>
              <a:rPr lang="en-US" sz="2800" b="1" i="0" dirty="0">
                <a:solidFill>
                  <a:srgbClr val="7030A0"/>
                </a:solidFill>
                <a:effectLst/>
                <a:latin typeface="inherit"/>
              </a:rPr>
              <a:t>Europe</a:t>
            </a:r>
            <a:endParaRPr lang="en-US" sz="28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800" b="1" i="0" dirty="0">
                <a:solidFill>
                  <a:srgbClr val="C00000"/>
                </a:solidFill>
                <a:effectLst/>
                <a:latin typeface="inherit"/>
              </a:rPr>
              <a:t>Handshake: </a:t>
            </a:r>
            <a:r>
              <a:rPr lang="en-US" sz="2800" b="0" i="0" dirty="0">
                <a:solidFill>
                  <a:srgbClr val="2D2F3D"/>
                </a:solidFill>
                <a:effectLst/>
                <a:latin typeface="inherit"/>
              </a:rPr>
              <a:t>Common, varying in strength.</a:t>
            </a:r>
          </a:p>
          <a:p>
            <a:pPr algn="l" fontAlgn="base"/>
            <a:r>
              <a:rPr lang="en-US" sz="2800" b="1" i="0" dirty="0">
                <a:solidFill>
                  <a:srgbClr val="7030A0"/>
                </a:solidFill>
                <a:effectLst/>
                <a:latin typeface="inherit"/>
              </a:rPr>
              <a:t>Asia</a:t>
            </a:r>
            <a:endParaRPr lang="en-US" sz="28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800" b="1" i="0" dirty="0">
                <a:solidFill>
                  <a:srgbClr val="C00000"/>
                </a:solidFill>
                <a:effectLst/>
                <a:latin typeface="inherit"/>
              </a:rPr>
              <a:t>Japan: </a:t>
            </a:r>
            <a:r>
              <a:rPr lang="en-US" sz="2800" b="0" i="0" dirty="0">
                <a:solidFill>
                  <a:srgbClr val="2D2F3D"/>
                </a:solidFill>
                <a:effectLst/>
                <a:latin typeface="inherit"/>
              </a:rPr>
              <a:t>Bowing is common for greetings.</a:t>
            </a:r>
          </a:p>
          <a:p>
            <a:pPr algn="l" fontAlgn="base">
              <a:buFont typeface="Arial" panose="020B0604020202020204" pitchFamily="34" charset="0"/>
              <a:buChar char="•"/>
            </a:pPr>
            <a:r>
              <a:rPr lang="en-US" sz="2800" b="1" i="0" dirty="0">
                <a:solidFill>
                  <a:srgbClr val="C00000"/>
                </a:solidFill>
                <a:effectLst/>
                <a:latin typeface="inherit"/>
              </a:rPr>
              <a:t>India: </a:t>
            </a:r>
            <a:r>
              <a:rPr lang="en-US" sz="2800" b="0" i="0" dirty="0">
                <a:solidFill>
                  <a:srgbClr val="2D2F3D"/>
                </a:solidFill>
                <a:effectLst/>
                <a:latin typeface="inherit"/>
              </a:rPr>
              <a:t>"Namaste" is a common greeting.</a:t>
            </a:r>
          </a:p>
          <a:p>
            <a:pPr algn="l" fontAlgn="base"/>
            <a:r>
              <a:rPr lang="en-US" sz="2800" b="1" i="0" dirty="0">
                <a:solidFill>
                  <a:srgbClr val="7030A0"/>
                </a:solidFill>
                <a:effectLst/>
                <a:latin typeface="inherit"/>
              </a:rPr>
              <a:t>Middle East</a:t>
            </a:r>
            <a:endParaRPr lang="en-US" sz="28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800" b="1" i="0" dirty="0">
                <a:solidFill>
                  <a:srgbClr val="C00000"/>
                </a:solidFill>
                <a:effectLst/>
                <a:latin typeface="inherit"/>
              </a:rPr>
              <a:t>Handshake: </a:t>
            </a:r>
            <a:r>
              <a:rPr lang="en-US" sz="2800" b="0" i="0" dirty="0">
                <a:solidFill>
                  <a:srgbClr val="2D2F3D"/>
                </a:solidFill>
                <a:effectLst/>
                <a:latin typeface="inherit"/>
              </a:rPr>
              <a:t>Common, but varies between men and women due to cultural norms.</a:t>
            </a:r>
          </a:p>
        </p:txBody>
      </p:sp>
    </p:spTree>
    <p:extLst>
      <p:ext uri="{BB962C8B-B14F-4D97-AF65-F5344CB8AC3E}">
        <p14:creationId xmlns:p14="http://schemas.microsoft.com/office/powerpoint/2010/main" val="547296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29DF86-B5AC-4F3A-A0C0-EFE74EEBBEE5}"/>
              </a:ext>
            </a:extLst>
          </p:cNvPr>
          <p:cNvSpPr txBox="1"/>
          <p:nvPr/>
        </p:nvSpPr>
        <p:spPr>
          <a:xfrm>
            <a:off x="4867835" y="285981"/>
            <a:ext cx="2967318" cy="523220"/>
          </a:xfrm>
          <a:prstGeom prst="rect">
            <a:avLst/>
          </a:prstGeom>
          <a:noFill/>
        </p:spPr>
        <p:txBody>
          <a:bodyPr wrap="square">
            <a:spAutoFit/>
          </a:bodyPr>
          <a:lstStyle/>
          <a:p>
            <a:pPr algn="l" fontAlgn="base"/>
            <a:r>
              <a:rPr lang="en-IN" sz="2800" b="1" i="0" dirty="0">
                <a:solidFill>
                  <a:srgbClr val="FF0000"/>
                </a:solidFill>
                <a:effectLst/>
                <a:latin typeface="inherit"/>
              </a:rPr>
              <a:t>Personal space</a:t>
            </a:r>
            <a:endParaRPr lang="en-IN" sz="2800" b="1" i="0" dirty="0">
              <a:solidFill>
                <a:srgbClr val="FF0000"/>
              </a:solidFill>
              <a:effectLst/>
              <a:latin typeface="IBM Plex Sans" panose="020B0503050203000203" pitchFamily="34" charset="0"/>
            </a:endParaRPr>
          </a:p>
        </p:txBody>
      </p:sp>
      <p:pic>
        <p:nvPicPr>
          <p:cNvPr id="10242" name="Picture 2" descr="Personal space in Latin America is smaller, especially in social interactions.">
            <a:extLst>
              <a:ext uri="{FF2B5EF4-FFF2-40B4-BE49-F238E27FC236}">
                <a16:creationId xmlns:a16="http://schemas.microsoft.com/office/drawing/2014/main" id="{18EEBDF4-4E41-46AA-925B-FF04BEF5B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7001" y="1118347"/>
            <a:ext cx="9497998" cy="5255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5843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008499-AAC6-4843-A874-17A11D099137}"/>
              </a:ext>
            </a:extLst>
          </p:cNvPr>
          <p:cNvSpPr txBox="1"/>
          <p:nvPr/>
        </p:nvSpPr>
        <p:spPr>
          <a:xfrm>
            <a:off x="349623" y="317010"/>
            <a:ext cx="11421036" cy="5262979"/>
          </a:xfrm>
          <a:prstGeom prst="rect">
            <a:avLst/>
          </a:prstGeom>
          <a:noFill/>
        </p:spPr>
        <p:txBody>
          <a:bodyPr wrap="square">
            <a:spAutoFit/>
          </a:bodyPr>
          <a:lstStyle/>
          <a:p>
            <a:pPr algn="l" fontAlgn="base"/>
            <a:r>
              <a:rPr lang="en-US" sz="2400" b="1" i="0" dirty="0">
                <a:solidFill>
                  <a:srgbClr val="7030A0"/>
                </a:solidFill>
                <a:effectLst/>
                <a:latin typeface="inherit"/>
              </a:rPr>
              <a:t>North America</a:t>
            </a:r>
            <a:endParaRPr lang="en-US" sz="24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Personal space: </a:t>
            </a:r>
            <a:r>
              <a:rPr lang="en-US" sz="2400" b="0" i="0" dirty="0">
                <a:solidFill>
                  <a:srgbClr val="2D2F3D"/>
                </a:solidFill>
                <a:effectLst/>
                <a:latin typeface="inherit"/>
              </a:rPr>
              <a:t>Generally larger, especially in public settings.</a:t>
            </a:r>
          </a:p>
          <a:p>
            <a:pPr algn="l" fontAlgn="base">
              <a:buFont typeface="Arial" panose="020B0604020202020204" pitchFamily="34" charset="0"/>
              <a:buChar char="•"/>
            </a:pPr>
            <a:r>
              <a:rPr lang="en-US" sz="2400" b="1" i="0" dirty="0">
                <a:solidFill>
                  <a:srgbClr val="C00000"/>
                </a:solidFill>
                <a:effectLst/>
                <a:latin typeface="inherit"/>
              </a:rPr>
              <a:t>Queueing: </a:t>
            </a:r>
            <a:r>
              <a:rPr lang="en-US" sz="2400" b="0" i="0" dirty="0">
                <a:solidFill>
                  <a:srgbClr val="2D2F3D"/>
                </a:solidFill>
                <a:effectLst/>
                <a:latin typeface="inherit"/>
              </a:rPr>
              <a:t>People maintain distance while waiting in lines.</a:t>
            </a:r>
          </a:p>
          <a:p>
            <a:pPr algn="l" fontAlgn="base"/>
            <a:r>
              <a:rPr lang="en-US" sz="2400" b="1" i="0" dirty="0">
                <a:solidFill>
                  <a:srgbClr val="7030A0"/>
                </a:solidFill>
                <a:effectLst/>
                <a:latin typeface="inherit"/>
              </a:rPr>
              <a:t>Europe</a:t>
            </a:r>
            <a:endParaRPr lang="en-US" sz="24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Personal space: </a:t>
            </a:r>
            <a:r>
              <a:rPr lang="en-US" sz="2400" b="0" i="0" dirty="0">
                <a:solidFill>
                  <a:srgbClr val="2D2F3D"/>
                </a:solidFill>
                <a:effectLst/>
                <a:latin typeface="inherit"/>
              </a:rPr>
              <a:t>Varies across countries; Northern Europe tends to have larger personal space, Southern Europe generally has smaller. </a:t>
            </a:r>
          </a:p>
          <a:p>
            <a:pPr algn="l" fontAlgn="base">
              <a:buFont typeface="Arial" panose="020B0604020202020204" pitchFamily="34" charset="0"/>
              <a:buChar char="•"/>
            </a:pPr>
            <a:r>
              <a:rPr lang="en-US" sz="2400" b="1" i="0" dirty="0">
                <a:solidFill>
                  <a:srgbClr val="C00000"/>
                </a:solidFill>
                <a:effectLst/>
                <a:latin typeface="inherit"/>
              </a:rPr>
              <a:t>Public transport: </a:t>
            </a:r>
            <a:r>
              <a:rPr lang="en-US" sz="2400" b="0" i="0" dirty="0">
                <a:solidFill>
                  <a:srgbClr val="2D2F3D"/>
                </a:solidFill>
                <a:effectLst/>
                <a:latin typeface="inherit"/>
              </a:rPr>
              <a:t>Personal space may be limited due to crowded transportation.</a:t>
            </a:r>
          </a:p>
          <a:p>
            <a:pPr algn="l" fontAlgn="base"/>
            <a:r>
              <a:rPr lang="en-US" sz="2400" b="1" i="0" dirty="0">
                <a:solidFill>
                  <a:srgbClr val="7030A0"/>
                </a:solidFill>
                <a:effectLst/>
                <a:latin typeface="inherit"/>
              </a:rPr>
              <a:t>Asia</a:t>
            </a:r>
            <a:endParaRPr lang="en-US" sz="24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Personal space: </a:t>
            </a:r>
            <a:r>
              <a:rPr lang="en-US" sz="2400" b="0" i="0" dirty="0">
                <a:solidFill>
                  <a:srgbClr val="2D2F3D"/>
                </a:solidFill>
                <a:effectLst/>
                <a:latin typeface="inherit"/>
              </a:rPr>
              <a:t>Generally smaller, especially in crowded urban areas.</a:t>
            </a:r>
          </a:p>
          <a:p>
            <a:pPr algn="l" fontAlgn="base">
              <a:buFont typeface="Arial" panose="020B0604020202020204" pitchFamily="34" charset="0"/>
              <a:buChar char="•"/>
            </a:pPr>
            <a:r>
              <a:rPr lang="en-US" sz="2400" b="1" i="0" dirty="0">
                <a:solidFill>
                  <a:srgbClr val="C00000"/>
                </a:solidFill>
                <a:effectLst/>
                <a:latin typeface="inherit"/>
              </a:rPr>
              <a:t>Crowded environments: </a:t>
            </a:r>
            <a:r>
              <a:rPr lang="en-US" sz="2400" b="0" i="0" dirty="0">
                <a:solidFill>
                  <a:srgbClr val="2D2F3D"/>
                </a:solidFill>
                <a:effectLst/>
                <a:latin typeface="inherit"/>
              </a:rPr>
              <a:t>Limited personal space in markets, public transport, etc.</a:t>
            </a:r>
          </a:p>
          <a:p>
            <a:pPr algn="l" fontAlgn="base"/>
            <a:r>
              <a:rPr lang="en-US" sz="2400" b="1" i="0" dirty="0">
                <a:solidFill>
                  <a:srgbClr val="7030A0"/>
                </a:solidFill>
                <a:effectLst/>
                <a:latin typeface="inherit"/>
              </a:rPr>
              <a:t>Middle East</a:t>
            </a:r>
            <a:endParaRPr lang="en-US" sz="2400" b="1" i="0" dirty="0">
              <a:solidFill>
                <a:srgbClr val="7030A0"/>
              </a:solidFill>
              <a:effectLst/>
              <a:latin typeface="IBM Plex Sans" panose="020B0503050203000203" pitchFamily="34" charset="0"/>
            </a:endParaRPr>
          </a:p>
          <a:p>
            <a:pPr algn="l" fontAlgn="base">
              <a:buFont typeface="Arial" panose="020B0604020202020204" pitchFamily="34" charset="0"/>
              <a:buChar char="•"/>
            </a:pPr>
            <a:r>
              <a:rPr lang="en-US" sz="2400" b="1" i="0" dirty="0">
                <a:solidFill>
                  <a:srgbClr val="C00000"/>
                </a:solidFill>
                <a:effectLst/>
                <a:latin typeface="inherit"/>
              </a:rPr>
              <a:t>Personal space: </a:t>
            </a:r>
            <a:r>
              <a:rPr lang="en-US" sz="2400" b="0" i="0" dirty="0">
                <a:solidFill>
                  <a:srgbClr val="2D2F3D"/>
                </a:solidFill>
                <a:effectLst/>
                <a:latin typeface="inherit"/>
              </a:rPr>
              <a:t>Smaller, especially in social and conversational settings. Might vary across genders.</a:t>
            </a:r>
          </a:p>
          <a:p>
            <a:pPr algn="l" fontAlgn="base">
              <a:buFont typeface="Arial" panose="020B0604020202020204" pitchFamily="34" charset="0"/>
              <a:buChar char="•"/>
            </a:pPr>
            <a:r>
              <a:rPr lang="en-US" sz="2400" b="1" i="0" dirty="0">
                <a:solidFill>
                  <a:srgbClr val="C00000"/>
                </a:solidFill>
                <a:effectLst/>
                <a:latin typeface="inherit"/>
              </a:rPr>
              <a:t>Close conversations: </a:t>
            </a:r>
            <a:r>
              <a:rPr lang="en-US" sz="2400" b="0" i="0" dirty="0">
                <a:solidFill>
                  <a:srgbClr val="2D2F3D"/>
                </a:solidFill>
                <a:effectLst/>
                <a:latin typeface="inherit"/>
              </a:rPr>
              <a:t>Standing closer during conversations is common.</a:t>
            </a:r>
          </a:p>
        </p:txBody>
      </p:sp>
    </p:spTree>
    <p:extLst>
      <p:ext uri="{BB962C8B-B14F-4D97-AF65-F5344CB8AC3E}">
        <p14:creationId xmlns:p14="http://schemas.microsoft.com/office/powerpoint/2010/main" val="1514700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24249" y="439631"/>
            <a:ext cx="4627046" cy="6160349"/>
          </a:xfrm>
          <a:prstGeom prst="rect">
            <a:avLst/>
          </a:prstGeom>
        </p:spPr>
      </p:pic>
      <p:pic>
        <p:nvPicPr>
          <p:cNvPr id="4" name="Picture 3"/>
          <p:cNvPicPr>
            <a:picLocks noChangeAspect="1"/>
          </p:cNvPicPr>
          <p:nvPr/>
        </p:nvPicPr>
        <p:blipFill>
          <a:blip r:embed="rId3"/>
          <a:stretch>
            <a:fillRect/>
          </a:stretch>
        </p:blipFill>
        <p:spPr>
          <a:xfrm>
            <a:off x="6065375" y="242047"/>
            <a:ext cx="4223430" cy="6357934"/>
          </a:xfrm>
          <a:prstGeom prst="rect">
            <a:avLst/>
          </a:prstGeom>
        </p:spPr>
      </p:pic>
    </p:spTree>
    <p:extLst>
      <p:ext uri="{BB962C8B-B14F-4D97-AF65-F5344CB8AC3E}">
        <p14:creationId xmlns:p14="http://schemas.microsoft.com/office/powerpoint/2010/main" val="38501080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08719" y="188260"/>
            <a:ext cx="4243871" cy="6464678"/>
          </a:xfrm>
          <a:prstGeom prst="rect">
            <a:avLst/>
          </a:prstGeom>
        </p:spPr>
      </p:pic>
      <p:pic>
        <p:nvPicPr>
          <p:cNvPr id="3" name="Picture 2"/>
          <p:cNvPicPr>
            <a:picLocks noChangeAspect="1"/>
          </p:cNvPicPr>
          <p:nvPr/>
        </p:nvPicPr>
        <p:blipFill>
          <a:blip r:embed="rId3"/>
          <a:stretch>
            <a:fillRect/>
          </a:stretch>
        </p:blipFill>
        <p:spPr>
          <a:xfrm>
            <a:off x="5712673" y="2051904"/>
            <a:ext cx="5249008" cy="2467319"/>
          </a:xfrm>
          <a:prstGeom prst="rect">
            <a:avLst/>
          </a:prstGeom>
        </p:spPr>
      </p:pic>
    </p:spTree>
    <p:extLst>
      <p:ext uri="{BB962C8B-B14F-4D97-AF65-F5344CB8AC3E}">
        <p14:creationId xmlns:p14="http://schemas.microsoft.com/office/powerpoint/2010/main" val="32655578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95F7D6A3-443B-4AFF-BB02-F3A017B624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493" y="462989"/>
            <a:ext cx="10665817" cy="5722657"/>
          </a:xfrm>
          <a:prstGeom prst="rect">
            <a:avLst/>
          </a:prstGeom>
        </p:spPr>
      </p:pic>
    </p:spTree>
    <p:extLst>
      <p:ext uri="{BB962C8B-B14F-4D97-AF65-F5344CB8AC3E}">
        <p14:creationId xmlns:p14="http://schemas.microsoft.com/office/powerpoint/2010/main" val="12752824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312CE76E-A33B-4D8D-8676-6B7DBFFA8F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210" y="216987"/>
            <a:ext cx="10097580" cy="6424025"/>
          </a:xfrm>
          <a:prstGeom prst="rect">
            <a:avLst/>
          </a:prstGeom>
        </p:spPr>
      </p:pic>
    </p:spTree>
    <p:extLst>
      <p:ext uri="{BB962C8B-B14F-4D97-AF65-F5344CB8AC3E}">
        <p14:creationId xmlns:p14="http://schemas.microsoft.com/office/powerpoint/2010/main" val="4410713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C6FE310B-B04A-4C81-AC50-3D56F0604E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226" y="318215"/>
            <a:ext cx="10215373" cy="6221569"/>
          </a:xfrm>
          <a:prstGeom prst="rect">
            <a:avLst/>
          </a:prstGeom>
        </p:spPr>
      </p:pic>
    </p:spTree>
    <p:extLst>
      <p:ext uri="{BB962C8B-B14F-4D97-AF65-F5344CB8AC3E}">
        <p14:creationId xmlns:p14="http://schemas.microsoft.com/office/powerpoint/2010/main" val="18775626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98927B4C-8550-4377-BDBF-55985D572E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342" y="424086"/>
            <a:ext cx="10918370" cy="5743446"/>
          </a:xfrm>
          <a:prstGeom prst="rect">
            <a:avLst/>
          </a:prstGeom>
        </p:spPr>
      </p:pic>
    </p:spTree>
    <p:extLst>
      <p:ext uri="{BB962C8B-B14F-4D97-AF65-F5344CB8AC3E}">
        <p14:creationId xmlns:p14="http://schemas.microsoft.com/office/powerpoint/2010/main" val="18644229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E0B9E341-92E3-4635-B8C9-C2B04D98C5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940" y="266513"/>
            <a:ext cx="11225283" cy="6053605"/>
          </a:xfrm>
          <a:prstGeom prst="rect">
            <a:avLst/>
          </a:prstGeom>
        </p:spPr>
      </p:pic>
    </p:spTree>
    <p:extLst>
      <p:ext uri="{BB962C8B-B14F-4D97-AF65-F5344CB8AC3E}">
        <p14:creationId xmlns:p14="http://schemas.microsoft.com/office/powerpoint/2010/main" val="25582740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69EE26E4-C8EB-484C-8088-F5566EB0B1E9}"/>
              </a:ext>
            </a:extLst>
          </p:cNvPr>
          <p:cNvPicPr>
            <a:picLocks noChangeAspect="1"/>
          </p:cNvPicPr>
          <p:nvPr/>
        </p:nvPicPr>
        <p:blipFill>
          <a:blip r:embed="rId2"/>
          <a:stretch>
            <a:fillRect/>
          </a:stretch>
        </p:blipFill>
        <p:spPr>
          <a:xfrm>
            <a:off x="838199" y="457200"/>
            <a:ext cx="10645589" cy="6138472"/>
          </a:xfrm>
          <a:prstGeom prst="rect">
            <a:avLst/>
          </a:prstGeom>
        </p:spPr>
      </p:pic>
    </p:spTree>
    <p:extLst>
      <p:ext uri="{BB962C8B-B14F-4D97-AF65-F5344CB8AC3E}">
        <p14:creationId xmlns:p14="http://schemas.microsoft.com/office/powerpoint/2010/main" val="2267406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F5FFAD-D6C4-40A4-A1E6-1ABF13BA3CE8}"/>
              </a:ext>
            </a:extLst>
          </p:cNvPr>
          <p:cNvSpPr txBox="1"/>
          <p:nvPr/>
        </p:nvSpPr>
        <p:spPr>
          <a:xfrm>
            <a:off x="367552" y="179311"/>
            <a:ext cx="11474823" cy="1384995"/>
          </a:xfrm>
          <a:prstGeom prst="rect">
            <a:avLst/>
          </a:prstGeom>
          <a:noFill/>
        </p:spPr>
        <p:txBody>
          <a:bodyPr wrap="square">
            <a:spAutoFit/>
          </a:bodyPr>
          <a:lstStyle/>
          <a:p>
            <a:r>
              <a:rPr lang="en-US" sz="2800" dirty="0"/>
              <a:t>The word </a:t>
            </a:r>
            <a:r>
              <a:rPr lang="en-US" sz="2800" dirty="0">
                <a:solidFill>
                  <a:srgbClr val="FF0000"/>
                </a:solidFill>
              </a:rPr>
              <a:t>kinesics </a:t>
            </a:r>
            <a:r>
              <a:rPr lang="en-US" sz="2800" dirty="0"/>
              <a:t>comes from the root </a:t>
            </a:r>
            <a:r>
              <a:rPr lang="en-US" sz="2800" dirty="0">
                <a:solidFill>
                  <a:srgbClr val="FF0000"/>
                </a:solidFill>
              </a:rPr>
              <a:t>word kinesis, which means "movement," </a:t>
            </a:r>
            <a:r>
              <a:rPr lang="en-US" sz="2800" dirty="0"/>
              <a:t>and refers to the study of hand, arm, body, and face movements. </a:t>
            </a:r>
          </a:p>
        </p:txBody>
      </p:sp>
      <p:sp>
        <p:nvSpPr>
          <p:cNvPr id="5" name="TextBox 4">
            <a:extLst>
              <a:ext uri="{FF2B5EF4-FFF2-40B4-BE49-F238E27FC236}">
                <a16:creationId xmlns:a16="http://schemas.microsoft.com/office/drawing/2014/main" id="{11F50FCB-915C-4DA7-8AFA-6E31DDF0BE23}"/>
              </a:ext>
            </a:extLst>
          </p:cNvPr>
          <p:cNvSpPr txBox="1"/>
          <p:nvPr/>
        </p:nvSpPr>
        <p:spPr>
          <a:xfrm>
            <a:off x="367551" y="1889356"/>
            <a:ext cx="11152096" cy="2492990"/>
          </a:xfrm>
          <a:prstGeom prst="rect">
            <a:avLst/>
          </a:prstGeom>
          <a:noFill/>
        </p:spPr>
        <p:txBody>
          <a:bodyPr wrap="square">
            <a:spAutoFit/>
          </a:bodyPr>
          <a:lstStyle/>
          <a:p>
            <a:pPr marL="0" indent="0">
              <a:buNone/>
            </a:pPr>
            <a:r>
              <a:rPr lang="en-US" sz="3600" b="1" dirty="0">
                <a:solidFill>
                  <a:srgbClr val="7030A0"/>
                </a:solidFill>
              </a:rPr>
              <a:t>Haptics</a:t>
            </a:r>
          </a:p>
          <a:p>
            <a:pPr marL="0" indent="0">
              <a:buNone/>
            </a:pPr>
            <a:r>
              <a:rPr lang="en-US" sz="2400" dirty="0"/>
              <a:t>Means by which people and other animals communicate via touching.</a:t>
            </a:r>
          </a:p>
          <a:p>
            <a:pPr marL="0" indent="0">
              <a:buNone/>
            </a:pPr>
            <a:r>
              <a:rPr lang="en-US" sz="2400" dirty="0">
                <a:solidFill>
                  <a:srgbClr val="009999"/>
                </a:solidFill>
              </a:rPr>
              <a:t>Touch is an extremely important sense for humans; as well as providing information about surfaces and textures it is a component of nonverbal communication in interpersonal relationships, and vital in conveying physical intimacy.</a:t>
            </a:r>
          </a:p>
          <a:p>
            <a:pPr marL="0" indent="0">
              <a:buNone/>
            </a:pPr>
            <a:r>
              <a:rPr lang="en-US" sz="2400" dirty="0">
                <a:solidFill>
                  <a:srgbClr val="7030A0"/>
                </a:solidFill>
              </a:rPr>
              <a:t>Socially acceptable levels of touching varies from one culture to another.</a:t>
            </a:r>
          </a:p>
        </p:txBody>
      </p:sp>
    </p:spTree>
    <p:extLst>
      <p:ext uri="{BB962C8B-B14F-4D97-AF65-F5344CB8AC3E}">
        <p14:creationId xmlns:p14="http://schemas.microsoft.com/office/powerpoint/2010/main" val="20614929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dvantages and Disadvantages of Non-Verbal Communication - Javatpoint">
            <a:extLst>
              <a:ext uri="{FF2B5EF4-FFF2-40B4-BE49-F238E27FC236}">
                <a16:creationId xmlns:a16="http://schemas.microsoft.com/office/drawing/2014/main" id="{5EE6876C-1A75-43FC-91AA-AD8B3879F4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0337" y="2818840"/>
            <a:ext cx="5514374" cy="3779184"/>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pic>
        <p:nvPicPr>
          <p:cNvPr id="3" name="Picture 2" descr="Kinesic communication - definition and meaning - Market Business News">
            <a:extLst>
              <a:ext uri="{FF2B5EF4-FFF2-40B4-BE49-F238E27FC236}">
                <a16:creationId xmlns:a16="http://schemas.microsoft.com/office/drawing/2014/main" id="{7C23DCA4-452D-484B-B5DE-86716D1F31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796" y="182096"/>
            <a:ext cx="5608868" cy="4526336"/>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6125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49499A-85BF-49DC-87FB-25A0340DF5F0}"/>
              </a:ext>
            </a:extLst>
          </p:cNvPr>
          <p:cNvSpPr txBox="1"/>
          <p:nvPr/>
        </p:nvSpPr>
        <p:spPr>
          <a:xfrm>
            <a:off x="349623" y="367570"/>
            <a:ext cx="11681012" cy="1446550"/>
          </a:xfrm>
          <a:prstGeom prst="rect">
            <a:avLst/>
          </a:prstGeom>
          <a:noFill/>
        </p:spPr>
        <p:txBody>
          <a:bodyPr wrap="square">
            <a:spAutoFit/>
          </a:bodyPr>
          <a:lstStyle/>
          <a:p>
            <a:r>
              <a:rPr lang="en-US" sz="4000" b="1" dirty="0">
                <a:solidFill>
                  <a:srgbClr val="7030A0"/>
                </a:solidFill>
              </a:rPr>
              <a:t>Proxemics</a:t>
            </a:r>
            <a:endParaRPr lang="en-US" sz="1600" b="1" dirty="0">
              <a:solidFill>
                <a:srgbClr val="7030A0"/>
              </a:solidFill>
            </a:endParaRPr>
          </a:p>
          <a:p>
            <a:r>
              <a:rPr lang="en-US" sz="2400" dirty="0"/>
              <a:t>Study of how people use and perceive the physical space around them - space between sender and receiver of a message influences how message is interpreted. </a:t>
            </a:r>
            <a:endParaRPr lang="en-IN" sz="2400" dirty="0"/>
          </a:p>
        </p:txBody>
      </p:sp>
      <p:sp>
        <p:nvSpPr>
          <p:cNvPr id="5" name="TextBox 4">
            <a:extLst>
              <a:ext uri="{FF2B5EF4-FFF2-40B4-BE49-F238E27FC236}">
                <a16:creationId xmlns:a16="http://schemas.microsoft.com/office/drawing/2014/main" id="{F0DD8A1F-932F-4E75-AC84-C827EF49D918}"/>
              </a:ext>
            </a:extLst>
          </p:cNvPr>
          <p:cNvSpPr txBox="1"/>
          <p:nvPr/>
        </p:nvSpPr>
        <p:spPr>
          <a:xfrm>
            <a:off x="349623" y="1982450"/>
            <a:ext cx="11474824" cy="1446550"/>
          </a:xfrm>
          <a:prstGeom prst="rect">
            <a:avLst/>
          </a:prstGeom>
          <a:noFill/>
        </p:spPr>
        <p:txBody>
          <a:bodyPr wrap="square">
            <a:spAutoFit/>
          </a:bodyPr>
          <a:lstStyle/>
          <a:p>
            <a:r>
              <a:rPr lang="en-US" sz="4000" b="1" dirty="0">
                <a:solidFill>
                  <a:srgbClr val="7030A0"/>
                </a:solidFill>
              </a:rPr>
              <a:t>Chronemics</a:t>
            </a:r>
          </a:p>
          <a:p>
            <a:r>
              <a:rPr lang="en-US" sz="2400" dirty="0"/>
              <a:t>The way we perceive time, structure our time and react to time is a powerful communication tool, and helps set the stage for the communication process. </a:t>
            </a:r>
          </a:p>
        </p:txBody>
      </p:sp>
      <p:sp>
        <p:nvSpPr>
          <p:cNvPr id="7" name="TextBox 6">
            <a:extLst>
              <a:ext uri="{FF2B5EF4-FFF2-40B4-BE49-F238E27FC236}">
                <a16:creationId xmlns:a16="http://schemas.microsoft.com/office/drawing/2014/main" id="{4D609192-C0BF-4719-9EE1-B3842359E9A7}"/>
              </a:ext>
            </a:extLst>
          </p:cNvPr>
          <p:cNvSpPr txBox="1"/>
          <p:nvPr/>
        </p:nvSpPr>
        <p:spPr>
          <a:xfrm>
            <a:off x="349623" y="3597330"/>
            <a:ext cx="6096000" cy="584775"/>
          </a:xfrm>
          <a:prstGeom prst="rect">
            <a:avLst/>
          </a:prstGeom>
          <a:noFill/>
        </p:spPr>
        <p:txBody>
          <a:bodyPr wrap="square">
            <a:spAutoFit/>
          </a:bodyPr>
          <a:lstStyle/>
          <a:p>
            <a:r>
              <a:rPr lang="en-US" sz="3200" b="1" dirty="0">
                <a:solidFill>
                  <a:srgbClr val="7030A0"/>
                </a:solidFill>
              </a:rPr>
              <a:t>Physical Appearance</a:t>
            </a:r>
            <a:endParaRPr lang="en-IN" sz="3200" b="1" dirty="0">
              <a:solidFill>
                <a:srgbClr val="7030A0"/>
              </a:solidFill>
            </a:endParaRPr>
          </a:p>
        </p:txBody>
      </p:sp>
      <p:sp>
        <p:nvSpPr>
          <p:cNvPr id="9" name="TextBox 8">
            <a:extLst>
              <a:ext uri="{FF2B5EF4-FFF2-40B4-BE49-F238E27FC236}">
                <a16:creationId xmlns:a16="http://schemas.microsoft.com/office/drawing/2014/main" id="{DB810454-71F6-4255-8A38-12A40BAF4D2B}"/>
              </a:ext>
            </a:extLst>
          </p:cNvPr>
          <p:cNvSpPr txBox="1"/>
          <p:nvPr/>
        </p:nvSpPr>
        <p:spPr>
          <a:xfrm>
            <a:off x="349623" y="4164805"/>
            <a:ext cx="11474824" cy="830997"/>
          </a:xfrm>
          <a:prstGeom prst="rect">
            <a:avLst/>
          </a:prstGeom>
          <a:noFill/>
        </p:spPr>
        <p:txBody>
          <a:bodyPr wrap="square">
            <a:spAutoFit/>
          </a:bodyPr>
          <a:lstStyle/>
          <a:p>
            <a:r>
              <a:rPr lang="en-US" sz="2400" dirty="0"/>
              <a:t>Physical appearance includes clothing, ornaments, cosmetics, hairstyle etc. that a person puts together before appearing in public. </a:t>
            </a:r>
          </a:p>
        </p:txBody>
      </p:sp>
    </p:spTree>
    <p:extLst>
      <p:ext uri="{BB962C8B-B14F-4D97-AF65-F5344CB8AC3E}">
        <p14:creationId xmlns:p14="http://schemas.microsoft.com/office/powerpoint/2010/main" val="35713398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73FDD3-A12E-4476-A7B8-20FB1B33CB69}"/>
              </a:ext>
            </a:extLst>
          </p:cNvPr>
          <p:cNvPicPr>
            <a:picLocks noChangeAspect="1"/>
          </p:cNvPicPr>
          <p:nvPr/>
        </p:nvPicPr>
        <p:blipFill>
          <a:blip r:embed="rId2"/>
          <a:stretch>
            <a:fillRect/>
          </a:stretch>
        </p:blipFill>
        <p:spPr>
          <a:xfrm>
            <a:off x="436684" y="304800"/>
            <a:ext cx="5444163" cy="3346346"/>
          </a:xfrm>
          <a:prstGeom prst="rect">
            <a:avLst/>
          </a:prstGeom>
          <a:ln w="38100">
            <a:solidFill>
              <a:schemeClr val="accent1"/>
            </a:solidFill>
          </a:ln>
        </p:spPr>
      </p:pic>
      <p:pic>
        <p:nvPicPr>
          <p:cNvPr id="4100" name="Picture 4" descr="Nonverbal Codes: Chronemics (Time) - YouTube">
            <a:extLst>
              <a:ext uri="{FF2B5EF4-FFF2-40B4-BE49-F238E27FC236}">
                <a16:creationId xmlns:a16="http://schemas.microsoft.com/office/drawing/2014/main" id="{D8464F98-91C7-4D86-BA1A-896472D76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0095" y="1084729"/>
            <a:ext cx="5175222" cy="3583640"/>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EAD6A2D-9FE3-4BC4-8699-54985E80AC7E}"/>
              </a:ext>
            </a:extLst>
          </p:cNvPr>
          <p:cNvSpPr txBox="1"/>
          <p:nvPr/>
        </p:nvSpPr>
        <p:spPr>
          <a:xfrm>
            <a:off x="1111624" y="3898757"/>
            <a:ext cx="2528047" cy="707886"/>
          </a:xfrm>
          <a:prstGeom prst="rect">
            <a:avLst/>
          </a:prstGeom>
          <a:noFill/>
        </p:spPr>
        <p:txBody>
          <a:bodyPr wrap="square">
            <a:spAutoFit/>
          </a:bodyPr>
          <a:lstStyle/>
          <a:p>
            <a:r>
              <a:rPr lang="en-US" sz="4000" b="1" dirty="0">
                <a:solidFill>
                  <a:srgbClr val="7030A0"/>
                </a:solidFill>
              </a:rPr>
              <a:t>Proxemics</a:t>
            </a:r>
            <a:endParaRPr lang="en-US" sz="1600" b="1" dirty="0">
              <a:solidFill>
                <a:srgbClr val="7030A0"/>
              </a:solidFill>
            </a:endParaRPr>
          </a:p>
        </p:txBody>
      </p:sp>
      <p:sp>
        <p:nvSpPr>
          <p:cNvPr id="8" name="TextBox 7">
            <a:extLst>
              <a:ext uri="{FF2B5EF4-FFF2-40B4-BE49-F238E27FC236}">
                <a16:creationId xmlns:a16="http://schemas.microsoft.com/office/drawing/2014/main" id="{E81F7D20-C326-49D6-97D7-3994FE7B1956}"/>
              </a:ext>
            </a:extLst>
          </p:cNvPr>
          <p:cNvSpPr txBox="1"/>
          <p:nvPr/>
        </p:nvSpPr>
        <p:spPr>
          <a:xfrm>
            <a:off x="8444753" y="4831087"/>
            <a:ext cx="2581835" cy="646331"/>
          </a:xfrm>
          <a:prstGeom prst="rect">
            <a:avLst/>
          </a:prstGeom>
          <a:noFill/>
        </p:spPr>
        <p:txBody>
          <a:bodyPr wrap="square">
            <a:spAutoFit/>
          </a:bodyPr>
          <a:lstStyle/>
          <a:p>
            <a:r>
              <a:rPr lang="en-US" sz="3600" b="1" dirty="0">
                <a:solidFill>
                  <a:srgbClr val="7030A0"/>
                </a:solidFill>
              </a:rPr>
              <a:t>Chronemics</a:t>
            </a:r>
          </a:p>
        </p:txBody>
      </p:sp>
    </p:spTree>
    <p:extLst>
      <p:ext uri="{BB962C8B-B14F-4D97-AF65-F5344CB8AC3E}">
        <p14:creationId xmlns:p14="http://schemas.microsoft.com/office/powerpoint/2010/main" val="29354976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4467A5-F8D8-42E9-99B7-E4F3412EAD64}"/>
              </a:ext>
            </a:extLst>
          </p:cNvPr>
          <p:cNvSpPr txBox="1"/>
          <p:nvPr/>
        </p:nvSpPr>
        <p:spPr>
          <a:xfrm>
            <a:off x="394446" y="85636"/>
            <a:ext cx="11519647" cy="1692771"/>
          </a:xfrm>
          <a:prstGeom prst="rect">
            <a:avLst/>
          </a:prstGeom>
          <a:noFill/>
        </p:spPr>
        <p:txBody>
          <a:bodyPr wrap="square">
            <a:spAutoFit/>
          </a:bodyPr>
          <a:lstStyle/>
          <a:p>
            <a:r>
              <a:rPr lang="en-US" sz="3200" b="1" dirty="0">
                <a:solidFill>
                  <a:srgbClr val="7030A0"/>
                </a:solidFill>
              </a:rPr>
              <a:t>iconics</a:t>
            </a:r>
          </a:p>
          <a:p>
            <a:r>
              <a:rPr lang="en-US" sz="2400" dirty="0"/>
              <a:t>The meaning of an icon is being extracted immediately, because it is a 100% visual method in sending the information, and usually, this way of communication, the visual one, is the most developed one in the human being. </a:t>
            </a:r>
          </a:p>
        </p:txBody>
      </p:sp>
      <p:sp>
        <p:nvSpPr>
          <p:cNvPr id="5" name="TextBox 4">
            <a:extLst>
              <a:ext uri="{FF2B5EF4-FFF2-40B4-BE49-F238E27FC236}">
                <a16:creationId xmlns:a16="http://schemas.microsoft.com/office/drawing/2014/main" id="{D70ED002-B2D0-4B9B-B95F-FA22CD9ECF90}"/>
              </a:ext>
            </a:extLst>
          </p:cNvPr>
          <p:cNvSpPr txBox="1"/>
          <p:nvPr/>
        </p:nvSpPr>
        <p:spPr>
          <a:xfrm>
            <a:off x="394446" y="2052028"/>
            <a:ext cx="6096000" cy="584775"/>
          </a:xfrm>
          <a:prstGeom prst="rect">
            <a:avLst/>
          </a:prstGeom>
          <a:noFill/>
        </p:spPr>
        <p:txBody>
          <a:bodyPr wrap="square">
            <a:spAutoFit/>
          </a:bodyPr>
          <a:lstStyle/>
          <a:p>
            <a:r>
              <a:rPr lang="en-IN" sz="3200" b="1" dirty="0">
                <a:solidFill>
                  <a:srgbClr val="7030A0"/>
                </a:solidFill>
              </a:rPr>
              <a:t>Para linguistic</a:t>
            </a:r>
          </a:p>
        </p:txBody>
      </p:sp>
      <p:sp>
        <p:nvSpPr>
          <p:cNvPr id="7" name="TextBox 6">
            <a:extLst>
              <a:ext uri="{FF2B5EF4-FFF2-40B4-BE49-F238E27FC236}">
                <a16:creationId xmlns:a16="http://schemas.microsoft.com/office/drawing/2014/main" id="{2B4A3819-F83E-4150-9F12-E63920D230B4}"/>
              </a:ext>
            </a:extLst>
          </p:cNvPr>
          <p:cNvSpPr txBox="1"/>
          <p:nvPr/>
        </p:nvSpPr>
        <p:spPr>
          <a:xfrm>
            <a:off x="394446" y="2910424"/>
            <a:ext cx="11241742" cy="830997"/>
          </a:xfrm>
          <a:prstGeom prst="rect">
            <a:avLst/>
          </a:prstGeom>
          <a:noFill/>
        </p:spPr>
        <p:txBody>
          <a:bodyPr wrap="square">
            <a:spAutoFit/>
          </a:bodyPr>
          <a:lstStyle/>
          <a:p>
            <a:r>
              <a:rPr lang="en-US" sz="2400" dirty="0"/>
              <a:t>It is concerned with the sound of the voice and the range of meanings that people convey through their voices rather than the words they use.</a:t>
            </a:r>
            <a:endParaRPr lang="en-IN" sz="2400" dirty="0"/>
          </a:p>
        </p:txBody>
      </p:sp>
      <p:pic>
        <p:nvPicPr>
          <p:cNvPr id="5122" name="Picture 2" descr="A Simple Guide to Non Verbal Communication - HubPages">
            <a:extLst>
              <a:ext uri="{FF2B5EF4-FFF2-40B4-BE49-F238E27FC236}">
                <a16:creationId xmlns:a16="http://schemas.microsoft.com/office/drawing/2014/main" id="{840021CD-6EA7-4C01-ACD0-73FC9DFD81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34849" y="3977625"/>
            <a:ext cx="4108916" cy="2653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6472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DEBE4198-1957-47B5-B049-9D90FF4704C8}"/>
              </a:ext>
            </a:extLst>
          </p:cNvPr>
          <p:cNvSpPr txBox="1">
            <a:spLocks/>
          </p:cNvSpPr>
          <p:nvPr/>
        </p:nvSpPr>
        <p:spPr>
          <a:xfrm>
            <a:off x="340659" y="2338015"/>
            <a:ext cx="11698941"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8800" b="1" dirty="0"/>
              <a:t>THANK YOU !!!!</a:t>
            </a:r>
          </a:p>
        </p:txBody>
      </p:sp>
    </p:spTree>
    <p:extLst>
      <p:ext uri="{BB962C8B-B14F-4D97-AF65-F5344CB8AC3E}">
        <p14:creationId xmlns:p14="http://schemas.microsoft.com/office/powerpoint/2010/main" val="928845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8E95D8DF3D1D45B54B2575A4373081" ma:contentTypeVersion="9" ma:contentTypeDescription="Create a new document." ma:contentTypeScope="" ma:versionID="cc6bf1427dee658de695cd230fb5496a">
  <xsd:schema xmlns:xsd="http://www.w3.org/2001/XMLSchema" xmlns:xs="http://www.w3.org/2001/XMLSchema" xmlns:p="http://schemas.microsoft.com/office/2006/metadata/properties" xmlns:ns2="6d5c43cc-8ab8-41a2-aa9e-1ca49e674800" xmlns:ns3="c848f146-79ae-4c3a-91bf-88192026bf06" targetNamespace="http://schemas.microsoft.com/office/2006/metadata/properties" ma:root="true" ma:fieldsID="271e1e6b9e41857934b5961dd78e370f" ns2:_="" ns3:_="">
    <xsd:import namespace="6d5c43cc-8ab8-41a2-aa9e-1ca49e674800"/>
    <xsd:import namespace="c848f146-79ae-4c3a-91bf-88192026bf0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5c43cc-8ab8-41a2-aa9e-1ca49e6748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765a431-9415-4219-9cd0-5363948861b2"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48f146-79ae-4c3a-91bf-88192026bf06"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3f2783a4-9b8f-4977-af47-40c79445c8c3}" ma:internalName="TaxCatchAll" ma:showField="CatchAllData" ma:web="c848f146-79ae-4c3a-91bf-88192026bf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848f146-79ae-4c3a-91bf-88192026bf06" xsi:nil="true"/>
    <lcf76f155ced4ddcb4097134ff3c332f xmlns="6d5c43cc-8ab8-41a2-aa9e-1ca49e67480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005A20C-3B3E-4BAC-9045-F3B6F106E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5c43cc-8ab8-41a2-aa9e-1ca49e674800"/>
    <ds:schemaRef ds:uri="c848f146-79ae-4c3a-91bf-88192026bf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DD4699-1D71-4587-8AAE-7E0EDC5762FD}">
  <ds:schemaRefs>
    <ds:schemaRef ds:uri="http://schemas.microsoft.com/sharepoint/v3/contenttype/forms"/>
  </ds:schemaRefs>
</ds:datastoreItem>
</file>

<file path=customXml/itemProps3.xml><?xml version="1.0" encoding="utf-8"?>
<ds:datastoreItem xmlns:ds="http://schemas.openxmlformats.org/officeDocument/2006/customXml" ds:itemID="{0A3EB9E9-F5FD-4774-AA15-84A7F4FCD523}">
  <ds:schemaRefs>
    <ds:schemaRef ds:uri="http://purl.org/dc/terms/"/>
    <ds:schemaRef ds:uri="http://schemas.microsoft.com/office/infopath/2007/PartnerControls"/>
    <ds:schemaRef ds:uri="http://schemas.microsoft.com/office/2006/documentManagement/types"/>
    <ds:schemaRef ds:uri="http://schemas.microsoft.com/office/2006/metadata/properties"/>
    <ds:schemaRef ds:uri="http://schemas.openxmlformats.org/package/2006/metadata/core-properties"/>
    <ds:schemaRef ds:uri="http://purl.org/dc/dcmitype/"/>
    <ds:schemaRef ds:uri="http://purl.org/dc/elements/1.1/"/>
    <ds:schemaRef ds:uri="c848f146-79ae-4c3a-91bf-88192026bf06"/>
    <ds:schemaRef ds:uri="6d5c43cc-8ab8-41a2-aa9e-1ca49e67480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1274</TotalTime>
  <Words>2649</Words>
  <Application>Microsoft Office PowerPoint</Application>
  <PresentationFormat>Widescreen</PresentationFormat>
  <Paragraphs>250</Paragraphs>
  <Slides>58</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-apple-system</vt:lpstr>
      <vt:lpstr>Arial</vt:lpstr>
      <vt:lpstr>Calibri</vt:lpstr>
      <vt:lpstr>Calibri Light</vt:lpstr>
      <vt:lpstr>IBM Plex Sans</vt:lpstr>
      <vt:lpstr>inherit</vt:lpstr>
      <vt:lpstr>Nunito Sans</vt:lpstr>
      <vt:lpstr>Ubuntu</vt:lpstr>
      <vt:lpstr>ui-sans-serif</vt:lpstr>
      <vt:lpstr>Office Theme</vt:lpstr>
      <vt:lpstr>Unit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Elements Of Non Verbal Communication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dc:title>
  <dc:creator>Geetha Unnikrishnan</dc:creator>
  <cp:lastModifiedBy>Radhika Patwardhan</cp:lastModifiedBy>
  <cp:revision>117</cp:revision>
  <dcterms:created xsi:type="dcterms:W3CDTF">2021-09-01T05:08:26Z</dcterms:created>
  <dcterms:modified xsi:type="dcterms:W3CDTF">2025-09-03T06:34:52Z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0x0101001B8E95D8DF3D1D45B54B2575A4373081</vt:lpwstr>
  </property>
</Properties>
</file>