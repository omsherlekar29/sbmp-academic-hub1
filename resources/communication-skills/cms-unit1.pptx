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95" r:id="rId6"/>
    <p:sldId id="297" r:id="rId7"/>
    <p:sldId id="296" r:id="rId8"/>
    <p:sldId id="298" r:id="rId9"/>
    <p:sldId id="299" r:id="rId10"/>
    <p:sldId id="257" r:id="rId11"/>
    <p:sldId id="258" r:id="rId12"/>
    <p:sldId id="259" r:id="rId13"/>
    <p:sldId id="260" r:id="rId14"/>
    <p:sldId id="262" r:id="rId15"/>
    <p:sldId id="263" r:id="rId16"/>
    <p:sldId id="300" r:id="rId17"/>
    <p:sldId id="309" r:id="rId18"/>
    <p:sldId id="307" r:id="rId19"/>
    <p:sldId id="308" r:id="rId20"/>
    <p:sldId id="265" r:id="rId21"/>
    <p:sldId id="301" r:id="rId22"/>
    <p:sldId id="322" r:id="rId23"/>
    <p:sldId id="302" r:id="rId24"/>
    <p:sldId id="303" r:id="rId25"/>
    <p:sldId id="304" r:id="rId26"/>
    <p:sldId id="305" r:id="rId27"/>
    <p:sldId id="306" r:id="rId28"/>
    <p:sldId id="310" r:id="rId29"/>
    <p:sldId id="313" r:id="rId30"/>
    <p:sldId id="314" r:id="rId31"/>
    <p:sldId id="320" r:id="rId32"/>
    <p:sldId id="315" r:id="rId33"/>
    <p:sldId id="316" r:id="rId34"/>
    <p:sldId id="321" r:id="rId35"/>
    <p:sldId id="317" r:id="rId36"/>
    <p:sldId id="318" r:id="rId37"/>
    <p:sldId id="319" r:id="rId38"/>
    <p:sldId id="311"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7EFA074-0CD1-49C7-8F51-A2D49589A2CD}"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1567393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7EFA074-0CD1-49C7-8F51-A2D49589A2CD}"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4187624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EFA074-0CD1-49C7-8F51-A2D49589A2CD}"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1232238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7EFA074-0CD1-49C7-8F51-A2D49589A2CD}" type="datetimeFigureOut">
              <a:rPr lang="en-IN" smtClean="0"/>
              <a:t>29-08-2025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497556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7EFA074-0CD1-49C7-8F51-A2D49589A2CD}" type="datetimeFigureOut">
              <a:rPr lang="en-IN" smtClean="0"/>
              <a:t>29-08-2025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2297872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7EFA074-0CD1-49C7-8F51-A2D49589A2CD}" type="datetimeFigureOut">
              <a:rPr lang="en-IN" smtClean="0"/>
              <a:t>29-08-2025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3371340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EFA074-0CD1-49C7-8F51-A2D49589A2CD}" type="datetimeFigureOut">
              <a:rPr lang="en-IN" smtClean="0"/>
              <a:t>29-08-2025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1650458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FA074-0CD1-49C7-8F51-A2D49589A2CD}" type="datetimeFigureOut">
              <a:rPr lang="en-IN" smtClean="0"/>
              <a:t>29-08-2025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1018199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FA074-0CD1-49C7-8F51-A2D49589A2CD}" type="datetimeFigureOut">
              <a:rPr lang="en-IN" smtClean="0"/>
              <a:t>29-08-2025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4019389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7EFA074-0CD1-49C7-8F51-A2D49589A2CD}"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2755190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7EFA074-0CD1-49C7-8F51-A2D49589A2CD}"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1062756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EFA074-0CD1-49C7-8F51-A2D49589A2CD}" type="datetimeFigureOut">
              <a:rPr lang="en-IN" smtClean="0"/>
              <a:t>29-08-2025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5BB6C0-72FB-4358-9C85-DFA9576D1D37}" type="slidenum">
              <a:rPr lang="en-IN" smtClean="0"/>
              <a:t>‹#›</a:t>
            </a:fld>
            <a:endParaRPr lang="en-IN"/>
          </a:p>
        </p:txBody>
      </p:sp>
    </p:spTree>
    <p:extLst>
      <p:ext uri="{BB962C8B-B14F-4D97-AF65-F5344CB8AC3E}">
        <p14:creationId xmlns:p14="http://schemas.microsoft.com/office/powerpoint/2010/main" val="3294524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9600" b="1" dirty="0"/>
              <a:t>Unit1</a:t>
            </a:r>
          </a:p>
        </p:txBody>
      </p:sp>
      <p:sp>
        <p:nvSpPr>
          <p:cNvPr id="3" name="Subtitle 2"/>
          <p:cNvSpPr>
            <a:spLocks noGrp="1"/>
          </p:cNvSpPr>
          <p:nvPr>
            <p:ph type="subTitle" idx="1"/>
          </p:nvPr>
        </p:nvSpPr>
        <p:spPr/>
        <p:txBody>
          <a:bodyPr>
            <a:normAutofit/>
          </a:bodyPr>
          <a:lstStyle/>
          <a:p>
            <a:r>
              <a:rPr lang="en-IN" sz="4000" b="1" dirty="0"/>
              <a:t>Basics Of Communication</a:t>
            </a:r>
          </a:p>
        </p:txBody>
      </p:sp>
      <p:sp>
        <p:nvSpPr>
          <p:cNvPr id="4" name="Subtitle 2">
            <a:extLst>
              <a:ext uri="{FF2B5EF4-FFF2-40B4-BE49-F238E27FC236}">
                <a16:creationId xmlns:a16="http://schemas.microsoft.com/office/drawing/2014/main" id="{A25AB219-B119-4DAE-9527-8FDEE14BFFFB}"/>
              </a:ext>
            </a:extLst>
          </p:cNvPr>
          <p:cNvSpPr txBox="1">
            <a:spLocks/>
          </p:cNvSpPr>
          <p:nvPr/>
        </p:nvSpPr>
        <p:spPr>
          <a:xfrm>
            <a:off x="9350188" y="5203592"/>
            <a:ext cx="2635624" cy="1655762"/>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4000" b="1" dirty="0">
                <a:solidFill>
                  <a:srgbClr val="FF0000"/>
                </a:solidFill>
              </a:rPr>
              <a:t>Pratik Shah</a:t>
            </a:r>
          </a:p>
          <a:p>
            <a:r>
              <a:rPr lang="en-IN" sz="4000" b="1" dirty="0">
                <a:solidFill>
                  <a:srgbClr val="FF0000"/>
                </a:solidFill>
              </a:rPr>
              <a:t>I – A</a:t>
            </a:r>
          </a:p>
          <a:p>
            <a:r>
              <a:rPr lang="en-IN" sz="4000" b="1" dirty="0">
                <a:solidFill>
                  <a:srgbClr val="FF0000"/>
                </a:solidFill>
              </a:rPr>
              <a:t>2024-2025</a:t>
            </a:r>
          </a:p>
        </p:txBody>
      </p:sp>
    </p:spTree>
    <p:extLst>
      <p:ext uri="{BB962C8B-B14F-4D97-AF65-F5344CB8AC3E}">
        <p14:creationId xmlns:p14="http://schemas.microsoft.com/office/powerpoint/2010/main" val="1694778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D1BD4E-E6F1-49FC-8B33-3BB582B982EE}"/>
              </a:ext>
            </a:extLst>
          </p:cNvPr>
          <p:cNvPicPr>
            <a:picLocks noChangeAspect="1"/>
          </p:cNvPicPr>
          <p:nvPr/>
        </p:nvPicPr>
        <p:blipFill>
          <a:blip r:embed="rId2"/>
          <a:stretch>
            <a:fillRect/>
          </a:stretch>
        </p:blipFill>
        <p:spPr>
          <a:xfrm>
            <a:off x="637020" y="900825"/>
            <a:ext cx="10808389" cy="3680140"/>
          </a:xfrm>
          <a:prstGeom prst="rect">
            <a:avLst/>
          </a:prstGeom>
        </p:spPr>
      </p:pic>
    </p:spTree>
    <p:extLst>
      <p:ext uri="{BB962C8B-B14F-4D97-AF65-F5344CB8AC3E}">
        <p14:creationId xmlns:p14="http://schemas.microsoft.com/office/powerpoint/2010/main" val="2479234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C28B41AA-2BE0-4C14-B3FF-787FC8F789AA}"/>
              </a:ext>
            </a:extLst>
          </p:cNvPr>
          <p:cNvSpPr txBox="1">
            <a:spLocks/>
          </p:cNvSpPr>
          <p:nvPr/>
        </p:nvSpPr>
        <p:spPr>
          <a:xfrm>
            <a:off x="340659" y="2338015"/>
            <a:ext cx="11698941" cy="165576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4800" b="1" dirty="0"/>
              <a:t>1.1</a:t>
            </a:r>
          </a:p>
          <a:p>
            <a:pPr marL="0" indent="0">
              <a:buNone/>
            </a:pPr>
            <a:r>
              <a:rPr lang="en-IN" sz="4800" b="1" dirty="0"/>
              <a:t> Nature &amp; Definition of Communication skills</a:t>
            </a:r>
          </a:p>
        </p:txBody>
      </p:sp>
    </p:spTree>
    <p:extLst>
      <p:ext uri="{BB962C8B-B14F-4D97-AF65-F5344CB8AC3E}">
        <p14:creationId xmlns:p14="http://schemas.microsoft.com/office/powerpoint/2010/main" val="272427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0B218F-2A19-492B-A19F-F358768A288F}"/>
              </a:ext>
            </a:extLst>
          </p:cNvPr>
          <p:cNvSpPr txBox="1"/>
          <p:nvPr/>
        </p:nvSpPr>
        <p:spPr>
          <a:xfrm>
            <a:off x="80682" y="125227"/>
            <a:ext cx="11519647" cy="5816977"/>
          </a:xfrm>
          <a:prstGeom prst="rect">
            <a:avLst/>
          </a:prstGeom>
          <a:noFill/>
        </p:spPr>
        <p:txBody>
          <a:bodyPr wrap="square">
            <a:spAutoFit/>
          </a:bodyPr>
          <a:lstStyle/>
          <a:p>
            <a:pPr algn="ctr"/>
            <a:r>
              <a:rPr lang="en-US" sz="3600" b="1" dirty="0">
                <a:solidFill>
                  <a:srgbClr val="FF0000"/>
                </a:solidFill>
              </a:rPr>
              <a:t>Communication: </a:t>
            </a:r>
          </a:p>
          <a:p>
            <a:pPr marL="285750" indent="-285750">
              <a:buFont typeface="Arial" panose="020B0604020202020204" pitchFamily="34" charset="0"/>
              <a:buChar char="•"/>
            </a:pPr>
            <a:r>
              <a:rPr lang="en-US" sz="2400" dirty="0"/>
              <a:t>The word </a:t>
            </a:r>
            <a:r>
              <a:rPr lang="en-US" sz="2400" b="1" dirty="0">
                <a:solidFill>
                  <a:srgbClr val="FF0000"/>
                </a:solidFill>
              </a:rPr>
              <a:t>communication </a:t>
            </a:r>
            <a:r>
              <a:rPr lang="en-US" sz="2400" dirty="0"/>
              <a:t>originates from the </a:t>
            </a:r>
            <a:r>
              <a:rPr lang="en-US" sz="2400" dirty="0" err="1" smtClean="0"/>
              <a:t>latin</a:t>
            </a:r>
            <a:r>
              <a:rPr lang="en-US" sz="2400" dirty="0" smtClean="0"/>
              <a:t> word </a:t>
            </a:r>
            <a:r>
              <a:rPr lang="en-US" sz="2400" b="1" dirty="0">
                <a:solidFill>
                  <a:srgbClr val="FF0000"/>
                </a:solidFill>
              </a:rPr>
              <a:t>"communis" </a:t>
            </a:r>
            <a:r>
              <a:rPr lang="en-US" sz="2400" dirty="0"/>
              <a:t>which means common. </a:t>
            </a:r>
          </a:p>
          <a:p>
            <a:pPr marL="285750" indent="-285750">
              <a:buFont typeface="Arial" panose="020B0604020202020204" pitchFamily="34" charset="0"/>
              <a:buChar char="•"/>
            </a:pPr>
            <a:r>
              <a:rPr lang="en-US" sz="2400" dirty="0"/>
              <a:t>So communication is an act by which </a:t>
            </a:r>
            <a:r>
              <a:rPr lang="en-US" sz="2400" b="1" dirty="0">
                <a:solidFill>
                  <a:srgbClr val="FF0000"/>
                </a:solidFill>
              </a:rPr>
              <a:t>two or more people share knowledge, feelings, ideas, information</a:t>
            </a:r>
            <a:r>
              <a:rPr lang="en-US" sz="2400" dirty="0"/>
              <a:t>, etc, in ways such that each gains a common understanding of the meaning, intent and use of the message. </a:t>
            </a:r>
          </a:p>
          <a:p>
            <a:pPr marL="285750" indent="-285750">
              <a:buFont typeface="Arial" panose="020B0604020202020204" pitchFamily="34" charset="0"/>
              <a:buChar char="•"/>
            </a:pPr>
            <a:r>
              <a:rPr lang="en-US" sz="2400" dirty="0"/>
              <a:t>It is very difficult and sometimes impossible to establish commonness because it is not important what we give but what one receives and perceives is important.</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smtClean="0"/>
              <a:t>In </a:t>
            </a:r>
            <a:r>
              <a:rPr lang="en-US" sz="2400" dirty="0"/>
              <a:t>a broad sense, </a:t>
            </a:r>
            <a:r>
              <a:rPr lang="en-US" sz="2400" b="1" dirty="0">
                <a:solidFill>
                  <a:srgbClr val="0070C0"/>
                </a:solidFill>
              </a:rPr>
              <a:t>communication means transmission of ideas, information, emotions and skills by use of symbols, words, pictures, figures, graphs, etc. </a:t>
            </a:r>
          </a:p>
          <a:p>
            <a:pPr marL="285750" indent="-285750">
              <a:buFont typeface="Arial" panose="020B0604020202020204" pitchFamily="34" charset="0"/>
              <a:buChar char="•"/>
            </a:pPr>
            <a:endParaRPr lang="en-US" sz="2400" b="1" dirty="0">
              <a:solidFill>
                <a:srgbClr val="0070C0"/>
              </a:solidFill>
            </a:endParaRPr>
          </a:p>
          <a:p>
            <a:pPr marL="285750" indent="-285750">
              <a:buFont typeface="Arial" panose="020B0604020202020204" pitchFamily="34" charset="0"/>
              <a:buChar char="•"/>
            </a:pPr>
            <a:r>
              <a:rPr lang="en-US" sz="2400" b="1" dirty="0"/>
              <a:t>For example</a:t>
            </a:r>
            <a:r>
              <a:rPr lang="en-US" sz="2400" dirty="0"/>
              <a:t>, </a:t>
            </a:r>
            <a:r>
              <a:rPr lang="en-US" sz="2400" b="1" dirty="0">
                <a:solidFill>
                  <a:srgbClr val="FF0000"/>
                </a:solidFill>
              </a:rPr>
              <a:t>ringing of an alarm clock communicates to us that we </a:t>
            </a:r>
            <a:r>
              <a:rPr lang="en-US" sz="2400" b="1" dirty="0" smtClean="0">
                <a:solidFill>
                  <a:srgbClr val="FF0000"/>
                </a:solidFill>
              </a:rPr>
              <a:t>have </a:t>
            </a:r>
            <a:r>
              <a:rPr lang="en-US" sz="2400" b="1" dirty="0">
                <a:solidFill>
                  <a:srgbClr val="FF0000"/>
                </a:solidFill>
              </a:rPr>
              <a:t>to get up</a:t>
            </a:r>
            <a:r>
              <a:rPr lang="en-US" sz="2400" dirty="0"/>
              <a:t>, the touch of a pot whether hot or cold, communicates to us whether it can be handled or not, the sense of smell communicates knowledge of aroma to the sensory organs</a:t>
            </a:r>
            <a:endParaRPr lang="en-IN" sz="2400" dirty="0"/>
          </a:p>
        </p:txBody>
      </p:sp>
    </p:spTree>
    <p:extLst>
      <p:ext uri="{BB962C8B-B14F-4D97-AF65-F5344CB8AC3E}">
        <p14:creationId xmlns:p14="http://schemas.microsoft.com/office/powerpoint/2010/main" val="4119366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AE96BB-9F55-42F3-BD2B-BF78138B8BBD}"/>
              </a:ext>
            </a:extLst>
          </p:cNvPr>
          <p:cNvSpPr txBox="1"/>
          <p:nvPr/>
        </p:nvSpPr>
        <p:spPr>
          <a:xfrm>
            <a:off x="376518" y="249721"/>
            <a:ext cx="11707906" cy="6001643"/>
          </a:xfrm>
          <a:prstGeom prst="rect">
            <a:avLst/>
          </a:prstGeom>
          <a:noFill/>
        </p:spPr>
        <p:txBody>
          <a:bodyPr wrap="square">
            <a:spAutoFit/>
          </a:bodyPr>
          <a:lstStyle/>
          <a:p>
            <a:pPr algn="ctr"/>
            <a:r>
              <a:rPr lang="en-US" sz="3200" b="1" dirty="0"/>
              <a:t>Nature/ Features of Communication</a:t>
            </a:r>
          </a:p>
          <a:p>
            <a:pPr marL="285750" indent="-285750">
              <a:buFont typeface="Arial" panose="020B0604020202020204" pitchFamily="34" charset="0"/>
              <a:buChar char="•"/>
            </a:pPr>
            <a:r>
              <a:rPr lang="en-US" sz="3200" dirty="0"/>
              <a:t>Communication is the process through which an </a:t>
            </a:r>
            <a:r>
              <a:rPr lang="en-US" sz="3200" b="1" dirty="0">
                <a:solidFill>
                  <a:schemeClr val="accent1">
                    <a:lumMod val="75000"/>
                  </a:schemeClr>
                </a:solidFill>
              </a:rPr>
              <a:t>exchange of information takes place.</a:t>
            </a:r>
          </a:p>
          <a:p>
            <a:pPr marL="285750" indent="-285750">
              <a:buFont typeface="Arial" panose="020B0604020202020204" pitchFamily="34" charset="0"/>
              <a:buChar char="•"/>
            </a:pPr>
            <a:endParaRPr lang="en-US" sz="3200" b="1" dirty="0">
              <a:solidFill>
                <a:schemeClr val="accent1">
                  <a:lumMod val="75000"/>
                </a:schemeClr>
              </a:solidFill>
            </a:endParaRPr>
          </a:p>
          <a:p>
            <a:pPr marL="285750" indent="-285750">
              <a:buFont typeface="Arial" panose="020B0604020202020204" pitchFamily="34" charset="0"/>
              <a:buChar char="•"/>
            </a:pPr>
            <a:r>
              <a:rPr lang="en-US" sz="3200" dirty="0"/>
              <a:t>It is the </a:t>
            </a:r>
            <a:r>
              <a:rPr lang="en-US" sz="3200" b="1" dirty="0">
                <a:solidFill>
                  <a:srgbClr val="C00000"/>
                </a:solidFill>
              </a:rPr>
              <a:t>sharing information, ideas, concepts and messages where Two or more persons </a:t>
            </a:r>
            <a:r>
              <a:rPr lang="en-US" sz="3200" dirty="0"/>
              <a:t>are involved in it. </a:t>
            </a:r>
          </a:p>
          <a:p>
            <a:pPr marL="285750" indent="-285750">
              <a:buFont typeface="Arial" panose="020B0604020202020204" pitchFamily="34" charset="0"/>
              <a:buChar char="•"/>
            </a:pPr>
            <a:endParaRPr lang="en-US" sz="3200" dirty="0"/>
          </a:p>
          <a:p>
            <a:pPr marL="285750" indent="-285750">
              <a:buFont typeface="Arial" panose="020B0604020202020204" pitchFamily="34" charset="0"/>
              <a:buChar char="•"/>
            </a:pPr>
            <a:r>
              <a:rPr lang="en-US" sz="3200" dirty="0"/>
              <a:t>The one who initiates the exchange is the </a:t>
            </a:r>
            <a:r>
              <a:rPr lang="en-US" sz="3200" b="1" dirty="0">
                <a:solidFill>
                  <a:srgbClr val="00B050"/>
                </a:solidFill>
              </a:rPr>
              <a:t>sender</a:t>
            </a:r>
            <a:r>
              <a:rPr lang="en-US" sz="3200" dirty="0"/>
              <a:t> of the message (speaker/ writer) and the one who receives and interprets it is the </a:t>
            </a:r>
            <a:r>
              <a:rPr lang="en-US" sz="3200" b="1" dirty="0">
                <a:solidFill>
                  <a:srgbClr val="00B050"/>
                </a:solidFill>
              </a:rPr>
              <a:t>receiver</a:t>
            </a:r>
            <a:r>
              <a:rPr lang="en-US" sz="3200" dirty="0"/>
              <a:t> of the message (listener/ reader). </a:t>
            </a:r>
          </a:p>
          <a:p>
            <a:pPr marL="285750" indent="-285750">
              <a:buFont typeface="Arial" panose="020B0604020202020204" pitchFamily="34" charset="0"/>
              <a:buChar char="•"/>
            </a:pPr>
            <a:endParaRPr lang="en-US" sz="3200" dirty="0"/>
          </a:p>
          <a:p>
            <a:pPr marL="285750" indent="-285750">
              <a:buFont typeface="Arial" panose="020B0604020202020204" pitchFamily="34" charset="0"/>
              <a:buChar char="•"/>
            </a:pPr>
            <a:r>
              <a:rPr lang="en-US" sz="3200" b="1" dirty="0">
                <a:solidFill>
                  <a:srgbClr val="FF0000"/>
                </a:solidFill>
              </a:rPr>
              <a:t>It is a two-way process.</a:t>
            </a:r>
            <a:endParaRPr lang="en-IN" sz="3200" b="1" dirty="0">
              <a:solidFill>
                <a:srgbClr val="FF0000"/>
              </a:solidFill>
            </a:endParaRPr>
          </a:p>
        </p:txBody>
      </p:sp>
    </p:spTree>
    <p:extLst>
      <p:ext uri="{BB962C8B-B14F-4D97-AF65-F5344CB8AC3E}">
        <p14:creationId xmlns:p14="http://schemas.microsoft.com/office/powerpoint/2010/main" val="4199398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C28B41AA-2BE0-4C14-B3FF-787FC8F789AA}"/>
              </a:ext>
            </a:extLst>
          </p:cNvPr>
          <p:cNvSpPr txBox="1">
            <a:spLocks/>
          </p:cNvSpPr>
          <p:nvPr/>
        </p:nvSpPr>
        <p:spPr>
          <a:xfrm>
            <a:off x="340659" y="2338015"/>
            <a:ext cx="11698941" cy="165576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4800" b="1" dirty="0"/>
              <a:t>1.2</a:t>
            </a:r>
          </a:p>
          <a:p>
            <a:pPr marL="0" indent="0" algn="ctr">
              <a:buNone/>
            </a:pPr>
            <a:r>
              <a:rPr lang="en-IN" sz="4800" b="1" dirty="0"/>
              <a:t> Process/Cycle of Communication</a:t>
            </a:r>
          </a:p>
        </p:txBody>
      </p:sp>
    </p:spTree>
    <p:extLst>
      <p:ext uri="{BB962C8B-B14F-4D97-AF65-F5344CB8AC3E}">
        <p14:creationId xmlns:p14="http://schemas.microsoft.com/office/powerpoint/2010/main" val="1336546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141"/>
            <a:ext cx="10515600" cy="778647"/>
          </a:xfrm>
        </p:spPr>
        <p:txBody>
          <a:bodyPr/>
          <a:lstStyle/>
          <a:p>
            <a:pPr algn="ctr"/>
            <a:r>
              <a:rPr lang="en-IN" dirty="0"/>
              <a:t>	</a:t>
            </a:r>
            <a:r>
              <a:rPr lang="en-IN" b="1" dirty="0">
                <a:solidFill>
                  <a:srgbClr val="FF0000"/>
                </a:solidFill>
              </a:rPr>
              <a:t> Communication Cycle</a:t>
            </a:r>
          </a:p>
        </p:txBody>
      </p:sp>
      <p:pic>
        <p:nvPicPr>
          <p:cNvPr id="4" name="Picture 3"/>
          <p:cNvPicPr>
            <a:picLocks noChangeAspect="1"/>
          </p:cNvPicPr>
          <p:nvPr/>
        </p:nvPicPr>
        <p:blipFill rotWithShape="1">
          <a:blip r:embed="rId2"/>
          <a:srcRect t="21430"/>
          <a:stretch/>
        </p:blipFill>
        <p:spPr>
          <a:xfrm>
            <a:off x="1305006" y="1103941"/>
            <a:ext cx="9829158" cy="5535311"/>
          </a:xfrm>
          <a:prstGeom prst="rect">
            <a:avLst/>
          </a:prstGeom>
        </p:spPr>
      </p:pic>
    </p:spTree>
    <p:extLst>
      <p:ext uri="{BB962C8B-B14F-4D97-AF65-F5344CB8AC3E}">
        <p14:creationId xmlns:p14="http://schemas.microsoft.com/office/powerpoint/2010/main" val="3981132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8882" y="338931"/>
            <a:ext cx="10515600" cy="914400"/>
          </a:xfrm>
        </p:spPr>
        <p:txBody>
          <a:bodyPr>
            <a:normAutofit fontScale="90000"/>
          </a:bodyPr>
          <a:lstStyle/>
          <a:p>
            <a:pPr algn="ctr"/>
            <a:r>
              <a:rPr lang="en-IN" sz="6700" b="1" dirty="0">
                <a:solidFill>
                  <a:srgbClr val="FF0000"/>
                </a:solidFill>
              </a:rPr>
              <a:t>Sender </a:t>
            </a:r>
            <a:r>
              <a:rPr lang="en-IN" dirty="0"/>
              <a:t/>
            </a:r>
            <a:br>
              <a:rPr lang="en-IN" dirty="0"/>
            </a:br>
            <a:endParaRPr lang="en-IN" dirty="0"/>
          </a:p>
        </p:txBody>
      </p:sp>
      <p:sp>
        <p:nvSpPr>
          <p:cNvPr id="3" name="Content Placeholder 2"/>
          <p:cNvSpPr>
            <a:spLocks noGrp="1"/>
          </p:cNvSpPr>
          <p:nvPr>
            <p:ph idx="1"/>
          </p:nvPr>
        </p:nvSpPr>
        <p:spPr>
          <a:xfrm>
            <a:off x="174811" y="1253331"/>
            <a:ext cx="11676529" cy="4351338"/>
          </a:xfrm>
        </p:spPr>
        <p:txBody>
          <a:bodyPr/>
          <a:lstStyle/>
          <a:p>
            <a:r>
              <a:rPr lang="en-IN" dirty="0"/>
              <a:t>The sender is the individual who wishes to communicate a message. </a:t>
            </a:r>
          </a:p>
          <a:p>
            <a:r>
              <a:rPr lang="en-IN" dirty="0"/>
              <a:t>To </a:t>
            </a:r>
            <a:r>
              <a:rPr lang="en-IN" b="1" dirty="0">
                <a:solidFill>
                  <a:srgbClr val="00B050"/>
                </a:solidFill>
              </a:rPr>
              <a:t>send effective messages</a:t>
            </a:r>
            <a:r>
              <a:rPr lang="en-IN" dirty="0"/>
              <a:t>, it is important to have: </a:t>
            </a:r>
          </a:p>
          <a:p>
            <a:endParaRPr lang="en-IN" dirty="0"/>
          </a:p>
          <a:p>
            <a:pPr>
              <a:buFont typeface="Wingdings" panose="05000000000000000000" pitchFamily="2" charset="2"/>
              <a:buChar char="ü"/>
            </a:pPr>
            <a:r>
              <a:rPr lang="en-IN" dirty="0"/>
              <a:t> A </a:t>
            </a:r>
            <a:r>
              <a:rPr lang="en-IN" b="1" dirty="0">
                <a:solidFill>
                  <a:srgbClr val="7030A0"/>
                </a:solidFill>
              </a:rPr>
              <a:t>knowledge of the audience </a:t>
            </a:r>
            <a:r>
              <a:rPr lang="en-IN" dirty="0"/>
              <a:t>for that particular message. </a:t>
            </a:r>
          </a:p>
          <a:p>
            <a:pPr>
              <a:buFont typeface="Wingdings" panose="05000000000000000000" pitchFamily="2" charset="2"/>
              <a:buChar char="ü"/>
            </a:pPr>
            <a:r>
              <a:rPr lang="en-IN" b="1" dirty="0">
                <a:solidFill>
                  <a:srgbClr val="00B0F0"/>
                </a:solidFill>
              </a:rPr>
              <a:t>Failure to understand </a:t>
            </a:r>
            <a:r>
              <a:rPr lang="en-IN" dirty="0"/>
              <a:t>the audience will result in delivering messages that can be misunderstood. </a:t>
            </a:r>
          </a:p>
          <a:p>
            <a:pPr>
              <a:buFont typeface="Wingdings" panose="05000000000000000000" pitchFamily="2" charset="2"/>
              <a:buChar char="ü"/>
            </a:pPr>
            <a:r>
              <a:rPr lang="en-IN" dirty="0"/>
              <a:t> A clear idea of the purpose of the message, i.e. what they wish the receiver to do with the information contained in the message.</a:t>
            </a:r>
          </a:p>
        </p:txBody>
      </p:sp>
    </p:spTree>
    <p:extLst>
      <p:ext uri="{BB962C8B-B14F-4D97-AF65-F5344CB8AC3E}">
        <p14:creationId xmlns:p14="http://schemas.microsoft.com/office/powerpoint/2010/main" val="2412038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282" y="445806"/>
            <a:ext cx="11228294" cy="1006475"/>
          </a:xfrm>
        </p:spPr>
        <p:txBody>
          <a:bodyPr>
            <a:noAutofit/>
          </a:bodyPr>
          <a:lstStyle/>
          <a:p>
            <a:pPr algn="ctr"/>
            <a:r>
              <a:rPr lang="en-IN" sz="5400" b="1" dirty="0">
                <a:solidFill>
                  <a:srgbClr val="FF0000"/>
                </a:solidFill>
              </a:rPr>
              <a:t>Message</a:t>
            </a:r>
            <a:br>
              <a:rPr lang="en-IN" sz="5400" b="1" dirty="0">
                <a:solidFill>
                  <a:srgbClr val="FF0000"/>
                </a:solidFill>
              </a:rPr>
            </a:br>
            <a:endParaRPr lang="en-IN" sz="5400" b="1" dirty="0">
              <a:solidFill>
                <a:srgbClr val="FF0000"/>
              </a:solidFill>
            </a:endParaRPr>
          </a:p>
        </p:txBody>
      </p:sp>
      <p:sp>
        <p:nvSpPr>
          <p:cNvPr id="3" name="Content Placeholder 2"/>
          <p:cNvSpPr>
            <a:spLocks noGrp="1"/>
          </p:cNvSpPr>
          <p:nvPr>
            <p:ph idx="1"/>
          </p:nvPr>
        </p:nvSpPr>
        <p:spPr>
          <a:xfrm>
            <a:off x="309282" y="1166692"/>
            <a:ext cx="10515600" cy="5153706"/>
          </a:xfrm>
        </p:spPr>
        <p:txBody>
          <a:bodyPr>
            <a:normAutofit/>
          </a:bodyPr>
          <a:lstStyle/>
          <a:p>
            <a:r>
              <a:rPr lang="en-IN" dirty="0"/>
              <a:t>The message is the information the sender wishes the audience to receive and understand. </a:t>
            </a:r>
          </a:p>
          <a:p>
            <a:r>
              <a:rPr lang="en-IN" dirty="0"/>
              <a:t>The message is encoded by the sender, i.e. the sender chooses the </a:t>
            </a:r>
            <a:r>
              <a:rPr lang="en-IN" b="1" dirty="0">
                <a:solidFill>
                  <a:srgbClr val="00B050"/>
                </a:solidFill>
              </a:rPr>
              <a:t>words and medium that suit the message they wish to convey. </a:t>
            </a:r>
          </a:p>
          <a:p>
            <a:r>
              <a:rPr lang="en-IN" dirty="0"/>
              <a:t>Written, oral and nonverbal communications are all affected by individual communication styles such as the sender’s tone, the way they present the message, what information is contained in the communication and what has been omitted.</a:t>
            </a:r>
          </a:p>
        </p:txBody>
      </p:sp>
    </p:spTree>
    <p:extLst>
      <p:ext uri="{BB962C8B-B14F-4D97-AF65-F5344CB8AC3E}">
        <p14:creationId xmlns:p14="http://schemas.microsoft.com/office/powerpoint/2010/main" val="1700618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5447" y="681037"/>
            <a:ext cx="10515600" cy="907863"/>
          </a:xfrm>
        </p:spPr>
        <p:txBody>
          <a:bodyPr>
            <a:noAutofit/>
          </a:bodyPr>
          <a:lstStyle/>
          <a:p>
            <a:pPr algn="ctr"/>
            <a:r>
              <a:rPr lang="en-IN" sz="5400" b="1" dirty="0">
                <a:solidFill>
                  <a:srgbClr val="FF0000"/>
                </a:solidFill>
              </a:rPr>
              <a:t>Transmission and noise</a:t>
            </a:r>
            <a:br>
              <a:rPr lang="en-IN" sz="5400" b="1" dirty="0">
                <a:solidFill>
                  <a:srgbClr val="FF0000"/>
                </a:solidFill>
              </a:rPr>
            </a:br>
            <a:endParaRPr lang="en-IN" sz="5400" b="1" dirty="0">
              <a:solidFill>
                <a:srgbClr val="FF0000"/>
              </a:solidFill>
            </a:endParaRPr>
          </a:p>
        </p:txBody>
      </p:sp>
      <p:sp>
        <p:nvSpPr>
          <p:cNvPr id="3" name="Content Placeholder 2"/>
          <p:cNvSpPr>
            <a:spLocks noGrp="1"/>
          </p:cNvSpPr>
          <p:nvPr>
            <p:ph idx="1"/>
          </p:nvPr>
        </p:nvSpPr>
        <p:spPr>
          <a:xfrm>
            <a:off x="174811" y="1395320"/>
            <a:ext cx="11927541" cy="5265456"/>
          </a:xfrm>
        </p:spPr>
        <p:txBody>
          <a:bodyPr>
            <a:normAutofit/>
          </a:bodyPr>
          <a:lstStyle/>
          <a:p>
            <a:r>
              <a:rPr lang="en-IN" dirty="0"/>
              <a:t>The transmission of the message is the actual process of sending it. </a:t>
            </a:r>
          </a:p>
          <a:p>
            <a:r>
              <a:rPr lang="en-IN" dirty="0"/>
              <a:t>This could be done via various verbal and written communication channels; </a:t>
            </a:r>
          </a:p>
          <a:p>
            <a:r>
              <a:rPr lang="en-IN" b="1" dirty="0">
                <a:solidFill>
                  <a:srgbClr val="FF0000"/>
                </a:solidFill>
              </a:rPr>
              <a:t>for example: </a:t>
            </a:r>
            <a:r>
              <a:rPr lang="en-IN" b="1" dirty="0">
                <a:solidFill>
                  <a:srgbClr val="0070C0"/>
                </a:solidFill>
              </a:rPr>
              <a:t>email, letters, text, reports, face-to-face, telephone and videoconferencing. </a:t>
            </a:r>
          </a:p>
          <a:p>
            <a:r>
              <a:rPr lang="en-IN" dirty="0"/>
              <a:t>It is important to transmit the message clearly and at an appropriate time, considering any distractions that could make communication difficult. </a:t>
            </a:r>
          </a:p>
          <a:p>
            <a:r>
              <a:rPr lang="en-IN" dirty="0"/>
              <a:t>Noise is one such distraction. </a:t>
            </a:r>
          </a:p>
          <a:p>
            <a:r>
              <a:rPr lang="en-IN" dirty="0"/>
              <a:t>This can include physical noise such as </a:t>
            </a:r>
            <a:r>
              <a:rPr lang="en-IN" b="1" dirty="0">
                <a:solidFill>
                  <a:srgbClr val="7030A0"/>
                </a:solidFill>
              </a:rPr>
              <a:t>buzzing on a telephone line or a mobile phone reception breaking up, to more personal noise such as an individual’s accent, personal  experience, feelings, culture, level of education, etc.</a:t>
            </a:r>
            <a:r>
              <a:rPr lang="en-IN" b="1" dirty="0"/>
              <a:t> </a:t>
            </a:r>
            <a:r>
              <a:rPr lang="en-IN" dirty="0"/>
              <a:t>which can all interfere with how the message is perceived</a:t>
            </a:r>
          </a:p>
          <a:p>
            <a:endParaRPr lang="en-IN" dirty="0"/>
          </a:p>
          <a:p>
            <a:endParaRPr lang="en-IN" b="1" dirty="0">
              <a:solidFill>
                <a:srgbClr val="0070C0"/>
              </a:solidFill>
            </a:endParaRPr>
          </a:p>
        </p:txBody>
      </p:sp>
    </p:spTree>
    <p:extLst>
      <p:ext uri="{BB962C8B-B14F-4D97-AF65-F5344CB8AC3E}">
        <p14:creationId xmlns:p14="http://schemas.microsoft.com/office/powerpoint/2010/main" val="363874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IN" sz="5400" b="1" dirty="0">
                <a:solidFill>
                  <a:srgbClr val="FF0000"/>
                </a:solidFill>
              </a:rPr>
              <a:t>Receiver</a:t>
            </a:r>
            <a:br>
              <a:rPr lang="en-IN" sz="5400" b="1" dirty="0">
                <a:solidFill>
                  <a:srgbClr val="FF0000"/>
                </a:solidFill>
              </a:rPr>
            </a:br>
            <a:endParaRPr lang="en-IN" sz="5400" b="1" dirty="0">
              <a:solidFill>
                <a:srgbClr val="FF0000"/>
              </a:solidFill>
            </a:endParaRPr>
          </a:p>
        </p:txBody>
      </p:sp>
      <p:sp>
        <p:nvSpPr>
          <p:cNvPr id="3" name="Content Placeholder 2"/>
          <p:cNvSpPr>
            <a:spLocks noGrp="1"/>
          </p:cNvSpPr>
          <p:nvPr>
            <p:ph idx="1"/>
          </p:nvPr>
        </p:nvSpPr>
        <p:spPr>
          <a:xfrm>
            <a:off x="273423" y="1311408"/>
            <a:ext cx="11730317" cy="2256545"/>
          </a:xfrm>
        </p:spPr>
        <p:txBody>
          <a:bodyPr>
            <a:normAutofit fontScale="92500" lnSpcReduction="10000"/>
          </a:bodyPr>
          <a:lstStyle/>
          <a:p>
            <a:r>
              <a:rPr lang="en-IN" sz="3600" dirty="0"/>
              <a:t>The receiver tries to interpret the message by decoding the words and symbols used. </a:t>
            </a:r>
          </a:p>
          <a:p>
            <a:r>
              <a:rPr lang="en-IN" sz="3600" dirty="0"/>
              <a:t>However, the receiver will also take into account their own previous experience, </a:t>
            </a:r>
            <a:r>
              <a:rPr lang="en-IN" sz="3600" b="1" dirty="0">
                <a:solidFill>
                  <a:srgbClr val="00B050"/>
                </a:solidFill>
              </a:rPr>
              <a:t>emotions, ideas and beliefs when trying to make sense of the message.</a:t>
            </a:r>
          </a:p>
        </p:txBody>
      </p:sp>
    </p:spTree>
    <p:extLst>
      <p:ext uri="{BB962C8B-B14F-4D97-AF65-F5344CB8AC3E}">
        <p14:creationId xmlns:p14="http://schemas.microsoft.com/office/powerpoint/2010/main" val="1123020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9588" y="643031"/>
            <a:ext cx="10515600" cy="1325563"/>
          </a:xfrm>
        </p:spPr>
        <p:txBody>
          <a:bodyPr>
            <a:noAutofit/>
          </a:bodyPr>
          <a:lstStyle/>
          <a:p>
            <a:pPr algn="ctr"/>
            <a:r>
              <a:rPr lang="en-IN" sz="5400" b="1" dirty="0">
                <a:solidFill>
                  <a:srgbClr val="FF0000"/>
                </a:solidFill>
              </a:rPr>
              <a:t>Feedback</a:t>
            </a:r>
            <a:br>
              <a:rPr lang="en-IN" sz="5400" b="1" dirty="0">
                <a:solidFill>
                  <a:srgbClr val="FF0000"/>
                </a:solidFill>
              </a:rPr>
            </a:br>
            <a:endParaRPr lang="en-IN" sz="5400" b="1" dirty="0">
              <a:solidFill>
                <a:srgbClr val="FF0000"/>
              </a:solidFill>
            </a:endParaRPr>
          </a:p>
        </p:txBody>
      </p:sp>
      <p:sp>
        <p:nvSpPr>
          <p:cNvPr id="3" name="Content Placeholder 2"/>
          <p:cNvSpPr>
            <a:spLocks noGrp="1"/>
          </p:cNvSpPr>
          <p:nvPr>
            <p:ph idx="1"/>
          </p:nvPr>
        </p:nvSpPr>
        <p:spPr>
          <a:xfrm>
            <a:off x="273423" y="1610473"/>
            <a:ext cx="11631705" cy="4351338"/>
          </a:xfrm>
        </p:spPr>
        <p:txBody>
          <a:bodyPr>
            <a:normAutofit/>
          </a:bodyPr>
          <a:lstStyle/>
          <a:p>
            <a:r>
              <a:rPr lang="en-IN" sz="3600" dirty="0"/>
              <a:t>The receiver feeds back their understanding of the message to the sender, to make sure that the message they received was the same message as the sender intended. </a:t>
            </a:r>
          </a:p>
          <a:p>
            <a:endParaRPr lang="en-IN" sz="3600" dirty="0"/>
          </a:p>
          <a:p>
            <a:r>
              <a:rPr lang="en-IN" sz="3600" dirty="0"/>
              <a:t>This feedback can be a verbal or non-verbal response</a:t>
            </a:r>
          </a:p>
          <a:p>
            <a:endParaRPr lang="en-IN" sz="3600" b="1" dirty="0">
              <a:solidFill>
                <a:srgbClr val="7030A0"/>
              </a:solidFill>
            </a:endParaRPr>
          </a:p>
          <a:p>
            <a:r>
              <a:rPr lang="en-IN" sz="3600" b="1" dirty="0">
                <a:solidFill>
                  <a:srgbClr val="7030A0"/>
                </a:solidFill>
              </a:rPr>
              <a:t>for example saying yes or nodding the head.</a:t>
            </a:r>
          </a:p>
          <a:p>
            <a:endParaRPr lang="en-IN" sz="3600" dirty="0"/>
          </a:p>
          <a:p>
            <a:endParaRPr lang="en-IN" sz="3600" dirty="0"/>
          </a:p>
        </p:txBody>
      </p:sp>
    </p:spTree>
    <p:extLst>
      <p:ext uri="{BB962C8B-B14F-4D97-AF65-F5344CB8AC3E}">
        <p14:creationId xmlns:p14="http://schemas.microsoft.com/office/powerpoint/2010/main" val="240085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6C2EE3-1361-4DDA-B6A1-A2C3ACA4C6BC}"/>
              </a:ext>
            </a:extLst>
          </p:cNvPr>
          <p:cNvPicPr>
            <a:picLocks noChangeAspect="1"/>
          </p:cNvPicPr>
          <p:nvPr/>
        </p:nvPicPr>
        <p:blipFill>
          <a:blip r:embed="rId2"/>
          <a:stretch>
            <a:fillRect/>
          </a:stretch>
        </p:blipFill>
        <p:spPr>
          <a:xfrm>
            <a:off x="590840" y="326555"/>
            <a:ext cx="10695724" cy="6204890"/>
          </a:xfrm>
          <a:prstGeom prst="rect">
            <a:avLst/>
          </a:prstGeom>
        </p:spPr>
      </p:pic>
    </p:spTree>
    <p:extLst>
      <p:ext uri="{BB962C8B-B14F-4D97-AF65-F5344CB8AC3E}">
        <p14:creationId xmlns:p14="http://schemas.microsoft.com/office/powerpoint/2010/main" val="1150916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F3CFDF09-0CE0-4170-BD84-746806E42FEA}"/>
              </a:ext>
            </a:extLst>
          </p:cNvPr>
          <p:cNvSpPr txBox="1">
            <a:spLocks/>
          </p:cNvSpPr>
          <p:nvPr/>
        </p:nvSpPr>
        <p:spPr>
          <a:xfrm>
            <a:off x="340659" y="2338015"/>
            <a:ext cx="11698941" cy="165576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4800" b="1" dirty="0"/>
              <a:t>1.3</a:t>
            </a:r>
          </a:p>
          <a:p>
            <a:pPr marL="0" indent="0" algn="ctr">
              <a:buNone/>
            </a:pPr>
            <a:r>
              <a:rPr lang="en-IN" sz="4800" b="1" dirty="0"/>
              <a:t>Characteristics of Communication</a:t>
            </a:r>
          </a:p>
        </p:txBody>
      </p:sp>
    </p:spTree>
    <p:extLst>
      <p:ext uri="{BB962C8B-B14F-4D97-AF65-F5344CB8AC3E}">
        <p14:creationId xmlns:p14="http://schemas.microsoft.com/office/powerpoint/2010/main" val="2509046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D42890-8D73-4D56-8D49-47F365BB3F12}"/>
              </a:ext>
            </a:extLst>
          </p:cNvPr>
          <p:cNvSpPr txBox="1"/>
          <p:nvPr/>
        </p:nvSpPr>
        <p:spPr>
          <a:xfrm>
            <a:off x="107576" y="270041"/>
            <a:ext cx="11994777" cy="5570756"/>
          </a:xfrm>
          <a:prstGeom prst="rect">
            <a:avLst/>
          </a:prstGeom>
          <a:noFill/>
        </p:spPr>
        <p:txBody>
          <a:bodyPr wrap="square">
            <a:spAutoFit/>
          </a:bodyPr>
          <a:lstStyle/>
          <a:p>
            <a:pPr algn="ctr"/>
            <a:r>
              <a:rPr lang="en-US" sz="3200" b="1" dirty="0"/>
              <a:t>Characteristics of Communication</a:t>
            </a:r>
          </a:p>
          <a:p>
            <a:endParaRPr lang="en-US" dirty="0"/>
          </a:p>
          <a:p>
            <a:r>
              <a:rPr lang="en-US" sz="2400" b="1" dirty="0">
                <a:solidFill>
                  <a:srgbClr val="FF0000"/>
                </a:solidFill>
              </a:rPr>
              <a:t>1. Communication involves at least two persons: </a:t>
            </a:r>
            <a:r>
              <a:rPr lang="en-US" dirty="0"/>
              <a:t>Communication involves at least two persons-the sender and the receiver. The sender sends the message and is known as the communicator. The receiver receives the message and is known as communicate. </a:t>
            </a:r>
          </a:p>
          <a:p>
            <a:r>
              <a:rPr lang="en-US" sz="2400" b="1" dirty="0">
                <a:solidFill>
                  <a:srgbClr val="FF0000"/>
                </a:solidFill>
              </a:rPr>
              <a:t>2. Communication is a two way process: </a:t>
            </a:r>
            <a:r>
              <a:rPr lang="en-US" dirty="0"/>
              <a:t>Communication</a:t>
            </a:r>
            <a:r>
              <a:rPr lang="en-US" sz="2400" b="1" dirty="0">
                <a:solidFill>
                  <a:srgbClr val="FF0000"/>
                </a:solidFill>
              </a:rPr>
              <a:t> </a:t>
            </a:r>
            <a:r>
              <a:rPr lang="en-US" dirty="0"/>
              <a:t>is essentially a two way process. It does not merely means sending and receiving messages. It is not complete unless and until the message has been understood by the receiver in the same sense. </a:t>
            </a:r>
          </a:p>
          <a:p>
            <a:r>
              <a:rPr lang="en-US" sz="2400" b="1" dirty="0">
                <a:solidFill>
                  <a:srgbClr val="FF0000"/>
                </a:solidFill>
              </a:rPr>
              <a:t>3. Purpose of communication: </a:t>
            </a:r>
            <a:r>
              <a:rPr lang="en-US" dirty="0"/>
              <a:t>Message is a Must. A message is the subject matter of communication. e.g., the contents of the letter or speech, order, instructions or the suggestions. </a:t>
            </a:r>
          </a:p>
          <a:p>
            <a:r>
              <a:rPr lang="en-US" sz="2400" b="1" dirty="0">
                <a:solidFill>
                  <a:srgbClr val="FF0000"/>
                </a:solidFill>
              </a:rPr>
              <a:t>4. Form of communication: </a:t>
            </a:r>
            <a:r>
              <a:rPr lang="en-US" dirty="0"/>
              <a:t>Communication may take several forms e.g. order, instruction, report, queries etc. It may be verbal or written. It may be formal or informal. </a:t>
            </a:r>
          </a:p>
          <a:p>
            <a:r>
              <a:rPr lang="en-US" sz="2400" b="1" dirty="0">
                <a:solidFill>
                  <a:srgbClr val="FF0000"/>
                </a:solidFill>
              </a:rPr>
              <a:t>5. Scope of communication: </a:t>
            </a:r>
            <a:r>
              <a:rPr lang="en-US" dirty="0"/>
              <a:t>Communication noticeable to all human relationship. It is essential in all type of organizational and at all levels of management. </a:t>
            </a:r>
          </a:p>
          <a:p>
            <a:r>
              <a:rPr lang="en-US" sz="2400" b="1" dirty="0">
                <a:solidFill>
                  <a:srgbClr val="FF0000"/>
                </a:solidFill>
              </a:rPr>
              <a:t>6. Communication is a dynamic process: </a:t>
            </a:r>
            <a:r>
              <a:rPr lang="en-US" dirty="0"/>
              <a:t>Communication is influenced by the mood and thinking of the sender and receiver. The way a message is accepted depends upon the fact that which of the fine sensory organs of the receiver is active at that time. </a:t>
            </a:r>
          </a:p>
        </p:txBody>
      </p:sp>
    </p:spTree>
    <p:extLst>
      <p:ext uri="{BB962C8B-B14F-4D97-AF65-F5344CB8AC3E}">
        <p14:creationId xmlns:p14="http://schemas.microsoft.com/office/powerpoint/2010/main" val="995737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2B2B47-ACF0-4AE4-B376-E26609DEBB84}"/>
              </a:ext>
            </a:extLst>
          </p:cNvPr>
          <p:cNvSpPr txBox="1"/>
          <p:nvPr/>
        </p:nvSpPr>
        <p:spPr>
          <a:xfrm>
            <a:off x="89647" y="405419"/>
            <a:ext cx="12102353" cy="6186309"/>
          </a:xfrm>
          <a:prstGeom prst="rect">
            <a:avLst/>
          </a:prstGeom>
          <a:noFill/>
        </p:spPr>
        <p:txBody>
          <a:bodyPr wrap="square">
            <a:spAutoFit/>
          </a:bodyPr>
          <a:lstStyle/>
          <a:p>
            <a:r>
              <a:rPr lang="en-US" sz="2400" b="1" dirty="0">
                <a:solidFill>
                  <a:srgbClr val="FF0000"/>
                </a:solidFill>
              </a:rPr>
              <a:t>7. Communication is much more than words: </a:t>
            </a:r>
            <a:r>
              <a:rPr lang="en-US" dirty="0"/>
              <a:t>Communication is not merely sending or receiving facts, expressed in words. Communication May be Written, Oral or Gestural. It also involves ideas and emotions. A lot of communication is done through signs, symbols and gestures. </a:t>
            </a:r>
          </a:p>
          <a:p>
            <a:r>
              <a:rPr lang="en-US" sz="2400" b="1" dirty="0">
                <a:solidFill>
                  <a:srgbClr val="FF0000"/>
                </a:solidFill>
              </a:rPr>
              <a:t>8. Communication’s primary purpose is to motivate a response: </a:t>
            </a:r>
            <a:r>
              <a:rPr lang="en-US" dirty="0"/>
              <a:t>The primary purpose of communication is to motivate response or influence human behaviour. To create understanding, communication should be relevant to the situation. </a:t>
            </a:r>
          </a:p>
          <a:p>
            <a:r>
              <a:rPr lang="en-US" sz="2400" b="1" dirty="0">
                <a:solidFill>
                  <a:srgbClr val="FF0000"/>
                </a:solidFill>
              </a:rPr>
              <a:t>9. Communication is conversational:</a:t>
            </a:r>
            <a:r>
              <a:rPr lang="en-US" dirty="0"/>
              <a:t> Communication sets up a link between facts, ideas, and thus helps the communicator and communicates to progress logically. </a:t>
            </a:r>
          </a:p>
          <a:p>
            <a:r>
              <a:rPr lang="en-US" sz="2400" b="1" dirty="0">
                <a:solidFill>
                  <a:srgbClr val="FF0000"/>
                </a:solidFill>
              </a:rPr>
              <a:t>10. Communication is an interdisciplinary science: </a:t>
            </a:r>
            <a:r>
              <a:rPr lang="en-US" dirty="0"/>
              <a:t>Communication to be effective derives knowledge from several sciences like-anthropology (study of body language), sociology (study of human behaviour), psychology (study of attitude) etc </a:t>
            </a:r>
          </a:p>
          <a:p>
            <a:r>
              <a:rPr lang="en-US" sz="2400" b="1" dirty="0">
                <a:solidFill>
                  <a:srgbClr val="FF0000"/>
                </a:solidFill>
              </a:rPr>
              <a:t>11. Communication may be formal or informal:</a:t>
            </a:r>
            <a:r>
              <a:rPr lang="en-US" dirty="0"/>
              <a:t> Formal communication follows the formal channels provided in the organization structure. For example, the Managing Director communicates with the departmental heads, </a:t>
            </a:r>
          </a:p>
          <a:p>
            <a:r>
              <a:rPr lang="en-US" dirty="0"/>
              <a:t>In simple words, in informal communication, there is no direct communication between the Managing Director and the accounts clerks. Informal communication flows from informal channels of communication which are not provided in the organization structure. These channels develop among members because of personal contacts through working with each other. </a:t>
            </a:r>
          </a:p>
          <a:p>
            <a:endParaRPr lang="en-US" dirty="0"/>
          </a:p>
          <a:p>
            <a:r>
              <a:rPr lang="en-US" sz="2400" b="1" dirty="0">
                <a:solidFill>
                  <a:srgbClr val="FF0000"/>
                </a:solidFill>
              </a:rPr>
              <a:t>12. It flows up and down and also from side to side:</a:t>
            </a:r>
            <a:r>
              <a:rPr lang="en-US" dirty="0"/>
              <a:t> Communication flows downward from a superior to subordinate and upward from subordinate to a superior. It also flows between two or more persons operating at the same level of authority.</a:t>
            </a:r>
            <a:endParaRPr lang="en-IN" dirty="0"/>
          </a:p>
        </p:txBody>
      </p:sp>
    </p:spTree>
    <p:extLst>
      <p:ext uri="{BB962C8B-B14F-4D97-AF65-F5344CB8AC3E}">
        <p14:creationId xmlns:p14="http://schemas.microsoft.com/office/powerpoint/2010/main" val="550059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3124F367-EB52-411F-864F-1251D93FCFC1}"/>
              </a:ext>
            </a:extLst>
          </p:cNvPr>
          <p:cNvSpPr txBox="1">
            <a:spLocks/>
          </p:cNvSpPr>
          <p:nvPr/>
        </p:nvSpPr>
        <p:spPr>
          <a:xfrm>
            <a:off x="340659" y="2338015"/>
            <a:ext cx="11698941" cy="165576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4800" b="1" dirty="0"/>
              <a:t>1.4</a:t>
            </a:r>
          </a:p>
          <a:p>
            <a:pPr marL="0" indent="0" algn="ctr">
              <a:buNone/>
            </a:pPr>
            <a:r>
              <a:rPr lang="en-IN" sz="4800" b="1" dirty="0"/>
              <a:t>Objective of Communication</a:t>
            </a:r>
          </a:p>
        </p:txBody>
      </p:sp>
    </p:spTree>
    <p:extLst>
      <p:ext uri="{BB962C8B-B14F-4D97-AF65-F5344CB8AC3E}">
        <p14:creationId xmlns:p14="http://schemas.microsoft.com/office/powerpoint/2010/main" val="2928230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C56936-1B19-4181-A94A-C7D1765D52BB}"/>
              </a:ext>
            </a:extLst>
          </p:cNvPr>
          <p:cNvSpPr txBox="1"/>
          <p:nvPr/>
        </p:nvSpPr>
        <p:spPr>
          <a:xfrm>
            <a:off x="286958" y="246773"/>
            <a:ext cx="11600330" cy="2308324"/>
          </a:xfrm>
          <a:prstGeom prst="rect">
            <a:avLst/>
          </a:prstGeom>
          <a:noFill/>
        </p:spPr>
        <p:txBody>
          <a:bodyPr wrap="square">
            <a:spAutoFit/>
          </a:bodyPr>
          <a:lstStyle/>
          <a:p>
            <a:pPr algn="ctr"/>
            <a:r>
              <a:rPr lang="en-US" sz="4400" b="1" dirty="0">
                <a:solidFill>
                  <a:srgbClr val="FF0000"/>
                </a:solidFill>
              </a:rPr>
              <a:t>Objectives of Communication</a:t>
            </a:r>
          </a:p>
          <a:p>
            <a:pPr marL="285750" indent="-285750">
              <a:buFont typeface="Arial" panose="020B0604020202020204" pitchFamily="34" charset="0"/>
              <a:buChar char="•"/>
            </a:pPr>
            <a:r>
              <a:rPr lang="en-US" sz="2400" dirty="0"/>
              <a:t>Communication is carried out with some purpose or objective. </a:t>
            </a:r>
          </a:p>
          <a:p>
            <a:pPr marL="285750" indent="-285750">
              <a:buFont typeface="Arial" panose="020B0604020202020204" pitchFamily="34" charset="0"/>
              <a:buChar char="•"/>
            </a:pPr>
            <a:r>
              <a:rPr lang="en-US" sz="2400" dirty="0"/>
              <a:t>The communication activity of an organization fall into </a:t>
            </a:r>
            <a:r>
              <a:rPr lang="en-US" sz="2400" b="1" dirty="0">
                <a:solidFill>
                  <a:srgbClr val="FF0000"/>
                </a:solidFill>
              </a:rPr>
              <a:t>three broad categories: </a:t>
            </a:r>
          </a:p>
          <a:p>
            <a:pPr marL="285750" indent="-285750">
              <a:buFont typeface="Arial" panose="020B0604020202020204" pitchFamily="34" charset="0"/>
              <a:buChar char="•"/>
            </a:pPr>
            <a:r>
              <a:rPr lang="en-US" sz="2800" b="1" dirty="0">
                <a:solidFill>
                  <a:srgbClr val="00B050"/>
                </a:solidFill>
              </a:rPr>
              <a:t>1. </a:t>
            </a:r>
            <a:r>
              <a:rPr lang="en-US" sz="2800" b="1" dirty="0" err="1" smtClean="0">
                <a:solidFill>
                  <a:srgbClr val="00B050"/>
                </a:solidFill>
              </a:rPr>
              <a:t>Intr</a:t>
            </a:r>
            <a:r>
              <a:rPr lang="en-US" sz="2800" b="1" dirty="0" err="1">
                <a:solidFill>
                  <a:srgbClr val="00B050"/>
                </a:solidFill>
              </a:rPr>
              <a:t>a</a:t>
            </a:r>
            <a:r>
              <a:rPr lang="en-US" sz="2800" b="1" dirty="0" err="1" smtClean="0">
                <a:solidFill>
                  <a:srgbClr val="00B050"/>
                </a:solidFill>
              </a:rPr>
              <a:t>organizational</a:t>
            </a:r>
            <a:r>
              <a:rPr lang="en-US" sz="2800" b="1" dirty="0" smtClean="0">
                <a:solidFill>
                  <a:srgbClr val="00B050"/>
                </a:solidFill>
              </a:rPr>
              <a:t> </a:t>
            </a:r>
            <a:r>
              <a:rPr lang="en-US" sz="2800" b="1" dirty="0">
                <a:solidFill>
                  <a:srgbClr val="00B050"/>
                </a:solidFill>
              </a:rPr>
              <a:t>Communication: </a:t>
            </a:r>
            <a:r>
              <a:rPr lang="en-US" sz="2400" dirty="0"/>
              <a:t>This takes place within an organization. It takes place in the form of orders, circulars, notices, emails, etc. </a:t>
            </a:r>
          </a:p>
        </p:txBody>
      </p:sp>
      <p:pic>
        <p:nvPicPr>
          <p:cNvPr id="3" name="Picture 2"/>
          <p:cNvPicPr>
            <a:picLocks noChangeAspect="1"/>
          </p:cNvPicPr>
          <p:nvPr/>
        </p:nvPicPr>
        <p:blipFill>
          <a:blip r:embed="rId2"/>
          <a:stretch>
            <a:fillRect/>
          </a:stretch>
        </p:blipFill>
        <p:spPr>
          <a:xfrm>
            <a:off x="2728403" y="2816440"/>
            <a:ext cx="4128119" cy="3096089"/>
          </a:xfrm>
          <a:prstGeom prst="rect">
            <a:avLst/>
          </a:prstGeom>
        </p:spPr>
      </p:pic>
    </p:spTree>
    <p:extLst>
      <p:ext uri="{BB962C8B-B14F-4D97-AF65-F5344CB8AC3E}">
        <p14:creationId xmlns:p14="http://schemas.microsoft.com/office/powerpoint/2010/main" val="839105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0225" y="941033"/>
            <a:ext cx="7563775" cy="3570208"/>
          </a:xfrm>
          <a:prstGeom prst="rect">
            <a:avLst/>
          </a:prstGeom>
        </p:spPr>
        <p:txBody>
          <a:bodyPr wrap="square">
            <a:spAutoFit/>
          </a:bodyPr>
          <a:lstStyle/>
          <a:p>
            <a:pPr marL="285750" indent="-285750">
              <a:buFont typeface="Arial" panose="020B0604020202020204" pitchFamily="34" charset="0"/>
              <a:buChar char="•"/>
            </a:pPr>
            <a:r>
              <a:rPr lang="en-US" sz="2000" b="1" dirty="0">
                <a:solidFill>
                  <a:srgbClr val="00B050"/>
                </a:solidFill>
              </a:rPr>
              <a:t>2. </a:t>
            </a:r>
            <a:r>
              <a:rPr lang="en-US" sz="2000" b="1" dirty="0" err="1">
                <a:solidFill>
                  <a:srgbClr val="00B050"/>
                </a:solidFill>
              </a:rPr>
              <a:t>Interorganizational</a:t>
            </a:r>
            <a:r>
              <a:rPr lang="en-US" sz="2000" b="1" dirty="0">
                <a:solidFill>
                  <a:srgbClr val="00B050"/>
                </a:solidFill>
              </a:rPr>
              <a:t> communication: </a:t>
            </a:r>
            <a:r>
              <a:rPr lang="en-US" dirty="0"/>
              <a:t>This takes place between a business organization and people outside the organization. It can take place in the form of company presentations, advertisements, displays, project reports, etc. </a:t>
            </a:r>
            <a:endParaRPr lang="en-US" dirty="0" smtClean="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sz="2000" b="1" dirty="0" smtClean="0">
              <a:solidFill>
                <a:srgbClr val="00B050"/>
              </a:solidFill>
            </a:endParaRPr>
          </a:p>
          <a:p>
            <a:pPr marL="285750" indent="-285750">
              <a:buFont typeface="Arial" panose="020B0604020202020204" pitchFamily="34" charset="0"/>
              <a:buChar char="•"/>
            </a:pPr>
            <a:endParaRPr lang="en-US" sz="2000" b="1" dirty="0" smtClean="0">
              <a:solidFill>
                <a:srgbClr val="00B050"/>
              </a:solidFill>
            </a:endParaRPr>
          </a:p>
          <a:p>
            <a:pPr marL="285750" indent="-285750">
              <a:buFont typeface="Arial" panose="020B0604020202020204" pitchFamily="34" charset="0"/>
              <a:buChar char="•"/>
            </a:pPr>
            <a:endParaRPr lang="en-US" sz="2000" b="1" dirty="0">
              <a:solidFill>
                <a:srgbClr val="00B050"/>
              </a:solidFill>
            </a:endParaRPr>
          </a:p>
          <a:p>
            <a:pPr marL="285750" indent="-285750">
              <a:buFont typeface="Arial" panose="020B0604020202020204" pitchFamily="34" charset="0"/>
              <a:buChar char="•"/>
            </a:pPr>
            <a:r>
              <a:rPr lang="en-US" sz="2000" b="1" dirty="0" smtClean="0">
                <a:solidFill>
                  <a:srgbClr val="00B050"/>
                </a:solidFill>
              </a:rPr>
              <a:t>3 </a:t>
            </a:r>
            <a:r>
              <a:rPr lang="en-US" sz="2000" b="1" dirty="0">
                <a:solidFill>
                  <a:srgbClr val="00B050"/>
                </a:solidFill>
              </a:rPr>
              <a:t>Personal communication: </a:t>
            </a:r>
            <a:r>
              <a:rPr lang="en-US" dirty="0"/>
              <a:t>This communication is undertaken without a specific objective. Personal conversations, gossip, grapevine communication are examples of personal communication.</a:t>
            </a:r>
            <a:endParaRPr lang="en-IN" dirty="0"/>
          </a:p>
        </p:txBody>
      </p:sp>
      <p:pic>
        <p:nvPicPr>
          <p:cNvPr id="3" name="Picture 2"/>
          <p:cNvPicPr>
            <a:picLocks noChangeAspect="1"/>
          </p:cNvPicPr>
          <p:nvPr/>
        </p:nvPicPr>
        <p:blipFill>
          <a:blip r:embed="rId2"/>
          <a:stretch>
            <a:fillRect/>
          </a:stretch>
        </p:blipFill>
        <p:spPr>
          <a:xfrm>
            <a:off x="6205521" y="4619252"/>
            <a:ext cx="3336428" cy="1887377"/>
          </a:xfrm>
          <a:prstGeom prst="rect">
            <a:avLst/>
          </a:prstGeom>
        </p:spPr>
      </p:pic>
      <p:pic>
        <p:nvPicPr>
          <p:cNvPr id="4" name="Picture 3"/>
          <p:cNvPicPr>
            <a:picLocks noChangeAspect="1"/>
          </p:cNvPicPr>
          <p:nvPr/>
        </p:nvPicPr>
        <p:blipFill>
          <a:blip r:embed="rId3"/>
          <a:stretch>
            <a:fillRect/>
          </a:stretch>
        </p:blipFill>
        <p:spPr>
          <a:xfrm>
            <a:off x="5951756" y="1893111"/>
            <a:ext cx="3715268" cy="1781424"/>
          </a:xfrm>
          <a:prstGeom prst="rect">
            <a:avLst/>
          </a:prstGeom>
        </p:spPr>
      </p:pic>
    </p:spTree>
    <p:extLst>
      <p:ext uri="{BB962C8B-B14F-4D97-AF65-F5344CB8AC3E}">
        <p14:creationId xmlns:p14="http://schemas.microsoft.com/office/powerpoint/2010/main" val="2622163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7979A97-D15A-4080-9037-29F39699E2F1}"/>
              </a:ext>
            </a:extLst>
          </p:cNvPr>
          <p:cNvSpPr txBox="1"/>
          <p:nvPr/>
        </p:nvSpPr>
        <p:spPr>
          <a:xfrm>
            <a:off x="221942" y="266743"/>
            <a:ext cx="7892248" cy="5632311"/>
          </a:xfrm>
          <a:prstGeom prst="rect">
            <a:avLst/>
          </a:prstGeom>
          <a:noFill/>
        </p:spPr>
        <p:txBody>
          <a:bodyPr wrap="square">
            <a:spAutoFit/>
          </a:bodyPr>
          <a:lstStyle/>
          <a:p>
            <a:pPr algn="ctr"/>
            <a:r>
              <a:rPr lang="en-US" sz="3600" b="1" dirty="0">
                <a:solidFill>
                  <a:srgbClr val="FF0000"/>
                </a:solidFill>
              </a:rPr>
              <a:t>Importance of Communication</a:t>
            </a:r>
          </a:p>
          <a:p>
            <a:pPr algn="ctr"/>
            <a:endParaRPr lang="en-US" sz="3600" b="1" dirty="0">
              <a:solidFill>
                <a:srgbClr val="FF0000"/>
              </a:solidFill>
            </a:endParaRPr>
          </a:p>
          <a:p>
            <a:pPr marL="457200" indent="-457200">
              <a:buFont typeface="Arial" panose="020B0604020202020204" pitchFamily="34" charset="0"/>
              <a:buChar char="•"/>
            </a:pPr>
            <a:r>
              <a:rPr lang="en-US" sz="3200" dirty="0"/>
              <a:t>In the fast changing world, managers </a:t>
            </a:r>
            <a:r>
              <a:rPr lang="en-US" sz="3200" b="1" dirty="0">
                <a:solidFill>
                  <a:srgbClr val="00B050"/>
                </a:solidFill>
              </a:rPr>
              <a:t>communicate changes in technology, structure or people to the subordinates. </a:t>
            </a:r>
          </a:p>
          <a:p>
            <a:pPr marL="457200" indent="-457200">
              <a:buFont typeface="Arial" panose="020B0604020202020204" pitchFamily="34" charset="0"/>
              <a:buChar char="•"/>
            </a:pPr>
            <a:r>
              <a:rPr lang="en-US" sz="3200" dirty="0" smtClean="0"/>
              <a:t>If </a:t>
            </a:r>
            <a:r>
              <a:rPr lang="en-US" sz="3200" dirty="0"/>
              <a:t>the communication system is well organized, it becomes easier for </a:t>
            </a:r>
            <a:r>
              <a:rPr lang="en-US" sz="3200" b="1" dirty="0">
                <a:solidFill>
                  <a:srgbClr val="C00000"/>
                </a:solidFill>
              </a:rPr>
              <a:t>subordinates to understand </a:t>
            </a:r>
            <a:r>
              <a:rPr lang="en-US" sz="3200" dirty="0"/>
              <a:t>and act upon the message.</a:t>
            </a:r>
          </a:p>
          <a:p>
            <a:pPr marL="457200" indent="-457200">
              <a:buFont typeface="Arial" panose="020B0604020202020204" pitchFamily="34" charset="0"/>
              <a:buChar char="•"/>
            </a:pPr>
            <a:r>
              <a:rPr lang="en-US" sz="3200" dirty="0" smtClean="0"/>
              <a:t>Communication </a:t>
            </a:r>
            <a:r>
              <a:rPr lang="en-US" sz="3200" b="1" dirty="0">
                <a:solidFill>
                  <a:srgbClr val="7030A0"/>
                </a:solidFill>
              </a:rPr>
              <a:t>plays important role in the lives of individuals and organizations. </a:t>
            </a:r>
            <a:endParaRPr lang="en-IN" sz="3200" b="1" dirty="0">
              <a:solidFill>
                <a:srgbClr val="7030A0"/>
              </a:solidFill>
            </a:endParaRPr>
          </a:p>
        </p:txBody>
      </p:sp>
      <p:pic>
        <p:nvPicPr>
          <p:cNvPr id="2" name="Picture 1"/>
          <p:cNvPicPr>
            <a:picLocks noChangeAspect="1"/>
          </p:cNvPicPr>
          <p:nvPr/>
        </p:nvPicPr>
        <p:blipFill>
          <a:blip r:embed="rId2"/>
          <a:stretch>
            <a:fillRect/>
          </a:stretch>
        </p:blipFill>
        <p:spPr>
          <a:xfrm>
            <a:off x="8210768" y="346643"/>
            <a:ext cx="3741297" cy="2654010"/>
          </a:xfrm>
          <a:prstGeom prst="rect">
            <a:avLst/>
          </a:prstGeom>
        </p:spPr>
      </p:pic>
    </p:spTree>
    <p:extLst>
      <p:ext uri="{BB962C8B-B14F-4D97-AF65-F5344CB8AC3E}">
        <p14:creationId xmlns:p14="http://schemas.microsoft.com/office/powerpoint/2010/main" val="5910227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45E396-EDC6-4CE4-9B4A-49032FE4866D}"/>
              </a:ext>
            </a:extLst>
          </p:cNvPr>
          <p:cNvSpPr txBox="1"/>
          <p:nvPr/>
        </p:nvSpPr>
        <p:spPr>
          <a:xfrm>
            <a:off x="286871" y="198147"/>
            <a:ext cx="10085294" cy="1754326"/>
          </a:xfrm>
          <a:prstGeom prst="rect">
            <a:avLst/>
          </a:prstGeom>
          <a:noFill/>
        </p:spPr>
        <p:txBody>
          <a:bodyPr wrap="square">
            <a:spAutoFit/>
          </a:bodyPr>
          <a:lstStyle/>
          <a:p>
            <a:r>
              <a:rPr lang="en-US" sz="2400" b="1" dirty="0">
                <a:solidFill>
                  <a:srgbClr val="FF0000"/>
                </a:solidFill>
              </a:rPr>
              <a:t>1. Basis for planning</a:t>
            </a:r>
          </a:p>
          <a:p>
            <a:pPr marL="457200" indent="-457200">
              <a:buFont typeface="Arial" panose="020B0604020202020204" pitchFamily="34" charset="0"/>
              <a:buChar char="•"/>
            </a:pPr>
            <a:r>
              <a:rPr lang="en-US" sz="2800" dirty="0"/>
              <a:t>Planning is the basic function of management. If plans are well designed and communicated for their implementation, it leads to organizational success.</a:t>
            </a:r>
            <a:endParaRPr lang="en-IN" sz="2800" dirty="0"/>
          </a:p>
        </p:txBody>
      </p:sp>
      <p:sp>
        <p:nvSpPr>
          <p:cNvPr id="5" name="TextBox 4">
            <a:extLst>
              <a:ext uri="{FF2B5EF4-FFF2-40B4-BE49-F238E27FC236}">
                <a16:creationId xmlns:a16="http://schemas.microsoft.com/office/drawing/2014/main" id="{07133B69-51B6-400D-B796-15A4272A9D51}"/>
              </a:ext>
            </a:extLst>
          </p:cNvPr>
          <p:cNvSpPr txBox="1"/>
          <p:nvPr/>
        </p:nvSpPr>
        <p:spPr>
          <a:xfrm>
            <a:off x="286870" y="2236259"/>
            <a:ext cx="11403105" cy="830997"/>
          </a:xfrm>
          <a:prstGeom prst="rect">
            <a:avLst/>
          </a:prstGeom>
          <a:noFill/>
        </p:spPr>
        <p:txBody>
          <a:bodyPr wrap="square">
            <a:spAutoFit/>
          </a:bodyPr>
          <a:lstStyle>
            <a:defPPr>
              <a:defRPr lang="en-US"/>
            </a:defPPr>
            <a:lvl1pPr>
              <a:defRPr sz="2400" b="1">
                <a:solidFill>
                  <a:srgbClr val="FF0000"/>
                </a:solidFill>
              </a:defRPr>
            </a:lvl1pPr>
          </a:lstStyle>
          <a:p>
            <a:r>
              <a:rPr lang="en-US" dirty="0"/>
              <a:t>2. Motivation to work:</a:t>
            </a:r>
          </a:p>
          <a:p>
            <a:pPr marL="342900" indent="-342900">
              <a:buFont typeface="Arial" panose="020B0604020202020204" pitchFamily="34" charset="0"/>
              <a:buChar char="•"/>
            </a:pPr>
            <a:r>
              <a:rPr lang="en-US" dirty="0">
                <a:solidFill>
                  <a:schemeClr val="tx1"/>
                </a:solidFill>
              </a:rPr>
              <a:t>Employees are motivated to work if their needs are satisfied.</a:t>
            </a:r>
            <a:endParaRPr lang="en-IN" dirty="0">
              <a:solidFill>
                <a:schemeClr val="tx1"/>
              </a:solidFill>
            </a:endParaRPr>
          </a:p>
        </p:txBody>
      </p:sp>
      <p:sp>
        <p:nvSpPr>
          <p:cNvPr id="7" name="TextBox 6">
            <a:extLst>
              <a:ext uri="{FF2B5EF4-FFF2-40B4-BE49-F238E27FC236}">
                <a16:creationId xmlns:a16="http://schemas.microsoft.com/office/drawing/2014/main" id="{160ACCB7-B273-4887-802B-073ED149D929}"/>
              </a:ext>
            </a:extLst>
          </p:cNvPr>
          <p:cNvSpPr txBox="1"/>
          <p:nvPr/>
        </p:nvSpPr>
        <p:spPr>
          <a:xfrm>
            <a:off x="286870" y="3429000"/>
            <a:ext cx="11322424" cy="646331"/>
          </a:xfrm>
          <a:prstGeom prst="rect">
            <a:avLst/>
          </a:prstGeom>
          <a:noFill/>
        </p:spPr>
        <p:txBody>
          <a:bodyPr wrap="square">
            <a:spAutoFit/>
          </a:bodyPr>
          <a:lstStyle>
            <a:defPPr>
              <a:defRPr lang="en-US"/>
            </a:defPPr>
            <a:lvl1pPr>
              <a:defRPr sz="2400" b="1">
                <a:solidFill>
                  <a:srgbClr val="FF0000"/>
                </a:solidFill>
              </a:defRPr>
            </a:lvl1pPr>
          </a:lstStyle>
          <a:p>
            <a:r>
              <a:rPr lang="en-US" dirty="0"/>
              <a:t>3. Job satisfaction:</a:t>
            </a:r>
          </a:p>
          <a:p>
            <a:pPr marL="342900" indent="-342900">
              <a:buFont typeface="Arial" panose="020B0604020202020204" pitchFamily="34" charset="0"/>
              <a:buChar char="•"/>
            </a:pPr>
            <a:r>
              <a:rPr lang="en-US" dirty="0">
                <a:solidFill>
                  <a:schemeClr val="tx1"/>
                </a:solidFill>
              </a:rPr>
              <a:t>Exchange of information develops trust, confidence and faith amongst managers and subordinates.</a:t>
            </a:r>
            <a:endParaRPr lang="en-IN" dirty="0">
              <a:solidFill>
                <a:schemeClr val="tx1"/>
              </a:solidFill>
            </a:endParaRPr>
          </a:p>
        </p:txBody>
      </p:sp>
      <p:sp>
        <p:nvSpPr>
          <p:cNvPr id="9" name="TextBox 8">
            <a:extLst>
              <a:ext uri="{FF2B5EF4-FFF2-40B4-BE49-F238E27FC236}">
                <a16:creationId xmlns:a16="http://schemas.microsoft.com/office/drawing/2014/main" id="{13B643EC-62C9-4208-9F95-D260F503935E}"/>
              </a:ext>
            </a:extLst>
          </p:cNvPr>
          <p:cNvSpPr txBox="1"/>
          <p:nvPr/>
        </p:nvSpPr>
        <p:spPr>
          <a:xfrm>
            <a:off x="286869" y="4991073"/>
            <a:ext cx="11152095" cy="923330"/>
          </a:xfrm>
          <a:prstGeom prst="rect">
            <a:avLst/>
          </a:prstGeom>
          <a:noFill/>
        </p:spPr>
        <p:txBody>
          <a:bodyPr wrap="square">
            <a:spAutoFit/>
          </a:bodyPr>
          <a:lstStyle>
            <a:defPPr>
              <a:defRPr lang="en-US"/>
            </a:defPPr>
            <a:lvl1pPr>
              <a:defRPr sz="2400" b="1">
                <a:solidFill>
                  <a:srgbClr val="FF0000"/>
                </a:solidFill>
              </a:defRPr>
            </a:lvl1pPr>
          </a:lstStyle>
          <a:p>
            <a:r>
              <a:rPr lang="en-US" dirty="0"/>
              <a:t>4. Training and development:</a:t>
            </a:r>
          </a:p>
          <a:p>
            <a:pPr marL="342900" indent="-342900">
              <a:buFont typeface="Arial" panose="020B0604020202020204" pitchFamily="34" charset="0"/>
              <a:buChar char="•"/>
            </a:pPr>
            <a:r>
              <a:rPr lang="en-US" dirty="0">
                <a:solidFill>
                  <a:schemeClr val="tx1"/>
                </a:solidFill>
              </a:rPr>
              <a:t>Imparting training and development facilities to employees depends upon how well their superiors communicate with them</a:t>
            </a:r>
            <a:endParaRPr lang="en-IN" dirty="0">
              <a:solidFill>
                <a:schemeClr val="tx1"/>
              </a:solidFill>
            </a:endParaRPr>
          </a:p>
        </p:txBody>
      </p:sp>
    </p:spTree>
    <p:extLst>
      <p:ext uri="{BB962C8B-B14F-4D97-AF65-F5344CB8AC3E}">
        <p14:creationId xmlns:p14="http://schemas.microsoft.com/office/powerpoint/2010/main" val="2888071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CE8532-4ABF-4AEA-B898-D0FC2445AA91}"/>
              </a:ext>
            </a:extLst>
          </p:cNvPr>
          <p:cNvSpPr txBox="1"/>
          <p:nvPr/>
        </p:nvSpPr>
        <p:spPr>
          <a:xfrm>
            <a:off x="295834" y="166319"/>
            <a:ext cx="11645153" cy="1200329"/>
          </a:xfrm>
          <a:prstGeom prst="rect">
            <a:avLst/>
          </a:prstGeom>
          <a:noFill/>
        </p:spPr>
        <p:txBody>
          <a:bodyPr wrap="square">
            <a:spAutoFit/>
          </a:bodyPr>
          <a:lstStyle/>
          <a:p>
            <a:r>
              <a:rPr lang="en-US" sz="2400" b="1" dirty="0">
                <a:solidFill>
                  <a:srgbClr val="FF0000"/>
                </a:solidFill>
              </a:rPr>
              <a:t>5. Facilitates leadership:</a:t>
            </a:r>
          </a:p>
          <a:p>
            <a:pPr marL="342900" indent="-342900">
              <a:buFont typeface="Arial" panose="020B0604020202020204" pitchFamily="34" charset="0"/>
              <a:buChar char="•"/>
            </a:pPr>
            <a:r>
              <a:rPr lang="en-US" sz="2400" b="1" dirty="0"/>
              <a:t>Effective leaders interact with followers, guide and inspire them to perform the individual and organizational goals.</a:t>
            </a:r>
            <a:endParaRPr lang="en-IN" sz="2400" b="1" dirty="0"/>
          </a:p>
        </p:txBody>
      </p:sp>
      <p:sp>
        <p:nvSpPr>
          <p:cNvPr id="5" name="TextBox 4">
            <a:extLst>
              <a:ext uri="{FF2B5EF4-FFF2-40B4-BE49-F238E27FC236}">
                <a16:creationId xmlns:a16="http://schemas.microsoft.com/office/drawing/2014/main" id="{2E05F835-190A-4292-ACD8-AAA637924B51}"/>
              </a:ext>
            </a:extLst>
          </p:cNvPr>
          <p:cNvSpPr txBox="1"/>
          <p:nvPr/>
        </p:nvSpPr>
        <p:spPr>
          <a:xfrm>
            <a:off x="295833" y="1659394"/>
            <a:ext cx="11196919" cy="923330"/>
          </a:xfrm>
          <a:prstGeom prst="rect">
            <a:avLst/>
          </a:prstGeom>
          <a:noFill/>
        </p:spPr>
        <p:txBody>
          <a:bodyPr wrap="square">
            <a:spAutoFit/>
          </a:bodyPr>
          <a:lstStyle>
            <a:defPPr>
              <a:defRPr lang="en-US"/>
            </a:defPPr>
            <a:lvl1pPr>
              <a:defRPr sz="2400" b="1">
                <a:solidFill>
                  <a:srgbClr val="FF0000"/>
                </a:solidFill>
              </a:defRPr>
            </a:lvl1pPr>
          </a:lstStyle>
          <a:p>
            <a:r>
              <a:rPr lang="en-US" dirty="0"/>
              <a:t>6. Adaptability to external environment:</a:t>
            </a:r>
          </a:p>
          <a:p>
            <a:pPr marL="342900" indent="-342900">
              <a:buFont typeface="Arial" panose="020B0604020202020204" pitchFamily="34" charset="0"/>
              <a:buChar char="•"/>
            </a:pPr>
            <a:r>
              <a:rPr lang="en-US" dirty="0">
                <a:solidFill>
                  <a:schemeClr val="tx1"/>
                </a:solidFill>
              </a:rPr>
              <a:t>In order to survive in the changing, dynamic environment, managers continuously interact with external parties like government, suppliers, customers, etc</a:t>
            </a:r>
            <a:endParaRPr lang="en-IN" dirty="0">
              <a:solidFill>
                <a:schemeClr val="tx1"/>
              </a:solidFill>
            </a:endParaRPr>
          </a:p>
        </p:txBody>
      </p:sp>
      <p:pic>
        <p:nvPicPr>
          <p:cNvPr id="2" name="Picture 1"/>
          <p:cNvPicPr>
            <a:picLocks noChangeAspect="1"/>
          </p:cNvPicPr>
          <p:nvPr/>
        </p:nvPicPr>
        <p:blipFill>
          <a:blip r:embed="rId2"/>
          <a:stretch>
            <a:fillRect/>
          </a:stretch>
        </p:blipFill>
        <p:spPr>
          <a:xfrm>
            <a:off x="1219200" y="3017852"/>
            <a:ext cx="5607728" cy="3154347"/>
          </a:xfrm>
          <a:prstGeom prst="rect">
            <a:avLst/>
          </a:prstGeom>
        </p:spPr>
      </p:pic>
    </p:spTree>
    <p:extLst>
      <p:ext uri="{BB962C8B-B14F-4D97-AF65-F5344CB8AC3E}">
        <p14:creationId xmlns:p14="http://schemas.microsoft.com/office/powerpoint/2010/main" val="17360506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7B5418-0553-466A-BF02-2467E5381FFD}"/>
              </a:ext>
            </a:extLst>
          </p:cNvPr>
          <p:cNvSpPr txBox="1"/>
          <p:nvPr/>
        </p:nvSpPr>
        <p:spPr>
          <a:xfrm>
            <a:off x="331693" y="255564"/>
            <a:ext cx="11241741" cy="5386090"/>
          </a:xfrm>
          <a:prstGeom prst="rect">
            <a:avLst/>
          </a:prstGeom>
          <a:noFill/>
        </p:spPr>
        <p:txBody>
          <a:bodyPr wrap="square">
            <a:spAutoFit/>
          </a:bodyPr>
          <a:lstStyle/>
          <a:p>
            <a:pPr algn="ctr"/>
            <a:r>
              <a:rPr lang="en-US" sz="3200" b="1" dirty="0">
                <a:solidFill>
                  <a:srgbClr val="FF0000"/>
                </a:solidFill>
              </a:rPr>
              <a:t>Principles of communication/ The 7 Cs of Communication</a:t>
            </a:r>
          </a:p>
          <a:p>
            <a:r>
              <a:rPr lang="en-US" sz="2800" dirty="0"/>
              <a:t>The </a:t>
            </a:r>
            <a:r>
              <a:rPr lang="en-US" sz="3200" b="1" dirty="0">
                <a:solidFill>
                  <a:srgbClr val="00B050"/>
                </a:solidFill>
              </a:rPr>
              <a:t>7 Cs </a:t>
            </a:r>
            <a:r>
              <a:rPr lang="en-US" sz="2800" dirty="0"/>
              <a:t>provide a checklist for making sure that your meetings , emails , conference calls , reports , and presentations are well constructed and clear – </a:t>
            </a:r>
            <a:r>
              <a:rPr lang="en-US" sz="2800" b="1" dirty="0">
                <a:solidFill>
                  <a:srgbClr val="FF0000"/>
                </a:solidFill>
              </a:rPr>
              <a:t>so your audience gets your message.</a:t>
            </a:r>
          </a:p>
          <a:p>
            <a:r>
              <a:rPr lang="en-US" sz="2800" dirty="0"/>
              <a:t>According to the 7 Cs, communication needs to be:</a:t>
            </a:r>
          </a:p>
          <a:p>
            <a:r>
              <a:rPr lang="en-US" sz="2800" b="1" dirty="0"/>
              <a:t>1. Clear</a:t>
            </a:r>
          </a:p>
          <a:p>
            <a:r>
              <a:rPr lang="en-US" sz="2800" b="1" dirty="0"/>
              <a:t>2. Concise</a:t>
            </a:r>
          </a:p>
          <a:p>
            <a:r>
              <a:rPr lang="en-US" sz="2800" b="1" dirty="0"/>
              <a:t>3. Concrete</a:t>
            </a:r>
          </a:p>
          <a:p>
            <a:r>
              <a:rPr lang="en-US" sz="2800" b="1" dirty="0"/>
              <a:t>4. Correct</a:t>
            </a:r>
          </a:p>
          <a:p>
            <a:r>
              <a:rPr lang="en-US" sz="2800" b="1" dirty="0"/>
              <a:t>5. Coherent</a:t>
            </a:r>
          </a:p>
          <a:p>
            <a:r>
              <a:rPr lang="en-US" sz="2800" b="1" dirty="0"/>
              <a:t>6. Complete</a:t>
            </a:r>
          </a:p>
          <a:p>
            <a:r>
              <a:rPr lang="en-US" sz="2800" b="1" dirty="0"/>
              <a:t>7. Courteous</a:t>
            </a:r>
            <a:endParaRPr lang="en-IN" sz="2800" b="1" dirty="0"/>
          </a:p>
        </p:txBody>
      </p:sp>
      <p:pic>
        <p:nvPicPr>
          <p:cNvPr id="2" name="Picture 1"/>
          <p:cNvPicPr>
            <a:picLocks noChangeAspect="1"/>
          </p:cNvPicPr>
          <p:nvPr/>
        </p:nvPicPr>
        <p:blipFill>
          <a:blip r:embed="rId2"/>
          <a:stretch>
            <a:fillRect/>
          </a:stretch>
        </p:blipFill>
        <p:spPr>
          <a:xfrm>
            <a:off x="5952563" y="3135158"/>
            <a:ext cx="3502155" cy="2821759"/>
          </a:xfrm>
          <a:prstGeom prst="rect">
            <a:avLst/>
          </a:prstGeom>
        </p:spPr>
      </p:pic>
    </p:spTree>
    <p:extLst>
      <p:ext uri="{BB962C8B-B14F-4D97-AF65-F5344CB8AC3E}">
        <p14:creationId xmlns:p14="http://schemas.microsoft.com/office/powerpoint/2010/main" val="7542773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F57629-2BEB-4C47-B616-43487B1F11DE}"/>
              </a:ext>
            </a:extLst>
          </p:cNvPr>
          <p:cNvSpPr txBox="1"/>
          <p:nvPr/>
        </p:nvSpPr>
        <p:spPr>
          <a:xfrm>
            <a:off x="322728" y="186062"/>
            <a:ext cx="10856259" cy="2677656"/>
          </a:xfrm>
          <a:prstGeom prst="rect">
            <a:avLst/>
          </a:prstGeom>
          <a:noFill/>
        </p:spPr>
        <p:txBody>
          <a:bodyPr wrap="square">
            <a:spAutoFit/>
          </a:bodyPr>
          <a:lstStyle/>
          <a:p>
            <a:r>
              <a:rPr lang="en-US" sz="2400" b="1" dirty="0">
                <a:solidFill>
                  <a:srgbClr val="FF0000"/>
                </a:solidFill>
              </a:rPr>
              <a:t>1. Clear</a:t>
            </a:r>
          </a:p>
          <a:p>
            <a:pPr marL="342900" indent="-342900">
              <a:buFont typeface="Arial" panose="020B0604020202020204" pitchFamily="34" charset="0"/>
              <a:buChar char="•"/>
            </a:pPr>
            <a:r>
              <a:rPr lang="en-US" sz="2400" b="1" dirty="0"/>
              <a:t>When writing or speaking to someone, be clear about your goal or message. What is your purpose in communicating with this person? If you're not sure, then your audience won't be sure either. </a:t>
            </a:r>
          </a:p>
          <a:p>
            <a:pPr marL="342900" indent="-342900">
              <a:buFont typeface="Arial" panose="020B0604020202020204" pitchFamily="34" charset="0"/>
              <a:buChar char="•"/>
            </a:pPr>
            <a:endParaRPr lang="en-US" sz="2400" b="1" dirty="0"/>
          </a:p>
          <a:p>
            <a:pPr marL="342900" indent="-342900">
              <a:buFont typeface="Arial" panose="020B0604020202020204" pitchFamily="34" charset="0"/>
              <a:buChar char="•"/>
            </a:pPr>
            <a:r>
              <a:rPr lang="en-US" sz="2400" b="1" dirty="0"/>
              <a:t>To be clear, try to minimize the number of ideas in each sentence. Make sure that it's easy for </a:t>
            </a:r>
            <a:r>
              <a:rPr lang="en-US" sz="2400" b="1" dirty="0" smtClean="0"/>
              <a:t>reader </a:t>
            </a:r>
            <a:r>
              <a:rPr lang="en-US" sz="2400" b="1" dirty="0"/>
              <a:t>to understand </a:t>
            </a:r>
            <a:r>
              <a:rPr lang="en-US" sz="2400" b="1" dirty="0" smtClean="0"/>
              <a:t>the meaning</a:t>
            </a:r>
            <a:endParaRPr lang="en-IN" sz="2400" b="1" dirty="0"/>
          </a:p>
        </p:txBody>
      </p:sp>
      <p:sp>
        <p:nvSpPr>
          <p:cNvPr id="5" name="TextBox 4">
            <a:extLst>
              <a:ext uri="{FF2B5EF4-FFF2-40B4-BE49-F238E27FC236}">
                <a16:creationId xmlns:a16="http://schemas.microsoft.com/office/drawing/2014/main" id="{D8C233E0-306C-4169-B109-E9B172220782}"/>
              </a:ext>
            </a:extLst>
          </p:cNvPr>
          <p:cNvSpPr txBox="1"/>
          <p:nvPr/>
        </p:nvSpPr>
        <p:spPr>
          <a:xfrm>
            <a:off x="322728" y="3030995"/>
            <a:ext cx="11214848" cy="1569660"/>
          </a:xfrm>
          <a:prstGeom prst="rect">
            <a:avLst/>
          </a:prstGeom>
          <a:noFill/>
        </p:spPr>
        <p:txBody>
          <a:bodyPr wrap="square">
            <a:spAutoFit/>
          </a:bodyPr>
          <a:lstStyle/>
          <a:p>
            <a:r>
              <a:rPr lang="en-US" sz="2400" b="1" dirty="0">
                <a:solidFill>
                  <a:srgbClr val="FF0000"/>
                </a:solidFill>
              </a:rPr>
              <a:t>2. Concise</a:t>
            </a:r>
          </a:p>
          <a:p>
            <a:pPr marL="342900" indent="-342900">
              <a:buFont typeface="Arial" panose="020B0604020202020204" pitchFamily="34" charset="0"/>
              <a:buChar char="•"/>
            </a:pPr>
            <a:r>
              <a:rPr lang="en-US" sz="2400" b="1" dirty="0"/>
              <a:t>When you're concise in your communication, you stick to the point and keep it brief. Your audience doesn't want to read six sentences when you could communicate your message in three.</a:t>
            </a:r>
            <a:endParaRPr lang="en-IN" sz="2400" b="1" dirty="0"/>
          </a:p>
        </p:txBody>
      </p:sp>
      <p:sp>
        <p:nvSpPr>
          <p:cNvPr id="7" name="TextBox 6">
            <a:extLst>
              <a:ext uri="{FF2B5EF4-FFF2-40B4-BE49-F238E27FC236}">
                <a16:creationId xmlns:a16="http://schemas.microsoft.com/office/drawing/2014/main" id="{66608F9B-8C6F-4016-B7D7-54BB8E54C5B9}"/>
              </a:ext>
            </a:extLst>
          </p:cNvPr>
          <p:cNvSpPr txBox="1"/>
          <p:nvPr/>
        </p:nvSpPr>
        <p:spPr>
          <a:xfrm>
            <a:off x="322728" y="4767932"/>
            <a:ext cx="11134166" cy="1569660"/>
          </a:xfrm>
          <a:prstGeom prst="rect">
            <a:avLst/>
          </a:prstGeom>
          <a:noFill/>
        </p:spPr>
        <p:txBody>
          <a:bodyPr wrap="square">
            <a:spAutoFit/>
          </a:bodyPr>
          <a:lstStyle/>
          <a:p>
            <a:r>
              <a:rPr lang="en-US" sz="2400" b="1" dirty="0">
                <a:solidFill>
                  <a:srgbClr val="FF0000"/>
                </a:solidFill>
              </a:rPr>
              <a:t>3. Concrete</a:t>
            </a:r>
          </a:p>
          <a:p>
            <a:pPr marL="342900" indent="-342900">
              <a:buFont typeface="Arial" panose="020B0604020202020204" pitchFamily="34" charset="0"/>
              <a:buChar char="•"/>
            </a:pPr>
            <a:r>
              <a:rPr lang="en-US" sz="2400" b="1" dirty="0"/>
              <a:t>When your message is concrete, then your audience has a clear picture of what you're telling them. There are details (but not too many!) and powerful facts, and there's laser-like focus. Your message is solid</a:t>
            </a:r>
            <a:endParaRPr lang="en-IN" sz="2400" b="1" dirty="0"/>
          </a:p>
        </p:txBody>
      </p:sp>
    </p:spTree>
    <p:extLst>
      <p:ext uri="{BB962C8B-B14F-4D97-AF65-F5344CB8AC3E}">
        <p14:creationId xmlns:p14="http://schemas.microsoft.com/office/powerpoint/2010/main" val="20242055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2CABC3-6874-46ED-A6DF-A3BDA5CFA634}"/>
              </a:ext>
            </a:extLst>
          </p:cNvPr>
          <p:cNvSpPr txBox="1"/>
          <p:nvPr/>
        </p:nvSpPr>
        <p:spPr>
          <a:xfrm>
            <a:off x="242047" y="130459"/>
            <a:ext cx="11609294" cy="1200329"/>
          </a:xfrm>
          <a:prstGeom prst="rect">
            <a:avLst/>
          </a:prstGeom>
          <a:noFill/>
        </p:spPr>
        <p:txBody>
          <a:bodyPr wrap="square">
            <a:spAutoFit/>
          </a:bodyPr>
          <a:lstStyle/>
          <a:p>
            <a:r>
              <a:rPr lang="en-US" sz="2400" b="1" dirty="0">
                <a:solidFill>
                  <a:srgbClr val="FF0000"/>
                </a:solidFill>
              </a:rPr>
              <a:t>4. Correct</a:t>
            </a:r>
          </a:p>
          <a:p>
            <a:pPr marL="342900" indent="-342900">
              <a:buFont typeface="Arial" panose="020B0604020202020204" pitchFamily="34" charset="0"/>
              <a:buChar char="•"/>
            </a:pPr>
            <a:r>
              <a:rPr lang="en-US" sz="2400" b="1" dirty="0"/>
              <a:t>When your communication is correct, it fits your audience. And correct communication is also error-free communication.</a:t>
            </a:r>
          </a:p>
        </p:txBody>
      </p:sp>
      <p:sp>
        <p:nvSpPr>
          <p:cNvPr id="5" name="TextBox 4">
            <a:extLst>
              <a:ext uri="{FF2B5EF4-FFF2-40B4-BE49-F238E27FC236}">
                <a16:creationId xmlns:a16="http://schemas.microsoft.com/office/drawing/2014/main" id="{A9253377-D9BB-47F0-A10B-B9C35C0890BD}"/>
              </a:ext>
            </a:extLst>
          </p:cNvPr>
          <p:cNvSpPr txBox="1"/>
          <p:nvPr/>
        </p:nvSpPr>
        <p:spPr>
          <a:xfrm>
            <a:off x="242047" y="1330788"/>
            <a:ext cx="11609294" cy="1200329"/>
          </a:xfrm>
          <a:prstGeom prst="rect">
            <a:avLst/>
          </a:prstGeom>
          <a:noFill/>
        </p:spPr>
        <p:txBody>
          <a:bodyPr wrap="square">
            <a:spAutoFit/>
          </a:bodyPr>
          <a:lstStyle/>
          <a:p>
            <a:r>
              <a:rPr lang="en-US" sz="2400" b="1" dirty="0">
                <a:solidFill>
                  <a:srgbClr val="FF0000"/>
                </a:solidFill>
              </a:rPr>
              <a:t>5. Coherent</a:t>
            </a:r>
          </a:p>
          <a:p>
            <a:pPr marL="342900" indent="-342900">
              <a:buFont typeface="Arial" panose="020B0604020202020204" pitchFamily="34" charset="0"/>
              <a:buChar char="•"/>
            </a:pPr>
            <a:r>
              <a:rPr lang="en-US" sz="2400" b="1" dirty="0"/>
              <a:t>When your communication is coherent, it's logical. All points are connected and relevant to the main topic, and the tone and flow of the text is consistent.</a:t>
            </a:r>
            <a:endParaRPr lang="en-IN" sz="2400" b="1" dirty="0"/>
          </a:p>
        </p:txBody>
      </p:sp>
      <p:sp>
        <p:nvSpPr>
          <p:cNvPr id="7" name="TextBox 6">
            <a:extLst>
              <a:ext uri="{FF2B5EF4-FFF2-40B4-BE49-F238E27FC236}">
                <a16:creationId xmlns:a16="http://schemas.microsoft.com/office/drawing/2014/main" id="{874B12FE-10A4-4EC7-B18E-39377F5225D2}"/>
              </a:ext>
            </a:extLst>
          </p:cNvPr>
          <p:cNvSpPr txBox="1"/>
          <p:nvPr/>
        </p:nvSpPr>
        <p:spPr>
          <a:xfrm>
            <a:off x="242047" y="2729316"/>
            <a:ext cx="11609294" cy="1569660"/>
          </a:xfrm>
          <a:prstGeom prst="rect">
            <a:avLst/>
          </a:prstGeom>
          <a:noFill/>
        </p:spPr>
        <p:txBody>
          <a:bodyPr wrap="square">
            <a:spAutoFit/>
          </a:bodyPr>
          <a:lstStyle/>
          <a:p>
            <a:r>
              <a:rPr lang="en-US" sz="2400" b="1" dirty="0">
                <a:solidFill>
                  <a:srgbClr val="FF0000"/>
                </a:solidFill>
              </a:rPr>
              <a:t>6. Complete</a:t>
            </a:r>
          </a:p>
          <a:p>
            <a:pPr marL="342900" indent="-342900">
              <a:buFont typeface="Arial" panose="020B0604020202020204" pitchFamily="34" charset="0"/>
              <a:buChar char="•"/>
            </a:pPr>
            <a:r>
              <a:rPr lang="en-US" sz="2400" b="1" dirty="0"/>
              <a:t>In a complete message, the audience has everything they need to be informed and, if applicable, take action.</a:t>
            </a:r>
          </a:p>
          <a:p>
            <a:endParaRPr lang="en-US" sz="2400" b="1" dirty="0">
              <a:solidFill>
                <a:srgbClr val="FF0000"/>
              </a:solidFill>
            </a:endParaRPr>
          </a:p>
        </p:txBody>
      </p:sp>
      <p:sp>
        <p:nvSpPr>
          <p:cNvPr id="9" name="TextBox 8">
            <a:extLst>
              <a:ext uri="{FF2B5EF4-FFF2-40B4-BE49-F238E27FC236}">
                <a16:creationId xmlns:a16="http://schemas.microsoft.com/office/drawing/2014/main" id="{1420D77D-9AA4-41D8-8C7C-6A60DF42028F}"/>
              </a:ext>
            </a:extLst>
          </p:cNvPr>
          <p:cNvSpPr txBox="1"/>
          <p:nvPr/>
        </p:nvSpPr>
        <p:spPr>
          <a:xfrm>
            <a:off x="242047" y="4298976"/>
            <a:ext cx="11609293" cy="1569660"/>
          </a:xfrm>
          <a:prstGeom prst="rect">
            <a:avLst/>
          </a:prstGeom>
          <a:noFill/>
        </p:spPr>
        <p:txBody>
          <a:bodyPr wrap="square">
            <a:spAutoFit/>
          </a:bodyPr>
          <a:lstStyle/>
          <a:p>
            <a:r>
              <a:rPr lang="en-US" sz="2400" b="1" dirty="0">
                <a:solidFill>
                  <a:srgbClr val="FF0000"/>
                </a:solidFill>
              </a:rPr>
              <a:t>7. Courteous</a:t>
            </a:r>
          </a:p>
          <a:p>
            <a:pPr marL="342900" indent="-342900">
              <a:buFont typeface="Arial" panose="020B0604020202020204" pitchFamily="34" charset="0"/>
              <a:buChar char="•"/>
            </a:pPr>
            <a:r>
              <a:rPr lang="en-US" sz="2400" b="1" dirty="0"/>
              <a:t>Courteous communication is friendly, open, and honest. There are no hidden insults or passive aggressive tones. You keep your reader's viewpoint in mind, and you’re empathetic to their needs.</a:t>
            </a:r>
          </a:p>
        </p:txBody>
      </p:sp>
    </p:spTree>
    <p:extLst>
      <p:ext uri="{BB962C8B-B14F-4D97-AF65-F5344CB8AC3E}">
        <p14:creationId xmlns:p14="http://schemas.microsoft.com/office/powerpoint/2010/main" val="1828933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e 7 Cs of Communication - Revolution Learning and Development Ltd">
            <a:extLst>
              <a:ext uri="{FF2B5EF4-FFF2-40B4-BE49-F238E27FC236}">
                <a16:creationId xmlns:a16="http://schemas.microsoft.com/office/drawing/2014/main" id="{075BB007-4B07-4B11-8270-E6E874953C8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5981"/>
          <a:stretch/>
        </p:blipFill>
        <p:spPr bwMode="auto">
          <a:xfrm>
            <a:off x="2405902" y="102253"/>
            <a:ext cx="6522943" cy="6171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54681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A4A3B-8703-48BD-BDF6-0A5717BDC229}"/>
              </a:ext>
            </a:extLst>
          </p:cNvPr>
          <p:cNvSpPr>
            <a:spLocks noGrp="1"/>
          </p:cNvSpPr>
          <p:nvPr>
            <p:ph type="title"/>
          </p:nvPr>
        </p:nvSpPr>
        <p:spPr>
          <a:xfrm>
            <a:off x="838200" y="69291"/>
            <a:ext cx="10515600" cy="916828"/>
          </a:xfrm>
        </p:spPr>
        <p:txBody>
          <a:bodyPr>
            <a:normAutofit fontScale="90000"/>
          </a:bodyPr>
          <a:lstStyle/>
          <a:p>
            <a:pPr algn="ctr"/>
            <a:r>
              <a:rPr lang="en-US" sz="9600" b="1" dirty="0">
                <a:solidFill>
                  <a:srgbClr val="FF0000"/>
                </a:solidFill>
              </a:rPr>
              <a:t>1. Clear</a:t>
            </a:r>
            <a:endParaRPr lang="en-IN" sz="9600" b="1" dirty="0">
              <a:solidFill>
                <a:srgbClr val="FF0000"/>
              </a:solidFill>
            </a:endParaRPr>
          </a:p>
        </p:txBody>
      </p:sp>
      <p:sp>
        <p:nvSpPr>
          <p:cNvPr id="3" name="Content Placeholder 2">
            <a:extLst>
              <a:ext uri="{FF2B5EF4-FFF2-40B4-BE49-F238E27FC236}">
                <a16:creationId xmlns:a16="http://schemas.microsoft.com/office/drawing/2014/main" id="{1D4651E6-08A9-47A2-A70C-EF9E84553236}"/>
              </a:ext>
            </a:extLst>
          </p:cNvPr>
          <p:cNvSpPr>
            <a:spLocks noGrp="1"/>
          </p:cNvSpPr>
          <p:nvPr>
            <p:ph sz="half" idx="1"/>
          </p:nvPr>
        </p:nvSpPr>
        <p:spPr>
          <a:xfrm>
            <a:off x="838201" y="1081554"/>
            <a:ext cx="5181600" cy="4351338"/>
          </a:xfrm>
        </p:spPr>
        <p:txBody>
          <a:bodyPr>
            <a:normAutofit fontScale="92500" lnSpcReduction="20000"/>
          </a:bodyPr>
          <a:lstStyle/>
          <a:p>
            <a:pPr marL="0" indent="0" algn="ctr" fontAlgn="auto">
              <a:buNone/>
            </a:pPr>
            <a:r>
              <a:rPr lang="en-US" sz="3500" b="1" i="0" dirty="0">
                <a:solidFill>
                  <a:srgbClr val="FF0000"/>
                </a:solidFill>
                <a:effectLst/>
                <a:latin typeface="-apple-system"/>
              </a:rPr>
              <a:t>Bad Example</a:t>
            </a:r>
          </a:p>
          <a:p>
            <a:pPr marL="0" indent="0" algn="l" fontAlgn="auto">
              <a:buNone/>
            </a:pPr>
            <a:r>
              <a:rPr lang="en-US" b="1" i="0" dirty="0">
                <a:solidFill>
                  <a:srgbClr val="00B050"/>
                </a:solidFill>
                <a:effectLst/>
                <a:latin typeface="-apple-system"/>
              </a:rPr>
              <a:t>Hi Peter,</a:t>
            </a:r>
          </a:p>
          <a:p>
            <a:pPr marL="0" indent="0" algn="l" fontAlgn="auto">
              <a:buNone/>
            </a:pPr>
            <a:r>
              <a:rPr lang="en-US" b="0" i="0" dirty="0">
                <a:effectLst/>
                <a:latin typeface="-apple-system"/>
              </a:rPr>
              <a:t>I would like to schedule a meeting with you in regards to yesterday’s conversation. The topics you covered were great, and I’d like to speak about them in detail. Please let me know when you would like to have this meet.</a:t>
            </a:r>
          </a:p>
          <a:p>
            <a:pPr marL="0" indent="0" algn="l" fontAlgn="auto">
              <a:buNone/>
            </a:pPr>
            <a:r>
              <a:rPr lang="en-US" b="1" i="0" dirty="0">
                <a:solidFill>
                  <a:srgbClr val="00B050"/>
                </a:solidFill>
                <a:effectLst/>
                <a:latin typeface="-apple-system"/>
              </a:rPr>
              <a:t>Regards</a:t>
            </a:r>
          </a:p>
          <a:p>
            <a:pPr marL="0" indent="0" algn="l" fontAlgn="auto">
              <a:buNone/>
            </a:pPr>
            <a:r>
              <a:rPr lang="en-US" b="1" i="0" dirty="0">
                <a:solidFill>
                  <a:srgbClr val="00B050"/>
                </a:solidFill>
                <a:effectLst/>
                <a:latin typeface="-apple-system"/>
              </a:rPr>
              <a:t>Chris</a:t>
            </a:r>
          </a:p>
          <a:p>
            <a:endParaRPr lang="en-IN" dirty="0"/>
          </a:p>
        </p:txBody>
      </p:sp>
      <p:sp>
        <p:nvSpPr>
          <p:cNvPr id="4" name="Content Placeholder 3">
            <a:extLst>
              <a:ext uri="{FF2B5EF4-FFF2-40B4-BE49-F238E27FC236}">
                <a16:creationId xmlns:a16="http://schemas.microsoft.com/office/drawing/2014/main" id="{6DDEAB32-E259-4F20-87E7-4F626778D8F6}"/>
              </a:ext>
            </a:extLst>
          </p:cNvPr>
          <p:cNvSpPr>
            <a:spLocks noGrp="1"/>
          </p:cNvSpPr>
          <p:nvPr>
            <p:ph sz="half" idx="2"/>
          </p:nvPr>
        </p:nvSpPr>
        <p:spPr>
          <a:xfrm>
            <a:off x="6096000" y="1081554"/>
            <a:ext cx="5737412" cy="4351338"/>
          </a:xfrm>
        </p:spPr>
        <p:txBody>
          <a:bodyPr>
            <a:normAutofit fontScale="92500" lnSpcReduction="20000"/>
          </a:bodyPr>
          <a:lstStyle/>
          <a:p>
            <a:pPr marL="0" indent="0" algn="ctr" fontAlgn="auto">
              <a:buNone/>
            </a:pPr>
            <a:r>
              <a:rPr lang="en-US" sz="3900" b="1" i="0" dirty="0">
                <a:solidFill>
                  <a:srgbClr val="FF0000"/>
                </a:solidFill>
                <a:effectLst/>
                <a:latin typeface="-apple-system"/>
              </a:rPr>
              <a:t>Good Example</a:t>
            </a:r>
          </a:p>
          <a:p>
            <a:pPr marL="0" indent="0" algn="l" fontAlgn="auto">
              <a:buNone/>
            </a:pPr>
            <a:r>
              <a:rPr lang="en-US" b="1" i="0" dirty="0">
                <a:solidFill>
                  <a:srgbClr val="00B050"/>
                </a:solidFill>
                <a:effectLst/>
                <a:latin typeface="-apple-system"/>
              </a:rPr>
              <a:t>Hi Peter,</a:t>
            </a:r>
          </a:p>
          <a:p>
            <a:pPr marL="0" indent="0" algn="l" fontAlgn="auto">
              <a:buNone/>
            </a:pPr>
            <a:r>
              <a:rPr lang="en-US" b="0" i="0" dirty="0">
                <a:effectLst/>
                <a:latin typeface="-apple-system"/>
              </a:rPr>
              <a:t>I would like to schedule a meeting with you in regards to your presentation on email marketing. The topics you covered were great, and I would like to discuss implementation on our current clients. Please let me know when you have the time so that we can discuss it in detail.</a:t>
            </a:r>
          </a:p>
          <a:p>
            <a:pPr marL="0" indent="0" algn="l" fontAlgn="auto">
              <a:buNone/>
            </a:pPr>
            <a:r>
              <a:rPr lang="en-US" b="1" i="0" dirty="0">
                <a:solidFill>
                  <a:srgbClr val="00B050"/>
                </a:solidFill>
                <a:effectLst/>
                <a:latin typeface="-apple-system"/>
              </a:rPr>
              <a:t>Regards</a:t>
            </a:r>
          </a:p>
          <a:p>
            <a:pPr marL="0" indent="0" algn="l" fontAlgn="auto">
              <a:buNone/>
            </a:pPr>
            <a:r>
              <a:rPr lang="en-US" b="1" i="0" dirty="0">
                <a:solidFill>
                  <a:srgbClr val="00B050"/>
                </a:solidFill>
                <a:effectLst/>
                <a:latin typeface="-apple-system"/>
              </a:rPr>
              <a:t>Chris</a:t>
            </a:r>
          </a:p>
          <a:p>
            <a:endParaRPr lang="en-IN" dirty="0"/>
          </a:p>
        </p:txBody>
      </p:sp>
      <p:sp>
        <p:nvSpPr>
          <p:cNvPr id="6" name="TextBox 5">
            <a:extLst>
              <a:ext uri="{FF2B5EF4-FFF2-40B4-BE49-F238E27FC236}">
                <a16:creationId xmlns:a16="http://schemas.microsoft.com/office/drawing/2014/main" id="{6528B306-3675-4C7A-A21C-D4B9F2C1EA54}"/>
              </a:ext>
            </a:extLst>
          </p:cNvPr>
          <p:cNvSpPr txBox="1"/>
          <p:nvPr/>
        </p:nvSpPr>
        <p:spPr>
          <a:xfrm>
            <a:off x="259976" y="5432892"/>
            <a:ext cx="5056095" cy="1200329"/>
          </a:xfrm>
          <a:prstGeom prst="rect">
            <a:avLst/>
          </a:prstGeom>
          <a:noFill/>
        </p:spPr>
        <p:txBody>
          <a:bodyPr wrap="square">
            <a:spAutoFit/>
          </a:bodyPr>
          <a:lstStyle/>
          <a:p>
            <a:r>
              <a:rPr lang="en-US" b="1" i="0" dirty="0">
                <a:solidFill>
                  <a:srgbClr val="C00000"/>
                </a:solidFill>
                <a:effectLst/>
                <a:latin typeface="-apple-system"/>
              </a:rPr>
              <a:t>In the above example, we do not know which conversation Chris is referring to. If Chris had met Peter on multiple occasions that day then he wouldn’t know what Chris is actually talking about.</a:t>
            </a:r>
            <a:endParaRPr lang="en-IN" b="1" dirty="0">
              <a:solidFill>
                <a:srgbClr val="C00000"/>
              </a:solidFill>
            </a:endParaRPr>
          </a:p>
        </p:txBody>
      </p:sp>
    </p:spTree>
    <p:extLst>
      <p:ext uri="{BB962C8B-B14F-4D97-AF65-F5344CB8AC3E}">
        <p14:creationId xmlns:p14="http://schemas.microsoft.com/office/powerpoint/2010/main" val="30317533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A4A3B-8703-48BD-BDF6-0A5717BDC229}"/>
              </a:ext>
            </a:extLst>
          </p:cNvPr>
          <p:cNvSpPr>
            <a:spLocks noGrp="1"/>
          </p:cNvSpPr>
          <p:nvPr>
            <p:ph type="title"/>
          </p:nvPr>
        </p:nvSpPr>
        <p:spPr>
          <a:xfrm>
            <a:off x="838200" y="69291"/>
            <a:ext cx="10515600" cy="916828"/>
          </a:xfrm>
        </p:spPr>
        <p:txBody>
          <a:bodyPr>
            <a:normAutofit fontScale="90000"/>
          </a:bodyPr>
          <a:lstStyle/>
          <a:p>
            <a:pPr algn="ctr"/>
            <a:r>
              <a:rPr lang="en-US" sz="9600" b="1" dirty="0">
                <a:solidFill>
                  <a:srgbClr val="FF0000"/>
                </a:solidFill>
              </a:rPr>
              <a:t>2. Concise</a:t>
            </a:r>
            <a:endParaRPr lang="en-IN" sz="9600" b="1" dirty="0">
              <a:solidFill>
                <a:srgbClr val="FF0000"/>
              </a:solidFill>
            </a:endParaRPr>
          </a:p>
        </p:txBody>
      </p:sp>
      <p:sp>
        <p:nvSpPr>
          <p:cNvPr id="3" name="Content Placeholder 2">
            <a:extLst>
              <a:ext uri="{FF2B5EF4-FFF2-40B4-BE49-F238E27FC236}">
                <a16:creationId xmlns:a16="http://schemas.microsoft.com/office/drawing/2014/main" id="{1D4651E6-08A9-47A2-A70C-EF9E84553236}"/>
              </a:ext>
            </a:extLst>
          </p:cNvPr>
          <p:cNvSpPr>
            <a:spLocks noGrp="1"/>
          </p:cNvSpPr>
          <p:nvPr>
            <p:ph sz="half" idx="1"/>
          </p:nvPr>
        </p:nvSpPr>
        <p:spPr>
          <a:xfrm>
            <a:off x="838201" y="1081554"/>
            <a:ext cx="5181600" cy="4351338"/>
          </a:xfrm>
        </p:spPr>
        <p:txBody>
          <a:bodyPr>
            <a:normAutofit fontScale="55000" lnSpcReduction="20000"/>
          </a:bodyPr>
          <a:lstStyle/>
          <a:p>
            <a:pPr marL="0" indent="0" algn="ctr" fontAlgn="auto">
              <a:buNone/>
            </a:pPr>
            <a:r>
              <a:rPr lang="en-US" sz="3500" b="1" i="0" dirty="0">
                <a:solidFill>
                  <a:srgbClr val="FF0000"/>
                </a:solidFill>
                <a:effectLst/>
                <a:latin typeface="-apple-system"/>
              </a:rPr>
              <a:t>Bad Example</a:t>
            </a:r>
          </a:p>
          <a:p>
            <a:pPr marL="0" indent="0" algn="l" fontAlgn="auto">
              <a:buNone/>
            </a:pPr>
            <a:r>
              <a:rPr lang="en-US" b="1" i="0" dirty="0">
                <a:solidFill>
                  <a:srgbClr val="00B050"/>
                </a:solidFill>
                <a:effectLst/>
                <a:latin typeface="-apple-system"/>
              </a:rPr>
              <a:t>Dear Bharat,</a:t>
            </a:r>
          </a:p>
          <a:p>
            <a:pPr marL="0" indent="0" algn="l" fontAlgn="auto">
              <a:buNone/>
            </a:pPr>
            <a:r>
              <a:rPr lang="en-US" b="0" i="0" dirty="0">
                <a:effectLst/>
                <a:latin typeface="-apple-system"/>
              </a:rPr>
              <a:t>I wanted to talk about the video editing ideas we sort of planned out the other day. Don’t you think it would make a lot of sense to also add additional elements to the videos? I mean, I think that would sort of improve the quality of the videos as well as have a stronger impact on the client’s message.</a:t>
            </a:r>
          </a:p>
          <a:p>
            <a:pPr marL="0" indent="0" algn="l" fontAlgn="auto">
              <a:buNone/>
            </a:pPr>
            <a:r>
              <a:rPr lang="en-US" b="0" i="0" dirty="0">
                <a:effectLst/>
                <a:latin typeface="-apple-system"/>
              </a:rPr>
              <a:t>For instance, we could add a dissolve transition to each movie, which would then give it a seamless flow. This would then make the video cleaner and be more appealing in the minds of the people. The impact would just be a lot greater. This makes a lot more sense according to me.</a:t>
            </a:r>
          </a:p>
          <a:p>
            <a:pPr marL="0" indent="0" algn="l" fontAlgn="auto">
              <a:buNone/>
            </a:pPr>
            <a:r>
              <a:rPr lang="en-US" b="0" i="0" dirty="0">
                <a:effectLst/>
                <a:latin typeface="-apple-system"/>
              </a:rPr>
              <a:t>What do you think?</a:t>
            </a:r>
          </a:p>
          <a:p>
            <a:pPr marL="0" indent="0" algn="l" fontAlgn="auto">
              <a:buNone/>
            </a:pPr>
            <a:r>
              <a:rPr lang="en-US" b="1" i="0" dirty="0">
                <a:solidFill>
                  <a:srgbClr val="00B050"/>
                </a:solidFill>
                <a:effectLst/>
                <a:latin typeface="-apple-system"/>
              </a:rPr>
              <a:t>Regards</a:t>
            </a:r>
          </a:p>
          <a:p>
            <a:pPr marL="0" indent="0" algn="l" fontAlgn="auto">
              <a:buNone/>
            </a:pPr>
            <a:r>
              <a:rPr lang="en-US" b="1" i="0" dirty="0">
                <a:solidFill>
                  <a:srgbClr val="00B050"/>
                </a:solidFill>
                <a:effectLst/>
                <a:latin typeface="-apple-system"/>
              </a:rPr>
              <a:t>Aaron</a:t>
            </a:r>
          </a:p>
          <a:p>
            <a:endParaRPr lang="en-IN" dirty="0"/>
          </a:p>
        </p:txBody>
      </p:sp>
      <p:sp>
        <p:nvSpPr>
          <p:cNvPr id="4" name="Content Placeholder 3">
            <a:extLst>
              <a:ext uri="{FF2B5EF4-FFF2-40B4-BE49-F238E27FC236}">
                <a16:creationId xmlns:a16="http://schemas.microsoft.com/office/drawing/2014/main" id="{6DDEAB32-E259-4F20-87E7-4F626778D8F6}"/>
              </a:ext>
            </a:extLst>
          </p:cNvPr>
          <p:cNvSpPr>
            <a:spLocks noGrp="1"/>
          </p:cNvSpPr>
          <p:nvPr>
            <p:ph sz="half" idx="2"/>
          </p:nvPr>
        </p:nvSpPr>
        <p:spPr>
          <a:xfrm>
            <a:off x="6096000" y="1081554"/>
            <a:ext cx="5737412" cy="4351338"/>
          </a:xfrm>
        </p:spPr>
        <p:txBody>
          <a:bodyPr>
            <a:normAutofit fontScale="55000" lnSpcReduction="20000"/>
          </a:bodyPr>
          <a:lstStyle/>
          <a:p>
            <a:pPr marL="0" indent="0" algn="ctr" fontAlgn="auto">
              <a:buNone/>
            </a:pPr>
            <a:r>
              <a:rPr lang="en-US" sz="3900" b="1" i="0" dirty="0">
                <a:solidFill>
                  <a:srgbClr val="FF0000"/>
                </a:solidFill>
                <a:effectLst/>
                <a:latin typeface="-apple-system"/>
              </a:rPr>
              <a:t>Good Example</a:t>
            </a:r>
          </a:p>
          <a:p>
            <a:pPr marL="0" indent="0" algn="l" fontAlgn="auto">
              <a:buNone/>
            </a:pPr>
            <a:r>
              <a:rPr lang="en-US" b="1" i="0" dirty="0">
                <a:solidFill>
                  <a:srgbClr val="00B050"/>
                </a:solidFill>
                <a:effectLst/>
                <a:latin typeface="-apple-system"/>
              </a:rPr>
              <a:t>Dear Bharat,</a:t>
            </a:r>
          </a:p>
          <a:p>
            <a:pPr marL="0" indent="0" algn="l" fontAlgn="auto">
              <a:buNone/>
            </a:pPr>
            <a:r>
              <a:rPr lang="en-US" b="0" i="0" dirty="0">
                <a:effectLst/>
                <a:latin typeface="-apple-system"/>
              </a:rPr>
              <a:t>I wanted to discuss the video editing ideas we planned out yesterday. It would be better to add additional elements to the video in order to have a stronger impact on the client’s message.</a:t>
            </a:r>
          </a:p>
          <a:p>
            <a:pPr marL="0" indent="0" algn="l" fontAlgn="auto">
              <a:buNone/>
            </a:pPr>
            <a:r>
              <a:rPr lang="en-US" b="0" i="0" dirty="0">
                <a:effectLst/>
                <a:latin typeface="-apple-system"/>
              </a:rPr>
              <a:t>A dissolve transition would give a seamless flow to each movie and make the videos cleaner and appealing in the minds of the target audience.</a:t>
            </a:r>
          </a:p>
          <a:p>
            <a:pPr marL="0" indent="0" algn="l" fontAlgn="auto">
              <a:buNone/>
            </a:pPr>
            <a:r>
              <a:rPr lang="en-US" b="0" i="0" dirty="0">
                <a:effectLst/>
                <a:latin typeface="-apple-system"/>
              </a:rPr>
              <a:t>What do you think?</a:t>
            </a:r>
          </a:p>
          <a:p>
            <a:pPr marL="0" indent="0" algn="l" fontAlgn="auto">
              <a:buNone/>
            </a:pPr>
            <a:r>
              <a:rPr lang="en-US" b="1" i="0" dirty="0">
                <a:solidFill>
                  <a:srgbClr val="00B050"/>
                </a:solidFill>
                <a:effectLst/>
                <a:latin typeface="-apple-system"/>
              </a:rPr>
              <a:t>Regards</a:t>
            </a:r>
          </a:p>
          <a:p>
            <a:pPr marL="0" indent="0" algn="l" fontAlgn="auto">
              <a:buNone/>
            </a:pPr>
            <a:r>
              <a:rPr lang="en-US" b="1" i="0" dirty="0">
                <a:solidFill>
                  <a:srgbClr val="00B050"/>
                </a:solidFill>
                <a:effectLst/>
                <a:latin typeface="-apple-system"/>
              </a:rPr>
              <a:t>Aaron</a:t>
            </a:r>
          </a:p>
          <a:p>
            <a:endParaRPr lang="en-IN" dirty="0"/>
          </a:p>
        </p:txBody>
      </p:sp>
      <p:sp>
        <p:nvSpPr>
          <p:cNvPr id="7" name="TextBox 6">
            <a:extLst>
              <a:ext uri="{FF2B5EF4-FFF2-40B4-BE49-F238E27FC236}">
                <a16:creationId xmlns:a16="http://schemas.microsoft.com/office/drawing/2014/main" id="{2D200BB3-85DA-4266-94E4-7B6FC7873ECE}"/>
              </a:ext>
            </a:extLst>
          </p:cNvPr>
          <p:cNvSpPr txBox="1"/>
          <p:nvPr/>
        </p:nvSpPr>
        <p:spPr>
          <a:xfrm>
            <a:off x="152400" y="5638365"/>
            <a:ext cx="5181600" cy="923330"/>
          </a:xfrm>
          <a:prstGeom prst="rect">
            <a:avLst/>
          </a:prstGeom>
          <a:noFill/>
        </p:spPr>
        <p:txBody>
          <a:bodyPr wrap="square">
            <a:spAutoFit/>
          </a:bodyPr>
          <a:lstStyle/>
          <a:p>
            <a:r>
              <a:rPr lang="en-US" b="1" i="0" dirty="0">
                <a:solidFill>
                  <a:srgbClr val="FF0000"/>
                </a:solidFill>
                <a:effectLst/>
                <a:latin typeface="-apple-system"/>
              </a:rPr>
              <a:t>There is a lot of repetition in this email and it is quite long. The email can be made shorter and to the point.</a:t>
            </a:r>
            <a:endParaRPr lang="en-IN" b="1" dirty="0">
              <a:solidFill>
                <a:srgbClr val="FF0000"/>
              </a:solidFill>
            </a:endParaRPr>
          </a:p>
        </p:txBody>
      </p:sp>
    </p:spTree>
    <p:extLst>
      <p:ext uri="{BB962C8B-B14F-4D97-AF65-F5344CB8AC3E}">
        <p14:creationId xmlns:p14="http://schemas.microsoft.com/office/powerpoint/2010/main" val="7290078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A4A3B-8703-48BD-BDF6-0A5717BDC229}"/>
              </a:ext>
            </a:extLst>
          </p:cNvPr>
          <p:cNvSpPr>
            <a:spLocks noGrp="1"/>
          </p:cNvSpPr>
          <p:nvPr>
            <p:ph type="title"/>
          </p:nvPr>
        </p:nvSpPr>
        <p:spPr>
          <a:xfrm>
            <a:off x="838200" y="69291"/>
            <a:ext cx="10515600" cy="916828"/>
          </a:xfrm>
        </p:spPr>
        <p:txBody>
          <a:bodyPr>
            <a:normAutofit fontScale="90000"/>
          </a:bodyPr>
          <a:lstStyle/>
          <a:p>
            <a:pPr algn="ctr"/>
            <a:r>
              <a:rPr lang="en-US" sz="9600" b="1" dirty="0">
                <a:solidFill>
                  <a:srgbClr val="FF0000"/>
                </a:solidFill>
              </a:rPr>
              <a:t>3. Concrete</a:t>
            </a:r>
            <a:endParaRPr lang="en-IN" sz="9600" b="1" dirty="0">
              <a:solidFill>
                <a:srgbClr val="FF0000"/>
              </a:solidFill>
            </a:endParaRPr>
          </a:p>
        </p:txBody>
      </p:sp>
      <p:sp>
        <p:nvSpPr>
          <p:cNvPr id="3" name="Content Placeholder 2">
            <a:extLst>
              <a:ext uri="{FF2B5EF4-FFF2-40B4-BE49-F238E27FC236}">
                <a16:creationId xmlns:a16="http://schemas.microsoft.com/office/drawing/2014/main" id="{1D4651E6-08A9-47A2-A70C-EF9E84553236}"/>
              </a:ext>
            </a:extLst>
          </p:cNvPr>
          <p:cNvSpPr>
            <a:spLocks noGrp="1"/>
          </p:cNvSpPr>
          <p:nvPr>
            <p:ph sz="half" idx="1"/>
          </p:nvPr>
        </p:nvSpPr>
        <p:spPr>
          <a:xfrm>
            <a:off x="838201" y="1081554"/>
            <a:ext cx="5181600" cy="4351338"/>
          </a:xfrm>
        </p:spPr>
        <p:txBody>
          <a:bodyPr>
            <a:normAutofit/>
          </a:bodyPr>
          <a:lstStyle/>
          <a:p>
            <a:pPr marL="0" indent="0" algn="ctr" fontAlgn="auto">
              <a:buNone/>
            </a:pPr>
            <a:r>
              <a:rPr lang="en-US" sz="3500" b="1" i="0" dirty="0">
                <a:solidFill>
                  <a:srgbClr val="FF0000"/>
                </a:solidFill>
                <a:effectLst/>
                <a:latin typeface="-apple-system"/>
              </a:rPr>
              <a:t>Bad Example</a:t>
            </a:r>
          </a:p>
          <a:p>
            <a:pPr marL="0" indent="0" algn="l" fontAlgn="auto">
              <a:buNone/>
            </a:pPr>
            <a:r>
              <a:rPr lang="en-US" b="0" i="0" dirty="0">
                <a:effectLst/>
                <a:latin typeface="-apple-system"/>
              </a:rPr>
              <a:t>Save time with the Indicator Master Every Day</a:t>
            </a:r>
          </a:p>
          <a:p>
            <a:pPr marL="0" indent="0" algn="l" fontAlgn="auto">
              <a:buNone/>
            </a:pPr>
            <a:r>
              <a:rPr lang="en-US" b="0" i="0" dirty="0">
                <a:effectLst/>
                <a:latin typeface="-apple-system"/>
              </a:rPr>
              <a:t>This kind of tagline does not give the user any details. There are no facts and it’s vague. People might not download this application since it’s not concrete enough to entice the user.</a:t>
            </a:r>
          </a:p>
          <a:p>
            <a:endParaRPr lang="en-IN" dirty="0"/>
          </a:p>
        </p:txBody>
      </p:sp>
      <p:sp>
        <p:nvSpPr>
          <p:cNvPr id="4" name="Content Placeholder 3">
            <a:extLst>
              <a:ext uri="{FF2B5EF4-FFF2-40B4-BE49-F238E27FC236}">
                <a16:creationId xmlns:a16="http://schemas.microsoft.com/office/drawing/2014/main" id="{6DDEAB32-E259-4F20-87E7-4F626778D8F6}"/>
              </a:ext>
            </a:extLst>
          </p:cNvPr>
          <p:cNvSpPr>
            <a:spLocks noGrp="1"/>
          </p:cNvSpPr>
          <p:nvPr>
            <p:ph sz="half" idx="2"/>
          </p:nvPr>
        </p:nvSpPr>
        <p:spPr>
          <a:xfrm>
            <a:off x="6096000" y="1081554"/>
            <a:ext cx="5737412" cy="4351338"/>
          </a:xfrm>
        </p:spPr>
        <p:txBody>
          <a:bodyPr>
            <a:normAutofit/>
          </a:bodyPr>
          <a:lstStyle/>
          <a:p>
            <a:pPr marL="0" indent="0" algn="ctr" fontAlgn="auto">
              <a:buNone/>
            </a:pPr>
            <a:r>
              <a:rPr lang="en-US" sz="3900" b="1" i="0" dirty="0">
                <a:solidFill>
                  <a:srgbClr val="FF0000"/>
                </a:solidFill>
                <a:effectLst/>
                <a:latin typeface="-apple-system"/>
              </a:rPr>
              <a:t>Good Example</a:t>
            </a:r>
          </a:p>
          <a:p>
            <a:pPr marL="0" indent="0" algn="l" fontAlgn="auto">
              <a:buNone/>
            </a:pPr>
            <a:r>
              <a:rPr lang="en-US" b="0" i="0" dirty="0">
                <a:effectLst/>
                <a:latin typeface="-apple-system"/>
              </a:rPr>
              <a:t>Have you ever been late for a meeting just because you didn’t know the train schedule? Hate waiting for a bus because you don’t know its timings? Then download the Indicator Master app. It will give you all the train and bus schedules so that you can avoid delays and save time!</a:t>
            </a:r>
            <a:endParaRPr lang="en-IN" dirty="0"/>
          </a:p>
        </p:txBody>
      </p:sp>
    </p:spTree>
    <p:extLst>
      <p:ext uri="{BB962C8B-B14F-4D97-AF65-F5344CB8AC3E}">
        <p14:creationId xmlns:p14="http://schemas.microsoft.com/office/powerpoint/2010/main" val="17210652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A4A3B-8703-48BD-BDF6-0A5717BDC229}"/>
              </a:ext>
            </a:extLst>
          </p:cNvPr>
          <p:cNvSpPr>
            <a:spLocks noGrp="1"/>
          </p:cNvSpPr>
          <p:nvPr>
            <p:ph type="title"/>
          </p:nvPr>
        </p:nvSpPr>
        <p:spPr>
          <a:xfrm>
            <a:off x="838200" y="69291"/>
            <a:ext cx="10515600" cy="916828"/>
          </a:xfrm>
        </p:spPr>
        <p:txBody>
          <a:bodyPr>
            <a:normAutofit fontScale="90000"/>
          </a:bodyPr>
          <a:lstStyle/>
          <a:p>
            <a:pPr algn="ctr"/>
            <a:r>
              <a:rPr lang="en-US" sz="9600" b="1" dirty="0">
                <a:solidFill>
                  <a:srgbClr val="FF0000"/>
                </a:solidFill>
              </a:rPr>
              <a:t>4. Correct</a:t>
            </a:r>
            <a:endParaRPr lang="en-IN" sz="9600" b="1" dirty="0">
              <a:solidFill>
                <a:srgbClr val="FF0000"/>
              </a:solidFill>
            </a:endParaRPr>
          </a:p>
        </p:txBody>
      </p:sp>
      <p:sp>
        <p:nvSpPr>
          <p:cNvPr id="3" name="Content Placeholder 2">
            <a:extLst>
              <a:ext uri="{FF2B5EF4-FFF2-40B4-BE49-F238E27FC236}">
                <a16:creationId xmlns:a16="http://schemas.microsoft.com/office/drawing/2014/main" id="{1D4651E6-08A9-47A2-A70C-EF9E84553236}"/>
              </a:ext>
            </a:extLst>
          </p:cNvPr>
          <p:cNvSpPr>
            <a:spLocks noGrp="1"/>
          </p:cNvSpPr>
          <p:nvPr>
            <p:ph sz="half" idx="1"/>
          </p:nvPr>
        </p:nvSpPr>
        <p:spPr>
          <a:xfrm>
            <a:off x="838201" y="1081554"/>
            <a:ext cx="5181600" cy="4351338"/>
          </a:xfrm>
        </p:spPr>
        <p:txBody>
          <a:bodyPr>
            <a:normAutofit fontScale="85000" lnSpcReduction="10000"/>
          </a:bodyPr>
          <a:lstStyle/>
          <a:p>
            <a:pPr marL="0" indent="0" algn="ctr" fontAlgn="auto">
              <a:buNone/>
            </a:pPr>
            <a:r>
              <a:rPr lang="en-US" sz="3500" b="1" i="0" dirty="0">
                <a:solidFill>
                  <a:srgbClr val="FF0000"/>
                </a:solidFill>
                <a:effectLst/>
                <a:latin typeface="-apple-system"/>
              </a:rPr>
              <a:t>Bad Example</a:t>
            </a:r>
          </a:p>
          <a:p>
            <a:pPr marL="0" indent="0" algn="l" fontAlgn="auto">
              <a:buNone/>
            </a:pPr>
            <a:r>
              <a:rPr lang="en-US" b="1" i="0" dirty="0">
                <a:solidFill>
                  <a:srgbClr val="00B050"/>
                </a:solidFill>
                <a:effectLst/>
                <a:latin typeface="-apple-system"/>
              </a:rPr>
              <a:t>Hi Sam,</a:t>
            </a:r>
          </a:p>
          <a:p>
            <a:pPr marL="0" indent="0" algn="l" fontAlgn="auto">
              <a:buNone/>
            </a:pPr>
            <a:r>
              <a:rPr lang="en-US" b="0" i="0" dirty="0">
                <a:effectLst/>
                <a:latin typeface="-apple-system"/>
              </a:rPr>
              <a:t>It was wonderful meeting you last weak. I had a good time. I’m sure we will be able to do some great work on this project. Let me know weather you need any supplies from the company and I’ll get them delivered as soon as possible.</a:t>
            </a:r>
          </a:p>
          <a:p>
            <a:pPr marL="0" indent="0" algn="l" fontAlgn="auto">
              <a:buNone/>
            </a:pPr>
            <a:r>
              <a:rPr lang="en-US" b="0" i="0" dirty="0">
                <a:effectLst/>
                <a:latin typeface="-apple-system"/>
              </a:rPr>
              <a:t>Thanks again, speak to you soon!</a:t>
            </a:r>
          </a:p>
          <a:p>
            <a:pPr marL="0" indent="0" algn="l" fontAlgn="auto">
              <a:buNone/>
            </a:pPr>
            <a:r>
              <a:rPr lang="en-US" b="1" i="0" dirty="0">
                <a:solidFill>
                  <a:srgbClr val="00B050"/>
                </a:solidFill>
                <a:effectLst/>
                <a:latin typeface="-apple-system"/>
              </a:rPr>
              <a:t>Regards</a:t>
            </a:r>
          </a:p>
          <a:p>
            <a:pPr marL="0" indent="0" algn="l" fontAlgn="auto">
              <a:buNone/>
            </a:pPr>
            <a:r>
              <a:rPr lang="en-US" b="1" i="0" dirty="0">
                <a:solidFill>
                  <a:srgbClr val="00B050"/>
                </a:solidFill>
                <a:effectLst/>
                <a:latin typeface="-apple-system"/>
              </a:rPr>
              <a:t>Chris</a:t>
            </a:r>
          </a:p>
          <a:p>
            <a:endParaRPr lang="en-IN" dirty="0"/>
          </a:p>
        </p:txBody>
      </p:sp>
      <p:sp>
        <p:nvSpPr>
          <p:cNvPr id="6" name="Content Placeholder 5">
            <a:extLst>
              <a:ext uri="{FF2B5EF4-FFF2-40B4-BE49-F238E27FC236}">
                <a16:creationId xmlns:a16="http://schemas.microsoft.com/office/drawing/2014/main" id="{2B8284DC-A6CB-407E-8DC4-8CFCE0AEC00A}"/>
              </a:ext>
            </a:extLst>
          </p:cNvPr>
          <p:cNvSpPr>
            <a:spLocks noGrp="1"/>
          </p:cNvSpPr>
          <p:nvPr>
            <p:ph sz="half" idx="2"/>
          </p:nvPr>
        </p:nvSpPr>
        <p:spPr/>
        <p:txBody>
          <a:bodyPr>
            <a:normAutofit fontScale="85000" lnSpcReduction="10000"/>
          </a:bodyPr>
          <a:lstStyle/>
          <a:p>
            <a:pPr marL="0" indent="0">
              <a:buNone/>
            </a:pPr>
            <a:r>
              <a:rPr lang="en-US" b="0" i="0" dirty="0">
                <a:effectLst/>
                <a:latin typeface="-apple-system"/>
              </a:rPr>
              <a:t>If </a:t>
            </a:r>
            <a:r>
              <a:rPr lang="en-US" b="0" i="0" dirty="0" smtClean="0">
                <a:effectLst/>
                <a:latin typeface="-apple-system"/>
              </a:rPr>
              <a:t>you have  </a:t>
            </a:r>
            <a:r>
              <a:rPr lang="en-US" b="0" i="0" dirty="0">
                <a:effectLst/>
                <a:latin typeface="-apple-system"/>
              </a:rPr>
              <a:t>noticed in the email, there are two errors. The first one is the writer has spelled </a:t>
            </a:r>
            <a:r>
              <a:rPr lang="en-US" b="1" i="0" dirty="0">
                <a:solidFill>
                  <a:srgbClr val="00B050"/>
                </a:solidFill>
                <a:effectLst/>
                <a:latin typeface="-apple-system"/>
              </a:rPr>
              <a:t>week incorrectly </a:t>
            </a:r>
            <a:r>
              <a:rPr lang="en-US" b="0" i="0" dirty="0">
                <a:effectLst/>
                <a:latin typeface="-apple-system"/>
              </a:rPr>
              <a:t>and the second is the use of the word </a:t>
            </a:r>
            <a:r>
              <a:rPr lang="en-US" b="1" i="0" dirty="0">
                <a:solidFill>
                  <a:srgbClr val="00B050"/>
                </a:solidFill>
                <a:effectLst/>
                <a:latin typeface="-apple-system"/>
              </a:rPr>
              <a:t>weather instead of whether. </a:t>
            </a:r>
            <a:r>
              <a:rPr lang="en-US" b="0" i="0" dirty="0">
                <a:effectLst/>
                <a:latin typeface="-apple-system"/>
              </a:rPr>
              <a:t>Spell checkers don’t always work so make sure you proofread everything.</a:t>
            </a:r>
            <a:endParaRPr lang="en-IN" dirty="0"/>
          </a:p>
        </p:txBody>
      </p:sp>
    </p:spTree>
    <p:extLst>
      <p:ext uri="{BB962C8B-B14F-4D97-AF65-F5344CB8AC3E}">
        <p14:creationId xmlns:p14="http://schemas.microsoft.com/office/powerpoint/2010/main" val="32418461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A4A3B-8703-48BD-BDF6-0A5717BDC229}"/>
              </a:ext>
            </a:extLst>
          </p:cNvPr>
          <p:cNvSpPr>
            <a:spLocks noGrp="1"/>
          </p:cNvSpPr>
          <p:nvPr>
            <p:ph type="title"/>
          </p:nvPr>
        </p:nvSpPr>
        <p:spPr>
          <a:xfrm>
            <a:off x="838200" y="69291"/>
            <a:ext cx="10515600" cy="916828"/>
          </a:xfrm>
        </p:spPr>
        <p:txBody>
          <a:bodyPr>
            <a:normAutofit fontScale="90000"/>
          </a:bodyPr>
          <a:lstStyle/>
          <a:p>
            <a:pPr algn="ctr"/>
            <a:r>
              <a:rPr lang="en-US" sz="9600" b="1" dirty="0">
                <a:solidFill>
                  <a:srgbClr val="FF0000"/>
                </a:solidFill>
              </a:rPr>
              <a:t>5. Coherent</a:t>
            </a:r>
            <a:endParaRPr lang="en-IN" sz="9600" b="1" dirty="0">
              <a:solidFill>
                <a:srgbClr val="FF0000"/>
              </a:solidFill>
            </a:endParaRPr>
          </a:p>
        </p:txBody>
      </p:sp>
      <p:sp>
        <p:nvSpPr>
          <p:cNvPr id="3" name="Content Placeholder 2">
            <a:extLst>
              <a:ext uri="{FF2B5EF4-FFF2-40B4-BE49-F238E27FC236}">
                <a16:creationId xmlns:a16="http://schemas.microsoft.com/office/drawing/2014/main" id="{1D4651E6-08A9-47A2-A70C-EF9E84553236}"/>
              </a:ext>
            </a:extLst>
          </p:cNvPr>
          <p:cNvSpPr>
            <a:spLocks noGrp="1"/>
          </p:cNvSpPr>
          <p:nvPr>
            <p:ph sz="half" idx="1"/>
          </p:nvPr>
        </p:nvSpPr>
        <p:spPr>
          <a:xfrm>
            <a:off x="838201" y="1081554"/>
            <a:ext cx="5181600" cy="4351338"/>
          </a:xfrm>
        </p:spPr>
        <p:txBody>
          <a:bodyPr>
            <a:normAutofit fontScale="92500" lnSpcReduction="20000"/>
          </a:bodyPr>
          <a:lstStyle/>
          <a:p>
            <a:pPr marL="0" indent="0" algn="ctr" fontAlgn="auto">
              <a:buNone/>
            </a:pPr>
            <a:r>
              <a:rPr lang="en-US" sz="3500" b="1" i="0" dirty="0">
                <a:solidFill>
                  <a:srgbClr val="FF0000"/>
                </a:solidFill>
                <a:effectLst/>
                <a:latin typeface="-apple-system"/>
              </a:rPr>
              <a:t>Bad Example</a:t>
            </a:r>
          </a:p>
          <a:p>
            <a:pPr marL="0" indent="0" algn="just">
              <a:buNone/>
            </a:pPr>
            <a:r>
              <a:rPr lang="en-US" sz="3100" b="1" dirty="0">
                <a:solidFill>
                  <a:srgbClr val="00B050"/>
                </a:solidFill>
                <a:latin typeface="-apple-system"/>
              </a:rPr>
              <a:t>Dear Namita,</a:t>
            </a:r>
          </a:p>
          <a:p>
            <a:pPr marL="0" indent="0">
              <a:buNone/>
            </a:pPr>
            <a:r>
              <a:rPr lang="en-US" sz="3100" dirty="0">
                <a:latin typeface="-apple-system"/>
              </a:rPr>
              <a:t>Thanks for submitting the industry report. Finn will give you some feedback on it. Finn also wanted to find out if you will be available for the client meeting tomorrow. We will be discussing the budget for the next phase of the project.</a:t>
            </a:r>
          </a:p>
          <a:p>
            <a:pPr marL="0" indent="0">
              <a:buNone/>
            </a:pPr>
            <a:r>
              <a:rPr lang="en-US" sz="3100" b="1" dirty="0">
                <a:solidFill>
                  <a:srgbClr val="00B050"/>
                </a:solidFill>
                <a:latin typeface="-apple-system"/>
              </a:rPr>
              <a:t>Regards</a:t>
            </a:r>
            <a:br>
              <a:rPr lang="en-US" sz="3100" b="1" dirty="0">
                <a:solidFill>
                  <a:srgbClr val="00B050"/>
                </a:solidFill>
                <a:latin typeface="-apple-system"/>
              </a:rPr>
            </a:br>
            <a:r>
              <a:rPr lang="en-US" sz="3100" b="1" dirty="0">
                <a:solidFill>
                  <a:srgbClr val="00B050"/>
                </a:solidFill>
                <a:latin typeface="-apple-system"/>
              </a:rPr>
              <a:t>Aaron</a:t>
            </a:r>
          </a:p>
          <a:p>
            <a:endParaRPr lang="en-IN" dirty="0"/>
          </a:p>
        </p:txBody>
      </p:sp>
      <p:sp>
        <p:nvSpPr>
          <p:cNvPr id="4" name="Content Placeholder 3">
            <a:extLst>
              <a:ext uri="{FF2B5EF4-FFF2-40B4-BE49-F238E27FC236}">
                <a16:creationId xmlns:a16="http://schemas.microsoft.com/office/drawing/2014/main" id="{6DDEAB32-E259-4F20-87E7-4F626778D8F6}"/>
              </a:ext>
            </a:extLst>
          </p:cNvPr>
          <p:cNvSpPr>
            <a:spLocks noGrp="1"/>
          </p:cNvSpPr>
          <p:nvPr>
            <p:ph sz="half" idx="2"/>
          </p:nvPr>
        </p:nvSpPr>
        <p:spPr>
          <a:xfrm>
            <a:off x="6096000" y="1081554"/>
            <a:ext cx="5737412" cy="4351338"/>
          </a:xfrm>
        </p:spPr>
        <p:txBody>
          <a:bodyPr>
            <a:normAutofit fontScale="92500" lnSpcReduction="20000"/>
          </a:bodyPr>
          <a:lstStyle/>
          <a:p>
            <a:pPr marL="0" indent="0" algn="ctr" fontAlgn="auto">
              <a:buNone/>
            </a:pPr>
            <a:r>
              <a:rPr lang="en-US" sz="3900" b="1" i="0" dirty="0">
                <a:solidFill>
                  <a:srgbClr val="FF0000"/>
                </a:solidFill>
                <a:effectLst/>
                <a:latin typeface="-apple-system"/>
              </a:rPr>
              <a:t>Good Example</a:t>
            </a:r>
          </a:p>
          <a:p>
            <a:pPr marL="0" indent="0">
              <a:buNone/>
            </a:pPr>
            <a:r>
              <a:rPr lang="en-US" sz="3100" b="1" dirty="0">
                <a:solidFill>
                  <a:srgbClr val="00B050"/>
                </a:solidFill>
                <a:latin typeface="-apple-system"/>
              </a:rPr>
              <a:t>Dear Namita,</a:t>
            </a:r>
          </a:p>
          <a:p>
            <a:pPr marL="0" indent="0">
              <a:buNone/>
            </a:pPr>
            <a:r>
              <a:rPr lang="en-US" sz="3100" dirty="0">
                <a:latin typeface="-apple-system"/>
              </a:rPr>
              <a:t>Thanks for submitting the industry report. Finn will give you some feedback on it. You will be receiving an email from him with detailed comments.</a:t>
            </a:r>
          </a:p>
          <a:p>
            <a:pPr marL="0" indent="0">
              <a:buNone/>
            </a:pPr>
            <a:r>
              <a:rPr lang="en-US" sz="3100" b="1" dirty="0">
                <a:solidFill>
                  <a:srgbClr val="00B050"/>
                </a:solidFill>
                <a:latin typeface="-apple-system"/>
              </a:rPr>
              <a:t>Regards</a:t>
            </a:r>
            <a:br>
              <a:rPr lang="en-US" sz="3100" b="1" dirty="0">
                <a:solidFill>
                  <a:srgbClr val="00B050"/>
                </a:solidFill>
                <a:latin typeface="-apple-system"/>
              </a:rPr>
            </a:br>
            <a:r>
              <a:rPr lang="en-US" sz="3100" b="1" dirty="0">
                <a:solidFill>
                  <a:srgbClr val="00B050"/>
                </a:solidFill>
                <a:latin typeface="-apple-system"/>
              </a:rPr>
              <a:t>Aaron</a:t>
            </a:r>
          </a:p>
        </p:txBody>
      </p:sp>
      <p:sp>
        <p:nvSpPr>
          <p:cNvPr id="6" name="TextBox 5">
            <a:extLst>
              <a:ext uri="{FF2B5EF4-FFF2-40B4-BE49-F238E27FC236}">
                <a16:creationId xmlns:a16="http://schemas.microsoft.com/office/drawing/2014/main" id="{E5DD778D-A5F9-4F65-8C6A-7CD575EC0AA0}"/>
              </a:ext>
            </a:extLst>
          </p:cNvPr>
          <p:cNvSpPr txBox="1"/>
          <p:nvPr/>
        </p:nvSpPr>
        <p:spPr>
          <a:xfrm>
            <a:off x="152400" y="5380672"/>
            <a:ext cx="6019802" cy="1323439"/>
          </a:xfrm>
          <a:prstGeom prst="rect">
            <a:avLst/>
          </a:prstGeom>
          <a:noFill/>
        </p:spPr>
        <p:txBody>
          <a:bodyPr wrap="square">
            <a:spAutoFit/>
          </a:bodyPr>
          <a:lstStyle/>
          <a:p>
            <a:r>
              <a:rPr lang="en-US" sz="2000" b="1" dirty="0">
                <a:solidFill>
                  <a:srgbClr val="FF0000"/>
                </a:solidFill>
                <a:latin typeface="-apple-system"/>
              </a:rPr>
              <a:t>The email was supposed to be about the industry report which was submitted and the feedback for it. The question about the meeting had come out of nowhere and will now distract Nam and her priorities.</a:t>
            </a:r>
            <a:endParaRPr lang="en-IN" sz="2000" b="1" dirty="0">
              <a:solidFill>
                <a:srgbClr val="FF0000"/>
              </a:solidFill>
              <a:latin typeface="-apple-system"/>
            </a:endParaRPr>
          </a:p>
        </p:txBody>
      </p:sp>
      <p:sp>
        <p:nvSpPr>
          <p:cNvPr id="8" name="TextBox 7">
            <a:extLst>
              <a:ext uri="{FF2B5EF4-FFF2-40B4-BE49-F238E27FC236}">
                <a16:creationId xmlns:a16="http://schemas.microsoft.com/office/drawing/2014/main" id="{EB186181-6A3C-4EC3-9979-BAD73E35B69F}"/>
              </a:ext>
            </a:extLst>
          </p:cNvPr>
          <p:cNvSpPr txBox="1"/>
          <p:nvPr/>
        </p:nvSpPr>
        <p:spPr>
          <a:xfrm>
            <a:off x="7436226" y="4615151"/>
            <a:ext cx="4280645" cy="1323439"/>
          </a:xfrm>
          <a:prstGeom prst="rect">
            <a:avLst/>
          </a:prstGeom>
          <a:noFill/>
        </p:spPr>
        <p:txBody>
          <a:bodyPr wrap="square">
            <a:spAutoFit/>
          </a:bodyPr>
          <a:lstStyle/>
          <a:p>
            <a:r>
              <a:rPr lang="en-US" sz="2000" b="1" dirty="0">
                <a:solidFill>
                  <a:srgbClr val="FF0000"/>
                </a:solidFill>
                <a:latin typeface="-apple-system"/>
              </a:rPr>
              <a:t>This email talks only about the report. Therefore, Namita knows that her report has been viewed and needs to wait for feedback. </a:t>
            </a:r>
            <a:endParaRPr lang="en-IN" sz="2000" b="1" dirty="0">
              <a:solidFill>
                <a:srgbClr val="FF0000"/>
              </a:solidFill>
              <a:latin typeface="-apple-system"/>
            </a:endParaRPr>
          </a:p>
        </p:txBody>
      </p:sp>
    </p:spTree>
    <p:extLst>
      <p:ext uri="{BB962C8B-B14F-4D97-AF65-F5344CB8AC3E}">
        <p14:creationId xmlns:p14="http://schemas.microsoft.com/office/powerpoint/2010/main" val="9542683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A4A3B-8703-48BD-BDF6-0A5717BDC229}"/>
              </a:ext>
            </a:extLst>
          </p:cNvPr>
          <p:cNvSpPr>
            <a:spLocks noGrp="1"/>
          </p:cNvSpPr>
          <p:nvPr>
            <p:ph type="title"/>
          </p:nvPr>
        </p:nvSpPr>
        <p:spPr>
          <a:xfrm>
            <a:off x="838200" y="69291"/>
            <a:ext cx="10515600" cy="916828"/>
          </a:xfrm>
        </p:spPr>
        <p:txBody>
          <a:bodyPr>
            <a:normAutofit fontScale="90000"/>
          </a:bodyPr>
          <a:lstStyle/>
          <a:p>
            <a:pPr algn="ctr"/>
            <a:r>
              <a:rPr lang="en-US" sz="9600" b="1" dirty="0">
                <a:solidFill>
                  <a:srgbClr val="FF0000"/>
                </a:solidFill>
              </a:rPr>
              <a:t>6. Complete</a:t>
            </a:r>
            <a:endParaRPr lang="en-IN" sz="9600" b="1" dirty="0">
              <a:solidFill>
                <a:srgbClr val="FF0000"/>
              </a:solidFill>
            </a:endParaRPr>
          </a:p>
        </p:txBody>
      </p:sp>
      <p:sp>
        <p:nvSpPr>
          <p:cNvPr id="3" name="Content Placeholder 2">
            <a:extLst>
              <a:ext uri="{FF2B5EF4-FFF2-40B4-BE49-F238E27FC236}">
                <a16:creationId xmlns:a16="http://schemas.microsoft.com/office/drawing/2014/main" id="{1D4651E6-08A9-47A2-A70C-EF9E84553236}"/>
              </a:ext>
            </a:extLst>
          </p:cNvPr>
          <p:cNvSpPr>
            <a:spLocks noGrp="1"/>
          </p:cNvSpPr>
          <p:nvPr>
            <p:ph sz="half" idx="1"/>
          </p:nvPr>
        </p:nvSpPr>
        <p:spPr>
          <a:xfrm>
            <a:off x="838201" y="1081554"/>
            <a:ext cx="5181600" cy="4351338"/>
          </a:xfrm>
        </p:spPr>
        <p:txBody>
          <a:bodyPr>
            <a:normAutofit fontScale="92500" lnSpcReduction="20000"/>
          </a:bodyPr>
          <a:lstStyle/>
          <a:p>
            <a:pPr marL="0" indent="0" algn="ctr" fontAlgn="auto">
              <a:buNone/>
            </a:pPr>
            <a:r>
              <a:rPr lang="en-US" sz="3500" b="1" i="0" dirty="0">
                <a:solidFill>
                  <a:srgbClr val="FF0000"/>
                </a:solidFill>
                <a:effectLst/>
                <a:latin typeface="-apple-system"/>
              </a:rPr>
              <a:t>Bad Example</a:t>
            </a:r>
          </a:p>
          <a:p>
            <a:pPr marL="0" indent="0" algn="l" fontAlgn="auto">
              <a:buNone/>
            </a:pPr>
            <a:r>
              <a:rPr lang="en-US" b="1" i="0" dirty="0">
                <a:solidFill>
                  <a:srgbClr val="00B050"/>
                </a:solidFill>
                <a:effectLst/>
                <a:latin typeface="-apple-system"/>
              </a:rPr>
              <a:t>Hi Guys,</a:t>
            </a:r>
          </a:p>
          <a:p>
            <a:pPr marL="0" indent="0" algn="l" fontAlgn="auto">
              <a:buNone/>
            </a:pPr>
            <a:r>
              <a:rPr lang="en-US" b="0" i="0" dirty="0">
                <a:effectLst/>
                <a:latin typeface="-apple-system"/>
              </a:rPr>
              <a:t>Please make sure to carry all the items tomorrow for the meeting.</a:t>
            </a:r>
          </a:p>
          <a:p>
            <a:pPr marL="0" indent="0" algn="l" fontAlgn="auto">
              <a:buNone/>
            </a:pPr>
            <a:r>
              <a:rPr lang="en-US" b="1" i="0" dirty="0">
                <a:solidFill>
                  <a:srgbClr val="00B050"/>
                </a:solidFill>
                <a:effectLst/>
                <a:latin typeface="-apple-system"/>
              </a:rPr>
              <a:t>Regards</a:t>
            </a:r>
          </a:p>
          <a:p>
            <a:pPr marL="0" indent="0" algn="l" fontAlgn="auto">
              <a:buNone/>
            </a:pPr>
            <a:r>
              <a:rPr lang="en-US" b="1" i="0" dirty="0">
                <a:solidFill>
                  <a:srgbClr val="00B050"/>
                </a:solidFill>
                <a:effectLst/>
                <a:latin typeface="-apple-system"/>
              </a:rPr>
              <a:t>Amar</a:t>
            </a:r>
          </a:p>
          <a:p>
            <a:pPr marL="0" indent="0" algn="l" fontAlgn="auto">
              <a:buNone/>
            </a:pPr>
            <a:endParaRPr lang="en-US" b="1" i="0" dirty="0">
              <a:solidFill>
                <a:srgbClr val="00B050"/>
              </a:solidFill>
              <a:effectLst/>
              <a:latin typeface="-apple-system"/>
            </a:endParaRPr>
          </a:p>
          <a:p>
            <a:pPr marL="0" indent="0" algn="l" fontAlgn="auto">
              <a:buNone/>
            </a:pPr>
            <a:r>
              <a:rPr lang="en-US" b="0" i="0" dirty="0">
                <a:effectLst/>
                <a:latin typeface="-apple-system"/>
              </a:rPr>
              <a:t>The message is clearly incomplete. There are no details as to what items, which meeting, and at what time.</a:t>
            </a:r>
          </a:p>
          <a:p>
            <a:endParaRPr lang="en-IN" dirty="0"/>
          </a:p>
        </p:txBody>
      </p:sp>
      <p:sp>
        <p:nvSpPr>
          <p:cNvPr id="7" name="Content Placeholder 3">
            <a:extLst>
              <a:ext uri="{FF2B5EF4-FFF2-40B4-BE49-F238E27FC236}">
                <a16:creationId xmlns:a16="http://schemas.microsoft.com/office/drawing/2014/main" id="{B0D50E09-583E-4C7C-8EE1-CB8F77DAD6CB}"/>
              </a:ext>
            </a:extLst>
          </p:cNvPr>
          <p:cNvSpPr>
            <a:spLocks noGrp="1"/>
          </p:cNvSpPr>
          <p:nvPr>
            <p:ph sz="half" idx="2"/>
          </p:nvPr>
        </p:nvSpPr>
        <p:spPr>
          <a:xfrm>
            <a:off x="6096000" y="1081554"/>
            <a:ext cx="5737412" cy="4351338"/>
          </a:xfrm>
        </p:spPr>
        <p:txBody>
          <a:bodyPr>
            <a:normAutofit fontScale="92500" lnSpcReduction="20000"/>
          </a:bodyPr>
          <a:lstStyle/>
          <a:p>
            <a:pPr marL="0" indent="0" algn="ctr">
              <a:buNone/>
            </a:pPr>
            <a:r>
              <a:rPr lang="en-US" sz="3900" b="1" i="0" dirty="0">
                <a:solidFill>
                  <a:srgbClr val="FF0000"/>
                </a:solidFill>
                <a:effectLst/>
                <a:latin typeface="-apple-system"/>
              </a:rPr>
              <a:t>Good Example</a:t>
            </a:r>
          </a:p>
          <a:p>
            <a:pPr marL="0" indent="0" algn="l" fontAlgn="auto">
              <a:buNone/>
            </a:pPr>
            <a:r>
              <a:rPr lang="en-US" b="1" i="0" dirty="0">
                <a:solidFill>
                  <a:srgbClr val="00B050"/>
                </a:solidFill>
                <a:effectLst/>
                <a:latin typeface="-apple-system"/>
              </a:rPr>
              <a:t>Hi Guys,</a:t>
            </a:r>
          </a:p>
          <a:p>
            <a:pPr marL="0" indent="0" algn="l" fontAlgn="auto">
              <a:buNone/>
            </a:pPr>
            <a:r>
              <a:rPr lang="en-US" b="0" i="0" dirty="0">
                <a:effectLst/>
                <a:latin typeface="-apple-system"/>
              </a:rPr>
              <a:t>Just a reminder that we have a meeting scheduled at 10.00 am tomorrow to discuss the Britannia event. Please make sure you get all the event props that need to be presented to the client.</a:t>
            </a:r>
          </a:p>
          <a:p>
            <a:pPr marL="0" indent="0" algn="l" fontAlgn="auto">
              <a:buNone/>
            </a:pPr>
            <a:r>
              <a:rPr lang="en-US" b="1" i="0" dirty="0">
                <a:solidFill>
                  <a:srgbClr val="00B050"/>
                </a:solidFill>
                <a:effectLst/>
                <a:latin typeface="-apple-system"/>
              </a:rPr>
              <a:t>Regards</a:t>
            </a:r>
          </a:p>
          <a:p>
            <a:pPr marL="0" indent="0" algn="l" fontAlgn="auto">
              <a:buNone/>
            </a:pPr>
            <a:r>
              <a:rPr lang="en-US" b="1" i="0" dirty="0">
                <a:solidFill>
                  <a:srgbClr val="00B050"/>
                </a:solidFill>
                <a:effectLst/>
                <a:latin typeface="-apple-system"/>
              </a:rPr>
              <a:t>Amar</a:t>
            </a:r>
          </a:p>
          <a:p>
            <a:endParaRPr lang="en-IN" dirty="0"/>
          </a:p>
        </p:txBody>
      </p:sp>
    </p:spTree>
    <p:extLst>
      <p:ext uri="{BB962C8B-B14F-4D97-AF65-F5344CB8AC3E}">
        <p14:creationId xmlns:p14="http://schemas.microsoft.com/office/powerpoint/2010/main" val="33249872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A4A3B-8703-48BD-BDF6-0A5717BDC229}"/>
              </a:ext>
            </a:extLst>
          </p:cNvPr>
          <p:cNvSpPr>
            <a:spLocks noGrp="1"/>
          </p:cNvSpPr>
          <p:nvPr>
            <p:ph type="title"/>
          </p:nvPr>
        </p:nvSpPr>
        <p:spPr>
          <a:xfrm>
            <a:off x="838200" y="69291"/>
            <a:ext cx="10515600" cy="916828"/>
          </a:xfrm>
        </p:spPr>
        <p:txBody>
          <a:bodyPr>
            <a:normAutofit fontScale="90000"/>
          </a:bodyPr>
          <a:lstStyle/>
          <a:p>
            <a:pPr algn="ctr"/>
            <a:r>
              <a:rPr lang="en-US" sz="9600" b="1" dirty="0">
                <a:solidFill>
                  <a:srgbClr val="FF0000"/>
                </a:solidFill>
              </a:rPr>
              <a:t>7. Courteous</a:t>
            </a:r>
            <a:endParaRPr lang="en-IN" sz="9600" b="1" dirty="0">
              <a:solidFill>
                <a:srgbClr val="FF0000"/>
              </a:solidFill>
            </a:endParaRPr>
          </a:p>
        </p:txBody>
      </p:sp>
      <p:sp>
        <p:nvSpPr>
          <p:cNvPr id="3" name="Content Placeholder 2">
            <a:extLst>
              <a:ext uri="{FF2B5EF4-FFF2-40B4-BE49-F238E27FC236}">
                <a16:creationId xmlns:a16="http://schemas.microsoft.com/office/drawing/2014/main" id="{1D4651E6-08A9-47A2-A70C-EF9E84553236}"/>
              </a:ext>
            </a:extLst>
          </p:cNvPr>
          <p:cNvSpPr>
            <a:spLocks noGrp="1"/>
          </p:cNvSpPr>
          <p:nvPr>
            <p:ph sz="half" idx="1"/>
          </p:nvPr>
        </p:nvSpPr>
        <p:spPr>
          <a:xfrm>
            <a:off x="838201" y="1081554"/>
            <a:ext cx="5181600" cy="4351338"/>
          </a:xfrm>
        </p:spPr>
        <p:txBody>
          <a:bodyPr>
            <a:normAutofit fontScale="77500" lnSpcReduction="20000"/>
          </a:bodyPr>
          <a:lstStyle/>
          <a:p>
            <a:pPr marL="0" indent="0" algn="ctr" fontAlgn="auto">
              <a:buNone/>
            </a:pPr>
            <a:r>
              <a:rPr lang="en-US" sz="3500" b="1" i="0" dirty="0">
                <a:solidFill>
                  <a:srgbClr val="FF0000"/>
                </a:solidFill>
                <a:effectLst/>
                <a:latin typeface="-apple-system"/>
              </a:rPr>
              <a:t>Bad Example</a:t>
            </a:r>
          </a:p>
          <a:p>
            <a:pPr marL="0" indent="0" algn="l" fontAlgn="auto">
              <a:buNone/>
            </a:pPr>
            <a:r>
              <a:rPr lang="en-US" b="1" i="0" dirty="0">
                <a:solidFill>
                  <a:srgbClr val="00B050"/>
                </a:solidFill>
                <a:effectLst/>
                <a:latin typeface="-apple-system"/>
              </a:rPr>
              <a:t>Dear Suzie,</a:t>
            </a:r>
          </a:p>
          <a:p>
            <a:pPr marL="0" indent="0" algn="l" fontAlgn="auto">
              <a:buNone/>
            </a:pPr>
            <a:r>
              <a:rPr lang="en-US" b="0" i="0" dirty="0">
                <a:effectLst/>
                <a:latin typeface="-apple-system"/>
              </a:rPr>
              <a:t>I have noticed that there are always delays in the orders. You need to focus on the orders department as a priority. Please get all the orders cleared ASAP!</a:t>
            </a:r>
          </a:p>
          <a:p>
            <a:pPr marL="0" indent="0" algn="l" fontAlgn="auto">
              <a:buNone/>
            </a:pPr>
            <a:r>
              <a:rPr lang="en-US" b="1" i="0" dirty="0">
                <a:solidFill>
                  <a:srgbClr val="00B050"/>
                </a:solidFill>
                <a:effectLst/>
                <a:latin typeface="-apple-system"/>
              </a:rPr>
              <a:t>Regards</a:t>
            </a:r>
          </a:p>
          <a:p>
            <a:pPr marL="0" indent="0" algn="l" fontAlgn="auto">
              <a:buNone/>
            </a:pPr>
            <a:r>
              <a:rPr lang="en-US" b="1" i="0" dirty="0">
                <a:solidFill>
                  <a:srgbClr val="00B050"/>
                </a:solidFill>
                <a:effectLst/>
                <a:latin typeface="-apple-system"/>
              </a:rPr>
              <a:t>Greg</a:t>
            </a:r>
          </a:p>
          <a:p>
            <a:pPr marL="0" indent="0" algn="l" fontAlgn="auto">
              <a:buNone/>
            </a:pPr>
            <a:r>
              <a:rPr lang="en-US" b="0" i="0" dirty="0">
                <a:effectLst/>
                <a:latin typeface="-apple-system"/>
              </a:rPr>
              <a:t>There is a very good chance that the reader will get angry if they receive a message like this. It might result in creating a toxic environment rather than solving any issues. </a:t>
            </a:r>
            <a:r>
              <a:rPr lang="en-US" b="1" i="0" dirty="0">
                <a:solidFill>
                  <a:srgbClr val="00B050"/>
                </a:solidFill>
                <a:effectLst/>
                <a:latin typeface="-apple-system"/>
              </a:rPr>
              <a:t>Here is another way you can convey the same message:</a:t>
            </a:r>
          </a:p>
          <a:p>
            <a:endParaRPr lang="en-IN" dirty="0"/>
          </a:p>
        </p:txBody>
      </p:sp>
      <p:sp>
        <p:nvSpPr>
          <p:cNvPr id="7" name="Content Placeholder 3">
            <a:extLst>
              <a:ext uri="{FF2B5EF4-FFF2-40B4-BE49-F238E27FC236}">
                <a16:creationId xmlns:a16="http://schemas.microsoft.com/office/drawing/2014/main" id="{B0D50E09-583E-4C7C-8EE1-CB8F77DAD6CB}"/>
              </a:ext>
            </a:extLst>
          </p:cNvPr>
          <p:cNvSpPr>
            <a:spLocks noGrp="1"/>
          </p:cNvSpPr>
          <p:nvPr>
            <p:ph sz="half" idx="2"/>
          </p:nvPr>
        </p:nvSpPr>
        <p:spPr>
          <a:xfrm>
            <a:off x="6096000" y="1081554"/>
            <a:ext cx="5737412" cy="4351338"/>
          </a:xfrm>
        </p:spPr>
        <p:txBody>
          <a:bodyPr>
            <a:normAutofit fontScale="77500" lnSpcReduction="20000"/>
          </a:bodyPr>
          <a:lstStyle/>
          <a:p>
            <a:pPr marL="0" indent="0" algn="ctr">
              <a:buNone/>
            </a:pPr>
            <a:r>
              <a:rPr lang="en-US" sz="3900" b="1" i="0" dirty="0">
                <a:solidFill>
                  <a:srgbClr val="FF0000"/>
                </a:solidFill>
                <a:effectLst/>
                <a:latin typeface="-apple-system"/>
              </a:rPr>
              <a:t>Good Example</a:t>
            </a:r>
          </a:p>
          <a:p>
            <a:pPr marL="0" indent="0" algn="l" fontAlgn="auto">
              <a:buNone/>
            </a:pPr>
            <a:r>
              <a:rPr lang="en-US" b="1" i="0" dirty="0">
                <a:solidFill>
                  <a:srgbClr val="00B050"/>
                </a:solidFill>
                <a:effectLst/>
                <a:latin typeface="-apple-system"/>
              </a:rPr>
              <a:t>Dear Suzie,</a:t>
            </a:r>
          </a:p>
          <a:p>
            <a:pPr marL="0" indent="0" algn="l" fontAlgn="auto">
              <a:buNone/>
            </a:pPr>
            <a:r>
              <a:rPr lang="en-US" b="0" i="0" dirty="0">
                <a:effectLst/>
                <a:latin typeface="-apple-system"/>
              </a:rPr>
              <a:t>Thank you for your work at the book fair. I have noticed that there are orders pending which need to be cleared on priority. I would appreciate it if you could focus on getting these cleared so that we can avoid any delays to the customer.</a:t>
            </a:r>
          </a:p>
          <a:p>
            <a:pPr marL="0" indent="0" algn="l" fontAlgn="auto">
              <a:buNone/>
            </a:pPr>
            <a:r>
              <a:rPr lang="en-US" b="0" i="0" dirty="0">
                <a:effectLst/>
                <a:latin typeface="-apple-system"/>
              </a:rPr>
              <a:t>Thanks a lot, and please let me know if you have any questions regarding the same.</a:t>
            </a:r>
          </a:p>
          <a:p>
            <a:pPr marL="0" indent="0" algn="l" fontAlgn="auto">
              <a:buNone/>
            </a:pPr>
            <a:r>
              <a:rPr lang="en-US" b="1" i="0" dirty="0">
                <a:solidFill>
                  <a:srgbClr val="00B050"/>
                </a:solidFill>
                <a:effectLst/>
                <a:latin typeface="-apple-system"/>
              </a:rPr>
              <a:t>Best,</a:t>
            </a:r>
          </a:p>
          <a:p>
            <a:pPr marL="0" indent="0" algn="l" fontAlgn="auto">
              <a:buNone/>
            </a:pPr>
            <a:r>
              <a:rPr lang="en-US" b="1" i="0" dirty="0">
                <a:solidFill>
                  <a:srgbClr val="00B050"/>
                </a:solidFill>
                <a:effectLst/>
                <a:latin typeface="-apple-system"/>
              </a:rPr>
              <a:t>Greg</a:t>
            </a:r>
          </a:p>
          <a:p>
            <a:endParaRPr lang="en-IN" dirty="0"/>
          </a:p>
        </p:txBody>
      </p:sp>
    </p:spTree>
    <p:extLst>
      <p:ext uri="{BB962C8B-B14F-4D97-AF65-F5344CB8AC3E}">
        <p14:creationId xmlns:p14="http://schemas.microsoft.com/office/powerpoint/2010/main" val="12196367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D7FCEC0-B3DD-4C6C-BE0C-6D9C1778AD7B}"/>
              </a:ext>
            </a:extLst>
          </p:cNvPr>
          <p:cNvSpPr txBox="1"/>
          <p:nvPr/>
        </p:nvSpPr>
        <p:spPr>
          <a:xfrm>
            <a:off x="1129552" y="621305"/>
            <a:ext cx="10300447" cy="4708981"/>
          </a:xfrm>
          <a:prstGeom prst="rect">
            <a:avLst/>
          </a:prstGeom>
          <a:noFill/>
        </p:spPr>
        <p:txBody>
          <a:bodyPr wrap="square">
            <a:spAutoFit/>
          </a:bodyPr>
          <a:lstStyle/>
          <a:p>
            <a:pPr algn="l" fontAlgn="auto"/>
            <a:r>
              <a:rPr lang="en-US" sz="4400" b="1" i="0" dirty="0">
                <a:solidFill>
                  <a:srgbClr val="FF0000"/>
                </a:solidFill>
                <a:effectLst/>
                <a:latin typeface="-apple-system"/>
              </a:rPr>
              <a:t>Conclusion</a:t>
            </a:r>
          </a:p>
          <a:p>
            <a:pPr algn="l" fontAlgn="auto"/>
            <a:r>
              <a:rPr lang="en-US" sz="3200" b="0" i="0" dirty="0">
                <a:effectLst/>
                <a:latin typeface="-apple-system"/>
              </a:rPr>
              <a:t>The way we communicate is a huge factor in how successful we are in life. If we communicate effectively, it gives us more credibility in our jobs as well as personal life.</a:t>
            </a:r>
          </a:p>
          <a:p>
            <a:pPr algn="l" fontAlgn="auto"/>
            <a:r>
              <a:rPr lang="en-US" sz="3200" b="0" i="0" dirty="0">
                <a:effectLst/>
                <a:latin typeface="-apple-system"/>
              </a:rPr>
              <a:t>Using the 7 C’s of communication, that is when you’re clear, concise, concrete, correct, consider the speaker, complete and courteous, with your message, you will become an effective communicator and find more success in your interactions with people.</a:t>
            </a:r>
          </a:p>
        </p:txBody>
      </p:sp>
    </p:spTree>
    <p:extLst>
      <p:ext uri="{BB962C8B-B14F-4D97-AF65-F5344CB8AC3E}">
        <p14:creationId xmlns:p14="http://schemas.microsoft.com/office/powerpoint/2010/main" val="16444792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DEBE4198-1957-47B5-B049-9D90FF4704C8}"/>
              </a:ext>
            </a:extLst>
          </p:cNvPr>
          <p:cNvSpPr txBox="1">
            <a:spLocks/>
          </p:cNvSpPr>
          <p:nvPr/>
        </p:nvSpPr>
        <p:spPr>
          <a:xfrm>
            <a:off x="340659" y="2338015"/>
            <a:ext cx="11698941" cy="165576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8800" b="1" dirty="0"/>
              <a:t>THANK YOU !!!!</a:t>
            </a:r>
          </a:p>
        </p:txBody>
      </p:sp>
    </p:spTree>
    <p:extLst>
      <p:ext uri="{BB962C8B-B14F-4D97-AF65-F5344CB8AC3E}">
        <p14:creationId xmlns:p14="http://schemas.microsoft.com/office/powerpoint/2010/main" val="9288455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B8E95D8DF3D1D45B54B2575A4373081" ma:contentTypeVersion="9" ma:contentTypeDescription="Create a new document." ma:contentTypeScope="" ma:versionID="cc6bf1427dee658de695cd230fb5496a">
  <xsd:schema xmlns:xsd="http://www.w3.org/2001/XMLSchema" xmlns:xs="http://www.w3.org/2001/XMLSchema" xmlns:p="http://schemas.microsoft.com/office/2006/metadata/properties" xmlns:ns2="6d5c43cc-8ab8-41a2-aa9e-1ca49e674800" xmlns:ns3="c848f146-79ae-4c3a-91bf-88192026bf06" targetNamespace="http://schemas.microsoft.com/office/2006/metadata/properties" ma:root="true" ma:fieldsID="271e1e6b9e41857934b5961dd78e370f" ns2:_="" ns3:_="">
    <xsd:import namespace="6d5c43cc-8ab8-41a2-aa9e-1ca49e674800"/>
    <xsd:import namespace="c848f146-79ae-4c3a-91bf-88192026bf0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5c43cc-8ab8-41a2-aa9e-1ca49e67480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d765a431-9415-4219-9cd0-5363948861b2"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848f146-79ae-4c3a-91bf-88192026bf06"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3f2783a4-9b8f-4977-af47-40c79445c8c3}" ma:internalName="TaxCatchAll" ma:showField="CatchAllData" ma:web="c848f146-79ae-4c3a-91bf-88192026bf0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c848f146-79ae-4c3a-91bf-88192026bf06" xsi:nil="true"/>
    <lcf76f155ced4ddcb4097134ff3c332f xmlns="6d5c43cc-8ab8-41a2-aa9e-1ca49e67480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0DD4699-1D71-4587-8AAE-7E0EDC5762FD}">
  <ds:schemaRefs>
    <ds:schemaRef ds:uri="http://schemas.microsoft.com/sharepoint/v3/contenttype/forms"/>
  </ds:schemaRefs>
</ds:datastoreItem>
</file>

<file path=customXml/itemProps2.xml><?xml version="1.0" encoding="utf-8"?>
<ds:datastoreItem xmlns:ds="http://schemas.openxmlformats.org/officeDocument/2006/customXml" ds:itemID="{5005A20C-3B3E-4BAC-9045-F3B6F106EA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5c43cc-8ab8-41a2-aa9e-1ca49e674800"/>
    <ds:schemaRef ds:uri="c848f146-79ae-4c3a-91bf-88192026bf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A3EB9E9-F5FD-4774-AA15-84A7F4FCD523}">
  <ds:schemaRefs>
    <ds:schemaRef ds:uri="http://schemas.microsoft.com/office/2006/metadata/properties"/>
    <ds:schemaRef ds:uri="http://schemas.microsoft.com/office/2006/documentManagement/types"/>
    <ds:schemaRef ds:uri="http://purl.org/dc/elements/1.1/"/>
    <ds:schemaRef ds:uri="http://schemas.openxmlformats.org/package/2006/metadata/core-properties"/>
    <ds:schemaRef ds:uri="6d5c43cc-8ab8-41a2-aa9e-1ca49e674800"/>
    <ds:schemaRef ds:uri="http://schemas.microsoft.com/office/infopath/2007/PartnerControls"/>
    <ds:schemaRef ds:uri="c848f146-79ae-4c3a-91bf-88192026bf06"/>
    <ds:schemaRef ds:uri="http://www.w3.org/XML/1998/namespace"/>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612</TotalTime>
  <Words>2917</Words>
  <Application>Microsoft Office PowerPoint</Application>
  <PresentationFormat>Widescreen</PresentationFormat>
  <Paragraphs>210</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-apple-system</vt:lpstr>
      <vt:lpstr>Arial</vt:lpstr>
      <vt:lpstr>Calibri</vt:lpstr>
      <vt:lpstr>Calibri Light</vt:lpstr>
      <vt:lpstr>Wingdings</vt:lpstr>
      <vt:lpstr>Office Theme</vt:lpstr>
      <vt:lpstr>Unit1</vt:lpstr>
      <vt:lpstr>PowerPoint Presentation</vt:lpstr>
      <vt:lpstr>PowerPoint Presentation</vt:lpstr>
      <vt:lpstr>PowerPoint Presentation</vt:lpstr>
      <vt:lpstr>PowerPoint Presentation</vt:lpstr>
      <vt:lpstr>PowerPoint Presentation</vt:lpstr>
      <vt:lpstr>  Communication Cycle</vt:lpstr>
      <vt:lpstr>Sender  </vt:lpstr>
      <vt:lpstr>Message </vt:lpstr>
      <vt:lpstr>Transmission and noise </vt:lpstr>
      <vt:lpstr>Receiver </vt:lpstr>
      <vt:lpstr>Feedback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Clear</vt:lpstr>
      <vt:lpstr>2. Concise</vt:lpstr>
      <vt:lpstr>3. Concrete</vt:lpstr>
      <vt:lpstr>4. Correct</vt:lpstr>
      <vt:lpstr>5. Coherent</vt:lpstr>
      <vt:lpstr>6. Complete</vt:lpstr>
      <vt:lpstr>7. Courteous</vt:lpstr>
      <vt:lpstr>PowerPoint Presentation</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Unit1</dc:title>
  <dc:creator>Geetha Unnikrishnan</dc:creator>
  <cp:lastModifiedBy>Prachi Arora</cp:lastModifiedBy>
  <cp:revision>71</cp:revision>
  <dcterms:created xsi:type="dcterms:W3CDTF">2021-09-01T05:08:26Z</dcterms:created>
  <dcterms:modified xsi:type="dcterms:W3CDTF">2025-08-29T05:30:24Z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0x0101001B8E95D8DF3D1D45B54B2575A4373081</vt:lpwstr>
  </property>
</Properties>
</file>