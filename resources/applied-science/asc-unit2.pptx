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Lst>
  <p:notesMasterIdLst>
    <p:notesMasterId r:id="rId68"/>
  </p:notesMasterIdLst>
  <p:sldIdLst>
    <p:sldId id="256" r:id="rId10"/>
    <p:sldId id="257" r:id="rId11"/>
    <p:sldId id="258" r:id="rId12"/>
    <p:sldId id="259" r:id="rId13"/>
    <p:sldId id="260" r:id="rId14"/>
    <p:sldId id="262" r:id="rId15"/>
    <p:sldId id="263" r:id="rId16"/>
    <p:sldId id="261" r:id="rId17"/>
    <p:sldId id="264" r:id="rId18"/>
    <p:sldId id="265" r:id="rId19"/>
    <p:sldId id="266" r:id="rId20"/>
    <p:sldId id="267" r:id="rId21"/>
    <p:sldId id="306" r:id="rId22"/>
    <p:sldId id="307" r:id="rId23"/>
    <p:sldId id="268" r:id="rId24"/>
    <p:sldId id="269" r:id="rId25"/>
    <p:sldId id="270" r:id="rId26"/>
    <p:sldId id="308" r:id="rId27"/>
    <p:sldId id="309"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310" r:id="rId45"/>
    <p:sldId id="287" r:id="rId46"/>
    <p:sldId id="288" r:id="rId47"/>
    <p:sldId id="289" r:id="rId48"/>
    <p:sldId id="301" r:id="rId49"/>
    <p:sldId id="290" r:id="rId50"/>
    <p:sldId id="293" r:id="rId51"/>
    <p:sldId id="294" r:id="rId52"/>
    <p:sldId id="292" r:id="rId53"/>
    <p:sldId id="297" r:id="rId54"/>
    <p:sldId id="296" r:id="rId55"/>
    <p:sldId id="311" r:id="rId56"/>
    <p:sldId id="295" r:id="rId57"/>
    <p:sldId id="298" r:id="rId58"/>
    <p:sldId id="299" r:id="rId59"/>
    <p:sldId id="291" r:id="rId60"/>
    <p:sldId id="302" r:id="rId61"/>
    <p:sldId id="300" r:id="rId62"/>
    <p:sldId id="303" r:id="rId63"/>
    <p:sldId id="313" r:id="rId64"/>
    <p:sldId id="304" r:id="rId65"/>
    <p:sldId id="305" r:id="rId66"/>
    <p:sldId id="31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5" Type="http://schemas.openxmlformats.org/officeDocument/2006/relationships/slideMaster" Target="slideMasters/slideMaster5.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0439B-3B0D-44E2-B916-FAB80CDCA507}"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24940-8ABF-4101-8924-AD092DED7E2F}" type="slidenum">
              <a:rPr lang="en-IN" smtClean="0"/>
              <a:t>‹#›</a:t>
            </a:fld>
            <a:endParaRPr lang="en-IN"/>
          </a:p>
        </p:txBody>
      </p:sp>
    </p:spTree>
    <p:extLst>
      <p:ext uri="{BB962C8B-B14F-4D97-AF65-F5344CB8AC3E}">
        <p14:creationId xmlns:p14="http://schemas.microsoft.com/office/powerpoint/2010/main" val="903203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A7F72A-4169-4775-87A1-8E8E044D418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43" name="Rectangle 2"/>
          <p:cNvSpPr>
            <a:spLocks noRo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330363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F36917-41E2-445B-800C-636851D6B07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2291" name="Rectangle 2"/>
          <p:cNvSpPr>
            <a:spLocks noRo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493152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0E095BB-B864-49C9-9E9C-1F2B4D6A267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4339" name="Rectangle 2"/>
          <p:cNvSpPr>
            <a:spLocks noRo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60927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AC09A2E-EF3D-4050-B092-F82C9846A71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8435" name="Rectangle 2"/>
          <p:cNvSpPr>
            <a:spLocks noRo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041376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ED74B55-4DD7-4195-B9DE-0A607CAFE42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20483" name="Rectangle 2"/>
          <p:cNvSpPr>
            <a:spLocks noRo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66902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396BEB8-BD1C-4DF3-ADBB-A8A5A6A8072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6147" name="Rectangle 2"/>
          <p:cNvSpPr>
            <a:spLocks noRo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470313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F5A4C15-60D3-4A81-B864-D90574AC840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Ro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117261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A67988D-9CD2-4C78-A648-4ED571CF082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4339" name="Rectangle 2"/>
          <p:cNvSpPr>
            <a:spLocks noRo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070868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AE2C92-E1ED-4204-AF4F-3A97F361900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6387" name="Rectangle 2"/>
          <p:cNvSpPr>
            <a:spLocks noRot="1"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473238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678EF3-8D0F-484C-B309-19A99462C07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8435" name="Rectangle 2"/>
          <p:cNvSpPr>
            <a:spLocks noRo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423786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248A00-99E9-4477-800C-B5A5B68FF98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20483" name="Rectangle 2"/>
          <p:cNvSpPr>
            <a:spLocks noRo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916273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854A4F-DBD2-4F87-B1F1-D2ADB2B2FC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22531" name="Rectangle 2"/>
          <p:cNvSpPr>
            <a:spLocks noRo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579036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A38B05-39D9-42EE-AE63-FE1B294DF93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24579" name="Rectangle 2"/>
          <p:cNvSpPr>
            <a:spLocks noRo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453213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196A696-E327-44B6-B699-D56E6DCE846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43" name="Rectangle 2"/>
          <p:cNvSpPr>
            <a:spLocks noRo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885673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507E45B-2E96-4C1B-82F9-37C0219721E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2291" name="Rectangle 2"/>
          <p:cNvSpPr>
            <a:spLocks noRo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504403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F1DBCD9-08FE-4EE6-870E-BA61BEFE9B26}" type="slidenum">
              <a:rPr lang="en-US" altLang="en-US"/>
              <a:pPr>
                <a:spcBef>
                  <a:spcPct val="0"/>
                </a:spcBef>
              </a:pPr>
              <a:t>38</a:t>
            </a:fld>
            <a:endParaRPr lang="en-US" altLang="en-US"/>
          </a:p>
        </p:txBody>
      </p:sp>
      <p:sp>
        <p:nvSpPr>
          <p:cNvPr id="11267" name="Rectangle 2"/>
          <p:cNvSpPr>
            <a:spLocks noRo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885138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A2B7887-8739-433E-824B-82B3F9A9CF16}"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1636026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A2B7887-8739-433E-824B-82B3F9A9CF16}"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2011166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A2B7887-8739-433E-824B-82B3F9A9CF16}"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337599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A2B7887-8739-433E-824B-82B3F9A9CF16}"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1884019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A2B7887-8739-433E-824B-82B3F9A9CF16}"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97121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A2B7887-8739-433E-824B-82B3F9A9CF16}" type="datetimeFigureOut">
              <a:rPr lang="en-IN" smtClean="0"/>
              <a:t>24-08-2026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194106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B7887-8739-433E-824B-82B3F9A9CF16}" type="datetimeFigureOut">
              <a:rPr lang="en-IN" smtClean="0"/>
              <a:t>24-08-2026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1544724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2B7887-8739-433E-824B-82B3F9A9CF16}"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1396397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2B7887-8739-433E-824B-82B3F9A9CF16}"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1126712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A2B7887-8739-433E-824B-82B3F9A9CF16}"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4045838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A2B7887-8739-433E-824B-82B3F9A9CF16}"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D291A9-520B-4225-82BA-0317B915A6F1}" type="slidenum">
              <a:rPr lang="en-IN" smtClean="0"/>
              <a:t>‹#›</a:t>
            </a:fld>
            <a:endParaRPr lang="en-IN"/>
          </a:p>
        </p:txBody>
      </p:sp>
    </p:spTree>
    <p:extLst>
      <p:ext uri="{BB962C8B-B14F-4D97-AF65-F5344CB8AC3E}">
        <p14:creationId xmlns:p14="http://schemas.microsoft.com/office/powerpoint/2010/main" val="3999863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DC63CD8-25DD-46ED-9C45-8DF4BBB3E8D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213376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2E86C65-6712-4DD5-ACEF-75F0AC173EC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899155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3A63B38-52EC-483B-84AE-B37A1DF1C87A}"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4601883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AA9B13F-3C6F-4853-9D97-C08381DC1D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244454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2BBC005-C769-4354-87BA-095C67A292D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227481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167ACD9-F409-438C-9CB8-2BE6DC1E3EE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120156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053D2783-EC88-4400-ADAB-7A27B618713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2531782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60F9D71-D07A-4F57-B322-D831A5E5EB2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74252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191FA86-491F-4E97-B24C-9B799DEE5FB4}"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1497665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859E342-032D-4846-96B8-88BE99EB3CB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37609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F98ACBC-245E-4D64-97AF-2AFBF95C82A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725125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DC63CD8-25DD-46ED-9C45-8DF4BBB3E8D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9551452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2E86C65-6712-4DD5-ACEF-75F0AC173EC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0592572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3A63B38-52EC-483B-84AE-B37A1DF1C87A}"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433450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AA9B13F-3C6F-4853-9D97-C08381DC1D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559871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2BBC005-C769-4354-87BA-095C67A292D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5750497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167ACD9-F409-438C-9CB8-2BE6DC1E3EE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5877471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053D2783-EC88-4400-ADAB-7A27B618713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8509350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60F9D71-D07A-4F57-B322-D831A5E5EB2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0988997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191FA86-491F-4E97-B24C-9B799DEE5FB4}"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815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859E342-032D-4846-96B8-88BE99EB3CB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161316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F98ACBC-245E-4D64-97AF-2AFBF95C82A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656528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DC63CD8-25DD-46ED-9C45-8DF4BBB3E8D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7479451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2E86C65-6712-4DD5-ACEF-75F0AC173EC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5593287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3A63B38-52EC-483B-84AE-B37A1DF1C87A}"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6798890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AA9B13F-3C6F-4853-9D97-C08381DC1D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8542785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2BBC005-C769-4354-87BA-095C67A292D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49112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167ACD9-F409-438C-9CB8-2BE6DC1E3EE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2966565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053D2783-EC88-4400-ADAB-7A27B618713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602675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60F9D71-D07A-4F57-B322-D831A5E5EB2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0082430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191FA86-491F-4E97-B24C-9B799DEE5FB4}"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4220533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859E342-032D-4846-96B8-88BE99EB3CB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0588595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F98ACBC-245E-4D64-97AF-2AFBF95C82A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051761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DC63CD8-25DD-46ED-9C45-8DF4BBB3E8D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27659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2E86C65-6712-4DD5-ACEF-75F0AC173EC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6879680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3A63B38-52EC-483B-84AE-B37A1DF1C87A}"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3273146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AA9B13F-3C6F-4853-9D97-C08381DC1D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9524914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2BBC005-C769-4354-87BA-095C67A292D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227937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167ACD9-F409-438C-9CB8-2BE6DC1E3EE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0185036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053D2783-EC88-4400-ADAB-7A27B618713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9564270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60F9D71-D07A-4F57-B322-D831A5E5EB2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7940981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191FA86-491F-4E97-B24C-9B799DEE5FB4}"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0231252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859E342-032D-4846-96B8-88BE99EB3CB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8055989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F98ACBC-245E-4D64-97AF-2AFBF95C82A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0295667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DC63CD8-25DD-46ED-9C45-8DF4BBB3E8D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4893432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2E86C65-6712-4DD5-ACEF-75F0AC173EC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3289203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3A63B38-52EC-483B-84AE-B37A1DF1C87A}"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7313206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AA9B13F-3C6F-4853-9D97-C08381DC1D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349509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2BBC005-C769-4354-87BA-095C67A292D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6926698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167ACD9-F409-438C-9CB8-2BE6DC1E3EE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682701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053D2783-EC88-4400-ADAB-7A27B618713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92721107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60F9D71-D07A-4F57-B322-D831A5E5EB2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850960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191FA86-491F-4E97-B24C-9B799DEE5FB4}"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8702274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859E342-032D-4846-96B8-88BE99EB3CBD}"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9826048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F98ACBC-245E-4D64-97AF-2AFBF95C82A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38085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686850D-EC4A-4C4C-8233-30F44722193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7921750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C871BC09-E41F-4C74-9840-84EA0CAC189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0748071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D54C5BE-855D-45D6-90BF-0682C9A6396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89562488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7DDA129-FE7D-4067-9EBB-8B45A58C4CD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5718128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46805A7-4704-48E3-A2C7-1FC4879416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5124675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C021E099-9D78-4131-A92D-73E1EC2768FC}"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48620867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9851F40-92A4-457E-AA5A-473C7F70D9E5}"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08096073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E5DF86E-7122-4AD3-A762-F9034FB8132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2742607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CED0E43C-9C62-419F-8783-0A5511E93E80}"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90119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0D79CDB-9284-4867-B02B-9C358492920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38106523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2B9F384-F1EB-4920-AED1-6E9466922BCB}"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2122505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686850D-EC4A-4C4C-8233-30F44722193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377601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C871BC09-E41F-4C74-9840-84EA0CAC189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3442188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D54C5BE-855D-45D6-90BF-0682C9A6396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1617141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7DDA129-FE7D-4067-9EBB-8B45A58C4CD6}"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06854099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46805A7-4704-48E3-A2C7-1FC4879416E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96458979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C021E099-9D78-4131-A92D-73E1EC2768FC}"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3349641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9851F40-92A4-457E-AA5A-473C7F70D9E5}"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26692039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E5DF86E-7122-4AD3-A762-F9034FB8132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64707280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CED0E43C-9C62-419F-8783-0A5511E93E80}"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72724808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0D79CDB-9284-4867-B02B-9C358492920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4966917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2B9F384-F1EB-4920-AED1-6E9466922BCB}"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53922082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3132D5D7-4127-43BE-B027-48BD44220FC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13257972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F8375656-4489-452A-9EA7-3DCDF1BD45F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29725558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005732B-48CE-4C3F-96F6-B0C5CD5FAC90}"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42909266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CD0C7DC-2D2B-4318-BDC0-539DA41D7659}"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53883945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7AE88E7-E3EE-4C0B-8388-963F521ABA1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5614944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2580F405-24C8-4E1F-9FEE-5CEFC96D0821}"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90163782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B831CB1B-4D31-4E83-8307-CE13887F619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44647781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F2A9782-3F9D-4941-B542-ED7171197E7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26682337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DDB31F8E-4E31-4879-9BA9-01D33EDD1D2C}"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62192320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8B54337-4B4C-4F0A-81C8-F5652E3354A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87484847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6DDD247C-5E0A-4F98-8257-0E64FB9895FC}"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948013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2B7887-8739-433E-824B-82B3F9A9CF16}" type="datetimeFigureOut">
              <a:rPr lang="en-IN" smtClean="0"/>
              <a:t>24-08-2026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291A9-520B-4225-82BA-0317B915A6F1}" type="slidenum">
              <a:rPr lang="en-IN" smtClean="0"/>
              <a:t>‹#›</a:t>
            </a:fld>
            <a:endParaRPr lang="en-IN"/>
          </a:p>
        </p:txBody>
      </p:sp>
    </p:spTree>
    <p:extLst>
      <p:ext uri="{BB962C8B-B14F-4D97-AF65-F5344CB8AC3E}">
        <p14:creationId xmlns:p14="http://schemas.microsoft.com/office/powerpoint/2010/main" val="1749837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D91DDAB5-EA22-46B5-A183-545EB35A6E3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493236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D91DDAB5-EA22-46B5-A183-545EB35A6E3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029662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D91DDAB5-EA22-46B5-A183-545EB35A6E3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80939633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D91DDAB5-EA22-46B5-A183-545EB35A6E3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6573163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D91DDAB5-EA22-46B5-A183-545EB35A6E38}"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61673416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9C81E8CA-B481-40E1-BEE6-CD63811B298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89818791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9C81E8CA-B481-40E1-BEE6-CD63811B298E}"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0620152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4681A9FC-C627-42A4-A949-4BB775AEF08B}"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74528498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83515" y="343949"/>
            <a:ext cx="10083567" cy="6494085"/>
          </a:xfrm>
          <a:prstGeom prst="rect">
            <a:avLst/>
          </a:prstGeom>
        </p:spPr>
        <p:txBody>
          <a:bodyPr wrap="square">
            <a:spAutoFit/>
          </a:bodyPr>
          <a:lstStyle/>
          <a:p>
            <a:r>
              <a:rPr lang="en-US" sz="3200" dirty="0" smtClean="0"/>
              <a:t>Unit - II Electricity, Magnetism</a:t>
            </a:r>
          </a:p>
          <a:p>
            <a:r>
              <a:rPr lang="en-US" sz="3200" dirty="0" smtClean="0"/>
              <a:t>2.1 Concept of charge, Coulomb's inverse square law, Electric</a:t>
            </a:r>
          </a:p>
          <a:p>
            <a:r>
              <a:rPr lang="en-US" sz="3200" dirty="0" smtClean="0"/>
              <a:t>field, Electric field intensity, potential and potential difference.</a:t>
            </a:r>
          </a:p>
          <a:p>
            <a:r>
              <a:rPr lang="en-US" sz="3200" dirty="0" smtClean="0"/>
              <a:t>2.2 Magnetic field and magnetic field intensity and its units,</a:t>
            </a:r>
          </a:p>
          <a:p>
            <a:r>
              <a:rPr lang="en-US" sz="3200" dirty="0" smtClean="0"/>
              <a:t>magnetic lines of force, magnetic flux .</a:t>
            </a:r>
          </a:p>
          <a:p>
            <a:r>
              <a:rPr lang="en-US" sz="3200" dirty="0" smtClean="0"/>
              <a:t>2.3 Electric current, Ohm's law, specific resistance, laws of series</a:t>
            </a:r>
          </a:p>
          <a:p>
            <a:r>
              <a:rPr lang="en-US" sz="3200" dirty="0" smtClean="0"/>
              <a:t>and parallel combination of resistance, conversion of galvanometer</a:t>
            </a:r>
          </a:p>
          <a:p>
            <a:r>
              <a:rPr lang="en-US" sz="3200" dirty="0" smtClean="0"/>
              <a:t>into ammeter and voltmeter, Heating effect of electric current .</a:t>
            </a:r>
            <a:endParaRPr lang="en-IN" sz="3200" dirty="0"/>
          </a:p>
        </p:txBody>
      </p:sp>
    </p:spTree>
    <p:extLst>
      <p:ext uri="{BB962C8B-B14F-4D97-AF65-F5344CB8AC3E}">
        <p14:creationId xmlns:p14="http://schemas.microsoft.com/office/powerpoint/2010/main" val="4175747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12691" y="626898"/>
            <a:ext cx="8123020" cy="5851955"/>
          </a:xfrm>
          <a:prstGeom prst="rect">
            <a:avLst/>
          </a:prstGeom>
        </p:spPr>
      </p:pic>
    </p:spTree>
    <p:extLst>
      <p:ext uri="{BB962C8B-B14F-4D97-AF65-F5344CB8AC3E}">
        <p14:creationId xmlns:p14="http://schemas.microsoft.com/office/powerpoint/2010/main" val="4135139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raw the structure of the following atoms showing the | KnowledgeBo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643" y="339646"/>
            <a:ext cx="5910336" cy="5980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18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harging by Friction | Cambridge (CIE) IGCSE Co-ordinated Sciences (Double  Award) Revision Notes 2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916" y="569334"/>
            <a:ext cx="9902825" cy="6049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593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echanism of Charging of an Object - Charging by Friction | Shaala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174" y="620787"/>
            <a:ext cx="10588322" cy="5531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644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1600200" y="0"/>
            <a:ext cx="3200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7C80"/>
                </a:solidFill>
              </a:rPr>
              <a:t>Properties of Charges:</a:t>
            </a:r>
          </a:p>
        </p:txBody>
      </p:sp>
      <p:sp>
        <p:nvSpPr>
          <p:cNvPr id="7174" name="Text Box 6"/>
          <p:cNvSpPr txBox="1">
            <a:spLocks noChangeArrowheads="1"/>
          </p:cNvSpPr>
          <p:nvPr/>
        </p:nvSpPr>
        <p:spPr bwMode="auto">
          <a:xfrm>
            <a:off x="1600200" y="457200"/>
            <a:ext cx="8915400" cy="628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a:pPr>
            <a:r>
              <a:rPr lang="en-US" altLang="en-US" sz="1800" b="1" dirty="0">
                <a:solidFill>
                  <a:srgbClr val="00CCFF"/>
                </a:solidFill>
              </a:rPr>
              <a:t>There exists only two types of charges, namely positive and negative.</a:t>
            </a:r>
          </a:p>
          <a:p>
            <a:pPr fontAlgn="base">
              <a:spcBef>
                <a:spcPct val="50000"/>
              </a:spcBef>
              <a:spcAft>
                <a:spcPct val="0"/>
              </a:spcAft>
              <a:buFontTx/>
              <a:buAutoNum type="arabicPeriod"/>
            </a:pPr>
            <a:r>
              <a:rPr lang="en-US" altLang="en-US" sz="1800" b="1" dirty="0">
                <a:solidFill>
                  <a:srgbClr val="CCFF66"/>
                </a:solidFill>
              </a:rPr>
              <a:t>Like charges repel and unlike charges attract each other.</a:t>
            </a:r>
          </a:p>
          <a:p>
            <a:pPr fontAlgn="base">
              <a:spcBef>
                <a:spcPct val="50000"/>
              </a:spcBef>
              <a:spcAft>
                <a:spcPct val="0"/>
              </a:spcAft>
              <a:buFontTx/>
              <a:buAutoNum type="arabicPeriod"/>
            </a:pPr>
            <a:r>
              <a:rPr lang="en-US" altLang="en-US" sz="1800" b="1" dirty="0">
                <a:solidFill>
                  <a:srgbClr val="FF00FF"/>
                </a:solidFill>
              </a:rPr>
              <a:t>Charge is a scalar quantity.</a:t>
            </a:r>
          </a:p>
          <a:p>
            <a:pPr fontAlgn="base">
              <a:spcBef>
                <a:spcPct val="50000"/>
              </a:spcBef>
              <a:spcAft>
                <a:spcPct val="0"/>
              </a:spcAft>
              <a:buFontTx/>
              <a:buAutoNum type="arabicPeriod"/>
            </a:pPr>
            <a:r>
              <a:rPr lang="en-US" altLang="en-US" sz="1800" b="1" dirty="0">
                <a:solidFill>
                  <a:srgbClr val="00CC00"/>
                </a:solidFill>
              </a:rPr>
              <a:t>Charge is additive in nature.                  </a:t>
            </a:r>
            <a:r>
              <a:rPr lang="en-US" altLang="en-US" sz="1800" b="1" dirty="0" err="1">
                <a:solidFill>
                  <a:srgbClr val="00CC00"/>
                </a:solidFill>
              </a:rPr>
              <a:t>eg</a:t>
            </a:r>
            <a:r>
              <a:rPr lang="en-US" altLang="en-US" sz="1800" b="1" dirty="0">
                <a:solidFill>
                  <a:srgbClr val="00CC00"/>
                </a:solidFill>
              </a:rPr>
              <a:t>.   +2 C + 5 C – 3 C = +4 C </a:t>
            </a:r>
          </a:p>
          <a:p>
            <a:pPr fontAlgn="base">
              <a:spcBef>
                <a:spcPct val="50000"/>
              </a:spcBef>
              <a:spcAft>
                <a:spcPct val="0"/>
              </a:spcAft>
              <a:buFontTx/>
              <a:buAutoNum type="arabicPeriod"/>
            </a:pPr>
            <a:r>
              <a:rPr lang="en-US" altLang="en-US" sz="1800" b="1" dirty="0">
                <a:solidFill>
                  <a:srgbClr val="FFCC00"/>
                </a:solidFill>
              </a:rPr>
              <a:t>Charge is quantized.</a:t>
            </a:r>
          </a:p>
          <a:p>
            <a:pPr fontAlgn="base">
              <a:spcBef>
                <a:spcPct val="50000"/>
              </a:spcBef>
              <a:spcAft>
                <a:spcPct val="0"/>
              </a:spcAft>
              <a:buNone/>
            </a:pPr>
            <a:r>
              <a:rPr lang="en-US" altLang="en-US" sz="1800" b="1" dirty="0">
                <a:solidFill>
                  <a:srgbClr val="FFCC00"/>
                </a:solidFill>
              </a:rPr>
              <a:t>      i.e. Electric charge exists in discrete packets rather than in continuous amount.</a:t>
            </a:r>
          </a:p>
          <a:p>
            <a:pPr fontAlgn="base">
              <a:spcBef>
                <a:spcPct val="50000"/>
              </a:spcBef>
              <a:spcAft>
                <a:spcPct val="0"/>
              </a:spcAft>
              <a:buNone/>
            </a:pPr>
            <a:r>
              <a:rPr lang="en-US" altLang="en-US" sz="1800" b="1" dirty="0">
                <a:solidFill>
                  <a:srgbClr val="FFCC00"/>
                </a:solidFill>
              </a:rPr>
              <a:t>      It can be expressed in integral multiples fundamental electronic charge           (</a:t>
            </a:r>
            <a:r>
              <a:rPr lang="en-US" altLang="en-US" sz="1800" b="1" dirty="0">
                <a:solidFill>
                  <a:srgbClr val="FF99FF"/>
                </a:solidFill>
              </a:rPr>
              <a:t>e = 1.6 x 10</a:t>
            </a:r>
            <a:r>
              <a:rPr lang="en-US" altLang="en-US" sz="1800" b="1" baseline="30000" dirty="0">
                <a:solidFill>
                  <a:srgbClr val="FF99FF"/>
                </a:solidFill>
              </a:rPr>
              <a:t>-19</a:t>
            </a:r>
            <a:r>
              <a:rPr lang="en-US" altLang="en-US" sz="1800" b="1" dirty="0">
                <a:solidFill>
                  <a:srgbClr val="FF99FF"/>
                </a:solidFill>
              </a:rPr>
              <a:t> C</a:t>
            </a:r>
            <a:r>
              <a:rPr lang="en-US" altLang="en-US" sz="1800" b="1" dirty="0">
                <a:solidFill>
                  <a:srgbClr val="FFCC00"/>
                </a:solidFill>
              </a:rPr>
              <a:t>)</a:t>
            </a:r>
          </a:p>
          <a:p>
            <a:pPr fontAlgn="base">
              <a:spcBef>
                <a:spcPct val="50000"/>
              </a:spcBef>
              <a:spcAft>
                <a:spcPct val="0"/>
              </a:spcAft>
              <a:buNone/>
            </a:pPr>
            <a:r>
              <a:rPr lang="en-US" altLang="en-US" sz="1800" b="1" dirty="0">
                <a:solidFill>
                  <a:srgbClr val="FFCC00"/>
                </a:solidFill>
              </a:rPr>
              <a:t>                                    </a:t>
            </a:r>
            <a:r>
              <a:rPr lang="en-US" altLang="en-US" sz="1800" b="1" dirty="0">
                <a:solidFill>
                  <a:srgbClr val="99FFCC"/>
                </a:solidFill>
              </a:rPr>
              <a:t>q = </a:t>
            </a:r>
            <a:r>
              <a:rPr lang="en-US" altLang="en-US" sz="1800" b="1" dirty="0">
                <a:solidFill>
                  <a:srgbClr val="99FFCC"/>
                </a:solidFill>
                <a:cs typeface="Arial" panose="020B0604020202020204" pitchFamily="34" charset="0"/>
              </a:rPr>
              <a:t>± ne</a:t>
            </a:r>
            <a:r>
              <a:rPr lang="en-US" altLang="en-US" sz="1800" b="1" dirty="0">
                <a:solidFill>
                  <a:srgbClr val="FFCC00"/>
                </a:solidFill>
                <a:cs typeface="Arial" panose="020B0604020202020204" pitchFamily="34" charset="0"/>
              </a:rPr>
              <a:t>           </a:t>
            </a:r>
            <a:r>
              <a:rPr lang="en-US" altLang="en-US" sz="1800" b="1" dirty="0">
                <a:solidFill>
                  <a:srgbClr val="99FFCC"/>
                </a:solidFill>
                <a:cs typeface="Arial" panose="020B0604020202020204" pitchFamily="34" charset="0"/>
              </a:rPr>
              <a:t>where n = 1, 2, 3, …………</a:t>
            </a:r>
          </a:p>
          <a:p>
            <a:pPr fontAlgn="base">
              <a:spcBef>
                <a:spcPct val="50000"/>
              </a:spcBef>
              <a:spcAft>
                <a:spcPct val="0"/>
              </a:spcAft>
              <a:buFontTx/>
              <a:buAutoNum type="arabicPeriod" startAt="6"/>
            </a:pPr>
            <a:r>
              <a:rPr lang="en-US" altLang="en-US" sz="1800" b="1" dirty="0">
                <a:solidFill>
                  <a:srgbClr val="00FF00"/>
                </a:solidFill>
                <a:cs typeface="Arial" panose="020B0604020202020204" pitchFamily="34" charset="0"/>
              </a:rPr>
              <a:t>Charge is conserved.</a:t>
            </a:r>
          </a:p>
          <a:p>
            <a:pPr fontAlgn="base">
              <a:spcBef>
                <a:spcPct val="50000"/>
              </a:spcBef>
              <a:spcAft>
                <a:spcPct val="0"/>
              </a:spcAft>
              <a:buNone/>
            </a:pPr>
            <a:r>
              <a:rPr lang="en-US" altLang="en-US" sz="1800" b="1" dirty="0">
                <a:solidFill>
                  <a:srgbClr val="9999FF"/>
                </a:solidFill>
                <a:cs typeface="Arial" panose="020B0604020202020204" pitchFamily="34" charset="0"/>
              </a:rPr>
              <a:t>      i.e. The algebraic sum of positive and negative charges in an isolated system remains constant.</a:t>
            </a:r>
          </a:p>
          <a:p>
            <a:pPr fontAlgn="base">
              <a:spcBef>
                <a:spcPct val="50000"/>
              </a:spcBef>
              <a:spcAft>
                <a:spcPct val="0"/>
              </a:spcAft>
              <a:buNone/>
            </a:pPr>
            <a:r>
              <a:rPr lang="en-US" altLang="en-US" sz="1800" b="1" dirty="0">
                <a:solidFill>
                  <a:srgbClr val="000000"/>
                </a:solidFill>
                <a:cs typeface="Arial" panose="020B0604020202020204" pitchFamily="34" charset="0"/>
              </a:rPr>
              <a:t>     </a:t>
            </a:r>
            <a:r>
              <a:rPr lang="en-US" altLang="en-US" sz="1800" b="1" dirty="0" err="1">
                <a:solidFill>
                  <a:srgbClr val="FF6699"/>
                </a:solidFill>
                <a:cs typeface="Arial" panose="020B0604020202020204" pitchFamily="34" charset="0"/>
              </a:rPr>
              <a:t>eg</a:t>
            </a:r>
            <a:r>
              <a:rPr lang="en-US" altLang="en-US" sz="1800" b="1" dirty="0">
                <a:solidFill>
                  <a:srgbClr val="FF6699"/>
                </a:solidFill>
                <a:cs typeface="Arial" panose="020B0604020202020204" pitchFamily="34" charset="0"/>
              </a:rPr>
              <a:t>.  When a glass rod is rubbed with silk, negative charge appears on the silk and an equal amount of positive charge appear on the glass rod.  The net charge on the glass-silk system remains zero before and after rubbing.</a:t>
            </a:r>
          </a:p>
          <a:p>
            <a:pPr fontAlgn="base">
              <a:spcBef>
                <a:spcPct val="50000"/>
              </a:spcBef>
              <a:spcAft>
                <a:spcPct val="0"/>
              </a:spcAft>
              <a:buNone/>
            </a:pPr>
            <a:r>
              <a:rPr lang="en-US" altLang="en-US" sz="1800" b="1" dirty="0">
                <a:solidFill>
                  <a:srgbClr val="000000"/>
                </a:solidFill>
                <a:cs typeface="Arial" panose="020B0604020202020204" pitchFamily="34" charset="0"/>
              </a:rPr>
              <a:t>     </a:t>
            </a:r>
            <a:r>
              <a:rPr lang="en-US" altLang="en-US" sz="1800" b="1" dirty="0">
                <a:solidFill>
                  <a:srgbClr val="FFFFCC"/>
                </a:solidFill>
                <a:cs typeface="Arial" panose="020B0604020202020204" pitchFamily="34" charset="0"/>
              </a:rPr>
              <a:t>It does not change with velocity also.</a:t>
            </a:r>
          </a:p>
        </p:txBody>
      </p:sp>
    </p:spTree>
    <p:extLst>
      <p:ext uri="{BB962C8B-B14F-4D97-AF65-F5344CB8AC3E}">
        <p14:creationId xmlns:p14="http://schemas.microsoft.com/office/powerpoint/2010/main" val="453594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slide(fromTop)">
                                      <p:cBhvr>
                                        <p:cTn id="7" dur="500"/>
                                        <p:tgtEl>
                                          <p:spTgt spid="7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74">
                                            <p:txEl>
                                              <p:pRg st="0" end="0"/>
                                            </p:txEl>
                                          </p:spTgt>
                                        </p:tgtEl>
                                        <p:attrNameLst>
                                          <p:attrName>style.visibility</p:attrName>
                                        </p:attrNameLst>
                                      </p:cBhvr>
                                      <p:to>
                                        <p:strVal val="visible"/>
                                      </p:to>
                                    </p:set>
                                    <p:animEffect transition="in" filter="wipe(up)">
                                      <p:cBhvr>
                                        <p:cTn id="12" dur="500"/>
                                        <p:tgtEl>
                                          <p:spTgt spid="717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174">
                                            <p:txEl>
                                              <p:pRg st="1" end="1"/>
                                            </p:txEl>
                                          </p:spTgt>
                                        </p:tgtEl>
                                        <p:attrNameLst>
                                          <p:attrName>style.visibility</p:attrName>
                                        </p:attrNameLst>
                                      </p:cBhvr>
                                      <p:to>
                                        <p:strVal val="visible"/>
                                      </p:to>
                                    </p:set>
                                    <p:animEffect transition="in" filter="wipe(up)">
                                      <p:cBhvr>
                                        <p:cTn id="17" dur="500"/>
                                        <p:tgtEl>
                                          <p:spTgt spid="717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174">
                                            <p:txEl>
                                              <p:pRg st="2" end="2"/>
                                            </p:txEl>
                                          </p:spTgt>
                                        </p:tgtEl>
                                        <p:attrNameLst>
                                          <p:attrName>style.visibility</p:attrName>
                                        </p:attrNameLst>
                                      </p:cBhvr>
                                      <p:to>
                                        <p:strVal val="visible"/>
                                      </p:to>
                                    </p:set>
                                    <p:animEffect transition="in" filter="wipe(up)">
                                      <p:cBhvr>
                                        <p:cTn id="22" dur="500"/>
                                        <p:tgtEl>
                                          <p:spTgt spid="717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174">
                                            <p:txEl>
                                              <p:pRg st="3" end="3"/>
                                            </p:txEl>
                                          </p:spTgt>
                                        </p:tgtEl>
                                        <p:attrNameLst>
                                          <p:attrName>style.visibility</p:attrName>
                                        </p:attrNameLst>
                                      </p:cBhvr>
                                      <p:to>
                                        <p:strVal val="visible"/>
                                      </p:to>
                                    </p:set>
                                    <p:animEffect transition="in" filter="wipe(up)">
                                      <p:cBhvr>
                                        <p:cTn id="27" dur="500"/>
                                        <p:tgtEl>
                                          <p:spTgt spid="7174">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174">
                                            <p:txEl>
                                              <p:pRg st="4" end="4"/>
                                            </p:txEl>
                                          </p:spTgt>
                                        </p:tgtEl>
                                        <p:attrNameLst>
                                          <p:attrName>style.visibility</p:attrName>
                                        </p:attrNameLst>
                                      </p:cBhvr>
                                      <p:to>
                                        <p:strVal val="visible"/>
                                      </p:to>
                                    </p:set>
                                    <p:animEffect transition="in" filter="wipe(up)">
                                      <p:cBhvr>
                                        <p:cTn id="32" dur="500"/>
                                        <p:tgtEl>
                                          <p:spTgt spid="7174">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7174">
                                            <p:txEl>
                                              <p:pRg st="5" end="5"/>
                                            </p:txEl>
                                          </p:spTgt>
                                        </p:tgtEl>
                                        <p:attrNameLst>
                                          <p:attrName>style.visibility</p:attrName>
                                        </p:attrNameLst>
                                      </p:cBhvr>
                                      <p:to>
                                        <p:strVal val="visible"/>
                                      </p:to>
                                    </p:set>
                                    <p:animEffect transition="in" filter="wipe(up)">
                                      <p:cBhvr>
                                        <p:cTn id="37" dur="500"/>
                                        <p:tgtEl>
                                          <p:spTgt spid="7174">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7174">
                                            <p:txEl>
                                              <p:pRg st="6" end="6"/>
                                            </p:txEl>
                                          </p:spTgt>
                                        </p:tgtEl>
                                        <p:attrNameLst>
                                          <p:attrName>style.visibility</p:attrName>
                                        </p:attrNameLst>
                                      </p:cBhvr>
                                      <p:to>
                                        <p:strVal val="visible"/>
                                      </p:to>
                                    </p:set>
                                    <p:animEffect transition="in" filter="wipe(up)">
                                      <p:cBhvr>
                                        <p:cTn id="42" dur="500"/>
                                        <p:tgtEl>
                                          <p:spTgt spid="7174">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7174">
                                            <p:txEl>
                                              <p:pRg st="7" end="7"/>
                                            </p:txEl>
                                          </p:spTgt>
                                        </p:tgtEl>
                                        <p:attrNameLst>
                                          <p:attrName>style.visibility</p:attrName>
                                        </p:attrNameLst>
                                      </p:cBhvr>
                                      <p:to>
                                        <p:strVal val="visible"/>
                                      </p:to>
                                    </p:set>
                                    <p:animEffect transition="in" filter="wipe(up)">
                                      <p:cBhvr>
                                        <p:cTn id="47" dur="500"/>
                                        <p:tgtEl>
                                          <p:spTgt spid="7174">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7174">
                                            <p:txEl>
                                              <p:pRg st="8" end="8"/>
                                            </p:txEl>
                                          </p:spTgt>
                                        </p:tgtEl>
                                        <p:attrNameLst>
                                          <p:attrName>style.visibility</p:attrName>
                                        </p:attrNameLst>
                                      </p:cBhvr>
                                      <p:to>
                                        <p:strVal val="visible"/>
                                      </p:to>
                                    </p:set>
                                    <p:animEffect transition="in" filter="wipe(up)">
                                      <p:cBhvr>
                                        <p:cTn id="52" dur="500"/>
                                        <p:tgtEl>
                                          <p:spTgt spid="7174">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7174">
                                            <p:txEl>
                                              <p:pRg st="9" end="9"/>
                                            </p:txEl>
                                          </p:spTgt>
                                        </p:tgtEl>
                                        <p:attrNameLst>
                                          <p:attrName>style.visibility</p:attrName>
                                        </p:attrNameLst>
                                      </p:cBhvr>
                                      <p:to>
                                        <p:strVal val="visible"/>
                                      </p:to>
                                    </p:set>
                                    <p:animEffect transition="in" filter="wipe(up)">
                                      <p:cBhvr>
                                        <p:cTn id="57" dur="500"/>
                                        <p:tgtEl>
                                          <p:spTgt spid="7174">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7174">
                                            <p:txEl>
                                              <p:pRg st="10" end="10"/>
                                            </p:txEl>
                                          </p:spTgt>
                                        </p:tgtEl>
                                        <p:attrNameLst>
                                          <p:attrName>style.visibility</p:attrName>
                                        </p:attrNameLst>
                                      </p:cBhvr>
                                      <p:to>
                                        <p:strVal val="visible"/>
                                      </p:to>
                                    </p:set>
                                    <p:animEffect transition="in" filter="wipe(up)">
                                      <p:cBhvr>
                                        <p:cTn id="62" dur="500"/>
                                        <p:tgtEl>
                                          <p:spTgt spid="7174">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7174">
                                            <p:txEl>
                                              <p:pRg st="11" end="11"/>
                                            </p:txEl>
                                          </p:spTgt>
                                        </p:tgtEl>
                                        <p:attrNameLst>
                                          <p:attrName>style.visibility</p:attrName>
                                        </p:attrNameLst>
                                      </p:cBhvr>
                                      <p:to>
                                        <p:strVal val="visible"/>
                                      </p:to>
                                    </p:set>
                                    <p:animEffect transition="in" filter="wipe(up)">
                                      <p:cBhvr>
                                        <p:cTn id="67" dur="500"/>
                                        <p:tgtEl>
                                          <p:spTgt spid="717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Electric char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558" y="1006678"/>
            <a:ext cx="9702570" cy="5017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977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Quantization of Charges | bartleb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00" name="Picture 4" descr="Quantization of Charges | bartleb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147" y="1291906"/>
            <a:ext cx="10026374" cy="5062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427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What is Electric Charge – Its Unit, Symbol, Types and Properties »  ElectroDuin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135" y="1518407"/>
            <a:ext cx="10599185" cy="4776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590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Properties of electric char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384" y="444618"/>
            <a:ext cx="10395575" cy="6162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643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 Box 4"/>
          <p:cNvSpPr txBox="1">
            <a:spLocks noChangeArrowheads="1"/>
          </p:cNvSpPr>
          <p:nvPr/>
        </p:nvSpPr>
        <p:spPr bwMode="auto">
          <a:xfrm>
            <a:off x="1676400" y="120651"/>
            <a:ext cx="8839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00"/>
                </a:solidFill>
              </a:rPr>
              <a:t>Note:</a:t>
            </a:r>
            <a:r>
              <a:rPr lang="en-US" altLang="en-US" sz="1800" b="1">
                <a:solidFill>
                  <a:srgbClr val="FF99FF"/>
                </a:solidFill>
              </a:rPr>
              <a:t>  Recently, the existence of quarks of charge </a:t>
            </a:r>
            <a:r>
              <a:rPr lang="en-US" altLang="en-US" sz="1800" b="1">
                <a:solidFill>
                  <a:srgbClr val="FF99FF"/>
                </a:solidFill>
                <a:cs typeface="Arial" panose="020B0604020202020204" pitchFamily="34" charset="0"/>
              </a:rPr>
              <a:t>⅓ e and </a:t>
            </a:r>
            <a:r>
              <a:rPr lang="en-US" altLang="en-US" sz="1800" b="1">
                <a:solidFill>
                  <a:srgbClr val="FF99FF"/>
                </a:solidFill>
              </a:rPr>
              <a:t>⅔ e has been postulated.  If the quarks are detected in any experiment with concrete practical evidence, then the minimum value of ‘quantum of charge’ will be either ⅓ e or ⅔ e.  However, the law of quantization will hold good.</a:t>
            </a:r>
            <a:r>
              <a:rPr lang="en-US" altLang="en-US" sz="1800">
                <a:solidFill>
                  <a:srgbClr val="FF99FF"/>
                </a:solidFill>
              </a:rPr>
              <a:t> </a:t>
            </a:r>
          </a:p>
        </p:txBody>
      </p:sp>
      <p:sp>
        <p:nvSpPr>
          <p:cNvPr id="8197" name="Text Box 5"/>
          <p:cNvSpPr txBox="1">
            <a:spLocks noChangeArrowheads="1"/>
          </p:cNvSpPr>
          <p:nvPr/>
        </p:nvSpPr>
        <p:spPr bwMode="auto">
          <a:xfrm>
            <a:off x="1676400" y="1325564"/>
            <a:ext cx="82296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FFCC"/>
                </a:solidFill>
              </a:rPr>
              <a:t>Coulomb’s Law – Force between two point electric charges:</a:t>
            </a:r>
          </a:p>
        </p:txBody>
      </p:sp>
      <p:sp>
        <p:nvSpPr>
          <p:cNvPr id="8198" name="Text Box 6"/>
          <p:cNvSpPr txBox="1">
            <a:spLocks noChangeArrowheads="1"/>
          </p:cNvSpPr>
          <p:nvPr/>
        </p:nvSpPr>
        <p:spPr bwMode="auto">
          <a:xfrm>
            <a:off x="1676400" y="1752601"/>
            <a:ext cx="8839200"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00"/>
                </a:solidFill>
              </a:rPr>
              <a:t>The electrostatic force of interaction (attraction or repulsion) between two point electric charges is directly proportional to the product of the charges, inversely proportional to the square of the distance between them and acts along the line joining the two charges.</a:t>
            </a:r>
          </a:p>
          <a:p>
            <a:pPr fontAlgn="base">
              <a:spcBef>
                <a:spcPct val="50000"/>
              </a:spcBef>
              <a:spcAft>
                <a:spcPct val="0"/>
              </a:spcAft>
              <a:buNone/>
            </a:pPr>
            <a:r>
              <a:rPr lang="en-US" altLang="en-US" sz="1800" b="1">
                <a:solidFill>
                  <a:srgbClr val="FF9933"/>
                </a:solidFill>
              </a:rPr>
              <a:t>Strictly speaking, Coulomb’s law applies to stationary point charges.</a:t>
            </a:r>
            <a:endParaRPr lang="en-US" altLang="en-US" sz="1800">
              <a:solidFill>
                <a:srgbClr val="FF9933"/>
              </a:solidFill>
            </a:endParaRPr>
          </a:p>
        </p:txBody>
      </p:sp>
      <p:grpSp>
        <p:nvGrpSpPr>
          <p:cNvPr id="8204" name="Group 12"/>
          <p:cNvGrpSpPr>
            <a:grpSpLocks/>
          </p:cNvGrpSpPr>
          <p:nvPr/>
        </p:nvGrpSpPr>
        <p:grpSpPr bwMode="auto">
          <a:xfrm>
            <a:off x="7239000" y="4114801"/>
            <a:ext cx="2286000" cy="366713"/>
            <a:chOff x="3600" y="2784"/>
            <a:chExt cx="1440" cy="231"/>
          </a:xfrm>
        </p:grpSpPr>
        <p:sp>
          <p:nvSpPr>
            <p:cNvPr id="11297" name="Line 10"/>
            <p:cNvSpPr>
              <a:spLocks noChangeShapeType="1"/>
            </p:cNvSpPr>
            <p:nvPr/>
          </p:nvSpPr>
          <p:spPr bwMode="auto">
            <a:xfrm>
              <a:off x="3600" y="2784"/>
              <a:ext cx="1440" cy="0"/>
            </a:xfrm>
            <a:prstGeom prst="line">
              <a:avLst/>
            </a:prstGeom>
            <a:noFill/>
            <a:ln w="19050">
              <a:solidFill>
                <a:srgbClr val="FF99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298" name="Text Box 11"/>
            <p:cNvSpPr txBox="1">
              <a:spLocks noChangeArrowheads="1"/>
            </p:cNvSpPr>
            <p:nvPr/>
          </p:nvSpPr>
          <p:spPr bwMode="auto">
            <a:xfrm>
              <a:off x="4224" y="278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r</a:t>
              </a:r>
            </a:p>
          </p:txBody>
        </p:sp>
      </p:grpSp>
      <p:grpSp>
        <p:nvGrpSpPr>
          <p:cNvPr id="8236" name="Group 44"/>
          <p:cNvGrpSpPr>
            <a:grpSpLocks/>
          </p:cNvGrpSpPr>
          <p:nvPr/>
        </p:nvGrpSpPr>
        <p:grpSpPr bwMode="auto">
          <a:xfrm>
            <a:off x="7010400" y="3536950"/>
            <a:ext cx="457200" cy="501650"/>
            <a:chOff x="3456" y="2228"/>
            <a:chExt cx="288" cy="316"/>
          </a:xfrm>
        </p:grpSpPr>
        <p:sp>
          <p:nvSpPr>
            <p:cNvPr id="11295" name="Oval 8"/>
            <p:cNvSpPr>
              <a:spLocks noChangeArrowheads="1"/>
            </p:cNvSpPr>
            <p:nvPr/>
          </p:nvSpPr>
          <p:spPr bwMode="auto">
            <a:xfrm>
              <a:off x="3552" y="2496"/>
              <a:ext cx="48" cy="48"/>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1296" name="Rectangle 13"/>
            <p:cNvSpPr>
              <a:spLocks noChangeArrowheads="1"/>
            </p:cNvSpPr>
            <p:nvPr/>
          </p:nvSpPr>
          <p:spPr bwMode="auto">
            <a:xfrm>
              <a:off x="3456" y="222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q</a:t>
              </a:r>
              <a:r>
                <a:rPr lang="en-US" altLang="en-US" sz="1800" b="1" baseline="-25000">
                  <a:solidFill>
                    <a:srgbClr val="66FF33"/>
                  </a:solidFill>
                </a:rPr>
                <a:t>1</a:t>
              </a:r>
            </a:p>
          </p:txBody>
        </p:sp>
      </p:grpSp>
      <p:grpSp>
        <p:nvGrpSpPr>
          <p:cNvPr id="8237" name="Group 45"/>
          <p:cNvGrpSpPr>
            <a:grpSpLocks/>
          </p:cNvGrpSpPr>
          <p:nvPr/>
        </p:nvGrpSpPr>
        <p:grpSpPr bwMode="auto">
          <a:xfrm>
            <a:off x="9372600" y="3536950"/>
            <a:ext cx="457200" cy="501650"/>
            <a:chOff x="4944" y="2228"/>
            <a:chExt cx="288" cy="316"/>
          </a:xfrm>
        </p:grpSpPr>
        <p:sp>
          <p:nvSpPr>
            <p:cNvPr id="11293" name="Oval 9"/>
            <p:cNvSpPr>
              <a:spLocks noChangeArrowheads="1"/>
            </p:cNvSpPr>
            <p:nvPr/>
          </p:nvSpPr>
          <p:spPr bwMode="auto">
            <a:xfrm>
              <a:off x="5040" y="2496"/>
              <a:ext cx="48" cy="48"/>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1294" name="Rectangle 14"/>
            <p:cNvSpPr>
              <a:spLocks noChangeArrowheads="1"/>
            </p:cNvSpPr>
            <p:nvPr/>
          </p:nvSpPr>
          <p:spPr bwMode="auto">
            <a:xfrm>
              <a:off x="4944" y="222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q</a:t>
              </a:r>
              <a:r>
                <a:rPr lang="en-US" altLang="en-US" sz="1800" b="1" baseline="-25000">
                  <a:solidFill>
                    <a:srgbClr val="66FF33"/>
                  </a:solidFill>
                </a:rPr>
                <a:t>2</a:t>
              </a:r>
            </a:p>
          </p:txBody>
        </p:sp>
      </p:grpSp>
      <p:sp>
        <p:nvSpPr>
          <p:cNvPr id="8207" name="Text Box 15"/>
          <p:cNvSpPr txBox="1">
            <a:spLocks noChangeArrowheads="1"/>
          </p:cNvSpPr>
          <p:nvPr/>
        </p:nvSpPr>
        <p:spPr bwMode="auto">
          <a:xfrm>
            <a:off x="2514600" y="3733801"/>
            <a:ext cx="14478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CCCCFF"/>
                </a:solidFill>
              </a:rPr>
              <a:t>F </a:t>
            </a:r>
            <a:r>
              <a:rPr lang="el-GR" altLang="en-US" sz="1800" b="1">
                <a:solidFill>
                  <a:srgbClr val="CCCCFF"/>
                </a:solidFill>
                <a:cs typeface="Arial" panose="020B0604020202020204" pitchFamily="34" charset="0"/>
              </a:rPr>
              <a:t>α</a:t>
            </a:r>
            <a:r>
              <a:rPr lang="en-US" altLang="en-US" sz="1800" b="1">
                <a:solidFill>
                  <a:srgbClr val="000000"/>
                </a:solidFill>
                <a:cs typeface="Arial" panose="020B0604020202020204" pitchFamily="34" charset="0"/>
              </a:rPr>
              <a:t> </a:t>
            </a:r>
            <a:r>
              <a:rPr lang="en-US" altLang="en-US" sz="1800" b="1">
                <a:solidFill>
                  <a:srgbClr val="66FF33"/>
                </a:solidFill>
                <a:cs typeface="Arial" panose="020B0604020202020204" pitchFamily="34" charset="0"/>
              </a:rPr>
              <a:t>q</a:t>
            </a:r>
            <a:r>
              <a:rPr lang="en-US" altLang="en-US" sz="1800" b="1" baseline="-25000">
                <a:solidFill>
                  <a:srgbClr val="66FF33"/>
                </a:solidFill>
                <a:cs typeface="Arial" panose="020B0604020202020204" pitchFamily="34" charset="0"/>
              </a:rPr>
              <a:t>1</a:t>
            </a:r>
            <a:r>
              <a:rPr lang="en-US" altLang="en-US" sz="1800" b="1">
                <a:solidFill>
                  <a:srgbClr val="66FF33"/>
                </a:solidFill>
                <a:cs typeface="Arial" panose="020B0604020202020204" pitchFamily="34" charset="0"/>
              </a:rPr>
              <a:t> q</a:t>
            </a:r>
            <a:r>
              <a:rPr lang="en-US" altLang="en-US" sz="1800" b="1" baseline="-25000">
                <a:solidFill>
                  <a:srgbClr val="66FF33"/>
                </a:solidFill>
                <a:cs typeface="Arial" panose="020B0604020202020204" pitchFamily="34" charset="0"/>
              </a:rPr>
              <a:t>2</a:t>
            </a:r>
          </a:p>
          <a:p>
            <a:pPr fontAlgn="base">
              <a:spcBef>
                <a:spcPct val="50000"/>
              </a:spcBef>
              <a:spcAft>
                <a:spcPct val="0"/>
              </a:spcAft>
              <a:buNone/>
            </a:pPr>
            <a:r>
              <a:rPr lang="en-US" altLang="en-US" sz="1800" b="1">
                <a:solidFill>
                  <a:srgbClr val="CCCCFF"/>
                </a:solidFill>
                <a:cs typeface="Arial" panose="020B0604020202020204" pitchFamily="34" charset="0"/>
              </a:rPr>
              <a:t>F </a:t>
            </a:r>
            <a:r>
              <a:rPr lang="el-GR" altLang="en-US" sz="1800" b="1">
                <a:solidFill>
                  <a:srgbClr val="CCCCFF"/>
                </a:solidFill>
              </a:rPr>
              <a:t>α</a:t>
            </a:r>
            <a:r>
              <a:rPr lang="en-US" altLang="en-US" sz="1800" b="1">
                <a:solidFill>
                  <a:srgbClr val="000000"/>
                </a:solidFill>
              </a:rPr>
              <a:t> </a:t>
            </a:r>
            <a:r>
              <a:rPr lang="en-US" altLang="en-US" sz="1800" b="1">
                <a:solidFill>
                  <a:srgbClr val="FF9900"/>
                </a:solidFill>
              </a:rPr>
              <a:t>1 / r</a:t>
            </a:r>
            <a:r>
              <a:rPr lang="en-US" altLang="en-US" sz="1800" b="1" baseline="30000">
                <a:solidFill>
                  <a:srgbClr val="FF9900"/>
                </a:solidFill>
              </a:rPr>
              <a:t>2</a:t>
            </a:r>
            <a:endParaRPr lang="el-GR" altLang="en-US" sz="1800" b="1" baseline="30000">
              <a:solidFill>
                <a:srgbClr val="FF9900"/>
              </a:solidFill>
            </a:endParaRPr>
          </a:p>
        </p:txBody>
      </p:sp>
      <p:sp>
        <p:nvSpPr>
          <p:cNvPr id="8208" name="Text Box 16"/>
          <p:cNvSpPr txBox="1">
            <a:spLocks noChangeArrowheads="1"/>
          </p:cNvSpPr>
          <p:nvPr/>
        </p:nvSpPr>
        <p:spPr bwMode="auto">
          <a:xfrm>
            <a:off x="19812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66"/>
                </a:solidFill>
              </a:rPr>
              <a:t>or</a:t>
            </a:r>
          </a:p>
        </p:txBody>
      </p:sp>
      <p:grpSp>
        <p:nvGrpSpPr>
          <p:cNvPr id="8233" name="Group 41"/>
          <p:cNvGrpSpPr>
            <a:grpSpLocks/>
          </p:cNvGrpSpPr>
          <p:nvPr/>
        </p:nvGrpSpPr>
        <p:grpSpPr bwMode="auto">
          <a:xfrm>
            <a:off x="2514600" y="4662489"/>
            <a:ext cx="1295400" cy="809625"/>
            <a:chOff x="624" y="2937"/>
            <a:chExt cx="816" cy="510"/>
          </a:xfrm>
        </p:grpSpPr>
        <p:sp>
          <p:nvSpPr>
            <p:cNvPr id="11289" name="Rectangle 17"/>
            <p:cNvSpPr>
              <a:spLocks noChangeArrowheads="1"/>
            </p:cNvSpPr>
            <p:nvPr/>
          </p:nvSpPr>
          <p:spPr bwMode="auto">
            <a:xfrm>
              <a:off x="624" y="3081"/>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CCFF"/>
                  </a:solidFill>
                </a:rPr>
                <a:t>F </a:t>
              </a:r>
              <a:r>
                <a:rPr lang="el-GR" altLang="en-US" sz="1800" b="1">
                  <a:solidFill>
                    <a:srgbClr val="CCCCFF"/>
                  </a:solidFill>
                </a:rPr>
                <a:t>α</a:t>
              </a:r>
              <a:endParaRPr lang="en-US" altLang="en-US" sz="1800" b="1">
                <a:solidFill>
                  <a:srgbClr val="CCCCFF"/>
                </a:solidFill>
              </a:endParaRPr>
            </a:p>
          </p:txBody>
        </p:sp>
        <p:sp>
          <p:nvSpPr>
            <p:cNvPr id="11290" name="Rectangle 18"/>
            <p:cNvSpPr>
              <a:spLocks noChangeArrowheads="1"/>
            </p:cNvSpPr>
            <p:nvPr/>
          </p:nvSpPr>
          <p:spPr bwMode="auto">
            <a:xfrm>
              <a:off x="1008" y="2937"/>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q</a:t>
              </a:r>
              <a:r>
                <a:rPr lang="en-US" altLang="en-US" sz="1800" b="1" baseline="-25000">
                  <a:solidFill>
                    <a:srgbClr val="66FF33"/>
                  </a:solidFill>
                </a:rPr>
                <a:t>1 </a:t>
              </a:r>
              <a:r>
                <a:rPr lang="en-US" altLang="en-US" sz="1800" b="1">
                  <a:solidFill>
                    <a:srgbClr val="66FF33"/>
                  </a:solidFill>
                </a:rPr>
                <a:t>q</a:t>
              </a:r>
              <a:r>
                <a:rPr lang="en-US" altLang="en-US" sz="1800" b="1" baseline="-25000">
                  <a:solidFill>
                    <a:srgbClr val="66FF33"/>
                  </a:solidFill>
                </a:rPr>
                <a:t>2</a:t>
              </a:r>
              <a:endParaRPr lang="en-US" altLang="en-US" sz="1800">
                <a:solidFill>
                  <a:srgbClr val="000000"/>
                </a:solidFill>
              </a:endParaRPr>
            </a:p>
          </p:txBody>
        </p:sp>
        <p:sp>
          <p:nvSpPr>
            <p:cNvPr id="11291" name="Rectangle 19"/>
            <p:cNvSpPr>
              <a:spLocks noChangeArrowheads="1"/>
            </p:cNvSpPr>
            <p:nvPr/>
          </p:nvSpPr>
          <p:spPr bwMode="auto">
            <a:xfrm>
              <a:off x="1119" y="3216"/>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r</a:t>
              </a:r>
              <a:r>
                <a:rPr lang="en-US" altLang="en-US" sz="1800" b="1" baseline="30000">
                  <a:solidFill>
                    <a:srgbClr val="FF9900"/>
                  </a:solidFill>
                </a:rPr>
                <a:t>2</a:t>
              </a:r>
              <a:endParaRPr lang="el-GR" altLang="en-US" sz="1800" b="1" baseline="30000">
                <a:solidFill>
                  <a:srgbClr val="FF9900"/>
                </a:solidFill>
              </a:endParaRPr>
            </a:p>
          </p:txBody>
        </p:sp>
        <p:sp>
          <p:nvSpPr>
            <p:cNvPr id="11292" name="Line 20"/>
            <p:cNvSpPr>
              <a:spLocks noChangeShapeType="1"/>
            </p:cNvSpPr>
            <p:nvPr/>
          </p:nvSpPr>
          <p:spPr bwMode="auto">
            <a:xfrm>
              <a:off x="1008" y="3216"/>
              <a:ext cx="384"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8230" name="Group 38"/>
          <p:cNvGrpSpPr>
            <a:grpSpLocks/>
          </p:cNvGrpSpPr>
          <p:nvPr/>
        </p:nvGrpSpPr>
        <p:grpSpPr bwMode="auto">
          <a:xfrm>
            <a:off x="4724400" y="4676776"/>
            <a:ext cx="1447800" cy="809625"/>
            <a:chOff x="2016" y="2937"/>
            <a:chExt cx="912" cy="510"/>
          </a:xfrm>
        </p:grpSpPr>
        <p:sp>
          <p:nvSpPr>
            <p:cNvPr id="11285" name="Rectangle 23"/>
            <p:cNvSpPr>
              <a:spLocks noChangeArrowheads="1"/>
            </p:cNvSpPr>
            <p:nvPr/>
          </p:nvSpPr>
          <p:spPr bwMode="auto">
            <a:xfrm>
              <a:off x="2016" y="3081"/>
              <a:ext cx="4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F = k</a:t>
              </a:r>
            </a:p>
          </p:txBody>
        </p:sp>
        <p:sp>
          <p:nvSpPr>
            <p:cNvPr id="11286" name="Rectangle 24"/>
            <p:cNvSpPr>
              <a:spLocks noChangeArrowheads="1"/>
            </p:cNvSpPr>
            <p:nvPr/>
          </p:nvSpPr>
          <p:spPr bwMode="auto">
            <a:xfrm>
              <a:off x="2496" y="2937"/>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q</a:t>
              </a:r>
              <a:r>
                <a:rPr lang="en-US" altLang="en-US" sz="1800" b="1" baseline="-25000">
                  <a:solidFill>
                    <a:srgbClr val="FFCCFF"/>
                  </a:solidFill>
                </a:rPr>
                <a:t>1 </a:t>
              </a:r>
              <a:r>
                <a:rPr lang="en-US" altLang="en-US" sz="1800" b="1">
                  <a:solidFill>
                    <a:srgbClr val="FFCCFF"/>
                  </a:solidFill>
                </a:rPr>
                <a:t>q</a:t>
              </a:r>
              <a:r>
                <a:rPr lang="en-US" altLang="en-US" sz="1800" b="1" baseline="-25000">
                  <a:solidFill>
                    <a:srgbClr val="FFCCFF"/>
                  </a:solidFill>
                </a:rPr>
                <a:t>2</a:t>
              </a:r>
              <a:endParaRPr lang="en-US" altLang="en-US" sz="1800">
                <a:solidFill>
                  <a:srgbClr val="FFCCFF"/>
                </a:solidFill>
              </a:endParaRPr>
            </a:p>
          </p:txBody>
        </p:sp>
        <p:sp>
          <p:nvSpPr>
            <p:cNvPr id="11287" name="Rectangle 25"/>
            <p:cNvSpPr>
              <a:spLocks noChangeArrowheads="1"/>
            </p:cNvSpPr>
            <p:nvPr/>
          </p:nvSpPr>
          <p:spPr bwMode="auto">
            <a:xfrm>
              <a:off x="2544" y="3216"/>
              <a:ext cx="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CCFF"/>
                  </a:solidFill>
                </a:rPr>
                <a:t> r</a:t>
              </a:r>
              <a:r>
                <a:rPr lang="en-US" altLang="en-US" sz="1800" b="1" baseline="30000">
                  <a:solidFill>
                    <a:srgbClr val="FFCCFF"/>
                  </a:solidFill>
                </a:rPr>
                <a:t>2</a:t>
              </a:r>
              <a:endParaRPr lang="el-GR" altLang="en-US" sz="1800" b="1" baseline="30000">
                <a:solidFill>
                  <a:srgbClr val="FFCCFF"/>
                </a:solidFill>
              </a:endParaRPr>
            </a:p>
          </p:txBody>
        </p:sp>
        <p:sp>
          <p:nvSpPr>
            <p:cNvPr id="11288" name="Line 26"/>
            <p:cNvSpPr>
              <a:spLocks noChangeShapeType="1"/>
            </p:cNvSpPr>
            <p:nvPr/>
          </p:nvSpPr>
          <p:spPr bwMode="auto">
            <a:xfrm>
              <a:off x="2496" y="3216"/>
              <a:ext cx="384" cy="0"/>
            </a:xfrm>
            <a:prstGeom prst="line">
              <a:avLst/>
            </a:prstGeom>
            <a:noFill/>
            <a:ln w="1905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8220" name="Text Box 28"/>
          <p:cNvSpPr txBox="1">
            <a:spLocks noChangeArrowheads="1"/>
          </p:cNvSpPr>
          <p:nvPr/>
        </p:nvSpPr>
        <p:spPr bwMode="auto">
          <a:xfrm>
            <a:off x="41148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66"/>
                </a:solidFill>
              </a:rPr>
              <a:t>or</a:t>
            </a:r>
          </a:p>
        </p:txBody>
      </p:sp>
      <p:sp>
        <p:nvSpPr>
          <p:cNvPr id="8221" name="Text Box 29"/>
          <p:cNvSpPr txBox="1">
            <a:spLocks noChangeArrowheads="1"/>
          </p:cNvSpPr>
          <p:nvPr/>
        </p:nvSpPr>
        <p:spPr bwMode="auto">
          <a:xfrm>
            <a:off x="6553200" y="4724401"/>
            <a:ext cx="3886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CCFF99"/>
                </a:solidFill>
              </a:rPr>
              <a:t>where k is a positive constant of proportionality called electrostatic force constant or Coulomb constant.</a:t>
            </a:r>
          </a:p>
        </p:txBody>
      </p:sp>
      <p:grpSp>
        <p:nvGrpSpPr>
          <p:cNvPr id="8235" name="Group 43"/>
          <p:cNvGrpSpPr>
            <a:grpSpLocks/>
          </p:cNvGrpSpPr>
          <p:nvPr/>
        </p:nvGrpSpPr>
        <p:grpSpPr bwMode="auto">
          <a:xfrm>
            <a:off x="2590800" y="5880101"/>
            <a:ext cx="2590800" cy="701675"/>
            <a:chOff x="480" y="3695"/>
            <a:chExt cx="1632" cy="442"/>
          </a:xfrm>
        </p:grpSpPr>
        <p:sp>
          <p:nvSpPr>
            <p:cNvPr id="11280" name="Rectangle 31"/>
            <p:cNvSpPr>
              <a:spLocks noChangeArrowheads="1"/>
            </p:cNvSpPr>
            <p:nvPr/>
          </p:nvSpPr>
          <p:spPr bwMode="auto">
            <a:xfrm>
              <a:off x="480" y="3810"/>
              <a:ext cx="12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In vacuum,</a:t>
              </a:r>
              <a:r>
                <a:rPr lang="en-US" altLang="en-US" sz="1800" b="1">
                  <a:solidFill>
                    <a:srgbClr val="000000"/>
                  </a:solidFill>
                </a:rPr>
                <a:t>   </a:t>
              </a:r>
              <a:r>
                <a:rPr lang="en-US" altLang="en-US" sz="1800" b="1">
                  <a:solidFill>
                    <a:srgbClr val="FFFFCC"/>
                  </a:solidFill>
                </a:rPr>
                <a:t>k = </a:t>
              </a:r>
            </a:p>
          </p:txBody>
        </p:sp>
        <p:grpSp>
          <p:nvGrpSpPr>
            <p:cNvPr id="11281" name="Group 42"/>
            <p:cNvGrpSpPr>
              <a:grpSpLocks/>
            </p:cNvGrpSpPr>
            <p:nvPr/>
          </p:nvGrpSpPr>
          <p:grpSpPr bwMode="auto">
            <a:xfrm>
              <a:off x="1680" y="3695"/>
              <a:ext cx="432" cy="442"/>
              <a:chOff x="1680" y="3715"/>
              <a:chExt cx="432" cy="442"/>
            </a:xfrm>
          </p:grpSpPr>
          <p:sp>
            <p:nvSpPr>
              <p:cNvPr id="11282" name="Rectangle 32"/>
              <p:cNvSpPr>
                <a:spLocks noChangeArrowheads="1"/>
              </p:cNvSpPr>
              <p:nvPr/>
            </p:nvSpPr>
            <p:spPr bwMode="auto">
              <a:xfrm>
                <a:off x="1776" y="3715"/>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11283" name="Rectangle 33"/>
              <p:cNvSpPr>
                <a:spLocks noChangeArrowheads="1"/>
              </p:cNvSpPr>
              <p:nvPr/>
            </p:nvSpPr>
            <p:spPr bwMode="auto">
              <a:xfrm>
                <a:off x="1685" y="3926"/>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r>
                  <a:rPr lang="en-US" altLang="en-US" sz="1800" b="1" baseline="-25000">
                    <a:solidFill>
                      <a:srgbClr val="FFFFCC"/>
                    </a:solidFill>
                    <a:cs typeface="Arial" panose="020B0604020202020204" pitchFamily="34" charset="0"/>
                  </a:rPr>
                  <a:t>0</a:t>
                </a:r>
                <a:endParaRPr lang="el-GR" altLang="en-US" sz="1800" b="1" baseline="-25000">
                  <a:solidFill>
                    <a:srgbClr val="FFFFCC"/>
                  </a:solidFill>
                  <a:cs typeface="Arial" panose="020B0604020202020204" pitchFamily="34" charset="0"/>
                </a:endParaRPr>
              </a:p>
            </p:txBody>
          </p:sp>
          <p:sp>
            <p:nvSpPr>
              <p:cNvPr id="11284" name="Line 34"/>
              <p:cNvSpPr>
                <a:spLocks noChangeShapeType="1"/>
              </p:cNvSpPr>
              <p:nvPr/>
            </p:nvSpPr>
            <p:spPr bwMode="auto">
              <a:xfrm>
                <a:off x="1680" y="3945"/>
                <a:ext cx="384"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sp>
        <p:nvSpPr>
          <p:cNvPr id="8228" name="Text Box 36"/>
          <p:cNvSpPr txBox="1">
            <a:spLocks noChangeArrowheads="1"/>
          </p:cNvSpPr>
          <p:nvPr/>
        </p:nvSpPr>
        <p:spPr bwMode="auto">
          <a:xfrm>
            <a:off x="5486400" y="6048376"/>
            <a:ext cx="457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where </a:t>
            </a:r>
            <a:r>
              <a:rPr lang="el-GR" altLang="en-US" sz="1800" b="1">
                <a:solidFill>
                  <a:srgbClr val="FF9900"/>
                </a:solidFill>
              </a:rPr>
              <a:t>ε</a:t>
            </a:r>
            <a:r>
              <a:rPr lang="en-US" altLang="en-US" sz="1800" b="1" baseline="-25000">
                <a:solidFill>
                  <a:srgbClr val="FF9900"/>
                </a:solidFill>
              </a:rPr>
              <a:t>0</a:t>
            </a:r>
            <a:r>
              <a:rPr lang="en-US" altLang="en-US" sz="1800" b="1">
                <a:solidFill>
                  <a:srgbClr val="FF9900"/>
                </a:solidFill>
              </a:rPr>
              <a:t> is the permittivity of free space</a:t>
            </a:r>
            <a:endParaRPr lang="el-GR" altLang="en-US" sz="1800" b="1">
              <a:solidFill>
                <a:srgbClr val="FF9900"/>
              </a:solidFill>
            </a:endParaRPr>
          </a:p>
        </p:txBody>
      </p:sp>
    </p:spTree>
    <p:extLst>
      <p:ext uri="{BB962C8B-B14F-4D97-AF65-F5344CB8AC3E}">
        <p14:creationId xmlns:p14="http://schemas.microsoft.com/office/powerpoint/2010/main" val="26663101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slide(fromTop)">
                                      <p:cBhvr>
                                        <p:cTn id="7" dur="500"/>
                                        <p:tgtEl>
                                          <p:spTgt spid="8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7"/>
                                        </p:tgtEl>
                                        <p:attrNameLst>
                                          <p:attrName>style.visibility</p:attrName>
                                        </p:attrNameLst>
                                      </p:cBhvr>
                                      <p:to>
                                        <p:strVal val="visible"/>
                                      </p:to>
                                    </p:set>
                                    <p:animEffect transition="in" filter="wipe(left)">
                                      <p:cBhvr>
                                        <p:cTn id="12" dur="500"/>
                                        <p:tgtEl>
                                          <p:spTgt spid="81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198">
                                            <p:txEl>
                                              <p:pRg st="0" end="0"/>
                                            </p:txEl>
                                          </p:spTgt>
                                        </p:tgtEl>
                                        <p:attrNameLst>
                                          <p:attrName>style.visibility</p:attrName>
                                        </p:attrNameLst>
                                      </p:cBhvr>
                                      <p:to>
                                        <p:strVal val="visible"/>
                                      </p:to>
                                    </p:set>
                                    <p:animEffect transition="in" filter="wipe(up)">
                                      <p:cBhvr>
                                        <p:cTn id="17" dur="500"/>
                                        <p:tgtEl>
                                          <p:spTgt spid="819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198">
                                            <p:txEl>
                                              <p:pRg st="1" end="1"/>
                                            </p:txEl>
                                          </p:spTgt>
                                        </p:tgtEl>
                                        <p:attrNameLst>
                                          <p:attrName>style.visibility</p:attrName>
                                        </p:attrNameLst>
                                      </p:cBhvr>
                                      <p:to>
                                        <p:strVal val="visible"/>
                                      </p:to>
                                    </p:set>
                                    <p:animEffect transition="in" filter="wipe(up)">
                                      <p:cBhvr>
                                        <p:cTn id="22" dur="500"/>
                                        <p:tgtEl>
                                          <p:spTgt spid="819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8236"/>
                                        </p:tgtEl>
                                        <p:attrNameLst>
                                          <p:attrName>style.visibility</p:attrName>
                                        </p:attrNameLst>
                                      </p:cBhvr>
                                      <p:to>
                                        <p:strVal val="visible"/>
                                      </p:to>
                                    </p:set>
                                    <p:anim calcmode="lin" valueType="num">
                                      <p:cBhvr>
                                        <p:cTn id="27" dur="500" fill="hold"/>
                                        <p:tgtEl>
                                          <p:spTgt spid="8236"/>
                                        </p:tgtEl>
                                        <p:attrNameLst>
                                          <p:attrName>ppt_w</p:attrName>
                                        </p:attrNameLst>
                                      </p:cBhvr>
                                      <p:tavLst>
                                        <p:tav tm="0">
                                          <p:val>
                                            <p:fltVal val="0"/>
                                          </p:val>
                                        </p:tav>
                                        <p:tav tm="100000">
                                          <p:val>
                                            <p:strVal val="#ppt_w"/>
                                          </p:val>
                                        </p:tav>
                                      </p:tavLst>
                                    </p:anim>
                                    <p:anim calcmode="lin" valueType="num">
                                      <p:cBhvr>
                                        <p:cTn id="28" dur="500" fill="hold"/>
                                        <p:tgtEl>
                                          <p:spTgt spid="8236"/>
                                        </p:tgtEl>
                                        <p:attrNameLst>
                                          <p:attrName>ppt_h</p:attrName>
                                        </p:attrNameLst>
                                      </p:cBhvr>
                                      <p:tavLst>
                                        <p:tav tm="0">
                                          <p:val>
                                            <p:fltVal val="0"/>
                                          </p:val>
                                        </p:tav>
                                        <p:tav tm="100000">
                                          <p:val>
                                            <p:strVal val="#ppt_h"/>
                                          </p:val>
                                        </p:tav>
                                      </p:tavLst>
                                    </p:anim>
                                    <p:animEffect transition="in" filter="fade">
                                      <p:cBhvr>
                                        <p:cTn id="29" dur="500"/>
                                        <p:tgtEl>
                                          <p:spTgt spid="823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nodeType="clickEffect">
                                  <p:stCondLst>
                                    <p:cond delay="0"/>
                                  </p:stCondLst>
                                  <p:childTnLst>
                                    <p:set>
                                      <p:cBhvr>
                                        <p:cTn id="33" dur="1" fill="hold">
                                          <p:stCondLst>
                                            <p:cond delay="0"/>
                                          </p:stCondLst>
                                        </p:cTn>
                                        <p:tgtEl>
                                          <p:spTgt spid="8237"/>
                                        </p:tgtEl>
                                        <p:attrNameLst>
                                          <p:attrName>style.visibility</p:attrName>
                                        </p:attrNameLst>
                                      </p:cBhvr>
                                      <p:to>
                                        <p:strVal val="visible"/>
                                      </p:to>
                                    </p:set>
                                    <p:anim calcmode="lin" valueType="num">
                                      <p:cBhvr>
                                        <p:cTn id="34" dur="500" fill="hold"/>
                                        <p:tgtEl>
                                          <p:spTgt spid="8237"/>
                                        </p:tgtEl>
                                        <p:attrNameLst>
                                          <p:attrName>ppt_w</p:attrName>
                                        </p:attrNameLst>
                                      </p:cBhvr>
                                      <p:tavLst>
                                        <p:tav tm="0">
                                          <p:val>
                                            <p:fltVal val="0"/>
                                          </p:val>
                                        </p:tav>
                                        <p:tav tm="100000">
                                          <p:val>
                                            <p:strVal val="#ppt_w"/>
                                          </p:val>
                                        </p:tav>
                                      </p:tavLst>
                                    </p:anim>
                                    <p:anim calcmode="lin" valueType="num">
                                      <p:cBhvr>
                                        <p:cTn id="35" dur="500" fill="hold"/>
                                        <p:tgtEl>
                                          <p:spTgt spid="8237"/>
                                        </p:tgtEl>
                                        <p:attrNameLst>
                                          <p:attrName>ppt_h</p:attrName>
                                        </p:attrNameLst>
                                      </p:cBhvr>
                                      <p:tavLst>
                                        <p:tav tm="0">
                                          <p:val>
                                            <p:fltVal val="0"/>
                                          </p:val>
                                        </p:tav>
                                        <p:tav tm="100000">
                                          <p:val>
                                            <p:strVal val="#ppt_h"/>
                                          </p:val>
                                        </p:tav>
                                      </p:tavLst>
                                    </p:anim>
                                    <p:animEffect transition="in" filter="fade">
                                      <p:cBhvr>
                                        <p:cTn id="36" dur="500"/>
                                        <p:tgtEl>
                                          <p:spTgt spid="823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nodeType="clickEffect">
                                  <p:stCondLst>
                                    <p:cond delay="0"/>
                                  </p:stCondLst>
                                  <p:childTnLst>
                                    <p:set>
                                      <p:cBhvr>
                                        <p:cTn id="40" dur="1" fill="hold">
                                          <p:stCondLst>
                                            <p:cond delay="0"/>
                                          </p:stCondLst>
                                        </p:cTn>
                                        <p:tgtEl>
                                          <p:spTgt spid="8204"/>
                                        </p:tgtEl>
                                        <p:attrNameLst>
                                          <p:attrName>style.visibility</p:attrName>
                                        </p:attrNameLst>
                                      </p:cBhvr>
                                      <p:to>
                                        <p:strVal val="visible"/>
                                      </p:to>
                                    </p:set>
                                    <p:animEffect transition="in" filter="box(out)">
                                      <p:cBhvr>
                                        <p:cTn id="41" dur="500"/>
                                        <p:tgtEl>
                                          <p:spTgt spid="820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8207">
                                            <p:txEl>
                                              <p:pRg st="0" end="0"/>
                                            </p:txEl>
                                          </p:spTgt>
                                        </p:tgtEl>
                                        <p:attrNameLst>
                                          <p:attrName>style.visibility</p:attrName>
                                        </p:attrNameLst>
                                      </p:cBhvr>
                                      <p:to>
                                        <p:strVal val="visible"/>
                                      </p:to>
                                    </p:set>
                                    <p:animEffect transition="in" filter="wipe(left)">
                                      <p:cBhvr>
                                        <p:cTn id="46" dur="500"/>
                                        <p:tgtEl>
                                          <p:spTgt spid="8207">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8207">
                                            <p:txEl>
                                              <p:pRg st="1" end="1"/>
                                            </p:txEl>
                                          </p:spTgt>
                                        </p:tgtEl>
                                        <p:attrNameLst>
                                          <p:attrName>style.visibility</p:attrName>
                                        </p:attrNameLst>
                                      </p:cBhvr>
                                      <p:to>
                                        <p:strVal val="visible"/>
                                      </p:to>
                                    </p:set>
                                    <p:animEffect transition="in" filter="wipe(left)">
                                      <p:cBhvr>
                                        <p:cTn id="51" dur="500"/>
                                        <p:tgtEl>
                                          <p:spTgt spid="8207">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208"/>
                                        </p:tgtEl>
                                        <p:attrNameLst>
                                          <p:attrName>style.visibility</p:attrName>
                                        </p:attrNameLst>
                                      </p:cBhvr>
                                      <p:to>
                                        <p:strVal val="visible"/>
                                      </p:to>
                                    </p:set>
                                    <p:animEffect transition="in" filter="wipe(left)">
                                      <p:cBhvr>
                                        <p:cTn id="56" dur="500"/>
                                        <p:tgtEl>
                                          <p:spTgt spid="820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8233"/>
                                        </p:tgtEl>
                                        <p:attrNameLst>
                                          <p:attrName>style.visibility</p:attrName>
                                        </p:attrNameLst>
                                      </p:cBhvr>
                                      <p:to>
                                        <p:strVal val="visible"/>
                                      </p:to>
                                    </p:set>
                                    <p:animEffect transition="in" filter="wipe(left)">
                                      <p:cBhvr>
                                        <p:cTn id="61" dur="500"/>
                                        <p:tgtEl>
                                          <p:spTgt spid="823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8220"/>
                                        </p:tgtEl>
                                        <p:attrNameLst>
                                          <p:attrName>style.visibility</p:attrName>
                                        </p:attrNameLst>
                                      </p:cBhvr>
                                      <p:to>
                                        <p:strVal val="visible"/>
                                      </p:to>
                                    </p:set>
                                    <p:animEffect transition="in" filter="wipe(left)">
                                      <p:cBhvr>
                                        <p:cTn id="66" dur="500"/>
                                        <p:tgtEl>
                                          <p:spTgt spid="822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8230"/>
                                        </p:tgtEl>
                                        <p:attrNameLst>
                                          <p:attrName>style.visibility</p:attrName>
                                        </p:attrNameLst>
                                      </p:cBhvr>
                                      <p:to>
                                        <p:strVal val="visible"/>
                                      </p:to>
                                    </p:set>
                                    <p:animEffect transition="in" filter="wipe(left)">
                                      <p:cBhvr>
                                        <p:cTn id="71" dur="500"/>
                                        <p:tgtEl>
                                          <p:spTgt spid="8230"/>
                                        </p:tgtEl>
                                      </p:cBhvr>
                                    </p:animEffect>
                                  </p:childTnLst>
                                </p:cTn>
                              </p:par>
                            </p:childTnLst>
                          </p:cTn>
                        </p:par>
                        <p:par>
                          <p:cTn id="72" fill="hold" nodeType="afterGroup">
                            <p:stCondLst>
                              <p:cond delay="500"/>
                            </p:stCondLst>
                            <p:childTnLst>
                              <p:par>
                                <p:cTn id="73" presetID="22" presetClass="entr" presetSubtype="1" fill="hold" grpId="0" nodeType="afterEffect">
                                  <p:stCondLst>
                                    <p:cond delay="0"/>
                                  </p:stCondLst>
                                  <p:childTnLst>
                                    <p:set>
                                      <p:cBhvr>
                                        <p:cTn id="74" dur="1" fill="hold">
                                          <p:stCondLst>
                                            <p:cond delay="0"/>
                                          </p:stCondLst>
                                        </p:cTn>
                                        <p:tgtEl>
                                          <p:spTgt spid="8221"/>
                                        </p:tgtEl>
                                        <p:attrNameLst>
                                          <p:attrName>style.visibility</p:attrName>
                                        </p:attrNameLst>
                                      </p:cBhvr>
                                      <p:to>
                                        <p:strVal val="visible"/>
                                      </p:to>
                                    </p:set>
                                    <p:animEffect transition="in" filter="wipe(up)">
                                      <p:cBhvr>
                                        <p:cTn id="75" dur="500"/>
                                        <p:tgtEl>
                                          <p:spTgt spid="822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8235"/>
                                        </p:tgtEl>
                                        <p:attrNameLst>
                                          <p:attrName>style.visibility</p:attrName>
                                        </p:attrNameLst>
                                      </p:cBhvr>
                                      <p:to>
                                        <p:strVal val="visible"/>
                                      </p:to>
                                    </p:set>
                                    <p:animEffect transition="in" filter="wipe(left)">
                                      <p:cBhvr>
                                        <p:cTn id="80" dur="500"/>
                                        <p:tgtEl>
                                          <p:spTgt spid="8235"/>
                                        </p:tgtEl>
                                      </p:cBhvr>
                                    </p:animEffect>
                                  </p:childTnLst>
                                </p:cTn>
                              </p:par>
                            </p:childTnLst>
                          </p:cTn>
                        </p:par>
                        <p:par>
                          <p:cTn id="81" fill="hold" nodeType="afterGroup">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8228"/>
                                        </p:tgtEl>
                                        <p:attrNameLst>
                                          <p:attrName>style.visibility</p:attrName>
                                        </p:attrNameLst>
                                      </p:cBhvr>
                                      <p:to>
                                        <p:strVal val="visible"/>
                                      </p:to>
                                    </p:set>
                                    <p:animEffect transition="in" filter="wipe(left)">
                                      <p:cBhvr>
                                        <p:cTn id="84" dur="500"/>
                                        <p:tgtEl>
                                          <p:spTgt spid="8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P spid="8208" grpId="0"/>
      <p:bldP spid="8220" grpId="0"/>
      <p:bldP spid="8221" grpId="0"/>
      <p:bldP spid="82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0" name="Group 4"/>
          <p:cNvGrpSpPr>
            <a:grpSpLocks/>
          </p:cNvGrpSpPr>
          <p:nvPr/>
        </p:nvGrpSpPr>
        <p:grpSpPr bwMode="auto">
          <a:xfrm>
            <a:off x="1905000" y="28576"/>
            <a:ext cx="2514600" cy="733425"/>
            <a:chOff x="480" y="3705"/>
            <a:chExt cx="1584" cy="462"/>
          </a:xfrm>
        </p:grpSpPr>
        <p:sp>
          <p:nvSpPr>
            <p:cNvPr id="13358" name="Rectangle 5"/>
            <p:cNvSpPr>
              <a:spLocks noChangeArrowheads="1"/>
            </p:cNvSpPr>
            <p:nvPr/>
          </p:nvSpPr>
          <p:spPr bwMode="auto">
            <a:xfrm>
              <a:off x="480" y="3810"/>
              <a:ext cx="1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In medium,</a:t>
              </a:r>
              <a:r>
                <a:rPr lang="en-US" altLang="en-US" sz="1800" b="1">
                  <a:solidFill>
                    <a:srgbClr val="000000"/>
                  </a:solidFill>
                </a:rPr>
                <a:t>   </a:t>
              </a:r>
              <a:r>
                <a:rPr lang="en-US" altLang="en-US" sz="1800" b="1">
                  <a:solidFill>
                    <a:srgbClr val="FFFFCC"/>
                  </a:solidFill>
                </a:rPr>
                <a:t>k = </a:t>
              </a:r>
            </a:p>
          </p:txBody>
        </p:sp>
        <p:sp>
          <p:nvSpPr>
            <p:cNvPr id="13359" name="Rectangle 6"/>
            <p:cNvSpPr>
              <a:spLocks noChangeArrowheads="1"/>
            </p:cNvSpPr>
            <p:nvPr/>
          </p:nvSpPr>
          <p:spPr bwMode="auto">
            <a:xfrm>
              <a:off x="1776" y="3705"/>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13360" name="Rectangle 7"/>
            <p:cNvSpPr>
              <a:spLocks noChangeArrowheads="1"/>
            </p:cNvSpPr>
            <p:nvPr/>
          </p:nvSpPr>
          <p:spPr bwMode="auto">
            <a:xfrm>
              <a:off x="1685" y="3936"/>
              <a:ext cx="3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endParaRPr lang="el-GR" altLang="en-US" sz="1800" b="1" baseline="-25000">
                <a:solidFill>
                  <a:srgbClr val="FFFFCC"/>
                </a:solidFill>
                <a:cs typeface="Arial" panose="020B0604020202020204" pitchFamily="34" charset="0"/>
              </a:endParaRPr>
            </a:p>
          </p:txBody>
        </p:sp>
        <p:sp>
          <p:nvSpPr>
            <p:cNvPr id="13361" name="Line 8"/>
            <p:cNvSpPr>
              <a:spLocks noChangeShapeType="1"/>
            </p:cNvSpPr>
            <p:nvPr/>
          </p:nvSpPr>
          <p:spPr bwMode="auto">
            <a:xfrm>
              <a:off x="1680" y="3945"/>
              <a:ext cx="384"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9225" name="Text Box 9"/>
          <p:cNvSpPr txBox="1">
            <a:spLocks noChangeArrowheads="1"/>
          </p:cNvSpPr>
          <p:nvPr/>
        </p:nvSpPr>
        <p:spPr bwMode="auto">
          <a:xfrm>
            <a:off x="5105400" y="152400"/>
            <a:ext cx="533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where </a:t>
            </a:r>
            <a:r>
              <a:rPr lang="el-GR" altLang="en-US" sz="1800" b="1">
                <a:solidFill>
                  <a:srgbClr val="FF9900"/>
                </a:solidFill>
              </a:rPr>
              <a:t>ε</a:t>
            </a:r>
            <a:r>
              <a:rPr lang="en-US" altLang="en-US" sz="1800" b="1">
                <a:solidFill>
                  <a:srgbClr val="FF9900"/>
                </a:solidFill>
              </a:rPr>
              <a:t> is the absolute electric permittivity of the dielectric medium</a:t>
            </a:r>
            <a:endParaRPr lang="el-GR" altLang="en-US" sz="1800" b="1">
              <a:solidFill>
                <a:srgbClr val="FF9900"/>
              </a:solidFill>
            </a:endParaRPr>
          </a:p>
        </p:txBody>
      </p:sp>
      <p:sp>
        <p:nvSpPr>
          <p:cNvPr id="9226" name="Text Box 10"/>
          <p:cNvSpPr txBox="1">
            <a:spLocks noChangeArrowheads="1"/>
          </p:cNvSpPr>
          <p:nvPr/>
        </p:nvSpPr>
        <p:spPr bwMode="auto">
          <a:xfrm>
            <a:off x="1676400" y="838200"/>
            <a:ext cx="8839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The dielectric constant or relative permittivity or specific inductive capacity or dielectric coefficient is given by</a:t>
            </a:r>
            <a:endParaRPr lang="en-US" altLang="en-US" sz="1800">
              <a:solidFill>
                <a:srgbClr val="FF99FF"/>
              </a:solidFill>
            </a:endParaRPr>
          </a:p>
        </p:txBody>
      </p:sp>
      <p:grpSp>
        <p:nvGrpSpPr>
          <p:cNvPr id="9234" name="Group 18"/>
          <p:cNvGrpSpPr>
            <a:grpSpLocks/>
          </p:cNvGrpSpPr>
          <p:nvPr/>
        </p:nvGrpSpPr>
        <p:grpSpPr bwMode="auto">
          <a:xfrm>
            <a:off x="1752600" y="2438400"/>
            <a:ext cx="152400" cy="152400"/>
            <a:chOff x="3168" y="1392"/>
            <a:chExt cx="144" cy="144"/>
          </a:xfrm>
        </p:grpSpPr>
        <p:sp>
          <p:nvSpPr>
            <p:cNvPr id="13355" name="Oval 19"/>
            <p:cNvSpPr>
              <a:spLocks noChangeArrowheads="1"/>
            </p:cNvSpPr>
            <p:nvPr/>
          </p:nvSpPr>
          <p:spPr bwMode="auto">
            <a:xfrm>
              <a:off x="3168" y="1488"/>
              <a:ext cx="48" cy="48"/>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3356" name="Oval 20"/>
            <p:cNvSpPr>
              <a:spLocks noChangeArrowheads="1"/>
            </p:cNvSpPr>
            <p:nvPr/>
          </p:nvSpPr>
          <p:spPr bwMode="auto">
            <a:xfrm>
              <a:off x="3264" y="1488"/>
              <a:ext cx="48" cy="48"/>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3357" name="Oval 21"/>
            <p:cNvSpPr>
              <a:spLocks noChangeArrowheads="1"/>
            </p:cNvSpPr>
            <p:nvPr/>
          </p:nvSpPr>
          <p:spPr bwMode="auto">
            <a:xfrm>
              <a:off x="3216" y="1392"/>
              <a:ext cx="48" cy="48"/>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grpSp>
      <p:grpSp>
        <p:nvGrpSpPr>
          <p:cNvPr id="9282" name="Group 66"/>
          <p:cNvGrpSpPr>
            <a:grpSpLocks/>
          </p:cNvGrpSpPr>
          <p:nvPr/>
        </p:nvGrpSpPr>
        <p:grpSpPr bwMode="auto">
          <a:xfrm>
            <a:off x="3441700" y="2117725"/>
            <a:ext cx="1892300" cy="793750"/>
            <a:chOff x="1208" y="1334"/>
            <a:chExt cx="1192" cy="500"/>
          </a:xfrm>
        </p:grpSpPr>
        <p:sp>
          <p:nvSpPr>
            <p:cNvPr id="13348" name="Rectangle 23"/>
            <p:cNvSpPr>
              <a:spLocks noChangeArrowheads="1"/>
            </p:cNvSpPr>
            <p:nvPr/>
          </p:nvSpPr>
          <p:spPr bwMode="auto">
            <a:xfrm>
              <a:off x="1208" y="1488"/>
              <a:ext cx="3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F =</a:t>
              </a:r>
            </a:p>
          </p:txBody>
        </p:sp>
        <p:sp>
          <p:nvSpPr>
            <p:cNvPr id="13349" name="Rectangle 24"/>
            <p:cNvSpPr>
              <a:spLocks noChangeArrowheads="1"/>
            </p:cNvSpPr>
            <p:nvPr/>
          </p:nvSpPr>
          <p:spPr bwMode="auto">
            <a:xfrm>
              <a:off x="1968" y="1334"/>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q</a:t>
              </a:r>
              <a:r>
                <a:rPr lang="en-US" altLang="en-US" sz="1800" b="1" baseline="-25000">
                  <a:solidFill>
                    <a:srgbClr val="FFCCFF"/>
                  </a:solidFill>
                </a:rPr>
                <a:t>1 </a:t>
              </a:r>
              <a:r>
                <a:rPr lang="en-US" altLang="en-US" sz="1800" b="1">
                  <a:solidFill>
                    <a:srgbClr val="FFCCFF"/>
                  </a:solidFill>
                </a:rPr>
                <a:t>q</a:t>
              </a:r>
              <a:r>
                <a:rPr lang="en-US" altLang="en-US" sz="1800" b="1" baseline="-25000">
                  <a:solidFill>
                    <a:srgbClr val="FFCCFF"/>
                  </a:solidFill>
                </a:rPr>
                <a:t>2</a:t>
              </a:r>
              <a:endParaRPr lang="en-US" altLang="en-US" sz="1800">
                <a:solidFill>
                  <a:srgbClr val="FFCCFF"/>
                </a:solidFill>
              </a:endParaRPr>
            </a:p>
          </p:txBody>
        </p:sp>
        <p:sp>
          <p:nvSpPr>
            <p:cNvPr id="13350" name="Rectangle 25"/>
            <p:cNvSpPr>
              <a:spLocks noChangeArrowheads="1"/>
            </p:cNvSpPr>
            <p:nvPr/>
          </p:nvSpPr>
          <p:spPr bwMode="auto">
            <a:xfrm>
              <a:off x="2079" y="1603"/>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CCFF"/>
                  </a:solidFill>
                </a:rPr>
                <a:t>r</a:t>
              </a:r>
              <a:r>
                <a:rPr lang="en-US" altLang="en-US" sz="1800" b="1" baseline="30000">
                  <a:solidFill>
                    <a:srgbClr val="FFCCFF"/>
                  </a:solidFill>
                </a:rPr>
                <a:t>2</a:t>
              </a:r>
              <a:endParaRPr lang="el-GR" altLang="en-US" sz="1800" b="1" baseline="30000">
                <a:solidFill>
                  <a:srgbClr val="FFCCFF"/>
                </a:solidFill>
              </a:endParaRPr>
            </a:p>
          </p:txBody>
        </p:sp>
        <p:sp>
          <p:nvSpPr>
            <p:cNvPr id="13351" name="Line 26"/>
            <p:cNvSpPr>
              <a:spLocks noChangeShapeType="1"/>
            </p:cNvSpPr>
            <p:nvPr/>
          </p:nvSpPr>
          <p:spPr bwMode="auto">
            <a:xfrm>
              <a:off x="1968" y="1603"/>
              <a:ext cx="384" cy="0"/>
            </a:xfrm>
            <a:prstGeom prst="line">
              <a:avLst/>
            </a:prstGeom>
            <a:noFill/>
            <a:ln w="1905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3352" name="Rectangle 29"/>
            <p:cNvSpPr>
              <a:spLocks noChangeArrowheads="1"/>
            </p:cNvSpPr>
            <p:nvPr/>
          </p:nvSpPr>
          <p:spPr bwMode="auto">
            <a:xfrm>
              <a:off x="1632" y="1363"/>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13353" name="Rectangle 30"/>
            <p:cNvSpPr>
              <a:spLocks noChangeArrowheads="1"/>
            </p:cNvSpPr>
            <p:nvPr/>
          </p:nvSpPr>
          <p:spPr bwMode="auto">
            <a:xfrm>
              <a:off x="1541" y="1584"/>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r>
                <a:rPr lang="en-US" altLang="en-US" sz="1800" b="1" baseline="-25000">
                  <a:solidFill>
                    <a:srgbClr val="FFFFCC"/>
                  </a:solidFill>
                  <a:cs typeface="Arial" panose="020B0604020202020204" pitchFamily="34" charset="0"/>
                </a:rPr>
                <a:t>0</a:t>
              </a:r>
              <a:endParaRPr lang="el-GR" altLang="en-US" sz="1800" b="1" baseline="-25000">
                <a:solidFill>
                  <a:srgbClr val="FFFFCC"/>
                </a:solidFill>
                <a:cs typeface="Arial" panose="020B0604020202020204" pitchFamily="34" charset="0"/>
              </a:endParaRPr>
            </a:p>
          </p:txBody>
        </p:sp>
        <p:sp>
          <p:nvSpPr>
            <p:cNvPr id="13354" name="Line 31"/>
            <p:cNvSpPr>
              <a:spLocks noChangeShapeType="1"/>
            </p:cNvSpPr>
            <p:nvPr/>
          </p:nvSpPr>
          <p:spPr bwMode="auto">
            <a:xfrm>
              <a:off x="1536" y="1603"/>
              <a:ext cx="384"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9249" name="Rectangle 33"/>
          <p:cNvSpPr>
            <a:spLocks noChangeArrowheads="1"/>
          </p:cNvSpPr>
          <p:nvPr/>
        </p:nvSpPr>
        <p:spPr bwMode="auto">
          <a:xfrm>
            <a:off x="2057400" y="2300288"/>
            <a:ext cx="1377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In vacuum,</a:t>
            </a:r>
          </a:p>
        </p:txBody>
      </p:sp>
      <p:grpSp>
        <p:nvGrpSpPr>
          <p:cNvPr id="9261" name="Group 45"/>
          <p:cNvGrpSpPr>
            <a:grpSpLocks/>
          </p:cNvGrpSpPr>
          <p:nvPr/>
        </p:nvGrpSpPr>
        <p:grpSpPr bwMode="auto">
          <a:xfrm>
            <a:off x="2057400" y="3152776"/>
            <a:ext cx="3581400" cy="809625"/>
            <a:chOff x="336" y="1986"/>
            <a:chExt cx="2256" cy="510"/>
          </a:xfrm>
        </p:grpSpPr>
        <p:sp>
          <p:nvSpPr>
            <p:cNvPr id="13340" name="Rectangle 37"/>
            <p:cNvSpPr>
              <a:spLocks noChangeArrowheads="1"/>
            </p:cNvSpPr>
            <p:nvPr/>
          </p:nvSpPr>
          <p:spPr bwMode="auto">
            <a:xfrm>
              <a:off x="1208" y="2130"/>
              <a:ext cx="3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F =</a:t>
              </a:r>
            </a:p>
          </p:txBody>
        </p:sp>
        <p:sp>
          <p:nvSpPr>
            <p:cNvPr id="13341" name="Rectangle 38"/>
            <p:cNvSpPr>
              <a:spLocks noChangeArrowheads="1"/>
            </p:cNvSpPr>
            <p:nvPr/>
          </p:nvSpPr>
          <p:spPr bwMode="auto">
            <a:xfrm>
              <a:off x="2160" y="198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q</a:t>
              </a:r>
              <a:r>
                <a:rPr lang="en-US" altLang="en-US" sz="1800" b="1" baseline="-25000">
                  <a:solidFill>
                    <a:srgbClr val="FFCCFF"/>
                  </a:solidFill>
                </a:rPr>
                <a:t>1 </a:t>
              </a:r>
              <a:r>
                <a:rPr lang="en-US" altLang="en-US" sz="1800" b="1">
                  <a:solidFill>
                    <a:srgbClr val="FFCCFF"/>
                  </a:solidFill>
                </a:rPr>
                <a:t>q</a:t>
              </a:r>
              <a:r>
                <a:rPr lang="en-US" altLang="en-US" sz="1800" b="1" baseline="-25000">
                  <a:solidFill>
                    <a:srgbClr val="FFCCFF"/>
                  </a:solidFill>
                </a:rPr>
                <a:t>2</a:t>
              </a:r>
              <a:endParaRPr lang="en-US" altLang="en-US" sz="1800">
                <a:solidFill>
                  <a:srgbClr val="FFCCFF"/>
                </a:solidFill>
              </a:endParaRPr>
            </a:p>
          </p:txBody>
        </p:sp>
        <p:sp>
          <p:nvSpPr>
            <p:cNvPr id="13342" name="Rectangle 39"/>
            <p:cNvSpPr>
              <a:spLocks noChangeArrowheads="1"/>
            </p:cNvSpPr>
            <p:nvPr/>
          </p:nvSpPr>
          <p:spPr bwMode="auto">
            <a:xfrm>
              <a:off x="2208" y="2265"/>
              <a:ext cx="3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CCFF"/>
                  </a:solidFill>
                </a:rPr>
                <a:t>  r</a:t>
              </a:r>
              <a:r>
                <a:rPr lang="en-US" altLang="en-US" sz="1800" b="1" baseline="30000">
                  <a:solidFill>
                    <a:srgbClr val="FFCCFF"/>
                  </a:solidFill>
                </a:rPr>
                <a:t>2</a:t>
              </a:r>
              <a:endParaRPr lang="el-GR" altLang="en-US" sz="1800" b="1" baseline="30000">
                <a:solidFill>
                  <a:srgbClr val="FFCCFF"/>
                </a:solidFill>
              </a:endParaRPr>
            </a:p>
          </p:txBody>
        </p:sp>
        <p:sp>
          <p:nvSpPr>
            <p:cNvPr id="13343" name="Line 40"/>
            <p:cNvSpPr>
              <a:spLocks noChangeShapeType="1"/>
            </p:cNvSpPr>
            <p:nvPr/>
          </p:nvSpPr>
          <p:spPr bwMode="auto">
            <a:xfrm>
              <a:off x="2160" y="2265"/>
              <a:ext cx="384" cy="0"/>
            </a:xfrm>
            <a:prstGeom prst="line">
              <a:avLst/>
            </a:prstGeom>
            <a:noFill/>
            <a:ln w="1905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3344" name="Rectangle 41"/>
            <p:cNvSpPr>
              <a:spLocks noChangeArrowheads="1"/>
            </p:cNvSpPr>
            <p:nvPr/>
          </p:nvSpPr>
          <p:spPr bwMode="auto">
            <a:xfrm>
              <a:off x="1632" y="2025"/>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13345" name="Rectangle 42"/>
            <p:cNvSpPr>
              <a:spLocks noChangeArrowheads="1"/>
            </p:cNvSpPr>
            <p:nvPr/>
          </p:nvSpPr>
          <p:spPr bwMode="auto">
            <a:xfrm>
              <a:off x="1541" y="2256"/>
              <a:ext cx="5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r>
                <a:rPr lang="en-US" altLang="en-US" sz="1800" b="1" baseline="-25000">
                  <a:solidFill>
                    <a:srgbClr val="FFFFCC"/>
                  </a:solidFill>
                  <a:cs typeface="Arial" panose="020B0604020202020204" pitchFamily="34" charset="0"/>
                </a:rPr>
                <a:t>0</a:t>
              </a:r>
              <a:r>
                <a:rPr lang="el-GR" altLang="en-US" sz="1800" b="1">
                  <a:solidFill>
                    <a:srgbClr val="FFFFCC"/>
                  </a:solidFill>
                  <a:cs typeface="Arial" panose="020B0604020202020204" pitchFamily="34" charset="0"/>
                </a:rPr>
                <a:t>ε</a:t>
              </a:r>
              <a:r>
                <a:rPr lang="en-US" altLang="en-US" sz="1800" b="1" baseline="-25000">
                  <a:solidFill>
                    <a:srgbClr val="FFFFCC"/>
                  </a:solidFill>
                  <a:cs typeface="Arial" panose="020B0604020202020204" pitchFamily="34" charset="0"/>
                </a:rPr>
                <a:t>r</a:t>
              </a:r>
              <a:endParaRPr lang="el-GR" altLang="en-US" sz="1800" b="1" baseline="-25000">
                <a:solidFill>
                  <a:srgbClr val="FFFFCC"/>
                </a:solidFill>
                <a:cs typeface="Arial" panose="020B0604020202020204" pitchFamily="34" charset="0"/>
              </a:endParaRPr>
            </a:p>
          </p:txBody>
        </p:sp>
        <p:sp>
          <p:nvSpPr>
            <p:cNvPr id="13346" name="Line 43"/>
            <p:cNvSpPr>
              <a:spLocks noChangeShapeType="1"/>
            </p:cNvSpPr>
            <p:nvPr/>
          </p:nvSpPr>
          <p:spPr bwMode="auto">
            <a:xfrm flipV="1">
              <a:off x="1536" y="2256"/>
              <a:ext cx="528" cy="9"/>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3347" name="Rectangle 44"/>
            <p:cNvSpPr>
              <a:spLocks noChangeArrowheads="1"/>
            </p:cNvSpPr>
            <p:nvPr/>
          </p:nvSpPr>
          <p:spPr bwMode="auto">
            <a:xfrm>
              <a:off x="336" y="2091"/>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In medium,</a:t>
              </a:r>
            </a:p>
          </p:txBody>
        </p:sp>
      </p:grpSp>
      <p:sp>
        <p:nvSpPr>
          <p:cNvPr id="9265" name="Rectangle 49"/>
          <p:cNvSpPr>
            <a:spLocks noChangeArrowheads="1"/>
          </p:cNvSpPr>
          <p:nvPr/>
        </p:nvSpPr>
        <p:spPr bwMode="auto">
          <a:xfrm>
            <a:off x="4114800" y="4433888"/>
            <a:ext cx="3810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l-GR" altLang="en-US" sz="1800" b="1">
                <a:solidFill>
                  <a:srgbClr val="CCFF99"/>
                </a:solidFill>
              </a:rPr>
              <a:t>ε</a:t>
            </a:r>
            <a:r>
              <a:rPr lang="en-US" altLang="en-US" sz="1800" b="1" baseline="-25000">
                <a:solidFill>
                  <a:srgbClr val="CCFF99"/>
                </a:solidFill>
              </a:rPr>
              <a:t>0 </a:t>
            </a:r>
            <a:r>
              <a:rPr lang="en-US" altLang="en-US" sz="1800" b="1">
                <a:solidFill>
                  <a:srgbClr val="CCFF99"/>
                </a:solidFill>
              </a:rPr>
              <a:t>= 8.8542 x 10</a:t>
            </a:r>
            <a:r>
              <a:rPr lang="en-US" altLang="en-US" sz="1800" b="1" baseline="30000">
                <a:solidFill>
                  <a:srgbClr val="CCFF99"/>
                </a:solidFill>
              </a:rPr>
              <a:t>-12</a:t>
            </a:r>
            <a:r>
              <a:rPr lang="en-US" altLang="en-US" sz="1800" b="1">
                <a:solidFill>
                  <a:srgbClr val="CCFF99"/>
                </a:solidFill>
              </a:rPr>
              <a:t> C</a:t>
            </a:r>
            <a:r>
              <a:rPr lang="en-US" altLang="en-US" sz="1800" b="1" baseline="30000">
                <a:solidFill>
                  <a:srgbClr val="CCFF99"/>
                </a:solidFill>
              </a:rPr>
              <a:t>2</a:t>
            </a:r>
            <a:r>
              <a:rPr lang="en-US" altLang="en-US" sz="1800" b="1">
                <a:solidFill>
                  <a:srgbClr val="CCFF99"/>
                </a:solidFill>
              </a:rPr>
              <a:t> N</a:t>
            </a:r>
            <a:r>
              <a:rPr lang="en-US" altLang="en-US" sz="1800" b="1" baseline="30000">
                <a:solidFill>
                  <a:srgbClr val="CCFF99"/>
                </a:solidFill>
              </a:rPr>
              <a:t>-1</a:t>
            </a:r>
            <a:r>
              <a:rPr lang="en-US" altLang="en-US" sz="1800" b="1">
                <a:solidFill>
                  <a:srgbClr val="CCFF99"/>
                </a:solidFill>
              </a:rPr>
              <a:t> m</a:t>
            </a:r>
            <a:r>
              <a:rPr lang="en-US" altLang="en-US" sz="1800" b="1" baseline="30000">
                <a:solidFill>
                  <a:srgbClr val="CCFF99"/>
                </a:solidFill>
              </a:rPr>
              <a:t>-2</a:t>
            </a:r>
            <a:endParaRPr lang="el-GR" altLang="en-US" sz="1800" b="1" baseline="30000">
              <a:solidFill>
                <a:srgbClr val="CCFF99"/>
              </a:solidFill>
            </a:endParaRPr>
          </a:p>
        </p:txBody>
      </p:sp>
      <p:grpSp>
        <p:nvGrpSpPr>
          <p:cNvPr id="9283" name="Group 67"/>
          <p:cNvGrpSpPr>
            <a:grpSpLocks/>
          </p:cNvGrpSpPr>
          <p:nvPr/>
        </p:nvGrpSpPr>
        <p:grpSpPr bwMode="auto">
          <a:xfrm>
            <a:off x="2338388" y="5286376"/>
            <a:ext cx="3363912" cy="733425"/>
            <a:chOff x="513" y="3330"/>
            <a:chExt cx="2119" cy="462"/>
          </a:xfrm>
        </p:grpSpPr>
        <p:sp>
          <p:nvSpPr>
            <p:cNvPr id="13336" name="Rectangle 52"/>
            <p:cNvSpPr>
              <a:spLocks noChangeArrowheads="1"/>
            </p:cNvSpPr>
            <p:nvPr/>
          </p:nvSpPr>
          <p:spPr bwMode="auto">
            <a:xfrm>
              <a:off x="945" y="3455"/>
              <a:ext cx="16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  8.9875 x 10</a:t>
              </a:r>
              <a:r>
                <a:rPr lang="en-US" altLang="en-US" sz="1800" b="1" baseline="30000">
                  <a:solidFill>
                    <a:srgbClr val="FF9999"/>
                  </a:solidFill>
                </a:rPr>
                <a:t>9</a:t>
              </a:r>
              <a:r>
                <a:rPr lang="en-US" altLang="en-US" sz="1800" b="1">
                  <a:solidFill>
                    <a:srgbClr val="FF9999"/>
                  </a:solidFill>
                </a:rPr>
                <a:t> N m</a:t>
              </a:r>
              <a:r>
                <a:rPr lang="en-US" altLang="en-US" sz="1800" b="1" baseline="30000">
                  <a:solidFill>
                    <a:srgbClr val="FF9999"/>
                  </a:solidFill>
                </a:rPr>
                <a:t>2</a:t>
              </a:r>
              <a:r>
                <a:rPr lang="en-US" altLang="en-US" sz="1800" b="1">
                  <a:solidFill>
                    <a:srgbClr val="FF9999"/>
                  </a:solidFill>
                </a:rPr>
                <a:t> C</a:t>
              </a:r>
              <a:r>
                <a:rPr lang="en-US" altLang="en-US" sz="1800" b="1" baseline="30000">
                  <a:solidFill>
                    <a:srgbClr val="FF9999"/>
                  </a:solidFill>
                </a:rPr>
                <a:t>-2</a:t>
              </a:r>
            </a:p>
          </p:txBody>
        </p:sp>
        <p:sp>
          <p:nvSpPr>
            <p:cNvPr id="13337" name="Rectangle 53"/>
            <p:cNvSpPr>
              <a:spLocks noChangeArrowheads="1"/>
            </p:cNvSpPr>
            <p:nvPr/>
          </p:nvSpPr>
          <p:spPr bwMode="auto">
            <a:xfrm>
              <a:off x="609" y="333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13338" name="Rectangle 54"/>
            <p:cNvSpPr>
              <a:spLocks noChangeArrowheads="1"/>
            </p:cNvSpPr>
            <p:nvPr/>
          </p:nvSpPr>
          <p:spPr bwMode="auto">
            <a:xfrm>
              <a:off x="518" y="3561"/>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r>
                <a:rPr lang="en-US" altLang="en-US" sz="1800" b="1" baseline="-25000">
                  <a:solidFill>
                    <a:srgbClr val="FFFFCC"/>
                  </a:solidFill>
                  <a:cs typeface="Arial" panose="020B0604020202020204" pitchFamily="34" charset="0"/>
                </a:rPr>
                <a:t>0</a:t>
              </a:r>
              <a:endParaRPr lang="el-GR" altLang="en-US" sz="1800" b="1" baseline="-25000">
                <a:solidFill>
                  <a:srgbClr val="FFFFCC"/>
                </a:solidFill>
                <a:cs typeface="Arial" panose="020B0604020202020204" pitchFamily="34" charset="0"/>
              </a:endParaRPr>
            </a:p>
          </p:txBody>
        </p:sp>
        <p:sp>
          <p:nvSpPr>
            <p:cNvPr id="13339" name="Line 55"/>
            <p:cNvSpPr>
              <a:spLocks noChangeShapeType="1"/>
            </p:cNvSpPr>
            <p:nvPr/>
          </p:nvSpPr>
          <p:spPr bwMode="auto">
            <a:xfrm>
              <a:off x="513" y="3570"/>
              <a:ext cx="384"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9273" name="Text Box 57"/>
          <p:cNvSpPr txBox="1">
            <a:spLocks noChangeArrowheads="1"/>
          </p:cNvSpPr>
          <p:nvPr/>
        </p:nvSpPr>
        <p:spPr bwMode="auto">
          <a:xfrm>
            <a:off x="6057900" y="54102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66"/>
                </a:solidFill>
              </a:rPr>
              <a:t>or</a:t>
            </a:r>
          </a:p>
        </p:txBody>
      </p:sp>
      <p:grpSp>
        <p:nvGrpSpPr>
          <p:cNvPr id="9284" name="Group 68"/>
          <p:cNvGrpSpPr>
            <a:grpSpLocks/>
          </p:cNvGrpSpPr>
          <p:nvPr/>
        </p:nvGrpSpPr>
        <p:grpSpPr bwMode="auto">
          <a:xfrm>
            <a:off x="6872289" y="5286376"/>
            <a:ext cx="2701925" cy="733425"/>
            <a:chOff x="3369" y="3330"/>
            <a:chExt cx="1702" cy="462"/>
          </a:xfrm>
        </p:grpSpPr>
        <p:sp>
          <p:nvSpPr>
            <p:cNvPr id="13332" name="Rectangle 59"/>
            <p:cNvSpPr>
              <a:spLocks noChangeArrowheads="1"/>
            </p:cNvSpPr>
            <p:nvPr/>
          </p:nvSpPr>
          <p:spPr bwMode="auto">
            <a:xfrm>
              <a:off x="3744" y="3455"/>
              <a:ext cx="13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  9 x 10</a:t>
              </a:r>
              <a:r>
                <a:rPr lang="en-US" altLang="en-US" sz="1800" b="1" baseline="30000">
                  <a:solidFill>
                    <a:srgbClr val="FF9999"/>
                  </a:solidFill>
                </a:rPr>
                <a:t>9</a:t>
              </a:r>
              <a:r>
                <a:rPr lang="en-US" altLang="en-US" sz="1800" b="1">
                  <a:solidFill>
                    <a:srgbClr val="FF9999"/>
                  </a:solidFill>
                </a:rPr>
                <a:t> N m</a:t>
              </a:r>
              <a:r>
                <a:rPr lang="en-US" altLang="en-US" sz="1800" b="1" baseline="30000">
                  <a:solidFill>
                    <a:srgbClr val="FF9999"/>
                  </a:solidFill>
                </a:rPr>
                <a:t>2</a:t>
              </a:r>
              <a:r>
                <a:rPr lang="en-US" altLang="en-US" sz="1800" b="1">
                  <a:solidFill>
                    <a:srgbClr val="FF9999"/>
                  </a:solidFill>
                </a:rPr>
                <a:t> C</a:t>
              </a:r>
              <a:r>
                <a:rPr lang="en-US" altLang="en-US" sz="1800" b="1" baseline="30000">
                  <a:solidFill>
                    <a:srgbClr val="FF9999"/>
                  </a:solidFill>
                </a:rPr>
                <a:t>-2</a:t>
              </a:r>
            </a:p>
          </p:txBody>
        </p:sp>
        <p:sp>
          <p:nvSpPr>
            <p:cNvPr id="13333" name="Rectangle 60"/>
            <p:cNvSpPr>
              <a:spLocks noChangeArrowheads="1"/>
            </p:cNvSpPr>
            <p:nvPr/>
          </p:nvSpPr>
          <p:spPr bwMode="auto">
            <a:xfrm>
              <a:off x="3465" y="333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13334" name="Rectangle 61"/>
            <p:cNvSpPr>
              <a:spLocks noChangeArrowheads="1"/>
            </p:cNvSpPr>
            <p:nvPr/>
          </p:nvSpPr>
          <p:spPr bwMode="auto">
            <a:xfrm>
              <a:off x="3374" y="3561"/>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r>
                <a:rPr lang="en-US" altLang="en-US" sz="1800" b="1" baseline="-25000">
                  <a:solidFill>
                    <a:srgbClr val="FFFFCC"/>
                  </a:solidFill>
                  <a:cs typeface="Arial" panose="020B0604020202020204" pitchFamily="34" charset="0"/>
                </a:rPr>
                <a:t>0</a:t>
              </a:r>
              <a:endParaRPr lang="el-GR" altLang="en-US" sz="1800" b="1" baseline="-25000">
                <a:solidFill>
                  <a:srgbClr val="FFFFCC"/>
                </a:solidFill>
                <a:cs typeface="Arial" panose="020B0604020202020204" pitchFamily="34" charset="0"/>
              </a:endParaRPr>
            </a:p>
          </p:txBody>
        </p:sp>
        <p:sp>
          <p:nvSpPr>
            <p:cNvPr id="13335" name="Line 62"/>
            <p:cNvSpPr>
              <a:spLocks noChangeShapeType="1"/>
            </p:cNvSpPr>
            <p:nvPr/>
          </p:nvSpPr>
          <p:spPr bwMode="auto">
            <a:xfrm>
              <a:off x="3369" y="3570"/>
              <a:ext cx="384"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9281" name="Group 65"/>
          <p:cNvGrpSpPr>
            <a:grpSpLocks/>
          </p:cNvGrpSpPr>
          <p:nvPr/>
        </p:nvGrpSpPr>
        <p:grpSpPr bwMode="auto">
          <a:xfrm>
            <a:off x="5486400" y="1277938"/>
            <a:ext cx="1524000" cy="779462"/>
            <a:chOff x="2496" y="805"/>
            <a:chExt cx="960" cy="491"/>
          </a:xfrm>
        </p:grpSpPr>
        <p:grpSp>
          <p:nvGrpSpPr>
            <p:cNvPr id="13326" name="Group 63"/>
            <p:cNvGrpSpPr>
              <a:grpSpLocks/>
            </p:cNvGrpSpPr>
            <p:nvPr/>
          </p:nvGrpSpPr>
          <p:grpSpPr bwMode="auto">
            <a:xfrm>
              <a:off x="2496" y="805"/>
              <a:ext cx="864" cy="444"/>
              <a:chOff x="2496" y="805"/>
              <a:chExt cx="864" cy="444"/>
            </a:xfrm>
          </p:grpSpPr>
          <p:sp>
            <p:nvSpPr>
              <p:cNvPr id="13328" name="Rectangle 12"/>
              <p:cNvSpPr>
                <a:spLocks noChangeArrowheads="1"/>
              </p:cNvSpPr>
              <p:nvPr/>
            </p:nvSpPr>
            <p:spPr bwMode="auto">
              <a:xfrm>
                <a:off x="2496" y="930"/>
                <a:ext cx="65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CCFF"/>
                    </a:solidFill>
                  </a:rPr>
                  <a:t>K = </a:t>
                </a:r>
                <a:r>
                  <a:rPr lang="el-GR" altLang="en-US" sz="1800" b="1">
                    <a:solidFill>
                      <a:srgbClr val="CCCCFF"/>
                    </a:solidFill>
                  </a:rPr>
                  <a:t>ε</a:t>
                </a:r>
                <a:r>
                  <a:rPr lang="en-US" altLang="en-US" sz="1800" b="1" baseline="-25000">
                    <a:solidFill>
                      <a:srgbClr val="CCCCFF"/>
                    </a:solidFill>
                  </a:rPr>
                  <a:t>r</a:t>
                </a:r>
                <a:r>
                  <a:rPr lang="en-US" altLang="en-US" sz="1800" b="1">
                    <a:solidFill>
                      <a:srgbClr val="CCCCFF"/>
                    </a:solidFill>
                  </a:rPr>
                  <a:t> = </a:t>
                </a:r>
                <a:endParaRPr lang="el-GR" altLang="en-US" sz="1800" b="1">
                  <a:solidFill>
                    <a:srgbClr val="CCCCFF"/>
                  </a:solidFill>
                </a:endParaRPr>
              </a:p>
            </p:txBody>
          </p:sp>
          <p:sp>
            <p:nvSpPr>
              <p:cNvPr id="13329" name="Rectangle 14"/>
              <p:cNvSpPr>
                <a:spLocks noChangeArrowheads="1"/>
              </p:cNvSpPr>
              <p:nvPr/>
            </p:nvSpPr>
            <p:spPr bwMode="auto">
              <a:xfrm>
                <a:off x="3120" y="805"/>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l-GR" altLang="en-US" sz="1800" b="1">
                    <a:solidFill>
                      <a:srgbClr val="CCFF99"/>
                    </a:solidFill>
                  </a:rPr>
                  <a:t>ε</a:t>
                </a:r>
                <a:endParaRPr lang="el-GR" altLang="en-US" sz="1800">
                  <a:solidFill>
                    <a:srgbClr val="CCFF99"/>
                  </a:solidFill>
                </a:endParaRPr>
              </a:p>
            </p:txBody>
          </p:sp>
          <p:sp>
            <p:nvSpPr>
              <p:cNvPr id="13330" name="Rectangle 15"/>
              <p:cNvSpPr>
                <a:spLocks noChangeArrowheads="1"/>
              </p:cNvSpPr>
              <p:nvPr/>
            </p:nvSpPr>
            <p:spPr bwMode="auto">
              <a:xfrm>
                <a:off x="3120" y="1018"/>
                <a:ext cx="23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l-GR" altLang="en-US" sz="1800" b="1">
                    <a:solidFill>
                      <a:srgbClr val="CCFF99"/>
                    </a:solidFill>
                  </a:rPr>
                  <a:t>ε</a:t>
                </a:r>
                <a:r>
                  <a:rPr lang="en-US" altLang="en-US" sz="1800" b="1" baseline="-25000">
                    <a:solidFill>
                      <a:srgbClr val="CCFF99"/>
                    </a:solidFill>
                  </a:rPr>
                  <a:t>0</a:t>
                </a:r>
                <a:endParaRPr lang="el-GR" altLang="en-US" sz="1800" b="1" baseline="-25000">
                  <a:solidFill>
                    <a:srgbClr val="CCFF99"/>
                  </a:solidFill>
                </a:endParaRPr>
              </a:p>
            </p:txBody>
          </p:sp>
          <p:sp>
            <p:nvSpPr>
              <p:cNvPr id="13331" name="Line 16"/>
              <p:cNvSpPr>
                <a:spLocks noChangeShapeType="1"/>
              </p:cNvSpPr>
              <p:nvPr/>
            </p:nvSpPr>
            <p:spPr bwMode="auto">
              <a:xfrm>
                <a:off x="3120" y="1045"/>
                <a:ext cx="240" cy="9"/>
              </a:xfrm>
              <a:prstGeom prst="line">
                <a:avLst/>
              </a:prstGeom>
              <a:noFill/>
              <a:ln w="19050">
                <a:solidFill>
                  <a:srgbClr val="CC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13327" name="Rectangle 64"/>
            <p:cNvSpPr>
              <a:spLocks noChangeArrowheads="1"/>
            </p:cNvSpPr>
            <p:nvPr/>
          </p:nvSpPr>
          <p:spPr bwMode="auto">
            <a:xfrm>
              <a:off x="2496" y="844"/>
              <a:ext cx="960" cy="452"/>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grpSp>
    </p:spTree>
    <p:extLst>
      <p:ext uri="{BB962C8B-B14F-4D97-AF65-F5344CB8AC3E}">
        <p14:creationId xmlns:p14="http://schemas.microsoft.com/office/powerpoint/2010/main" val="31432481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wipe(left)">
                                      <p:cBhvr>
                                        <p:cTn id="7" dur="500"/>
                                        <p:tgtEl>
                                          <p:spTgt spid="9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5"/>
                                        </p:tgtEl>
                                        <p:attrNameLst>
                                          <p:attrName>style.visibility</p:attrName>
                                        </p:attrNameLst>
                                      </p:cBhvr>
                                      <p:to>
                                        <p:strVal val="visible"/>
                                      </p:to>
                                    </p:set>
                                    <p:animEffect transition="in" filter="wipe(left)">
                                      <p:cBhvr>
                                        <p:cTn id="12" dur="500"/>
                                        <p:tgtEl>
                                          <p:spTgt spid="92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26"/>
                                        </p:tgtEl>
                                        <p:attrNameLst>
                                          <p:attrName>style.visibility</p:attrName>
                                        </p:attrNameLst>
                                      </p:cBhvr>
                                      <p:to>
                                        <p:strVal val="visible"/>
                                      </p:to>
                                    </p:set>
                                    <p:animEffect transition="in" filter="wipe(left)">
                                      <p:cBhvr>
                                        <p:cTn id="17" dur="500"/>
                                        <p:tgtEl>
                                          <p:spTgt spid="92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281"/>
                                        </p:tgtEl>
                                        <p:attrNameLst>
                                          <p:attrName>style.visibility</p:attrName>
                                        </p:attrNameLst>
                                      </p:cBhvr>
                                      <p:to>
                                        <p:strVal val="visible"/>
                                      </p:to>
                                    </p:set>
                                    <p:animEffect transition="in" filter="wipe(left)">
                                      <p:cBhvr>
                                        <p:cTn id="22" dur="500"/>
                                        <p:tgtEl>
                                          <p:spTgt spid="92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234"/>
                                        </p:tgtEl>
                                        <p:attrNameLst>
                                          <p:attrName>style.visibility</p:attrName>
                                        </p:attrNameLst>
                                      </p:cBhvr>
                                      <p:to>
                                        <p:strVal val="visible"/>
                                      </p:to>
                                    </p:set>
                                    <p:animEffect transition="in" filter="wipe(left)">
                                      <p:cBhvr>
                                        <p:cTn id="27" dur="500"/>
                                        <p:tgtEl>
                                          <p:spTgt spid="92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49"/>
                                        </p:tgtEl>
                                        <p:attrNameLst>
                                          <p:attrName>style.visibility</p:attrName>
                                        </p:attrNameLst>
                                      </p:cBhvr>
                                      <p:to>
                                        <p:strVal val="visible"/>
                                      </p:to>
                                    </p:set>
                                    <p:animEffect transition="in" filter="wipe(left)">
                                      <p:cBhvr>
                                        <p:cTn id="32" dur="500"/>
                                        <p:tgtEl>
                                          <p:spTgt spid="92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282"/>
                                        </p:tgtEl>
                                        <p:attrNameLst>
                                          <p:attrName>style.visibility</p:attrName>
                                        </p:attrNameLst>
                                      </p:cBhvr>
                                      <p:to>
                                        <p:strVal val="visible"/>
                                      </p:to>
                                    </p:set>
                                    <p:animEffect transition="in" filter="wipe(left)">
                                      <p:cBhvr>
                                        <p:cTn id="37" dur="500"/>
                                        <p:tgtEl>
                                          <p:spTgt spid="92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261"/>
                                        </p:tgtEl>
                                        <p:attrNameLst>
                                          <p:attrName>style.visibility</p:attrName>
                                        </p:attrNameLst>
                                      </p:cBhvr>
                                      <p:to>
                                        <p:strVal val="visible"/>
                                      </p:to>
                                    </p:set>
                                    <p:animEffect transition="in" filter="wipe(left)">
                                      <p:cBhvr>
                                        <p:cTn id="42" dur="500"/>
                                        <p:tgtEl>
                                          <p:spTgt spid="92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65"/>
                                        </p:tgtEl>
                                        <p:attrNameLst>
                                          <p:attrName>style.visibility</p:attrName>
                                        </p:attrNameLst>
                                      </p:cBhvr>
                                      <p:to>
                                        <p:strVal val="visible"/>
                                      </p:to>
                                    </p:set>
                                    <p:animEffect transition="in" filter="wipe(left)">
                                      <p:cBhvr>
                                        <p:cTn id="47" dur="500"/>
                                        <p:tgtEl>
                                          <p:spTgt spid="926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283"/>
                                        </p:tgtEl>
                                        <p:attrNameLst>
                                          <p:attrName>style.visibility</p:attrName>
                                        </p:attrNameLst>
                                      </p:cBhvr>
                                      <p:to>
                                        <p:strVal val="visible"/>
                                      </p:to>
                                    </p:set>
                                    <p:animEffect transition="in" filter="wipe(left)">
                                      <p:cBhvr>
                                        <p:cTn id="52" dur="500"/>
                                        <p:tgtEl>
                                          <p:spTgt spid="928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273"/>
                                        </p:tgtEl>
                                        <p:attrNameLst>
                                          <p:attrName>style.visibility</p:attrName>
                                        </p:attrNameLst>
                                      </p:cBhvr>
                                      <p:to>
                                        <p:strVal val="visible"/>
                                      </p:to>
                                    </p:set>
                                    <p:animEffect transition="in" filter="wipe(left)">
                                      <p:cBhvr>
                                        <p:cTn id="57" dur="500"/>
                                        <p:tgtEl>
                                          <p:spTgt spid="927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284"/>
                                        </p:tgtEl>
                                        <p:attrNameLst>
                                          <p:attrName>style.visibility</p:attrName>
                                        </p:attrNameLst>
                                      </p:cBhvr>
                                      <p:to>
                                        <p:strVal val="visible"/>
                                      </p:to>
                                    </p:set>
                                    <p:animEffect transition="in" filter="wipe(left)">
                                      <p:cBhvr>
                                        <p:cTn id="62" dur="500"/>
                                        <p:tgtEl>
                                          <p:spTgt spid="9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5" grpId="0"/>
      <p:bldP spid="9226" grpId="0"/>
      <p:bldP spid="9249" grpId="0"/>
      <p:bldP spid="9265" grpId="0"/>
      <p:bldP spid="927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00588" y="187109"/>
            <a:ext cx="8052924" cy="6483195"/>
          </a:xfrm>
          <a:prstGeom prst="rect">
            <a:avLst/>
          </a:prstGeom>
        </p:spPr>
      </p:pic>
    </p:spTree>
    <p:extLst>
      <p:ext uri="{BB962C8B-B14F-4D97-AF65-F5344CB8AC3E}">
        <p14:creationId xmlns:p14="http://schemas.microsoft.com/office/powerpoint/2010/main" val="1449325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35844" y="370338"/>
            <a:ext cx="7468642" cy="6268325"/>
          </a:xfrm>
          <a:prstGeom prst="rect">
            <a:avLst/>
          </a:prstGeom>
        </p:spPr>
      </p:pic>
    </p:spTree>
    <p:extLst>
      <p:ext uri="{BB962C8B-B14F-4D97-AF65-F5344CB8AC3E}">
        <p14:creationId xmlns:p14="http://schemas.microsoft.com/office/powerpoint/2010/main" val="2359478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8" name="Rectangle 34"/>
          <p:cNvSpPr>
            <a:spLocks noChangeArrowheads="1"/>
          </p:cNvSpPr>
          <p:nvPr/>
        </p:nvSpPr>
        <p:spPr bwMode="auto">
          <a:xfrm>
            <a:off x="2209800" y="228600"/>
            <a:ext cx="7086600" cy="838200"/>
          </a:xfrm>
          <a:prstGeom prst="rect">
            <a:avLst/>
          </a:prstGeom>
          <a:noFill/>
          <a:ln w="2857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1299" name="Text Box 35"/>
          <p:cNvSpPr txBox="1">
            <a:spLocks noChangeArrowheads="1"/>
          </p:cNvSpPr>
          <p:nvPr/>
        </p:nvSpPr>
        <p:spPr bwMode="auto">
          <a:xfrm>
            <a:off x="1600200" y="1905000"/>
            <a:ext cx="2438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CC99"/>
                </a:solidFill>
              </a:rPr>
              <a:t>Units of Charge:</a:t>
            </a:r>
          </a:p>
        </p:txBody>
      </p:sp>
      <p:sp>
        <p:nvSpPr>
          <p:cNvPr id="11300" name="Text Box 36"/>
          <p:cNvSpPr txBox="1">
            <a:spLocks noChangeArrowheads="1"/>
          </p:cNvSpPr>
          <p:nvPr/>
        </p:nvSpPr>
        <p:spPr bwMode="auto">
          <a:xfrm>
            <a:off x="1600200" y="2354264"/>
            <a:ext cx="8991600" cy="25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00"/>
                </a:solidFill>
              </a:rPr>
              <a:t>In SI system, the unit of charge is coulomb (C).</a:t>
            </a:r>
          </a:p>
          <a:p>
            <a:pPr fontAlgn="base">
              <a:spcBef>
                <a:spcPct val="50000"/>
              </a:spcBef>
              <a:spcAft>
                <a:spcPct val="0"/>
              </a:spcAft>
              <a:buNone/>
            </a:pPr>
            <a:r>
              <a:rPr lang="en-US" altLang="en-US" sz="1800" b="1">
                <a:solidFill>
                  <a:srgbClr val="FFCCFF"/>
                </a:solidFill>
              </a:rPr>
              <a:t>One coulomb</a:t>
            </a:r>
            <a:r>
              <a:rPr lang="en-US" altLang="en-US" sz="1800" b="1">
                <a:solidFill>
                  <a:srgbClr val="FF6699"/>
                </a:solidFill>
              </a:rPr>
              <a:t> of charge is that charge which when placed at rest in vacuum at a distance of one metre from an equal and similar stationary charge repels it and is repelled by it with a </a:t>
            </a:r>
            <a:r>
              <a:rPr lang="en-US" altLang="en-US" sz="1800" b="1">
                <a:solidFill>
                  <a:srgbClr val="FF9933"/>
                </a:solidFill>
              </a:rPr>
              <a:t>force of  9 x 10</a:t>
            </a:r>
            <a:r>
              <a:rPr lang="en-US" altLang="en-US" sz="1800" b="1" baseline="30000">
                <a:solidFill>
                  <a:srgbClr val="FF9933"/>
                </a:solidFill>
              </a:rPr>
              <a:t>9</a:t>
            </a:r>
            <a:r>
              <a:rPr lang="en-US" altLang="en-US" sz="1800" b="1">
                <a:solidFill>
                  <a:srgbClr val="FF9933"/>
                </a:solidFill>
              </a:rPr>
              <a:t> newton</a:t>
            </a:r>
            <a:r>
              <a:rPr lang="en-US" altLang="en-US" sz="1800" b="1">
                <a:solidFill>
                  <a:srgbClr val="FF6699"/>
                </a:solidFill>
              </a:rPr>
              <a:t>.</a:t>
            </a:r>
          </a:p>
          <a:p>
            <a:pPr fontAlgn="base">
              <a:spcBef>
                <a:spcPct val="50000"/>
              </a:spcBef>
              <a:spcAft>
                <a:spcPct val="0"/>
              </a:spcAft>
              <a:buNone/>
            </a:pPr>
            <a:r>
              <a:rPr lang="en-US" altLang="en-US" sz="1800" b="1">
                <a:solidFill>
                  <a:srgbClr val="00FFFF"/>
                </a:solidFill>
              </a:rPr>
              <a:t>In cgs electrostatic system, the unit of charge is ‘statcoulomb’ or ‘esu of charge’.</a:t>
            </a:r>
          </a:p>
          <a:p>
            <a:pPr fontAlgn="base">
              <a:spcBef>
                <a:spcPct val="50000"/>
              </a:spcBef>
              <a:spcAft>
                <a:spcPct val="0"/>
              </a:spcAft>
              <a:buNone/>
            </a:pPr>
            <a:r>
              <a:rPr lang="en-US" altLang="en-US" sz="1800" b="1">
                <a:solidFill>
                  <a:srgbClr val="FFFF00"/>
                </a:solidFill>
              </a:rPr>
              <a:t>In cgs electrostatic system,  k = 1 / K  where K is ‘dielectric constant’.</a:t>
            </a:r>
          </a:p>
          <a:p>
            <a:pPr fontAlgn="base">
              <a:spcBef>
                <a:spcPct val="50000"/>
              </a:spcBef>
              <a:spcAft>
                <a:spcPct val="0"/>
              </a:spcAft>
              <a:buNone/>
            </a:pPr>
            <a:r>
              <a:rPr lang="en-US" altLang="en-US" sz="1800" b="1">
                <a:solidFill>
                  <a:srgbClr val="CC99FF"/>
                </a:solidFill>
              </a:rPr>
              <a:t>For vacuum,  K = 1.</a:t>
            </a:r>
            <a:endParaRPr lang="en-US" altLang="en-US" sz="1800">
              <a:solidFill>
                <a:srgbClr val="CC99FF"/>
              </a:solidFill>
            </a:endParaRPr>
          </a:p>
        </p:txBody>
      </p:sp>
      <p:grpSp>
        <p:nvGrpSpPr>
          <p:cNvPr id="11301" name="Group 37"/>
          <p:cNvGrpSpPr>
            <a:grpSpLocks/>
          </p:cNvGrpSpPr>
          <p:nvPr/>
        </p:nvGrpSpPr>
        <p:grpSpPr bwMode="auto">
          <a:xfrm>
            <a:off x="4267200" y="4981575"/>
            <a:ext cx="152400" cy="152400"/>
            <a:chOff x="3168" y="1392"/>
            <a:chExt cx="144" cy="144"/>
          </a:xfrm>
        </p:grpSpPr>
        <p:sp>
          <p:nvSpPr>
            <p:cNvPr id="17424" name="Oval 38"/>
            <p:cNvSpPr>
              <a:spLocks noChangeArrowheads="1"/>
            </p:cNvSpPr>
            <p:nvPr/>
          </p:nvSpPr>
          <p:spPr bwMode="auto">
            <a:xfrm>
              <a:off x="3168" y="1488"/>
              <a:ext cx="48" cy="48"/>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7425" name="Oval 39"/>
            <p:cNvSpPr>
              <a:spLocks noChangeArrowheads="1"/>
            </p:cNvSpPr>
            <p:nvPr/>
          </p:nvSpPr>
          <p:spPr bwMode="auto">
            <a:xfrm>
              <a:off x="3264" y="1488"/>
              <a:ext cx="48" cy="48"/>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7426" name="Oval 40"/>
            <p:cNvSpPr>
              <a:spLocks noChangeArrowheads="1"/>
            </p:cNvSpPr>
            <p:nvPr/>
          </p:nvSpPr>
          <p:spPr bwMode="auto">
            <a:xfrm>
              <a:off x="3216" y="1392"/>
              <a:ext cx="48" cy="48"/>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grpSp>
      <p:grpSp>
        <p:nvGrpSpPr>
          <p:cNvPr id="11312" name="Group 48"/>
          <p:cNvGrpSpPr>
            <a:grpSpLocks/>
          </p:cNvGrpSpPr>
          <p:nvPr/>
        </p:nvGrpSpPr>
        <p:grpSpPr bwMode="auto">
          <a:xfrm>
            <a:off x="4648201" y="4648201"/>
            <a:ext cx="1235075" cy="809625"/>
            <a:chOff x="1968" y="3118"/>
            <a:chExt cx="778" cy="510"/>
          </a:xfrm>
        </p:grpSpPr>
        <p:sp>
          <p:nvSpPr>
            <p:cNvPr id="17420" name="Rectangle 42"/>
            <p:cNvSpPr>
              <a:spLocks noChangeArrowheads="1"/>
            </p:cNvSpPr>
            <p:nvPr/>
          </p:nvSpPr>
          <p:spPr bwMode="auto">
            <a:xfrm>
              <a:off x="1968" y="3282"/>
              <a:ext cx="3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F =</a:t>
              </a:r>
            </a:p>
          </p:txBody>
        </p:sp>
        <p:sp>
          <p:nvSpPr>
            <p:cNvPr id="17421" name="Rectangle 43"/>
            <p:cNvSpPr>
              <a:spLocks noChangeArrowheads="1"/>
            </p:cNvSpPr>
            <p:nvPr/>
          </p:nvSpPr>
          <p:spPr bwMode="auto">
            <a:xfrm>
              <a:off x="2314" y="311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CCFF"/>
                  </a:solidFill>
                </a:rPr>
                <a:t>q</a:t>
              </a:r>
              <a:r>
                <a:rPr lang="en-US" altLang="en-US" sz="1800" b="1" baseline="-25000">
                  <a:solidFill>
                    <a:srgbClr val="FFCCFF"/>
                  </a:solidFill>
                </a:rPr>
                <a:t>1 </a:t>
              </a:r>
              <a:r>
                <a:rPr lang="en-US" altLang="en-US" sz="1800" b="1">
                  <a:solidFill>
                    <a:srgbClr val="FFCCFF"/>
                  </a:solidFill>
                </a:rPr>
                <a:t>q</a:t>
              </a:r>
              <a:r>
                <a:rPr lang="en-US" altLang="en-US" sz="1800" b="1" baseline="-25000">
                  <a:solidFill>
                    <a:srgbClr val="FFCCFF"/>
                  </a:solidFill>
                </a:rPr>
                <a:t>2</a:t>
              </a:r>
              <a:endParaRPr lang="en-US" altLang="en-US" sz="1800">
                <a:solidFill>
                  <a:srgbClr val="FFCCFF"/>
                </a:solidFill>
              </a:endParaRPr>
            </a:p>
          </p:txBody>
        </p:sp>
        <p:sp>
          <p:nvSpPr>
            <p:cNvPr id="17422" name="Rectangle 44"/>
            <p:cNvSpPr>
              <a:spLocks noChangeArrowheads="1"/>
            </p:cNvSpPr>
            <p:nvPr/>
          </p:nvSpPr>
          <p:spPr bwMode="auto">
            <a:xfrm>
              <a:off x="2425" y="3397"/>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CCFF"/>
                  </a:solidFill>
                </a:rPr>
                <a:t>r</a:t>
              </a:r>
              <a:r>
                <a:rPr lang="en-US" altLang="en-US" sz="1800" b="1" baseline="30000">
                  <a:solidFill>
                    <a:srgbClr val="FFCCFF"/>
                  </a:solidFill>
                </a:rPr>
                <a:t>2</a:t>
              </a:r>
              <a:endParaRPr lang="el-GR" altLang="en-US" sz="1800" b="1" baseline="30000">
                <a:solidFill>
                  <a:srgbClr val="FFCCFF"/>
                </a:solidFill>
              </a:endParaRPr>
            </a:p>
          </p:txBody>
        </p:sp>
        <p:sp>
          <p:nvSpPr>
            <p:cNvPr id="17423" name="Line 45"/>
            <p:cNvSpPr>
              <a:spLocks noChangeShapeType="1"/>
            </p:cNvSpPr>
            <p:nvPr/>
          </p:nvSpPr>
          <p:spPr bwMode="auto">
            <a:xfrm>
              <a:off x="2314" y="3397"/>
              <a:ext cx="384" cy="0"/>
            </a:xfrm>
            <a:prstGeom prst="line">
              <a:avLst/>
            </a:prstGeom>
            <a:noFill/>
            <a:ln w="1905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11311" name="Rectangle 47"/>
          <p:cNvSpPr>
            <a:spLocks noChangeArrowheads="1"/>
          </p:cNvSpPr>
          <p:nvPr/>
        </p:nvSpPr>
        <p:spPr bwMode="auto">
          <a:xfrm>
            <a:off x="1600200" y="5486400"/>
            <a:ext cx="88392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If q</a:t>
            </a:r>
            <a:r>
              <a:rPr lang="en-US" altLang="en-US" sz="1800" b="1" baseline="-25000">
                <a:solidFill>
                  <a:srgbClr val="FFFFCC"/>
                </a:solidFill>
              </a:rPr>
              <a:t>1</a:t>
            </a:r>
            <a:r>
              <a:rPr lang="en-US" altLang="en-US" sz="1800" b="1">
                <a:solidFill>
                  <a:srgbClr val="FFFFCC"/>
                </a:solidFill>
              </a:rPr>
              <a:t> = q</a:t>
            </a:r>
            <a:r>
              <a:rPr lang="en-US" altLang="en-US" sz="1800" b="1" baseline="-25000">
                <a:solidFill>
                  <a:srgbClr val="FFFFCC"/>
                </a:solidFill>
              </a:rPr>
              <a:t>2</a:t>
            </a:r>
            <a:r>
              <a:rPr lang="en-US" altLang="en-US" sz="1800" b="1">
                <a:solidFill>
                  <a:srgbClr val="FFFFCC"/>
                </a:solidFill>
              </a:rPr>
              <a:t> = q (say), r = 1 cm and F = 1 dyne, then q = </a:t>
            </a:r>
            <a:r>
              <a:rPr lang="en-US" altLang="en-US" sz="1800" b="1">
                <a:solidFill>
                  <a:srgbClr val="FFFFCC"/>
                </a:solidFill>
                <a:cs typeface="Arial" panose="020B0604020202020204" pitchFamily="34" charset="0"/>
              </a:rPr>
              <a:t>± 1 statcoulomb.</a:t>
            </a:r>
          </a:p>
          <a:p>
            <a:pPr fontAlgn="base">
              <a:spcBef>
                <a:spcPct val="50000"/>
              </a:spcBef>
              <a:spcAft>
                <a:spcPct val="0"/>
              </a:spcAft>
              <a:buNone/>
            </a:pPr>
            <a:r>
              <a:rPr lang="en-US" altLang="en-US" sz="1800" b="1">
                <a:solidFill>
                  <a:srgbClr val="99FF33"/>
                </a:solidFill>
              </a:rPr>
              <a:t>In cgs electromagnetic system, the unit of charge is ‘abcoulomb’ or ‘emu of charge’.</a:t>
            </a:r>
            <a:endParaRPr lang="en-US" altLang="en-US" sz="1800" b="1">
              <a:solidFill>
                <a:srgbClr val="99FF33"/>
              </a:solidFill>
              <a:cs typeface="Arial" panose="020B0604020202020204" pitchFamily="34" charset="0"/>
            </a:endParaRPr>
          </a:p>
        </p:txBody>
      </p:sp>
    </p:spTree>
    <p:extLst>
      <p:ext uri="{BB962C8B-B14F-4D97-AF65-F5344CB8AC3E}">
        <p14:creationId xmlns:p14="http://schemas.microsoft.com/office/powerpoint/2010/main" val="10399772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1298"/>
                                        </p:tgtEl>
                                        <p:attrNameLst>
                                          <p:attrName>style.visibility</p:attrName>
                                        </p:attrNameLst>
                                      </p:cBhvr>
                                      <p:to>
                                        <p:strVal val="visible"/>
                                      </p:to>
                                    </p:set>
                                    <p:anim calcmode="lin" valueType="num">
                                      <p:cBhvr>
                                        <p:cTn id="7" dur="500" fill="hold"/>
                                        <p:tgtEl>
                                          <p:spTgt spid="11298"/>
                                        </p:tgtEl>
                                        <p:attrNameLst>
                                          <p:attrName>ppt_w</p:attrName>
                                        </p:attrNameLst>
                                      </p:cBhvr>
                                      <p:tavLst>
                                        <p:tav tm="0">
                                          <p:val>
                                            <p:fltVal val="0"/>
                                          </p:val>
                                        </p:tav>
                                        <p:tav tm="100000">
                                          <p:val>
                                            <p:strVal val="#ppt_w"/>
                                          </p:val>
                                        </p:tav>
                                      </p:tavLst>
                                    </p:anim>
                                    <p:anim calcmode="lin" valueType="num">
                                      <p:cBhvr>
                                        <p:cTn id="8" dur="500" fill="hold"/>
                                        <p:tgtEl>
                                          <p:spTgt spid="11298"/>
                                        </p:tgtEl>
                                        <p:attrNameLst>
                                          <p:attrName>ppt_h</p:attrName>
                                        </p:attrNameLst>
                                      </p:cBhvr>
                                      <p:tavLst>
                                        <p:tav tm="0">
                                          <p:val>
                                            <p:fltVal val="0"/>
                                          </p:val>
                                        </p:tav>
                                        <p:tav tm="100000">
                                          <p:val>
                                            <p:strVal val="#ppt_h"/>
                                          </p:val>
                                        </p:tav>
                                      </p:tavLst>
                                    </p:anim>
                                    <p:animEffect transition="in" filter="fade">
                                      <p:cBhvr>
                                        <p:cTn id="9" dur="500"/>
                                        <p:tgtEl>
                                          <p:spTgt spid="1129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1299"/>
                                        </p:tgtEl>
                                        <p:attrNameLst>
                                          <p:attrName>style.visibility</p:attrName>
                                        </p:attrNameLst>
                                      </p:cBhvr>
                                      <p:to>
                                        <p:strVal val="visible"/>
                                      </p:to>
                                    </p:set>
                                    <p:animEffect transition="in" filter="wipe(left)">
                                      <p:cBhvr>
                                        <p:cTn id="14" dur="500"/>
                                        <p:tgtEl>
                                          <p:spTgt spid="1129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11300">
                                            <p:txEl>
                                              <p:pRg st="0" end="0"/>
                                            </p:txEl>
                                          </p:spTgt>
                                        </p:tgtEl>
                                        <p:attrNameLst>
                                          <p:attrName>style.visibility</p:attrName>
                                        </p:attrNameLst>
                                      </p:cBhvr>
                                      <p:to>
                                        <p:strVal val="visible"/>
                                      </p:to>
                                    </p:set>
                                    <p:animEffect transition="in" filter="wipe(up)">
                                      <p:cBhvr>
                                        <p:cTn id="19" dur="500"/>
                                        <p:tgtEl>
                                          <p:spTgt spid="11300">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1300">
                                            <p:txEl>
                                              <p:pRg st="1" end="1"/>
                                            </p:txEl>
                                          </p:spTgt>
                                        </p:tgtEl>
                                        <p:attrNameLst>
                                          <p:attrName>style.visibility</p:attrName>
                                        </p:attrNameLst>
                                      </p:cBhvr>
                                      <p:to>
                                        <p:strVal val="visible"/>
                                      </p:to>
                                    </p:set>
                                    <p:animEffect transition="in" filter="wipe(up)">
                                      <p:cBhvr>
                                        <p:cTn id="24" dur="500"/>
                                        <p:tgtEl>
                                          <p:spTgt spid="11300">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1300">
                                            <p:txEl>
                                              <p:pRg st="2" end="2"/>
                                            </p:txEl>
                                          </p:spTgt>
                                        </p:tgtEl>
                                        <p:attrNameLst>
                                          <p:attrName>style.visibility</p:attrName>
                                        </p:attrNameLst>
                                      </p:cBhvr>
                                      <p:to>
                                        <p:strVal val="visible"/>
                                      </p:to>
                                    </p:set>
                                    <p:animEffect transition="in" filter="wipe(up)">
                                      <p:cBhvr>
                                        <p:cTn id="29" dur="500"/>
                                        <p:tgtEl>
                                          <p:spTgt spid="11300">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1300">
                                            <p:txEl>
                                              <p:pRg st="3" end="3"/>
                                            </p:txEl>
                                          </p:spTgt>
                                        </p:tgtEl>
                                        <p:attrNameLst>
                                          <p:attrName>style.visibility</p:attrName>
                                        </p:attrNameLst>
                                      </p:cBhvr>
                                      <p:to>
                                        <p:strVal val="visible"/>
                                      </p:to>
                                    </p:set>
                                    <p:animEffect transition="in" filter="wipe(up)">
                                      <p:cBhvr>
                                        <p:cTn id="34" dur="500"/>
                                        <p:tgtEl>
                                          <p:spTgt spid="11300">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11300">
                                            <p:txEl>
                                              <p:pRg st="4" end="4"/>
                                            </p:txEl>
                                          </p:spTgt>
                                        </p:tgtEl>
                                        <p:attrNameLst>
                                          <p:attrName>style.visibility</p:attrName>
                                        </p:attrNameLst>
                                      </p:cBhvr>
                                      <p:to>
                                        <p:strVal val="visible"/>
                                      </p:to>
                                    </p:set>
                                    <p:animEffect transition="in" filter="wipe(up)">
                                      <p:cBhvr>
                                        <p:cTn id="39" dur="500"/>
                                        <p:tgtEl>
                                          <p:spTgt spid="11300">
                                            <p:txEl>
                                              <p:pRg st="4" end="4"/>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1301"/>
                                        </p:tgtEl>
                                        <p:attrNameLst>
                                          <p:attrName>style.visibility</p:attrName>
                                        </p:attrNameLst>
                                      </p:cBhvr>
                                      <p:to>
                                        <p:strVal val="visible"/>
                                      </p:to>
                                    </p:set>
                                    <p:animEffect transition="in" filter="wipe(left)">
                                      <p:cBhvr>
                                        <p:cTn id="44" dur="500"/>
                                        <p:tgtEl>
                                          <p:spTgt spid="1130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1312"/>
                                        </p:tgtEl>
                                        <p:attrNameLst>
                                          <p:attrName>style.visibility</p:attrName>
                                        </p:attrNameLst>
                                      </p:cBhvr>
                                      <p:to>
                                        <p:strVal val="visible"/>
                                      </p:to>
                                    </p:set>
                                    <p:animEffect transition="in" filter="wipe(left)">
                                      <p:cBhvr>
                                        <p:cTn id="49" dur="500"/>
                                        <p:tgtEl>
                                          <p:spTgt spid="113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11311">
                                            <p:txEl>
                                              <p:pRg st="0" end="0"/>
                                            </p:txEl>
                                          </p:spTgt>
                                        </p:tgtEl>
                                        <p:attrNameLst>
                                          <p:attrName>style.visibility</p:attrName>
                                        </p:attrNameLst>
                                      </p:cBhvr>
                                      <p:to>
                                        <p:strVal val="visible"/>
                                      </p:to>
                                    </p:set>
                                    <p:animEffect transition="in" filter="wipe(up)">
                                      <p:cBhvr>
                                        <p:cTn id="54" dur="500"/>
                                        <p:tgtEl>
                                          <p:spTgt spid="11311">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11311">
                                            <p:txEl>
                                              <p:pRg st="1" end="1"/>
                                            </p:txEl>
                                          </p:spTgt>
                                        </p:tgtEl>
                                        <p:attrNameLst>
                                          <p:attrName>style.visibility</p:attrName>
                                        </p:attrNameLst>
                                      </p:cBhvr>
                                      <p:to>
                                        <p:strVal val="visible"/>
                                      </p:to>
                                    </p:set>
                                    <p:animEffect transition="in" filter="wipe(up)">
                                      <p:cBhvr>
                                        <p:cTn id="59" dur="500"/>
                                        <p:tgtEl>
                                          <p:spTgt spid="113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8" grpId="0" animBg="1"/>
      <p:bldP spid="1129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ChangeArrowheads="1"/>
          </p:cNvSpPr>
          <p:nvPr/>
        </p:nvSpPr>
        <p:spPr bwMode="auto">
          <a:xfrm>
            <a:off x="3505200" y="152400"/>
            <a:ext cx="495300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99FF"/>
                </a:solidFill>
              </a:rPr>
              <a:t>1 emu of charge = c esu of charge </a:t>
            </a:r>
          </a:p>
          <a:p>
            <a:pPr fontAlgn="base">
              <a:spcBef>
                <a:spcPct val="0"/>
              </a:spcBef>
              <a:spcAft>
                <a:spcPct val="0"/>
              </a:spcAft>
              <a:buNone/>
            </a:pPr>
            <a:endParaRPr lang="en-US" altLang="en-US" sz="1800" b="1">
              <a:solidFill>
                <a:srgbClr val="CC99FF"/>
              </a:solidFill>
            </a:endParaRPr>
          </a:p>
          <a:p>
            <a:pPr fontAlgn="base">
              <a:spcBef>
                <a:spcPct val="0"/>
              </a:spcBef>
              <a:spcAft>
                <a:spcPct val="0"/>
              </a:spcAft>
              <a:buNone/>
            </a:pPr>
            <a:r>
              <a:rPr lang="en-US" altLang="en-US" sz="1800" b="1">
                <a:solidFill>
                  <a:srgbClr val="99FF33"/>
                </a:solidFill>
              </a:rPr>
              <a:t>1 emu of charge = 3 x 10</a:t>
            </a:r>
            <a:r>
              <a:rPr lang="en-US" altLang="en-US" sz="1800" b="1" baseline="30000">
                <a:solidFill>
                  <a:srgbClr val="99FF33"/>
                </a:solidFill>
              </a:rPr>
              <a:t>10</a:t>
            </a:r>
            <a:r>
              <a:rPr lang="en-US" altLang="en-US" sz="1800" b="1">
                <a:solidFill>
                  <a:srgbClr val="99FF33"/>
                </a:solidFill>
              </a:rPr>
              <a:t>  esu of charge </a:t>
            </a:r>
          </a:p>
          <a:p>
            <a:pPr fontAlgn="base">
              <a:spcBef>
                <a:spcPct val="0"/>
              </a:spcBef>
              <a:spcAft>
                <a:spcPct val="0"/>
              </a:spcAft>
              <a:buNone/>
            </a:pPr>
            <a:endParaRPr lang="en-US" altLang="en-US" sz="1800" b="1">
              <a:solidFill>
                <a:srgbClr val="99FF33"/>
              </a:solidFill>
            </a:endParaRPr>
          </a:p>
          <a:p>
            <a:pPr fontAlgn="base">
              <a:spcBef>
                <a:spcPct val="0"/>
              </a:spcBef>
              <a:spcAft>
                <a:spcPct val="0"/>
              </a:spcAft>
              <a:buNone/>
            </a:pPr>
            <a:r>
              <a:rPr lang="en-US" altLang="en-US" sz="1800" b="1">
                <a:solidFill>
                  <a:srgbClr val="00FFFF"/>
                </a:solidFill>
              </a:rPr>
              <a:t>1 coulomb of charge = 3 x 10</a:t>
            </a:r>
            <a:r>
              <a:rPr lang="en-US" altLang="en-US" sz="1800" b="1" baseline="30000">
                <a:solidFill>
                  <a:srgbClr val="00FFFF"/>
                </a:solidFill>
              </a:rPr>
              <a:t>9</a:t>
            </a:r>
            <a:r>
              <a:rPr lang="en-US" altLang="en-US" sz="1800" b="1">
                <a:solidFill>
                  <a:srgbClr val="00FFFF"/>
                </a:solidFill>
              </a:rPr>
              <a:t> statcoulomb</a:t>
            </a:r>
            <a:r>
              <a:rPr lang="en-US" altLang="en-US" sz="1800" b="1">
                <a:solidFill>
                  <a:srgbClr val="CC99FF"/>
                </a:solidFill>
              </a:rPr>
              <a:t> </a:t>
            </a:r>
          </a:p>
          <a:p>
            <a:pPr fontAlgn="base">
              <a:spcBef>
                <a:spcPct val="0"/>
              </a:spcBef>
              <a:spcAft>
                <a:spcPct val="0"/>
              </a:spcAft>
              <a:buNone/>
            </a:pPr>
            <a:endParaRPr lang="en-US" altLang="en-US" sz="1800" b="1">
              <a:solidFill>
                <a:srgbClr val="CC99FF"/>
              </a:solidFill>
            </a:endParaRPr>
          </a:p>
          <a:p>
            <a:pPr fontAlgn="base">
              <a:spcBef>
                <a:spcPct val="0"/>
              </a:spcBef>
              <a:spcAft>
                <a:spcPct val="0"/>
              </a:spcAft>
              <a:buNone/>
            </a:pPr>
            <a:r>
              <a:rPr lang="en-US" altLang="en-US" sz="1800" b="1">
                <a:solidFill>
                  <a:srgbClr val="FF99FF"/>
                </a:solidFill>
              </a:rPr>
              <a:t>1 abcoulomb = 10 coulomb</a:t>
            </a:r>
            <a:endParaRPr lang="en-US" altLang="en-US" sz="1800" b="1">
              <a:solidFill>
                <a:srgbClr val="CC99FF"/>
              </a:solidFill>
              <a:cs typeface="Arial" panose="020B0604020202020204" pitchFamily="34" charset="0"/>
            </a:endParaRPr>
          </a:p>
        </p:txBody>
      </p:sp>
      <p:sp>
        <p:nvSpPr>
          <p:cNvPr id="21509" name="Text Box 5"/>
          <p:cNvSpPr txBox="1">
            <a:spLocks noChangeArrowheads="1"/>
          </p:cNvSpPr>
          <p:nvPr/>
        </p:nvSpPr>
        <p:spPr bwMode="auto">
          <a:xfrm>
            <a:off x="1600200" y="2286000"/>
            <a:ext cx="8839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CC99"/>
                </a:solidFill>
              </a:rPr>
              <a:t>Relative Permittivity or Dielectric Constant or Specific Inductive Capacity or Dielectric Coefficient:</a:t>
            </a:r>
          </a:p>
        </p:txBody>
      </p:sp>
      <p:sp>
        <p:nvSpPr>
          <p:cNvPr id="21510" name="Text Box 6"/>
          <p:cNvSpPr txBox="1">
            <a:spLocks noChangeArrowheads="1"/>
          </p:cNvSpPr>
          <p:nvPr/>
        </p:nvSpPr>
        <p:spPr bwMode="auto">
          <a:xfrm>
            <a:off x="1600200" y="3094039"/>
            <a:ext cx="88392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FF"/>
                </a:solidFill>
              </a:rPr>
              <a:t>The dielectric constant or relative permittivity or specific inductive capacity or dielectric coefficient is given by the ratio of the absolute permittivity of the medium to the permittivity of free space.</a:t>
            </a:r>
            <a:endParaRPr lang="en-US" altLang="en-US" sz="1800">
              <a:solidFill>
                <a:srgbClr val="00FFFF"/>
              </a:solidFill>
            </a:endParaRPr>
          </a:p>
        </p:txBody>
      </p:sp>
      <p:grpSp>
        <p:nvGrpSpPr>
          <p:cNvPr id="21525" name="Group 21"/>
          <p:cNvGrpSpPr>
            <a:grpSpLocks/>
          </p:cNvGrpSpPr>
          <p:nvPr/>
        </p:nvGrpSpPr>
        <p:grpSpPr bwMode="auto">
          <a:xfrm>
            <a:off x="6400800" y="3765550"/>
            <a:ext cx="1416050" cy="698500"/>
            <a:chOff x="3072" y="2372"/>
            <a:chExt cx="892" cy="440"/>
          </a:xfrm>
        </p:grpSpPr>
        <p:sp>
          <p:nvSpPr>
            <p:cNvPr id="19469" name="Rectangle 8"/>
            <p:cNvSpPr>
              <a:spLocks noChangeArrowheads="1"/>
            </p:cNvSpPr>
            <p:nvPr/>
          </p:nvSpPr>
          <p:spPr bwMode="auto">
            <a:xfrm>
              <a:off x="3072" y="2496"/>
              <a:ext cx="65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FF00"/>
                  </a:solidFill>
                </a:rPr>
                <a:t>K = </a:t>
              </a:r>
              <a:r>
                <a:rPr lang="el-GR" altLang="en-US" sz="1800" b="1">
                  <a:solidFill>
                    <a:srgbClr val="00FF00"/>
                  </a:solidFill>
                </a:rPr>
                <a:t>ε</a:t>
              </a:r>
              <a:r>
                <a:rPr lang="en-US" altLang="en-US" sz="1800" b="1" baseline="-25000">
                  <a:solidFill>
                    <a:srgbClr val="00FF00"/>
                  </a:solidFill>
                </a:rPr>
                <a:t>r</a:t>
              </a:r>
              <a:r>
                <a:rPr lang="en-US" altLang="en-US" sz="1800" b="1">
                  <a:solidFill>
                    <a:srgbClr val="00FF00"/>
                  </a:solidFill>
                </a:rPr>
                <a:t> = </a:t>
              </a:r>
              <a:endParaRPr lang="el-GR" altLang="en-US" sz="1800" b="1">
                <a:solidFill>
                  <a:srgbClr val="00FF00"/>
                </a:solidFill>
              </a:endParaRPr>
            </a:p>
          </p:txBody>
        </p:sp>
        <p:sp>
          <p:nvSpPr>
            <p:cNvPr id="19470" name="Rectangle 9"/>
            <p:cNvSpPr>
              <a:spLocks noChangeArrowheads="1"/>
            </p:cNvSpPr>
            <p:nvPr/>
          </p:nvSpPr>
          <p:spPr bwMode="auto">
            <a:xfrm>
              <a:off x="3724" y="237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l-GR" altLang="en-US" sz="1800" b="1">
                  <a:solidFill>
                    <a:srgbClr val="00FF00"/>
                  </a:solidFill>
                </a:rPr>
                <a:t>ε</a:t>
              </a:r>
              <a:endParaRPr lang="el-GR" altLang="en-US" sz="1800">
                <a:solidFill>
                  <a:srgbClr val="00FF00"/>
                </a:solidFill>
              </a:endParaRPr>
            </a:p>
          </p:txBody>
        </p:sp>
        <p:sp>
          <p:nvSpPr>
            <p:cNvPr id="19471" name="Rectangle 10"/>
            <p:cNvSpPr>
              <a:spLocks noChangeArrowheads="1"/>
            </p:cNvSpPr>
            <p:nvPr/>
          </p:nvSpPr>
          <p:spPr bwMode="auto">
            <a:xfrm>
              <a:off x="3724" y="2581"/>
              <a:ext cx="23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l-GR" altLang="en-US" sz="1800" b="1">
                  <a:solidFill>
                    <a:srgbClr val="00FF00"/>
                  </a:solidFill>
                </a:rPr>
                <a:t>ε</a:t>
              </a:r>
              <a:r>
                <a:rPr lang="en-US" altLang="en-US" sz="1800" b="1" baseline="-25000">
                  <a:solidFill>
                    <a:srgbClr val="00FF00"/>
                  </a:solidFill>
                </a:rPr>
                <a:t>0</a:t>
              </a:r>
              <a:endParaRPr lang="el-GR" altLang="en-US" sz="1800" b="1" baseline="-25000">
                <a:solidFill>
                  <a:srgbClr val="00FF00"/>
                </a:solidFill>
              </a:endParaRPr>
            </a:p>
          </p:txBody>
        </p:sp>
        <p:sp>
          <p:nvSpPr>
            <p:cNvPr id="19472" name="Line 11"/>
            <p:cNvSpPr>
              <a:spLocks noChangeShapeType="1"/>
            </p:cNvSpPr>
            <p:nvPr/>
          </p:nvSpPr>
          <p:spPr bwMode="auto">
            <a:xfrm>
              <a:off x="3714" y="2611"/>
              <a:ext cx="240" cy="9"/>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1516" name="Text Box 12"/>
          <p:cNvSpPr txBox="1">
            <a:spLocks noChangeArrowheads="1"/>
          </p:cNvSpPr>
          <p:nvPr/>
        </p:nvSpPr>
        <p:spPr bwMode="auto">
          <a:xfrm>
            <a:off x="1600200" y="4495801"/>
            <a:ext cx="88392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CCCC00"/>
                </a:solidFill>
              </a:rPr>
              <a:t>The dielectric constant or relative permittivity or specific inductive capacity or dielectric coefficient can also be defined as the ratio of the electrostatic force between two charges separated by a certain distance in vacuum to the electrostatic force between the same two charges separated by the same distance in that medium.</a:t>
            </a:r>
            <a:endParaRPr lang="en-US" altLang="en-US" sz="1800">
              <a:solidFill>
                <a:srgbClr val="CCCC00"/>
              </a:solidFill>
            </a:endParaRPr>
          </a:p>
        </p:txBody>
      </p:sp>
      <p:grpSp>
        <p:nvGrpSpPr>
          <p:cNvPr id="21526" name="Group 22"/>
          <p:cNvGrpSpPr>
            <a:grpSpLocks/>
          </p:cNvGrpSpPr>
          <p:nvPr/>
        </p:nvGrpSpPr>
        <p:grpSpPr bwMode="auto">
          <a:xfrm>
            <a:off x="6400800" y="5715001"/>
            <a:ext cx="1524000" cy="790575"/>
            <a:chOff x="3072" y="3600"/>
            <a:chExt cx="960" cy="498"/>
          </a:xfrm>
        </p:grpSpPr>
        <p:sp>
          <p:nvSpPr>
            <p:cNvPr id="19465" name="Rectangle 14"/>
            <p:cNvSpPr>
              <a:spLocks noChangeArrowheads="1"/>
            </p:cNvSpPr>
            <p:nvPr/>
          </p:nvSpPr>
          <p:spPr bwMode="auto">
            <a:xfrm>
              <a:off x="3072" y="3744"/>
              <a:ext cx="65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66FF"/>
                  </a:solidFill>
                </a:rPr>
                <a:t>K = </a:t>
              </a:r>
              <a:r>
                <a:rPr lang="el-GR" altLang="en-US" sz="1800" b="1">
                  <a:solidFill>
                    <a:srgbClr val="FF66FF"/>
                  </a:solidFill>
                </a:rPr>
                <a:t>ε</a:t>
              </a:r>
              <a:r>
                <a:rPr lang="en-US" altLang="en-US" sz="1800" b="1" baseline="-25000">
                  <a:solidFill>
                    <a:srgbClr val="FF66FF"/>
                  </a:solidFill>
                </a:rPr>
                <a:t>r</a:t>
              </a:r>
              <a:r>
                <a:rPr lang="en-US" altLang="en-US" sz="1800" b="1">
                  <a:solidFill>
                    <a:srgbClr val="FF66FF"/>
                  </a:solidFill>
                </a:rPr>
                <a:t> = </a:t>
              </a:r>
              <a:endParaRPr lang="el-GR" altLang="en-US" sz="1800" b="1">
                <a:solidFill>
                  <a:srgbClr val="FF66FF"/>
                </a:solidFill>
              </a:endParaRPr>
            </a:p>
          </p:txBody>
        </p:sp>
        <p:sp>
          <p:nvSpPr>
            <p:cNvPr id="19466" name="Rectangle 15"/>
            <p:cNvSpPr>
              <a:spLocks noChangeArrowheads="1"/>
            </p:cNvSpPr>
            <p:nvPr/>
          </p:nvSpPr>
          <p:spPr bwMode="auto">
            <a:xfrm>
              <a:off x="3696" y="3600"/>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66FF"/>
                  </a:solidFill>
                </a:rPr>
                <a:t>F</a:t>
              </a:r>
              <a:r>
                <a:rPr lang="en-US" altLang="en-US" sz="1800" b="1" baseline="-25000">
                  <a:solidFill>
                    <a:srgbClr val="FF66FF"/>
                  </a:solidFill>
                </a:rPr>
                <a:t>v</a:t>
              </a:r>
              <a:endParaRPr lang="el-GR" altLang="en-US" sz="1800" baseline="-25000">
                <a:solidFill>
                  <a:srgbClr val="FF66FF"/>
                </a:solidFill>
              </a:endParaRPr>
            </a:p>
          </p:txBody>
        </p:sp>
        <p:sp>
          <p:nvSpPr>
            <p:cNvPr id="19467" name="Line 17"/>
            <p:cNvSpPr>
              <a:spLocks noChangeShapeType="1"/>
            </p:cNvSpPr>
            <p:nvPr/>
          </p:nvSpPr>
          <p:spPr bwMode="auto">
            <a:xfrm>
              <a:off x="3696" y="3859"/>
              <a:ext cx="240" cy="9"/>
            </a:xfrm>
            <a:prstGeom prst="line">
              <a:avLst/>
            </a:prstGeom>
            <a:noFill/>
            <a:ln w="19050">
              <a:solidFill>
                <a:srgbClr val="FF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9468" name="Rectangle 18"/>
            <p:cNvSpPr>
              <a:spLocks noChangeArrowheads="1"/>
            </p:cNvSpPr>
            <p:nvPr/>
          </p:nvSpPr>
          <p:spPr bwMode="auto">
            <a:xfrm>
              <a:off x="3696" y="3867"/>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66FF"/>
                  </a:solidFill>
                </a:rPr>
                <a:t>F</a:t>
              </a:r>
              <a:r>
                <a:rPr lang="en-US" altLang="en-US" sz="1800" b="1" baseline="-25000">
                  <a:solidFill>
                    <a:srgbClr val="FF66FF"/>
                  </a:solidFill>
                </a:rPr>
                <a:t>m</a:t>
              </a:r>
              <a:endParaRPr lang="el-GR" altLang="en-US" sz="1800" baseline="-25000">
                <a:solidFill>
                  <a:srgbClr val="FF66FF"/>
                </a:solidFill>
              </a:endParaRPr>
            </a:p>
          </p:txBody>
        </p:sp>
      </p:grpSp>
      <p:sp>
        <p:nvSpPr>
          <p:cNvPr id="21524" name="Text Box 20"/>
          <p:cNvSpPr txBox="1">
            <a:spLocks noChangeArrowheads="1"/>
          </p:cNvSpPr>
          <p:nvPr/>
        </p:nvSpPr>
        <p:spPr bwMode="auto">
          <a:xfrm>
            <a:off x="2667000" y="6172201"/>
            <a:ext cx="3657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Dielectric constant has no unit.</a:t>
            </a:r>
          </a:p>
        </p:txBody>
      </p:sp>
    </p:spTree>
    <p:extLst>
      <p:ext uri="{BB962C8B-B14F-4D97-AF65-F5344CB8AC3E}">
        <p14:creationId xmlns:p14="http://schemas.microsoft.com/office/powerpoint/2010/main" val="2316445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Effect transition="in" filter="wipe(up)">
                                      <p:cBhvr>
                                        <p:cTn id="7" dur="500"/>
                                        <p:tgtEl>
                                          <p:spTgt spid="215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1508">
                                            <p:txEl>
                                              <p:pRg st="2" end="2"/>
                                            </p:txEl>
                                          </p:spTgt>
                                        </p:tgtEl>
                                        <p:attrNameLst>
                                          <p:attrName>style.visibility</p:attrName>
                                        </p:attrNameLst>
                                      </p:cBhvr>
                                      <p:to>
                                        <p:strVal val="visible"/>
                                      </p:to>
                                    </p:set>
                                    <p:animEffect transition="in" filter="wipe(up)">
                                      <p:cBhvr>
                                        <p:cTn id="12" dur="500"/>
                                        <p:tgtEl>
                                          <p:spTgt spid="2150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1508">
                                            <p:txEl>
                                              <p:pRg st="4" end="4"/>
                                            </p:txEl>
                                          </p:spTgt>
                                        </p:tgtEl>
                                        <p:attrNameLst>
                                          <p:attrName>style.visibility</p:attrName>
                                        </p:attrNameLst>
                                      </p:cBhvr>
                                      <p:to>
                                        <p:strVal val="visible"/>
                                      </p:to>
                                    </p:set>
                                    <p:animEffect transition="in" filter="wipe(up)">
                                      <p:cBhvr>
                                        <p:cTn id="17" dur="500"/>
                                        <p:tgtEl>
                                          <p:spTgt spid="21508">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1508">
                                            <p:txEl>
                                              <p:pRg st="6" end="6"/>
                                            </p:txEl>
                                          </p:spTgt>
                                        </p:tgtEl>
                                        <p:attrNameLst>
                                          <p:attrName>style.visibility</p:attrName>
                                        </p:attrNameLst>
                                      </p:cBhvr>
                                      <p:to>
                                        <p:strVal val="visible"/>
                                      </p:to>
                                    </p:set>
                                    <p:animEffect transition="in" filter="wipe(up)">
                                      <p:cBhvr>
                                        <p:cTn id="22" dur="500"/>
                                        <p:tgtEl>
                                          <p:spTgt spid="21508">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1509"/>
                                        </p:tgtEl>
                                        <p:attrNameLst>
                                          <p:attrName>style.visibility</p:attrName>
                                        </p:attrNameLst>
                                      </p:cBhvr>
                                      <p:to>
                                        <p:strVal val="visible"/>
                                      </p:to>
                                    </p:set>
                                    <p:animEffect transition="in" filter="wipe(up)">
                                      <p:cBhvr>
                                        <p:cTn id="27" dur="500"/>
                                        <p:tgtEl>
                                          <p:spTgt spid="215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1510"/>
                                        </p:tgtEl>
                                        <p:attrNameLst>
                                          <p:attrName>style.visibility</p:attrName>
                                        </p:attrNameLst>
                                      </p:cBhvr>
                                      <p:to>
                                        <p:strVal val="visible"/>
                                      </p:to>
                                    </p:set>
                                    <p:animEffect transition="in" filter="wipe(up)">
                                      <p:cBhvr>
                                        <p:cTn id="32" dur="500"/>
                                        <p:tgtEl>
                                          <p:spTgt spid="215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1525"/>
                                        </p:tgtEl>
                                        <p:attrNameLst>
                                          <p:attrName>style.visibility</p:attrName>
                                        </p:attrNameLst>
                                      </p:cBhvr>
                                      <p:to>
                                        <p:strVal val="visible"/>
                                      </p:to>
                                    </p:set>
                                    <p:animEffect transition="in" filter="wipe(up)">
                                      <p:cBhvr>
                                        <p:cTn id="37" dur="500"/>
                                        <p:tgtEl>
                                          <p:spTgt spid="215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1516"/>
                                        </p:tgtEl>
                                        <p:attrNameLst>
                                          <p:attrName>style.visibility</p:attrName>
                                        </p:attrNameLst>
                                      </p:cBhvr>
                                      <p:to>
                                        <p:strVal val="visible"/>
                                      </p:to>
                                    </p:set>
                                    <p:animEffect transition="in" filter="wipe(up)">
                                      <p:cBhvr>
                                        <p:cTn id="42" dur="500"/>
                                        <p:tgtEl>
                                          <p:spTgt spid="215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21526"/>
                                        </p:tgtEl>
                                        <p:attrNameLst>
                                          <p:attrName>style.visibility</p:attrName>
                                        </p:attrNameLst>
                                      </p:cBhvr>
                                      <p:to>
                                        <p:strVal val="visible"/>
                                      </p:to>
                                    </p:set>
                                    <p:animEffect transition="in" filter="wipe(up)">
                                      <p:cBhvr>
                                        <p:cTn id="47" dur="500"/>
                                        <p:tgtEl>
                                          <p:spTgt spid="215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1524"/>
                                        </p:tgtEl>
                                        <p:attrNameLst>
                                          <p:attrName>style.visibility</p:attrName>
                                        </p:attrNameLst>
                                      </p:cBhvr>
                                      <p:to>
                                        <p:strVal val="visible"/>
                                      </p:to>
                                    </p:set>
                                    <p:animEffect transition="in" filter="wipe(up)">
                                      <p:cBhvr>
                                        <p:cTn id="52" dur="500"/>
                                        <p:tgtEl>
                                          <p:spTgt spid="21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p:bldP spid="21510" grpId="0"/>
      <p:bldP spid="21516" grpId="0"/>
      <p:bldP spid="215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Text Box 4"/>
          <p:cNvSpPr txBox="1">
            <a:spLocks noChangeArrowheads="1"/>
          </p:cNvSpPr>
          <p:nvPr/>
        </p:nvSpPr>
        <p:spPr bwMode="auto">
          <a:xfrm>
            <a:off x="1676400" y="0"/>
            <a:ext cx="2057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CC99"/>
                </a:solidFill>
              </a:rPr>
              <a:t>Electric Field:</a:t>
            </a:r>
          </a:p>
        </p:txBody>
      </p:sp>
      <p:sp>
        <p:nvSpPr>
          <p:cNvPr id="64517" name="Text Box 5"/>
          <p:cNvSpPr txBox="1">
            <a:spLocks noChangeArrowheads="1"/>
          </p:cNvSpPr>
          <p:nvPr/>
        </p:nvSpPr>
        <p:spPr bwMode="auto">
          <a:xfrm>
            <a:off x="1676400" y="381000"/>
            <a:ext cx="8839200"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Electric field is a region of space around a charge or a system of charges within which other charged particles experience electrostatic forces.</a:t>
            </a:r>
          </a:p>
          <a:p>
            <a:pPr fontAlgn="base">
              <a:spcBef>
                <a:spcPct val="50000"/>
              </a:spcBef>
              <a:spcAft>
                <a:spcPct val="0"/>
              </a:spcAft>
              <a:buNone/>
            </a:pPr>
            <a:r>
              <a:rPr lang="en-US" altLang="en-US" sz="1800" b="1">
                <a:solidFill>
                  <a:srgbClr val="CCFF33"/>
                </a:solidFill>
              </a:rPr>
              <a:t>Theoretically, electric field extends upto infinity but practically it is limited to a certain distance.</a:t>
            </a:r>
            <a:endParaRPr lang="en-US" altLang="en-US" sz="1800">
              <a:solidFill>
                <a:srgbClr val="CCFF33"/>
              </a:solidFill>
            </a:endParaRPr>
          </a:p>
        </p:txBody>
      </p:sp>
      <p:sp>
        <p:nvSpPr>
          <p:cNvPr id="64518" name="Text Box 6"/>
          <p:cNvSpPr txBox="1">
            <a:spLocks noChangeArrowheads="1"/>
          </p:cNvSpPr>
          <p:nvPr/>
        </p:nvSpPr>
        <p:spPr bwMode="auto">
          <a:xfrm>
            <a:off x="1676400" y="1676400"/>
            <a:ext cx="8915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66FFFF"/>
                </a:solidFill>
              </a:rPr>
              <a:t>Electric Field Strength or Electric Field Intensity or Electric Field:</a:t>
            </a:r>
          </a:p>
        </p:txBody>
      </p:sp>
      <p:sp>
        <p:nvSpPr>
          <p:cNvPr id="64519" name="Text Box 7"/>
          <p:cNvSpPr txBox="1">
            <a:spLocks noChangeArrowheads="1"/>
          </p:cNvSpPr>
          <p:nvPr/>
        </p:nvSpPr>
        <p:spPr bwMode="auto">
          <a:xfrm>
            <a:off x="1676400" y="2057400"/>
            <a:ext cx="88392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66CC"/>
                </a:solidFill>
              </a:rPr>
              <a:t>Electric field strength at a point in an electric field is the electrostatic force per unit positive charge acting on a vanishingly small positive test charge placed at that point.</a:t>
            </a:r>
            <a:endParaRPr lang="en-US" altLang="en-US" sz="1800">
              <a:solidFill>
                <a:srgbClr val="FF66CC"/>
              </a:solidFill>
            </a:endParaRPr>
          </a:p>
        </p:txBody>
      </p:sp>
      <p:grpSp>
        <p:nvGrpSpPr>
          <p:cNvPr id="64520" name="Group 8"/>
          <p:cNvGrpSpPr>
            <a:grpSpLocks/>
          </p:cNvGrpSpPr>
          <p:nvPr/>
        </p:nvGrpSpPr>
        <p:grpSpPr bwMode="auto">
          <a:xfrm>
            <a:off x="2057400" y="4800600"/>
            <a:ext cx="1905000" cy="762000"/>
            <a:chOff x="2352" y="2496"/>
            <a:chExt cx="1200" cy="480"/>
          </a:xfrm>
        </p:grpSpPr>
        <p:grpSp>
          <p:nvGrpSpPr>
            <p:cNvPr id="5170" name="Group 9"/>
            <p:cNvGrpSpPr>
              <a:grpSpLocks/>
            </p:cNvGrpSpPr>
            <p:nvPr/>
          </p:nvGrpSpPr>
          <p:grpSpPr bwMode="auto">
            <a:xfrm>
              <a:off x="2352" y="2592"/>
              <a:ext cx="384" cy="231"/>
              <a:chOff x="2448" y="1968"/>
              <a:chExt cx="384" cy="231"/>
            </a:xfrm>
          </p:grpSpPr>
          <p:sp>
            <p:nvSpPr>
              <p:cNvPr id="5177" name="Text Box 10"/>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r>
                  <a:rPr lang="en-US" altLang="en-US" sz="1800" b="1" baseline="-25000">
                    <a:solidFill>
                      <a:srgbClr val="FF99FF"/>
                    </a:solidFill>
                  </a:rPr>
                  <a:t>  </a:t>
                </a:r>
                <a:r>
                  <a:rPr lang="en-US" altLang="en-US" sz="1800" b="1">
                    <a:solidFill>
                      <a:srgbClr val="FF99FF"/>
                    </a:solidFill>
                  </a:rPr>
                  <a:t>=</a:t>
                </a:r>
                <a:r>
                  <a:rPr lang="en-US" altLang="en-US" sz="1800" b="1" baseline="-25000">
                    <a:solidFill>
                      <a:srgbClr val="FF99FF"/>
                    </a:solidFill>
                  </a:rPr>
                  <a:t> </a:t>
                </a:r>
              </a:p>
            </p:txBody>
          </p:sp>
          <p:sp>
            <p:nvSpPr>
              <p:cNvPr id="5178" name="Line 11"/>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5171" name="Rectangle 12"/>
            <p:cNvSpPr>
              <a:spLocks noChangeArrowheads="1"/>
            </p:cNvSpPr>
            <p:nvPr/>
          </p:nvSpPr>
          <p:spPr bwMode="auto">
            <a:xfrm>
              <a:off x="3260" y="2745"/>
              <a:ext cx="2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cs typeface="Arial" panose="020B0604020202020204" pitchFamily="34" charset="0"/>
                </a:rPr>
                <a:t>∆</a:t>
              </a:r>
              <a:r>
                <a:rPr lang="en-US" altLang="en-US" sz="1800" b="1">
                  <a:solidFill>
                    <a:srgbClr val="FF9900"/>
                  </a:solidFill>
                </a:rPr>
                <a:t>q</a:t>
              </a:r>
              <a:endParaRPr lang="el-GR" altLang="en-US" sz="1800" b="1" baseline="-25000">
                <a:solidFill>
                  <a:srgbClr val="FF9900"/>
                </a:solidFill>
              </a:endParaRPr>
            </a:p>
          </p:txBody>
        </p:sp>
        <p:sp>
          <p:nvSpPr>
            <p:cNvPr id="5172" name="Text Box 13"/>
            <p:cNvSpPr txBox="1">
              <a:spLocks noChangeArrowheads="1"/>
            </p:cNvSpPr>
            <p:nvPr/>
          </p:nvSpPr>
          <p:spPr bwMode="auto">
            <a:xfrm>
              <a:off x="3308" y="2496"/>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FF"/>
                  </a:solidFill>
                </a:rPr>
                <a:t>F</a:t>
              </a:r>
              <a:endParaRPr lang="en-US" altLang="en-US" sz="1800" b="1" baseline="-25000">
                <a:solidFill>
                  <a:srgbClr val="66FFFF"/>
                </a:solidFill>
              </a:endParaRPr>
            </a:p>
          </p:txBody>
        </p:sp>
        <p:sp>
          <p:nvSpPr>
            <p:cNvPr id="5173" name="Line 14"/>
            <p:cNvSpPr>
              <a:spLocks noChangeShapeType="1"/>
            </p:cNvSpPr>
            <p:nvPr/>
          </p:nvSpPr>
          <p:spPr bwMode="auto">
            <a:xfrm>
              <a:off x="3356" y="249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5174" name="Text Box 15"/>
            <p:cNvSpPr txBox="1">
              <a:spLocks noChangeArrowheads="1"/>
            </p:cNvSpPr>
            <p:nvPr/>
          </p:nvSpPr>
          <p:spPr bwMode="auto">
            <a:xfrm>
              <a:off x="2832" y="254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Lt</a:t>
              </a:r>
            </a:p>
          </p:txBody>
        </p:sp>
        <p:sp>
          <p:nvSpPr>
            <p:cNvPr id="5175" name="Text Box 16"/>
            <p:cNvSpPr txBox="1">
              <a:spLocks noChangeArrowheads="1"/>
            </p:cNvSpPr>
            <p:nvPr/>
          </p:nvSpPr>
          <p:spPr bwMode="auto">
            <a:xfrm>
              <a:off x="2640" y="2697"/>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cs typeface="Arial" panose="020B0604020202020204" pitchFamily="34" charset="0"/>
                </a:rPr>
                <a:t>∆q → 0</a:t>
              </a:r>
            </a:p>
          </p:txBody>
        </p:sp>
        <p:sp>
          <p:nvSpPr>
            <p:cNvPr id="5176" name="Line 17"/>
            <p:cNvSpPr>
              <a:spLocks noChangeShapeType="1"/>
            </p:cNvSpPr>
            <p:nvPr/>
          </p:nvSpPr>
          <p:spPr bwMode="auto">
            <a:xfrm>
              <a:off x="3264" y="2736"/>
              <a:ext cx="240" cy="0"/>
            </a:xfrm>
            <a:prstGeom prst="line">
              <a:avLst/>
            </a:prstGeom>
            <a:noFill/>
            <a:ln w="19050">
              <a:solidFill>
                <a:srgbClr val="CC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64572" name="Group 60"/>
          <p:cNvGrpSpPr>
            <a:grpSpLocks/>
          </p:cNvGrpSpPr>
          <p:nvPr/>
        </p:nvGrpSpPr>
        <p:grpSpPr bwMode="auto">
          <a:xfrm>
            <a:off x="5181600" y="4800600"/>
            <a:ext cx="1023938" cy="685800"/>
            <a:chOff x="2304" y="3003"/>
            <a:chExt cx="645" cy="432"/>
          </a:xfrm>
        </p:grpSpPr>
        <p:sp>
          <p:nvSpPr>
            <p:cNvPr id="5164" name="Rectangle 19"/>
            <p:cNvSpPr>
              <a:spLocks noChangeArrowheads="1"/>
            </p:cNvSpPr>
            <p:nvPr/>
          </p:nvSpPr>
          <p:spPr bwMode="auto">
            <a:xfrm>
              <a:off x="2692" y="3204"/>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q</a:t>
              </a:r>
              <a:r>
                <a:rPr lang="en-US" altLang="en-US" sz="1800" b="1" baseline="-25000">
                  <a:solidFill>
                    <a:srgbClr val="FF9900"/>
                  </a:solidFill>
                </a:rPr>
                <a:t>0</a:t>
              </a:r>
              <a:endParaRPr lang="el-GR" altLang="en-US" sz="1800" b="1" baseline="-25000">
                <a:solidFill>
                  <a:srgbClr val="FF9900"/>
                </a:solidFill>
              </a:endParaRPr>
            </a:p>
          </p:txBody>
        </p:sp>
        <p:sp>
          <p:nvSpPr>
            <p:cNvPr id="5165" name="Text Box 20"/>
            <p:cNvSpPr txBox="1">
              <a:spLocks noChangeArrowheads="1"/>
            </p:cNvSpPr>
            <p:nvPr/>
          </p:nvSpPr>
          <p:spPr bwMode="auto">
            <a:xfrm>
              <a:off x="2709" y="3003"/>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FF"/>
                  </a:solidFill>
                </a:rPr>
                <a:t>F</a:t>
              </a:r>
              <a:endParaRPr lang="en-US" altLang="en-US" sz="1800" b="1" baseline="-25000">
                <a:solidFill>
                  <a:srgbClr val="66FFFF"/>
                </a:solidFill>
              </a:endParaRPr>
            </a:p>
          </p:txBody>
        </p:sp>
        <p:sp>
          <p:nvSpPr>
            <p:cNvPr id="5166" name="Text Box 21"/>
            <p:cNvSpPr txBox="1">
              <a:spLocks noChangeArrowheads="1"/>
            </p:cNvSpPr>
            <p:nvPr/>
          </p:nvSpPr>
          <p:spPr bwMode="auto">
            <a:xfrm>
              <a:off x="2304" y="312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r>
                <a:rPr lang="en-US" altLang="en-US" sz="1800" b="1" baseline="-25000">
                  <a:solidFill>
                    <a:srgbClr val="FF99FF"/>
                  </a:solidFill>
                </a:rPr>
                <a:t>  </a:t>
              </a:r>
              <a:r>
                <a:rPr lang="en-US" altLang="en-US" sz="1800" b="1">
                  <a:solidFill>
                    <a:srgbClr val="FF99FF"/>
                  </a:solidFill>
                </a:rPr>
                <a:t>=</a:t>
              </a:r>
              <a:r>
                <a:rPr lang="en-US" altLang="en-US" sz="1800" b="1" baseline="-25000">
                  <a:solidFill>
                    <a:srgbClr val="FF99FF"/>
                  </a:solidFill>
                </a:rPr>
                <a:t> </a:t>
              </a:r>
            </a:p>
          </p:txBody>
        </p:sp>
        <p:sp>
          <p:nvSpPr>
            <p:cNvPr id="5167" name="Line 22"/>
            <p:cNvSpPr>
              <a:spLocks noChangeShapeType="1"/>
            </p:cNvSpPr>
            <p:nvPr/>
          </p:nvSpPr>
          <p:spPr bwMode="auto">
            <a:xfrm>
              <a:off x="2352" y="3120"/>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5168" name="Line 23"/>
            <p:cNvSpPr>
              <a:spLocks noChangeShapeType="1"/>
            </p:cNvSpPr>
            <p:nvPr/>
          </p:nvSpPr>
          <p:spPr bwMode="auto">
            <a:xfrm>
              <a:off x="2757" y="3003"/>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5169" name="Line 24"/>
            <p:cNvSpPr>
              <a:spLocks noChangeShapeType="1"/>
            </p:cNvSpPr>
            <p:nvPr/>
          </p:nvSpPr>
          <p:spPr bwMode="auto">
            <a:xfrm>
              <a:off x="2661" y="3243"/>
              <a:ext cx="240" cy="0"/>
            </a:xfrm>
            <a:prstGeom prst="line">
              <a:avLst/>
            </a:prstGeom>
            <a:noFill/>
            <a:ln w="19050">
              <a:solidFill>
                <a:srgbClr val="CC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64537" name="Text Box 25"/>
          <p:cNvSpPr txBox="1">
            <a:spLocks noChangeArrowheads="1"/>
          </p:cNvSpPr>
          <p:nvPr/>
        </p:nvSpPr>
        <p:spPr bwMode="auto">
          <a:xfrm>
            <a:off x="1676400" y="5637214"/>
            <a:ext cx="88392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CC"/>
                </a:solidFill>
              </a:rPr>
              <a:t>The test charge is considered to be </a:t>
            </a:r>
            <a:r>
              <a:rPr lang="en-US" altLang="en-US" sz="1800" b="1">
                <a:solidFill>
                  <a:srgbClr val="CCCCFF"/>
                </a:solidFill>
              </a:rPr>
              <a:t>vanishingly small</a:t>
            </a:r>
            <a:r>
              <a:rPr lang="en-US" altLang="en-US" sz="1800" b="1">
                <a:solidFill>
                  <a:srgbClr val="99FFCC"/>
                </a:solidFill>
              </a:rPr>
              <a:t> because its presence should not alter the configuration of the charge(s) and thus the electric field which is intended to be measured.</a:t>
            </a:r>
          </a:p>
        </p:txBody>
      </p:sp>
      <p:sp>
        <p:nvSpPr>
          <p:cNvPr id="64538" name="Text Box 26"/>
          <p:cNvSpPr txBox="1">
            <a:spLocks noChangeArrowheads="1"/>
          </p:cNvSpPr>
          <p:nvPr/>
        </p:nvSpPr>
        <p:spPr bwMode="auto">
          <a:xfrm>
            <a:off x="4419600" y="4967288"/>
            <a:ext cx="457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66"/>
                </a:solidFill>
              </a:rPr>
              <a:t>or</a:t>
            </a:r>
          </a:p>
        </p:txBody>
      </p:sp>
      <p:sp>
        <p:nvSpPr>
          <p:cNvPr id="64539" name="Text Box 27"/>
          <p:cNvSpPr txBox="1">
            <a:spLocks noChangeArrowheads="1"/>
          </p:cNvSpPr>
          <p:nvPr/>
        </p:nvSpPr>
        <p:spPr bwMode="auto">
          <a:xfrm>
            <a:off x="67056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66"/>
                </a:solidFill>
              </a:rPr>
              <a:t>or</a:t>
            </a:r>
          </a:p>
        </p:txBody>
      </p:sp>
      <p:grpSp>
        <p:nvGrpSpPr>
          <p:cNvPr id="64575" name="Group 63"/>
          <p:cNvGrpSpPr>
            <a:grpSpLocks/>
          </p:cNvGrpSpPr>
          <p:nvPr/>
        </p:nvGrpSpPr>
        <p:grpSpPr bwMode="auto">
          <a:xfrm>
            <a:off x="7653338" y="4619626"/>
            <a:ext cx="1871662" cy="823913"/>
            <a:chOff x="3747" y="2910"/>
            <a:chExt cx="1179" cy="519"/>
          </a:xfrm>
        </p:grpSpPr>
        <p:sp>
          <p:nvSpPr>
            <p:cNvPr id="5153" name="Rectangle 29"/>
            <p:cNvSpPr>
              <a:spLocks noChangeArrowheads="1"/>
            </p:cNvSpPr>
            <p:nvPr/>
          </p:nvSpPr>
          <p:spPr bwMode="auto">
            <a:xfrm>
              <a:off x="4494" y="291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q</a:t>
              </a:r>
              <a:endParaRPr lang="en-US" altLang="en-US" sz="1800">
                <a:solidFill>
                  <a:srgbClr val="66FF33"/>
                </a:solidFill>
              </a:endParaRPr>
            </a:p>
          </p:txBody>
        </p:sp>
        <p:sp>
          <p:nvSpPr>
            <p:cNvPr id="5154" name="Rectangle 30"/>
            <p:cNvSpPr>
              <a:spLocks noChangeArrowheads="1"/>
            </p:cNvSpPr>
            <p:nvPr/>
          </p:nvSpPr>
          <p:spPr bwMode="auto">
            <a:xfrm>
              <a:off x="4542" y="3189"/>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r</a:t>
              </a:r>
              <a:r>
                <a:rPr lang="en-US" altLang="en-US" sz="1800" b="1" baseline="30000">
                  <a:solidFill>
                    <a:srgbClr val="FF9900"/>
                  </a:solidFill>
                </a:rPr>
                <a:t>2</a:t>
              </a:r>
              <a:endParaRPr lang="el-GR" altLang="en-US" sz="1800" b="1" baseline="30000">
                <a:solidFill>
                  <a:srgbClr val="FF9900"/>
                </a:solidFill>
              </a:endParaRPr>
            </a:p>
          </p:txBody>
        </p:sp>
        <p:sp>
          <p:nvSpPr>
            <p:cNvPr id="5155" name="Rectangle 31"/>
            <p:cNvSpPr>
              <a:spLocks noChangeArrowheads="1"/>
            </p:cNvSpPr>
            <p:nvPr/>
          </p:nvSpPr>
          <p:spPr bwMode="auto">
            <a:xfrm>
              <a:off x="4176" y="2967"/>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1</a:t>
              </a:r>
              <a:endParaRPr lang="en-US" altLang="en-US" sz="1800">
                <a:solidFill>
                  <a:srgbClr val="FFFFCC"/>
                </a:solidFill>
              </a:endParaRPr>
            </a:p>
          </p:txBody>
        </p:sp>
        <p:sp>
          <p:nvSpPr>
            <p:cNvPr id="5156" name="Rectangle 32"/>
            <p:cNvSpPr>
              <a:spLocks noChangeArrowheads="1"/>
            </p:cNvSpPr>
            <p:nvPr/>
          </p:nvSpPr>
          <p:spPr bwMode="auto">
            <a:xfrm>
              <a:off x="4085" y="3198"/>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4</a:t>
              </a:r>
              <a:r>
                <a:rPr lang="el-GR" altLang="en-US" sz="1800" b="1">
                  <a:solidFill>
                    <a:srgbClr val="FFFFCC"/>
                  </a:solidFill>
                  <a:cs typeface="Arial" panose="020B0604020202020204" pitchFamily="34" charset="0"/>
                </a:rPr>
                <a:t>πε</a:t>
              </a:r>
              <a:r>
                <a:rPr lang="en-US" altLang="en-US" sz="1800" b="1" baseline="-25000">
                  <a:solidFill>
                    <a:srgbClr val="FFFFCC"/>
                  </a:solidFill>
                  <a:cs typeface="Arial" panose="020B0604020202020204" pitchFamily="34" charset="0"/>
                </a:rPr>
                <a:t>0</a:t>
              </a:r>
              <a:endParaRPr lang="el-GR" altLang="en-US" sz="1800" b="1" baseline="-25000">
                <a:solidFill>
                  <a:srgbClr val="FFFFCC"/>
                </a:solidFill>
                <a:cs typeface="Arial" panose="020B0604020202020204" pitchFamily="34" charset="0"/>
              </a:endParaRPr>
            </a:p>
          </p:txBody>
        </p:sp>
        <p:sp>
          <p:nvSpPr>
            <p:cNvPr id="5157" name="Line 33"/>
            <p:cNvSpPr>
              <a:spLocks noChangeShapeType="1"/>
            </p:cNvSpPr>
            <p:nvPr/>
          </p:nvSpPr>
          <p:spPr bwMode="auto">
            <a:xfrm>
              <a:off x="4080" y="3207"/>
              <a:ext cx="384"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5158" name="Text Box 34"/>
            <p:cNvSpPr txBox="1">
              <a:spLocks noChangeArrowheads="1"/>
            </p:cNvSpPr>
            <p:nvPr/>
          </p:nvSpPr>
          <p:spPr bwMode="auto">
            <a:xfrm>
              <a:off x="3747" y="3081"/>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r>
                <a:rPr lang="en-US" altLang="en-US" sz="1800" b="1" baseline="-25000">
                  <a:solidFill>
                    <a:srgbClr val="FF99FF"/>
                  </a:solidFill>
                </a:rPr>
                <a:t>  </a:t>
              </a:r>
              <a:r>
                <a:rPr lang="en-US" altLang="en-US" sz="1800" b="1">
                  <a:solidFill>
                    <a:srgbClr val="FF99FF"/>
                  </a:solidFill>
                </a:rPr>
                <a:t>=</a:t>
              </a:r>
              <a:r>
                <a:rPr lang="en-US" altLang="en-US" sz="1800" b="1" baseline="-25000">
                  <a:solidFill>
                    <a:srgbClr val="FF99FF"/>
                  </a:solidFill>
                </a:rPr>
                <a:t> </a:t>
              </a:r>
            </a:p>
          </p:txBody>
        </p:sp>
        <p:grpSp>
          <p:nvGrpSpPr>
            <p:cNvPr id="5159" name="Group 35"/>
            <p:cNvGrpSpPr>
              <a:grpSpLocks/>
            </p:cNvGrpSpPr>
            <p:nvPr/>
          </p:nvGrpSpPr>
          <p:grpSpPr bwMode="auto">
            <a:xfrm>
              <a:off x="4734" y="3006"/>
              <a:ext cx="192" cy="261"/>
              <a:chOff x="5136" y="1920"/>
              <a:chExt cx="192" cy="261"/>
            </a:xfrm>
          </p:grpSpPr>
          <p:sp>
            <p:nvSpPr>
              <p:cNvPr id="5162" name="Text Box 36"/>
              <p:cNvSpPr txBox="1">
                <a:spLocks noChangeArrowheads="1"/>
              </p:cNvSpPr>
              <p:nvPr/>
            </p:nvSpPr>
            <p:spPr bwMode="auto">
              <a:xfrm>
                <a:off x="5136" y="1950"/>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FF"/>
                    </a:solidFill>
                  </a:rPr>
                  <a:t>r</a:t>
                </a:r>
                <a:endParaRPr lang="en-US" altLang="en-US" sz="1800" b="1" baseline="-25000">
                  <a:solidFill>
                    <a:srgbClr val="66FFFF"/>
                  </a:solidFill>
                </a:endParaRPr>
              </a:p>
            </p:txBody>
          </p:sp>
          <p:sp>
            <p:nvSpPr>
              <p:cNvPr id="5163" name="Line 37"/>
              <p:cNvSpPr>
                <a:spLocks noChangeShapeType="1"/>
              </p:cNvSpPr>
              <p:nvPr/>
            </p:nvSpPr>
            <p:spPr bwMode="auto">
              <a:xfrm rot="5400000" flipH="1" flipV="1">
                <a:off x="5208" y="1944"/>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5160" name="Line 38"/>
            <p:cNvSpPr>
              <a:spLocks noChangeShapeType="1"/>
            </p:cNvSpPr>
            <p:nvPr/>
          </p:nvSpPr>
          <p:spPr bwMode="auto">
            <a:xfrm>
              <a:off x="4542" y="3198"/>
              <a:ext cx="192" cy="0"/>
            </a:xfrm>
            <a:prstGeom prst="line">
              <a:avLst/>
            </a:prstGeom>
            <a:noFill/>
            <a:ln w="19050">
              <a:solidFill>
                <a:srgbClr val="CC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5161" name="Line 39"/>
            <p:cNvSpPr>
              <a:spLocks noChangeShapeType="1"/>
            </p:cNvSpPr>
            <p:nvPr/>
          </p:nvSpPr>
          <p:spPr bwMode="auto">
            <a:xfrm>
              <a:off x="3795" y="3081"/>
              <a:ext cx="144" cy="0"/>
            </a:xfrm>
            <a:prstGeom prst="line">
              <a:avLst/>
            </a:prstGeom>
            <a:noFill/>
            <a:ln w="12700">
              <a:solidFill>
                <a:srgbClr val="CC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64552" name="Oval 40"/>
          <p:cNvSpPr>
            <a:spLocks noChangeArrowheads="1"/>
          </p:cNvSpPr>
          <p:nvPr/>
        </p:nvSpPr>
        <p:spPr bwMode="auto">
          <a:xfrm flipH="1" flipV="1">
            <a:off x="7086600" y="3429000"/>
            <a:ext cx="152400" cy="152400"/>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64553" name="Oval 41"/>
          <p:cNvSpPr>
            <a:spLocks noChangeArrowheads="1"/>
          </p:cNvSpPr>
          <p:nvPr/>
        </p:nvSpPr>
        <p:spPr bwMode="auto">
          <a:xfrm>
            <a:off x="3505200" y="3429000"/>
            <a:ext cx="152400" cy="152400"/>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64554" name="Line 42"/>
          <p:cNvSpPr>
            <a:spLocks noChangeShapeType="1"/>
          </p:cNvSpPr>
          <p:nvPr/>
        </p:nvSpPr>
        <p:spPr bwMode="auto">
          <a:xfrm>
            <a:off x="3657600" y="3505200"/>
            <a:ext cx="1828800" cy="0"/>
          </a:xfrm>
          <a:prstGeom prst="line">
            <a:avLst/>
          </a:prstGeom>
          <a:noFill/>
          <a:ln w="2857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64555" name="Line 43"/>
          <p:cNvSpPr>
            <a:spLocks noChangeShapeType="1"/>
          </p:cNvSpPr>
          <p:nvPr/>
        </p:nvSpPr>
        <p:spPr bwMode="auto">
          <a:xfrm>
            <a:off x="7239000" y="3505200"/>
            <a:ext cx="1828800" cy="0"/>
          </a:xfrm>
          <a:prstGeom prst="line">
            <a:avLst/>
          </a:prstGeom>
          <a:noFill/>
          <a:ln w="2857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64556" name="Oval 44"/>
          <p:cNvSpPr>
            <a:spLocks noChangeArrowheads="1"/>
          </p:cNvSpPr>
          <p:nvPr/>
        </p:nvSpPr>
        <p:spPr bwMode="auto">
          <a:xfrm>
            <a:off x="5410200" y="3471863"/>
            <a:ext cx="76200" cy="76200"/>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64557" name="Oval 45"/>
          <p:cNvSpPr>
            <a:spLocks noChangeArrowheads="1"/>
          </p:cNvSpPr>
          <p:nvPr/>
        </p:nvSpPr>
        <p:spPr bwMode="auto">
          <a:xfrm>
            <a:off x="8991600" y="3457575"/>
            <a:ext cx="76200" cy="76200"/>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64558" name="Line 46"/>
          <p:cNvSpPr>
            <a:spLocks noChangeShapeType="1"/>
          </p:cNvSpPr>
          <p:nvPr/>
        </p:nvSpPr>
        <p:spPr bwMode="auto">
          <a:xfrm>
            <a:off x="5486400" y="3505200"/>
            <a:ext cx="609600" cy="0"/>
          </a:xfrm>
          <a:prstGeom prst="line">
            <a:avLst/>
          </a:prstGeom>
          <a:noFill/>
          <a:ln w="38100">
            <a:solidFill>
              <a:srgbClr val="99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64559" name="Line 47"/>
          <p:cNvSpPr>
            <a:spLocks noChangeShapeType="1"/>
          </p:cNvSpPr>
          <p:nvPr/>
        </p:nvSpPr>
        <p:spPr bwMode="auto">
          <a:xfrm flipH="1">
            <a:off x="8382000" y="3505200"/>
            <a:ext cx="609600" cy="0"/>
          </a:xfrm>
          <a:prstGeom prst="line">
            <a:avLst/>
          </a:prstGeom>
          <a:noFill/>
          <a:ln w="38100">
            <a:solidFill>
              <a:srgbClr val="99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64560" name="Rectangle 48"/>
          <p:cNvSpPr>
            <a:spLocks noChangeArrowheads="1"/>
          </p:cNvSpPr>
          <p:nvPr/>
        </p:nvSpPr>
        <p:spPr bwMode="auto">
          <a:xfrm>
            <a:off x="5334000" y="3048001"/>
            <a:ext cx="604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 q</a:t>
            </a:r>
            <a:r>
              <a:rPr lang="en-US" altLang="en-US" sz="1800" b="1" baseline="-25000">
                <a:solidFill>
                  <a:srgbClr val="FF9900"/>
                </a:solidFill>
              </a:rPr>
              <a:t>0</a:t>
            </a:r>
            <a:endParaRPr lang="el-GR" altLang="en-US" sz="1800" b="1" baseline="-25000">
              <a:solidFill>
                <a:srgbClr val="FF9900"/>
              </a:solidFill>
            </a:endParaRPr>
          </a:p>
        </p:txBody>
      </p:sp>
      <p:sp>
        <p:nvSpPr>
          <p:cNvPr id="64561" name="Rectangle 49"/>
          <p:cNvSpPr>
            <a:spLocks noChangeArrowheads="1"/>
          </p:cNvSpPr>
          <p:nvPr/>
        </p:nvSpPr>
        <p:spPr bwMode="auto">
          <a:xfrm>
            <a:off x="8843964" y="3048001"/>
            <a:ext cx="604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 q</a:t>
            </a:r>
            <a:r>
              <a:rPr lang="en-US" altLang="en-US" sz="1800" b="1" baseline="-25000">
                <a:solidFill>
                  <a:srgbClr val="FF9900"/>
                </a:solidFill>
              </a:rPr>
              <a:t>0</a:t>
            </a:r>
            <a:endParaRPr lang="el-GR" altLang="en-US" sz="1800" b="1" baseline="-25000">
              <a:solidFill>
                <a:srgbClr val="FF9900"/>
              </a:solidFill>
            </a:endParaRPr>
          </a:p>
        </p:txBody>
      </p:sp>
      <p:sp>
        <p:nvSpPr>
          <p:cNvPr id="64562" name="Rectangle 50"/>
          <p:cNvSpPr>
            <a:spLocks noChangeArrowheads="1"/>
          </p:cNvSpPr>
          <p:nvPr/>
        </p:nvSpPr>
        <p:spPr bwMode="auto">
          <a:xfrm>
            <a:off x="3352800" y="3048001"/>
            <a:ext cx="520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 q</a:t>
            </a:r>
            <a:endParaRPr lang="el-GR" altLang="en-US" sz="1800" b="1" baseline="-25000">
              <a:solidFill>
                <a:srgbClr val="FF9900"/>
              </a:solidFill>
            </a:endParaRPr>
          </a:p>
        </p:txBody>
      </p:sp>
      <p:sp>
        <p:nvSpPr>
          <p:cNvPr id="64563" name="Rectangle 51"/>
          <p:cNvSpPr>
            <a:spLocks noChangeArrowheads="1"/>
          </p:cNvSpPr>
          <p:nvPr/>
        </p:nvSpPr>
        <p:spPr bwMode="auto">
          <a:xfrm>
            <a:off x="7010400" y="3048001"/>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00"/>
                </a:solidFill>
              </a:rPr>
              <a:t>- q</a:t>
            </a:r>
            <a:endParaRPr lang="el-GR" altLang="en-US" sz="1800" b="1" baseline="-25000">
              <a:solidFill>
                <a:srgbClr val="FF9900"/>
              </a:solidFill>
            </a:endParaRPr>
          </a:p>
        </p:txBody>
      </p:sp>
      <p:sp>
        <p:nvSpPr>
          <p:cNvPr id="64564" name="Text Box 52"/>
          <p:cNvSpPr txBox="1">
            <a:spLocks noChangeArrowheads="1"/>
          </p:cNvSpPr>
          <p:nvPr/>
        </p:nvSpPr>
        <p:spPr bwMode="auto">
          <a:xfrm>
            <a:off x="3124200" y="4205288"/>
            <a:ext cx="6781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q – Source charge,  q</a:t>
            </a:r>
            <a:r>
              <a:rPr lang="en-US" altLang="en-US" sz="1800" b="1" baseline="-25000">
                <a:solidFill>
                  <a:srgbClr val="FFFFCC"/>
                </a:solidFill>
              </a:rPr>
              <a:t>0</a:t>
            </a:r>
            <a:r>
              <a:rPr lang="en-US" altLang="en-US" sz="1800" b="1">
                <a:solidFill>
                  <a:srgbClr val="FFFFCC"/>
                </a:solidFill>
              </a:rPr>
              <a:t> – Test charge,  F – Force &amp;  E -  Field</a:t>
            </a:r>
          </a:p>
        </p:txBody>
      </p:sp>
      <p:grpSp>
        <p:nvGrpSpPr>
          <p:cNvPr id="64565" name="Group 53"/>
          <p:cNvGrpSpPr>
            <a:grpSpLocks/>
          </p:cNvGrpSpPr>
          <p:nvPr/>
        </p:nvGrpSpPr>
        <p:grpSpPr bwMode="auto">
          <a:xfrm>
            <a:off x="8382000" y="3657601"/>
            <a:ext cx="381000" cy="366713"/>
            <a:chOff x="5040" y="576"/>
            <a:chExt cx="240" cy="231"/>
          </a:xfrm>
        </p:grpSpPr>
        <p:sp>
          <p:nvSpPr>
            <p:cNvPr id="5151" name="Text Box 54"/>
            <p:cNvSpPr txBox="1">
              <a:spLocks noChangeArrowheads="1"/>
            </p:cNvSpPr>
            <p:nvPr/>
          </p:nvSpPr>
          <p:spPr bwMode="auto">
            <a:xfrm>
              <a:off x="5040" y="576"/>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FF"/>
                  </a:solidFill>
                </a:rPr>
                <a:t>F</a:t>
              </a:r>
              <a:endParaRPr lang="en-US" altLang="en-US" sz="1800" b="1" baseline="-25000">
                <a:solidFill>
                  <a:srgbClr val="66FFFF"/>
                </a:solidFill>
              </a:endParaRPr>
            </a:p>
          </p:txBody>
        </p:sp>
        <p:sp>
          <p:nvSpPr>
            <p:cNvPr id="5152" name="Line 55"/>
            <p:cNvSpPr>
              <a:spLocks noChangeShapeType="1"/>
            </p:cNvSpPr>
            <p:nvPr/>
          </p:nvSpPr>
          <p:spPr bwMode="auto">
            <a:xfrm>
              <a:off x="5088" y="57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64568" name="Group 56"/>
          <p:cNvGrpSpPr>
            <a:grpSpLocks/>
          </p:cNvGrpSpPr>
          <p:nvPr/>
        </p:nvGrpSpPr>
        <p:grpSpPr bwMode="auto">
          <a:xfrm>
            <a:off x="5791200" y="3657601"/>
            <a:ext cx="381000" cy="366713"/>
            <a:chOff x="5040" y="576"/>
            <a:chExt cx="240" cy="231"/>
          </a:xfrm>
        </p:grpSpPr>
        <p:sp>
          <p:nvSpPr>
            <p:cNvPr id="5149" name="Text Box 57"/>
            <p:cNvSpPr txBox="1">
              <a:spLocks noChangeArrowheads="1"/>
            </p:cNvSpPr>
            <p:nvPr/>
          </p:nvSpPr>
          <p:spPr bwMode="auto">
            <a:xfrm>
              <a:off x="5040" y="576"/>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FF"/>
                  </a:solidFill>
                </a:rPr>
                <a:t>F</a:t>
              </a:r>
              <a:endParaRPr lang="en-US" altLang="en-US" sz="1800" b="1" baseline="-25000">
                <a:solidFill>
                  <a:srgbClr val="66FFFF"/>
                </a:solidFill>
              </a:endParaRPr>
            </a:p>
          </p:txBody>
        </p:sp>
        <p:sp>
          <p:nvSpPr>
            <p:cNvPr id="5150" name="Line 58"/>
            <p:cNvSpPr>
              <a:spLocks noChangeShapeType="1"/>
            </p:cNvSpPr>
            <p:nvPr/>
          </p:nvSpPr>
          <p:spPr bwMode="auto">
            <a:xfrm>
              <a:off x="5088" y="57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64571" name="Rectangle 59"/>
          <p:cNvSpPr>
            <a:spLocks noChangeArrowheads="1"/>
          </p:cNvSpPr>
          <p:nvPr/>
        </p:nvSpPr>
        <p:spPr bwMode="auto">
          <a:xfrm>
            <a:off x="3276600" y="2971800"/>
            <a:ext cx="6248400" cy="1143000"/>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64576" name="Line 64"/>
          <p:cNvSpPr>
            <a:spLocks noChangeShapeType="1"/>
          </p:cNvSpPr>
          <p:nvPr/>
        </p:nvSpPr>
        <p:spPr bwMode="auto">
          <a:xfrm>
            <a:off x="6400800" y="2971800"/>
            <a:ext cx="0" cy="11430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Tree>
    <p:extLst>
      <p:ext uri="{BB962C8B-B14F-4D97-AF65-F5344CB8AC3E}">
        <p14:creationId xmlns:p14="http://schemas.microsoft.com/office/powerpoint/2010/main" val="444588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slide(fromTop)">
                                      <p:cBhvr>
                                        <p:cTn id="7" dur="500"/>
                                        <p:tgtEl>
                                          <p:spTgt spid="645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4517">
                                            <p:txEl>
                                              <p:pRg st="0" end="0"/>
                                            </p:txEl>
                                          </p:spTgt>
                                        </p:tgtEl>
                                        <p:attrNameLst>
                                          <p:attrName>style.visibility</p:attrName>
                                        </p:attrNameLst>
                                      </p:cBhvr>
                                      <p:to>
                                        <p:strVal val="visible"/>
                                      </p:to>
                                    </p:set>
                                    <p:animEffect transition="in" filter="wipe(up)">
                                      <p:cBhvr>
                                        <p:cTn id="12" dur="500"/>
                                        <p:tgtEl>
                                          <p:spTgt spid="6451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4517">
                                            <p:txEl>
                                              <p:pRg st="1" end="1"/>
                                            </p:txEl>
                                          </p:spTgt>
                                        </p:tgtEl>
                                        <p:attrNameLst>
                                          <p:attrName>style.visibility</p:attrName>
                                        </p:attrNameLst>
                                      </p:cBhvr>
                                      <p:to>
                                        <p:strVal val="visible"/>
                                      </p:to>
                                    </p:set>
                                    <p:animEffect transition="in" filter="wipe(up)">
                                      <p:cBhvr>
                                        <p:cTn id="17" dur="500"/>
                                        <p:tgtEl>
                                          <p:spTgt spid="6451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18"/>
                                        </p:tgtEl>
                                        <p:attrNameLst>
                                          <p:attrName>style.visibility</p:attrName>
                                        </p:attrNameLst>
                                      </p:cBhvr>
                                      <p:to>
                                        <p:strVal val="visible"/>
                                      </p:to>
                                    </p:set>
                                    <p:animEffect transition="in" filter="wipe(left)">
                                      <p:cBhvr>
                                        <p:cTn id="22" dur="500"/>
                                        <p:tgtEl>
                                          <p:spTgt spid="645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4519"/>
                                        </p:tgtEl>
                                        <p:attrNameLst>
                                          <p:attrName>style.visibility</p:attrName>
                                        </p:attrNameLst>
                                      </p:cBhvr>
                                      <p:to>
                                        <p:strVal val="visible"/>
                                      </p:to>
                                    </p:set>
                                    <p:animEffect transition="in" filter="wipe(up)">
                                      <p:cBhvr>
                                        <p:cTn id="27" dur="500"/>
                                        <p:tgtEl>
                                          <p:spTgt spid="645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3" presetClass="entr" presetSubtype="0" fill="hold" grpId="0" nodeType="clickEffect">
                                  <p:stCondLst>
                                    <p:cond delay="0"/>
                                  </p:stCondLst>
                                  <p:childTnLst>
                                    <p:set>
                                      <p:cBhvr>
                                        <p:cTn id="31" dur="1" fill="hold">
                                          <p:stCondLst>
                                            <p:cond delay="0"/>
                                          </p:stCondLst>
                                        </p:cTn>
                                        <p:tgtEl>
                                          <p:spTgt spid="64571"/>
                                        </p:tgtEl>
                                        <p:attrNameLst>
                                          <p:attrName>style.visibility</p:attrName>
                                        </p:attrNameLst>
                                      </p:cBhvr>
                                      <p:to>
                                        <p:strVal val="visible"/>
                                      </p:to>
                                    </p:set>
                                    <p:anim calcmode="lin" valueType="num">
                                      <p:cBhvr>
                                        <p:cTn id="32" dur="500" fill="hold"/>
                                        <p:tgtEl>
                                          <p:spTgt spid="64571"/>
                                        </p:tgtEl>
                                        <p:attrNameLst>
                                          <p:attrName>ppt_w</p:attrName>
                                        </p:attrNameLst>
                                      </p:cBhvr>
                                      <p:tavLst>
                                        <p:tav tm="0">
                                          <p:val>
                                            <p:fltVal val="0"/>
                                          </p:val>
                                        </p:tav>
                                        <p:tav tm="100000">
                                          <p:val>
                                            <p:strVal val="#ppt_w"/>
                                          </p:val>
                                        </p:tav>
                                      </p:tavLst>
                                    </p:anim>
                                    <p:anim calcmode="lin" valueType="num">
                                      <p:cBhvr>
                                        <p:cTn id="33" dur="500" fill="hold"/>
                                        <p:tgtEl>
                                          <p:spTgt spid="64571"/>
                                        </p:tgtEl>
                                        <p:attrNameLst>
                                          <p:attrName>ppt_h</p:attrName>
                                        </p:attrNameLst>
                                      </p:cBhvr>
                                      <p:tavLst>
                                        <p:tav tm="0">
                                          <p:val>
                                            <p:fltVal val="0"/>
                                          </p:val>
                                        </p:tav>
                                        <p:tav tm="100000">
                                          <p:val>
                                            <p:strVal val="#ppt_h"/>
                                          </p:val>
                                        </p:tav>
                                      </p:tavLst>
                                    </p:anim>
                                    <p:animEffect transition="in" filter="fade">
                                      <p:cBhvr>
                                        <p:cTn id="34" dur="500"/>
                                        <p:tgtEl>
                                          <p:spTgt spid="6457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0" fill="hold" grpId="0" nodeType="clickEffect">
                                  <p:stCondLst>
                                    <p:cond delay="0"/>
                                  </p:stCondLst>
                                  <p:childTnLst>
                                    <p:set>
                                      <p:cBhvr>
                                        <p:cTn id="38" dur="1" fill="hold">
                                          <p:stCondLst>
                                            <p:cond delay="0"/>
                                          </p:stCondLst>
                                        </p:cTn>
                                        <p:tgtEl>
                                          <p:spTgt spid="64553"/>
                                        </p:tgtEl>
                                        <p:attrNameLst>
                                          <p:attrName>style.visibility</p:attrName>
                                        </p:attrNameLst>
                                      </p:cBhvr>
                                      <p:to>
                                        <p:strVal val="visible"/>
                                      </p:to>
                                    </p:set>
                                    <p:anim calcmode="lin" valueType="num">
                                      <p:cBhvr>
                                        <p:cTn id="39" dur="500" fill="hold"/>
                                        <p:tgtEl>
                                          <p:spTgt spid="64553"/>
                                        </p:tgtEl>
                                        <p:attrNameLst>
                                          <p:attrName>ppt_w</p:attrName>
                                        </p:attrNameLst>
                                      </p:cBhvr>
                                      <p:tavLst>
                                        <p:tav tm="0">
                                          <p:val>
                                            <p:fltVal val="0"/>
                                          </p:val>
                                        </p:tav>
                                        <p:tav tm="100000">
                                          <p:val>
                                            <p:strVal val="#ppt_w"/>
                                          </p:val>
                                        </p:tav>
                                      </p:tavLst>
                                    </p:anim>
                                    <p:anim calcmode="lin" valueType="num">
                                      <p:cBhvr>
                                        <p:cTn id="40" dur="500" fill="hold"/>
                                        <p:tgtEl>
                                          <p:spTgt spid="64553"/>
                                        </p:tgtEl>
                                        <p:attrNameLst>
                                          <p:attrName>ppt_h</p:attrName>
                                        </p:attrNameLst>
                                      </p:cBhvr>
                                      <p:tavLst>
                                        <p:tav tm="0">
                                          <p:val>
                                            <p:fltVal val="0"/>
                                          </p:val>
                                        </p:tav>
                                        <p:tav tm="100000">
                                          <p:val>
                                            <p:strVal val="#ppt_h"/>
                                          </p:val>
                                        </p:tav>
                                      </p:tavLst>
                                    </p:anim>
                                    <p:animEffect transition="in" filter="fade">
                                      <p:cBhvr>
                                        <p:cTn id="41" dur="500"/>
                                        <p:tgtEl>
                                          <p:spTgt spid="64553"/>
                                        </p:tgtEl>
                                      </p:cBhvr>
                                    </p:animEffect>
                                  </p:childTnLst>
                                </p:cTn>
                              </p:par>
                            </p:childTnLst>
                          </p:cTn>
                        </p:par>
                        <p:par>
                          <p:cTn id="42" fill="hold" nodeType="afterGroup">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64562"/>
                                        </p:tgtEl>
                                        <p:attrNameLst>
                                          <p:attrName>style.visibility</p:attrName>
                                        </p:attrNameLst>
                                      </p:cBhvr>
                                      <p:to>
                                        <p:strVal val="visible"/>
                                      </p:to>
                                    </p:set>
                                    <p:animEffect transition="in" filter="dissolve">
                                      <p:cBhvr>
                                        <p:cTn id="45" dur="500"/>
                                        <p:tgtEl>
                                          <p:spTgt spid="6456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0" fill="hold" grpId="0" nodeType="clickEffect">
                                  <p:stCondLst>
                                    <p:cond delay="0"/>
                                  </p:stCondLst>
                                  <p:childTnLst>
                                    <p:set>
                                      <p:cBhvr>
                                        <p:cTn id="49" dur="1" fill="hold">
                                          <p:stCondLst>
                                            <p:cond delay="0"/>
                                          </p:stCondLst>
                                        </p:cTn>
                                        <p:tgtEl>
                                          <p:spTgt spid="64556"/>
                                        </p:tgtEl>
                                        <p:attrNameLst>
                                          <p:attrName>style.visibility</p:attrName>
                                        </p:attrNameLst>
                                      </p:cBhvr>
                                      <p:to>
                                        <p:strVal val="visible"/>
                                      </p:to>
                                    </p:set>
                                    <p:anim calcmode="lin" valueType="num">
                                      <p:cBhvr>
                                        <p:cTn id="50" dur="500" fill="hold"/>
                                        <p:tgtEl>
                                          <p:spTgt spid="64556"/>
                                        </p:tgtEl>
                                        <p:attrNameLst>
                                          <p:attrName>ppt_w</p:attrName>
                                        </p:attrNameLst>
                                      </p:cBhvr>
                                      <p:tavLst>
                                        <p:tav tm="0">
                                          <p:val>
                                            <p:fltVal val="0"/>
                                          </p:val>
                                        </p:tav>
                                        <p:tav tm="100000">
                                          <p:val>
                                            <p:strVal val="#ppt_w"/>
                                          </p:val>
                                        </p:tav>
                                      </p:tavLst>
                                    </p:anim>
                                    <p:anim calcmode="lin" valueType="num">
                                      <p:cBhvr>
                                        <p:cTn id="51" dur="500" fill="hold"/>
                                        <p:tgtEl>
                                          <p:spTgt spid="64556"/>
                                        </p:tgtEl>
                                        <p:attrNameLst>
                                          <p:attrName>ppt_h</p:attrName>
                                        </p:attrNameLst>
                                      </p:cBhvr>
                                      <p:tavLst>
                                        <p:tav tm="0">
                                          <p:val>
                                            <p:fltVal val="0"/>
                                          </p:val>
                                        </p:tav>
                                        <p:tav tm="100000">
                                          <p:val>
                                            <p:strVal val="#ppt_h"/>
                                          </p:val>
                                        </p:tav>
                                      </p:tavLst>
                                    </p:anim>
                                    <p:animEffect transition="in" filter="fade">
                                      <p:cBhvr>
                                        <p:cTn id="52" dur="500"/>
                                        <p:tgtEl>
                                          <p:spTgt spid="64556"/>
                                        </p:tgtEl>
                                      </p:cBhvr>
                                    </p:animEffect>
                                  </p:childTnLst>
                                </p:cTn>
                              </p:par>
                            </p:childTnLst>
                          </p:cTn>
                        </p:par>
                        <p:par>
                          <p:cTn id="53" fill="hold" nodeType="afterGroup">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64560"/>
                                        </p:tgtEl>
                                        <p:attrNameLst>
                                          <p:attrName>style.visibility</p:attrName>
                                        </p:attrNameLst>
                                      </p:cBhvr>
                                      <p:to>
                                        <p:strVal val="visible"/>
                                      </p:to>
                                    </p:set>
                                    <p:animEffect transition="in" filter="dissolve">
                                      <p:cBhvr>
                                        <p:cTn id="56" dur="500"/>
                                        <p:tgtEl>
                                          <p:spTgt spid="6456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64554"/>
                                        </p:tgtEl>
                                        <p:attrNameLst>
                                          <p:attrName>style.visibility</p:attrName>
                                        </p:attrNameLst>
                                      </p:cBhvr>
                                      <p:to>
                                        <p:strVal val="visible"/>
                                      </p:to>
                                    </p:set>
                                    <p:animEffect transition="in" filter="wipe(left)">
                                      <p:cBhvr>
                                        <p:cTn id="61" dur="500"/>
                                        <p:tgtEl>
                                          <p:spTgt spid="6455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64558"/>
                                        </p:tgtEl>
                                        <p:attrNameLst>
                                          <p:attrName>style.visibility</p:attrName>
                                        </p:attrNameLst>
                                      </p:cBhvr>
                                      <p:to>
                                        <p:strVal val="visible"/>
                                      </p:to>
                                    </p:set>
                                    <p:animEffect transition="in" filter="wipe(left)">
                                      <p:cBhvr>
                                        <p:cTn id="66" dur="500"/>
                                        <p:tgtEl>
                                          <p:spTgt spid="64558"/>
                                        </p:tgtEl>
                                      </p:cBhvr>
                                    </p:animEffect>
                                  </p:childTnLst>
                                </p:cTn>
                              </p:par>
                            </p:childTnLst>
                          </p:cTn>
                        </p:par>
                        <p:par>
                          <p:cTn id="67" fill="hold" nodeType="afterGroup">
                            <p:stCondLst>
                              <p:cond delay="500"/>
                            </p:stCondLst>
                            <p:childTnLst>
                              <p:par>
                                <p:cTn id="68" presetID="9" presetClass="entr" presetSubtype="0" fill="hold" nodeType="afterEffect">
                                  <p:stCondLst>
                                    <p:cond delay="0"/>
                                  </p:stCondLst>
                                  <p:childTnLst>
                                    <p:set>
                                      <p:cBhvr>
                                        <p:cTn id="69" dur="1" fill="hold">
                                          <p:stCondLst>
                                            <p:cond delay="0"/>
                                          </p:stCondLst>
                                        </p:cTn>
                                        <p:tgtEl>
                                          <p:spTgt spid="64568"/>
                                        </p:tgtEl>
                                        <p:attrNameLst>
                                          <p:attrName>style.visibility</p:attrName>
                                        </p:attrNameLst>
                                      </p:cBhvr>
                                      <p:to>
                                        <p:strVal val="visible"/>
                                      </p:to>
                                    </p:set>
                                    <p:animEffect transition="in" filter="dissolve">
                                      <p:cBhvr>
                                        <p:cTn id="70" dur="500"/>
                                        <p:tgtEl>
                                          <p:spTgt spid="6456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64576"/>
                                        </p:tgtEl>
                                        <p:attrNameLst>
                                          <p:attrName>style.visibility</p:attrName>
                                        </p:attrNameLst>
                                      </p:cBhvr>
                                      <p:to>
                                        <p:strVal val="visible"/>
                                      </p:to>
                                    </p:set>
                                    <p:animEffect transition="in" filter="wipe(up)">
                                      <p:cBhvr>
                                        <p:cTn id="75" dur="500"/>
                                        <p:tgtEl>
                                          <p:spTgt spid="6457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ntr" presetSubtype="0" fill="hold" grpId="0" nodeType="clickEffect">
                                  <p:stCondLst>
                                    <p:cond delay="0"/>
                                  </p:stCondLst>
                                  <p:childTnLst>
                                    <p:set>
                                      <p:cBhvr>
                                        <p:cTn id="79" dur="1" fill="hold">
                                          <p:stCondLst>
                                            <p:cond delay="0"/>
                                          </p:stCondLst>
                                        </p:cTn>
                                        <p:tgtEl>
                                          <p:spTgt spid="64552"/>
                                        </p:tgtEl>
                                        <p:attrNameLst>
                                          <p:attrName>style.visibility</p:attrName>
                                        </p:attrNameLst>
                                      </p:cBhvr>
                                      <p:to>
                                        <p:strVal val="visible"/>
                                      </p:to>
                                    </p:set>
                                    <p:anim calcmode="lin" valueType="num">
                                      <p:cBhvr>
                                        <p:cTn id="80" dur="500" fill="hold"/>
                                        <p:tgtEl>
                                          <p:spTgt spid="64552"/>
                                        </p:tgtEl>
                                        <p:attrNameLst>
                                          <p:attrName>ppt_w</p:attrName>
                                        </p:attrNameLst>
                                      </p:cBhvr>
                                      <p:tavLst>
                                        <p:tav tm="0">
                                          <p:val>
                                            <p:fltVal val="0"/>
                                          </p:val>
                                        </p:tav>
                                        <p:tav tm="100000">
                                          <p:val>
                                            <p:strVal val="#ppt_w"/>
                                          </p:val>
                                        </p:tav>
                                      </p:tavLst>
                                    </p:anim>
                                    <p:anim calcmode="lin" valueType="num">
                                      <p:cBhvr>
                                        <p:cTn id="81" dur="500" fill="hold"/>
                                        <p:tgtEl>
                                          <p:spTgt spid="64552"/>
                                        </p:tgtEl>
                                        <p:attrNameLst>
                                          <p:attrName>ppt_h</p:attrName>
                                        </p:attrNameLst>
                                      </p:cBhvr>
                                      <p:tavLst>
                                        <p:tav tm="0">
                                          <p:val>
                                            <p:fltVal val="0"/>
                                          </p:val>
                                        </p:tav>
                                        <p:tav tm="100000">
                                          <p:val>
                                            <p:strVal val="#ppt_h"/>
                                          </p:val>
                                        </p:tav>
                                      </p:tavLst>
                                    </p:anim>
                                    <p:animEffect transition="in" filter="fade">
                                      <p:cBhvr>
                                        <p:cTn id="82" dur="500"/>
                                        <p:tgtEl>
                                          <p:spTgt spid="64552"/>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64563"/>
                                        </p:tgtEl>
                                        <p:attrNameLst>
                                          <p:attrName>style.visibility</p:attrName>
                                        </p:attrNameLst>
                                      </p:cBhvr>
                                      <p:to>
                                        <p:strVal val="visible"/>
                                      </p:to>
                                    </p:set>
                                    <p:animEffect transition="in" filter="dissolve">
                                      <p:cBhvr>
                                        <p:cTn id="85" dur="500"/>
                                        <p:tgtEl>
                                          <p:spTgt spid="6456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53" presetClass="entr" presetSubtype="0" fill="hold" grpId="0" nodeType="clickEffect">
                                  <p:stCondLst>
                                    <p:cond delay="0"/>
                                  </p:stCondLst>
                                  <p:childTnLst>
                                    <p:set>
                                      <p:cBhvr>
                                        <p:cTn id="89" dur="1" fill="hold">
                                          <p:stCondLst>
                                            <p:cond delay="0"/>
                                          </p:stCondLst>
                                        </p:cTn>
                                        <p:tgtEl>
                                          <p:spTgt spid="64557"/>
                                        </p:tgtEl>
                                        <p:attrNameLst>
                                          <p:attrName>style.visibility</p:attrName>
                                        </p:attrNameLst>
                                      </p:cBhvr>
                                      <p:to>
                                        <p:strVal val="visible"/>
                                      </p:to>
                                    </p:set>
                                    <p:anim calcmode="lin" valueType="num">
                                      <p:cBhvr>
                                        <p:cTn id="90" dur="500" fill="hold"/>
                                        <p:tgtEl>
                                          <p:spTgt spid="64557"/>
                                        </p:tgtEl>
                                        <p:attrNameLst>
                                          <p:attrName>ppt_w</p:attrName>
                                        </p:attrNameLst>
                                      </p:cBhvr>
                                      <p:tavLst>
                                        <p:tav tm="0">
                                          <p:val>
                                            <p:fltVal val="0"/>
                                          </p:val>
                                        </p:tav>
                                        <p:tav tm="100000">
                                          <p:val>
                                            <p:strVal val="#ppt_w"/>
                                          </p:val>
                                        </p:tav>
                                      </p:tavLst>
                                    </p:anim>
                                    <p:anim calcmode="lin" valueType="num">
                                      <p:cBhvr>
                                        <p:cTn id="91" dur="500" fill="hold"/>
                                        <p:tgtEl>
                                          <p:spTgt spid="64557"/>
                                        </p:tgtEl>
                                        <p:attrNameLst>
                                          <p:attrName>ppt_h</p:attrName>
                                        </p:attrNameLst>
                                      </p:cBhvr>
                                      <p:tavLst>
                                        <p:tav tm="0">
                                          <p:val>
                                            <p:fltVal val="0"/>
                                          </p:val>
                                        </p:tav>
                                        <p:tav tm="100000">
                                          <p:val>
                                            <p:strVal val="#ppt_h"/>
                                          </p:val>
                                        </p:tav>
                                      </p:tavLst>
                                    </p:anim>
                                    <p:animEffect transition="in" filter="fade">
                                      <p:cBhvr>
                                        <p:cTn id="92" dur="500"/>
                                        <p:tgtEl>
                                          <p:spTgt spid="64557"/>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64561"/>
                                        </p:tgtEl>
                                        <p:attrNameLst>
                                          <p:attrName>style.visibility</p:attrName>
                                        </p:attrNameLst>
                                      </p:cBhvr>
                                      <p:to>
                                        <p:strVal val="visible"/>
                                      </p:to>
                                    </p:set>
                                    <p:animEffect transition="in" filter="dissolve">
                                      <p:cBhvr>
                                        <p:cTn id="95" dur="500"/>
                                        <p:tgtEl>
                                          <p:spTgt spid="6456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64555"/>
                                        </p:tgtEl>
                                        <p:attrNameLst>
                                          <p:attrName>style.visibility</p:attrName>
                                        </p:attrNameLst>
                                      </p:cBhvr>
                                      <p:to>
                                        <p:strVal val="visible"/>
                                      </p:to>
                                    </p:set>
                                    <p:animEffect transition="in" filter="wipe(left)">
                                      <p:cBhvr>
                                        <p:cTn id="100" dur="500"/>
                                        <p:tgtEl>
                                          <p:spTgt spid="6455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2" fill="hold" nodeType="clickEffect">
                                  <p:stCondLst>
                                    <p:cond delay="0"/>
                                  </p:stCondLst>
                                  <p:childTnLst>
                                    <p:set>
                                      <p:cBhvr>
                                        <p:cTn id="104" dur="1" fill="hold">
                                          <p:stCondLst>
                                            <p:cond delay="0"/>
                                          </p:stCondLst>
                                        </p:cTn>
                                        <p:tgtEl>
                                          <p:spTgt spid="64559"/>
                                        </p:tgtEl>
                                        <p:attrNameLst>
                                          <p:attrName>style.visibility</p:attrName>
                                        </p:attrNameLst>
                                      </p:cBhvr>
                                      <p:to>
                                        <p:strVal val="visible"/>
                                      </p:to>
                                    </p:set>
                                    <p:animEffect transition="in" filter="wipe(right)">
                                      <p:cBhvr>
                                        <p:cTn id="105" dur="500"/>
                                        <p:tgtEl>
                                          <p:spTgt spid="64559"/>
                                        </p:tgtEl>
                                      </p:cBhvr>
                                    </p:animEffect>
                                  </p:childTnLst>
                                </p:cTn>
                              </p:par>
                              <p:par>
                                <p:cTn id="106" presetID="9" presetClass="entr" presetSubtype="0" fill="hold" nodeType="withEffect">
                                  <p:stCondLst>
                                    <p:cond delay="0"/>
                                  </p:stCondLst>
                                  <p:childTnLst>
                                    <p:set>
                                      <p:cBhvr>
                                        <p:cTn id="107" dur="1" fill="hold">
                                          <p:stCondLst>
                                            <p:cond delay="0"/>
                                          </p:stCondLst>
                                        </p:cTn>
                                        <p:tgtEl>
                                          <p:spTgt spid="64565"/>
                                        </p:tgtEl>
                                        <p:attrNameLst>
                                          <p:attrName>style.visibility</p:attrName>
                                        </p:attrNameLst>
                                      </p:cBhvr>
                                      <p:to>
                                        <p:strVal val="visible"/>
                                      </p:to>
                                    </p:set>
                                    <p:animEffect transition="in" filter="dissolve">
                                      <p:cBhvr>
                                        <p:cTn id="108" dur="500"/>
                                        <p:tgtEl>
                                          <p:spTgt spid="64565"/>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53" presetClass="entr" presetSubtype="0" fill="hold" grpId="0" nodeType="clickEffect">
                                  <p:stCondLst>
                                    <p:cond delay="0"/>
                                  </p:stCondLst>
                                  <p:childTnLst>
                                    <p:set>
                                      <p:cBhvr>
                                        <p:cTn id="112" dur="1" fill="hold">
                                          <p:stCondLst>
                                            <p:cond delay="0"/>
                                          </p:stCondLst>
                                        </p:cTn>
                                        <p:tgtEl>
                                          <p:spTgt spid="64564"/>
                                        </p:tgtEl>
                                        <p:attrNameLst>
                                          <p:attrName>style.visibility</p:attrName>
                                        </p:attrNameLst>
                                      </p:cBhvr>
                                      <p:to>
                                        <p:strVal val="visible"/>
                                      </p:to>
                                    </p:set>
                                    <p:anim calcmode="lin" valueType="num">
                                      <p:cBhvr>
                                        <p:cTn id="113" dur="500" fill="hold"/>
                                        <p:tgtEl>
                                          <p:spTgt spid="64564"/>
                                        </p:tgtEl>
                                        <p:attrNameLst>
                                          <p:attrName>ppt_w</p:attrName>
                                        </p:attrNameLst>
                                      </p:cBhvr>
                                      <p:tavLst>
                                        <p:tav tm="0">
                                          <p:val>
                                            <p:fltVal val="0"/>
                                          </p:val>
                                        </p:tav>
                                        <p:tav tm="100000">
                                          <p:val>
                                            <p:strVal val="#ppt_w"/>
                                          </p:val>
                                        </p:tav>
                                      </p:tavLst>
                                    </p:anim>
                                    <p:anim calcmode="lin" valueType="num">
                                      <p:cBhvr>
                                        <p:cTn id="114" dur="500" fill="hold"/>
                                        <p:tgtEl>
                                          <p:spTgt spid="64564"/>
                                        </p:tgtEl>
                                        <p:attrNameLst>
                                          <p:attrName>ppt_h</p:attrName>
                                        </p:attrNameLst>
                                      </p:cBhvr>
                                      <p:tavLst>
                                        <p:tav tm="0">
                                          <p:val>
                                            <p:fltVal val="0"/>
                                          </p:val>
                                        </p:tav>
                                        <p:tav tm="100000">
                                          <p:val>
                                            <p:strVal val="#ppt_h"/>
                                          </p:val>
                                        </p:tav>
                                      </p:tavLst>
                                    </p:anim>
                                    <p:animEffect transition="in" filter="fade">
                                      <p:cBhvr>
                                        <p:cTn id="115" dur="500"/>
                                        <p:tgtEl>
                                          <p:spTgt spid="64564"/>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64520"/>
                                        </p:tgtEl>
                                        <p:attrNameLst>
                                          <p:attrName>style.visibility</p:attrName>
                                        </p:attrNameLst>
                                      </p:cBhvr>
                                      <p:to>
                                        <p:strVal val="visible"/>
                                      </p:to>
                                    </p:set>
                                    <p:animEffect transition="in" filter="wipe(left)">
                                      <p:cBhvr>
                                        <p:cTn id="120" dur="500"/>
                                        <p:tgtEl>
                                          <p:spTgt spid="64520"/>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64538"/>
                                        </p:tgtEl>
                                        <p:attrNameLst>
                                          <p:attrName>style.visibility</p:attrName>
                                        </p:attrNameLst>
                                      </p:cBhvr>
                                      <p:to>
                                        <p:strVal val="visible"/>
                                      </p:to>
                                    </p:set>
                                    <p:animEffect transition="in" filter="wipe(left)">
                                      <p:cBhvr>
                                        <p:cTn id="125" dur="500"/>
                                        <p:tgtEl>
                                          <p:spTgt spid="64538"/>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64572"/>
                                        </p:tgtEl>
                                        <p:attrNameLst>
                                          <p:attrName>style.visibility</p:attrName>
                                        </p:attrNameLst>
                                      </p:cBhvr>
                                      <p:to>
                                        <p:strVal val="visible"/>
                                      </p:to>
                                    </p:set>
                                    <p:animEffect transition="in" filter="wipe(left)">
                                      <p:cBhvr>
                                        <p:cTn id="130" dur="500"/>
                                        <p:tgtEl>
                                          <p:spTgt spid="64572"/>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64539"/>
                                        </p:tgtEl>
                                        <p:attrNameLst>
                                          <p:attrName>style.visibility</p:attrName>
                                        </p:attrNameLst>
                                      </p:cBhvr>
                                      <p:to>
                                        <p:strVal val="visible"/>
                                      </p:to>
                                    </p:set>
                                    <p:animEffect transition="in" filter="wipe(left)">
                                      <p:cBhvr>
                                        <p:cTn id="135" dur="500"/>
                                        <p:tgtEl>
                                          <p:spTgt spid="64539"/>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64575"/>
                                        </p:tgtEl>
                                        <p:attrNameLst>
                                          <p:attrName>style.visibility</p:attrName>
                                        </p:attrNameLst>
                                      </p:cBhvr>
                                      <p:to>
                                        <p:strVal val="visible"/>
                                      </p:to>
                                    </p:set>
                                    <p:animEffect transition="in" filter="wipe(left)">
                                      <p:cBhvr>
                                        <p:cTn id="140" dur="500"/>
                                        <p:tgtEl>
                                          <p:spTgt spid="64575"/>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1" fill="hold" grpId="0" nodeType="clickEffect">
                                  <p:stCondLst>
                                    <p:cond delay="0"/>
                                  </p:stCondLst>
                                  <p:childTnLst>
                                    <p:set>
                                      <p:cBhvr>
                                        <p:cTn id="144" dur="1" fill="hold">
                                          <p:stCondLst>
                                            <p:cond delay="0"/>
                                          </p:stCondLst>
                                        </p:cTn>
                                        <p:tgtEl>
                                          <p:spTgt spid="64537"/>
                                        </p:tgtEl>
                                        <p:attrNameLst>
                                          <p:attrName>style.visibility</p:attrName>
                                        </p:attrNameLst>
                                      </p:cBhvr>
                                      <p:to>
                                        <p:strVal val="visible"/>
                                      </p:to>
                                    </p:set>
                                    <p:animEffect transition="in" filter="wipe(up)">
                                      <p:cBhvr>
                                        <p:cTn id="145" dur="500"/>
                                        <p:tgtEl>
                                          <p:spTgt spid="64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P spid="64518" grpId="0"/>
      <p:bldP spid="64519" grpId="0"/>
      <p:bldP spid="64537" grpId="0"/>
      <p:bldP spid="64538" grpId="0"/>
      <p:bldP spid="64539" grpId="0"/>
      <p:bldP spid="64552" grpId="0" animBg="1"/>
      <p:bldP spid="64553" grpId="0" animBg="1"/>
      <p:bldP spid="64556" grpId="0" animBg="1"/>
      <p:bldP spid="64557" grpId="0" animBg="1"/>
      <p:bldP spid="64560" grpId="0"/>
      <p:bldP spid="64561" grpId="0"/>
      <p:bldP spid="64562" grpId="0"/>
      <p:bldP spid="64563" grpId="0"/>
      <p:bldP spid="64564" grpId="0"/>
      <p:bldP spid="6457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91776" y="161110"/>
            <a:ext cx="7227725" cy="6383317"/>
          </a:xfrm>
          <a:prstGeom prst="rect">
            <a:avLst/>
          </a:prstGeom>
        </p:spPr>
      </p:pic>
    </p:spTree>
    <p:extLst>
      <p:ext uri="{BB962C8B-B14F-4D97-AF65-F5344CB8AC3E}">
        <p14:creationId xmlns:p14="http://schemas.microsoft.com/office/powerpoint/2010/main" val="1662536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1903" y="250677"/>
            <a:ext cx="9322056" cy="6421580"/>
          </a:xfrm>
          <a:prstGeom prst="rect">
            <a:avLst/>
          </a:prstGeom>
        </p:spPr>
      </p:pic>
    </p:spTree>
    <p:extLst>
      <p:ext uri="{BB962C8B-B14F-4D97-AF65-F5344CB8AC3E}">
        <p14:creationId xmlns:p14="http://schemas.microsoft.com/office/powerpoint/2010/main" val="3883959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45" name="Group 9"/>
          <p:cNvGrpSpPr>
            <a:grpSpLocks/>
          </p:cNvGrpSpPr>
          <p:nvPr/>
        </p:nvGrpSpPr>
        <p:grpSpPr bwMode="auto">
          <a:xfrm>
            <a:off x="1828800" y="228601"/>
            <a:ext cx="8610600" cy="1465263"/>
            <a:chOff x="192" y="144"/>
            <a:chExt cx="5424" cy="923"/>
          </a:xfrm>
        </p:grpSpPr>
        <p:sp>
          <p:nvSpPr>
            <p:cNvPr id="7172" name="Rectangle 5"/>
            <p:cNvSpPr>
              <a:spLocks noChangeArrowheads="1"/>
            </p:cNvSpPr>
            <p:nvPr/>
          </p:nvSpPr>
          <p:spPr bwMode="auto">
            <a:xfrm>
              <a:off x="192" y="144"/>
              <a:ext cx="5424" cy="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00"/>
                  </a:solidFill>
                </a:rPr>
                <a:t>Note:  </a:t>
              </a:r>
            </a:p>
            <a:p>
              <a:pPr fontAlgn="base">
                <a:spcBef>
                  <a:spcPct val="0"/>
                </a:spcBef>
                <a:spcAft>
                  <a:spcPct val="0"/>
                </a:spcAft>
                <a:buNone/>
              </a:pPr>
              <a:endParaRPr lang="en-US" altLang="en-US" sz="1800" b="1">
                <a:solidFill>
                  <a:srgbClr val="FFFF00"/>
                </a:solidFill>
              </a:endParaRPr>
            </a:p>
            <a:p>
              <a:pPr fontAlgn="base">
                <a:spcBef>
                  <a:spcPct val="0"/>
                </a:spcBef>
                <a:spcAft>
                  <a:spcPct val="0"/>
                </a:spcAft>
                <a:buFontTx/>
                <a:buAutoNum type="arabicPeriod"/>
              </a:pPr>
              <a:r>
                <a:rPr lang="en-US" altLang="en-US" sz="1800" b="1">
                  <a:solidFill>
                    <a:srgbClr val="FF66CC"/>
                  </a:solidFill>
                </a:rPr>
                <a:t>Since q</a:t>
              </a:r>
              <a:r>
                <a:rPr lang="en-US" altLang="en-US" sz="1800" b="1" baseline="-25000">
                  <a:solidFill>
                    <a:srgbClr val="FF66CC"/>
                  </a:solidFill>
                </a:rPr>
                <a:t>0</a:t>
              </a:r>
              <a:r>
                <a:rPr lang="en-US" altLang="en-US" sz="1800" b="1">
                  <a:solidFill>
                    <a:srgbClr val="FF66CC"/>
                  </a:solidFill>
                </a:rPr>
                <a:t> is taken positive, the direction of electric field ( E ) is along the direction of electrostatic force ( F ).</a:t>
              </a:r>
            </a:p>
            <a:p>
              <a:pPr fontAlgn="base">
                <a:spcBef>
                  <a:spcPct val="0"/>
                </a:spcBef>
                <a:spcAft>
                  <a:spcPct val="0"/>
                </a:spcAft>
                <a:buFontTx/>
                <a:buAutoNum type="arabicPeriod"/>
              </a:pPr>
              <a:endParaRPr lang="en-US" altLang="en-US" sz="1800" b="1">
                <a:solidFill>
                  <a:srgbClr val="FF66CC"/>
                </a:solidFill>
              </a:endParaRPr>
            </a:p>
          </p:txBody>
        </p:sp>
        <p:sp>
          <p:nvSpPr>
            <p:cNvPr id="7173" name="Line 6"/>
            <p:cNvSpPr>
              <a:spLocks noChangeShapeType="1"/>
            </p:cNvSpPr>
            <p:nvPr/>
          </p:nvSpPr>
          <p:spPr bwMode="auto">
            <a:xfrm>
              <a:off x="2622" y="702"/>
              <a:ext cx="144" cy="0"/>
            </a:xfrm>
            <a:prstGeom prst="line">
              <a:avLst/>
            </a:prstGeom>
            <a:noFill/>
            <a:ln w="12700">
              <a:solidFill>
                <a:srgbClr val="FF66CC"/>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7174" name="Line 7"/>
            <p:cNvSpPr>
              <a:spLocks noChangeShapeType="1"/>
            </p:cNvSpPr>
            <p:nvPr/>
          </p:nvSpPr>
          <p:spPr bwMode="auto">
            <a:xfrm>
              <a:off x="4275" y="519"/>
              <a:ext cx="144" cy="0"/>
            </a:xfrm>
            <a:prstGeom prst="line">
              <a:avLst/>
            </a:prstGeom>
            <a:noFill/>
            <a:ln w="12700">
              <a:solidFill>
                <a:srgbClr val="FF66CC"/>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65544" name="Rectangle 8"/>
          <p:cNvSpPr>
            <a:spLocks noChangeArrowheads="1"/>
          </p:cNvSpPr>
          <p:nvPr/>
        </p:nvSpPr>
        <p:spPr bwMode="auto">
          <a:xfrm>
            <a:off x="1828800" y="1566864"/>
            <a:ext cx="8610600"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FontTx/>
              <a:buAutoNum type="arabicPeriod" startAt="2"/>
            </a:pPr>
            <a:r>
              <a:rPr lang="en-US" altLang="en-US" sz="1800" b="1">
                <a:solidFill>
                  <a:srgbClr val="FFFFCC"/>
                </a:solidFill>
              </a:rPr>
              <a:t>Electrostatic force on a negatively charged particle will be opposite to the direction of electric field.</a:t>
            </a:r>
          </a:p>
          <a:p>
            <a:pPr fontAlgn="base">
              <a:spcBef>
                <a:spcPct val="0"/>
              </a:spcBef>
              <a:spcAft>
                <a:spcPct val="0"/>
              </a:spcAft>
              <a:buNone/>
            </a:pPr>
            <a:endParaRPr lang="en-US" altLang="en-US" sz="1800" b="1">
              <a:solidFill>
                <a:srgbClr val="FFFFCC"/>
              </a:solidFill>
            </a:endParaRPr>
          </a:p>
          <a:p>
            <a:pPr fontAlgn="base">
              <a:spcBef>
                <a:spcPct val="0"/>
              </a:spcBef>
              <a:spcAft>
                <a:spcPct val="0"/>
              </a:spcAft>
              <a:buFontTx/>
              <a:buAutoNum type="arabicPeriod" startAt="3"/>
            </a:pPr>
            <a:r>
              <a:rPr lang="en-US" altLang="en-US" sz="1800" b="1">
                <a:solidFill>
                  <a:srgbClr val="66FF33"/>
                </a:solidFill>
              </a:rPr>
              <a:t>Electric field is a vector quantity whose magnitude and direction are uniquely determined at every point in the field.</a:t>
            </a:r>
          </a:p>
          <a:p>
            <a:pPr fontAlgn="base">
              <a:spcBef>
                <a:spcPct val="0"/>
              </a:spcBef>
              <a:spcAft>
                <a:spcPct val="0"/>
              </a:spcAft>
              <a:buNone/>
            </a:pPr>
            <a:endParaRPr lang="en-US" altLang="en-US" sz="1800" b="1">
              <a:solidFill>
                <a:srgbClr val="66FF33"/>
              </a:solidFill>
            </a:endParaRPr>
          </a:p>
          <a:p>
            <a:pPr fontAlgn="base">
              <a:spcBef>
                <a:spcPct val="0"/>
              </a:spcBef>
              <a:spcAft>
                <a:spcPct val="0"/>
              </a:spcAft>
              <a:buNone/>
            </a:pPr>
            <a:r>
              <a:rPr lang="en-US" altLang="en-US" sz="1800" b="1">
                <a:solidFill>
                  <a:srgbClr val="CCCCFF"/>
                </a:solidFill>
              </a:rPr>
              <a:t>4.</a:t>
            </a:r>
            <a:r>
              <a:rPr lang="en-US" altLang="en-US" sz="1800" b="1">
                <a:solidFill>
                  <a:srgbClr val="000000"/>
                </a:solidFill>
              </a:rPr>
              <a:t>   </a:t>
            </a:r>
            <a:r>
              <a:rPr lang="en-US" altLang="en-US" sz="1800" b="1">
                <a:solidFill>
                  <a:srgbClr val="CCCCFF"/>
                </a:solidFill>
              </a:rPr>
              <a:t>SI unit of electric field is newton / coulomb ( N C</a:t>
            </a:r>
            <a:r>
              <a:rPr lang="en-US" altLang="en-US" sz="1800" b="1" baseline="30000">
                <a:solidFill>
                  <a:srgbClr val="CCCCFF"/>
                </a:solidFill>
              </a:rPr>
              <a:t>-1</a:t>
            </a:r>
            <a:r>
              <a:rPr lang="en-US" altLang="en-US" sz="1800" b="1">
                <a:solidFill>
                  <a:srgbClr val="CCCCFF"/>
                </a:solidFill>
              </a:rPr>
              <a:t> ).</a:t>
            </a:r>
          </a:p>
        </p:txBody>
      </p:sp>
    </p:spTree>
    <p:extLst>
      <p:ext uri="{BB962C8B-B14F-4D97-AF65-F5344CB8AC3E}">
        <p14:creationId xmlns:p14="http://schemas.microsoft.com/office/powerpoint/2010/main" val="400583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65545"/>
                                        </p:tgtEl>
                                        <p:attrNameLst>
                                          <p:attrName>style.visibility</p:attrName>
                                        </p:attrNameLst>
                                      </p:cBhvr>
                                      <p:to>
                                        <p:strVal val="visible"/>
                                      </p:to>
                                    </p:set>
                                    <p:animEffect transition="in" filter="slide(fromTop)">
                                      <p:cBhvr>
                                        <p:cTn id="7" dur="500"/>
                                        <p:tgtEl>
                                          <p:spTgt spid="655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5544">
                                            <p:txEl>
                                              <p:pRg st="0" end="0"/>
                                            </p:txEl>
                                          </p:spTgt>
                                        </p:tgtEl>
                                        <p:attrNameLst>
                                          <p:attrName>style.visibility</p:attrName>
                                        </p:attrNameLst>
                                      </p:cBhvr>
                                      <p:to>
                                        <p:strVal val="visible"/>
                                      </p:to>
                                    </p:set>
                                    <p:animEffect transition="in" filter="wipe(up)">
                                      <p:cBhvr>
                                        <p:cTn id="12" dur="500"/>
                                        <p:tgtEl>
                                          <p:spTgt spid="6554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5544">
                                            <p:txEl>
                                              <p:pRg st="2" end="2"/>
                                            </p:txEl>
                                          </p:spTgt>
                                        </p:tgtEl>
                                        <p:attrNameLst>
                                          <p:attrName>style.visibility</p:attrName>
                                        </p:attrNameLst>
                                      </p:cBhvr>
                                      <p:to>
                                        <p:strVal val="visible"/>
                                      </p:to>
                                    </p:set>
                                    <p:animEffect transition="in" filter="wipe(up)">
                                      <p:cBhvr>
                                        <p:cTn id="17" dur="500"/>
                                        <p:tgtEl>
                                          <p:spTgt spid="6554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5544">
                                            <p:txEl>
                                              <p:pRg st="4" end="4"/>
                                            </p:txEl>
                                          </p:spTgt>
                                        </p:tgtEl>
                                        <p:attrNameLst>
                                          <p:attrName>style.visibility</p:attrName>
                                        </p:attrNameLst>
                                      </p:cBhvr>
                                      <p:to>
                                        <p:strVal val="visible"/>
                                      </p:to>
                                    </p:set>
                                    <p:animEffect transition="in" filter="wipe(up)">
                                      <p:cBhvr>
                                        <p:cTn id="22" dur="500"/>
                                        <p:tgtEl>
                                          <p:spTgt spid="655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ChangeArrowheads="1"/>
          </p:cNvSpPr>
          <p:nvPr/>
        </p:nvSpPr>
        <p:spPr bwMode="auto">
          <a:xfrm>
            <a:off x="1676400" y="3352801"/>
            <a:ext cx="6381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CC00"/>
                </a:solidFill>
              </a:rPr>
              <a:t>Superposition principle holds good for electric field also.</a:t>
            </a:r>
          </a:p>
        </p:txBody>
      </p:sp>
      <p:sp>
        <p:nvSpPr>
          <p:cNvPr id="31749" name="Text Box 5"/>
          <p:cNvSpPr txBox="1">
            <a:spLocks noChangeArrowheads="1"/>
          </p:cNvSpPr>
          <p:nvPr/>
        </p:nvSpPr>
        <p:spPr bwMode="auto">
          <a:xfrm>
            <a:off x="1676400" y="152401"/>
            <a:ext cx="8763000" cy="311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CC00"/>
                </a:solidFill>
              </a:rPr>
              <a:t>Note:</a:t>
            </a:r>
          </a:p>
          <a:p>
            <a:pPr fontAlgn="base">
              <a:spcBef>
                <a:spcPct val="50000"/>
              </a:spcBef>
              <a:spcAft>
                <a:spcPct val="0"/>
              </a:spcAft>
              <a:buNone/>
            </a:pPr>
            <a:r>
              <a:rPr lang="en-US" altLang="en-US" sz="1800" b="1">
                <a:solidFill>
                  <a:srgbClr val="FFFF99"/>
                </a:solidFill>
              </a:rPr>
              <a:t>The interactions must be on the charge which is to be studied due to other charges.</a:t>
            </a:r>
          </a:p>
          <a:p>
            <a:pPr fontAlgn="base">
              <a:spcBef>
                <a:spcPct val="50000"/>
              </a:spcBef>
              <a:spcAft>
                <a:spcPct val="0"/>
              </a:spcAft>
              <a:buNone/>
            </a:pPr>
            <a:r>
              <a:rPr lang="en-US" altLang="en-US" sz="1800" b="1">
                <a:solidFill>
                  <a:srgbClr val="CC99FF"/>
                </a:solidFill>
              </a:rPr>
              <a:t>The charge on which the influence due to other charges is to be found is assumed to be floating charge and others are rigidly fixed.</a:t>
            </a:r>
          </a:p>
          <a:p>
            <a:pPr fontAlgn="base">
              <a:spcBef>
                <a:spcPct val="50000"/>
              </a:spcBef>
              <a:spcAft>
                <a:spcPct val="0"/>
              </a:spcAft>
              <a:buNone/>
            </a:pPr>
            <a:r>
              <a:rPr lang="en-US" altLang="en-US" sz="1800" b="1">
                <a:solidFill>
                  <a:srgbClr val="CCFF99"/>
                </a:solidFill>
              </a:rPr>
              <a:t>For eg. 1</a:t>
            </a:r>
            <a:r>
              <a:rPr lang="en-US" altLang="en-US" sz="1800" b="1" baseline="30000">
                <a:solidFill>
                  <a:srgbClr val="CCFF99"/>
                </a:solidFill>
              </a:rPr>
              <a:t>st</a:t>
            </a:r>
            <a:r>
              <a:rPr lang="en-US" altLang="en-US" sz="1800" b="1">
                <a:solidFill>
                  <a:srgbClr val="CCFF99"/>
                </a:solidFill>
              </a:rPr>
              <a:t> charge (floating) is repelled away by q</a:t>
            </a:r>
            <a:r>
              <a:rPr lang="en-US" altLang="en-US" sz="1800" b="1" baseline="-25000">
                <a:solidFill>
                  <a:srgbClr val="CCFF99"/>
                </a:solidFill>
              </a:rPr>
              <a:t>2</a:t>
            </a:r>
            <a:r>
              <a:rPr lang="en-US" altLang="en-US" sz="1800" b="1">
                <a:solidFill>
                  <a:srgbClr val="CCFF99"/>
                </a:solidFill>
              </a:rPr>
              <a:t> and q</a:t>
            </a:r>
            <a:r>
              <a:rPr lang="en-US" altLang="en-US" sz="1800" b="1" baseline="-25000">
                <a:solidFill>
                  <a:srgbClr val="CCFF99"/>
                </a:solidFill>
              </a:rPr>
              <a:t>4</a:t>
            </a:r>
            <a:r>
              <a:rPr lang="en-US" altLang="en-US" sz="1800" b="1">
                <a:solidFill>
                  <a:srgbClr val="CCFF99"/>
                </a:solidFill>
              </a:rPr>
              <a:t> and attracted towards q</a:t>
            </a:r>
            <a:r>
              <a:rPr lang="en-US" altLang="en-US" sz="1800" b="1" baseline="-25000">
                <a:solidFill>
                  <a:srgbClr val="CCFF99"/>
                </a:solidFill>
              </a:rPr>
              <a:t>3</a:t>
            </a:r>
            <a:r>
              <a:rPr lang="en-US" altLang="en-US" sz="1800" b="1">
                <a:solidFill>
                  <a:srgbClr val="CCFF99"/>
                </a:solidFill>
              </a:rPr>
              <a:t> and q</a:t>
            </a:r>
            <a:r>
              <a:rPr lang="en-US" altLang="en-US" sz="1800" b="1" baseline="-25000">
                <a:solidFill>
                  <a:srgbClr val="CCFF99"/>
                </a:solidFill>
              </a:rPr>
              <a:t>5</a:t>
            </a:r>
            <a:r>
              <a:rPr lang="en-US" altLang="en-US" sz="1800" b="1">
                <a:solidFill>
                  <a:srgbClr val="CCFF99"/>
                </a:solidFill>
              </a:rPr>
              <a:t>.</a:t>
            </a:r>
          </a:p>
          <a:p>
            <a:pPr fontAlgn="base">
              <a:spcBef>
                <a:spcPct val="50000"/>
              </a:spcBef>
              <a:spcAft>
                <a:spcPct val="0"/>
              </a:spcAft>
              <a:buNone/>
            </a:pPr>
            <a:r>
              <a:rPr lang="en-US" altLang="en-US" sz="1800" b="1">
                <a:solidFill>
                  <a:srgbClr val="00FFFF"/>
                </a:solidFill>
              </a:rPr>
              <a:t>The interactions between the other charges (among themselves) must be ignored. i.e. F</a:t>
            </a:r>
            <a:r>
              <a:rPr lang="en-US" altLang="en-US" sz="1800" b="1" baseline="-25000">
                <a:solidFill>
                  <a:srgbClr val="00FFFF"/>
                </a:solidFill>
              </a:rPr>
              <a:t>23</a:t>
            </a:r>
            <a:r>
              <a:rPr lang="en-US" altLang="en-US" sz="1800" b="1">
                <a:solidFill>
                  <a:srgbClr val="00FFFF"/>
                </a:solidFill>
              </a:rPr>
              <a:t>, F</a:t>
            </a:r>
            <a:r>
              <a:rPr lang="en-US" altLang="en-US" sz="1800" b="1" baseline="-25000">
                <a:solidFill>
                  <a:srgbClr val="00FFFF"/>
                </a:solidFill>
              </a:rPr>
              <a:t>24</a:t>
            </a:r>
            <a:r>
              <a:rPr lang="en-US" altLang="en-US" sz="1800" b="1">
                <a:solidFill>
                  <a:srgbClr val="00FFFF"/>
                </a:solidFill>
              </a:rPr>
              <a:t>, F</a:t>
            </a:r>
            <a:r>
              <a:rPr lang="en-US" altLang="en-US" sz="1800" b="1" baseline="-25000">
                <a:solidFill>
                  <a:srgbClr val="00FFFF"/>
                </a:solidFill>
              </a:rPr>
              <a:t>25</a:t>
            </a:r>
            <a:r>
              <a:rPr lang="en-US" altLang="en-US" sz="1800" b="1">
                <a:solidFill>
                  <a:srgbClr val="00FFFF"/>
                </a:solidFill>
              </a:rPr>
              <a:t>, F</a:t>
            </a:r>
            <a:r>
              <a:rPr lang="en-US" altLang="en-US" sz="1800" b="1" baseline="-25000">
                <a:solidFill>
                  <a:srgbClr val="00FFFF"/>
                </a:solidFill>
              </a:rPr>
              <a:t>34</a:t>
            </a:r>
            <a:r>
              <a:rPr lang="en-US" altLang="en-US" sz="1800" b="1">
                <a:solidFill>
                  <a:srgbClr val="00FFFF"/>
                </a:solidFill>
              </a:rPr>
              <a:t>, F</a:t>
            </a:r>
            <a:r>
              <a:rPr lang="en-US" altLang="en-US" sz="1800" b="1" baseline="-25000">
                <a:solidFill>
                  <a:srgbClr val="00FFFF"/>
                </a:solidFill>
              </a:rPr>
              <a:t>35</a:t>
            </a:r>
            <a:r>
              <a:rPr lang="en-US" altLang="en-US" sz="1800" b="1">
                <a:solidFill>
                  <a:srgbClr val="00FFFF"/>
                </a:solidFill>
              </a:rPr>
              <a:t> and F</a:t>
            </a:r>
            <a:r>
              <a:rPr lang="en-US" altLang="en-US" sz="1800" b="1" baseline="-25000">
                <a:solidFill>
                  <a:srgbClr val="00FFFF"/>
                </a:solidFill>
              </a:rPr>
              <a:t>45</a:t>
            </a:r>
            <a:r>
              <a:rPr lang="en-US" altLang="en-US" sz="1800" b="1">
                <a:solidFill>
                  <a:srgbClr val="00FFFF"/>
                </a:solidFill>
              </a:rPr>
              <a:t> are ignored.</a:t>
            </a:r>
          </a:p>
        </p:txBody>
      </p:sp>
      <p:sp>
        <p:nvSpPr>
          <p:cNvPr id="31750" name="Text Box 6"/>
          <p:cNvSpPr txBox="1">
            <a:spLocks noChangeArrowheads="1"/>
          </p:cNvSpPr>
          <p:nvPr/>
        </p:nvSpPr>
        <p:spPr bwMode="auto">
          <a:xfrm>
            <a:off x="1676400" y="3810000"/>
            <a:ext cx="34290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CC99"/>
                </a:solidFill>
              </a:rPr>
              <a:t>Electric Lines of Force:</a:t>
            </a:r>
          </a:p>
        </p:txBody>
      </p:sp>
      <p:sp>
        <p:nvSpPr>
          <p:cNvPr id="31751" name="Rectangle 7"/>
          <p:cNvSpPr>
            <a:spLocks noChangeArrowheads="1"/>
          </p:cNvSpPr>
          <p:nvPr/>
        </p:nvSpPr>
        <p:spPr bwMode="auto">
          <a:xfrm>
            <a:off x="1676400" y="4205289"/>
            <a:ext cx="8763000" cy="132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66FF"/>
                </a:solidFill>
              </a:rPr>
              <a:t>An electric line of force is an imaginary straight or curved path along which a unit positive charge is supposed to move when free to do so in an electric field.</a:t>
            </a:r>
          </a:p>
          <a:p>
            <a:pPr fontAlgn="base">
              <a:spcBef>
                <a:spcPct val="50000"/>
              </a:spcBef>
              <a:spcAft>
                <a:spcPct val="0"/>
              </a:spcAft>
              <a:buNone/>
            </a:pPr>
            <a:r>
              <a:rPr lang="en-US" altLang="en-US" sz="1800" b="1">
                <a:solidFill>
                  <a:srgbClr val="FF6600"/>
                </a:solidFill>
              </a:rPr>
              <a:t>Electric lines of force do not physically exist but they represent real situations.</a:t>
            </a:r>
          </a:p>
        </p:txBody>
      </p:sp>
      <p:sp>
        <p:nvSpPr>
          <p:cNvPr id="31752" name="Line 8"/>
          <p:cNvSpPr>
            <a:spLocks noChangeShapeType="1"/>
          </p:cNvSpPr>
          <p:nvPr/>
        </p:nvSpPr>
        <p:spPr bwMode="auto">
          <a:xfrm>
            <a:off x="2667000" y="6019800"/>
            <a:ext cx="2743200" cy="0"/>
          </a:xfrm>
          <a:prstGeom prst="line">
            <a:avLst/>
          </a:prstGeom>
          <a:noFill/>
          <a:ln w="19050">
            <a:solidFill>
              <a:srgbClr val="FFFF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1754" name="Arc 10"/>
          <p:cNvSpPr>
            <a:spLocks/>
          </p:cNvSpPr>
          <p:nvPr/>
        </p:nvSpPr>
        <p:spPr bwMode="auto">
          <a:xfrm rot="18883149">
            <a:off x="8077200" y="5791200"/>
            <a:ext cx="914400" cy="9144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99"/>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1765" name="Text Box 21"/>
          <p:cNvSpPr txBox="1">
            <a:spLocks noChangeArrowheads="1"/>
          </p:cNvSpPr>
          <p:nvPr/>
        </p:nvSpPr>
        <p:spPr bwMode="auto">
          <a:xfrm>
            <a:off x="5181600" y="6338888"/>
            <a:ext cx="2667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Electric Lines of Force</a:t>
            </a:r>
          </a:p>
        </p:txBody>
      </p:sp>
      <p:sp>
        <p:nvSpPr>
          <p:cNvPr id="31766" name="Line 22"/>
          <p:cNvSpPr>
            <a:spLocks noChangeShapeType="1"/>
          </p:cNvSpPr>
          <p:nvPr/>
        </p:nvSpPr>
        <p:spPr bwMode="auto">
          <a:xfrm flipH="1" flipV="1">
            <a:off x="4876800" y="6019800"/>
            <a:ext cx="1371600" cy="304800"/>
          </a:xfrm>
          <a:prstGeom prst="line">
            <a:avLst/>
          </a:prstGeom>
          <a:noFill/>
          <a:ln w="19050">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1767" name="Line 23"/>
          <p:cNvSpPr>
            <a:spLocks noChangeShapeType="1"/>
          </p:cNvSpPr>
          <p:nvPr/>
        </p:nvSpPr>
        <p:spPr bwMode="auto">
          <a:xfrm flipV="1">
            <a:off x="6705600" y="6172200"/>
            <a:ext cx="1219200" cy="152400"/>
          </a:xfrm>
          <a:prstGeom prst="line">
            <a:avLst/>
          </a:prstGeom>
          <a:noFill/>
          <a:ln w="19050">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31772" name="Group 28"/>
          <p:cNvGrpSpPr>
            <a:grpSpLocks/>
          </p:cNvGrpSpPr>
          <p:nvPr/>
        </p:nvGrpSpPr>
        <p:grpSpPr bwMode="auto">
          <a:xfrm>
            <a:off x="8091488" y="5638800"/>
            <a:ext cx="1204912" cy="476250"/>
            <a:chOff x="4137" y="3552"/>
            <a:chExt cx="759" cy="300"/>
          </a:xfrm>
        </p:grpSpPr>
        <p:sp>
          <p:nvSpPr>
            <p:cNvPr id="13331" name="Line 12"/>
            <p:cNvSpPr>
              <a:spLocks noChangeShapeType="1"/>
            </p:cNvSpPr>
            <p:nvPr/>
          </p:nvSpPr>
          <p:spPr bwMode="auto">
            <a:xfrm rot="411643" flipV="1">
              <a:off x="4176" y="3600"/>
              <a:ext cx="336" cy="240"/>
            </a:xfrm>
            <a:prstGeom prst="line">
              <a:avLst/>
            </a:prstGeom>
            <a:noFill/>
            <a:ln w="28575">
              <a:solidFill>
                <a:srgbClr val="99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3332" name="Group 17"/>
            <p:cNvGrpSpPr>
              <a:grpSpLocks/>
            </p:cNvGrpSpPr>
            <p:nvPr/>
          </p:nvGrpSpPr>
          <p:grpSpPr bwMode="auto">
            <a:xfrm>
              <a:off x="4512" y="3552"/>
              <a:ext cx="384" cy="231"/>
              <a:chOff x="2448" y="1968"/>
              <a:chExt cx="384" cy="231"/>
            </a:xfrm>
          </p:grpSpPr>
          <p:sp>
            <p:nvSpPr>
              <p:cNvPr id="13334" name="Text Box 18"/>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endParaRPr lang="en-US" altLang="en-US" sz="1800" b="1" baseline="-25000">
                  <a:solidFill>
                    <a:srgbClr val="FF99FF"/>
                  </a:solidFill>
                </a:endParaRPr>
              </a:p>
            </p:txBody>
          </p:sp>
          <p:sp>
            <p:nvSpPr>
              <p:cNvPr id="13335" name="Line 19"/>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13333" name="Oval 24"/>
            <p:cNvSpPr>
              <a:spLocks noChangeArrowheads="1"/>
            </p:cNvSpPr>
            <p:nvPr/>
          </p:nvSpPr>
          <p:spPr bwMode="auto">
            <a:xfrm flipH="1">
              <a:off x="4137" y="3804"/>
              <a:ext cx="48" cy="48"/>
            </a:xfrm>
            <a:prstGeom prst="ellipse">
              <a:avLst/>
            </a:prstGeom>
            <a:solidFill>
              <a:srgbClr val="9999FF"/>
            </a:solidFill>
            <a:ln>
              <a:noFill/>
            </a:ln>
            <a:effectLst/>
            <a:extLst>
              <a:ext uri="{91240B29-F687-4F45-9708-019B960494DF}">
                <a14:hiddenLine xmlns:a14="http://schemas.microsoft.com/office/drawing/2010/main" w="28575">
                  <a:solidFill>
                    <a:srgbClr val="00FF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grpSp>
      <p:grpSp>
        <p:nvGrpSpPr>
          <p:cNvPr id="31771" name="Group 27"/>
          <p:cNvGrpSpPr>
            <a:grpSpLocks/>
          </p:cNvGrpSpPr>
          <p:nvPr/>
        </p:nvGrpSpPr>
        <p:grpSpPr bwMode="auto">
          <a:xfrm>
            <a:off x="3581400" y="5976938"/>
            <a:ext cx="990600" cy="500062"/>
            <a:chOff x="1296" y="3765"/>
            <a:chExt cx="624" cy="315"/>
          </a:xfrm>
        </p:grpSpPr>
        <p:sp>
          <p:nvSpPr>
            <p:cNvPr id="13326" name="Line 9"/>
            <p:cNvSpPr>
              <a:spLocks noChangeShapeType="1"/>
            </p:cNvSpPr>
            <p:nvPr/>
          </p:nvSpPr>
          <p:spPr bwMode="auto">
            <a:xfrm>
              <a:off x="1344" y="3792"/>
              <a:ext cx="528" cy="0"/>
            </a:xfrm>
            <a:prstGeom prst="line">
              <a:avLst/>
            </a:prstGeom>
            <a:noFill/>
            <a:ln w="28575">
              <a:solidFill>
                <a:srgbClr val="99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3327" name="Group 14"/>
            <p:cNvGrpSpPr>
              <a:grpSpLocks/>
            </p:cNvGrpSpPr>
            <p:nvPr/>
          </p:nvGrpSpPr>
          <p:grpSpPr bwMode="auto">
            <a:xfrm>
              <a:off x="1536" y="3849"/>
              <a:ext cx="384" cy="231"/>
              <a:chOff x="2448" y="1968"/>
              <a:chExt cx="384" cy="231"/>
            </a:xfrm>
          </p:grpSpPr>
          <p:sp>
            <p:nvSpPr>
              <p:cNvPr id="13329" name="Text Box 15"/>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endParaRPr lang="en-US" altLang="en-US" sz="1800" b="1" baseline="-25000">
                  <a:solidFill>
                    <a:srgbClr val="FF99FF"/>
                  </a:solidFill>
                </a:endParaRPr>
              </a:p>
            </p:txBody>
          </p:sp>
          <p:sp>
            <p:nvSpPr>
              <p:cNvPr id="13330" name="Line 16"/>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13328" name="Oval 25"/>
            <p:cNvSpPr>
              <a:spLocks noChangeArrowheads="1"/>
            </p:cNvSpPr>
            <p:nvPr/>
          </p:nvSpPr>
          <p:spPr bwMode="auto">
            <a:xfrm flipH="1">
              <a:off x="1296" y="3765"/>
              <a:ext cx="48" cy="48"/>
            </a:xfrm>
            <a:prstGeom prst="ellipse">
              <a:avLst/>
            </a:prstGeom>
            <a:solidFill>
              <a:srgbClr val="9999FF"/>
            </a:solidFill>
            <a:ln>
              <a:noFill/>
            </a:ln>
            <a:effectLst/>
            <a:extLst>
              <a:ext uri="{91240B29-F687-4F45-9708-019B960494DF}">
                <a14:hiddenLine xmlns:a14="http://schemas.microsoft.com/office/drawing/2010/main" w="28575">
                  <a:solidFill>
                    <a:srgbClr val="00FF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grpSp>
      <p:sp>
        <p:nvSpPr>
          <p:cNvPr id="31770" name="Rectangle 26"/>
          <p:cNvSpPr>
            <a:spLocks noChangeArrowheads="1"/>
          </p:cNvSpPr>
          <p:nvPr/>
        </p:nvSpPr>
        <p:spPr bwMode="auto">
          <a:xfrm>
            <a:off x="2514600" y="5562600"/>
            <a:ext cx="6934200" cy="1143000"/>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FF"/>
              </a:solidFill>
            </a:endParaRPr>
          </a:p>
        </p:txBody>
      </p:sp>
    </p:spTree>
    <p:extLst>
      <p:ext uri="{BB962C8B-B14F-4D97-AF65-F5344CB8AC3E}">
        <p14:creationId xmlns:p14="http://schemas.microsoft.com/office/powerpoint/2010/main" val="36431511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animEffect transition="in" filter="wipe(up)">
                                      <p:cBhvr>
                                        <p:cTn id="7" dur="500"/>
                                        <p:tgtEl>
                                          <p:spTgt spid="3174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1749">
                                            <p:txEl>
                                              <p:pRg st="1" end="1"/>
                                            </p:txEl>
                                          </p:spTgt>
                                        </p:tgtEl>
                                        <p:attrNameLst>
                                          <p:attrName>style.visibility</p:attrName>
                                        </p:attrNameLst>
                                      </p:cBhvr>
                                      <p:to>
                                        <p:strVal val="visible"/>
                                      </p:to>
                                    </p:set>
                                    <p:animEffect transition="in" filter="wipe(up)">
                                      <p:cBhvr>
                                        <p:cTn id="12" dur="500"/>
                                        <p:tgtEl>
                                          <p:spTgt spid="3174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1749">
                                            <p:txEl>
                                              <p:pRg st="2" end="2"/>
                                            </p:txEl>
                                          </p:spTgt>
                                        </p:tgtEl>
                                        <p:attrNameLst>
                                          <p:attrName>style.visibility</p:attrName>
                                        </p:attrNameLst>
                                      </p:cBhvr>
                                      <p:to>
                                        <p:strVal val="visible"/>
                                      </p:to>
                                    </p:set>
                                    <p:animEffect transition="in" filter="wipe(up)">
                                      <p:cBhvr>
                                        <p:cTn id="17" dur="500"/>
                                        <p:tgtEl>
                                          <p:spTgt spid="3174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1749">
                                            <p:txEl>
                                              <p:pRg st="3" end="3"/>
                                            </p:txEl>
                                          </p:spTgt>
                                        </p:tgtEl>
                                        <p:attrNameLst>
                                          <p:attrName>style.visibility</p:attrName>
                                        </p:attrNameLst>
                                      </p:cBhvr>
                                      <p:to>
                                        <p:strVal val="visible"/>
                                      </p:to>
                                    </p:set>
                                    <p:animEffect transition="in" filter="wipe(up)">
                                      <p:cBhvr>
                                        <p:cTn id="22" dur="500"/>
                                        <p:tgtEl>
                                          <p:spTgt spid="3174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1749">
                                            <p:txEl>
                                              <p:pRg st="4" end="4"/>
                                            </p:txEl>
                                          </p:spTgt>
                                        </p:tgtEl>
                                        <p:attrNameLst>
                                          <p:attrName>style.visibility</p:attrName>
                                        </p:attrNameLst>
                                      </p:cBhvr>
                                      <p:to>
                                        <p:strVal val="visible"/>
                                      </p:to>
                                    </p:set>
                                    <p:animEffect transition="in" filter="wipe(up)">
                                      <p:cBhvr>
                                        <p:cTn id="27" dur="500"/>
                                        <p:tgtEl>
                                          <p:spTgt spid="3174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1748"/>
                                        </p:tgtEl>
                                        <p:attrNameLst>
                                          <p:attrName>style.visibility</p:attrName>
                                        </p:attrNameLst>
                                      </p:cBhvr>
                                      <p:to>
                                        <p:strVal val="visible"/>
                                      </p:to>
                                    </p:set>
                                    <p:animEffect transition="in" filter="wipe(up)">
                                      <p:cBhvr>
                                        <p:cTn id="32" dur="500"/>
                                        <p:tgtEl>
                                          <p:spTgt spid="317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1750"/>
                                        </p:tgtEl>
                                        <p:attrNameLst>
                                          <p:attrName>style.visibility</p:attrName>
                                        </p:attrNameLst>
                                      </p:cBhvr>
                                      <p:to>
                                        <p:strVal val="visible"/>
                                      </p:to>
                                    </p:set>
                                    <p:animEffect transition="in" filter="slide(fromLeft)">
                                      <p:cBhvr>
                                        <p:cTn id="37" dur="500"/>
                                        <p:tgtEl>
                                          <p:spTgt spid="317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31751">
                                            <p:txEl>
                                              <p:pRg st="0" end="0"/>
                                            </p:txEl>
                                          </p:spTgt>
                                        </p:tgtEl>
                                        <p:attrNameLst>
                                          <p:attrName>style.visibility</p:attrName>
                                        </p:attrNameLst>
                                      </p:cBhvr>
                                      <p:to>
                                        <p:strVal val="visible"/>
                                      </p:to>
                                    </p:set>
                                    <p:animEffect transition="in" filter="wipe(up)">
                                      <p:cBhvr>
                                        <p:cTn id="42" dur="500"/>
                                        <p:tgtEl>
                                          <p:spTgt spid="31751">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31751">
                                            <p:txEl>
                                              <p:pRg st="1" end="1"/>
                                            </p:txEl>
                                          </p:spTgt>
                                        </p:tgtEl>
                                        <p:attrNameLst>
                                          <p:attrName>style.visibility</p:attrName>
                                        </p:attrNameLst>
                                      </p:cBhvr>
                                      <p:to>
                                        <p:strVal val="visible"/>
                                      </p:to>
                                    </p:set>
                                    <p:animEffect transition="in" filter="wipe(up)">
                                      <p:cBhvr>
                                        <p:cTn id="47" dur="500"/>
                                        <p:tgtEl>
                                          <p:spTgt spid="31751">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0" fill="hold" grpId="0" nodeType="clickEffect">
                                  <p:stCondLst>
                                    <p:cond delay="0"/>
                                  </p:stCondLst>
                                  <p:childTnLst>
                                    <p:set>
                                      <p:cBhvr>
                                        <p:cTn id="51" dur="1" fill="hold">
                                          <p:stCondLst>
                                            <p:cond delay="0"/>
                                          </p:stCondLst>
                                        </p:cTn>
                                        <p:tgtEl>
                                          <p:spTgt spid="31770"/>
                                        </p:tgtEl>
                                        <p:attrNameLst>
                                          <p:attrName>style.visibility</p:attrName>
                                        </p:attrNameLst>
                                      </p:cBhvr>
                                      <p:to>
                                        <p:strVal val="visible"/>
                                      </p:to>
                                    </p:set>
                                    <p:anim calcmode="lin" valueType="num">
                                      <p:cBhvr>
                                        <p:cTn id="52" dur="500" fill="hold"/>
                                        <p:tgtEl>
                                          <p:spTgt spid="31770"/>
                                        </p:tgtEl>
                                        <p:attrNameLst>
                                          <p:attrName>ppt_w</p:attrName>
                                        </p:attrNameLst>
                                      </p:cBhvr>
                                      <p:tavLst>
                                        <p:tav tm="0">
                                          <p:val>
                                            <p:fltVal val="0"/>
                                          </p:val>
                                        </p:tav>
                                        <p:tav tm="100000">
                                          <p:val>
                                            <p:strVal val="#ppt_w"/>
                                          </p:val>
                                        </p:tav>
                                      </p:tavLst>
                                    </p:anim>
                                    <p:anim calcmode="lin" valueType="num">
                                      <p:cBhvr>
                                        <p:cTn id="53" dur="500" fill="hold"/>
                                        <p:tgtEl>
                                          <p:spTgt spid="31770"/>
                                        </p:tgtEl>
                                        <p:attrNameLst>
                                          <p:attrName>ppt_h</p:attrName>
                                        </p:attrNameLst>
                                      </p:cBhvr>
                                      <p:tavLst>
                                        <p:tav tm="0">
                                          <p:val>
                                            <p:fltVal val="0"/>
                                          </p:val>
                                        </p:tav>
                                        <p:tav tm="100000">
                                          <p:val>
                                            <p:strVal val="#ppt_h"/>
                                          </p:val>
                                        </p:tav>
                                      </p:tavLst>
                                    </p:anim>
                                    <p:animEffect transition="in" filter="fade">
                                      <p:cBhvr>
                                        <p:cTn id="54" dur="500"/>
                                        <p:tgtEl>
                                          <p:spTgt spid="3177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31752"/>
                                        </p:tgtEl>
                                        <p:attrNameLst>
                                          <p:attrName>style.visibility</p:attrName>
                                        </p:attrNameLst>
                                      </p:cBhvr>
                                      <p:to>
                                        <p:strVal val="visible"/>
                                      </p:to>
                                    </p:set>
                                    <p:animEffect transition="in" filter="wipe(left)">
                                      <p:cBhvr>
                                        <p:cTn id="59" dur="500"/>
                                        <p:tgtEl>
                                          <p:spTgt spid="3175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31754"/>
                                        </p:tgtEl>
                                        <p:attrNameLst>
                                          <p:attrName>style.visibility</p:attrName>
                                        </p:attrNameLst>
                                      </p:cBhvr>
                                      <p:to>
                                        <p:strVal val="visible"/>
                                      </p:to>
                                    </p:set>
                                    <p:animEffect transition="in" filter="wipe(left)">
                                      <p:cBhvr>
                                        <p:cTn id="64" dur="500"/>
                                        <p:tgtEl>
                                          <p:spTgt spid="3175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3" presetClass="entr" presetSubtype="0" fill="hold" grpId="0" nodeType="clickEffect">
                                  <p:stCondLst>
                                    <p:cond delay="0"/>
                                  </p:stCondLst>
                                  <p:childTnLst>
                                    <p:set>
                                      <p:cBhvr>
                                        <p:cTn id="68" dur="1" fill="hold">
                                          <p:stCondLst>
                                            <p:cond delay="0"/>
                                          </p:stCondLst>
                                        </p:cTn>
                                        <p:tgtEl>
                                          <p:spTgt spid="31765"/>
                                        </p:tgtEl>
                                        <p:attrNameLst>
                                          <p:attrName>style.visibility</p:attrName>
                                        </p:attrNameLst>
                                      </p:cBhvr>
                                      <p:to>
                                        <p:strVal val="visible"/>
                                      </p:to>
                                    </p:set>
                                    <p:anim calcmode="lin" valueType="num">
                                      <p:cBhvr>
                                        <p:cTn id="69" dur="500" fill="hold"/>
                                        <p:tgtEl>
                                          <p:spTgt spid="31765"/>
                                        </p:tgtEl>
                                        <p:attrNameLst>
                                          <p:attrName>ppt_w</p:attrName>
                                        </p:attrNameLst>
                                      </p:cBhvr>
                                      <p:tavLst>
                                        <p:tav tm="0">
                                          <p:val>
                                            <p:fltVal val="0"/>
                                          </p:val>
                                        </p:tav>
                                        <p:tav tm="100000">
                                          <p:val>
                                            <p:strVal val="#ppt_w"/>
                                          </p:val>
                                        </p:tav>
                                      </p:tavLst>
                                    </p:anim>
                                    <p:anim calcmode="lin" valueType="num">
                                      <p:cBhvr>
                                        <p:cTn id="70" dur="500" fill="hold"/>
                                        <p:tgtEl>
                                          <p:spTgt spid="31765"/>
                                        </p:tgtEl>
                                        <p:attrNameLst>
                                          <p:attrName>ppt_h</p:attrName>
                                        </p:attrNameLst>
                                      </p:cBhvr>
                                      <p:tavLst>
                                        <p:tav tm="0">
                                          <p:val>
                                            <p:fltVal val="0"/>
                                          </p:val>
                                        </p:tav>
                                        <p:tav tm="100000">
                                          <p:val>
                                            <p:strVal val="#ppt_h"/>
                                          </p:val>
                                        </p:tav>
                                      </p:tavLst>
                                    </p:anim>
                                    <p:animEffect transition="in" filter="fade">
                                      <p:cBhvr>
                                        <p:cTn id="71" dur="500"/>
                                        <p:tgtEl>
                                          <p:spTgt spid="31765"/>
                                        </p:tgtEl>
                                      </p:cBhvr>
                                    </p:animEffect>
                                  </p:childTnLst>
                                </p:cTn>
                              </p:par>
                            </p:childTnLst>
                          </p:cTn>
                        </p:par>
                        <p:par>
                          <p:cTn id="72" fill="hold" nodeType="afterGroup">
                            <p:stCondLst>
                              <p:cond delay="500"/>
                            </p:stCondLst>
                            <p:childTnLst>
                              <p:par>
                                <p:cTn id="73" presetID="22" presetClass="entr" presetSubtype="2" fill="hold" nodeType="afterEffect">
                                  <p:stCondLst>
                                    <p:cond delay="0"/>
                                  </p:stCondLst>
                                  <p:childTnLst>
                                    <p:set>
                                      <p:cBhvr>
                                        <p:cTn id="74" dur="1" fill="hold">
                                          <p:stCondLst>
                                            <p:cond delay="0"/>
                                          </p:stCondLst>
                                        </p:cTn>
                                        <p:tgtEl>
                                          <p:spTgt spid="31766"/>
                                        </p:tgtEl>
                                        <p:attrNameLst>
                                          <p:attrName>style.visibility</p:attrName>
                                        </p:attrNameLst>
                                      </p:cBhvr>
                                      <p:to>
                                        <p:strVal val="visible"/>
                                      </p:to>
                                    </p:set>
                                    <p:animEffect transition="in" filter="wipe(right)">
                                      <p:cBhvr>
                                        <p:cTn id="75" dur="500"/>
                                        <p:tgtEl>
                                          <p:spTgt spid="31766"/>
                                        </p:tgtEl>
                                      </p:cBhvr>
                                    </p:animEffect>
                                  </p:childTnLst>
                                </p:cTn>
                              </p:par>
                              <p:par>
                                <p:cTn id="76" presetID="22" presetClass="entr" presetSubtype="8" fill="hold" nodeType="withEffect">
                                  <p:stCondLst>
                                    <p:cond delay="0"/>
                                  </p:stCondLst>
                                  <p:childTnLst>
                                    <p:set>
                                      <p:cBhvr>
                                        <p:cTn id="77" dur="1" fill="hold">
                                          <p:stCondLst>
                                            <p:cond delay="0"/>
                                          </p:stCondLst>
                                        </p:cTn>
                                        <p:tgtEl>
                                          <p:spTgt spid="31767"/>
                                        </p:tgtEl>
                                        <p:attrNameLst>
                                          <p:attrName>style.visibility</p:attrName>
                                        </p:attrNameLst>
                                      </p:cBhvr>
                                      <p:to>
                                        <p:strVal val="visible"/>
                                      </p:to>
                                    </p:set>
                                    <p:animEffect transition="in" filter="wipe(left)">
                                      <p:cBhvr>
                                        <p:cTn id="78" dur="500"/>
                                        <p:tgtEl>
                                          <p:spTgt spid="3176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31771"/>
                                        </p:tgtEl>
                                        <p:attrNameLst>
                                          <p:attrName>style.visibility</p:attrName>
                                        </p:attrNameLst>
                                      </p:cBhvr>
                                      <p:to>
                                        <p:strVal val="visible"/>
                                      </p:to>
                                    </p:set>
                                    <p:animEffect transition="in" filter="wipe(left)">
                                      <p:cBhvr>
                                        <p:cTn id="83" dur="500"/>
                                        <p:tgtEl>
                                          <p:spTgt spid="3177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31772"/>
                                        </p:tgtEl>
                                        <p:attrNameLst>
                                          <p:attrName>style.visibility</p:attrName>
                                        </p:attrNameLst>
                                      </p:cBhvr>
                                      <p:to>
                                        <p:strVal val="visible"/>
                                      </p:to>
                                    </p:set>
                                    <p:animEffect transition="in" filter="wipe(left)">
                                      <p:cBhvr>
                                        <p:cTn id="88" dur="500"/>
                                        <p:tgtEl>
                                          <p:spTgt spid="31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50" grpId="0"/>
      <p:bldP spid="31765" grpId="0"/>
      <p:bldP spid="3177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Text Box 4"/>
          <p:cNvSpPr txBox="1">
            <a:spLocks noChangeArrowheads="1"/>
          </p:cNvSpPr>
          <p:nvPr/>
        </p:nvSpPr>
        <p:spPr bwMode="auto">
          <a:xfrm>
            <a:off x="1600200" y="44451"/>
            <a:ext cx="609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000" b="1">
                <a:solidFill>
                  <a:srgbClr val="FFCC99"/>
                </a:solidFill>
              </a:rPr>
              <a:t>1.  Electric Lines of Force due to a Point Charge:</a:t>
            </a:r>
          </a:p>
        </p:txBody>
      </p:sp>
      <p:sp>
        <p:nvSpPr>
          <p:cNvPr id="37915" name="Rectangle 27"/>
          <p:cNvSpPr>
            <a:spLocks noChangeArrowheads="1"/>
          </p:cNvSpPr>
          <p:nvPr/>
        </p:nvSpPr>
        <p:spPr bwMode="auto">
          <a:xfrm>
            <a:off x="6400800" y="3595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q &lt; 0</a:t>
            </a:r>
            <a:endParaRPr lang="en-US" altLang="en-US" sz="1800" b="1" baseline="-25000">
              <a:solidFill>
                <a:srgbClr val="66FF33"/>
              </a:solidFill>
            </a:endParaRPr>
          </a:p>
        </p:txBody>
      </p:sp>
      <p:sp>
        <p:nvSpPr>
          <p:cNvPr id="37934" name="Rectangle 46"/>
          <p:cNvSpPr>
            <a:spLocks noChangeArrowheads="1"/>
          </p:cNvSpPr>
          <p:nvPr/>
        </p:nvSpPr>
        <p:spPr bwMode="auto">
          <a:xfrm>
            <a:off x="2819400" y="3595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q &gt; 0</a:t>
            </a:r>
            <a:endParaRPr lang="en-US" altLang="en-US" sz="1800" b="1" baseline="-25000">
              <a:solidFill>
                <a:srgbClr val="66FF33"/>
              </a:solidFill>
            </a:endParaRPr>
          </a:p>
        </p:txBody>
      </p:sp>
      <p:grpSp>
        <p:nvGrpSpPr>
          <p:cNvPr id="37952" name="Group 64"/>
          <p:cNvGrpSpPr>
            <a:grpSpLocks/>
          </p:cNvGrpSpPr>
          <p:nvPr/>
        </p:nvGrpSpPr>
        <p:grpSpPr bwMode="auto">
          <a:xfrm flipV="1">
            <a:off x="3200400" y="2020888"/>
            <a:ext cx="1352550" cy="57150"/>
            <a:chOff x="1440" y="3312"/>
            <a:chExt cx="1392" cy="0"/>
          </a:xfrm>
        </p:grpSpPr>
        <p:sp>
          <p:nvSpPr>
            <p:cNvPr id="15475" name="Line 60"/>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6" name="Line 61"/>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7" name="Line 62"/>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8" name="Line 63"/>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58" name="Group 70"/>
          <p:cNvGrpSpPr>
            <a:grpSpLocks/>
          </p:cNvGrpSpPr>
          <p:nvPr/>
        </p:nvGrpSpPr>
        <p:grpSpPr bwMode="auto">
          <a:xfrm rot="16200000" flipV="1">
            <a:off x="2476501" y="1219201"/>
            <a:ext cx="1427163" cy="55563"/>
            <a:chOff x="1440" y="3312"/>
            <a:chExt cx="1392" cy="0"/>
          </a:xfrm>
        </p:grpSpPr>
        <p:sp>
          <p:nvSpPr>
            <p:cNvPr id="15471" name="Line 71"/>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2" name="Line 72"/>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3" name="Line 73"/>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4" name="Line 74"/>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63" name="Group 75"/>
          <p:cNvGrpSpPr>
            <a:grpSpLocks/>
          </p:cNvGrpSpPr>
          <p:nvPr/>
        </p:nvGrpSpPr>
        <p:grpSpPr bwMode="auto">
          <a:xfrm rot="5400000" flipV="1">
            <a:off x="2419351" y="2763838"/>
            <a:ext cx="1427162" cy="55563"/>
            <a:chOff x="1440" y="3312"/>
            <a:chExt cx="1392" cy="0"/>
          </a:xfrm>
        </p:grpSpPr>
        <p:sp>
          <p:nvSpPr>
            <p:cNvPr id="15467" name="Line 76"/>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8" name="Line 77"/>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9" name="Line 78"/>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70" name="Line 79"/>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68" name="Group 80"/>
          <p:cNvGrpSpPr>
            <a:grpSpLocks/>
          </p:cNvGrpSpPr>
          <p:nvPr/>
        </p:nvGrpSpPr>
        <p:grpSpPr bwMode="auto">
          <a:xfrm flipH="1" flipV="1">
            <a:off x="1752600" y="2019300"/>
            <a:ext cx="1352550" cy="58738"/>
            <a:chOff x="1440" y="3312"/>
            <a:chExt cx="1392" cy="0"/>
          </a:xfrm>
        </p:grpSpPr>
        <p:sp>
          <p:nvSpPr>
            <p:cNvPr id="15463" name="Line 81"/>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4" name="Line 82"/>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5" name="Line 83"/>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6" name="Line 84"/>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73" name="Group 85"/>
          <p:cNvGrpSpPr>
            <a:grpSpLocks/>
          </p:cNvGrpSpPr>
          <p:nvPr/>
        </p:nvGrpSpPr>
        <p:grpSpPr bwMode="auto">
          <a:xfrm rot="18836997" flipV="1">
            <a:off x="2932907" y="1472407"/>
            <a:ext cx="1546225" cy="55562"/>
            <a:chOff x="1440" y="3312"/>
            <a:chExt cx="1392" cy="0"/>
          </a:xfrm>
        </p:grpSpPr>
        <p:sp>
          <p:nvSpPr>
            <p:cNvPr id="15459" name="Line 86"/>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0" name="Line 87"/>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1" name="Line 88"/>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62" name="Line 89"/>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88" name="Group 100"/>
          <p:cNvGrpSpPr>
            <a:grpSpLocks/>
          </p:cNvGrpSpPr>
          <p:nvPr/>
        </p:nvGrpSpPr>
        <p:grpSpPr bwMode="auto">
          <a:xfrm rot="8036997" flipV="1">
            <a:off x="1853407" y="2526507"/>
            <a:ext cx="1546225" cy="55562"/>
            <a:chOff x="1440" y="3312"/>
            <a:chExt cx="1392" cy="0"/>
          </a:xfrm>
        </p:grpSpPr>
        <p:sp>
          <p:nvSpPr>
            <p:cNvPr id="15455" name="Line 101"/>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6" name="Line 102"/>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7" name="Line 103"/>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8" name="Line 104"/>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93" name="Group 105"/>
          <p:cNvGrpSpPr>
            <a:grpSpLocks/>
          </p:cNvGrpSpPr>
          <p:nvPr/>
        </p:nvGrpSpPr>
        <p:grpSpPr bwMode="auto">
          <a:xfrm rot="13436997" flipV="1">
            <a:off x="1905001" y="1425575"/>
            <a:ext cx="1465263" cy="58738"/>
            <a:chOff x="1440" y="3312"/>
            <a:chExt cx="1392" cy="0"/>
          </a:xfrm>
        </p:grpSpPr>
        <p:sp>
          <p:nvSpPr>
            <p:cNvPr id="15451" name="Line 106"/>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2" name="Line 107"/>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3" name="Line 108"/>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4" name="Line 109"/>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7998" name="Group 110"/>
          <p:cNvGrpSpPr>
            <a:grpSpLocks/>
          </p:cNvGrpSpPr>
          <p:nvPr/>
        </p:nvGrpSpPr>
        <p:grpSpPr bwMode="auto">
          <a:xfrm rot="2636997" flipV="1">
            <a:off x="2971801" y="2532064"/>
            <a:ext cx="1465263" cy="58737"/>
            <a:chOff x="1440" y="3312"/>
            <a:chExt cx="1392" cy="0"/>
          </a:xfrm>
        </p:grpSpPr>
        <p:sp>
          <p:nvSpPr>
            <p:cNvPr id="15447" name="Line 111"/>
            <p:cNvSpPr>
              <a:spLocks noChangeShapeType="1"/>
            </p:cNvSpPr>
            <p:nvPr/>
          </p:nvSpPr>
          <p:spPr bwMode="auto">
            <a:xfrm>
              <a:off x="1440" y="3312"/>
              <a:ext cx="62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8" name="Line 112"/>
            <p:cNvSpPr>
              <a:spLocks noChangeShapeType="1"/>
            </p:cNvSpPr>
            <p:nvPr/>
          </p:nvSpPr>
          <p:spPr bwMode="auto">
            <a:xfrm>
              <a:off x="2448" y="3312"/>
              <a:ext cx="240"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9" name="Line 113"/>
            <p:cNvSpPr>
              <a:spLocks noChangeShapeType="1"/>
            </p:cNvSpPr>
            <p:nvPr/>
          </p:nvSpPr>
          <p:spPr bwMode="auto">
            <a:xfrm>
              <a:off x="2688" y="3312"/>
              <a:ext cx="14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50" name="Line 114"/>
            <p:cNvSpPr>
              <a:spLocks noChangeShapeType="1"/>
            </p:cNvSpPr>
            <p:nvPr/>
          </p:nvSpPr>
          <p:spPr bwMode="auto">
            <a:xfrm>
              <a:off x="2064" y="3312"/>
              <a:ext cx="384"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37947" name="Oval 59"/>
          <p:cNvSpPr>
            <a:spLocks noChangeArrowheads="1"/>
          </p:cNvSpPr>
          <p:nvPr/>
        </p:nvSpPr>
        <p:spPr bwMode="auto">
          <a:xfrm>
            <a:off x="3095625" y="1966914"/>
            <a:ext cx="114300" cy="117475"/>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grpSp>
        <p:nvGrpSpPr>
          <p:cNvPr id="38006" name="Group 118"/>
          <p:cNvGrpSpPr>
            <a:grpSpLocks/>
          </p:cNvGrpSpPr>
          <p:nvPr/>
        </p:nvGrpSpPr>
        <p:grpSpPr bwMode="auto">
          <a:xfrm flipV="1">
            <a:off x="6781800" y="2020888"/>
            <a:ext cx="1352550" cy="57150"/>
            <a:chOff x="1440" y="3312"/>
            <a:chExt cx="1392" cy="0"/>
          </a:xfrm>
        </p:grpSpPr>
        <p:sp>
          <p:nvSpPr>
            <p:cNvPr id="15443" name="Line 119"/>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4" name="Line 120"/>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5" name="Line 121"/>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6" name="Line 122"/>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11" name="Group 123"/>
          <p:cNvGrpSpPr>
            <a:grpSpLocks/>
          </p:cNvGrpSpPr>
          <p:nvPr/>
        </p:nvGrpSpPr>
        <p:grpSpPr bwMode="auto">
          <a:xfrm rot="16200000" flipV="1">
            <a:off x="6057901" y="1219201"/>
            <a:ext cx="1427163" cy="55563"/>
            <a:chOff x="1440" y="3312"/>
            <a:chExt cx="1392" cy="0"/>
          </a:xfrm>
        </p:grpSpPr>
        <p:sp>
          <p:nvSpPr>
            <p:cNvPr id="15439" name="Line 124"/>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0" name="Line 125"/>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1" name="Line 126"/>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42" name="Line 127"/>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16" name="Group 128"/>
          <p:cNvGrpSpPr>
            <a:grpSpLocks/>
          </p:cNvGrpSpPr>
          <p:nvPr/>
        </p:nvGrpSpPr>
        <p:grpSpPr bwMode="auto">
          <a:xfrm rot="5400000" flipV="1">
            <a:off x="6000751" y="2763838"/>
            <a:ext cx="1427162" cy="55563"/>
            <a:chOff x="1440" y="3312"/>
            <a:chExt cx="1392" cy="0"/>
          </a:xfrm>
        </p:grpSpPr>
        <p:sp>
          <p:nvSpPr>
            <p:cNvPr id="15435" name="Line 129"/>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6" name="Line 130"/>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7" name="Line 131"/>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8" name="Line 132"/>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21" name="Group 133"/>
          <p:cNvGrpSpPr>
            <a:grpSpLocks/>
          </p:cNvGrpSpPr>
          <p:nvPr/>
        </p:nvGrpSpPr>
        <p:grpSpPr bwMode="auto">
          <a:xfrm flipH="1" flipV="1">
            <a:off x="5353050" y="2019300"/>
            <a:ext cx="1352550" cy="58738"/>
            <a:chOff x="1440" y="3312"/>
            <a:chExt cx="1392" cy="0"/>
          </a:xfrm>
        </p:grpSpPr>
        <p:sp>
          <p:nvSpPr>
            <p:cNvPr id="15431" name="Line 134"/>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2" name="Line 135"/>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3" name="Line 136"/>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4" name="Line 137"/>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26" name="Group 138"/>
          <p:cNvGrpSpPr>
            <a:grpSpLocks/>
          </p:cNvGrpSpPr>
          <p:nvPr/>
        </p:nvGrpSpPr>
        <p:grpSpPr bwMode="auto">
          <a:xfrm rot="18836997" flipV="1">
            <a:off x="6569870" y="1431132"/>
            <a:ext cx="1546225" cy="55563"/>
            <a:chOff x="1440" y="3312"/>
            <a:chExt cx="1392" cy="0"/>
          </a:xfrm>
        </p:grpSpPr>
        <p:sp>
          <p:nvSpPr>
            <p:cNvPr id="15427" name="Line 139"/>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8" name="Line 140"/>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9" name="Line 141"/>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30" name="Line 142"/>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31" name="Group 143"/>
          <p:cNvGrpSpPr>
            <a:grpSpLocks/>
          </p:cNvGrpSpPr>
          <p:nvPr/>
        </p:nvGrpSpPr>
        <p:grpSpPr bwMode="auto">
          <a:xfrm rot="8036997" flipV="1">
            <a:off x="5371307" y="2551907"/>
            <a:ext cx="1546225" cy="55562"/>
            <a:chOff x="1440" y="3312"/>
            <a:chExt cx="1392" cy="0"/>
          </a:xfrm>
        </p:grpSpPr>
        <p:sp>
          <p:nvSpPr>
            <p:cNvPr id="15423" name="Line 144"/>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4" name="Line 145"/>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5" name="Line 146"/>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6" name="Line 147"/>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36" name="Group 148"/>
          <p:cNvGrpSpPr>
            <a:grpSpLocks/>
          </p:cNvGrpSpPr>
          <p:nvPr/>
        </p:nvGrpSpPr>
        <p:grpSpPr bwMode="auto">
          <a:xfrm rot="13436997" flipV="1">
            <a:off x="5503863" y="1425575"/>
            <a:ext cx="1465262" cy="58738"/>
            <a:chOff x="1440" y="3312"/>
            <a:chExt cx="1392" cy="0"/>
          </a:xfrm>
        </p:grpSpPr>
        <p:sp>
          <p:nvSpPr>
            <p:cNvPr id="15419" name="Line 149"/>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0" name="Line 150"/>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1" name="Line 151"/>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22" name="Line 152"/>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041" name="Group 153"/>
          <p:cNvGrpSpPr>
            <a:grpSpLocks/>
          </p:cNvGrpSpPr>
          <p:nvPr/>
        </p:nvGrpSpPr>
        <p:grpSpPr bwMode="auto">
          <a:xfrm rot="2636997" flipV="1">
            <a:off x="6518276" y="2554289"/>
            <a:ext cx="1465263" cy="58737"/>
            <a:chOff x="1440" y="3312"/>
            <a:chExt cx="1392" cy="0"/>
          </a:xfrm>
        </p:grpSpPr>
        <p:sp>
          <p:nvSpPr>
            <p:cNvPr id="15415" name="Line 154"/>
            <p:cNvSpPr>
              <a:spLocks noChangeShapeType="1"/>
            </p:cNvSpPr>
            <p:nvPr/>
          </p:nvSpPr>
          <p:spPr bwMode="auto">
            <a:xfrm>
              <a:off x="1440" y="3312"/>
              <a:ext cx="62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6" name="Line 155"/>
            <p:cNvSpPr>
              <a:spLocks noChangeShapeType="1"/>
            </p:cNvSpPr>
            <p:nvPr/>
          </p:nvSpPr>
          <p:spPr bwMode="auto">
            <a:xfrm>
              <a:off x="2448" y="3312"/>
              <a:ext cx="240"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7" name="Line 156"/>
            <p:cNvSpPr>
              <a:spLocks noChangeShapeType="1"/>
            </p:cNvSpPr>
            <p:nvPr/>
          </p:nvSpPr>
          <p:spPr bwMode="auto">
            <a:xfrm>
              <a:off x="2688" y="3312"/>
              <a:ext cx="14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8" name="Line 157"/>
            <p:cNvSpPr>
              <a:spLocks noChangeShapeType="1"/>
            </p:cNvSpPr>
            <p:nvPr/>
          </p:nvSpPr>
          <p:spPr bwMode="auto">
            <a:xfrm>
              <a:off x="2064" y="3312"/>
              <a:ext cx="384"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38046" name="Oval 158"/>
          <p:cNvSpPr>
            <a:spLocks noChangeArrowheads="1"/>
          </p:cNvSpPr>
          <p:nvPr/>
        </p:nvSpPr>
        <p:spPr bwMode="auto">
          <a:xfrm>
            <a:off x="6686550" y="1960564"/>
            <a:ext cx="114300" cy="117475"/>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8077" name="Text Box 189"/>
          <p:cNvSpPr txBox="1">
            <a:spLocks noChangeArrowheads="1"/>
          </p:cNvSpPr>
          <p:nvPr/>
        </p:nvSpPr>
        <p:spPr bwMode="auto">
          <a:xfrm>
            <a:off x="8229600" y="879476"/>
            <a:ext cx="2209800" cy="270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lphaLcParenR"/>
            </a:pPr>
            <a:r>
              <a:rPr lang="en-US" altLang="en-US" sz="1800" b="1">
                <a:solidFill>
                  <a:srgbClr val="99FF33"/>
                </a:solidFill>
              </a:rPr>
              <a:t>Representation of electric field in terms of field vectors:</a:t>
            </a:r>
          </a:p>
          <a:p>
            <a:pPr fontAlgn="base">
              <a:spcBef>
                <a:spcPct val="50000"/>
              </a:spcBef>
              <a:spcAft>
                <a:spcPct val="0"/>
              </a:spcAft>
              <a:buNone/>
            </a:pPr>
            <a:r>
              <a:rPr lang="en-US" altLang="en-US" sz="1800" b="1">
                <a:solidFill>
                  <a:srgbClr val="000000"/>
                </a:solidFill>
              </a:rPr>
              <a:t>     </a:t>
            </a:r>
            <a:r>
              <a:rPr lang="en-US" altLang="en-US" sz="1800" b="1">
                <a:solidFill>
                  <a:srgbClr val="FF6600"/>
                </a:solidFill>
              </a:rPr>
              <a:t>The size of the arrow represents the strength of electric field.</a:t>
            </a:r>
          </a:p>
        </p:txBody>
      </p:sp>
      <p:sp>
        <p:nvSpPr>
          <p:cNvPr id="38079" name="Text Box 191"/>
          <p:cNvSpPr txBox="1">
            <a:spLocks noChangeArrowheads="1"/>
          </p:cNvSpPr>
          <p:nvPr/>
        </p:nvSpPr>
        <p:spPr bwMode="auto">
          <a:xfrm>
            <a:off x="8229600" y="4343401"/>
            <a:ext cx="2209800" cy="18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lphaLcParenR" startAt="2"/>
            </a:pPr>
            <a:r>
              <a:rPr lang="en-US" altLang="en-US" sz="1800" b="1">
                <a:solidFill>
                  <a:srgbClr val="CCCC00"/>
                </a:solidFill>
              </a:rPr>
              <a:t>Representation of electric field in terms of field lines</a:t>
            </a:r>
          </a:p>
          <a:p>
            <a:pPr fontAlgn="base">
              <a:spcBef>
                <a:spcPct val="50000"/>
              </a:spcBef>
              <a:spcAft>
                <a:spcPct val="0"/>
              </a:spcAft>
              <a:buNone/>
            </a:pPr>
            <a:r>
              <a:rPr lang="en-US" altLang="en-US" sz="1800" b="1">
                <a:solidFill>
                  <a:srgbClr val="CCCC00"/>
                </a:solidFill>
              </a:rPr>
              <a:t>     (Easy way of drawing)</a:t>
            </a:r>
          </a:p>
        </p:txBody>
      </p:sp>
      <p:sp>
        <p:nvSpPr>
          <p:cNvPr id="38083" name="Line 195"/>
          <p:cNvSpPr>
            <a:spLocks noChangeShapeType="1"/>
          </p:cNvSpPr>
          <p:nvPr/>
        </p:nvSpPr>
        <p:spPr bwMode="auto">
          <a:xfrm>
            <a:off x="4953000" y="533400"/>
            <a:ext cx="0" cy="594360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38117" name="Group 229"/>
          <p:cNvGrpSpPr>
            <a:grpSpLocks/>
          </p:cNvGrpSpPr>
          <p:nvPr/>
        </p:nvGrpSpPr>
        <p:grpSpPr bwMode="auto">
          <a:xfrm>
            <a:off x="2057400" y="4267200"/>
            <a:ext cx="2236788" cy="2236788"/>
            <a:chOff x="336" y="2671"/>
            <a:chExt cx="1409" cy="1409"/>
          </a:xfrm>
        </p:grpSpPr>
        <p:grpSp>
          <p:nvGrpSpPr>
            <p:cNvPr id="15402" name="Group 200"/>
            <p:cNvGrpSpPr>
              <a:grpSpLocks/>
            </p:cNvGrpSpPr>
            <p:nvPr/>
          </p:nvGrpSpPr>
          <p:grpSpPr bwMode="auto">
            <a:xfrm>
              <a:off x="760" y="2671"/>
              <a:ext cx="265" cy="1392"/>
              <a:chOff x="4487" y="48"/>
              <a:chExt cx="265" cy="1392"/>
            </a:xfrm>
          </p:grpSpPr>
          <p:sp>
            <p:nvSpPr>
              <p:cNvPr id="15413" name="Line 201"/>
              <p:cNvSpPr>
                <a:spLocks noChangeShapeType="1"/>
              </p:cNvSpPr>
              <p:nvPr/>
            </p:nvSpPr>
            <p:spPr bwMode="auto">
              <a:xfrm rot="-8317262">
                <a:off x="4752" y="4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4" name="Line 202"/>
              <p:cNvSpPr>
                <a:spLocks noChangeShapeType="1"/>
              </p:cNvSpPr>
              <p:nvPr/>
            </p:nvSpPr>
            <p:spPr bwMode="auto">
              <a:xfrm rot="-2895652" flipH="1" flipV="1">
                <a:off x="4464" y="1048"/>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15403" name="Line 203"/>
            <p:cNvSpPr>
              <a:spLocks noChangeShapeType="1"/>
            </p:cNvSpPr>
            <p:nvPr/>
          </p:nvSpPr>
          <p:spPr bwMode="auto">
            <a:xfrm>
              <a:off x="1025" y="268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4" name="Line 204"/>
            <p:cNvSpPr>
              <a:spLocks noChangeShapeType="1"/>
            </p:cNvSpPr>
            <p:nvPr/>
          </p:nvSpPr>
          <p:spPr bwMode="auto">
            <a:xfrm rot="-5400000">
              <a:off x="1049" y="2664"/>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5" name="Line 205"/>
            <p:cNvSpPr>
              <a:spLocks noChangeShapeType="1"/>
            </p:cNvSpPr>
            <p:nvPr/>
          </p:nvSpPr>
          <p:spPr bwMode="auto">
            <a:xfrm rot="-2759326">
              <a:off x="1032" y="2657"/>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6" name="Line 207"/>
            <p:cNvSpPr>
              <a:spLocks noChangeShapeType="1"/>
            </p:cNvSpPr>
            <p:nvPr/>
          </p:nvSpPr>
          <p:spPr bwMode="auto">
            <a:xfrm rot="5400000" flipH="1" flipV="1">
              <a:off x="1001" y="2952"/>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7" name="Line 208"/>
            <p:cNvSpPr>
              <a:spLocks noChangeShapeType="1"/>
            </p:cNvSpPr>
            <p:nvPr/>
          </p:nvSpPr>
          <p:spPr bwMode="auto">
            <a:xfrm rot="16200000" flipH="1">
              <a:off x="1001" y="3768"/>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8" name="Line 209"/>
            <p:cNvSpPr>
              <a:spLocks noChangeShapeType="1"/>
            </p:cNvSpPr>
            <p:nvPr/>
          </p:nvSpPr>
          <p:spPr bwMode="auto">
            <a:xfrm rot="10800000" flipH="1">
              <a:off x="1409" y="3360"/>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9" name="Line 210"/>
            <p:cNvSpPr>
              <a:spLocks noChangeShapeType="1"/>
            </p:cNvSpPr>
            <p:nvPr/>
          </p:nvSpPr>
          <p:spPr bwMode="auto">
            <a:xfrm rot="10800000">
              <a:off x="593" y="3360"/>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0" name="Line 211"/>
            <p:cNvSpPr>
              <a:spLocks noChangeShapeType="1"/>
            </p:cNvSpPr>
            <p:nvPr/>
          </p:nvSpPr>
          <p:spPr bwMode="auto">
            <a:xfrm rot="2749369" flipH="1">
              <a:off x="689" y="3047"/>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1" name="Line 212"/>
            <p:cNvSpPr>
              <a:spLocks noChangeShapeType="1"/>
            </p:cNvSpPr>
            <p:nvPr/>
          </p:nvSpPr>
          <p:spPr bwMode="auto">
            <a:xfrm rot="-8052422" flipH="1" flipV="1">
              <a:off x="1289" y="3624"/>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12" name="Line 213"/>
            <p:cNvSpPr>
              <a:spLocks noChangeShapeType="1"/>
            </p:cNvSpPr>
            <p:nvPr/>
          </p:nvSpPr>
          <p:spPr bwMode="auto">
            <a:xfrm rot="8147578" flipH="1" flipV="1">
              <a:off x="1265" y="3072"/>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8118" name="Group 230"/>
          <p:cNvGrpSpPr>
            <a:grpSpLocks/>
          </p:cNvGrpSpPr>
          <p:nvPr/>
        </p:nvGrpSpPr>
        <p:grpSpPr bwMode="auto">
          <a:xfrm>
            <a:off x="5638800" y="4267200"/>
            <a:ext cx="2236788" cy="2236788"/>
            <a:chOff x="2592" y="2688"/>
            <a:chExt cx="1409" cy="1409"/>
          </a:xfrm>
        </p:grpSpPr>
        <p:sp>
          <p:nvSpPr>
            <p:cNvPr id="15390" name="Line 216"/>
            <p:cNvSpPr>
              <a:spLocks noChangeShapeType="1"/>
            </p:cNvSpPr>
            <p:nvPr/>
          </p:nvSpPr>
          <p:spPr bwMode="auto">
            <a:xfrm rot="-8317262">
              <a:off x="3281" y="268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1" name="Line 217"/>
            <p:cNvSpPr>
              <a:spLocks noChangeShapeType="1"/>
            </p:cNvSpPr>
            <p:nvPr/>
          </p:nvSpPr>
          <p:spPr bwMode="auto">
            <a:xfrm rot="-2895652" flipH="1" flipV="1">
              <a:off x="2993" y="3688"/>
              <a:ext cx="48" cy="1"/>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2" name="Line 218"/>
            <p:cNvSpPr>
              <a:spLocks noChangeShapeType="1"/>
            </p:cNvSpPr>
            <p:nvPr/>
          </p:nvSpPr>
          <p:spPr bwMode="auto">
            <a:xfrm>
              <a:off x="3281" y="2705"/>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3" name="Line 219"/>
            <p:cNvSpPr>
              <a:spLocks noChangeShapeType="1"/>
            </p:cNvSpPr>
            <p:nvPr/>
          </p:nvSpPr>
          <p:spPr bwMode="auto">
            <a:xfrm rot="-5400000">
              <a:off x="3305" y="2681"/>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4" name="Line 220"/>
            <p:cNvSpPr>
              <a:spLocks noChangeShapeType="1"/>
            </p:cNvSpPr>
            <p:nvPr/>
          </p:nvSpPr>
          <p:spPr bwMode="auto">
            <a:xfrm rot="-2759326">
              <a:off x="3288" y="2674"/>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5" name="Line 222"/>
            <p:cNvSpPr>
              <a:spLocks noChangeShapeType="1"/>
            </p:cNvSpPr>
            <p:nvPr/>
          </p:nvSpPr>
          <p:spPr bwMode="auto">
            <a:xfrm rot="5400000" flipH="1" flipV="1">
              <a:off x="3257" y="2969"/>
              <a:ext cx="48" cy="0"/>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6" name="Line 223"/>
            <p:cNvSpPr>
              <a:spLocks noChangeShapeType="1"/>
            </p:cNvSpPr>
            <p:nvPr/>
          </p:nvSpPr>
          <p:spPr bwMode="auto">
            <a:xfrm rot="16200000" flipH="1">
              <a:off x="3257" y="3785"/>
              <a:ext cx="48" cy="0"/>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7" name="Line 224"/>
            <p:cNvSpPr>
              <a:spLocks noChangeShapeType="1"/>
            </p:cNvSpPr>
            <p:nvPr/>
          </p:nvSpPr>
          <p:spPr bwMode="auto">
            <a:xfrm rot="10800000" flipH="1">
              <a:off x="3665" y="3377"/>
              <a:ext cx="48" cy="0"/>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8" name="Line 225"/>
            <p:cNvSpPr>
              <a:spLocks noChangeShapeType="1"/>
            </p:cNvSpPr>
            <p:nvPr/>
          </p:nvSpPr>
          <p:spPr bwMode="auto">
            <a:xfrm rot="10800000">
              <a:off x="2849" y="3377"/>
              <a:ext cx="48" cy="0"/>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399" name="Line 226"/>
            <p:cNvSpPr>
              <a:spLocks noChangeShapeType="1"/>
            </p:cNvSpPr>
            <p:nvPr/>
          </p:nvSpPr>
          <p:spPr bwMode="auto">
            <a:xfrm rot="2749369" flipH="1">
              <a:off x="2945" y="3064"/>
              <a:ext cx="48" cy="1"/>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0" name="Line 227"/>
            <p:cNvSpPr>
              <a:spLocks noChangeShapeType="1"/>
            </p:cNvSpPr>
            <p:nvPr/>
          </p:nvSpPr>
          <p:spPr bwMode="auto">
            <a:xfrm rot="-8052422" flipH="1" flipV="1">
              <a:off x="3545" y="3641"/>
              <a:ext cx="48" cy="0"/>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5401" name="Line 228"/>
            <p:cNvSpPr>
              <a:spLocks noChangeShapeType="1"/>
            </p:cNvSpPr>
            <p:nvPr/>
          </p:nvSpPr>
          <p:spPr bwMode="auto">
            <a:xfrm rot="8147578" flipH="1" flipV="1">
              <a:off x="3521" y="3089"/>
              <a:ext cx="48" cy="0"/>
            </a:xfrm>
            <a:prstGeom prst="line">
              <a:avLst/>
            </a:prstGeom>
            <a:noFill/>
            <a:ln w="28575">
              <a:solidFill>
                <a:srgbClr val="66FFFF"/>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38094" name="Oval 206"/>
          <p:cNvSpPr>
            <a:spLocks noChangeArrowheads="1"/>
          </p:cNvSpPr>
          <p:nvPr/>
        </p:nvSpPr>
        <p:spPr bwMode="auto">
          <a:xfrm>
            <a:off x="3074988" y="5257800"/>
            <a:ext cx="152400" cy="152400"/>
          </a:xfrm>
          <a:prstGeom prst="ellipse">
            <a:avLst/>
          </a:prstGeom>
          <a:solidFill>
            <a:srgbClr val="66FF33"/>
          </a:solidFill>
          <a:ln>
            <a:noFill/>
          </a:ln>
          <a:effectLst/>
          <a:extLst>
            <a:ext uri="{91240B29-F687-4F45-9708-019B960494DF}">
              <a14:hiddenLine xmlns:a14="http://schemas.microsoft.com/office/drawing/2010/main" w="9525">
                <a:solidFill>
                  <a:srgbClr val="66FF33"/>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8109" name="Oval 221"/>
          <p:cNvSpPr>
            <a:spLocks noChangeArrowheads="1"/>
          </p:cNvSpPr>
          <p:nvPr/>
        </p:nvSpPr>
        <p:spPr bwMode="auto">
          <a:xfrm>
            <a:off x="6656388" y="5284788"/>
            <a:ext cx="152400" cy="152400"/>
          </a:xfrm>
          <a:prstGeom prst="ellipse">
            <a:avLst/>
          </a:prstGeom>
          <a:solidFill>
            <a:srgbClr val="66FF33"/>
          </a:solidFill>
          <a:ln>
            <a:noFill/>
          </a:ln>
          <a:effectLst/>
          <a:extLst>
            <a:ext uri="{91240B29-F687-4F45-9708-019B960494DF}">
              <a14:hiddenLine xmlns:a14="http://schemas.microsoft.com/office/drawing/2010/main" w="9525">
                <a:solidFill>
                  <a:srgbClr val="66FF33"/>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Tree>
    <p:extLst>
      <p:ext uri="{BB962C8B-B14F-4D97-AF65-F5344CB8AC3E}">
        <p14:creationId xmlns:p14="http://schemas.microsoft.com/office/powerpoint/2010/main" val="4177220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slide(fromTop)">
                                      <p:cBhvr>
                                        <p:cTn id="7" dur="500"/>
                                        <p:tgtEl>
                                          <p:spTgt spid="37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37947"/>
                                        </p:tgtEl>
                                        <p:attrNameLst>
                                          <p:attrName>style.visibility</p:attrName>
                                        </p:attrNameLst>
                                      </p:cBhvr>
                                      <p:to>
                                        <p:strVal val="visible"/>
                                      </p:to>
                                    </p:set>
                                    <p:anim calcmode="lin" valueType="num">
                                      <p:cBhvr>
                                        <p:cTn id="12" dur="500" fill="hold"/>
                                        <p:tgtEl>
                                          <p:spTgt spid="37947"/>
                                        </p:tgtEl>
                                        <p:attrNameLst>
                                          <p:attrName>ppt_w</p:attrName>
                                        </p:attrNameLst>
                                      </p:cBhvr>
                                      <p:tavLst>
                                        <p:tav tm="0">
                                          <p:val>
                                            <p:fltVal val="0"/>
                                          </p:val>
                                        </p:tav>
                                        <p:tav tm="100000">
                                          <p:val>
                                            <p:strVal val="#ppt_w"/>
                                          </p:val>
                                        </p:tav>
                                      </p:tavLst>
                                    </p:anim>
                                    <p:anim calcmode="lin" valueType="num">
                                      <p:cBhvr>
                                        <p:cTn id="13" dur="500" fill="hold"/>
                                        <p:tgtEl>
                                          <p:spTgt spid="37947"/>
                                        </p:tgtEl>
                                        <p:attrNameLst>
                                          <p:attrName>ppt_h</p:attrName>
                                        </p:attrNameLst>
                                      </p:cBhvr>
                                      <p:tavLst>
                                        <p:tav tm="0">
                                          <p:val>
                                            <p:fltVal val="0"/>
                                          </p:val>
                                        </p:tav>
                                        <p:tav tm="100000">
                                          <p:val>
                                            <p:strVal val="#ppt_h"/>
                                          </p:val>
                                        </p:tav>
                                      </p:tavLst>
                                    </p:anim>
                                    <p:animEffect transition="in" filter="fade">
                                      <p:cBhvr>
                                        <p:cTn id="14" dur="500"/>
                                        <p:tgtEl>
                                          <p:spTgt spid="37947"/>
                                        </p:tgtEl>
                                      </p:cBhvr>
                                    </p:animEffect>
                                  </p:childTnLst>
                                </p:cTn>
                              </p:par>
                            </p:childTnLst>
                          </p:cTn>
                        </p:par>
                        <p:par>
                          <p:cTn id="15" fill="hold" nodeType="afterGroup">
                            <p:stCondLst>
                              <p:cond delay="500"/>
                            </p:stCondLst>
                            <p:childTnLst>
                              <p:par>
                                <p:cTn id="16" presetID="53" presetClass="entr" presetSubtype="0" fill="hold" grpId="0" nodeType="afterEffect">
                                  <p:stCondLst>
                                    <p:cond delay="0"/>
                                  </p:stCondLst>
                                  <p:childTnLst>
                                    <p:set>
                                      <p:cBhvr>
                                        <p:cTn id="17" dur="1" fill="hold">
                                          <p:stCondLst>
                                            <p:cond delay="0"/>
                                          </p:stCondLst>
                                        </p:cTn>
                                        <p:tgtEl>
                                          <p:spTgt spid="37934"/>
                                        </p:tgtEl>
                                        <p:attrNameLst>
                                          <p:attrName>style.visibility</p:attrName>
                                        </p:attrNameLst>
                                      </p:cBhvr>
                                      <p:to>
                                        <p:strVal val="visible"/>
                                      </p:to>
                                    </p:set>
                                    <p:anim calcmode="lin" valueType="num">
                                      <p:cBhvr>
                                        <p:cTn id="18" dur="500" fill="hold"/>
                                        <p:tgtEl>
                                          <p:spTgt spid="37934"/>
                                        </p:tgtEl>
                                        <p:attrNameLst>
                                          <p:attrName>ppt_w</p:attrName>
                                        </p:attrNameLst>
                                      </p:cBhvr>
                                      <p:tavLst>
                                        <p:tav tm="0">
                                          <p:val>
                                            <p:fltVal val="0"/>
                                          </p:val>
                                        </p:tav>
                                        <p:tav tm="100000">
                                          <p:val>
                                            <p:strVal val="#ppt_w"/>
                                          </p:val>
                                        </p:tav>
                                      </p:tavLst>
                                    </p:anim>
                                    <p:anim calcmode="lin" valueType="num">
                                      <p:cBhvr>
                                        <p:cTn id="19" dur="500" fill="hold"/>
                                        <p:tgtEl>
                                          <p:spTgt spid="37934"/>
                                        </p:tgtEl>
                                        <p:attrNameLst>
                                          <p:attrName>ppt_h</p:attrName>
                                        </p:attrNameLst>
                                      </p:cBhvr>
                                      <p:tavLst>
                                        <p:tav tm="0">
                                          <p:val>
                                            <p:fltVal val="0"/>
                                          </p:val>
                                        </p:tav>
                                        <p:tav tm="100000">
                                          <p:val>
                                            <p:strVal val="#ppt_h"/>
                                          </p:val>
                                        </p:tav>
                                      </p:tavLst>
                                    </p:anim>
                                    <p:animEffect transition="in" filter="fade">
                                      <p:cBhvr>
                                        <p:cTn id="20" dur="500"/>
                                        <p:tgtEl>
                                          <p:spTgt spid="3793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37993"/>
                                        </p:tgtEl>
                                        <p:attrNameLst>
                                          <p:attrName>style.visibility</p:attrName>
                                        </p:attrNameLst>
                                      </p:cBhvr>
                                      <p:to>
                                        <p:strVal val="visible"/>
                                      </p:to>
                                    </p:set>
                                    <p:animEffect transition="in" filter="wipe(down)">
                                      <p:cBhvr>
                                        <p:cTn id="25" dur="1000"/>
                                        <p:tgtEl>
                                          <p:spTgt spid="37993"/>
                                        </p:tgtEl>
                                      </p:cBhvr>
                                    </p:animEffect>
                                  </p:childTnLst>
                                </p:cTn>
                              </p:par>
                              <p:par>
                                <p:cTn id="26" presetID="22" presetClass="entr" presetSubtype="4" fill="hold" nodeType="withEffect">
                                  <p:stCondLst>
                                    <p:cond delay="0"/>
                                  </p:stCondLst>
                                  <p:childTnLst>
                                    <p:set>
                                      <p:cBhvr>
                                        <p:cTn id="27" dur="1" fill="hold">
                                          <p:stCondLst>
                                            <p:cond delay="0"/>
                                          </p:stCondLst>
                                        </p:cTn>
                                        <p:tgtEl>
                                          <p:spTgt spid="37958"/>
                                        </p:tgtEl>
                                        <p:attrNameLst>
                                          <p:attrName>style.visibility</p:attrName>
                                        </p:attrNameLst>
                                      </p:cBhvr>
                                      <p:to>
                                        <p:strVal val="visible"/>
                                      </p:to>
                                    </p:set>
                                    <p:animEffect transition="in" filter="wipe(down)">
                                      <p:cBhvr>
                                        <p:cTn id="28" dur="1000"/>
                                        <p:tgtEl>
                                          <p:spTgt spid="37958"/>
                                        </p:tgtEl>
                                      </p:cBhvr>
                                    </p:animEffect>
                                  </p:childTnLst>
                                </p:cTn>
                              </p:par>
                              <p:par>
                                <p:cTn id="29" presetID="22" presetClass="entr" presetSubtype="4" fill="hold" nodeType="withEffect">
                                  <p:stCondLst>
                                    <p:cond delay="0"/>
                                  </p:stCondLst>
                                  <p:childTnLst>
                                    <p:set>
                                      <p:cBhvr>
                                        <p:cTn id="30" dur="1" fill="hold">
                                          <p:stCondLst>
                                            <p:cond delay="0"/>
                                          </p:stCondLst>
                                        </p:cTn>
                                        <p:tgtEl>
                                          <p:spTgt spid="37973"/>
                                        </p:tgtEl>
                                        <p:attrNameLst>
                                          <p:attrName>style.visibility</p:attrName>
                                        </p:attrNameLst>
                                      </p:cBhvr>
                                      <p:to>
                                        <p:strVal val="visible"/>
                                      </p:to>
                                    </p:set>
                                    <p:animEffect transition="in" filter="wipe(down)">
                                      <p:cBhvr>
                                        <p:cTn id="31" dur="1000"/>
                                        <p:tgtEl>
                                          <p:spTgt spid="37973"/>
                                        </p:tgtEl>
                                      </p:cBhvr>
                                    </p:animEffect>
                                  </p:childTnLst>
                                </p:cTn>
                              </p:par>
                              <p:par>
                                <p:cTn id="32" presetID="22" presetClass="entr" presetSubtype="8" fill="hold" nodeType="withEffect">
                                  <p:stCondLst>
                                    <p:cond delay="0"/>
                                  </p:stCondLst>
                                  <p:childTnLst>
                                    <p:set>
                                      <p:cBhvr>
                                        <p:cTn id="33" dur="1" fill="hold">
                                          <p:stCondLst>
                                            <p:cond delay="0"/>
                                          </p:stCondLst>
                                        </p:cTn>
                                        <p:tgtEl>
                                          <p:spTgt spid="37952"/>
                                        </p:tgtEl>
                                        <p:attrNameLst>
                                          <p:attrName>style.visibility</p:attrName>
                                        </p:attrNameLst>
                                      </p:cBhvr>
                                      <p:to>
                                        <p:strVal val="visible"/>
                                      </p:to>
                                    </p:set>
                                    <p:animEffect transition="in" filter="wipe(left)">
                                      <p:cBhvr>
                                        <p:cTn id="34" dur="1000"/>
                                        <p:tgtEl>
                                          <p:spTgt spid="37952"/>
                                        </p:tgtEl>
                                      </p:cBhvr>
                                    </p:animEffect>
                                  </p:childTnLst>
                                </p:cTn>
                              </p:par>
                              <p:par>
                                <p:cTn id="35" presetID="22" presetClass="entr" presetSubtype="1" fill="hold" nodeType="withEffect">
                                  <p:stCondLst>
                                    <p:cond delay="0"/>
                                  </p:stCondLst>
                                  <p:childTnLst>
                                    <p:set>
                                      <p:cBhvr>
                                        <p:cTn id="36" dur="1" fill="hold">
                                          <p:stCondLst>
                                            <p:cond delay="0"/>
                                          </p:stCondLst>
                                        </p:cTn>
                                        <p:tgtEl>
                                          <p:spTgt spid="37998"/>
                                        </p:tgtEl>
                                        <p:attrNameLst>
                                          <p:attrName>style.visibility</p:attrName>
                                        </p:attrNameLst>
                                      </p:cBhvr>
                                      <p:to>
                                        <p:strVal val="visible"/>
                                      </p:to>
                                    </p:set>
                                    <p:animEffect transition="in" filter="wipe(up)">
                                      <p:cBhvr>
                                        <p:cTn id="37" dur="1000"/>
                                        <p:tgtEl>
                                          <p:spTgt spid="37998"/>
                                        </p:tgtEl>
                                      </p:cBhvr>
                                    </p:animEffect>
                                  </p:childTnLst>
                                </p:cTn>
                              </p:par>
                              <p:par>
                                <p:cTn id="38" presetID="22" presetClass="entr" presetSubtype="1" fill="hold" nodeType="withEffect">
                                  <p:stCondLst>
                                    <p:cond delay="0"/>
                                  </p:stCondLst>
                                  <p:childTnLst>
                                    <p:set>
                                      <p:cBhvr>
                                        <p:cTn id="39" dur="1" fill="hold">
                                          <p:stCondLst>
                                            <p:cond delay="0"/>
                                          </p:stCondLst>
                                        </p:cTn>
                                        <p:tgtEl>
                                          <p:spTgt spid="37963"/>
                                        </p:tgtEl>
                                        <p:attrNameLst>
                                          <p:attrName>style.visibility</p:attrName>
                                        </p:attrNameLst>
                                      </p:cBhvr>
                                      <p:to>
                                        <p:strVal val="visible"/>
                                      </p:to>
                                    </p:set>
                                    <p:animEffect transition="in" filter="wipe(up)">
                                      <p:cBhvr>
                                        <p:cTn id="40" dur="1000"/>
                                        <p:tgtEl>
                                          <p:spTgt spid="37963"/>
                                        </p:tgtEl>
                                      </p:cBhvr>
                                    </p:animEffect>
                                  </p:childTnLst>
                                </p:cTn>
                              </p:par>
                              <p:par>
                                <p:cTn id="41" presetID="22" presetClass="entr" presetSubtype="1" fill="hold" nodeType="withEffect">
                                  <p:stCondLst>
                                    <p:cond delay="0"/>
                                  </p:stCondLst>
                                  <p:childTnLst>
                                    <p:set>
                                      <p:cBhvr>
                                        <p:cTn id="42" dur="1" fill="hold">
                                          <p:stCondLst>
                                            <p:cond delay="0"/>
                                          </p:stCondLst>
                                        </p:cTn>
                                        <p:tgtEl>
                                          <p:spTgt spid="37988"/>
                                        </p:tgtEl>
                                        <p:attrNameLst>
                                          <p:attrName>style.visibility</p:attrName>
                                        </p:attrNameLst>
                                      </p:cBhvr>
                                      <p:to>
                                        <p:strVal val="visible"/>
                                      </p:to>
                                    </p:set>
                                    <p:animEffect transition="in" filter="wipe(up)">
                                      <p:cBhvr>
                                        <p:cTn id="43" dur="1000"/>
                                        <p:tgtEl>
                                          <p:spTgt spid="37988"/>
                                        </p:tgtEl>
                                      </p:cBhvr>
                                    </p:animEffect>
                                  </p:childTnLst>
                                </p:cTn>
                              </p:par>
                              <p:par>
                                <p:cTn id="44" presetID="22" presetClass="entr" presetSubtype="2" fill="hold" nodeType="withEffect">
                                  <p:stCondLst>
                                    <p:cond delay="0"/>
                                  </p:stCondLst>
                                  <p:childTnLst>
                                    <p:set>
                                      <p:cBhvr>
                                        <p:cTn id="45" dur="1" fill="hold">
                                          <p:stCondLst>
                                            <p:cond delay="0"/>
                                          </p:stCondLst>
                                        </p:cTn>
                                        <p:tgtEl>
                                          <p:spTgt spid="37968"/>
                                        </p:tgtEl>
                                        <p:attrNameLst>
                                          <p:attrName>style.visibility</p:attrName>
                                        </p:attrNameLst>
                                      </p:cBhvr>
                                      <p:to>
                                        <p:strVal val="visible"/>
                                      </p:to>
                                    </p:set>
                                    <p:animEffect transition="in" filter="wipe(right)">
                                      <p:cBhvr>
                                        <p:cTn id="46" dur="1000"/>
                                        <p:tgtEl>
                                          <p:spTgt spid="3796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38083"/>
                                        </p:tgtEl>
                                        <p:attrNameLst>
                                          <p:attrName>style.visibility</p:attrName>
                                        </p:attrNameLst>
                                      </p:cBhvr>
                                      <p:to>
                                        <p:strVal val="visible"/>
                                      </p:to>
                                    </p:set>
                                    <p:animEffect transition="in" filter="wipe(up)">
                                      <p:cBhvr>
                                        <p:cTn id="51" dur="500"/>
                                        <p:tgtEl>
                                          <p:spTgt spid="3808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38046"/>
                                        </p:tgtEl>
                                        <p:attrNameLst>
                                          <p:attrName>style.visibility</p:attrName>
                                        </p:attrNameLst>
                                      </p:cBhvr>
                                      <p:to>
                                        <p:strVal val="visible"/>
                                      </p:to>
                                    </p:set>
                                    <p:anim calcmode="lin" valueType="num">
                                      <p:cBhvr>
                                        <p:cTn id="56" dur="500" fill="hold"/>
                                        <p:tgtEl>
                                          <p:spTgt spid="38046"/>
                                        </p:tgtEl>
                                        <p:attrNameLst>
                                          <p:attrName>ppt_w</p:attrName>
                                        </p:attrNameLst>
                                      </p:cBhvr>
                                      <p:tavLst>
                                        <p:tav tm="0">
                                          <p:val>
                                            <p:fltVal val="0"/>
                                          </p:val>
                                        </p:tav>
                                        <p:tav tm="100000">
                                          <p:val>
                                            <p:strVal val="#ppt_w"/>
                                          </p:val>
                                        </p:tav>
                                      </p:tavLst>
                                    </p:anim>
                                    <p:anim calcmode="lin" valueType="num">
                                      <p:cBhvr>
                                        <p:cTn id="57" dur="500" fill="hold"/>
                                        <p:tgtEl>
                                          <p:spTgt spid="38046"/>
                                        </p:tgtEl>
                                        <p:attrNameLst>
                                          <p:attrName>ppt_h</p:attrName>
                                        </p:attrNameLst>
                                      </p:cBhvr>
                                      <p:tavLst>
                                        <p:tav tm="0">
                                          <p:val>
                                            <p:fltVal val="0"/>
                                          </p:val>
                                        </p:tav>
                                        <p:tav tm="100000">
                                          <p:val>
                                            <p:strVal val="#ppt_h"/>
                                          </p:val>
                                        </p:tav>
                                      </p:tavLst>
                                    </p:anim>
                                    <p:animEffect transition="in" filter="fade">
                                      <p:cBhvr>
                                        <p:cTn id="58" dur="500"/>
                                        <p:tgtEl>
                                          <p:spTgt spid="38046"/>
                                        </p:tgtEl>
                                      </p:cBhvr>
                                    </p:animEffect>
                                  </p:childTnLst>
                                </p:cTn>
                              </p:par>
                            </p:childTnLst>
                          </p:cTn>
                        </p:par>
                        <p:par>
                          <p:cTn id="59" fill="hold" nodeType="afterGroup">
                            <p:stCondLst>
                              <p:cond delay="500"/>
                            </p:stCondLst>
                            <p:childTnLst>
                              <p:par>
                                <p:cTn id="60" presetID="53" presetClass="entr" presetSubtype="0" fill="hold" grpId="0" nodeType="afterEffect">
                                  <p:stCondLst>
                                    <p:cond delay="0"/>
                                  </p:stCondLst>
                                  <p:childTnLst>
                                    <p:set>
                                      <p:cBhvr>
                                        <p:cTn id="61" dur="1" fill="hold">
                                          <p:stCondLst>
                                            <p:cond delay="0"/>
                                          </p:stCondLst>
                                        </p:cTn>
                                        <p:tgtEl>
                                          <p:spTgt spid="37915"/>
                                        </p:tgtEl>
                                        <p:attrNameLst>
                                          <p:attrName>style.visibility</p:attrName>
                                        </p:attrNameLst>
                                      </p:cBhvr>
                                      <p:to>
                                        <p:strVal val="visible"/>
                                      </p:to>
                                    </p:set>
                                    <p:anim calcmode="lin" valueType="num">
                                      <p:cBhvr>
                                        <p:cTn id="62" dur="500" fill="hold"/>
                                        <p:tgtEl>
                                          <p:spTgt spid="37915"/>
                                        </p:tgtEl>
                                        <p:attrNameLst>
                                          <p:attrName>ppt_w</p:attrName>
                                        </p:attrNameLst>
                                      </p:cBhvr>
                                      <p:tavLst>
                                        <p:tav tm="0">
                                          <p:val>
                                            <p:fltVal val="0"/>
                                          </p:val>
                                        </p:tav>
                                        <p:tav tm="100000">
                                          <p:val>
                                            <p:strVal val="#ppt_w"/>
                                          </p:val>
                                        </p:tav>
                                      </p:tavLst>
                                    </p:anim>
                                    <p:anim calcmode="lin" valueType="num">
                                      <p:cBhvr>
                                        <p:cTn id="63" dur="500" fill="hold"/>
                                        <p:tgtEl>
                                          <p:spTgt spid="37915"/>
                                        </p:tgtEl>
                                        <p:attrNameLst>
                                          <p:attrName>ppt_h</p:attrName>
                                        </p:attrNameLst>
                                      </p:cBhvr>
                                      <p:tavLst>
                                        <p:tav tm="0">
                                          <p:val>
                                            <p:fltVal val="0"/>
                                          </p:val>
                                        </p:tav>
                                        <p:tav tm="100000">
                                          <p:val>
                                            <p:strVal val="#ppt_h"/>
                                          </p:val>
                                        </p:tav>
                                      </p:tavLst>
                                    </p:anim>
                                    <p:animEffect transition="in" filter="fade">
                                      <p:cBhvr>
                                        <p:cTn id="64" dur="500"/>
                                        <p:tgtEl>
                                          <p:spTgt spid="3791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38036"/>
                                        </p:tgtEl>
                                        <p:attrNameLst>
                                          <p:attrName>style.visibility</p:attrName>
                                        </p:attrNameLst>
                                      </p:cBhvr>
                                      <p:to>
                                        <p:strVal val="visible"/>
                                      </p:to>
                                    </p:set>
                                    <p:animEffect transition="in" filter="wipe(up)">
                                      <p:cBhvr>
                                        <p:cTn id="69" dur="1000"/>
                                        <p:tgtEl>
                                          <p:spTgt spid="38036"/>
                                        </p:tgtEl>
                                      </p:cBhvr>
                                    </p:animEffect>
                                  </p:childTnLst>
                                </p:cTn>
                              </p:par>
                              <p:par>
                                <p:cTn id="70" presetID="22" presetClass="entr" presetSubtype="1" fill="hold" nodeType="withEffect">
                                  <p:stCondLst>
                                    <p:cond delay="0"/>
                                  </p:stCondLst>
                                  <p:childTnLst>
                                    <p:set>
                                      <p:cBhvr>
                                        <p:cTn id="71" dur="1" fill="hold">
                                          <p:stCondLst>
                                            <p:cond delay="0"/>
                                          </p:stCondLst>
                                        </p:cTn>
                                        <p:tgtEl>
                                          <p:spTgt spid="38011"/>
                                        </p:tgtEl>
                                        <p:attrNameLst>
                                          <p:attrName>style.visibility</p:attrName>
                                        </p:attrNameLst>
                                      </p:cBhvr>
                                      <p:to>
                                        <p:strVal val="visible"/>
                                      </p:to>
                                    </p:set>
                                    <p:animEffect transition="in" filter="wipe(up)">
                                      <p:cBhvr>
                                        <p:cTn id="72" dur="1000"/>
                                        <p:tgtEl>
                                          <p:spTgt spid="38011"/>
                                        </p:tgtEl>
                                      </p:cBhvr>
                                    </p:animEffect>
                                  </p:childTnLst>
                                </p:cTn>
                              </p:par>
                              <p:par>
                                <p:cTn id="73" presetID="22" presetClass="entr" presetSubtype="1" fill="hold" nodeType="withEffect">
                                  <p:stCondLst>
                                    <p:cond delay="0"/>
                                  </p:stCondLst>
                                  <p:childTnLst>
                                    <p:set>
                                      <p:cBhvr>
                                        <p:cTn id="74" dur="1" fill="hold">
                                          <p:stCondLst>
                                            <p:cond delay="0"/>
                                          </p:stCondLst>
                                        </p:cTn>
                                        <p:tgtEl>
                                          <p:spTgt spid="38026"/>
                                        </p:tgtEl>
                                        <p:attrNameLst>
                                          <p:attrName>style.visibility</p:attrName>
                                        </p:attrNameLst>
                                      </p:cBhvr>
                                      <p:to>
                                        <p:strVal val="visible"/>
                                      </p:to>
                                    </p:set>
                                    <p:animEffect transition="in" filter="wipe(up)">
                                      <p:cBhvr>
                                        <p:cTn id="75" dur="1000"/>
                                        <p:tgtEl>
                                          <p:spTgt spid="38026"/>
                                        </p:tgtEl>
                                      </p:cBhvr>
                                    </p:animEffect>
                                  </p:childTnLst>
                                </p:cTn>
                              </p:par>
                              <p:par>
                                <p:cTn id="76" presetID="22" presetClass="entr" presetSubtype="2" fill="hold" nodeType="withEffect">
                                  <p:stCondLst>
                                    <p:cond delay="0"/>
                                  </p:stCondLst>
                                  <p:childTnLst>
                                    <p:set>
                                      <p:cBhvr>
                                        <p:cTn id="77" dur="1" fill="hold">
                                          <p:stCondLst>
                                            <p:cond delay="0"/>
                                          </p:stCondLst>
                                        </p:cTn>
                                        <p:tgtEl>
                                          <p:spTgt spid="38006"/>
                                        </p:tgtEl>
                                        <p:attrNameLst>
                                          <p:attrName>style.visibility</p:attrName>
                                        </p:attrNameLst>
                                      </p:cBhvr>
                                      <p:to>
                                        <p:strVal val="visible"/>
                                      </p:to>
                                    </p:set>
                                    <p:animEffect transition="in" filter="wipe(right)">
                                      <p:cBhvr>
                                        <p:cTn id="78" dur="1000"/>
                                        <p:tgtEl>
                                          <p:spTgt spid="38006"/>
                                        </p:tgtEl>
                                      </p:cBhvr>
                                    </p:animEffect>
                                  </p:childTnLst>
                                </p:cTn>
                              </p:par>
                              <p:par>
                                <p:cTn id="79" presetID="22" presetClass="entr" presetSubtype="4" fill="hold" nodeType="withEffect">
                                  <p:stCondLst>
                                    <p:cond delay="0"/>
                                  </p:stCondLst>
                                  <p:childTnLst>
                                    <p:set>
                                      <p:cBhvr>
                                        <p:cTn id="80" dur="1" fill="hold">
                                          <p:stCondLst>
                                            <p:cond delay="0"/>
                                          </p:stCondLst>
                                        </p:cTn>
                                        <p:tgtEl>
                                          <p:spTgt spid="38041"/>
                                        </p:tgtEl>
                                        <p:attrNameLst>
                                          <p:attrName>style.visibility</p:attrName>
                                        </p:attrNameLst>
                                      </p:cBhvr>
                                      <p:to>
                                        <p:strVal val="visible"/>
                                      </p:to>
                                    </p:set>
                                    <p:animEffect transition="in" filter="wipe(down)">
                                      <p:cBhvr>
                                        <p:cTn id="81" dur="1000"/>
                                        <p:tgtEl>
                                          <p:spTgt spid="38041"/>
                                        </p:tgtEl>
                                      </p:cBhvr>
                                    </p:animEffect>
                                  </p:childTnLst>
                                </p:cTn>
                              </p:par>
                              <p:par>
                                <p:cTn id="82" presetID="22" presetClass="entr" presetSubtype="4" fill="hold" nodeType="withEffect">
                                  <p:stCondLst>
                                    <p:cond delay="0"/>
                                  </p:stCondLst>
                                  <p:childTnLst>
                                    <p:set>
                                      <p:cBhvr>
                                        <p:cTn id="83" dur="1" fill="hold">
                                          <p:stCondLst>
                                            <p:cond delay="0"/>
                                          </p:stCondLst>
                                        </p:cTn>
                                        <p:tgtEl>
                                          <p:spTgt spid="38016"/>
                                        </p:tgtEl>
                                        <p:attrNameLst>
                                          <p:attrName>style.visibility</p:attrName>
                                        </p:attrNameLst>
                                      </p:cBhvr>
                                      <p:to>
                                        <p:strVal val="visible"/>
                                      </p:to>
                                    </p:set>
                                    <p:animEffect transition="in" filter="wipe(down)">
                                      <p:cBhvr>
                                        <p:cTn id="84" dur="1000"/>
                                        <p:tgtEl>
                                          <p:spTgt spid="38016"/>
                                        </p:tgtEl>
                                      </p:cBhvr>
                                    </p:animEffect>
                                  </p:childTnLst>
                                </p:cTn>
                              </p:par>
                              <p:par>
                                <p:cTn id="85" presetID="22" presetClass="entr" presetSubtype="4" fill="hold" nodeType="withEffect">
                                  <p:stCondLst>
                                    <p:cond delay="0"/>
                                  </p:stCondLst>
                                  <p:childTnLst>
                                    <p:set>
                                      <p:cBhvr>
                                        <p:cTn id="86" dur="1" fill="hold">
                                          <p:stCondLst>
                                            <p:cond delay="0"/>
                                          </p:stCondLst>
                                        </p:cTn>
                                        <p:tgtEl>
                                          <p:spTgt spid="38031"/>
                                        </p:tgtEl>
                                        <p:attrNameLst>
                                          <p:attrName>style.visibility</p:attrName>
                                        </p:attrNameLst>
                                      </p:cBhvr>
                                      <p:to>
                                        <p:strVal val="visible"/>
                                      </p:to>
                                    </p:set>
                                    <p:animEffect transition="in" filter="wipe(down)">
                                      <p:cBhvr>
                                        <p:cTn id="87" dur="1000"/>
                                        <p:tgtEl>
                                          <p:spTgt spid="38031"/>
                                        </p:tgtEl>
                                      </p:cBhvr>
                                    </p:animEffect>
                                  </p:childTnLst>
                                </p:cTn>
                              </p:par>
                              <p:par>
                                <p:cTn id="88" presetID="22" presetClass="entr" presetSubtype="8" fill="hold" nodeType="withEffect">
                                  <p:stCondLst>
                                    <p:cond delay="0"/>
                                  </p:stCondLst>
                                  <p:childTnLst>
                                    <p:set>
                                      <p:cBhvr>
                                        <p:cTn id="89" dur="1" fill="hold">
                                          <p:stCondLst>
                                            <p:cond delay="0"/>
                                          </p:stCondLst>
                                        </p:cTn>
                                        <p:tgtEl>
                                          <p:spTgt spid="38021"/>
                                        </p:tgtEl>
                                        <p:attrNameLst>
                                          <p:attrName>style.visibility</p:attrName>
                                        </p:attrNameLst>
                                      </p:cBhvr>
                                      <p:to>
                                        <p:strVal val="visible"/>
                                      </p:to>
                                    </p:set>
                                    <p:animEffect transition="in" filter="wipe(left)">
                                      <p:cBhvr>
                                        <p:cTn id="90" dur="1000"/>
                                        <p:tgtEl>
                                          <p:spTgt spid="38021"/>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53" presetClass="entr" presetSubtype="0" fill="hold" grpId="0" nodeType="clickEffect">
                                  <p:stCondLst>
                                    <p:cond delay="0"/>
                                  </p:stCondLst>
                                  <p:childTnLst>
                                    <p:set>
                                      <p:cBhvr>
                                        <p:cTn id="94" dur="1" fill="hold">
                                          <p:stCondLst>
                                            <p:cond delay="0"/>
                                          </p:stCondLst>
                                        </p:cTn>
                                        <p:tgtEl>
                                          <p:spTgt spid="38077"/>
                                        </p:tgtEl>
                                        <p:attrNameLst>
                                          <p:attrName>style.visibility</p:attrName>
                                        </p:attrNameLst>
                                      </p:cBhvr>
                                      <p:to>
                                        <p:strVal val="visible"/>
                                      </p:to>
                                    </p:set>
                                    <p:anim calcmode="lin" valueType="num">
                                      <p:cBhvr>
                                        <p:cTn id="95" dur="500" fill="hold"/>
                                        <p:tgtEl>
                                          <p:spTgt spid="38077"/>
                                        </p:tgtEl>
                                        <p:attrNameLst>
                                          <p:attrName>ppt_w</p:attrName>
                                        </p:attrNameLst>
                                      </p:cBhvr>
                                      <p:tavLst>
                                        <p:tav tm="0">
                                          <p:val>
                                            <p:fltVal val="0"/>
                                          </p:val>
                                        </p:tav>
                                        <p:tav tm="100000">
                                          <p:val>
                                            <p:strVal val="#ppt_w"/>
                                          </p:val>
                                        </p:tav>
                                      </p:tavLst>
                                    </p:anim>
                                    <p:anim calcmode="lin" valueType="num">
                                      <p:cBhvr>
                                        <p:cTn id="96" dur="500" fill="hold"/>
                                        <p:tgtEl>
                                          <p:spTgt spid="38077"/>
                                        </p:tgtEl>
                                        <p:attrNameLst>
                                          <p:attrName>ppt_h</p:attrName>
                                        </p:attrNameLst>
                                      </p:cBhvr>
                                      <p:tavLst>
                                        <p:tav tm="0">
                                          <p:val>
                                            <p:fltVal val="0"/>
                                          </p:val>
                                        </p:tav>
                                        <p:tav tm="100000">
                                          <p:val>
                                            <p:strVal val="#ppt_h"/>
                                          </p:val>
                                        </p:tav>
                                      </p:tavLst>
                                    </p:anim>
                                    <p:animEffect transition="in" filter="fade">
                                      <p:cBhvr>
                                        <p:cTn id="97" dur="500"/>
                                        <p:tgtEl>
                                          <p:spTgt spid="3807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53" presetClass="entr" presetSubtype="0" fill="hold" grpId="0" nodeType="clickEffect">
                                  <p:stCondLst>
                                    <p:cond delay="0"/>
                                  </p:stCondLst>
                                  <p:childTnLst>
                                    <p:set>
                                      <p:cBhvr>
                                        <p:cTn id="101" dur="1" fill="hold">
                                          <p:stCondLst>
                                            <p:cond delay="0"/>
                                          </p:stCondLst>
                                        </p:cTn>
                                        <p:tgtEl>
                                          <p:spTgt spid="38094"/>
                                        </p:tgtEl>
                                        <p:attrNameLst>
                                          <p:attrName>style.visibility</p:attrName>
                                        </p:attrNameLst>
                                      </p:cBhvr>
                                      <p:to>
                                        <p:strVal val="visible"/>
                                      </p:to>
                                    </p:set>
                                    <p:anim calcmode="lin" valueType="num">
                                      <p:cBhvr>
                                        <p:cTn id="102" dur="500" fill="hold"/>
                                        <p:tgtEl>
                                          <p:spTgt spid="38094"/>
                                        </p:tgtEl>
                                        <p:attrNameLst>
                                          <p:attrName>ppt_w</p:attrName>
                                        </p:attrNameLst>
                                      </p:cBhvr>
                                      <p:tavLst>
                                        <p:tav tm="0">
                                          <p:val>
                                            <p:fltVal val="0"/>
                                          </p:val>
                                        </p:tav>
                                        <p:tav tm="100000">
                                          <p:val>
                                            <p:strVal val="#ppt_w"/>
                                          </p:val>
                                        </p:tav>
                                      </p:tavLst>
                                    </p:anim>
                                    <p:anim calcmode="lin" valueType="num">
                                      <p:cBhvr>
                                        <p:cTn id="103" dur="500" fill="hold"/>
                                        <p:tgtEl>
                                          <p:spTgt spid="38094"/>
                                        </p:tgtEl>
                                        <p:attrNameLst>
                                          <p:attrName>ppt_h</p:attrName>
                                        </p:attrNameLst>
                                      </p:cBhvr>
                                      <p:tavLst>
                                        <p:tav tm="0">
                                          <p:val>
                                            <p:fltVal val="0"/>
                                          </p:val>
                                        </p:tav>
                                        <p:tav tm="100000">
                                          <p:val>
                                            <p:strVal val="#ppt_h"/>
                                          </p:val>
                                        </p:tav>
                                      </p:tavLst>
                                    </p:anim>
                                    <p:animEffect transition="in" filter="fade">
                                      <p:cBhvr>
                                        <p:cTn id="104" dur="500"/>
                                        <p:tgtEl>
                                          <p:spTgt spid="38094"/>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4" presetClass="entr" presetSubtype="32" fill="hold" nodeType="clickEffect">
                                  <p:stCondLst>
                                    <p:cond delay="0"/>
                                  </p:stCondLst>
                                  <p:childTnLst>
                                    <p:set>
                                      <p:cBhvr>
                                        <p:cTn id="108" dur="1" fill="hold">
                                          <p:stCondLst>
                                            <p:cond delay="0"/>
                                          </p:stCondLst>
                                        </p:cTn>
                                        <p:tgtEl>
                                          <p:spTgt spid="38117"/>
                                        </p:tgtEl>
                                        <p:attrNameLst>
                                          <p:attrName>style.visibility</p:attrName>
                                        </p:attrNameLst>
                                      </p:cBhvr>
                                      <p:to>
                                        <p:strVal val="visible"/>
                                      </p:to>
                                    </p:set>
                                    <p:animEffect transition="in" filter="box(out)">
                                      <p:cBhvr>
                                        <p:cTn id="109" dur="500"/>
                                        <p:tgtEl>
                                          <p:spTgt spid="38117"/>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53" presetClass="entr" presetSubtype="0" fill="hold" grpId="0" nodeType="clickEffect">
                                  <p:stCondLst>
                                    <p:cond delay="0"/>
                                  </p:stCondLst>
                                  <p:childTnLst>
                                    <p:set>
                                      <p:cBhvr>
                                        <p:cTn id="113" dur="1" fill="hold">
                                          <p:stCondLst>
                                            <p:cond delay="0"/>
                                          </p:stCondLst>
                                        </p:cTn>
                                        <p:tgtEl>
                                          <p:spTgt spid="38109"/>
                                        </p:tgtEl>
                                        <p:attrNameLst>
                                          <p:attrName>style.visibility</p:attrName>
                                        </p:attrNameLst>
                                      </p:cBhvr>
                                      <p:to>
                                        <p:strVal val="visible"/>
                                      </p:to>
                                    </p:set>
                                    <p:anim calcmode="lin" valueType="num">
                                      <p:cBhvr>
                                        <p:cTn id="114" dur="500" fill="hold"/>
                                        <p:tgtEl>
                                          <p:spTgt spid="38109"/>
                                        </p:tgtEl>
                                        <p:attrNameLst>
                                          <p:attrName>ppt_w</p:attrName>
                                        </p:attrNameLst>
                                      </p:cBhvr>
                                      <p:tavLst>
                                        <p:tav tm="0">
                                          <p:val>
                                            <p:fltVal val="0"/>
                                          </p:val>
                                        </p:tav>
                                        <p:tav tm="100000">
                                          <p:val>
                                            <p:strVal val="#ppt_w"/>
                                          </p:val>
                                        </p:tav>
                                      </p:tavLst>
                                    </p:anim>
                                    <p:anim calcmode="lin" valueType="num">
                                      <p:cBhvr>
                                        <p:cTn id="115" dur="500" fill="hold"/>
                                        <p:tgtEl>
                                          <p:spTgt spid="38109"/>
                                        </p:tgtEl>
                                        <p:attrNameLst>
                                          <p:attrName>ppt_h</p:attrName>
                                        </p:attrNameLst>
                                      </p:cBhvr>
                                      <p:tavLst>
                                        <p:tav tm="0">
                                          <p:val>
                                            <p:fltVal val="0"/>
                                          </p:val>
                                        </p:tav>
                                        <p:tav tm="100000">
                                          <p:val>
                                            <p:strVal val="#ppt_h"/>
                                          </p:val>
                                        </p:tav>
                                      </p:tavLst>
                                    </p:anim>
                                    <p:animEffect transition="in" filter="fade">
                                      <p:cBhvr>
                                        <p:cTn id="116" dur="500"/>
                                        <p:tgtEl>
                                          <p:spTgt spid="38109"/>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4" presetClass="entr" presetSubtype="16" fill="hold" nodeType="clickEffect">
                                  <p:stCondLst>
                                    <p:cond delay="0"/>
                                  </p:stCondLst>
                                  <p:childTnLst>
                                    <p:set>
                                      <p:cBhvr>
                                        <p:cTn id="120" dur="1" fill="hold">
                                          <p:stCondLst>
                                            <p:cond delay="0"/>
                                          </p:stCondLst>
                                        </p:cTn>
                                        <p:tgtEl>
                                          <p:spTgt spid="38118"/>
                                        </p:tgtEl>
                                        <p:attrNameLst>
                                          <p:attrName>style.visibility</p:attrName>
                                        </p:attrNameLst>
                                      </p:cBhvr>
                                      <p:to>
                                        <p:strVal val="visible"/>
                                      </p:to>
                                    </p:set>
                                    <p:animEffect transition="in" filter="box(in)">
                                      <p:cBhvr>
                                        <p:cTn id="121" dur="500"/>
                                        <p:tgtEl>
                                          <p:spTgt spid="38118"/>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0" fill="hold" grpId="0" nodeType="clickEffect">
                                  <p:stCondLst>
                                    <p:cond delay="0"/>
                                  </p:stCondLst>
                                  <p:childTnLst>
                                    <p:set>
                                      <p:cBhvr>
                                        <p:cTn id="125" dur="1" fill="hold">
                                          <p:stCondLst>
                                            <p:cond delay="0"/>
                                          </p:stCondLst>
                                        </p:cTn>
                                        <p:tgtEl>
                                          <p:spTgt spid="38079"/>
                                        </p:tgtEl>
                                        <p:attrNameLst>
                                          <p:attrName>style.visibility</p:attrName>
                                        </p:attrNameLst>
                                      </p:cBhvr>
                                      <p:to>
                                        <p:strVal val="visible"/>
                                      </p:to>
                                    </p:set>
                                    <p:anim calcmode="lin" valueType="num">
                                      <p:cBhvr>
                                        <p:cTn id="126" dur="500" fill="hold"/>
                                        <p:tgtEl>
                                          <p:spTgt spid="38079"/>
                                        </p:tgtEl>
                                        <p:attrNameLst>
                                          <p:attrName>ppt_w</p:attrName>
                                        </p:attrNameLst>
                                      </p:cBhvr>
                                      <p:tavLst>
                                        <p:tav tm="0">
                                          <p:val>
                                            <p:fltVal val="0"/>
                                          </p:val>
                                        </p:tav>
                                        <p:tav tm="100000">
                                          <p:val>
                                            <p:strVal val="#ppt_w"/>
                                          </p:val>
                                        </p:tav>
                                      </p:tavLst>
                                    </p:anim>
                                    <p:anim calcmode="lin" valueType="num">
                                      <p:cBhvr>
                                        <p:cTn id="127" dur="500" fill="hold"/>
                                        <p:tgtEl>
                                          <p:spTgt spid="38079"/>
                                        </p:tgtEl>
                                        <p:attrNameLst>
                                          <p:attrName>ppt_h</p:attrName>
                                        </p:attrNameLst>
                                      </p:cBhvr>
                                      <p:tavLst>
                                        <p:tav tm="0">
                                          <p:val>
                                            <p:fltVal val="0"/>
                                          </p:val>
                                        </p:tav>
                                        <p:tav tm="100000">
                                          <p:val>
                                            <p:strVal val="#ppt_h"/>
                                          </p:val>
                                        </p:tav>
                                      </p:tavLst>
                                    </p:anim>
                                    <p:animEffect transition="in" filter="fade">
                                      <p:cBhvr>
                                        <p:cTn id="128" dur="500"/>
                                        <p:tgtEl>
                                          <p:spTgt spid="38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37915" grpId="0"/>
      <p:bldP spid="37934" grpId="0"/>
      <p:bldP spid="37947" grpId="0" animBg="1"/>
      <p:bldP spid="38046" grpId="0" animBg="1"/>
      <p:bldP spid="38077" grpId="0"/>
      <p:bldP spid="38079" grpId="0"/>
      <p:bldP spid="38094" grpId="0" animBg="1"/>
      <p:bldP spid="3810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Text Box 4"/>
          <p:cNvSpPr txBox="1">
            <a:spLocks noChangeArrowheads="1"/>
          </p:cNvSpPr>
          <p:nvPr/>
        </p:nvSpPr>
        <p:spPr bwMode="auto">
          <a:xfrm>
            <a:off x="1524000" y="76201"/>
            <a:ext cx="464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startAt="2"/>
            </a:pPr>
            <a:r>
              <a:rPr lang="en-US" altLang="en-US" sz="2000" b="1">
                <a:solidFill>
                  <a:srgbClr val="9999FF"/>
                </a:solidFill>
              </a:rPr>
              <a:t>Electric Lines of Force due to a      pair of Equal and Unlike Charges: (Dipole)</a:t>
            </a:r>
          </a:p>
        </p:txBody>
      </p:sp>
      <p:sp>
        <p:nvSpPr>
          <p:cNvPr id="38962" name="Line 50"/>
          <p:cNvSpPr>
            <a:spLocks noChangeShapeType="1"/>
          </p:cNvSpPr>
          <p:nvPr/>
        </p:nvSpPr>
        <p:spPr bwMode="auto">
          <a:xfrm flipV="1">
            <a:off x="3733800" y="1600200"/>
            <a:ext cx="0" cy="8382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64" name="Freeform 52"/>
          <p:cNvSpPr>
            <a:spLocks/>
          </p:cNvSpPr>
          <p:nvPr/>
        </p:nvSpPr>
        <p:spPr bwMode="auto">
          <a:xfrm flipV="1">
            <a:off x="1905000" y="3657600"/>
            <a:ext cx="1752600" cy="685800"/>
          </a:xfrm>
          <a:custGeom>
            <a:avLst/>
            <a:gdLst>
              <a:gd name="T0" fmla="*/ 2147483646 w 1104"/>
              <a:gd name="T1" fmla="*/ 0 h 432"/>
              <a:gd name="T2" fmla="*/ 2147483646 w 1104"/>
              <a:gd name="T3" fmla="*/ 2147483646 h 432"/>
              <a:gd name="T4" fmla="*/ 0 w 1104"/>
              <a:gd name="T5" fmla="*/ 2147483646 h 432"/>
              <a:gd name="T6" fmla="*/ 0 60000 65536"/>
              <a:gd name="T7" fmla="*/ 0 60000 65536"/>
              <a:gd name="T8" fmla="*/ 0 60000 65536"/>
            </a:gdLst>
            <a:ahLst/>
            <a:cxnLst>
              <a:cxn ang="T6">
                <a:pos x="T0" y="T1"/>
              </a:cxn>
              <a:cxn ang="T7">
                <a:pos x="T2" y="T3"/>
              </a:cxn>
              <a:cxn ang="T8">
                <a:pos x="T4" y="T5"/>
              </a:cxn>
            </a:cxnLst>
            <a:rect l="0" t="0" r="r" b="b"/>
            <a:pathLst>
              <a:path w="1104" h="432">
                <a:moveTo>
                  <a:pt x="1104" y="0"/>
                </a:moveTo>
                <a:cubicBezTo>
                  <a:pt x="836" y="12"/>
                  <a:pt x="568" y="24"/>
                  <a:pt x="384" y="96"/>
                </a:cubicBezTo>
                <a:cubicBezTo>
                  <a:pt x="200" y="168"/>
                  <a:pt x="100" y="300"/>
                  <a:pt x="0" y="432"/>
                </a:cubicBezTo>
              </a:path>
            </a:pathLst>
          </a:custGeom>
          <a:noFill/>
          <a:ln w="28575" cmpd="sng">
            <a:solidFill>
              <a:srgbClr val="FFFF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66" name="Freeform 54"/>
          <p:cNvSpPr>
            <a:spLocks/>
          </p:cNvSpPr>
          <p:nvPr/>
        </p:nvSpPr>
        <p:spPr bwMode="auto">
          <a:xfrm flipV="1">
            <a:off x="2695575" y="4422775"/>
            <a:ext cx="990600" cy="838200"/>
          </a:xfrm>
          <a:custGeom>
            <a:avLst/>
            <a:gdLst>
              <a:gd name="T0" fmla="*/ 2147483646 w 624"/>
              <a:gd name="T1" fmla="*/ 2147483646 h 528"/>
              <a:gd name="T2" fmla="*/ 2147483646 w 624"/>
              <a:gd name="T3" fmla="*/ 2147483646 h 528"/>
              <a:gd name="T4" fmla="*/ 2147483646 w 624"/>
              <a:gd name="T5" fmla="*/ 2147483646 h 528"/>
              <a:gd name="T6" fmla="*/ 2147483646 w 624"/>
              <a:gd name="T7" fmla="*/ 2147483646 h 528"/>
              <a:gd name="T8" fmla="*/ 0 w 624"/>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528">
                <a:moveTo>
                  <a:pt x="624" y="528"/>
                </a:moveTo>
                <a:cubicBezTo>
                  <a:pt x="612" y="480"/>
                  <a:pt x="600" y="432"/>
                  <a:pt x="576" y="384"/>
                </a:cubicBezTo>
                <a:cubicBezTo>
                  <a:pt x="552" y="336"/>
                  <a:pt x="528" y="288"/>
                  <a:pt x="480" y="240"/>
                </a:cubicBezTo>
                <a:cubicBezTo>
                  <a:pt x="432" y="192"/>
                  <a:pt x="368" y="136"/>
                  <a:pt x="288" y="96"/>
                </a:cubicBezTo>
                <a:cubicBezTo>
                  <a:pt x="208" y="56"/>
                  <a:pt x="56" y="16"/>
                  <a:pt x="0" y="0"/>
                </a:cubicBezTo>
              </a:path>
            </a:pathLst>
          </a:custGeom>
          <a:noFill/>
          <a:ln w="28575" cmpd="sng">
            <a:solidFill>
              <a:srgbClr val="FFFF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68" name="Freeform 56"/>
          <p:cNvSpPr>
            <a:spLocks/>
          </p:cNvSpPr>
          <p:nvPr/>
        </p:nvSpPr>
        <p:spPr bwMode="auto">
          <a:xfrm flipH="1" flipV="1">
            <a:off x="3810000" y="3657600"/>
            <a:ext cx="1752600" cy="685800"/>
          </a:xfrm>
          <a:custGeom>
            <a:avLst/>
            <a:gdLst>
              <a:gd name="T0" fmla="*/ 2147483646 w 1104"/>
              <a:gd name="T1" fmla="*/ 0 h 432"/>
              <a:gd name="T2" fmla="*/ 2147483646 w 1104"/>
              <a:gd name="T3" fmla="*/ 2147483646 h 432"/>
              <a:gd name="T4" fmla="*/ 0 w 1104"/>
              <a:gd name="T5" fmla="*/ 2147483646 h 432"/>
              <a:gd name="T6" fmla="*/ 0 60000 65536"/>
              <a:gd name="T7" fmla="*/ 0 60000 65536"/>
              <a:gd name="T8" fmla="*/ 0 60000 65536"/>
            </a:gdLst>
            <a:ahLst/>
            <a:cxnLst>
              <a:cxn ang="T6">
                <a:pos x="T0" y="T1"/>
              </a:cxn>
              <a:cxn ang="T7">
                <a:pos x="T2" y="T3"/>
              </a:cxn>
              <a:cxn ang="T8">
                <a:pos x="T4" y="T5"/>
              </a:cxn>
            </a:cxnLst>
            <a:rect l="0" t="0" r="r" b="b"/>
            <a:pathLst>
              <a:path w="1104" h="432">
                <a:moveTo>
                  <a:pt x="1104" y="0"/>
                </a:moveTo>
                <a:cubicBezTo>
                  <a:pt x="836" y="12"/>
                  <a:pt x="568" y="24"/>
                  <a:pt x="384" y="96"/>
                </a:cubicBezTo>
                <a:cubicBezTo>
                  <a:pt x="200" y="168"/>
                  <a:pt x="100" y="300"/>
                  <a:pt x="0" y="432"/>
                </a:cubicBezTo>
              </a:path>
            </a:pathLst>
          </a:custGeom>
          <a:noFill/>
          <a:ln w="28575" cmpd="sng">
            <a:solidFill>
              <a:srgbClr val="FFFF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70" name="Freeform 58"/>
          <p:cNvSpPr>
            <a:spLocks/>
          </p:cNvSpPr>
          <p:nvPr/>
        </p:nvSpPr>
        <p:spPr bwMode="auto">
          <a:xfrm flipH="1" flipV="1">
            <a:off x="3765550" y="4419600"/>
            <a:ext cx="990600" cy="838200"/>
          </a:xfrm>
          <a:custGeom>
            <a:avLst/>
            <a:gdLst>
              <a:gd name="T0" fmla="*/ 2147483646 w 624"/>
              <a:gd name="T1" fmla="*/ 2147483646 h 528"/>
              <a:gd name="T2" fmla="*/ 2147483646 w 624"/>
              <a:gd name="T3" fmla="*/ 2147483646 h 528"/>
              <a:gd name="T4" fmla="*/ 2147483646 w 624"/>
              <a:gd name="T5" fmla="*/ 2147483646 h 528"/>
              <a:gd name="T6" fmla="*/ 2147483646 w 624"/>
              <a:gd name="T7" fmla="*/ 2147483646 h 528"/>
              <a:gd name="T8" fmla="*/ 0 w 624"/>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528">
                <a:moveTo>
                  <a:pt x="624" y="528"/>
                </a:moveTo>
                <a:cubicBezTo>
                  <a:pt x="612" y="480"/>
                  <a:pt x="600" y="432"/>
                  <a:pt x="576" y="384"/>
                </a:cubicBezTo>
                <a:cubicBezTo>
                  <a:pt x="552" y="336"/>
                  <a:pt x="528" y="288"/>
                  <a:pt x="480" y="240"/>
                </a:cubicBezTo>
                <a:cubicBezTo>
                  <a:pt x="432" y="192"/>
                  <a:pt x="368" y="136"/>
                  <a:pt x="288" y="96"/>
                </a:cubicBezTo>
                <a:cubicBezTo>
                  <a:pt x="208" y="56"/>
                  <a:pt x="56" y="16"/>
                  <a:pt x="0" y="0"/>
                </a:cubicBezTo>
              </a:path>
            </a:pathLst>
          </a:custGeom>
          <a:noFill/>
          <a:ln w="28575" cmpd="sng">
            <a:solidFill>
              <a:srgbClr val="FFFF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72" name="Freeform 60"/>
          <p:cNvSpPr>
            <a:spLocks/>
          </p:cNvSpPr>
          <p:nvPr/>
        </p:nvSpPr>
        <p:spPr bwMode="auto">
          <a:xfrm>
            <a:off x="1905000" y="2514600"/>
            <a:ext cx="1752600" cy="685800"/>
          </a:xfrm>
          <a:custGeom>
            <a:avLst/>
            <a:gdLst>
              <a:gd name="T0" fmla="*/ 2147483646 w 1104"/>
              <a:gd name="T1" fmla="*/ 0 h 432"/>
              <a:gd name="T2" fmla="*/ 2147483646 w 1104"/>
              <a:gd name="T3" fmla="*/ 2147483646 h 432"/>
              <a:gd name="T4" fmla="*/ 0 w 1104"/>
              <a:gd name="T5" fmla="*/ 2147483646 h 432"/>
              <a:gd name="T6" fmla="*/ 0 60000 65536"/>
              <a:gd name="T7" fmla="*/ 0 60000 65536"/>
              <a:gd name="T8" fmla="*/ 0 60000 65536"/>
            </a:gdLst>
            <a:ahLst/>
            <a:cxnLst>
              <a:cxn ang="T6">
                <a:pos x="T0" y="T1"/>
              </a:cxn>
              <a:cxn ang="T7">
                <a:pos x="T2" y="T3"/>
              </a:cxn>
              <a:cxn ang="T8">
                <a:pos x="T4" y="T5"/>
              </a:cxn>
            </a:cxnLst>
            <a:rect l="0" t="0" r="r" b="b"/>
            <a:pathLst>
              <a:path w="1104" h="432">
                <a:moveTo>
                  <a:pt x="1104" y="0"/>
                </a:moveTo>
                <a:cubicBezTo>
                  <a:pt x="836" y="12"/>
                  <a:pt x="568" y="24"/>
                  <a:pt x="384" y="96"/>
                </a:cubicBezTo>
                <a:cubicBezTo>
                  <a:pt x="200" y="168"/>
                  <a:pt x="100" y="300"/>
                  <a:pt x="0" y="432"/>
                </a:cubicBezTo>
              </a:path>
            </a:pathLst>
          </a:custGeom>
          <a:noFill/>
          <a:ln w="28575" cmpd="sng">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74" name="Freeform 62"/>
          <p:cNvSpPr>
            <a:spLocks/>
          </p:cNvSpPr>
          <p:nvPr/>
        </p:nvSpPr>
        <p:spPr bwMode="auto">
          <a:xfrm>
            <a:off x="2727325" y="1676400"/>
            <a:ext cx="990600" cy="838200"/>
          </a:xfrm>
          <a:custGeom>
            <a:avLst/>
            <a:gdLst>
              <a:gd name="T0" fmla="*/ 2147483646 w 624"/>
              <a:gd name="T1" fmla="*/ 2147483646 h 528"/>
              <a:gd name="T2" fmla="*/ 2147483646 w 624"/>
              <a:gd name="T3" fmla="*/ 2147483646 h 528"/>
              <a:gd name="T4" fmla="*/ 2147483646 w 624"/>
              <a:gd name="T5" fmla="*/ 2147483646 h 528"/>
              <a:gd name="T6" fmla="*/ 2147483646 w 624"/>
              <a:gd name="T7" fmla="*/ 2147483646 h 528"/>
              <a:gd name="T8" fmla="*/ 0 w 624"/>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528">
                <a:moveTo>
                  <a:pt x="624" y="528"/>
                </a:moveTo>
                <a:cubicBezTo>
                  <a:pt x="612" y="480"/>
                  <a:pt x="600" y="432"/>
                  <a:pt x="576" y="384"/>
                </a:cubicBezTo>
                <a:cubicBezTo>
                  <a:pt x="552" y="336"/>
                  <a:pt x="528" y="288"/>
                  <a:pt x="480" y="240"/>
                </a:cubicBezTo>
                <a:cubicBezTo>
                  <a:pt x="432" y="192"/>
                  <a:pt x="368" y="136"/>
                  <a:pt x="288" y="96"/>
                </a:cubicBezTo>
                <a:cubicBezTo>
                  <a:pt x="208" y="56"/>
                  <a:pt x="56" y="16"/>
                  <a:pt x="0" y="0"/>
                </a:cubicBezTo>
              </a:path>
            </a:pathLst>
          </a:custGeom>
          <a:noFill/>
          <a:ln w="28575" cmpd="sng">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76" name="Freeform 64"/>
          <p:cNvSpPr>
            <a:spLocks/>
          </p:cNvSpPr>
          <p:nvPr/>
        </p:nvSpPr>
        <p:spPr bwMode="auto">
          <a:xfrm flipH="1">
            <a:off x="3810000" y="2514600"/>
            <a:ext cx="1752600" cy="685800"/>
          </a:xfrm>
          <a:custGeom>
            <a:avLst/>
            <a:gdLst>
              <a:gd name="T0" fmla="*/ 2147483646 w 1104"/>
              <a:gd name="T1" fmla="*/ 0 h 432"/>
              <a:gd name="T2" fmla="*/ 2147483646 w 1104"/>
              <a:gd name="T3" fmla="*/ 2147483646 h 432"/>
              <a:gd name="T4" fmla="*/ 0 w 1104"/>
              <a:gd name="T5" fmla="*/ 2147483646 h 432"/>
              <a:gd name="T6" fmla="*/ 0 60000 65536"/>
              <a:gd name="T7" fmla="*/ 0 60000 65536"/>
              <a:gd name="T8" fmla="*/ 0 60000 65536"/>
            </a:gdLst>
            <a:ahLst/>
            <a:cxnLst>
              <a:cxn ang="T6">
                <a:pos x="T0" y="T1"/>
              </a:cxn>
              <a:cxn ang="T7">
                <a:pos x="T2" y="T3"/>
              </a:cxn>
              <a:cxn ang="T8">
                <a:pos x="T4" y="T5"/>
              </a:cxn>
            </a:cxnLst>
            <a:rect l="0" t="0" r="r" b="b"/>
            <a:pathLst>
              <a:path w="1104" h="432">
                <a:moveTo>
                  <a:pt x="1104" y="0"/>
                </a:moveTo>
                <a:cubicBezTo>
                  <a:pt x="836" y="12"/>
                  <a:pt x="568" y="24"/>
                  <a:pt x="384" y="96"/>
                </a:cubicBezTo>
                <a:cubicBezTo>
                  <a:pt x="200" y="168"/>
                  <a:pt x="100" y="300"/>
                  <a:pt x="0" y="432"/>
                </a:cubicBezTo>
              </a:path>
            </a:pathLst>
          </a:custGeom>
          <a:noFill/>
          <a:ln w="28575" cmpd="sng">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78" name="Freeform 66"/>
          <p:cNvSpPr>
            <a:spLocks/>
          </p:cNvSpPr>
          <p:nvPr/>
        </p:nvSpPr>
        <p:spPr bwMode="auto">
          <a:xfrm flipH="1">
            <a:off x="3749675" y="1676400"/>
            <a:ext cx="990600" cy="838200"/>
          </a:xfrm>
          <a:custGeom>
            <a:avLst/>
            <a:gdLst>
              <a:gd name="T0" fmla="*/ 2147483646 w 624"/>
              <a:gd name="T1" fmla="*/ 2147483646 h 528"/>
              <a:gd name="T2" fmla="*/ 2147483646 w 624"/>
              <a:gd name="T3" fmla="*/ 2147483646 h 528"/>
              <a:gd name="T4" fmla="*/ 2147483646 w 624"/>
              <a:gd name="T5" fmla="*/ 2147483646 h 528"/>
              <a:gd name="T6" fmla="*/ 2147483646 w 624"/>
              <a:gd name="T7" fmla="*/ 2147483646 h 528"/>
              <a:gd name="T8" fmla="*/ 0 w 624"/>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528">
                <a:moveTo>
                  <a:pt x="624" y="528"/>
                </a:moveTo>
                <a:cubicBezTo>
                  <a:pt x="612" y="480"/>
                  <a:pt x="600" y="432"/>
                  <a:pt x="576" y="384"/>
                </a:cubicBezTo>
                <a:cubicBezTo>
                  <a:pt x="552" y="336"/>
                  <a:pt x="528" y="288"/>
                  <a:pt x="480" y="240"/>
                </a:cubicBezTo>
                <a:cubicBezTo>
                  <a:pt x="432" y="192"/>
                  <a:pt x="368" y="136"/>
                  <a:pt x="288" y="96"/>
                </a:cubicBezTo>
                <a:cubicBezTo>
                  <a:pt x="208" y="56"/>
                  <a:pt x="56" y="16"/>
                  <a:pt x="0" y="0"/>
                </a:cubicBezTo>
              </a:path>
            </a:pathLst>
          </a:custGeom>
          <a:noFill/>
          <a:ln w="28575" cmpd="sng">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88" name="Freeform 76"/>
          <p:cNvSpPr>
            <a:spLocks/>
          </p:cNvSpPr>
          <p:nvPr/>
        </p:nvSpPr>
        <p:spPr bwMode="auto">
          <a:xfrm flipH="1">
            <a:off x="1981200" y="2133600"/>
            <a:ext cx="1676400" cy="330200"/>
          </a:xfrm>
          <a:custGeom>
            <a:avLst/>
            <a:gdLst>
              <a:gd name="T0" fmla="*/ 0 w 864"/>
              <a:gd name="T1" fmla="*/ 2147483646 h 208"/>
              <a:gd name="T2" fmla="*/ 2147483646 w 864"/>
              <a:gd name="T3" fmla="*/ 2147483646 h 208"/>
              <a:gd name="T4" fmla="*/ 2147483646 w 864"/>
              <a:gd name="T5" fmla="*/ 2147483646 h 208"/>
              <a:gd name="T6" fmla="*/ 2147483646 w 864"/>
              <a:gd name="T7" fmla="*/ 2147483646 h 208"/>
              <a:gd name="T8" fmla="*/ 2147483646 w 864"/>
              <a:gd name="T9" fmla="*/ 2147483646 h 2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208">
                <a:moveTo>
                  <a:pt x="0" y="208"/>
                </a:moveTo>
                <a:cubicBezTo>
                  <a:pt x="24" y="176"/>
                  <a:pt x="48" y="144"/>
                  <a:pt x="96" y="112"/>
                </a:cubicBezTo>
                <a:cubicBezTo>
                  <a:pt x="144" y="80"/>
                  <a:pt x="208" y="32"/>
                  <a:pt x="288" y="16"/>
                </a:cubicBezTo>
                <a:cubicBezTo>
                  <a:pt x="368" y="0"/>
                  <a:pt x="480" y="0"/>
                  <a:pt x="576" y="16"/>
                </a:cubicBezTo>
                <a:cubicBezTo>
                  <a:pt x="672" y="32"/>
                  <a:pt x="824" y="96"/>
                  <a:pt x="864" y="112"/>
                </a:cubicBezTo>
              </a:path>
            </a:pathLst>
          </a:custGeom>
          <a:noFill/>
          <a:ln w="28575" cmpd="sng">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89" name="Freeform 77"/>
          <p:cNvSpPr>
            <a:spLocks/>
          </p:cNvSpPr>
          <p:nvPr/>
        </p:nvSpPr>
        <p:spPr bwMode="auto">
          <a:xfrm>
            <a:off x="3810000" y="2133600"/>
            <a:ext cx="1676400" cy="330200"/>
          </a:xfrm>
          <a:custGeom>
            <a:avLst/>
            <a:gdLst>
              <a:gd name="T0" fmla="*/ 0 w 864"/>
              <a:gd name="T1" fmla="*/ 2147483646 h 208"/>
              <a:gd name="T2" fmla="*/ 2147483646 w 864"/>
              <a:gd name="T3" fmla="*/ 2147483646 h 208"/>
              <a:gd name="T4" fmla="*/ 2147483646 w 864"/>
              <a:gd name="T5" fmla="*/ 2147483646 h 208"/>
              <a:gd name="T6" fmla="*/ 2147483646 w 864"/>
              <a:gd name="T7" fmla="*/ 2147483646 h 208"/>
              <a:gd name="T8" fmla="*/ 2147483646 w 864"/>
              <a:gd name="T9" fmla="*/ 2147483646 h 2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208">
                <a:moveTo>
                  <a:pt x="0" y="208"/>
                </a:moveTo>
                <a:cubicBezTo>
                  <a:pt x="24" y="176"/>
                  <a:pt x="48" y="144"/>
                  <a:pt x="96" y="112"/>
                </a:cubicBezTo>
                <a:cubicBezTo>
                  <a:pt x="144" y="80"/>
                  <a:pt x="208" y="32"/>
                  <a:pt x="288" y="16"/>
                </a:cubicBezTo>
                <a:cubicBezTo>
                  <a:pt x="368" y="0"/>
                  <a:pt x="480" y="0"/>
                  <a:pt x="576" y="16"/>
                </a:cubicBezTo>
                <a:cubicBezTo>
                  <a:pt x="672" y="32"/>
                  <a:pt x="824" y="96"/>
                  <a:pt x="864" y="112"/>
                </a:cubicBezTo>
              </a:path>
            </a:pathLst>
          </a:custGeom>
          <a:noFill/>
          <a:ln w="28575" cmpd="sng">
            <a:solidFill>
              <a:srgbClr val="FFFF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90" name="Freeform 78"/>
          <p:cNvSpPr>
            <a:spLocks/>
          </p:cNvSpPr>
          <p:nvPr/>
        </p:nvSpPr>
        <p:spPr bwMode="auto">
          <a:xfrm flipH="1" flipV="1">
            <a:off x="1981200" y="4394200"/>
            <a:ext cx="1676400" cy="330200"/>
          </a:xfrm>
          <a:custGeom>
            <a:avLst/>
            <a:gdLst>
              <a:gd name="T0" fmla="*/ 0 w 864"/>
              <a:gd name="T1" fmla="*/ 2147483646 h 208"/>
              <a:gd name="T2" fmla="*/ 2147483646 w 864"/>
              <a:gd name="T3" fmla="*/ 2147483646 h 208"/>
              <a:gd name="T4" fmla="*/ 2147483646 w 864"/>
              <a:gd name="T5" fmla="*/ 2147483646 h 208"/>
              <a:gd name="T6" fmla="*/ 2147483646 w 864"/>
              <a:gd name="T7" fmla="*/ 2147483646 h 208"/>
              <a:gd name="T8" fmla="*/ 2147483646 w 864"/>
              <a:gd name="T9" fmla="*/ 2147483646 h 2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208">
                <a:moveTo>
                  <a:pt x="0" y="208"/>
                </a:moveTo>
                <a:cubicBezTo>
                  <a:pt x="24" y="176"/>
                  <a:pt x="48" y="144"/>
                  <a:pt x="96" y="112"/>
                </a:cubicBezTo>
                <a:cubicBezTo>
                  <a:pt x="144" y="80"/>
                  <a:pt x="208" y="32"/>
                  <a:pt x="288" y="16"/>
                </a:cubicBezTo>
                <a:cubicBezTo>
                  <a:pt x="368" y="0"/>
                  <a:pt x="480" y="0"/>
                  <a:pt x="576" y="16"/>
                </a:cubicBezTo>
                <a:cubicBezTo>
                  <a:pt x="672" y="32"/>
                  <a:pt x="824" y="96"/>
                  <a:pt x="864" y="112"/>
                </a:cubicBezTo>
              </a:path>
            </a:pathLst>
          </a:custGeom>
          <a:noFill/>
          <a:ln w="28575" cmpd="sng">
            <a:solidFill>
              <a:srgbClr val="FFFF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8991" name="Freeform 79"/>
          <p:cNvSpPr>
            <a:spLocks/>
          </p:cNvSpPr>
          <p:nvPr/>
        </p:nvSpPr>
        <p:spPr bwMode="auto">
          <a:xfrm flipV="1">
            <a:off x="3810000" y="4394200"/>
            <a:ext cx="1676400" cy="330200"/>
          </a:xfrm>
          <a:custGeom>
            <a:avLst/>
            <a:gdLst>
              <a:gd name="T0" fmla="*/ 0 w 864"/>
              <a:gd name="T1" fmla="*/ 2147483646 h 208"/>
              <a:gd name="T2" fmla="*/ 2147483646 w 864"/>
              <a:gd name="T3" fmla="*/ 2147483646 h 208"/>
              <a:gd name="T4" fmla="*/ 2147483646 w 864"/>
              <a:gd name="T5" fmla="*/ 2147483646 h 208"/>
              <a:gd name="T6" fmla="*/ 2147483646 w 864"/>
              <a:gd name="T7" fmla="*/ 2147483646 h 208"/>
              <a:gd name="T8" fmla="*/ 2147483646 w 864"/>
              <a:gd name="T9" fmla="*/ 2147483646 h 2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208">
                <a:moveTo>
                  <a:pt x="0" y="208"/>
                </a:moveTo>
                <a:cubicBezTo>
                  <a:pt x="24" y="176"/>
                  <a:pt x="48" y="144"/>
                  <a:pt x="96" y="112"/>
                </a:cubicBezTo>
                <a:cubicBezTo>
                  <a:pt x="144" y="80"/>
                  <a:pt x="208" y="32"/>
                  <a:pt x="288" y="16"/>
                </a:cubicBezTo>
                <a:cubicBezTo>
                  <a:pt x="368" y="0"/>
                  <a:pt x="480" y="0"/>
                  <a:pt x="576" y="16"/>
                </a:cubicBezTo>
                <a:cubicBezTo>
                  <a:pt x="672" y="32"/>
                  <a:pt x="824" y="96"/>
                  <a:pt x="864" y="112"/>
                </a:cubicBezTo>
              </a:path>
            </a:pathLst>
          </a:custGeom>
          <a:noFill/>
          <a:ln w="28575" cmpd="sng">
            <a:solidFill>
              <a:srgbClr val="FFFF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39079" name="Group 167"/>
          <p:cNvGrpSpPr>
            <a:grpSpLocks/>
          </p:cNvGrpSpPr>
          <p:nvPr/>
        </p:nvGrpSpPr>
        <p:grpSpPr bwMode="auto">
          <a:xfrm>
            <a:off x="2406650" y="2514600"/>
            <a:ext cx="1295400" cy="1828800"/>
            <a:chOff x="576" y="1584"/>
            <a:chExt cx="816" cy="1152"/>
          </a:xfrm>
        </p:grpSpPr>
        <p:sp>
          <p:nvSpPr>
            <p:cNvPr id="17511" name="Freeform 49"/>
            <p:cNvSpPr>
              <a:spLocks/>
            </p:cNvSpPr>
            <p:nvPr/>
          </p:nvSpPr>
          <p:spPr bwMode="auto">
            <a:xfrm flipH="1" flipV="1">
              <a:off x="576" y="1584"/>
              <a:ext cx="816" cy="1152"/>
            </a:xfrm>
            <a:custGeom>
              <a:avLst/>
              <a:gdLst>
                <a:gd name="T0" fmla="*/ 0 w 288"/>
                <a:gd name="T1" fmla="*/ 0 h 1056"/>
                <a:gd name="T2" fmla="*/ 422181 w 288"/>
                <a:gd name="T3" fmla="*/ 970 h 1056"/>
                <a:gd name="T4" fmla="*/ 0 w 288"/>
                <a:gd name="T5" fmla="*/ 1942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12" name="Line 82"/>
            <p:cNvSpPr>
              <a:spLocks noChangeShapeType="1"/>
            </p:cNvSpPr>
            <p:nvPr/>
          </p:nvSpPr>
          <p:spPr bwMode="auto">
            <a:xfrm rot="16200000" flipH="1">
              <a:off x="552"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8" name="Group 166"/>
          <p:cNvGrpSpPr>
            <a:grpSpLocks/>
          </p:cNvGrpSpPr>
          <p:nvPr/>
        </p:nvGrpSpPr>
        <p:grpSpPr bwMode="auto">
          <a:xfrm>
            <a:off x="2895600" y="2514600"/>
            <a:ext cx="838200" cy="1828800"/>
            <a:chOff x="864" y="1584"/>
            <a:chExt cx="528" cy="1152"/>
          </a:xfrm>
        </p:grpSpPr>
        <p:sp>
          <p:nvSpPr>
            <p:cNvPr id="17509" name="Freeform 48"/>
            <p:cNvSpPr>
              <a:spLocks/>
            </p:cNvSpPr>
            <p:nvPr/>
          </p:nvSpPr>
          <p:spPr bwMode="auto">
            <a:xfrm flipH="1" flipV="1">
              <a:off x="864" y="1584"/>
              <a:ext cx="528" cy="1152"/>
            </a:xfrm>
            <a:custGeom>
              <a:avLst/>
              <a:gdLst>
                <a:gd name="T0" fmla="*/ 0 w 288"/>
                <a:gd name="T1" fmla="*/ 0 h 1056"/>
                <a:gd name="T2" fmla="*/ 20053 w 288"/>
                <a:gd name="T3" fmla="*/ 970 h 1056"/>
                <a:gd name="T4" fmla="*/ 0 w 288"/>
                <a:gd name="T5" fmla="*/ 1942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10" name="Line 83"/>
            <p:cNvSpPr>
              <a:spLocks noChangeShapeType="1"/>
            </p:cNvSpPr>
            <p:nvPr/>
          </p:nvSpPr>
          <p:spPr bwMode="auto">
            <a:xfrm rot="16200000" flipH="1">
              <a:off x="840"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7" name="Group 165"/>
          <p:cNvGrpSpPr>
            <a:grpSpLocks/>
          </p:cNvGrpSpPr>
          <p:nvPr/>
        </p:nvGrpSpPr>
        <p:grpSpPr bwMode="auto">
          <a:xfrm>
            <a:off x="3200400" y="2514600"/>
            <a:ext cx="533400" cy="1828800"/>
            <a:chOff x="1056" y="1584"/>
            <a:chExt cx="336" cy="1152"/>
          </a:xfrm>
        </p:grpSpPr>
        <p:sp>
          <p:nvSpPr>
            <p:cNvPr id="17507" name="Freeform 45"/>
            <p:cNvSpPr>
              <a:spLocks/>
            </p:cNvSpPr>
            <p:nvPr/>
          </p:nvSpPr>
          <p:spPr bwMode="auto">
            <a:xfrm flipH="1" flipV="1">
              <a:off x="1056" y="1584"/>
              <a:ext cx="336" cy="1152"/>
            </a:xfrm>
            <a:custGeom>
              <a:avLst/>
              <a:gdLst>
                <a:gd name="T0" fmla="*/ 0 w 288"/>
                <a:gd name="T1" fmla="*/ 0 h 1056"/>
                <a:gd name="T2" fmla="*/ 847 w 288"/>
                <a:gd name="T3" fmla="*/ 970 h 1056"/>
                <a:gd name="T4" fmla="*/ 0 w 288"/>
                <a:gd name="T5" fmla="*/ 1942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08" name="Line 84"/>
            <p:cNvSpPr>
              <a:spLocks noChangeShapeType="1"/>
            </p:cNvSpPr>
            <p:nvPr/>
          </p:nvSpPr>
          <p:spPr bwMode="auto">
            <a:xfrm rot="16200000" flipH="1">
              <a:off x="1032"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6" name="Group 164"/>
          <p:cNvGrpSpPr>
            <a:grpSpLocks/>
          </p:cNvGrpSpPr>
          <p:nvPr/>
        </p:nvGrpSpPr>
        <p:grpSpPr bwMode="auto">
          <a:xfrm>
            <a:off x="3397250" y="2590800"/>
            <a:ext cx="304800" cy="1676400"/>
            <a:chOff x="1200" y="1632"/>
            <a:chExt cx="192" cy="1056"/>
          </a:xfrm>
        </p:grpSpPr>
        <p:sp>
          <p:nvSpPr>
            <p:cNvPr id="17505" name="Freeform 47"/>
            <p:cNvSpPr>
              <a:spLocks/>
            </p:cNvSpPr>
            <p:nvPr/>
          </p:nvSpPr>
          <p:spPr bwMode="auto">
            <a:xfrm flipH="1" flipV="1">
              <a:off x="1200" y="1632"/>
              <a:ext cx="192" cy="1056"/>
            </a:xfrm>
            <a:custGeom>
              <a:avLst/>
              <a:gdLst>
                <a:gd name="T0" fmla="*/ 0 w 288"/>
                <a:gd name="T1" fmla="*/ 0 h 1056"/>
                <a:gd name="T2" fmla="*/ 17 w 288"/>
                <a:gd name="T3" fmla="*/ 528 h 1056"/>
                <a:gd name="T4" fmla="*/ 0 w 288"/>
                <a:gd name="T5" fmla="*/ 105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06" name="Line 85"/>
            <p:cNvSpPr>
              <a:spLocks noChangeShapeType="1"/>
            </p:cNvSpPr>
            <p:nvPr/>
          </p:nvSpPr>
          <p:spPr bwMode="auto">
            <a:xfrm rot="16200000" flipH="1">
              <a:off x="1176"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5" name="Group 163"/>
          <p:cNvGrpSpPr>
            <a:grpSpLocks/>
          </p:cNvGrpSpPr>
          <p:nvPr/>
        </p:nvGrpSpPr>
        <p:grpSpPr bwMode="auto">
          <a:xfrm>
            <a:off x="3581400" y="2590800"/>
            <a:ext cx="152400" cy="1676400"/>
            <a:chOff x="1296" y="1632"/>
            <a:chExt cx="96" cy="1056"/>
          </a:xfrm>
        </p:grpSpPr>
        <p:sp>
          <p:nvSpPr>
            <p:cNvPr id="17503" name="Freeform 46"/>
            <p:cNvSpPr>
              <a:spLocks/>
            </p:cNvSpPr>
            <p:nvPr/>
          </p:nvSpPr>
          <p:spPr bwMode="auto">
            <a:xfrm flipH="1" flipV="1">
              <a:off x="1296" y="1632"/>
              <a:ext cx="96" cy="1056"/>
            </a:xfrm>
            <a:custGeom>
              <a:avLst/>
              <a:gdLst>
                <a:gd name="T0" fmla="*/ 0 w 288"/>
                <a:gd name="T1" fmla="*/ 0 h 1056"/>
                <a:gd name="T2" fmla="*/ 0 w 288"/>
                <a:gd name="T3" fmla="*/ 528 h 1056"/>
                <a:gd name="T4" fmla="*/ 0 w 288"/>
                <a:gd name="T5" fmla="*/ 105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04" name="Line 86"/>
            <p:cNvSpPr>
              <a:spLocks noChangeShapeType="1"/>
            </p:cNvSpPr>
            <p:nvPr/>
          </p:nvSpPr>
          <p:spPr bwMode="auto">
            <a:xfrm rot="16200000" flipH="1">
              <a:off x="1272"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68" name="Group 156"/>
          <p:cNvGrpSpPr>
            <a:grpSpLocks/>
          </p:cNvGrpSpPr>
          <p:nvPr/>
        </p:nvGrpSpPr>
        <p:grpSpPr bwMode="auto">
          <a:xfrm>
            <a:off x="3733800" y="4419600"/>
            <a:ext cx="0" cy="838200"/>
            <a:chOff x="1392" y="2784"/>
            <a:chExt cx="0" cy="528"/>
          </a:xfrm>
        </p:grpSpPr>
        <p:sp>
          <p:nvSpPr>
            <p:cNvPr id="17501" name="Line 37"/>
            <p:cNvSpPr>
              <a:spLocks noChangeShapeType="1"/>
            </p:cNvSpPr>
            <p:nvPr/>
          </p:nvSpPr>
          <p:spPr bwMode="auto">
            <a:xfrm>
              <a:off x="1392" y="2784"/>
              <a:ext cx="0" cy="528"/>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02" name="Line 87"/>
            <p:cNvSpPr>
              <a:spLocks noChangeShapeType="1"/>
            </p:cNvSpPr>
            <p:nvPr/>
          </p:nvSpPr>
          <p:spPr bwMode="auto">
            <a:xfrm rot="5400000" flipH="1" flipV="1">
              <a:off x="1368" y="3240"/>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0" name="Group 158"/>
          <p:cNvGrpSpPr>
            <a:grpSpLocks/>
          </p:cNvGrpSpPr>
          <p:nvPr/>
        </p:nvGrpSpPr>
        <p:grpSpPr bwMode="auto">
          <a:xfrm>
            <a:off x="3733800" y="2590800"/>
            <a:ext cx="152400" cy="1676400"/>
            <a:chOff x="1392" y="1632"/>
            <a:chExt cx="96" cy="1056"/>
          </a:xfrm>
        </p:grpSpPr>
        <p:sp>
          <p:nvSpPr>
            <p:cNvPr id="17499" name="Freeform 39"/>
            <p:cNvSpPr>
              <a:spLocks/>
            </p:cNvSpPr>
            <p:nvPr/>
          </p:nvSpPr>
          <p:spPr bwMode="auto">
            <a:xfrm>
              <a:off x="1392" y="1632"/>
              <a:ext cx="96" cy="1056"/>
            </a:xfrm>
            <a:custGeom>
              <a:avLst/>
              <a:gdLst>
                <a:gd name="T0" fmla="*/ 0 w 288"/>
                <a:gd name="T1" fmla="*/ 0 h 1056"/>
                <a:gd name="T2" fmla="*/ 0 w 288"/>
                <a:gd name="T3" fmla="*/ 528 h 1056"/>
                <a:gd name="T4" fmla="*/ 0 w 288"/>
                <a:gd name="T5" fmla="*/ 105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500" name="Line 88"/>
            <p:cNvSpPr>
              <a:spLocks noChangeShapeType="1"/>
            </p:cNvSpPr>
            <p:nvPr/>
          </p:nvSpPr>
          <p:spPr bwMode="auto">
            <a:xfrm rot="16200000" flipH="1">
              <a:off x="1464"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1" name="Group 159"/>
          <p:cNvGrpSpPr>
            <a:grpSpLocks/>
          </p:cNvGrpSpPr>
          <p:nvPr/>
        </p:nvGrpSpPr>
        <p:grpSpPr bwMode="auto">
          <a:xfrm>
            <a:off x="3765550" y="2590800"/>
            <a:ext cx="304800" cy="1676400"/>
            <a:chOff x="1392" y="1632"/>
            <a:chExt cx="192" cy="1056"/>
          </a:xfrm>
        </p:grpSpPr>
        <p:sp>
          <p:nvSpPr>
            <p:cNvPr id="17497" name="Freeform 40"/>
            <p:cNvSpPr>
              <a:spLocks/>
            </p:cNvSpPr>
            <p:nvPr/>
          </p:nvSpPr>
          <p:spPr bwMode="auto">
            <a:xfrm>
              <a:off x="1392" y="1632"/>
              <a:ext cx="192" cy="1056"/>
            </a:xfrm>
            <a:custGeom>
              <a:avLst/>
              <a:gdLst>
                <a:gd name="T0" fmla="*/ 0 w 288"/>
                <a:gd name="T1" fmla="*/ 0 h 1056"/>
                <a:gd name="T2" fmla="*/ 17 w 288"/>
                <a:gd name="T3" fmla="*/ 528 h 1056"/>
                <a:gd name="T4" fmla="*/ 0 w 288"/>
                <a:gd name="T5" fmla="*/ 105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498" name="Line 89"/>
            <p:cNvSpPr>
              <a:spLocks noChangeShapeType="1"/>
            </p:cNvSpPr>
            <p:nvPr/>
          </p:nvSpPr>
          <p:spPr bwMode="auto">
            <a:xfrm rot="16200000" flipH="1">
              <a:off x="1560"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2" name="Group 160"/>
          <p:cNvGrpSpPr>
            <a:grpSpLocks/>
          </p:cNvGrpSpPr>
          <p:nvPr/>
        </p:nvGrpSpPr>
        <p:grpSpPr bwMode="auto">
          <a:xfrm>
            <a:off x="3733800" y="2514600"/>
            <a:ext cx="533400" cy="1828800"/>
            <a:chOff x="1392" y="1584"/>
            <a:chExt cx="336" cy="1152"/>
          </a:xfrm>
        </p:grpSpPr>
        <p:sp>
          <p:nvSpPr>
            <p:cNvPr id="17495" name="Freeform 38"/>
            <p:cNvSpPr>
              <a:spLocks/>
            </p:cNvSpPr>
            <p:nvPr/>
          </p:nvSpPr>
          <p:spPr bwMode="auto">
            <a:xfrm>
              <a:off x="1392" y="1584"/>
              <a:ext cx="336" cy="1152"/>
            </a:xfrm>
            <a:custGeom>
              <a:avLst/>
              <a:gdLst>
                <a:gd name="T0" fmla="*/ 0 w 288"/>
                <a:gd name="T1" fmla="*/ 0 h 1056"/>
                <a:gd name="T2" fmla="*/ 847 w 288"/>
                <a:gd name="T3" fmla="*/ 970 h 1056"/>
                <a:gd name="T4" fmla="*/ 0 w 288"/>
                <a:gd name="T5" fmla="*/ 1942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496" name="Line 90"/>
            <p:cNvSpPr>
              <a:spLocks noChangeShapeType="1"/>
            </p:cNvSpPr>
            <p:nvPr/>
          </p:nvSpPr>
          <p:spPr bwMode="auto">
            <a:xfrm rot="16200000" flipH="1">
              <a:off x="1704"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3" name="Group 161"/>
          <p:cNvGrpSpPr>
            <a:grpSpLocks/>
          </p:cNvGrpSpPr>
          <p:nvPr/>
        </p:nvGrpSpPr>
        <p:grpSpPr bwMode="auto">
          <a:xfrm>
            <a:off x="3733800" y="2514600"/>
            <a:ext cx="838200" cy="1828800"/>
            <a:chOff x="1392" y="1584"/>
            <a:chExt cx="528" cy="1152"/>
          </a:xfrm>
        </p:grpSpPr>
        <p:sp>
          <p:nvSpPr>
            <p:cNvPr id="17493" name="Freeform 41"/>
            <p:cNvSpPr>
              <a:spLocks/>
            </p:cNvSpPr>
            <p:nvPr/>
          </p:nvSpPr>
          <p:spPr bwMode="auto">
            <a:xfrm>
              <a:off x="1392" y="1584"/>
              <a:ext cx="528" cy="1152"/>
            </a:xfrm>
            <a:custGeom>
              <a:avLst/>
              <a:gdLst>
                <a:gd name="T0" fmla="*/ 0 w 288"/>
                <a:gd name="T1" fmla="*/ 0 h 1056"/>
                <a:gd name="T2" fmla="*/ 20053 w 288"/>
                <a:gd name="T3" fmla="*/ 970 h 1056"/>
                <a:gd name="T4" fmla="*/ 0 w 288"/>
                <a:gd name="T5" fmla="*/ 1942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494" name="Line 91"/>
            <p:cNvSpPr>
              <a:spLocks noChangeShapeType="1"/>
            </p:cNvSpPr>
            <p:nvPr/>
          </p:nvSpPr>
          <p:spPr bwMode="auto">
            <a:xfrm rot="16200000" flipH="1">
              <a:off x="1896"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9074" name="Group 162"/>
          <p:cNvGrpSpPr>
            <a:grpSpLocks/>
          </p:cNvGrpSpPr>
          <p:nvPr/>
        </p:nvGrpSpPr>
        <p:grpSpPr bwMode="auto">
          <a:xfrm>
            <a:off x="3765550" y="2514600"/>
            <a:ext cx="1295400" cy="1828800"/>
            <a:chOff x="1392" y="1584"/>
            <a:chExt cx="816" cy="1152"/>
          </a:xfrm>
        </p:grpSpPr>
        <p:sp>
          <p:nvSpPr>
            <p:cNvPr id="17491" name="Freeform 42"/>
            <p:cNvSpPr>
              <a:spLocks/>
            </p:cNvSpPr>
            <p:nvPr/>
          </p:nvSpPr>
          <p:spPr bwMode="auto">
            <a:xfrm>
              <a:off x="1392" y="1584"/>
              <a:ext cx="816" cy="1152"/>
            </a:xfrm>
            <a:custGeom>
              <a:avLst/>
              <a:gdLst>
                <a:gd name="T0" fmla="*/ 0 w 288"/>
                <a:gd name="T1" fmla="*/ 0 h 1056"/>
                <a:gd name="T2" fmla="*/ 422181 w 288"/>
                <a:gd name="T3" fmla="*/ 970 h 1056"/>
                <a:gd name="T4" fmla="*/ 0 w 288"/>
                <a:gd name="T5" fmla="*/ 1942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492" name="Line 92"/>
            <p:cNvSpPr>
              <a:spLocks noChangeShapeType="1"/>
            </p:cNvSpPr>
            <p:nvPr/>
          </p:nvSpPr>
          <p:spPr bwMode="auto">
            <a:xfrm rot="16200000" flipH="1">
              <a:off x="2184"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39007" name="Rectangle 95"/>
          <p:cNvSpPr>
            <a:spLocks noChangeArrowheads="1"/>
          </p:cNvSpPr>
          <p:nvPr/>
        </p:nvSpPr>
        <p:spPr bwMode="auto">
          <a:xfrm>
            <a:off x="3886200" y="22240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 q</a:t>
            </a:r>
            <a:endParaRPr lang="en-US" altLang="en-US" sz="1800" b="1" baseline="-25000">
              <a:solidFill>
                <a:srgbClr val="FF99FF"/>
              </a:solidFill>
            </a:endParaRPr>
          </a:p>
        </p:txBody>
      </p:sp>
      <p:sp>
        <p:nvSpPr>
          <p:cNvPr id="39008" name="Rectangle 96"/>
          <p:cNvSpPr>
            <a:spLocks noChangeArrowheads="1"/>
          </p:cNvSpPr>
          <p:nvPr/>
        </p:nvSpPr>
        <p:spPr bwMode="auto">
          <a:xfrm>
            <a:off x="3886200" y="4267201"/>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 q</a:t>
            </a:r>
            <a:endParaRPr lang="en-US" altLang="en-US" sz="1800" b="1" baseline="-25000">
              <a:solidFill>
                <a:srgbClr val="FF99FF"/>
              </a:solidFill>
            </a:endParaRPr>
          </a:p>
        </p:txBody>
      </p:sp>
      <p:grpSp>
        <p:nvGrpSpPr>
          <p:cNvPr id="39080" name="Group 168"/>
          <p:cNvGrpSpPr>
            <a:grpSpLocks/>
          </p:cNvGrpSpPr>
          <p:nvPr/>
        </p:nvGrpSpPr>
        <p:grpSpPr bwMode="auto">
          <a:xfrm>
            <a:off x="4724400" y="2238376"/>
            <a:ext cx="381000" cy="428625"/>
            <a:chOff x="2016" y="1410"/>
            <a:chExt cx="240" cy="270"/>
          </a:xfrm>
        </p:grpSpPr>
        <p:sp>
          <p:nvSpPr>
            <p:cNvPr id="17489" name="Oval 98"/>
            <p:cNvSpPr>
              <a:spLocks noChangeArrowheads="1"/>
            </p:cNvSpPr>
            <p:nvPr/>
          </p:nvSpPr>
          <p:spPr bwMode="auto">
            <a:xfrm>
              <a:off x="2064" y="1632"/>
              <a:ext cx="48" cy="48"/>
            </a:xfrm>
            <a:prstGeom prst="ellipse">
              <a:avLst/>
            </a:prstGeom>
            <a:solidFill>
              <a:srgbClr val="800000"/>
            </a:solidFill>
            <a:ln>
              <a:noFill/>
            </a:ln>
            <a:effectLst/>
            <a:extLst>
              <a:ext uri="{91240B29-F687-4F45-9708-019B960494DF}">
                <a14:hiddenLine xmlns:a14="http://schemas.microsoft.com/office/drawing/2010/main" w="9525">
                  <a:solidFill>
                    <a:srgbClr val="66FF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17490" name="Rectangle 99"/>
            <p:cNvSpPr>
              <a:spLocks noChangeArrowheads="1"/>
            </p:cNvSpPr>
            <p:nvPr/>
          </p:nvSpPr>
          <p:spPr bwMode="auto">
            <a:xfrm>
              <a:off x="2016" y="141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P</a:t>
              </a:r>
              <a:endParaRPr lang="en-US" altLang="en-US" sz="1800" b="1" baseline="-25000">
                <a:solidFill>
                  <a:srgbClr val="66FF33"/>
                </a:solidFill>
              </a:endParaRPr>
            </a:p>
          </p:txBody>
        </p:sp>
      </p:grpSp>
      <p:grpSp>
        <p:nvGrpSpPr>
          <p:cNvPr id="39081" name="Group 169"/>
          <p:cNvGrpSpPr>
            <a:grpSpLocks/>
          </p:cNvGrpSpPr>
          <p:nvPr/>
        </p:nvGrpSpPr>
        <p:grpSpPr bwMode="auto">
          <a:xfrm>
            <a:off x="4876800" y="2514600"/>
            <a:ext cx="1295400" cy="457200"/>
            <a:chOff x="2112" y="1584"/>
            <a:chExt cx="816" cy="288"/>
          </a:xfrm>
        </p:grpSpPr>
        <p:sp>
          <p:nvSpPr>
            <p:cNvPr id="17485" name="Line 97"/>
            <p:cNvSpPr>
              <a:spLocks noChangeShapeType="1"/>
            </p:cNvSpPr>
            <p:nvPr/>
          </p:nvSpPr>
          <p:spPr bwMode="auto">
            <a:xfrm rot="-292931">
              <a:off x="2112" y="1632"/>
              <a:ext cx="576" cy="240"/>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7486" name="Group 100"/>
            <p:cNvGrpSpPr>
              <a:grpSpLocks/>
            </p:cNvGrpSpPr>
            <p:nvPr/>
          </p:nvGrpSpPr>
          <p:grpSpPr bwMode="auto">
            <a:xfrm>
              <a:off x="2544" y="1584"/>
              <a:ext cx="384" cy="231"/>
              <a:chOff x="2448" y="1968"/>
              <a:chExt cx="384" cy="231"/>
            </a:xfrm>
          </p:grpSpPr>
          <p:sp>
            <p:nvSpPr>
              <p:cNvPr id="17487" name="Text Box 101"/>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99FF"/>
                    </a:solidFill>
                  </a:rPr>
                  <a:t>E</a:t>
                </a:r>
                <a:endParaRPr lang="en-US" altLang="en-US" sz="1800" b="1" baseline="-25000">
                  <a:solidFill>
                    <a:srgbClr val="CC99FF"/>
                  </a:solidFill>
                </a:endParaRPr>
              </a:p>
            </p:txBody>
          </p:sp>
          <p:sp>
            <p:nvSpPr>
              <p:cNvPr id="17488" name="Line 102"/>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sp>
        <p:nvSpPr>
          <p:cNvPr id="38947" name="Oval 35"/>
          <p:cNvSpPr>
            <a:spLocks noChangeArrowheads="1"/>
          </p:cNvSpPr>
          <p:nvPr/>
        </p:nvSpPr>
        <p:spPr bwMode="auto">
          <a:xfrm>
            <a:off x="3657600" y="2422525"/>
            <a:ext cx="152400" cy="152400"/>
          </a:xfrm>
          <a:prstGeom prst="ellipse">
            <a:avLst/>
          </a:prstGeom>
          <a:solidFill>
            <a:srgbClr val="FF0000"/>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8948" name="Oval 36"/>
          <p:cNvSpPr>
            <a:spLocks noChangeArrowheads="1"/>
          </p:cNvSpPr>
          <p:nvPr/>
        </p:nvSpPr>
        <p:spPr bwMode="auto">
          <a:xfrm>
            <a:off x="3657600" y="4267200"/>
            <a:ext cx="152400" cy="152400"/>
          </a:xfrm>
          <a:prstGeom prst="ellipse">
            <a:avLst/>
          </a:prstGeom>
          <a:solidFill>
            <a:srgbClr val="FF0000"/>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9015" name="Freeform 103"/>
          <p:cNvSpPr>
            <a:spLocks/>
          </p:cNvSpPr>
          <p:nvPr/>
        </p:nvSpPr>
        <p:spPr bwMode="auto">
          <a:xfrm flipH="1">
            <a:off x="8537576" y="3883026"/>
            <a:ext cx="1408113" cy="238125"/>
          </a:xfrm>
          <a:custGeom>
            <a:avLst/>
            <a:gdLst>
              <a:gd name="T0" fmla="*/ 2147483646 w 864"/>
              <a:gd name="T1" fmla="*/ 2147483646 h 104"/>
              <a:gd name="T2" fmla="*/ 2147483646 w 864"/>
              <a:gd name="T3" fmla="*/ 2147483646 h 104"/>
              <a:gd name="T4" fmla="*/ 2147483646 w 864"/>
              <a:gd name="T5" fmla="*/ 2147483646 h 104"/>
              <a:gd name="T6" fmla="*/ 2147483646 w 864"/>
              <a:gd name="T7" fmla="*/ 2147483646 h 104"/>
              <a:gd name="T8" fmla="*/ 0 w 864"/>
              <a:gd name="T9" fmla="*/ 2147483646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04">
                <a:moveTo>
                  <a:pt x="864" y="104"/>
                </a:moveTo>
                <a:cubicBezTo>
                  <a:pt x="828" y="88"/>
                  <a:pt x="792" y="72"/>
                  <a:pt x="720" y="56"/>
                </a:cubicBezTo>
                <a:cubicBezTo>
                  <a:pt x="648" y="40"/>
                  <a:pt x="512" y="16"/>
                  <a:pt x="432" y="8"/>
                </a:cubicBezTo>
                <a:cubicBezTo>
                  <a:pt x="352" y="0"/>
                  <a:pt x="312" y="0"/>
                  <a:pt x="240" y="8"/>
                </a:cubicBezTo>
                <a:cubicBezTo>
                  <a:pt x="168" y="16"/>
                  <a:pt x="84" y="36"/>
                  <a:pt x="0" y="56"/>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16" name="Freeform 104"/>
          <p:cNvSpPr>
            <a:spLocks/>
          </p:cNvSpPr>
          <p:nvPr/>
        </p:nvSpPr>
        <p:spPr bwMode="auto">
          <a:xfrm>
            <a:off x="7127875" y="3883026"/>
            <a:ext cx="1409700" cy="238125"/>
          </a:xfrm>
          <a:custGeom>
            <a:avLst/>
            <a:gdLst>
              <a:gd name="T0" fmla="*/ 2147483646 w 864"/>
              <a:gd name="T1" fmla="*/ 2147483646 h 104"/>
              <a:gd name="T2" fmla="*/ 2147483646 w 864"/>
              <a:gd name="T3" fmla="*/ 2147483646 h 104"/>
              <a:gd name="T4" fmla="*/ 2147483646 w 864"/>
              <a:gd name="T5" fmla="*/ 2147483646 h 104"/>
              <a:gd name="T6" fmla="*/ 2147483646 w 864"/>
              <a:gd name="T7" fmla="*/ 2147483646 h 104"/>
              <a:gd name="T8" fmla="*/ 0 w 864"/>
              <a:gd name="T9" fmla="*/ 2147483646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04">
                <a:moveTo>
                  <a:pt x="864" y="104"/>
                </a:moveTo>
                <a:cubicBezTo>
                  <a:pt x="828" y="88"/>
                  <a:pt x="792" y="72"/>
                  <a:pt x="720" y="56"/>
                </a:cubicBezTo>
                <a:cubicBezTo>
                  <a:pt x="648" y="40"/>
                  <a:pt x="512" y="16"/>
                  <a:pt x="432" y="8"/>
                </a:cubicBezTo>
                <a:cubicBezTo>
                  <a:pt x="352" y="0"/>
                  <a:pt x="312" y="0"/>
                  <a:pt x="240" y="8"/>
                </a:cubicBezTo>
                <a:cubicBezTo>
                  <a:pt x="168" y="16"/>
                  <a:pt x="84" y="36"/>
                  <a:pt x="0" y="56"/>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18" name="Freeform 106"/>
          <p:cNvSpPr>
            <a:spLocks/>
          </p:cNvSpPr>
          <p:nvPr/>
        </p:nvSpPr>
        <p:spPr bwMode="auto">
          <a:xfrm>
            <a:off x="8537575" y="3284538"/>
            <a:ext cx="1479550" cy="749300"/>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19" name="Freeform 107"/>
          <p:cNvSpPr>
            <a:spLocks/>
          </p:cNvSpPr>
          <p:nvPr/>
        </p:nvSpPr>
        <p:spPr bwMode="auto">
          <a:xfrm flipV="1">
            <a:off x="8537575" y="2384425"/>
            <a:ext cx="1479550" cy="749300"/>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0" name="Freeform 108"/>
          <p:cNvSpPr>
            <a:spLocks/>
          </p:cNvSpPr>
          <p:nvPr/>
        </p:nvSpPr>
        <p:spPr bwMode="auto">
          <a:xfrm flipH="1">
            <a:off x="7058025" y="3284538"/>
            <a:ext cx="1479550" cy="749300"/>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1" name="Freeform 109"/>
          <p:cNvSpPr>
            <a:spLocks/>
          </p:cNvSpPr>
          <p:nvPr/>
        </p:nvSpPr>
        <p:spPr bwMode="auto">
          <a:xfrm flipH="1" flipV="1">
            <a:off x="7058025" y="2384425"/>
            <a:ext cx="1479550" cy="749300"/>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3" name="Oval 111"/>
          <p:cNvSpPr>
            <a:spLocks noChangeArrowheads="1"/>
          </p:cNvSpPr>
          <p:nvPr/>
        </p:nvSpPr>
        <p:spPr bwMode="auto">
          <a:xfrm>
            <a:off x="7127876" y="1139825"/>
            <a:ext cx="2817813" cy="4197350"/>
          </a:xfrm>
          <a:prstGeom prst="ellipse">
            <a:avLst/>
          </a:prstGeom>
          <a:noFill/>
          <a:ln w="28575">
            <a:solidFill>
              <a:srgbClr val="FF99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9024" name="Freeform 112"/>
          <p:cNvSpPr>
            <a:spLocks/>
          </p:cNvSpPr>
          <p:nvPr/>
        </p:nvSpPr>
        <p:spPr bwMode="auto">
          <a:xfrm flipH="1">
            <a:off x="7058025" y="3644901"/>
            <a:ext cx="1479550" cy="449263"/>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5" name="Freeform 113"/>
          <p:cNvSpPr>
            <a:spLocks/>
          </p:cNvSpPr>
          <p:nvPr/>
        </p:nvSpPr>
        <p:spPr bwMode="auto">
          <a:xfrm>
            <a:off x="7391400" y="4125914"/>
            <a:ext cx="1055688" cy="598487"/>
          </a:xfrm>
          <a:custGeom>
            <a:avLst/>
            <a:gdLst>
              <a:gd name="T0" fmla="*/ 2147483646 w 720"/>
              <a:gd name="T1" fmla="*/ 0 h 384"/>
              <a:gd name="T2" fmla="*/ 2147483646 w 720"/>
              <a:gd name="T3" fmla="*/ 2147483646 h 384"/>
              <a:gd name="T4" fmla="*/ 2147483646 w 720"/>
              <a:gd name="T5" fmla="*/ 2147483646 h 384"/>
              <a:gd name="T6" fmla="*/ 0 w 720"/>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384">
                <a:moveTo>
                  <a:pt x="720" y="0"/>
                </a:moveTo>
                <a:cubicBezTo>
                  <a:pt x="660" y="12"/>
                  <a:pt x="600" y="24"/>
                  <a:pt x="528" y="48"/>
                </a:cubicBezTo>
                <a:cubicBezTo>
                  <a:pt x="456" y="72"/>
                  <a:pt x="376" y="88"/>
                  <a:pt x="288" y="144"/>
                </a:cubicBezTo>
                <a:cubicBezTo>
                  <a:pt x="200" y="200"/>
                  <a:pt x="100" y="292"/>
                  <a:pt x="0" y="38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6" name="Freeform 114"/>
          <p:cNvSpPr>
            <a:spLocks/>
          </p:cNvSpPr>
          <p:nvPr/>
        </p:nvSpPr>
        <p:spPr bwMode="auto">
          <a:xfrm flipH="1">
            <a:off x="8620126" y="4125914"/>
            <a:ext cx="1057275" cy="598487"/>
          </a:xfrm>
          <a:custGeom>
            <a:avLst/>
            <a:gdLst>
              <a:gd name="T0" fmla="*/ 2147483646 w 720"/>
              <a:gd name="T1" fmla="*/ 0 h 384"/>
              <a:gd name="T2" fmla="*/ 2147483646 w 720"/>
              <a:gd name="T3" fmla="*/ 2147483646 h 384"/>
              <a:gd name="T4" fmla="*/ 2147483646 w 720"/>
              <a:gd name="T5" fmla="*/ 2147483646 h 384"/>
              <a:gd name="T6" fmla="*/ 0 w 720"/>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384">
                <a:moveTo>
                  <a:pt x="720" y="0"/>
                </a:moveTo>
                <a:cubicBezTo>
                  <a:pt x="660" y="12"/>
                  <a:pt x="600" y="24"/>
                  <a:pt x="528" y="48"/>
                </a:cubicBezTo>
                <a:cubicBezTo>
                  <a:pt x="456" y="72"/>
                  <a:pt x="376" y="88"/>
                  <a:pt x="288" y="144"/>
                </a:cubicBezTo>
                <a:cubicBezTo>
                  <a:pt x="200" y="200"/>
                  <a:pt x="100" y="292"/>
                  <a:pt x="0" y="38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7" name="Line 115"/>
          <p:cNvSpPr>
            <a:spLocks noChangeShapeType="1"/>
          </p:cNvSpPr>
          <p:nvPr/>
        </p:nvSpPr>
        <p:spPr bwMode="auto">
          <a:xfrm>
            <a:off x="8534401" y="4114800"/>
            <a:ext cx="3175" cy="13716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29" name="Freeform 117"/>
          <p:cNvSpPr>
            <a:spLocks/>
          </p:cNvSpPr>
          <p:nvPr/>
        </p:nvSpPr>
        <p:spPr bwMode="auto">
          <a:xfrm>
            <a:off x="7832726" y="4183064"/>
            <a:ext cx="633413" cy="974725"/>
          </a:xfrm>
          <a:custGeom>
            <a:avLst/>
            <a:gdLst>
              <a:gd name="T0" fmla="*/ 2147483646 w 432"/>
              <a:gd name="T1" fmla="*/ 0 h 624"/>
              <a:gd name="T2" fmla="*/ 2147483646 w 432"/>
              <a:gd name="T3" fmla="*/ 2147483646 h 624"/>
              <a:gd name="T4" fmla="*/ 2147483646 w 432"/>
              <a:gd name="T5" fmla="*/ 2147483646 h 624"/>
              <a:gd name="T6" fmla="*/ 0 w 432"/>
              <a:gd name="T7" fmla="*/ 2147483646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624">
                <a:moveTo>
                  <a:pt x="432" y="0"/>
                </a:moveTo>
                <a:cubicBezTo>
                  <a:pt x="388" y="36"/>
                  <a:pt x="344" y="72"/>
                  <a:pt x="288" y="144"/>
                </a:cubicBezTo>
                <a:cubicBezTo>
                  <a:pt x="232" y="216"/>
                  <a:pt x="144" y="352"/>
                  <a:pt x="96" y="432"/>
                </a:cubicBezTo>
                <a:cubicBezTo>
                  <a:pt x="48" y="512"/>
                  <a:pt x="24" y="568"/>
                  <a:pt x="0" y="62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0" name="Freeform 118"/>
          <p:cNvSpPr>
            <a:spLocks/>
          </p:cNvSpPr>
          <p:nvPr/>
        </p:nvSpPr>
        <p:spPr bwMode="auto">
          <a:xfrm flipH="1">
            <a:off x="8607425" y="4183064"/>
            <a:ext cx="635000" cy="974725"/>
          </a:xfrm>
          <a:custGeom>
            <a:avLst/>
            <a:gdLst>
              <a:gd name="T0" fmla="*/ 2147483646 w 432"/>
              <a:gd name="T1" fmla="*/ 0 h 624"/>
              <a:gd name="T2" fmla="*/ 2147483646 w 432"/>
              <a:gd name="T3" fmla="*/ 2147483646 h 624"/>
              <a:gd name="T4" fmla="*/ 2147483646 w 432"/>
              <a:gd name="T5" fmla="*/ 2147483646 h 624"/>
              <a:gd name="T6" fmla="*/ 0 w 432"/>
              <a:gd name="T7" fmla="*/ 2147483646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624">
                <a:moveTo>
                  <a:pt x="432" y="0"/>
                </a:moveTo>
                <a:cubicBezTo>
                  <a:pt x="388" y="36"/>
                  <a:pt x="344" y="72"/>
                  <a:pt x="288" y="144"/>
                </a:cubicBezTo>
                <a:cubicBezTo>
                  <a:pt x="232" y="216"/>
                  <a:pt x="144" y="352"/>
                  <a:pt x="96" y="432"/>
                </a:cubicBezTo>
                <a:cubicBezTo>
                  <a:pt x="48" y="512"/>
                  <a:pt x="24" y="568"/>
                  <a:pt x="0" y="62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1" name="Freeform 119"/>
          <p:cNvSpPr>
            <a:spLocks/>
          </p:cNvSpPr>
          <p:nvPr/>
        </p:nvSpPr>
        <p:spPr bwMode="auto">
          <a:xfrm rot="21447907">
            <a:off x="8185151" y="4183063"/>
            <a:ext cx="352425" cy="1198562"/>
          </a:xfrm>
          <a:custGeom>
            <a:avLst/>
            <a:gdLst>
              <a:gd name="T0" fmla="*/ 2147483646 w 240"/>
              <a:gd name="T1" fmla="*/ 0 h 768"/>
              <a:gd name="T2" fmla="*/ 2147483646 w 240"/>
              <a:gd name="T3" fmla="*/ 2147483646 h 768"/>
              <a:gd name="T4" fmla="*/ 2147483646 w 240"/>
              <a:gd name="T5" fmla="*/ 2147483646 h 768"/>
              <a:gd name="T6" fmla="*/ 0 w 240"/>
              <a:gd name="T7" fmla="*/ 2147483646 h 7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768">
                <a:moveTo>
                  <a:pt x="240" y="0"/>
                </a:moveTo>
                <a:cubicBezTo>
                  <a:pt x="208" y="56"/>
                  <a:pt x="176" y="112"/>
                  <a:pt x="144" y="192"/>
                </a:cubicBezTo>
                <a:cubicBezTo>
                  <a:pt x="112" y="272"/>
                  <a:pt x="72" y="384"/>
                  <a:pt x="48" y="480"/>
                </a:cubicBezTo>
                <a:cubicBezTo>
                  <a:pt x="24" y="576"/>
                  <a:pt x="0" y="720"/>
                  <a:pt x="0" y="768"/>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2" name="Freeform 120"/>
          <p:cNvSpPr>
            <a:spLocks/>
          </p:cNvSpPr>
          <p:nvPr/>
        </p:nvSpPr>
        <p:spPr bwMode="auto">
          <a:xfrm rot="152093" flipH="1">
            <a:off x="8537576" y="4183063"/>
            <a:ext cx="352425" cy="1198562"/>
          </a:xfrm>
          <a:custGeom>
            <a:avLst/>
            <a:gdLst>
              <a:gd name="T0" fmla="*/ 2147483646 w 240"/>
              <a:gd name="T1" fmla="*/ 0 h 768"/>
              <a:gd name="T2" fmla="*/ 2147483646 w 240"/>
              <a:gd name="T3" fmla="*/ 2147483646 h 768"/>
              <a:gd name="T4" fmla="*/ 2147483646 w 240"/>
              <a:gd name="T5" fmla="*/ 2147483646 h 768"/>
              <a:gd name="T6" fmla="*/ 0 w 240"/>
              <a:gd name="T7" fmla="*/ 2147483646 h 7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768">
                <a:moveTo>
                  <a:pt x="240" y="0"/>
                </a:moveTo>
                <a:cubicBezTo>
                  <a:pt x="208" y="56"/>
                  <a:pt x="176" y="112"/>
                  <a:pt x="144" y="192"/>
                </a:cubicBezTo>
                <a:cubicBezTo>
                  <a:pt x="112" y="272"/>
                  <a:pt x="72" y="384"/>
                  <a:pt x="48" y="480"/>
                </a:cubicBezTo>
                <a:cubicBezTo>
                  <a:pt x="24" y="576"/>
                  <a:pt x="0" y="720"/>
                  <a:pt x="0" y="768"/>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5" name="Freeform 123"/>
          <p:cNvSpPr>
            <a:spLocks/>
          </p:cNvSpPr>
          <p:nvPr/>
        </p:nvSpPr>
        <p:spPr bwMode="auto">
          <a:xfrm flipH="1" flipV="1">
            <a:off x="8537576" y="2295525"/>
            <a:ext cx="1408113" cy="236538"/>
          </a:xfrm>
          <a:custGeom>
            <a:avLst/>
            <a:gdLst>
              <a:gd name="T0" fmla="*/ 2147483646 w 864"/>
              <a:gd name="T1" fmla="*/ 2147483646 h 104"/>
              <a:gd name="T2" fmla="*/ 2147483646 w 864"/>
              <a:gd name="T3" fmla="*/ 2147483646 h 104"/>
              <a:gd name="T4" fmla="*/ 2147483646 w 864"/>
              <a:gd name="T5" fmla="*/ 2147483646 h 104"/>
              <a:gd name="T6" fmla="*/ 2147483646 w 864"/>
              <a:gd name="T7" fmla="*/ 2147483646 h 104"/>
              <a:gd name="T8" fmla="*/ 0 w 864"/>
              <a:gd name="T9" fmla="*/ 2147483646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04">
                <a:moveTo>
                  <a:pt x="864" y="104"/>
                </a:moveTo>
                <a:cubicBezTo>
                  <a:pt x="828" y="88"/>
                  <a:pt x="792" y="72"/>
                  <a:pt x="720" y="56"/>
                </a:cubicBezTo>
                <a:cubicBezTo>
                  <a:pt x="648" y="40"/>
                  <a:pt x="512" y="16"/>
                  <a:pt x="432" y="8"/>
                </a:cubicBezTo>
                <a:cubicBezTo>
                  <a:pt x="352" y="0"/>
                  <a:pt x="312" y="0"/>
                  <a:pt x="240" y="8"/>
                </a:cubicBezTo>
                <a:cubicBezTo>
                  <a:pt x="168" y="16"/>
                  <a:pt x="84" y="36"/>
                  <a:pt x="0" y="56"/>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6" name="Freeform 124"/>
          <p:cNvSpPr>
            <a:spLocks/>
          </p:cNvSpPr>
          <p:nvPr/>
        </p:nvSpPr>
        <p:spPr bwMode="auto">
          <a:xfrm flipV="1">
            <a:off x="7112000" y="2311400"/>
            <a:ext cx="1409700" cy="236538"/>
          </a:xfrm>
          <a:custGeom>
            <a:avLst/>
            <a:gdLst>
              <a:gd name="T0" fmla="*/ 2147483646 w 864"/>
              <a:gd name="T1" fmla="*/ 2147483646 h 104"/>
              <a:gd name="T2" fmla="*/ 2147483646 w 864"/>
              <a:gd name="T3" fmla="*/ 2147483646 h 104"/>
              <a:gd name="T4" fmla="*/ 2147483646 w 864"/>
              <a:gd name="T5" fmla="*/ 2147483646 h 104"/>
              <a:gd name="T6" fmla="*/ 2147483646 w 864"/>
              <a:gd name="T7" fmla="*/ 2147483646 h 104"/>
              <a:gd name="T8" fmla="*/ 0 w 864"/>
              <a:gd name="T9" fmla="*/ 2147483646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4" h="104">
                <a:moveTo>
                  <a:pt x="864" y="104"/>
                </a:moveTo>
                <a:cubicBezTo>
                  <a:pt x="828" y="88"/>
                  <a:pt x="792" y="72"/>
                  <a:pt x="720" y="56"/>
                </a:cubicBezTo>
                <a:cubicBezTo>
                  <a:pt x="648" y="40"/>
                  <a:pt x="512" y="16"/>
                  <a:pt x="432" y="8"/>
                </a:cubicBezTo>
                <a:cubicBezTo>
                  <a:pt x="352" y="0"/>
                  <a:pt x="312" y="0"/>
                  <a:pt x="240" y="8"/>
                </a:cubicBezTo>
                <a:cubicBezTo>
                  <a:pt x="168" y="16"/>
                  <a:pt x="84" y="36"/>
                  <a:pt x="0" y="56"/>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7" name="Freeform 125"/>
          <p:cNvSpPr>
            <a:spLocks/>
          </p:cNvSpPr>
          <p:nvPr/>
        </p:nvSpPr>
        <p:spPr bwMode="auto">
          <a:xfrm flipV="1">
            <a:off x="8537575" y="2339976"/>
            <a:ext cx="1479550" cy="449263"/>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38" name="Freeform 126"/>
          <p:cNvSpPr>
            <a:spLocks/>
          </p:cNvSpPr>
          <p:nvPr/>
        </p:nvSpPr>
        <p:spPr bwMode="auto">
          <a:xfrm flipH="1" flipV="1">
            <a:off x="7058025" y="2339976"/>
            <a:ext cx="1479550" cy="449263"/>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1" name="Line 129"/>
          <p:cNvSpPr>
            <a:spLocks noChangeShapeType="1"/>
          </p:cNvSpPr>
          <p:nvPr/>
        </p:nvSpPr>
        <p:spPr bwMode="auto">
          <a:xfrm flipV="1">
            <a:off x="8534401" y="990600"/>
            <a:ext cx="3175" cy="129540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2" name="Freeform 130"/>
          <p:cNvSpPr>
            <a:spLocks/>
          </p:cNvSpPr>
          <p:nvPr/>
        </p:nvSpPr>
        <p:spPr bwMode="auto">
          <a:xfrm flipV="1">
            <a:off x="7832726" y="1290639"/>
            <a:ext cx="633413" cy="973137"/>
          </a:xfrm>
          <a:custGeom>
            <a:avLst/>
            <a:gdLst>
              <a:gd name="T0" fmla="*/ 2147483646 w 432"/>
              <a:gd name="T1" fmla="*/ 0 h 624"/>
              <a:gd name="T2" fmla="*/ 2147483646 w 432"/>
              <a:gd name="T3" fmla="*/ 2147483646 h 624"/>
              <a:gd name="T4" fmla="*/ 2147483646 w 432"/>
              <a:gd name="T5" fmla="*/ 2147483646 h 624"/>
              <a:gd name="T6" fmla="*/ 0 w 432"/>
              <a:gd name="T7" fmla="*/ 2147483646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624">
                <a:moveTo>
                  <a:pt x="432" y="0"/>
                </a:moveTo>
                <a:cubicBezTo>
                  <a:pt x="388" y="36"/>
                  <a:pt x="344" y="72"/>
                  <a:pt x="288" y="144"/>
                </a:cubicBezTo>
                <a:cubicBezTo>
                  <a:pt x="232" y="216"/>
                  <a:pt x="144" y="352"/>
                  <a:pt x="96" y="432"/>
                </a:cubicBezTo>
                <a:cubicBezTo>
                  <a:pt x="48" y="512"/>
                  <a:pt x="24" y="568"/>
                  <a:pt x="0" y="62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3" name="Freeform 131"/>
          <p:cNvSpPr>
            <a:spLocks/>
          </p:cNvSpPr>
          <p:nvPr/>
        </p:nvSpPr>
        <p:spPr bwMode="auto">
          <a:xfrm flipH="1" flipV="1">
            <a:off x="8607425" y="1290639"/>
            <a:ext cx="635000" cy="973137"/>
          </a:xfrm>
          <a:custGeom>
            <a:avLst/>
            <a:gdLst>
              <a:gd name="T0" fmla="*/ 2147483646 w 432"/>
              <a:gd name="T1" fmla="*/ 0 h 624"/>
              <a:gd name="T2" fmla="*/ 2147483646 w 432"/>
              <a:gd name="T3" fmla="*/ 2147483646 h 624"/>
              <a:gd name="T4" fmla="*/ 2147483646 w 432"/>
              <a:gd name="T5" fmla="*/ 2147483646 h 624"/>
              <a:gd name="T6" fmla="*/ 0 w 432"/>
              <a:gd name="T7" fmla="*/ 2147483646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624">
                <a:moveTo>
                  <a:pt x="432" y="0"/>
                </a:moveTo>
                <a:cubicBezTo>
                  <a:pt x="388" y="36"/>
                  <a:pt x="344" y="72"/>
                  <a:pt x="288" y="144"/>
                </a:cubicBezTo>
                <a:cubicBezTo>
                  <a:pt x="232" y="216"/>
                  <a:pt x="144" y="352"/>
                  <a:pt x="96" y="432"/>
                </a:cubicBezTo>
                <a:cubicBezTo>
                  <a:pt x="48" y="512"/>
                  <a:pt x="24" y="568"/>
                  <a:pt x="0" y="62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4" name="Freeform 132"/>
          <p:cNvSpPr>
            <a:spLocks/>
          </p:cNvSpPr>
          <p:nvPr/>
        </p:nvSpPr>
        <p:spPr bwMode="auto">
          <a:xfrm rot="152093" flipV="1">
            <a:off x="8185151" y="1065213"/>
            <a:ext cx="352425" cy="1198562"/>
          </a:xfrm>
          <a:custGeom>
            <a:avLst/>
            <a:gdLst>
              <a:gd name="T0" fmla="*/ 2147483646 w 240"/>
              <a:gd name="T1" fmla="*/ 0 h 768"/>
              <a:gd name="T2" fmla="*/ 2147483646 w 240"/>
              <a:gd name="T3" fmla="*/ 2147483646 h 768"/>
              <a:gd name="T4" fmla="*/ 2147483646 w 240"/>
              <a:gd name="T5" fmla="*/ 2147483646 h 768"/>
              <a:gd name="T6" fmla="*/ 0 w 240"/>
              <a:gd name="T7" fmla="*/ 2147483646 h 7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768">
                <a:moveTo>
                  <a:pt x="240" y="0"/>
                </a:moveTo>
                <a:cubicBezTo>
                  <a:pt x="208" y="56"/>
                  <a:pt x="176" y="112"/>
                  <a:pt x="144" y="192"/>
                </a:cubicBezTo>
                <a:cubicBezTo>
                  <a:pt x="112" y="272"/>
                  <a:pt x="72" y="384"/>
                  <a:pt x="48" y="480"/>
                </a:cubicBezTo>
                <a:cubicBezTo>
                  <a:pt x="24" y="576"/>
                  <a:pt x="0" y="720"/>
                  <a:pt x="0" y="768"/>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5" name="Freeform 133"/>
          <p:cNvSpPr>
            <a:spLocks/>
          </p:cNvSpPr>
          <p:nvPr/>
        </p:nvSpPr>
        <p:spPr bwMode="auto">
          <a:xfrm rot="21447907" flipH="1" flipV="1">
            <a:off x="8537576" y="1065213"/>
            <a:ext cx="352425" cy="1198562"/>
          </a:xfrm>
          <a:custGeom>
            <a:avLst/>
            <a:gdLst>
              <a:gd name="T0" fmla="*/ 2147483646 w 240"/>
              <a:gd name="T1" fmla="*/ 0 h 768"/>
              <a:gd name="T2" fmla="*/ 2147483646 w 240"/>
              <a:gd name="T3" fmla="*/ 2147483646 h 768"/>
              <a:gd name="T4" fmla="*/ 2147483646 w 240"/>
              <a:gd name="T5" fmla="*/ 2147483646 h 768"/>
              <a:gd name="T6" fmla="*/ 0 w 240"/>
              <a:gd name="T7" fmla="*/ 2147483646 h 7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768">
                <a:moveTo>
                  <a:pt x="240" y="0"/>
                </a:moveTo>
                <a:cubicBezTo>
                  <a:pt x="208" y="56"/>
                  <a:pt x="176" y="112"/>
                  <a:pt x="144" y="192"/>
                </a:cubicBezTo>
                <a:cubicBezTo>
                  <a:pt x="112" y="272"/>
                  <a:pt x="72" y="384"/>
                  <a:pt x="48" y="480"/>
                </a:cubicBezTo>
                <a:cubicBezTo>
                  <a:pt x="24" y="576"/>
                  <a:pt x="0" y="720"/>
                  <a:pt x="0" y="768"/>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7" name="Line 135"/>
          <p:cNvSpPr>
            <a:spLocks noChangeShapeType="1"/>
          </p:cNvSpPr>
          <p:nvPr/>
        </p:nvSpPr>
        <p:spPr bwMode="auto">
          <a:xfrm>
            <a:off x="6705600" y="3200400"/>
            <a:ext cx="3733800" cy="7938"/>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8" name="Line 136"/>
          <p:cNvSpPr>
            <a:spLocks noChangeShapeType="1"/>
          </p:cNvSpPr>
          <p:nvPr/>
        </p:nvSpPr>
        <p:spPr bwMode="auto">
          <a:xfrm>
            <a:off x="8537575" y="2384426"/>
            <a:ext cx="0" cy="1649413"/>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54" name="Freeform 142"/>
          <p:cNvSpPr>
            <a:spLocks/>
          </p:cNvSpPr>
          <p:nvPr/>
        </p:nvSpPr>
        <p:spPr bwMode="auto">
          <a:xfrm>
            <a:off x="8537575" y="3644901"/>
            <a:ext cx="1479550" cy="449263"/>
          </a:xfrm>
          <a:custGeom>
            <a:avLst/>
            <a:gdLst>
              <a:gd name="T0" fmla="*/ 0 w 1248"/>
              <a:gd name="T1" fmla="*/ 2147483646 h 576"/>
              <a:gd name="T2" fmla="*/ 2147483646 w 1248"/>
              <a:gd name="T3" fmla="*/ 2147483646 h 576"/>
              <a:gd name="T4" fmla="*/ 2147483646 w 1248"/>
              <a:gd name="T5" fmla="*/ 2147483646 h 576"/>
              <a:gd name="T6" fmla="*/ 2147483646 w 1248"/>
              <a:gd name="T7" fmla="*/ 2147483646 h 576"/>
              <a:gd name="T8" fmla="*/ 2147483646 w 1248"/>
              <a:gd name="T9" fmla="*/ 0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8" h="576">
                <a:moveTo>
                  <a:pt x="0" y="576"/>
                </a:moveTo>
                <a:cubicBezTo>
                  <a:pt x="28" y="528"/>
                  <a:pt x="56" y="480"/>
                  <a:pt x="96" y="432"/>
                </a:cubicBezTo>
                <a:cubicBezTo>
                  <a:pt x="136" y="384"/>
                  <a:pt x="160" y="344"/>
                  <a:pt x="240" y="288"/>
                </a:cubicBezTo>
                <a:cubicBezTo>
                  <a:pt x="320" y="232"/>
                  <a:pt x="408" y="144"/>
                  <a:pt x="576" y="96"/>
                </a:cubicBezTo>
                <a:cubicBezTo>
                  <a:pt x="744" y="48"/>
                  <a:pt x="1128" y="16"/>
                  <a:pt x="1248" y="0"/>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52" name="Rectangle 140"/>
          <p:cNvSpPr>
            <a:spLocks noChangeArrowheads="1"/>
          </p:cNvSpPr>
          <p:nvPr/>
        </p:nvSpPr>
        <p:spPr bwMode="auto">
          <a:xfrm>
            <a:off x="8763000" y="2162176"/>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 q</a:t>
            </a:r>
            <a:endParaRPr lang="en-US" altLang="en-US" sz="1800" b="1" baseline="-25000">
              <a:solidFill>
                <a:srgbClr val="FF99FF"/>
              </a:solidFill>
            </a:endParaRPr>
          </a:p>
        </p:txBody>
      </p:sp>
      <p:sp>
        <p:nvSpPr>
          <p:cNvPr id="39053" name="Rectangle 141"/>
          <p:cNvSpPr>
            <a:spLocks noChangeArrowheads="1"/>
          </p:cNvSpPr>
          <p:nvPr/>
        </p:nvSpPr>
        <p:spPr bwMode="auto">
          <a:xfrm>
            <a:off x="8839200" y="39004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 q</a:t>
            </a:r>
            <a:endParaRPr lang="en-US" altLang="en-US" sz="1800" b="1" baseline="-25000">
              <a:solidFill>
                <a:srgbClr val="FF99FF"/>
              </a:solidFill>
            </a:endParaRPr>
          </a:p>
        </p:txBody>
      </p:sp>
      <p:sp>
        <p:nvSpPr>
          <p:cNvPr id="39033" name="Oval 121"/>
          <p:cNvSpPr>
            <a:spLocks noChangeArrowheads="1"/>
          </p:cNvSpPr>
          <p:nvPr/>
        </p:nvSpPr>
        <p:spPr bwMode="auto">
          <a:xfrm>
            <a:off x="8458200" y="4038600"/>
            <a:ext cx="152400" cy="152400"/>
          </a:xfrm>
          <a:prstGeom prst="ellipse">
            <a:avLst/>
          </a:prstGeom>
          <a:solidFill>
            <a:srgbClr val="FF00FF"/>
          </a:solidFill>
          <a:ln w="28575">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9055" name="Oval 143"/>
          <p:cNvSpPr>
            <a:spLocks noChangeArrowheads="1"/>
          </p:cNvSpPr>
          <p:nvPr/>
        </p:nvSpPr>
        <p:spPr bwMode="auto">
          <a:xfrm rot="5400000">
            <a:off x="2514600" y="1447800"/>
            <a:ext cx="2438400" cy="3962400"/>
          </a:xfrm>
          <a:prstGeom prst="ellipse">
            <a:avLst/>
          </a:prstGeom>
          <a:noFill/>
          <a:ln w="28575">
            <a:solidFill>
              <a:srgbClr val="00FF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39057" name="Text Box 145"/>
          <p:cNvSpPr txBox="1">
            <a:spLocks noChangeArrowheads="1"/>
          </p:cNvSpPr>
          <p:nvPr/>
        </p:nvSpPr>
        <p:spPr bwMode="auto">
          <a:xfrm>
            <a:off x="6096000" y="136526"/>
            <a:ext cx="4495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000" b="1">
                <a:solidFill>
                  <a:srgbClr val="FFCC99"/>
                </a:solidFill>
              </a:rPr>
              <a:t>3.  </a:t>
            </a:r>
            <a:r>
              <a:rPr lang="en-US" altLang="en-US" sz="2000" b="1">
                <a:solidFill>
                  <a:srgbClr val="FFCCCC"/>
                </a:solidFill>
              </a:rPr>
              <a:t>Electric Lines of Force due to a      pair of Equal and Like Charges: </a:t>
            </a:r>
          </a:p>
        </p:txBody>
      </p:sp>
      <p:grpSp>
        <p:nvGrpSpPr>
          <p:cNvPr id="39082" name="Group 170"/>
          <p:cNvGrpSpPr>
            <a:grpSpLocks/>
          </p:cNvGrpSpPr>
          <p:nvPr/>
        </p:nvGrpSpPr>
        <p:grpSpPr bwMode="auto">
          <a:xfrm>
            <a:off x="8396288" y="2789239"/>
            <a:ext cx="519112" cy="579437"/>
            <a:chOff x="4329" y="1757"/>
            <a:chExt cx="327" cy="365"/>
          </a:xfrm>
        </p:grpSpPr>
        <p:sp>
          <p:nvSpPr>
            <p:cNvPr id="17483" name="Text Box 139"/>
            <p:cNvSpPr txBox="1">
              <a:spLocks noChangeArrowheads="1"/>
            </p:cNvSpPr>
            <p:nvPr/>
          </p:nvSpPr>
          <p:spPr bwMode="auto">
            <a:xfrm>
              <a:off x="4329" y="1757"/>
              <a:ext cx="26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a:solidFill>
                    <a:srgbClr val="00FFFF"/>
                  </a:solidFill>
                </a:rPr>
                <a:t>.</a:t>
              </a:r>
            </a:p>
          </p:txBody>
        </p:sp>
        <p:sp>
          <p:nvSpPr>
            <p:cNvPr id="17484" name="Rectangle 148"/>
            <p:cNvSpPr>
              <a:spLocks noChangeArrowheads="1"/>
            </p:cNvSpPr>
            <p:nvPr/>
          </p:nvSpPr>
          <p:spPr bwMode="auto">
            <a:xfrm>
              <a:off x="4416" y="187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N</a:t>
              </a:r>
              <a:endParaRPr lang="en-US" altLang="en-US" sz="1800" b="1" baseline="-25000">
                <a:solidFill>
                  <a:srgbClr val="FFFFCC"/>
                </a:solidFill>
              </a:endParaRPr>
            </a:p>
          </p:txBody>
        </p:sp>
      </p:grpSp>
      <p:sp>
        <p:nvSpPr>
          <p:cNvPr id="39061" name="Freeform 149"/>
          <p:cNvSpPr>
            <a:spLocks/>
          </p:cNvSpPr>
          <p:nvPr/>
        </p:nvSpPr>
        <p:spPr bwMode="auto">
          <a:xfrm rot="21232776" flipV="1">
            <a:off x="7391400" y="1763714"/>
            <a:ext cx="1055688" cy="598487"/>
          </a:xfrm>
          <a:custGeom>
            <a:avLst/>
            <a:gdLst>
              <a:gd name="T0" fmla="*/ 2147483646 w 720"/>
              <a:gd name="T1" fmla="*/ 0 h 384"/>
              <a:gd name="T2" fmla="*/ 2147483646 w 720"/>
              <a:gd name="T3" fmla="*/ 2147483646 h 384"/>
              <a:gd name="T4" fmla="*/ 2147483646 w 720"/>
              <a:gd name="T5" fmla="*/ 2147483646 h 384"/>
              <a:gd name="T6" fmla="*/ 0 w 720"/>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384">
                <a:moveTo>
                  <a:pt x="720" y="0"/>
                </a:moveTo>
                <a:cubicBezTo>
                  <a:pt x="660" y="12"/>
                  <a:pt x="600" y="24"/>
                  <a:pt x="528" y="48"/>
                </a:cubicBezTo>
                <a:cubicBezTo>
                  <a:pt x="456" y="72"/>
                  <a:pt x="376" y="88"/>
                  <a:pt x="288" y="144"/>
                </a:cubicBezTo>
                <a:cubicBezTo>
                  <a:pt x="200" y="200"/>
                  <a:pt x="100" y="292"/>
                  <a:pt x="0" y="38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63" name="Freeform 151"/>
          <p:cNvSpPr>
            <a:spLocks/>
          </p:cNvSpPr>
          <p:nvPr/>
        </p:nvSpPr>
        <p:spPr bwMode="auto">
          <a:xfrm rot="367224" flipH="1" flipV="1">
            <a:off x="8621714" y="1752600"/>
            <a:ext cx="1055687" cy="598488"/>
          </a:xfrm>
          <a:custGeom>
            <a:avLst/>
            <a:gdLst>
              <a:gd name="T0" fmla="*/ 2147483646 w 720"/>
              <a:gd name="T1" fmla="*/ 0 h 384"/>
              <a:gd name="T2" fmla="*/ 2147483646 w 720"/>
              <a:gd name="T3" fmla="*/ 2147483646 h 384"/>
              <a:gd name="T4" fmla="*/ 2147483646 w 720"/>
              <a:gd name="T5" fmla="*/ 2147483646 h 384"/>
              <a:gd name="T6" fmla="*/ 0 w 720"/>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384">
                <a:moveTo>
                  <a:pt x="720" y="0"/>
                </a:moveTo>
                <a:cubicBezTo>
                  <a:pt x="660" y="12"/>
                  <a:pt x="600" y="24"/>
                  <a:pt x="528" y="48"/>
                </a:cubicBezTo>
                <a:cubicBezTo>
                  <a:pt x="456" y="72"/>
                  <a:pt x="376" y="88"/>
                  <a:pt x="288" y="144"/>
                </a:cubicBezTo>
                <a:cubicBezTo>
                  <a:pt x="200" y="200"/>
                  <a:pt x="100" y="292"/>
                  <a:pt x="0" y="384"/>
                </a:cubicBezTo>
              </a:path>
            </a:pathLst>
          </a:custGeom>
          <a:noFill/>
          <a:ln w="28575" cmpd="sng">
            <a:solidFill>
              <a:srgbClr val="66FF33"/>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46" name="Oval 134"/>
          <p:cNvSpPr>
            <a:spLocks noChangeArrowheads="1"/>
          </p:cNvSpPr>
          <p:nvPr/>
        </p:nvSpPr>
        <p:spPr bwMode="auto">
          <a:xfrm>
            <a:off x="8458200" y="2209800"/>
            <a:ext cx="152400" cy="152400"/>
          </a:xfrm>
          <a:prstGeom prst="ellipse">
            <a:avLst/>
          </a:prstGeom>
          <a:solidFill>
            <a:srgbClr val="FF00FF"/>
          </a:solidFill>
          <a:ln w="28575">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grpSp>
        <p:nvGrpSpPr>
          <p:cNvPr id="39069" name="Group 157"/>
          <p:cNvGrpSpPr>
            <a:grpSpLocks/>
          </p:cNvGrpSpPr>
          <p:nvPr/>
        </p:nvGrpSpPr>
        <p:grpSpPr bwMode="auto">
          <a:xfrm>
            <a:off x="3733800" y="2590800"/>
            <a:ext cx="0" cy="1676400"/>
            <a:chOff x="1392" y="1632"/>
            <a:chExt cx="0" cy="1056"/>
          </a:xfrm>
        </p:grpSpPr>
        <p:sp>
          <p:nvSpPr>
            <p:cNvPr id="17481" name="Line 44"/>
            <p:cNvSpPr>
              <a:spLocks noChangeShapeType="1"/>
            </p:cNvSpPr>
            <p:nvPr/>
          </p:nvSpPr>
          <p:spPr bwMode="auto">
            <a:xfrm flipH="1" flipV="1">
              <a:off x="1392" y="1632"/>
              <a:ext cx="0" cy="1056"/>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7482" name="Line 152"/>
            <p:cNvSpPr>
              <a:spLocks noChangeShapeType="1"/>
            </p:cNvSpPr>
            <p:nvPr/>
          </p:nvSpPr>
          <p:spPr bwMode="auto">
            <a:xfrm rot="16200000" flipH="1">
              <a:off x="1368" y="2184"/>
              <a:ext cx="4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39065" name="Line 153"/>
          <p:cNvSpPr>
            <a:spLocks noChangeShapeType="1"/>
          </p:cNvSpPr>
          <p:nvPr/>
        </p:nvSpPr>
        <p:spPr bwMode="auto">
          <a:xfrm>
            <a:off x="6096000" y="152400"/>
            <a:ext cx="0" cy="6477000"/>
          </a:xfrm>
          <a:prstGeom prst="line">
            <a:avLst/>
          </a:prstGeom>
          <a:noFill/>
          <a:ln w="28575">
            <a:solidFill>
              <a:srgbClr val="00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39066" name="Rectangle 154"/>
          <p:cNvSpPr>
            <a:spLocks noChangeArrowheads="1"/>
          </p:cNvSpPr>
          <p:nvPr/>
        </p:nvSpPr>
        <p:spPr bwMode="auto">
          <a:xfrm>
            <a:off x="1600200" y="5561014"/>
            <a:ext cx="43434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     </a:t>
            </a:r>
            <a:r>
              <a:rPr lang="en-US" altLang="en-US" sz="1800" b="1">
                <a:solidFill>
                  <a:srgbClr val="66FFFF"/>
                </a:solidFill>
              </a:rPr>
              <a:t>Electric lines of force contract lengthwise to represent attraction between two unlike charges.</a:t>
            </a:r>
          </a:p>
        </p:txBody>
      </p:sp>
      <p:sp>
        <p:nvSpPr>
          <p:cNvPr id="39067" name="Rectangle 155"/>
          <p:cNvSpPr>
            <a:spLocks noChangeArrowheads="1"/>
          </p:cNvSpPr>
          <p:nvPr/>
        </p:nvSpPr>
        <p:spPr bwMode="auto">
          <a:xfrm>
            <a:off x="5867400" y="5561014"/>
            <a:ext cx="47244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     </a:t>
            </a:r>
            <a:r>
              <a:rPr lang="en-US" altLang="en-US" sz="1800" b="1">
                <a:solidFill>
                  <a:srgbClr val="FF99FF"/>
                </a:solidFill>
              </a:rPr>
              <a:t>Electric lines of force exert lateral (sideways) pressure to represent repulsion between two like charges.</a:t>
            </a:r>
          </a:p>
        </p:txBody>
      </p:sp>
    </p:spTree>
    <p:extLst>
      <p:ext uri="{BB962C8B-B14F-4D97-AF65-F5344CB8AC3E}">
        <p14:creationId xmlns:p14="http://schemas.microsoft.com/office/powerpoint/2010/main" val="430876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slide(fromTop)">
                                      <p:cBhvr>
                                        <p:cTn id="7" dur="500"/>
                                        <p:tgtEl>
                                          <p:spTgt spid="389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38947"/>
                                        </p:tgtEl>
                                        <p:attrNameLst>
                                          <p:attrName>style.visibility</p:attrName>
                                        </p:attrNameLst>
                                      </p:cBhvr>
                                      <p:to>
                                        <p:strVal val="visible"/>
                                      </p:to>
                                    </p:set>
                                    <p:anim calcmode="lin" valueType="num">
                                      <p:cBhvr>
                                        <p:cTn id="12" dur="500" fill="hold"/>
                                        <p:tgtEl>
                                          <p:spTgt spid="38947"/>
                                        </p:tgtEl>
                                        <p:attrNameLst>
                                          <p:attrName>ppt_w</p:attrName>
                                        </p:attrNameLst>
                                      </p:cBhvr>
                                      <p:tavLst>
                                        <p:tav tm="0">
                                          <p:val>
                                            <p:fltVal val="0"/>
                                          </p:val>
                                        </p:tav>
                                        <p:tav tm="100000">
                                          <p:val>
                                            <p:strVal val="#ppt_w"/>
                                          </p:val>
                                        </p:tav>
                                      </p:tavLst>
                                    </p:anim>
                                    <p:anim calcmode="lin" valueType="num">
                                      <p:cBhvr>
                                        <p:cTn id="13" dur="500" fill="hold"/>
                                        <p:tgtEl>
                                          <p:spTgt spid="38947"/>
                                        </p:tgtEl>
                                        <p:attrNameLst>
                                          <p:attrName>ppt_h</p:attrName>
                                        </p:attrNameLst>
                                      </p:cBhvr>
                                      <p:tavLst>
                                        <p:tav tm="0">
                                          <p:val>
                                            <p:fltVal val="0"/>
                                          </p:val>
                                        </p:tav>
                                        <p:tav tm="100000">
                                          <p:val>
                                            <p:strVal val="#ppt_h"/>
                                          </p:val>
                                        </p:tav>
                                      </p:tavLst>
                                    </p:anim>
                                    <p:animEffect transition="in" filter="fade">
                                      <p:cBhvr>
                                        <p:cTn id="14" dur="500"/>
                                        <p:tgtEl>
                                          <p:spTgt spid="38947"/>
                                        </p:tgtEl>
                                      </p:cBhvr>
                                    </p:animEffect>
                                  </p:childTnLst>
                                </p:cTn>
                              </p:par>
                            </p:childTnLst>
                          </p:cTn>
                        </p:par>
                        <p:par>
                          <p:cTn id="15" fill="hold" nodeType="afterGroup">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39007"/>
                                        </p:tgtEl>
                                        <p:attrNameLst>
                                          <p:attrName>style.visibility</p:attrName>
                                        </p:attrNameLst>
                                      </p:cBhvr>
                                      <p:to>
                                        <p:strVal val="visible"/>
                                      </p:to>
                                    </p:set>
                                    <p:animEffect transition="in" filter="dissolve">
                                      <p:cBhvr>
                                        <p:cTn id="18" dur="500"/>
                                        <p:tgtEl>
                                          <p:spTgt spid="3900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0" fill="hold" grpId="0" nodeType="clickEffect">
                                  <p:stCondLst>
                                    <p:cond delay="0"/>
                                  </p:stCondLst>
                                  <p:childTnLst>
                                    <p:set>
                                      <p:cBhvr>
                                        <p:cTn id="22" dur="1" fill="hold">
                                          <p:stCondLst>
                                            <p:cond delay="0"/>
                                          </p:stCondLst>
                                        </p:cTn>
                                        <p:tgtEl>
                                          <p:spTgt spid="38948"/>
                                        </p:tgtEl>
                                        <p:attrNameLst>
                                          <p:attrName>style.visibility</p:attrName>
                                        </p:attrNameLst>
                                      </p:cBhvr>
                                      <p:to>
                                        <p:strVal val="visible"/>
                                      </p:to>
                                    </p:set>
                                    <p:anim calcmode="lin" valueType="num">
                                      <p:cBhvr>
                                        <p:cTn id="23" dur="500" fill="hold"/>
                                        <p:tgtEl>
                                          <p:spTgt spid="38948"/>
                                        </p:tgtEl>
                                        <p:attrNameLst>
                                          <p:attrName>ppt_w</p:attrName>
                                        </p:attrNameLst>
                                      </p:cBhvr>
                                      <p:tavLst>
                                        <p:tav tm="0">
                                          <p:val>
                                            <p:fltVal val="0"/>
                                          </p:val>
                                        </p:tav>
                                        <p:tav tm="100000">
                                          <p:val>
                                            <p:strVal val="#ppt_w"/>
                                          </p:val>
                                        </p:tav>
                                      </p:tavLst>
                                    </p:anim>
                                    <p:anim calcmode="lin" valueType="num">
                                      <p:cBhvr>
                                        <p:cTn id="24" dur="500" fill="hold"/>
                                        <p:tgtEl>
                                          <p:spTgt spid="38948"/>
                                        </p:tgtEl>
                                        <p:attrNameLst>
                                          <p:attrName>ppt_h</p:attrName>
                                        </p:attrNameLst>
                                      </p:cBhvr>
                                      <p:tavLst>
                                        <p:tav tm="0">
                                          <p:val>
                                            <p:fltVal val="0"/>
                                          </p:val>
                                        </p:tav>
                                        <p:tav tm="100000">
                                          <p:val>
                                            <p:strVal val="#ppt_h"/>
                                          </p:val>
                                        </p:tav>
                                      </p:tavLst>
                                    </p:anim>
                                    <p:animEffect transition="in" filter="fade">
                                      <p:cBhvr>
                                        <p:cTn id="25" dur="500"/>
                                        <p:tgtEl>
                                          <p:spTgt spid="38948"/>
                                        </p:tgtEl>
                                      </p:cBhvr>
                                    </p:animEffect>
                                  </p:childTnLst>
                                </p:cTn>
                              </p:par>
                            </p:childTnLst>
                          </p:cTn>
                        </p:par>
                        <p:par>
                          <p:cTn id="26" fill="hold" nodeType="afterGroup">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39008"/>
                                        </p:tgtEl>
                                        <p:attrNameLst>
                                          <p:attrName>style.visibility</p:attrName>
                                        </p:attrNameLst>
                                      </p:cBhvr>
                                      <p:to>
                                        <p:strVal val="visible"/>
                                      </p:to>
                                    </p:set>
                                    <p:animEffect transition="in" filter="dissolve">
                                      <p:cBhvr>
                                        <p:cTn id="29" dur="500"/>
                                        <p:tgtEl>
                                          <p:spTgt spid="3900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38962"/>
                                        </p:tgtEl>
                                        <p:attrNameLst>
                                          <p:attrName>style.visibility</p:attrName>
                                        </p:attrNameLst>
                                      </p:cBhvr>
                                      <p:to>
                                        <p:strVal val="visible"/>
                                      </p:to>
                                    </p:set>
                                    <p:animEffect transition="in" filter="wipe(down)">
                                      <p:cBhvr>
                                        <p:cTn id="34" dur="1000"/>
                                        <p:tgtEl>
                                          <p:spTgt spid="38962"/>
                                        </p:tgtEl>
                                      </p:cBhvr>
                                    </p:animEffect>
                                  </p:childTnLst>
                                </p:cTn>
                              </p:par>
                              <p:par>
                                <p:cTn id="35" presetID="22" presetClass="entr" presetSubtype="1" fill="hold" nodeType="withEffect">
                                  <p:stCondLst>
                                    <p:cond delay="0"/>
                                  </p:stCondLst>
                                  <p:childTnLst>
                                    <p:set>
                                      <p:cBhvr>
                                        <p:cTn id="36" dur="1" fill="hold">
                                          <p:stCondLst>
                                            <p:cond delay="0"/>
                                          </p:stCondLst>
                                        </p:cTn>
                                        <p:tgtEl>
                                          <p:spTgt spid="39069"/>
                                        </p:tgtEl>
                                        <p:attrNameLst>
                                          <p:attrName>style.visibility</p:attrName>
                                        </p:attrNameLst>
                                      </p:cBhvr>
                                      <p:to>
                                        <p:strVal val="visible"/>
                                      </p:to>
                                    </p:set>
                                    <p:animEffect transition="in" filter="wipe(up)">
                                      <p:cBhvr>
                                        <p:cTn id="37" dur="1000"/>
                                        <p:tgtEl>
                                          <p:spTgt spid="39069"/>
                                        </p:tgtEl>
                                      </p:cBhvr>
                                    </p:animEffect>
                                  </p:childTnLst>
                                </p:cTn>
                              </p:par>
                              <p:par>
                                <p:cTn id="38" presetID="22" presetClass="entr" presetSubtype="4" fill="hold" nodeType="withEffect">
                                  <p:stCondLst>
                                    <p:cond delay="0"/>
                                  </p:stCondLst>
                                  <p:childTnLst>
                                    <p:set>
                                      <p:cBhvr>
                                        <p:cTn id="39" dur="1" fill="hold">
                                          <p:stCondLst>
                                            <p:cond delay="0"/>
                                          </p:stCondLst>
                                        </p:cTn>
                                        <p:tgtEl>
                                          <p:spTgt spid="39068"/>
                                        </p:tgtEl>
                                        <p:attrNameLst>
                                          <p:attrName>style.visibility</p:attrName>
                                        </p:attrNameLst>
                                      </p:cBhvr>
                                      <p:to>
                                        <p:strVal val="visible"/>
                                      </p:to>
                                    </p:set>
                                    <p:animEffect transition="in" filter="wipe(down)">
                                      <p:cBhvr>
                                        <p:cTn id="40" dur="1000"/>
                                        <p:tgtEl>
                                          <p:spTgt spid="39068"/>
                                        </p:tgtEl>
                                      </p:cBhvr>
                                    </p:animEffect>
                                  </p:childTnLst>
                                </p:cTn>
                              </p:par>
                              <p:par>
                                <p:cTn id="41" presetID="22" presetClass="entr" presetSubtype="1" fill="hold" nodeType="withEffect">
                                  <p:stCondLst>
                                    <p:cond delay="0"/>
                                  </p:stCondLst>
                                  <p:childTnLst>
                                    <p:set>
                                      <p:cBhvr>
                                        <p:cTn id="42" dur="1" fill="hold">
                                          <p:stCondLst>
                                            <p:cond delay="0"/>
                                          </p:stCondLst>
                                        </p:cTn>
                                        <p:tgtEl>
                                          <p:spTgt spid="39079"/>
                                        </p:tgtEl>
                                        <p:attrNameLst>
                                          <p:attrName>style.visibility</p:attrName>
                                        </p:attrNameLst>
                                      </p:cBhvr>
                                      <p:to>
                                        <p:strVal val="visible"/>
                                      </p:to>
                                    </p:set>
                                    <p:animEffect transition="in" filter="wipe(up)">
                                      <p:cBhvr>
                                        <p:cTn id="43" dur="1000"/>
                                        <p:tgtEl>
                                          <p:spTgt spid="39079"/>
                                        </p:tgtEl>
                                      </p:cBhvr>
                                    </p:animEffect>
                                  </p:childTnLst>
                                </p:cTn>
                              </p:par>
                              <p:par>
                                <p:cTn id="44" presetID="22" presetClass="entr" presetSubtype="1" fill="hold" nodeType="withEffect">
                                  <p:stCondLst>
                                    <p:cond delay="0"/>
                                  </p:stCondLst>
                                  <p:childTnLst>
                                    <p:set>
                                      <p:cBhvr>
                                        <p:cTn id="45" dur="1" fill="hold">
                                          <p:stCondLst>
                                            <p:cond delay="0"/>
                                          </p:stCondLst>
                                        </p:cTn>
                                        <p:tgtEl>
                                          <p:spTgt spid="39078"/>
                                        </p:tgtEl>
                                        <p:attrNameLst>
                                          <p:attrName>style.visibility</p:attrName>
                                        </p:attrNameLst>
                                      </p:cBhvr>
                                      <p:to>
                                        <p:strVal val="visible"/>
                                      </p:to>
                                    </p:set>
                                    <p:animEffect transition="in" filter="wipe(up)">
                                      <p:cBhvr>
                                        <p:cTn id="46" dur="1000"/>
                                        <p:tgtEl>
                                          <p:spTgt spid="39078"/>
                                        </p:tgtEl>
                                      </p:cBhvr>
                                    </p:animEffect>
                                  </p:childTnLst>
                                </p:cTn>
                              </p:par>
                              <p:par>
                                <p:cTn id="47" presetID="22" presetClass="entr" presetSubtype="1" fill="hold" nodeType="withEffect">
                                  <p:stCondLst>
                                    <p:cond delay="0"/>
                                  </p:stCondLst>
                                  <p:childTnLst>
                                    <p:set>
                                      <p:cBhvr>
                                        <p:cTn id="48" dur="1" fill="hold">
                                          <p:stCondLst>
                                            <p:cond delay="0"/>
                                          </p:stCondLst>
                                        </p:cTn>
                                        <p:tgtEl>
                                          <p:spTgt spid="39077"/>
                                        </p:tgtEl>
                                        <p:attrNameLst>
                                          <p:attrName>style.visibility</p:attrName>
                                        </p:attrNameLst>
                                      </p:cBhvr>
                                      <p:to>
                                        <p:strVal val="visible"/>
                                      </p:to>
                                    </p:set>
                                    <p:animEffect transition="in" filter="wipe(up)">
                                      <p:cBhvr>
                                        <p:cTn id="49" dur="1000"/>
                                        <p:tgtEl>
                                          <p:spTgt spid="39077"/>
                                        </p:tgtEl>
                                      </p:cBhvr>
                                    </p:animEffect>
                                  </p:childTnLst>
                                </p:cTn>
                              </p:par>
                              <p:par>
                                <p:cTn id="50" presetID="22" presetClass="entr" presetSubtype="1" fill="hold" nodeType="withEffect">
                                  <p:stCondLst>
                                    <p:cond delay="0"/>
                                  </p:stCondLst>
                                  <p:childTnLst>
                                    <p:set>
                                      <p:cBhvr>
                                        <p:cTn id="51" dur="1" fill="hold">
                                          <p:stCondLst>
                                            <p:cond delay="0"/>
                                          </p:stCondLst>
                                        </p:cTn>
                                        <p:tgtEl>
                                          <p:spTgt spid="39076"/>
                                        </p:tgtEl>
                                        <p:attrNameLst>
                                          <p:attrName>style.visibility</p:attrName>
                                        </p:attrNameLst>
                                      </p:cBhvr>
                                      <p:to>
                                        <p:strVal val="visible"/>
                                      </p:to>
                                    </p:set>
                                    <p:animEffect transition="in" filter="wipe(up)">
                                      <p:cBhvr>
                                        <p:cTn id="52" dur="1000"/>
                                        <p:tgtEl>
                                          <p:spTgt spid="39076"/>
                                        </p:tgtEl>
                                      </p:cBhvr>
                                    </p:animEffect>
                                  </p:childTnLst>
                                </p:cTn>
                              </p:par>
                              <p:par>
                                <p:cTn id="53" presetID="22" presetClass="entr" presetSubtype="1" fill="hold" nodeType="withEffect">
                                  <p:stCondLst>
                                    <p:cond delay="0"/>
                                  </p:stCondLst>
                                  <p:childTnLst>
                                    <p:set>
                                      <p:cBhvr>
                                        <p:cTn id="54" dur="1" fill="hold">
                                          <p:stCondLst>
                                            <p:cond delay="0"/>
                                          </p:stCondLst>
                                        </p:cTn>
                                        <p:tgtEl>
                                          <p:spTgt spid="39075"/>
                                        </p:tgtEl>
                                        <p:attrNameLst>
                                          <p:attrName>style.visibility</p:attrName>
                                        </p:attrNameLst>
                                      </p:cBhvr>
                                      <p:to>
                                        <p:strVal val="visible"/>
                                      </p:to>
                                    </p:set>
                                    <p:animEffect transition="in" filter="wipe(up)">
                                      <p:cBhvr>
                                        <p:cTn id="55" dur="1000"/>
                                        <p:tgtEl>
                                          <p:spTgt spid="39075"/>
                                        </p:tgtEl>
                                      </p:cBhvr>
                                    </p:animEffect>
                                  </p:childTnLst>
                                </p:cTn>
                              </p:par>
                              <p:par>
                                <p:cTn id="56" presetID="22" presetClass="entr" presetSubtype="1" fill="hold" nodeType="withEffect">
                                  <p:stCondLst>
                                    <p:cond delay="0"/>
                                  </p:stCondLst>
                                  <p:childTnLst>
                                    <p:set>
                                      <p:cBhvr>
                                        <p:cTn id="57" dur="1" fill="hold">
                                          <p:stCondLst>
                                            <p:cond delay="0"/>
                                          </p:stCondLst>
                                        </p:cTn>
                                        <p:tgtEl>
                                          <p:spTgt spid="39070"/>
                                        </p:tgtEl>
                                        <p:attrNameLst>
                                          <p:attrName>style.visibility</p:attrName>
                                        </p:attrNameLst>
                                      </p:cBhvr>
                                      <p:to>
                                        <p:strVal val="visible"/>
                                      </p:to>
                                    </p:set>
                                    <p:animEffect transition="in" filter="wipe(up)">
                                      <p:cBhvr>
                                        <p:cTn id="58" dur="1000"/>
                                        <p:tgtEl>
                                          <p:spTgt spid="39070"/>
                                        </p:tgtEl>
                                      </p:cBhvr>
                                    </p:animEffect>
                                  </p:childTnLst>
                                </p:cTn>
                              </p:par>
                              <p:par>
                                <p:cTn id="59" presetID="22" presetClass="entr" presetSubtype="1" fill="hold" nodeType="withEffect">
                                  <p:stCondLst>
                                    <p:cond delay="0"/>
                                  </p:stCondLst>
                                  <p:childTnLst>
                                    <p:set>
                                      <p:cBhvr>
                                        <p:cTn id="60" dur="1" fill="hold">
                                          <p:stCondLst>
                                            <p:cond delay="0"/>
                                          </p:stCondLst>
                                        </p:cTn>
                                        <p:tgtEl>
                                          <p:spTgt spid="39071"/>
                                        </p:tgtEl>
                                        <p:attrNameLst>
                                          <p:attrName>style.visibility</p:attrName>
                                        </p:attrNameLst>
                                      </p:cBhvr>
                                      <p:to>
                                        <p:strVal val="visible"/>
                                      </p:to>
                                    </p:set>
                                    <p:animEffect transition="in" filter="wipe(up)">
                                      <p:cBhvr>
                                        <p:cTn id="61" dur="1000"/>
                                        <p:tgtEl>
                                          <p:spTgt spid="39071"/>
                                        </p:tgtEl>
                                      </p:cBhvr>
                                    </p:animEffect>
                                  </p:childTnLst>
                                </p:cTn>
                              </p:par>
                              <p:par>
                                <p:cTn id="62" presetID="22" presetClass="entr" presetSubtype="1" fill="hold" nodeType="withEffect">
                                  <p:stCondLst>
                                    <p:cond delay="0"/>
                                  </p:stCondLst>
                                  <p:childTnLst>
                                    <p:set>
                                      <p:cBhvr>
                                        <p:cTn id="63" dur="1" fill="hold">
                                          <p:stCondLst>
                                            <p:cond delay="0"/>
                                          </p:stCondLst>
                                        </p:cTn>
                                        <p:tgtEl>
                                          <p:spTgt spid="39072"/>
                                        </p:tgtEl>
                                        <p:attrNameLst>
                                          <p:attrName>style.visibility</p:attrName>
                                        </p:attrNameLst>
                                      </p:cBhvr>
                                      <p:to>
                                        <p:strVal val="visible"/>
                                      </p:to>
                                    </p:set>
                                    <p:animEffect transition="in" filter="wipe(up)">
                                      <p:cBhvr>
                                        <p:cTn id="64" dur="1000"/>
                                        <p:tgtEl>
                                          <p:spTgt spid="39072"/>
                                        </p:tgtEl>
                                      </p:cBhvr>
                                    </p:animEffect>
                                  </p:childTnLst>
                                </p:cTn>
                              </p:par>
                              <p:par>
                                <p:cTn id="65" presetID="22" presetClass="entr" presetSubtype="1" fill="hold" nodeType="withEffect">
                                  <p:stCondLst>
                                    <p:cond delay="0"/>
                                  </p:stCondLst>
                                  <p:childTnLst>
                                    <p:set>
                                      <p:cBhvr>
                                        <p:cTn id="66" dur="1" fill="hold">
                                          <p:stCondLst>
                                            <p:cond delay="0"/>
                                          </p:stCondLst>
                                        </p:cTn>
                                        <p:tgtEl>
                                          <p:spTgt spid="39073"/>
                                        </p:tgtEl>
                                        <p:attrNameLst>
                                          <p:attrName>style.visibility</p:attrName>
                                        </p:attrNameLst>
                                      </p:cBhvr>
                                      <p:to>
                                        <p:strVal val="visible"/>
                                      </p:to>
                                    </p:set>
                                    <p:animEffect transition="in" filter="wipe(up)">
                                      <p:cBhvr>
                                        <p:cTn id="67" dur="1000"/>
                                        <p:tgtEl>
                                          <p:spTgt spid="39073"/>
                                        </p:tgtEl>
                                      </p:cBhvr>
                                    </p:animEffect>
                                  </p:childTnLst>
                                </p:cTn>
                              </p:par>
                              <p:par>
                                <p:cTn id="68" presetID="22" presetClass="entr" presetSubtype="1" fill="hold" nodeType="withEffect">
                                  <p:stCondLst>
                                    <p:cond delay="0"/>
                                  </p:stCondLst>
                                  <p:childTnLst>
                                    <p:set>
                                      <p:cBhvr>
                                        <p:cTn id="69" dur="1" fill="hold">
                                          <p:stCondLst>
                                            <p:cond delay="0"/>
                                          </p:stCondLst>
                                        </p:cTn>
                                        <p:tgtEl>
                                          <p:spTgt spid="39074"/>
                                        </p:tgtEl>
                                        <p:attrNameLst>
                                          <p:attrName>style.visibility</p:attrName>
                                        </p:attrNameLst>
                                      </p:cBhvr>
                                      <p:to>
                                        <p:strVal val="visible"/>
                                      </p:to>
                                    </p:set>
                                    <p:animEffect transition="in" filter="wipe(up)">
                                      <p:cBhvr>
                                        <p:cTn id="70" dur="1000"/>
                                        <p:tgtEl>
                                          <p:spTgt spid="39074"/>
                                        </p:tgtEl>
                                      </p:cBhvr>
                                    </p:animEffect>
                                  </p:childTnLst>
                                </p:cTn>
                              </p:par>
                              <p:par>
                                <p:cTn id="71" presetID="22" presetClass="entr" presetSubtype="2" fill="hold" nodeType="withEffect">
                                  <p:stCondLst>
                                    <p:cond delay="0"/>
                                  </p:stCondLst>
                                  <p:childTnLst>
                                    <p:set>
                                      <p:cBhvr>
                                        <p:cTn id="72" dur="1" fill="hold">
                                          <p:stCondLst>
                                            <p:cond delay="0"/>
                                          </p:stCondLst>
                                        </p:cTn>
                                        <p:tgtEl>
                                          <p:spTgt spid="38972"/>
                                        </p:tgtEl>
                                        <p:attrNameLst>
                                          <p:attrName>style.visibility</p:attrName>
                                        </p:attrNameLst>
                                      </p:cBhvr>
                                      <p:to>
                                        <p:strVal val="visible"/>
                                      </p:to>
                                    </p:set>
                                    <p:animEffect transition="in" filter="wipe(right)">
                                      <p:cBhvr>
                                        <p:cTn id="73" dur="1000"/>
                                        <p:tgtEl>
                                          <p:spTgt spid="38972"/>
                                        </p:tgtEl>
                                      </p:cBhvr>
                                    </p:animEffect>
                                  </p:childTnLst>
                                </p:cTn>
                              </p:par>
                              <p:par>
                                <p:cTn id="74" presetID="22" presetClass="entr" presetSubtype="2" fill="hold" nodeType="withEffect">
                                  <p:stCondLst>
                                    <p:cond delay="0"/>
                                  </p:stCondLst>
                                  <p:childTnLst>
                                    <p:set>
                                      <p:cBhvr>
                                        <p:cTn id="75" dur="1" fill="hold">
                                          <p:stCondLst>
                                            <p:cond delay="0"/>
                                          </p:stCondLst>
                                        </p:cTn>
                                        <p:tgtEl>
                                          <p:spTgt spid="38988"/>
                                        </p:tgtEl>
                                        <p:attrNameLst>
                                          <p:attrName>style.visibility</p:attrName>
                                        </p:attrNameLst>
                                      </p:cBhvr>
                                      <p:to>
                                        <p:strVal val="visible"/>
                                      </p:to>
                                    </p:set>
                                    <p:animEffect transition="in" filter="wipe(right)">
                                      <p:cBhvr>
                                        <p:cTn id="76" dur="1000"/>
                                        <p:tgtEl>
                                          <p:spTgt spid="38988"/>
                                        </p:tgtEl>
                                      </p:cBhvr>
                                    </p:animEffect>
                                  </p:childTnLst>
                                </p:cTn>
                              </p:par>
                              <p:par>
                                <p:cTn id="77" presetID="22" presetClass="entr" presetSubtype="2" fill="hold" nodeType="withEffect">
                                  <p:stCondLst>
                                    <p:cond delay="0"/>
                                  </p:stCondLst>
                                  <p:childTnLst>
                                    <p:set>
                                      <p:cBhvr>
                                        <p:cTn id="78" dur="1" fill="hold">
                                          <p:stCondLst>
                                            <p:cond delay="0"/>
                                          </p:stCondLst>
                                        </p:cTn>
                                        <p:tgtEl>
                                          <p:spTgt spid="38974"/>
                                        </p:tgtEl>
                                        <p:attrNameLst>
                                          <p:attrName>style.visibility</p:attrName>
                                        </p:attrNameLst>
                                      </p:cBhvr>
                                      <p:to>
                                        <p:strVal val="visible"/>
                                      </p:to>
                                    </p:set>
                                    <p:animEffect transition="in" filter="wipe(right)">
                                      <p:cBhvr>
                                        <p:cTn id="79" dur="1000"/>
                                        <p:tgtEl>
                                          <p:spTgt spid="38974"/>
                                        </p:tgtEl>
                                      </p:cBhvr>
                                    </p:animEffect>
                                  </p:childTnLst>
                                </p:cTn>
                              </p:par>
                              <p:par>
                                <p:cTn id="80" presetID="22" presetClass="entr" presetSubtype="8" fill="hold" nodeType="withEffect">
                                  <p:stCondLst>
                                    <p:cond delay="0"/>
                                  </p:stCondLst>
                                  <p:childTnLst>
                                    <p:set>
                                      <p:cBhvr>
                                        <p:cTn id="81" dur="1" fill="hold">
                                          <p:stCondLst>
                                            <p:cond delay="0"/>
                                          </p:stCondLst>
                                        </p:cTn>
                                        <p:tgtEl>
                                          <p:spTgt spid="38978"/>
                                        </p:tgtEl>
                                        <p:attrNameLst>
                                          <p:attrName>style.visibility</p:attrName>
                                        </p:attrNameLst>
                                      </p:cBhvr>
                                      <p:to>
                                        <p:strVal val="visible"/>
                                      </p:to>
                                    </p:set>
                                    <p:animEffect transition="in" filter="wipe(left)">
                                      <p:cBhvr>
                                        <p:cTn id="82" dur="1000"/>
                                        <p:tgtEl>
                                          <p:spTgt spid="38978"/>
                                        </p:tgtEl>
                                      </p:cBhvr>
                                    </p:animEffect>
                                  </p:childTnLst>
                                </p:cTn>
                              </p:par>
                              <p:par>
                                <p:cTn id="83" presetID="22" presetClass="entr" presetSubtype="8" fill="hold" nodeType="withEffect">
                                  <p:stCondLst>
                                    <p:cond delay="0"/>
                                  </p:stCondLst>
                                  <p:childTnLst>
                                    <p:set>
                                      <p:cBhvr>
                                        <p:cTn id="84" dur="1" fill="hold">
                                          <p:stCondLst>
                                            <p:cond delay="0"/>
                                          </p:stCondLst>
                                        </p:cTn>
                                        <p:tgtEl>
                                          <p:spTgt spid="38989"/>
                                        </p:tgtEl>
                                        <p:attrNameLst>
                                          <p:attrName>style.visibility</p:attrName>
                                        </p:attrNameLst>
                                      </p:cBhvr>
                                      <p:to>
                                        <p:strVal val="visible"/>
                                      </p:to>
                                    </p:set>
                                    <p:animEffect transition="in" filter="wipe(left)">
                                      <p:cBhvr>
                                        <p:cTn id="85" dur="1000"/>
                                        <p:tgtEl>
                                          <p:spTgt spid="38989"/>
                                        </p:tgtEl>
                                      </p:cBhvr>
                                    </p:animEffect>
                                  </p:childTnLst>
                                </p:cTn>
                              </p:par>
                              <p:par>
                                <p:cTn id="86" presetID="22" presetClass="entr" presetSubtype="8" fill="hold" nodeType="withEffect">
                                  <p:stCondLst>
                                    <p:cond delay="0"/>
                                  </p:stCondLst>
                                  <p:childTnLst>
                                    <p:set>
                                      <p:cBhvr>
                                        <p:cTn id="87" dur="1" fill="hold">
                                          <p:stCondLst>
                                            <p:cond delay="0"/>
                                          </p:stCondLst>
                                        </p:cTn>
                                        <p:tgtEl>
                                          <p:spTgt spid="38976"/>
                                        </p:tgtEl>
                                        <p:attrNameLst>
                                          <p:attrName>style.visibility</p:attrName>
                                        </p:attrNameLst>
                                      </p:cBhvr>
                                      <p:to>
                                        <p:strVal val="visible"/>
                                      </p:to>
                                    </p:set>
                                    <p:animEffect transition="in" filter="wipe(left)">
                                      <p:cBhvr>
                                        <p:cTn id="88" dur="1000"/>
                                        <p:tgtEl>
                                          <p:spTgt spid="38976"/>
                                        </p:tgtEl>
                                      </p:cBhvr>
                                    </p:animEffect>
                                  </p:childTnLst>
                                </p:cTn>
                              </p:par>
                              <p:par>
                                <p:cTn id="89" presetID="22" presetClass="entr" presetSubtype="8" fill="hold" nodeType="withEffect">
                                  <p:stCondLst>
                                    <p:cond delay="0"/>
                                  </p:stCondLst>
                                  <p:childTnLst>
                                    <p:set>
                                      <p:cBhvr>
                                        <p:cTn id="90" dur="1" fill="hold">
                                          <p:stCondLst>
                                            <p:cond delay="0"/>
                                          </p:stCondLst>
                                        </p:cTn>
                                        <p:tgtEl>
                                          <p:spTgt spid="38964"/>
                                        </p:tgtEl>
                                        <p:attrNameLst>
                                          <p:attrName>style.visibility</p:attrName>
                                        </p:attrNameLst>
                                      </p:cBhvr>
                                      <p:to>
                                        <p:strVal val="visible"/>
                                      </p:to>
                                    </p:set>
                                    <p:animEffect transition="in" filter="wipe(left)">
                                      <p:cBhvr>
                                        <p:cTn id="91" dur="1000"/>
                                        <p:tgtEl>
                                          <p:spTgt spid="38964"/>
                                        </p:tgtEl>
                                      </p:cBhvr>
                                    </p:animEffect>
                                  </p:childTnLst>
                                </p:cTn>
                              </p:par>
                              <p:par>
                                <p:cTn id="92" presetID="22" presetClass="entr" presetSubtype="8" fill="hold" nodeType="withEffect">
                                  <p:stCondLst>
                                    <p:cond delay="0"/>
                                  </p:stCondLst>
                                  <p:childTnLst>
                                    <p:set>
                                      <p:cBhvr>
                                        <p:cTn id="93" dur="1" fill="hold">
                                          <p:stCondLst>
                                            <p:cond delay="0"/>
                                          </p:stCondLst>
                                        </p:cTn>
                                        <p:tgtEl>
                                          <p:spTgt spid="38990"/>
                                        </p:tgtEl>
                                        <p:attrNameLst>
                                          <p:attrName>style.visibility</p:attrName>
                                        </p:attrNameLst>
                                      </p:cBhvr>
                                      <p:to>
                                        <p:strVal val="visible"/>
                                      </p:to>
                                    </p:set>
                                    <p:animEffect transition="in" filter="wipe(left)">
                                      <p:cBhvr>
                                        <p:cTn id="94" dur="1000"/>
                                        <p:tgtEl>
                                          <p:spTgt spid="38990"/>
                                        </p:tgtEl>
                                      </p:cBhvr>
                                    </p:animEffect>
                                  </p:childTnLst>
                                </p:cTn>
                              </p:par>
                              <p:par>
                                <p:cTn id="95" presetID="22" presetClass="entr" presetSubtype="8" fill="hold" nodeType="withEffect">
                                  <p:stCondLst>
                                    <p:cond delay="0"/>
                                  </p:stCondLst>
                                  <p:childTnLst>
                                    <p:set>
                                      <p:cBhvr>
                                        <p:cTn id="96" dur="1" fill="hold">
                                          <p:stCondLst>
                                            <p:cond delay="0"/>
                                          </p:stCondLst>
                                        </p:cTn>
                                        <p:tgtEl>
                                          <p:spTgt spid="38966"/>
                                        </p:tgtEl>
                                        <p:attrNameLst>
                                          <p:attrName>style.visibility</p:attrName>
                                        </p:attrNameLst>
                                      </p:cBhvr>
                                      <p:to>
                                        <p:strVal val="visible"/>
                                      </p:to>
                                    </p:set>
                                    <p:animEffect transition="in" filter="wipe(left)">
                                      <p:cBhvr>
                                        <p:cTn id="97" dur="1000"/>
                                        <p:tgtEl>
                                          <p:spTgt spid="38966"/>
                                        </p:tgtEl>
                                      </p:cBhvr>
                                    </p:animEffect>
                                  </p:childTnLst>
                                </p:cTn>
                              </p:par>
                              <p:par>
                                <p:cTn id="98" presetID="22" presetClass="entr" presetSubtype="2" fill="hold" nodeType="withEffect">
                                  <p:stCondLst>
                                    <p:cond delay="0"/>
                                  </p:stCondLst>
                                  <p:childTnLst>
                                    <p:set>
                                      <p:cBhvr>
                                        <p:cTn id="99" dur="1" fill="hold">
                                          <p:stCondLst>
                                            <p:cond delay="0"/>
                                          </p:stCondLst>
                                        </p:cTn>
                                        <p:tgtEl>
                                          <p:spTgt spid="38970"/>
                                        </p:tgtEl>
                                        <p:attrNameLst>
                                          <p:attrName>style.visibility</p:attrName>
                                        </p:attrNameLst>
                                      </p:cBhvr>
                                      <p:to>
                                        <p:strVal val="visible"/>
                                      </p:to>
                                    </p:set>
                                    <p:animEffect transition="in" filter="wipe(right)">
                                      <p:cBhvr>
                                        <p:cTn id="100" dur="1000"/>
                                        <p:tgtEl>
                                          <p:spTgt spid="38970"/>
                                        </p:tgtEl>
                                      </p:cBhvr>
                                    </p:animEffect>
                                  </p:childTnLst>
                                </p:cTn>
                              </p:par>
                              <p:par>
                                <p:cTn id="101" presetID="22" presetClass="entr" presetSubtype="2" fill="hold" nodeType="withEffect">
                                  <p:stCondLst>
                                    <p:cond delay="0"/>
                                  </p:stCondLst>
                                  <p:childTnLst>
                                    <p:set>
                                      <p:cBhvr>
                                        <p:cTn id="102" dur="1" fill="hold">
                                          <p:stCondLst>
                                            <p:cond delay="0"/>
                                          </p:stCondLst>
                                        </p:cTn>
                                        <p:tgtEl>
                                          <p:spTgt spid="38991"/>
                                        </p:tgtEl>
                                        <p:attrNameLst>
                                          <p:attrName>style.visibility</p:attrName>
                                        </p:attrNameLst>
                                      </p:cBhvr>
                                      <p:to>
                                        <p:strVal val="visible"/>
                                      </p:to>
                                    </p:set>
                                    <p:animEffect transition="in" filter="wipe(right)">
                                      <p:cBhvr>
                                        <p:cTn id="103" dur="1000"/>
                                        <p:tgtEl>
                                          <p:spTgt spid="38991"/>
                                        </p:tgtEl>
                                      </p:cBhvr>
                                    </p:animEffect>
                                  </p:childTnLst>
                                </p:cTn>
                              </p:par>
                              <p:par>
                                <p:cTn id="104" presetID="22" presetClass="entr" presetSubtype="2" fill="hold" nodeType="withEffect">
                                  <p:stCondLst>
                                    <p:cond delay="0"/>
                                  </p:stCondLst>
                                  <p:childTnLst>
                                    <p:set>
                                      <p:cBhvr>
                                        <p:cTn id="105" dur="1" fill="hold">
                                          <p:stCondLst>
                                            <p:cond delay="0"/>
                                          </p:stCondLst>
                                        </p:cTn>
                                        <p:tgtEl>
                                          <p:spTgt spid="38968"/>
                                        </p:tgtEl>
                                        <p:attrNameLst>
                                          <p:attrName>style.visibility</p:attrName>
                                        </p:attrNameLst>
                                      </p:cBhvr>
                                      <p:to>
                                        <p:strVal val="visible"/>
                                      </p:to>
                                    </p:set>
                                    <p:animEffect transition="in" filter="wipe(right)">
                                      <p:cBhvr>
                                        <p:cTn id="106" dur="1000"/>
                                        <p:tgtEl>
                                          <p:spTgt spid="38968"/>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53" presetClass="entr" presetSubtype="0" fill="hold" nodeType="clickEffect">
                                  <p:stCondLst>
                                    <p:cond delay="0"/>
                                  </p:stCondLst>
                                  <p:childTnLst>
                                    <p:set>
                                      <p:cBhvr>
                                        <p:cTn id="110" dur="1" fill="hold">
                                          <p:stCondLst>
                                            <p:cond delay="0"/>
                                          </p:stCondLst>
                                        </p:cTn>
                                        <p:tgtEl>
                                          <p:spTgt spid="39080"/>
                                        </p:tgtEl>
                                        <p:attrNameLst>
                                          <p:attrName>style.visibility</p:attrName>
                                        </p:attrNameLst>
                                      </p:cBhvr>
                                      <p:to>
                                        <p:strVal val="visible"/>
                                      </p:to>
                                    </p:set>
                                    <p:anim calcmode="lin" valueType="num">
                                      <p:cBhvr>
                                        <p:cTn id="111" dur="500" fill="hold"/>
                                        <p:tgtEl>
                                          <p:spTgt spid="39080"/>
                                        </p:tgtEl>
                                        <p:attrNameLst>
                                          <p:attrName>ppt_w</p:attrName>
                                        </p:attrNameLst>
                                      </p:cBhvr>
                                      <p:tavLst>
                                        <p:tav tm="0">
                                          <p:val>
                                            <p:fltVal val="0"/>
                                          </p:val>
                                        </p:tav>
                                        <p:tav tm="100000">
                                          <p:val>
                                            <p:strVal val="#ppt_w"/>
                                          </p:val>
                                        </p:tav>
                                      </p:tavLst>
                                    </p:anim>
                                    <p:anim calcmode="lin" valueType="num">
                                      <p:cBhvr>
                                        <p:cTn id="112" dur="500" fill="hold"/>
                                        <p:tgtEl>
                                          <p:spTgt spid="39080"/>
                                        </p:tgtEl>
                                        <p:attrNameLst>
                                          <p:attrName>ppt_h</p:attrName>
                                        </p:attrNameLst>
                                      </p:cBhvr>
                                      <p:tavLst>
                                        <p:tav tm="0">
                                          <p:val>
                                            <p:fltVal val="0"/>
                                          </p:val>
                                        </p:tav>
                                        <p:tav tm="100000">
                                          <p:val>
                                            <p:strVal val="#ppt_h"/>
                                          </p:val>
                                        </p:tav>
                                      </p:tavLst>
                                    </p:anim>
                                    <p:animEffect transition="in" filter="fade">
                                      <p:cBhvr>
                                        <p:cTn id="113" dur="500"/>
                                        <p:tgtEl>
                                          <p:spTgt spid="39080"/>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39081"/>
                                        </p:tgtEl>
                                        <p:attrNameLst>
                                          <p:attrName>style.visibility</p:attrName>
                                        </p:attrNameLst>
                                      </p:cBhvr>
                                      <p:to>
                                        <p:strVal val="visible"/>
                                      </p:to>
                                    </p:set>
                                    <p:animEffect transition="in" filter="wipe(left)">
                                      <p:cBhvr>
                                        <p:cTn id="118" dur="500"/>
                                        <p:tgtEl>
                                          <p:spTgt spid="3908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39055"/>
                                        </p:tgtEl>
                                        <p:attrNameLst>
                                          <p:attrName>style.visibility</p:attrName>
                                        </p:attrNameLst>
                                      </p:cBhvr>
                                      <p:to>
                                        <p:strVal val="visible"/>
                                      </p:to>
                                    </p:set>
                                    <p:animEffect transition="in" filter="dissolve">
                                      <p:cBhvr>
                                        <p:cTn id="123" dur="500"/>
                                        <p:tgtEl>
                                          <p:spTgt spid="3905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53" presetClass="entr" presetSubtype="0" fill="hold" grpId="0" nodeType="clickEffect">
                                  <p:stCondLst>
                                    <p:cond delay="0"/>
                                  </p:stCondLst>
                                  <p:childTnLst>
                                    <p:set>
                                      <p:cBhvr>
                                        <p:cTn id="127" dur="1" fill="hold">
                                          <p:stCondLst>
                                            <p:cond delay="0"/>
                                          </p:stCondLst>
                                        </p:cTn>
                                        <p:tgtEl>
                                          <p:spTgt spid="39066"/>
                                        </p:tgtEl>
                                        <p:attrNameLst>
                                          <p:attrName>style.visibility</p:attrName>
                                        </p:attrNameLst>
                                      </p:cBhvr>
                                      <p:to>
                                        <p:strVal val="visible"/>
                                      </p:to>
                                    </p:set>
                                    <p:anim calcmode="lin" valueType="num">
                                      <p:cBhvr>
                                        <p:cTn id="128" dur="500" fill="hold"/>
                                        <p:tgtEl>
                                          <p:spTgt spid="39066"/>
                                        </p:tgtEl>
                                        <p:attrNameLst>
                                          <p:attrName>ppt_w</p:attrName>
                                        </p:attrNameLst>
                                      </p:cBhvr>
                                      <p:tavLst>
                                        <p:tav tm="0">
                                          <p:val>
                                            <p:fltVal val="0"/>
                                          </p:val>
                                        </p:tav>
                                        <p:tav tm="100000">
                                          <p:val>
                                            <p:strVal val="#ppt_w"/>
                                          </p:val>
                                        </p:tav>
                                      </p:tavLst>
                                    </p:anim>
                                    <p:anim calcmode="lin" valueType="num">
                                      <p:cBhvr>
                                        <p:cTn id="129" dur="500" fill="hold"/>
                                        <p:tgtEl>
                                          <p:spTgt spid="39066"/>
                                        </p:tgtEl>
                                        <p:attrNameLst>
                                          <p:attrName>ppt_h</p:attrName>
                                        </p:attrNameLst>
                                      </p:cBhvr>
                                      <p:tavLst>
                                        <p:tav tm="0">
                                          <p:val>
                                            <p:fltVal val="0"/>
                                          </p:val>
                                        </p:tav>
                                        <p:tav tm="100000">
                                          <p:val>
                                            <p:strVal val="#ppt_h"/>
                                          </p:val>
                                        </p:tav>
                                      </p:tavLst>
                                    </p:anim>
                                    <p:animEffect transition="in" filter="fade">
                                      <p:cBhvr>
                                        <p:cTn id="130" dur="500"/>
                                        <p:tgtEl>
                                          <p:spTgt spid="39066"/>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1" fill="hold" nodeType="clickEffect">
                                  <p:stCondLst>
                                    <p:cond delay="0"/>
                                  </p:stCondLst>
                                  <p:childTnLst>
                                    <p:set>
                                      <p:cBhvr>
                                        <p:cTn id="134" dur="1" fill="hold">
                                          <p:stCondLst>
                                            <p:cond delay="0"/>
                                          </p:stCondLst>
                                        </p:cTn>
                                        <p:tgtEl>
                                          <p:spTgt spid="39065"/>
                                        </p:tgtEl>
                                        <p:attrNameLst>
                                          <p:attrName>style.visibility</p:attrName>
                                        </p:attrNameLst>
                                      </p:cBhvr>
                                      <p:to>
                                        <p:strVal val="visible"/>
                                      </p:to>
                                    </p:set>
                                    <p:animEffect transition="in" filter="wipe(up)">
                                      <p:cBhvr>
                                        <p:cTn id="135" dur="500"/>
                                        <p:tgtEl>
                                          <p:spTgt spid="3906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2" presetClass="entr" presetSubtype="1" fill="hold" grpId="0" nodeType="clickEffect">
                                  <p:stCondLst>
                                    <p:cond delay="0"/>
                                  </p:stCondLst>
                                  <p:childTnLst>
                                    <p:set>
                                      <p:cBhvr>
                                        <p:cTn id="139" dur="1" fill="hold">
                                          <p:stCondLst>
                                            <p:cond delay="0"/>
                                          </p:stCondLst>
                                        </p:cTn>
                                        <p:tgtEl>
                                          <p:spTgt spid="39057"/>
                                        </p:tgtEl>
                                        <p:attrNameLst>
                                          <p:attrName>style.visibility</p:attrName>
                                        </p:attrNameLst>
                                      </p:cBhvr>
                                      <p:to>
                                        <p:strVal val="visible"/>
                                      </p:to>
                                    </p:set>
                                    <p:animEffect transition="in" filter="slide(fromTop)">
                                      <p:cBhvr>
                                        <p:cTn id="140" dur="500"/>
                                        <p:tgtEl>
                                          <p:spTgt spid="39057"/>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53" presetClass="entr" presetSubtype="0" fill="hold" grpId="0" nodeType="clickEffect">
                                  <p:stCondLst>
                                    <p:cond delay="0"/>
                                  </p:stCondLst>
                                  <p:childTnLst>
                                    <p:set>
                                      <p:cBhvr>
                                        <p:cTn id="144" dur="1" fill="hold">
                                          <p:stCondLst>
                                            <p:cond delay="0"/>
                                          </p:stCondLst>
                                        </p:cTn>
                                        <p:tgtEl>
                                          <p:spTgt spid="39046"/>
                                        </p:tgtEl>
                                        <p:attrNameLst>
                                          <p:attrName>style.visibility</p:attrName>
                                        </p:attrNameLst>
                                      </p:cBhvr>
                                      <p:to>
                                        <p:strVal val="visible"/>
                                      </p:to>
                                    </p:set>
                                    <p:anim calcmode="lin" valueType="num">
                                      <p:cBhvr>
                                        <p:cTn id="145" dur="500" fill="hold"/>
                                        <p:tgtEl>
                                          <p:spTgt spid="39046"/>
                                        </p:tgtEl>
                                        <p:attrNameLst>
                                          <p:attrName>ppt_w</p:attrName>
                                        </p:attrNameLst>
                                      </p:cBhvr>
                                      <p:tavLst>
                                        <p:tav tm="0">
                                          <p:val>
                                            <p:fltVal val="0"/>
                                          </p:val>
                                        </p:tav>
                                        <p:tav tm="100000">
                                          <p:val>
                                            <p:strVal val="#ppt_w"/>
                                          </p:val>
                                        </p:tav>
                                      </p:tavLst>
                                    </p:anim>
                                    <p:anim calcmode="lin" valueType="num">
                                      <p:cBhvr>
                                        <p:cTn id="146" dur="500" fill="hold"/>
                                        <p:tgtEl>
                                          <p:spTgt spid="39046"/>
                                        </p:tgtEl>
                                        <p:attrNameLst>
                                          <p:attrName>ppt_h</p:attrName>
                                        </p:attrNameLst>
                                      </p:cBhvr>
                                      <p:tavLst>
                                        <p:tav tm="0">
                                          <p:val>
                                            <p:fltVal val="0"/>
                                          </p:val>
                                        </p:tav>
                                        <p:tav tm="100000">
                                          <p:val>
                                            <p:strVal val="#ppt_h"/>
                                          </p:val>
                                        </p:tav>
                                      </p:tavLst>
                                    </p:anim>
                                    <p:animEffect transition="in" filter="fade">
                                      <p:cBhvr>
                                        <p:cTn id="147" dur="500"/>
                                        <p:tgtEl>
                                          <p:spTgt spid="39046"/>
                                        </p:tgtEl>
                                      </p:cBhvr>
                                    </p:animEffect>
                                  </p:childTnLst>
                                </p:cTn>
                              </p:par>
                              <p:par>
                                <p:cTn id="148" presetID="53" presetClass="entr" presetSubtype="0" fill="hold" grpId="0" nodeType="withEffect">
                                  <p:stCondLst>
                                    <p:cond delay="0"/>
                                  </p:stCondLst>
                                  <p:childTnLst>
                                    <p:set>
                                      <p:cBhvr>
                                        <p:cTn id="149" dur="1" fill="hold">
                                          <p:stCondLst>
                                            <p:cond delay="0"/>
                                          </p:stCondLst>
                                        </p:cTn>
                                        <p:tgtEl>
                                          <p:spTgt spid="39052"/>
                                        </p:tgtEl>
                                        <p:attrNameLst>
                                          <p:attrName>style.visibility</p:attrName>
                                        </p:attrNameLst>
                                      </p:cBhvr>
                                      <p:to>
                                        <p:strVal val="visible"/>
                                      </p:to>
                                    </p:set>
                                    <p:anim calcmode="lin" valueType="num">
                                      <p:cBhvr>
                                        <p:cTn id="150" dur="500" fill="hold"/>
                                        <p:tgtEl>
                                          <p:spTgt spid="39052"/>
                                        </p:tgtEl>
                                        <p:attrNameLst>
                                          <p:attrName>ppt_w</p:attrName>
                                        </p:attrNameLst>
                                      </p:cBhvr>
                                      <p:tavLst>
                                        <p:tav tm="0">
                                          <p:val>
                                            <p:fltVal val="0"/>
                                          </p:val>
                                        </p:tav>
                                        <p:tav tm="100000">
                                          <p:val>
                                            <p:strVal val="#ppt_w"/>
                                          </p:val>
                                        </p:tav>
                                      </p:tavLst>
                                    </p:anim>
                                    <p:anim calcmode="lin" valueType="num">
                                      <p:cBhvr>
                                        <p:cTn id="151" dur="500" fill="hold"/>
                                        <p:tgtEl>
                                          <p:spTgt spid="39052"/>
                                        </p:tgtEl>
                                        <p:attrNameLst>
                                          <p:attrName>ppt_h</p:attrName>
                                        </p:attrNameLst>
                                      </p:cBhvr>
                                      <p:tavLst>
                                        <p:tav tm="0">
                                          <p:val>
                                            <p:fltVal val="0"/>
                                          </p:val>
                                        </p:tav>
                                        <p:tav tm="100000">
                                          <p:val>
                                            <p:strVal val="#ppt_h"/>
                                          </p:val>
                                        </p:tav>
                                      </p:tavLst>
                                    </p:anim>
                                    <p:animEffect transition="in" filter="fade">
                                      <p:cBhvr>
                                        <p:cTn id="152" dur="500"/>
                                        <p:tgtEl>
                                          <p:spTgt spid="39052"/>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53" presetClass="entr" presetSubtype="0" fill="hold" grpId="0" nodeType="clickEffect">
                                  <p:stCondLst>
                                    <p:cond delay="0"/>
                                  </p:stCondLst>
                                  <p:childTnLst>
                                    <p:set>
                                      <p:cBhvr>
                                        <p:cTn id="156" dur="1" fill="hold">
                                          <p:stCondLst>
                                            <p:cond delay="0"/>
                                          </p:stCondLst>
                                        </p:cTn>
                                        <p:tgtEl>
                                          <p:spTgt spid="39033"/>
                                        </p:tgtEl>
                                        <p:attrNameLst>
                                          <p:attrName>style.visibility</p:attrName>
                                        </p:attrNameLst>
                                      </p:cBhvr>
                                      <p:to>
                                        <p:strVal val="visible"/>
                                      </p:to>
                                    </p:set>
                                    <p:anim calcmode="lin" valueType="num">
                                      <p:cBhvr>
                                        <p:cTn id="157" dur="500" fill="hold"/>
                                        <p:tgtEl>
                                          <p:spTgt spid="39033"/>
                                        </p:tgtEl>
                                        <p:attrNameLst>
                                          <p:attrName>ppt_w</p:attrName>
                                        </p:attrNameLst>
                                      </p:cBhvr>
                                      <p:tavLst>
                                        <p:tav tm="0">
                                          <p:val>
                                            <p:fltVal val="0"/>
                                          </p:val>
                                        </p:tav>
                                        <p:tav tm="100000">
                                          <p:val>
                                            <p:strVal val="#ppt_w"/>
                                          </p:val>
                                        </p:tav>
                                      </p:tavLst>
                                    </p:anim>
                                    <p:anim calcmode="lin" valueType="num">
                                      <p:cBhvr>
                                        <p:cTn id="158" dur="500" fill="hold"/>
                                        <p:tgtEl>
                                          <p:spTgt spid="39033"/>
                                        </p:tgtEl>
                                        <p:attrNameLst>
                                          <p:attrName>ppt_h</p:attrName>
                                        </p:attrNameLst>
                                      </p:cBhvr>
                                      <p:tavLst>
                                        <p:tav tm="0">
                                          <p:val>
                                            <p:fltVal val="0"/>
                                          </p:val>
                                        </p:tav>
                                        <p:tav tm="100000">
                                          <p:val>
                                            <p:strVal val="#ppt_h"/>
                                          </p:val>
                                        </p:tav>
                                      </p:tavLst>
                                    </p:anim>
                                    <p:animEffect transition="in" filter="fade">
                                      <p:cBhvr>
                                        <p:cTn id="159" dur="500"/>
                                        <p:tgtEl>
                                          <p:spTgt spid="39033"/>
                                        </p:tgtEl>
                                      </p:cBhvr>
                                    </p:animEffect>
                                  </p:childTnLst>
                                </p:cTn>
                              </p:par>
                              <p:par>
                                <p:cTn id="160" presetID="53" presetClass="entr" presetSubtype="0" fill="hold" grpId="0" nodeType="withEffect">
                                  <p:stCondLst>
                                    <p:cond delay="0"/>
                                  </p:stCondLst>
                                  <p:childTnLst>
                                    <p:set>
                                      <p:cBhvr>
                                        <p:cTn id="161" dur="1" fill="hold">
                                          <p:stCondLst>
                                            <p:cond delay="0"/>
                                          </p:stCondLst>
                                        </p:cTn>
                                        <p:tgtEl>
                                          <p:spTgt spid="39053"/>
                                        </p:tgtEl>
                                        <p:attrNameLst>
                                          <p:attrName>style.visibility</p:attrName>
                                        </p:attrNameLst>
                                      </p:cBhvr>
                                      <p:to>
                                        <p:strVal val="visible"/>
                                      </p:to>
                                    </p:set>
                                    <p:anim calcmode="lin" valueType="num">
                                      <p:cBhvr>
                                        <p:cTn id="162" dur="500" fill="hold"/>
                                        <p:tgtEl>
                                          <p:spTgt spid="39053"/>
                                        </p:tgtEl>
                                        <p:attrNameLst>
                                          <p:attrName>ppt_w</p:attrName>
                                        </p:attrNameLst>
                                      </p:cBhvr>
                                      <p:tavLst>
                                        <p:tav tm="0">
                                          <p:val>
                                            <p:fltVal val="0"/>
                                          </p:val>
                                        </p:tav>
                                        <p:tav tm="100000">
                                          <p:val>
                                            <p:strVal val="#ppt_w"/>
                                          </p:val>
                                        </p:tav>
                                      </p:tavLst>
                                    </p:anim>
                                    <p:anim calcmode="lin" valueType="num">
                                      <p:cBhvr>
                                        <p:cTn id="163" dur="500" fill="hold"/>
                                        <p:tgtEl>
                                          <p:spTgt spid="39053"/>
                                        </p:tgtEl>
                                        <p:attrNameLst>
                                          <p:attrName>ppt_h</p:attrName>
                                        </p:attrNameLst>
                                      </p:cBhvr>
                                      <p:tavLst>
                                        <p:tav tm="0">
                                          <p:val>
                                            <p:fltVal val="0"/>
                                          </p:val>
                                        </p:tav>
                                        <p:tav tm="100000">
                                          <p:val>
                                            <p:strVal val="#ppt_h"/>
                                          </p:val>
                                        </p:tav>
                                      </p:tavLst>
                                    </p:anim>
                                    <p:animEffect transition="in" filter="fade">
                                      <p:cBhvr>
                                        <p:cTn id="164" dur="500"/>
                                        <p:tgtEl>
                                          <p:spTgt spid="39053"/>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4" fill="hold" nodeType="clickEffect">
                                  <p:stCondLst>
                                    <p:cond delay="0"/>
                                  </p:stCondLst>
                                  <p:childTnLst>
                                    <p:set>
                                      <p:cBhvr>
                                        <p:cTn id="168" dur="1" fill="hold">
                                          <p:stCondLst>
                                            <p:cond delay="0"/>
                                          </p:stCondLst>
                                        </p:cTn>
                                        <p:tgtEl>
                                          <p:spTgt spid="39042"/>
                                        </p:tgtEl>
                                        <p:attrNameLst>
                                          <p:attrName>style.visibility</p:attrName>
                                        </p:attrNameLst>
                                      </p:cBhvr>
                                      <p:to>
                                        <p:strVal val="visible"/>
                                      </p:to>
                                    </p:set>
                                    <p:animEffect transition="in" filter="wipe(down)">
                                      <p:cBhvr>
                                        <p:cTn id="169" dur="1000"/>
                                        <p:tgtEl>
                                          <p:spTgt spid="39042"/>
                                        </p:tgtEl>
                                      </p:cBhvr>
                                    </p:animEffect>
                                  </p:childTnLst>
                                </p:cTn>
                              </p:par>
                              <p:par>
                                <p:cTn id="170" presetID="22" presetClass="entr" presetSubtype="4" fill="hold" nodeType="withEffect">
                                  <p:stCondLst>
                                    <p:cond delay="0"/>
                                  </p:stCondLst>
                                  <p:childTnLst>
                                    <p:set>
                                      <p:cBhvr>
                                        <p:cTn id="171" dur="1" fill="hold">
                                          <p:stCondLst>
                                            <p:cond delay="0"/>
                                          </p:stCondLst>
                                        </p:cTn>
                                        <p:tgtEl>
                                          <p:spTgt spid="39044"/>
                                        </p:tgtEl>
                                        <p:attrNameLst>
                                          <p:attrName>style.visibility</p:attrName>
                                        </p:attrNameLst>
                                      </p:cBhvr>
                                      <p:to>
                                        <p:strVal val="visible"/>
                                      </p:to>
                                    </p:set>
                                    <p:animEffect transition="in" filter="wipe(down)">
                                      <p:cBhvr>
                                        <p:cTn id="172" dur="1000"/>
                                        <p:tgtEl>
                                          <p:spTgt spid="39044"/>
                                        </p:tgtEl>
                                      </p:cBhvr>
                                    </p:animEffect>
                                  </p:childTnLst>
                                </p:cTn>
                              </p:par>
                              <p:par>
                                <p:cTn id="173" presetID="22" presetClass="entr" presetSubtype="4" fill="hold" nodeType="withEffect">
                                  <p:stCondLst>
                                    <p:cond delay="0"/>
                                  </p:stCondLst>
                                  <p:childTnLst>
                                    <p:set>
                                      <p:cBhvr>
                                        <p:cTn id="174" dur="1" fill="hold">
                                          <p:stCondLst>
                                            <p:cond delay="0"/>
                                          </p:stCondLst>
                                        </p:cTn>
                                        <p:tgtEl>
                                          <p:spTgt spid="39041"/>
                                        </p:tgtEl>
                                        <p:attrNameLst>
                                          <p:attrName>style.visibility</p:attrName>
                                        </p:attrNameLst>
                                      </p:cBhvr>
                                      <p:to>
                                        <p:strVal val="visible"/>
                                      </p:to>
                                    </p:set>
                                    <p:animEffect transition="in" filter="wipe(down)">
                                      <p:cBhvr>
                                        <p:cTn id="175" dur="1000"/>
                                        <p:tgtEl>
                                          <p:spTgt spid="39041"/>
                                        </p:tgtEl>
                                      </p:cBhvr>
                                    </p:animEffect>
                                  </p:childTnLst>
                                </p:cTn>
                              </p:par>
                              <p:par>
                                <p:cTn id="176" presetID="22" presetClass="entr" presetSubtype="4" fill="hold" nodeType="withEffect">
                                  <p:stCondLst>
                                    <p:cond delay="0"/>
                                  </p:stCondLst>
                                  <p:childTnLst>
                                    <p:set>
                                      <p:cBhvr>
                                        <p:cTn id="177" dur="1" fill="hold">
                                          <p:stCondLst>
                                            <p:cond delay="0"/>
                                          </p:stCondLst>
                                        </p:cTn>
                                        <p:tgtEl>
                                          <p:spTgt spid="39045"/>
                                        </p:tgtEl>
                                        <p:attrNameLst>
                                          <p:attrName>style.visibility</p:attrName>
                                        </p:attrNameLst>
                                      </p:cBhvr>
                                      <p:to>
                                        <p:strVal val="visible"/>
                                      </p:to>
                                    </p:set>
                                    <p:animEffect transition="in" filter="wipe(down)">
                                      <p:cBhvr>
                                        <p:cTn id="178" dur="1000"/>
                                        <p:tgtEl>
                                          <p:spTgt spid="39045"/>
                                        </p:tgtEl>
                                      </p:cBhvr>
                                    </p:animEffect>
                                  </p:childTnLst>
                                </p:cTn>
                              </p:par>
                              <p:par>
                                <p:cTn id="179" presetID="22" presetClass="entr" presetSubtype="4" fill="hold" nodeType="withEffect">
                                  <p:stCondLst>
                                    <p:cond delay="0"/>
                                  </p:stCondLst>
                                  <p:childTnLst>
                                    <p:set>
                                      <p:cBhvr>
                                        <p:cTn id="180" dur="1" fill="hold">
                                          <p:stCondLst>
                                            <p:cond delay="0"/>
                                          </p:stCondLst>
                                        </p:cTn>
                                        <p:tgtEl>
                                          <p:spTgt spid="39043"/>
                                        </p:tgtEl>
                                        <p:attrNameLst>
                                          <p:attrName>style.visibility</p:attrName>
                                        </p:attrNameLst>
                                      </p:cBhvr>
                                      <p:to>
                                        <p:strVal val="visible"/>
                                      </p:to>
                                    </p:set>
                                    <p:animEffect transition="in" filter="wipe(down)">
                                      <p:cBhvr>
                                        <p:cTn id="181" dur="1000"/>
                                        <p:tgtEl>
                                          <p:spTgt spid="39043"/>
                                        </p:tgtEl>
                                      </p:cBhvr>
                                    </p:animEffect>
                                  </p:childTnLst>
                                </p:cTn>
                              </p:par>
                              <p:par>
                                <p:cTn id="182" presetID="22" presetClass="entr" presetSubtype="2" fill="hold" nodeType="withEffect">
                                  <p:stCondLst>
                                    <p:cond delay="0"/>
                                  </p:stCondLst>
                                  <p:childTnLst>
                                    <p:set>
                                      <p:cBhvr>
                                        <p:cTn id="183" dur="1" fill="hold">
                                          <p:stCondLst>
                                            <p:cond delay="0"/>
                                          </p:stCondLst>
                                        </p:cTn>
                                        <p:tgtEl>
                                          <p:spTgt spid="39061"/>
                                        </p:tgtEl>
                                        <p:attrNameLst>
                                          <p:attrName>style.visibility</p:attrName>
                                        </p:attrNameLst>
                                      </p:cBhvr>
                                      <p:to>
                                        <p:strVal val="visible"/>
                                      </p:to>
                                    </p:set>
                                    <p:animEffect transition="in" filter="wipe(right)">
                                      <p:cBhvr>
                                        <p:cTn id="184" dur="1000"/>
                                        <p:tgtEl>
                                          <p:spTgt spid="39061"/>
                                        </p:tgtEl>
                                      </p:cBhvr>
                                    </p:animEffect>
                                  </p:childTnLst>
                                </p:cTn>
                              </p:par>
                              <p:par>
                                <p:cTn id="185" presetID="22" presetClass="entr" presetSubtype="2" fill="hold" nodeType="withEffect">
                                  <p:stCondLst>
                                    <p:cond delay="0"/>
                                  </p:stCondLst>
                                  <p:childTnLst>
                                    <p:set>
                                      <p:cBhvr>
                                        <p:cTn id="186" dur="1" fill="hold">
                                          <p:stCondLst>
                                            <p:cond delay="0"/>
                                          </p:stCondLst>
                                        </p:cTn>
                                        <p:tgtEl>
                                          <p:spTgt spid="39036"/>
                                        </p:tgtEl>
                                        <p:attrNameLst>
                                          <p:attrName>style.visibility</p:attrName>
                                        </p:attrNameLst>
                                      </p:cBhvr>
                                      <p:to>
                                        <p:strVal val="visible"/>
                                      </p:to>
                                    </p:set>
                                    <p:animEffect transition="in" filter="wipe(right)">
                                      <p:cBhvr>
                                        <p:cTn id="187" dur="1000"/>
                                        <p:tgtEl>
                                          <p:spTgt spid="39036"/>
                                        </p:tgtEl>
                                      </p:cBhvr>
                                    </p:animEffect>
                                  </p:childTnLst>
                                </p:cTn>
                              </p:par>
                              <p:par>
                                <p:cTn id="188" presetID="22" presetClass="entr" presetSubtype="2" fill="hold" nodeType="withEffect">
                                  <p:stCondLst>
                                    <p:cond delay="0"/>
                                  </p:stCondLst>
                                  <p:childTnLst>
                                    <p:set>
                                      <p:cBhvr>
                                        <p:cTn id="189" dur="1" fill="hold">
                                          <p:stCondLst>
                                            <p:cond delay="0"/>
                                          </p:stCondLst>
                                        </p:cTn>
                                        <p:tgtEl>
                                          <p:spTgt spid="39038"/>
                                        </p:tgtEl>
                                        <p:attrNameLst>
                                          <p:attrName>style.visibility</p:attrName>
                                        </p:attrNameLst>
                                      </p:cBhvr>
                                      <p:to>
                                        <p:strVal val="visible"/>
                                      </p:to>
                                    </p:set>
                                    <p:animEffect transition="in" filter="wipe(right)">
                                      <p:cBhvr>
                                        <p:cTn id="190" dur="1000"/>
                                        <p:tgtEl>
                                          <p:spTgt spid="39038"/>
                                        </p:tgtEl>
                                      </p:cBhvr>
                                    </p:animEffect>
                                  </p:childTnLst>
                                </p:cTn>
                              </p:par>
                              <p:par>
                                <p:cTn id="191" presetID="22" presetClass="entr" presetSubtype="2" fill="hold" nodeType="withEffect">
                                  <p:stCondLst>
                                    <p:cond delay="0"/>
                                  </p:stCondLst>
                                  <p:childTnLst>
                                    <p:set>
                                      <p:cBhvr>
                                        <p:cTn id="192" dur="1" fill="hold">
                                          <p:stCondLst>
                                            <p:cond delay="0"/>
                                          </p:stCondLst>
                                        </p:cTn>
                                        <p:tgtEl>
                                          <p:spTgt spid="39021"/>
                                        </p:tgtEl>
                                        <p:attrNameLst>
                                          <p:attrName>style.visibility</p:attrName>
                                        </p:attrNameLst>
                                      </p:cBhvr>
                                      <p:to>
                                        <p:strVal val="visible"/>
                                      </p:to>
                                    </p:set>
                                    <p:animEffect transition="in" filter="wipe(right)">
                                      <p:cBhvr>
                                        <p:cTn id="193" dur="1000"/>
                                        <p:tgtEl>
                                          <p:spTgt spid="39021"/>
                                        </p:tgtEl>
                                      </p:cBhvr>
                                    </p:animEffect>
                                  </p:childTnLst>
                                </p:cTn>
                              </p:par>
                              <p:par>
                                <p:cTn id="194" presetID="22" presetClass="entr" presetSubtype="2" fill="hold" nodeType="withEffect">
                                  <p:stCondLst>
                                    <p:cond delay="0"/>
                                  </p:stCondLst>
                                  <p:childTnLst>
                                    <p:set>
                                      <p:cBhvr>
                                        <p:cTn id="195" dur="1" fill="hold">
                                          <p:stCondLst>
                                            <p:cond delay="0"/>
                                          </p:stCondLst>
                                        </p:cTn>
                                        <p:tgtEl>
                                          <p:spTgt spid="39020"/>
                                        </p:tgtEl>
                                        <p:attrNameLst>
                                          <p:attrName>style.visibility</p:attrName>
                                        </p:attrNameLst>
                                      </p:cBhvr>
                                      <p:to>
                                        <p:strVal val="visible"/>
                                      </p:to>
                                    </p:set>
                                    <p:animEffect transition="in" filter="wipe(right)">
                                      <p:cBhvr>
                                        <p:cTn id="196" dur="1000"/>
                                        <p:tgtEl>
                                          <p:spTgt spid="39020"/>
                                        </p:tgtEl>
                                      </p:cBhvr>
                                    </p:animEffect>
                                  </p:childTnLst>
                                </p:cTn>
                              </p:par>
                              <p:par>
                                <p:cTn id="197" presetID="22" presetClass="entr" presetSubtype="2" fill="hold" nodeType="withEffect">
                                  <p:stCondLst>
                                    <p:cond delay="0"/>
                                  </p:stCondLst>
                                  <p:childTnLst>
                                    <p:set>
                                      <p:cBhvr>
                                        <p:cTn id="198" dur="1" fill="hold">
                                          <p:stCondLst>
                                            <p:cond delay="0"/>
                                          </p:stCondLst>
                                        </p:cTn>
                                        <p:tgtEl>
                                          <p:spTgt spid="39024"/>
                                        </p:tgtEl>
                                        <p:attrNameLst>
                                          <p:attrName>style.visibility</p:attrName>
                                        </p:attrNameLst>
                                      </p:cBhvr>
                                      <p:to>
                                        <p:strVal val="visible"/>
                                      </p:to>
                                    </p:set>
                                    <p:animEffect transition="in" filter="wipe(right)">
                                      <p:cBhvr>
                                        <p:cTn id="199" dur="1000"/>
                                        <p:tgtEl>
                                          <p:spTgt spid="39024"/>
                                        </p:tgtEl>
                                      </p:cBhvr>
                                    </p:animEffect>
                                  </p:childTnLst>
                                </p:cTn>
                              </p:par>
                              <p:par>
                                <p:cTn id="200" presetID="22" presetClass="entr" presetSubtype="2" fill="hold" nodeType="withEffect">
                                  <p:stCondLst>
                                    <p:cond delay="0"/>
                                  </p:stCondLst>
                                  <p:childTnLst>
                                    <p:set>
                                      <p:cBhvr>
                                        <p:cTn id="201" dur="1" fill="hold">
                                          <p:stCondLst>
                                            <p:cond delay="0"/>
                                          </p:stCondLst>
                                        </p:cTn>
                                        <p:tgtEl>
                                          <p:spTgt spid="39016"/>
                                        </p:tgtEl>
                                        <p:attrNameLst>
                                          <p:attrName>style.visibility</p:attrName>
                                        </p:attrNameLst>
                                      </p:cBhvr>
                                      <p:to>
                                        <p:strVal val="visible"/>
                                      </p:to>
                                    </p:set>
                                    <p:animEffect transition="in" filter="wipe(right)">
                                      <p:cBhvr>
                                        <p:cTn id="202" dur="1000"/>
                                        <p:tgtEl>
                                          <p:spTgt spid="39016"/>
                                        </p:tgtEl>
                                      </p:cBhvr>
                                    </p:animEffect>
                                  </p:childTnLst>
                                </p:cTn>
                              </p:par>
                              <p:par>
                                <p:cTn id="203" presetID="22" presetClass="entr" presetSubtype="2" fill="hold" nodeType="withEffect">
                                  <p:stCondLst>
                                    <p:cond delay="0"/>
                                  </p:stCondLst>
                                  <p:childTnLst>
                                    <p:set>
                                      <p:cBhvr>
                                        <p:cTn id="204" dur="1" fill="hold">
                                          <p:stCondLst>
                                            <p:cond delay="0"/>
                                          </p:stCondLst>
                                        </p:cTn>
                                        <p:tgtEl>
                                          <p:spTgt spid="39025"/>
                                        </p:tgtEl>
                                        <p:attrNameLst>
                                          <p:attrName>style.visibility</p:attrName>
                                        </p:attrNameLst>
                                      </p:cBhvr>
                                      <p:to>
                                        <p:strVal val="visible"/>
                                      </p:to>
                                    </p:set>
                                    <p:animEffect transition="in" filter="wipe(right)">
                                      <p:cBhvr>
                                        <p:cTn id="205" dur="1000"/>
                                        <p:tgtEl>
                                          <p:spTgt spid="39025"/>
                                        </p:tgtEl>
                                      </p:cBhvr>
                                    </p:animEffect>
                                  </p:childTnLst>
                                </p:cTn>
                              </p:par>
                              <p:par>
                                <p:cTn id="206" presetID="22" presetClass="entr" presetSubtype="8" fill="hold" nodeType="withEffect">
                                  <p:stCondLst>
                                    <p:cond delay="0"/>
                                  </p:stCondLst>
                                  <p:childTnLst>
                                    <p:set>
                                      <p:cBhvr>
                                        <p:cTn id="207" dur="1" fill="hold">
                                          <p:stCondLst>
                                            <p:cond delay="0"/>
                                          </p:stCondLst>
                                        </p:cTn>
                                        <p:tgtEl>
                                          <p:spTgt spid="39063"/>
                                        </p:tgtEl>
                                        <p:attrNameLst>
                                          <p:attrName>style.visibility</p:attrName>
                                        </p:attrNameLst>
                                      </p:cBhvr>
                                      <p:to>
                                        <p:strVal val="visible"/>
                                      </p:to>
                                    </p:set>
                                    <p:animEffect transition="in" filter="wipe(left)">
                                      <p:cBhvr>
                                        <p:cTn id="208" dur="1000"/>
                                        <p:tgtEl>
                                          <p:spTgt spid="39063"/>
                                        </p:tgtEl>
                                      </p:cBhvr>
                                    </p:animEffect>
                                  </p:childTnLst>
                                </p:cTn>
                              </p:par>
                              <p:par>
                                <p:cTn id="209" presetID="22" presetClass="entr" presetSubtype="8" fill="hold" nodeType="withEffect">
                                  <p:stCondLst>
                                    <p:cond delay="0"/>
                                  </p:stCondLst>
                                  <p:childTnLst>
                                    <p:set>
                                      <p:cBhvr>
                                        <p:cTn id="210" dur="1" fill="hold">
                                          <p:stCondLst>
                                            <p:cond delay="0"/>
                                          </p:stCondLst>
                                        </p:cTn>
                                        <p:tgtEl>
                                          <p:spTgt spid="39035"/>
                                        </p:tgtEl>
                                        <p:attrNameLst>
                                          <p:attrName>style.visibility</p:attrName>
                                        </p:attrNameLst>
                                      </p:cBhvr>
                                      <p:to>
                                        <p:strVal val="visible"/>
                                      </p:to>
                                    </p:set>
                                    <p:animEffect transition="in" filter="wipe(left)">
                                      <p:cBhvr>
                                        <p:cTn id="211" dur="1000"/>
                                        <p:tgtEl>
                                          <p:spTgt spid="39035"/>
                                        </p:tgtEl>
                                      </p:cBhvr>
                                    </p:animEffect>
                                  </p:childTnLst>
                                </p:cTn>
                              </p:par>
                              <p:par>
                                <p:cTn id="212" presetID="22" presetClass="entr" presetSubtype="8" fill="hold" nodeType="withEffect">
                                  <p:stCondLst>
                                    <p:cond delay="0"/>
                                  </p:stCondLst>
                                  <p:childTnLst>
                                    <p:set>
                                      <p:cBhvr>
                                        <p:cTn id="213" dur="1" fill="hold">
                                          <p:stCondLst>
                                            <p:cond delay="0"/>
                                          </p:stCondLst>
                                        </p:cTn>
                                        <p:tgtEl>
                                          <p:spTgt spid="39037"/>
                                        </p:tgtEl>
                                        <p:attrNameLst>
                                          <p:attrName>style.visibility</p:attrName>
                                        </p:attrNameLst>
                                      </p:cBhvr>
                                      <p:to>
                                        <p:strVal val="visible"/>
                                      </p:to>
                                    </p:set>
                                    <p:animEffect transition="in" filter="wipe(left)">
                                      <p:cBhvr>
                                        <p:cTn id="214" dur="1000"/>
                                        <p:tgtEl>
                                          <p:spTgt spid="39037"/>
                                        </p:tgtEl>
                                      </p:cBhvr>
                                    </p:animEffect>
                                  </p:childTnLst>
                                </p:cTn>
                              </p:par>
                              <p:par>
                                <p:cTn id="215" presetID="22" presetClass="entr" presetSubtype="8" fill="hold" nodeType="withEffect">
                                  <p:stCondLst>
                                    <p:cond delay="0"/>
                                  </p:stCondLst>
                                  <p:childTnLst>
                                    <p:set>
                                      <p:cBhvr>
                                        <p:cTn id="216" dur="1" fill="hold">
                                          <p:stCondLst>
                                            <p:cond delay="0"/>
                                          </p:stCondLst>
                                        </p:cTn>
                                        <p:tgtEl>
                                          <p:spTgt spid="39019"/>
                                        </p:tgtEl>
                                        <p:attrNameLst>
                                          <p:attrName>style.visibility</p:attrName>
                                        </p:attrNameLst>
                                      </p:cBhvr>
                                      <p:to>
                                        <p:strVal val="visible"/>
                                      </p:to>
                                    </p:set>
                                    <p:animEffect transition="in" filter="wipe(left)">
                                      <p:cBhvr>
                                        <p:cTn id="217" dur="1000"/>
                                        <p:tgtEl>
                                          <p:spTgt spid="39019"/>
                                        </p:tgtEl>
                                      </p:cBhvr>
                                    </p:animEffect>
                                  </p:childTnLst>
                                </p:cTn>
                              </p:par>
                              <p:par>
                                <p:cTn id="218" presetID="22" presetClass="entr" presetSubtype="8" fill="hold" nodeType="withEffect">
                                  <p:stCondLst>
                                    <p:cond delay="0"/>
                                  </p:stCondLst>
                                  <p:childTnLst>
                                    <p:set>
                                      <p:cBhvr>
                                        <p:cTn id="219" dur="1" fill="hold">
                                          <p:stCondLst>
                                            <p:cond delay="0"/>
                                          </p:stCondLst>
                                        </p:cTn>
                                        <p:tgtEl>
                                          <p:spTgt spid="39018"/>
                                        </p:tgtEl>
                                        <p:attrNameLst>
                                          <p:attrName>style.visibility</p:attrName>
                                        </p:attrNameLst>
                                      </p:cBhvr>
                                      <p:to>
                                        <p:strVal val="visible"/>
                                      </p:to>
                                    </p:set>
                                    <p:animEffect transition="in" filter="wipe(left)">
                                      <p:cBhvr>
                                        <p:cTn id="220" dur="1000"/>
                                        <p:tgtEl>
                                          <p:spTgt spid="39018"/>
                                        </p:tgtEl>
                                      </p:cBhvr>
                                    </p:animEffect>
                                  </p:childTnLst>
                                </p:cTn>
                              </p:par>
                              <p:par>
                                <p:cTn id="221" presetID="22" presetClass="entr" presetSubtype="8" fill="hold" nodeType="withEffect">
                                  <p:stCondLst>
                                    <p:cond delay="0"/>
                                  </p:stCondLst>
                                  <p:childTnLst>
                                    <p:set>
                                      <p:cBhvr>
                                        <p:cTn id="222" dur="1" fill="hold">
                                          <p:stCondLst>
                                            <p:cond delay="0"/>
                                          </p:stCondLst>
                                        </p:cTn>
                                        <p:tgtEl>
                                          <p:spTgt spid="39054"/>
                                        </p:tgtEl>
                                        <p:attrNameLst>
                                          <p:attrName>style.visibility</p:attrName>
                                        </p:attrNameLst>
                                      </p:cBhvr>
                                      <p:to>
                                        <p:strVal val="visible"/>
                                      </p:to>
                                    </p:set>
                                    <p:animEffect transition="in" filter="wipe(left)">
                                      <p:cBhvr>
                                        <p:cTn id="223" dur="1000"/>
                                        <p:tgtEl>
                                          <p:spTgt spid="39054"/>
                                        </p:tgtEl>
                                      </p:cBhvr>
                                    </p:animEffect>
                                  </p:childTnLst>
                                </p:cTn>
                              </p:par>
                              <p:par>
                                <p:cTn id="224" presetID="22" presetClass="entr" presetSubtype="8" fill="hold" nodeType="withEffect">
                                  <p:stCondLst>
                                    <p:cond delay="0"/>
                                  </p:stCondLst>
                                  <p:childTnLst>
                                    <p:set>
                                      <p:cBhvr>
                                        <p:cTn id="225" dur="1" fill="hold">
                                          <p:stCondLst>
                                            <p:cond delay="0"/>
                                          </p:stCondLst>
                                        </p:cTn>
                                        <p:tgtEl>
                                          <p:spTgt spid="39015"/>
                                        </p:tgtEl>
                                        <p:attrNameLst>
                                          <p:attrName>style.visibility</p:attrName>
                                        </p:attrNameLst>
                                      </p:cBhvr>
                                      <p:to>
                                        <p:strVal val="visible"/>
                                      </p:to>
                                    </p:set>
                                    <p:animEffect transition="in" filter="wipe(left)">
                                      <p:cBhvr>
                                        <p:cTn id="226" dur="1000"/>
                                        <p:tgtEl>
                                          <p:spTgt spid="39015"/>
                                        </p:tgtEl>
                                      </p:cBhvr>
                                    </p:animEffect>
                                  </p:childTnLst>
                                </p:cTn>
                              </p:par>
                              <p:par>
                                <p:cTn id="227" presetID="22" presetClass="entr" presetSubtype="8" fill="hold" nodeType="withEffect">
                                  <p:stCondLst>
                                    <p:cond delay="0"/>
                                  </p:stCondLst>
                                  <p:childTnLst>
                                    <p:set>
                                      <p:cBhvr>
                                        <p:cTn id="228" dur="1" fill="hold">
                                          <p:stCondLst>
                                            <p:cond delay="0"/>
                                          </p:stCondLst>
                                        </p:cTn>
                                        <p:tgtEl>
                                          <p:spTgt spid="39026"/>
                                        </p:tgtEl>
                                        <p:attrNameLst>
                                          <p:attrName>style.visibility</p:attrName>
                                        </p:attrNameLst>
                                      </p:cBhvr>
                                      <p:to>
                                        <p:strVal val="visible"/>
                                      </p:to>
                                    </p:set>
                                    <p:animEffect transition="in" filter="wipe(left)">
                                      <p:cBhvr>
                                        <p:cTn id="229" dur="1000"/>
                                        <p:tgtEl>
                                          <p:spTgt spid="39026"/>
                                        </p:tgtEl>
                                      </p:cBhvr>
                                    </p:animEffect>
                                  </p:childTnLst>
                                </p:cTn>
                              </p:par>
                              <p:par>
                                <p:cTn id="230" presetID="22" presetClass="entr" presetSubtype="1" fill="hold" nodeType="withEffect">
                                  <p:stCondLst>
                                    <p:cond delay="0"/>
                                  </p:stCondLst>
                                  <p:childTnLst>
                                    <p:set>
                                      <p:cBhvr>
                                        <p:cTn id="231" dur="1" fill="hold">
                                          <p:stCondLst>
                                            <p:cond delay="0"/>
                                          </p:stCondLst>
                                        </p:cTn>
                                        <p:tgtEl>
                                          <p:spTgt spid="39029"/>
                                        </p:tgtEl>
                                        <p:attrNameLst>
                                          <p:attrName>style.visibility</p:attrName>
                                        </p:attrNameLst>
                                      </p:cBhvr>
                                      <p:to>
                                        <p:strVal val="visible"/>
                                      </p:to>
                                    </p:set>
                                    <p:animEffect transition="in" filter="wipe(up)">
                                      <p:cBhvr>
                                        <p:cTn id="232" dur="1000"/>
                                        <p:tgtEl>
                                          <p:spTgt spid="39029"/>
                                        </p:tgtEl>
                                      </p:cBhvr>
                                    </p:animEffect>
                                  </p:childTnLst>
                                </p:cTn>
                              </p:par>
                              <p:par>
                                <p:cTn id="233" presetID="22" presetClass="entr" presetSubtype="1" fill="hold" nodeType="withEffect">
                                  <p:stCondLst>
                                    <p:cond delay="0"/>
                                  </p:stCondLst>
                                  <p:childTnLst>
                                    <p:set>
                                      <p:cBhvr>
                                        <p:cTn id="234" dur="1" fill="hold">
                                          <p:stCondLst>
                                            <p:cond delay="0"/>
                                          </p:stCondLst>
                                        </p:cTn>
                                        <p:tgtEl>
                                          <p:spTgt spid="39031"/>
                                        </p:tgtEl>
                                        <p:attrNameLst>
                                          <p:attrName>style.visibility</p:attrName>
                                        </p:attrNameLst>
                                      </p:cBhvr>
                                      <p:to>
                                        <p:strVal val="visible"/>
                                      </p:to>
                                    </p:set>
                                    <p:animEffect transition="in" filter="wipe(up)">
                                      <p:cBhvr>
                                        <p:cTn id="235" dur="1000"/>
                                        <p:tgtEl>
                                          <p:spTgt spid="39031"/>
                                        </p:tgtEl>
                                      </p:cBhvr>
                                    </p:animEffect>
                                  </p:childTnLst>
                                </p:cTn>
                              </p:par>
                              <p:par>
                                <p:cTn id="236" presetID="22" presetClass="entr" presetSubtype="1" fill="hold" nodeType="withEffect">
                                  <p:stCondLst>
                                    <p:cond delay="0"/>
                                  </p:stCondLst>
                                  <p:childTnLst>
                                    <p:set>
                                      <p:cBhvr>
                                        <p:cTn id="237" dur="1" fill="hold">
                                          <p:stCondLst>
                                            <p:cond delay="0"/>
                                          </p:stCondLst>
                                        </p:cTn>
                                        <p:tgtEl>
                                          <p:spTgt spid="39027"/>
                                        </p:tgtEl>
                                        <p:attrNameLst>
                                          <p:attrName>style.visibility</p:attrName>
                                        </p:attrNameLst>
                                      </p:cBhvr>
                                      <p:to>
                                        <p:strVal val="visible"/>
                                      </p:to>
                                    </p:set>
                                    <p:animEffect transition="in" filter="wipe(up)">
                                      <p:cBhvr>
                                        <p:cTn id="238" dur="1000"/>
                                        <p:tgtEl>
                                          <p:spTgt spid="39027"/>
                                        </p:tgtEl>
                                      </p:cBhvr>
                                    </p:animEffect>
                                  </p:childTnLst>
                                </p:cTn>
                              </p:par>
                              <p:par>
                                <p:cTn id="239" presetID="22" presetClass="entr" presetSubtype="1" fill="hold" nodeType="withEffect">
                                  <p:stCondLst>
                                    <p:cond delay="0"/>
                                  </p:stCondLst>
                                  <p:childTnLst>
                                    <p:set>
                                      <p:cBhvr>
                                        <p:cTn id="240" dur="1" fill="hold">
                                          <p:stCondLst>
                                            <p:cond delay="0"/>
                                          </p:stCondLst>
                                        </p:cTn>
                                        <p:tgtEl>
                                          <p:spTgt spid="39032"/>
                                        </p:tgtEl>
                                        <p:attrNameLst>
                                          <p:attrName>style.visibility</p:attrName>
                                        </p:attrNameLst>
                                      </p:cBhvr>
                                      <p:to>
                                        <p:strVal val="visible"/>
                                      </p:to>
                                    </p:set>
                                    <p:animEffect transition="in" filter="wipe(up)">
                                      <p:cBhvr>
                                        <p:cTn id="241" dur="1000"/>
                                        <p:tgtEl>
                                          <p:spTgt spid="39032"/>
                                        </p:tgtEl>
                                      </p:cBhvr>
                                    </p:animEffect>
                                  </p:childTnLst>
                                </p:cTn>
                              </p:par>
                              <p:par>
                                <p:cTn id="242" presetID="22" presetClass="entr" presetSubtype="1" fill="hold" nodeType="withEffect">
                                  <p:stCondLst>
                                    <p:cond delay="0"/>
                                  </p:stCondLst>
                                  <p:childTnLst>
                                    <p:set>
                                      <p:cBhvr>
                                        <p:cTn id="243" dur="1" fill="hold">
                                          <p:stCondLst>
                                            <p:cond delay="0"/>
                                          </p:stCondLst>
                                        </p:cTn>
                                        <p:tgtEl>
                                          <p:spTgt spid="39030"/>
                                        </p:tgtEl>
                                        <p:attrNameLst>
                                          <p:attrName>style.visibility</p:attrName>
                                        </p:attrNameLst>
                                      </p:cBhvr>
                                      <p:to>
                                        <p:strVal val="visible"/>
                                      </p:to>
                                    </p:set>
                                    <p:animEffect transition="in" filter="wipe(up)">
                                      <p:cBhvr>
                                        <p:cTn id="244" dur="1000"/>
                                        <p:tgtEl>
                                          <p:spTgt spid="39030"/>
                                        </p:tgtEl>
                                      </p:cBhvr>
                                    </p:animEffect>
                                  </p:childTnLst>
                                </p:cTn>
                              </p:par>
                            </p:childTnLst>
                          </p:cTn>
                        </p:par>
                      </p:childTnLst>
                    </p:cTn>
                  </p:par>
                  <p:par>
                    <p:cTn id="245" fill="hold" nodeType="clickPar">
                      <p:stCondLst>
                        <p:cond delay="indefinite"/>
                      </p:stCondLst>
                      <p:childTnLst>
                        <p:par>
                          <p:cTn id="246" fill="hold" nodeType="withGroup">
                            <p:stCondLst>
                              <p:cond delay="0"/>
                            </p:stCondLst>
                            <p:childTnLst>
                              <p:par>
                                <p:cTn id="247" presetID="9" presetClass="entr" presetSubtype="0" fill="hold" nodeType="clickEffect">
                                  <p:stCondLst>
                                    <p:cond delay="0"/>
                                  </p:stCondLst>
                                  <p:childTnLst>
                                    <p:set>
                                      <p:cBhvr>
                                        <p:cTn id="248" dur="1" fill="hold">
                                          <p:stCondLst>
                                            <p:cond delay="0"/>
                                          </p:stCondLst>
                                        </p:cTn>
                                        <p:tgtEl>
                                          <p:spTgt spid="39048"/>
                                        </p:tgtEl>
                                        <p:attrNameLst>
                                          <p:attrName>style.visibility</p:attrName>
                                        </p:attrNameLst>
                                      </p:cBhvr>
                                      <p:to>
                                        <p:strVal val="visible"/>
                                      </p:to>
                                    </p:set>
                                    <p:animEffect transition="in" filter="dissolve">
                                      <p:cBhvr>
                                        <p:cTn id="249" dur="500"/>
                                        <p:tgtEl>
                                          <p:spTgt spid="39048"/>
                                        </p:tgtEl>
                                      </p:cBhvr>
                                    </p:animEffect>
                                  </p:childTnLst>
                                </p:cTn>
                              </p:par>
                              <p:par>
                                <p:cTn id="250" presetID="9" presetClass="entr" presetSubtype="0" fill="hold" nodeType="withEffect">
                                  <p:stCondLst>
                                    <p:cond delay="0"/>
                                  </p:stCondLst>
                                  <p:childTnLst>
                                    <p:set>
                                      <p:cBhvr>
                                        <p:cTn id="251" dur="1" fill="hold">
                                          <p:stCondLst>
                                            <p:cond delay="0"/>
                                          </p:stCondLst>
                                        </p:cTn>
                                        <p:tgtEl>
                                          <p:spTgt spid="39047"/>
                                        </p:tgtEl>
                                        <p:attrNameLst>
                                          <p:attrName>style.visibility</p:attrName>
                                        </p:attrNameLst>
                                      </p:cBhvr>
                                      <p:to>
                                        <p:strVal val="visible"/>
                                      </p:to>
                                    </p:set>
                                    <p:animEffect transition="in" filter="dissolve">
                                      <p:cBhvr>
                                        <p:cTn id="252" dur="500"/>
                                        <p:tgtEl>
                                          <p:spTgt spid="39047"/>
                                        </p:tgtEl>
                                      </p:cBhvr>
                                    </p:animEffec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4" presetClass="entr" presetSubtype="32" fill="hold" nodeType="clickEffect">
                                  <p:stCondLst>
                                    <p:cond delay="0"/>
                                  </p:stCondLst>
                                  <p:childTnLst>
                                    <p:set>
                                      <p:cBhvr>
                                        <p:cTn id="256" dur="1" fill="hold">
                                          <p:stCondLst>
                                            <p:cond delay="0"/>
                                          </p:stCondLst>
                                        </p:cTn>
                                        <p:tgtEl>
                                          <p:spTgt spid="39082"/>
                                        </p:tgtEl>
                                        <p:attrNameLst>
                                          <p:attrName>style.visibility</p:attrName>
                                        </p:attrNameLst>
                                      </p:cBhvr>
                                      <p:to>
                                        <p:strVal val="visible"/>
                                      </p:to>
                                    </p:set>
                                    <p:animEffect transition="in" filter="box(out)">
                                      <p:cBhvr>
                                        <p:cTn id="257" dur="500"/>
                                        <p:tgtEl>
                                          <p:spTgt spid="39082"/>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9" presetClass="entr" presetSubtype="0" fill="hold" grpId="0" nodeType="clickEffect">
                                  <p:stCondLst>
                                    <p:cond delay="0"/>
                                  </p:stCondLst>
                                  <p:childTnLst>
                                    <p:set>
                                      <p:cBhvr>
                                        <p:cTn id="261" dur="1" fill="hold">
                                          <p:stCondLst>
                                            <p:cond delay="0"/>
                                          </p:stCondLst>
                                        </p:cTn>
                                        <p:tgtEl>
                                          <p:spTgt spid="39023"/>
                                        </p:tgtEl>
                                        <p:attrNameLst>
                                          <p:attrName>style.visibility</p:attrName>
                                        </p:attrNameLst>
                                      </p:cBhvr>
                                      <p:to>
                                        <p:strVal val="visible"/>
                                      </p:to>
                                    </p:set>
                                    <p:animEffect transition="in" filter="dissolve">
                                      <p:cBhvr>
                                        <p:cTn id="262" dur="500"/>
                                        <p:tgtEl>
                                          <p:spTgt spid="39023"/>
                                        </p:tgtEl>
                                      </p:cBhvr>
                                    </p:animEffect>
                                  </p:childTnLst>
                                </p:cTn>
                              </p:par>
                            </p:childTnLst>
                          </p:cTn>
                        </p:par>
                      </p:childTnLst>
                    </p:cTn>
                  </p:par>
                  <p:par>
                    <p:cTn id="263" fill="hold" nodeType="clickPar">
                      <p:stCondLst>
                        <p:cond delay="indefinite"/>
                      </p:stCondLst>
                      <p:childTnLst>
                        <p:par>
                          <p:cTn id="264" fill="hold" nodeType="withGroup">
                            <p:stCondLst>
                              <p:cond delay="0"/>
                            </p:stCondLst>
                            <p:childTnLst>
                              <p:par>
                                <p:cTn id="265" presetID="53" presetClass="entr" presetSubtype="0" fill="hold" grpId="0" nodeType="clickEffect">
                                  <p:stCondLst>
                                    <p:cond delay="0"/>
                                  </p:stCondLst>
                                  <p:childTnLst>
                                    <p:set>
                                      <p:cBhvr>
                                        <p:cTn id="266" dur="1" fill="hold">
                                          <p:stCondLst>
                                            <p:cond delay="0"/>
                                          </p:stCondLst>
                                        </p:cTn>
                                        <p:tgtEl>
                                          <p:spTgt spid="39067"/>
                                        </p:tgtEl>
                                        <p:attrNameLst>
                                          <p:attrName>style.visibility</p:attrName>
                                        </p:attrNameLst>
                                      </p:cBhvr>
                                      <p:to>
                                        <p:strVal val="visible"/>
                                      </p:to>
                                    </p:set>
                                    <p:anim calcmode="lin" valueType="num">
                                      <p:cBhvr>
                                        <p:cTn id="267" dur="500" fill="hold"/>
                                        <p:tgtEl>
                                          <p:spTgt spid="39067"/>
                                        </p:tgtEl>
                                        <p:attrNameLst>
                                          <p:attrName>ppt_w</p:attrName>
                                        </p:attrNameLst>
                                      </p:cBhvr>
                                      <p:tavLst>
                                        <p:tav tm="0">
                                          <p:val>
                                            <p:fltVal val="0"/>
                                          </p:val>
                                        </p:tav>
                                        <p:tav tm="100000">
                                          <p:val>
                                            <p:strVal val="#ppt_w"/>
                                          </p:val>
                                        </p:tav>
                                      </p:tavLst>
                                    </p:anim>
                                    <p:anim calcmode="lin" valueType="num">
                                      <p:cBhvr>
                                        <p:cTn id="268" dur="500" fill="hold"/>
                                        <p:tgtEl>
                                          <p:spTgt spid="39067"/>
                                        </p:tgtEl>
                                        <p:attrNameLst>
                                          <p:attrName>ppt_h</p:attrName>
                                        </p:attrNameLst>
                                      </p:cBhvr>
                                      <p:tavLst>
                                        <p:tav tm="0">
                                          <p:val>
                                            <p:fltVal val="0"/>
                                          </p:val>
                                        </p:tav>
                                        <p:tav tm="100000">
                                          <p:val>
                                            <p:strVal val="#ppt_h"/>
                                          </p:val>
                                        </p:tav>
                                      </p:tavLst>
                                    </p:anim>
                                    <p:animEffect transition="in" filter="fade">
                                      <p:cBhvr>
                                        <p:cTn id="269" dur="500"/>
                                        <p:tgtEl>
                                          <p:spTgt spid="39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9007" grpId="0"/>
      <p:bldP spid="39008" grpId="0"/>
      <p:bldP spid="38947" grpId="0" animBg="1"/>
      <p:bldP spid="38948" grpId="0" animBg="1"/>
      <p:bldP spid="39023" grpId="0" animBg="1"/>
      <p:bldP spid="39052" grpId="0"/>
      <p:bldP spid="39053" grpId="0"/>
      <p:bldP spid="39033" grpId="0" animBg="1"/>
      <p:bldP spid="39055" grpId="0" animBg="1"/>
      <p:bldP spid="39057" grpId="0"/>
      <p:bldP spid="39046" grpId="0" animBg="1"/>
      <p:bldP spid="39066" grpId="0"/>
      <p:bldP spid="3906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84" name="Text Box 48"/>
          <p:cNvSpPr txBox="1">
            <a:spLocks noChangeArrowheads="1"/>
          </p:cNvSpPr>
          <p:nvPr/>
        </p:nvSpPr>
        <p:spPr bwMode="auto">
          <a:xfrm>
            <a:off x="1524000" y="76201"/>
            <a:ext cx="617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000" b="1">
                <a:solidFill>
                  <a:srgbClr val="66FFFF"/>
                </a:solidFill>
              </a:rPr>
              <a:t>4.  Electric Lines of Force due to a  Uniform Field:</a:t>
            </a:r>
          </a:p>
        </p:txBody>
      </p:sp>
      <p:grpSp>
        <p:nvGrpSpPr>
          <p:cNvPr id="40051" name="Group 115"/>
          <p:cNvGrpSpPr>
            <a:grpSpLocks/>
          </p:cNvGrpSpPr>
          <p:nvPr/>
        </p:nvGrpSpPr>
        <p:grpSpPr bwMode="auto">
          <a:xfrm>
            <a:off x="7848600" y="409576"/>
            <a:ext cx="381000" cy="1190625"/>
            <a:chOff x="3984" y="258"/>
            <a:chExt cx="240" cy="750"/>
          </a:xfrm>
        </p:grpSpPr>
        <p:sp>
          <p:nvSpPr>
            <p:cNvPr id="19505" name="Line 51"/>
            <p:cNvSpPr>
              <a:spLocks noChangeShapeType="1"/>
            </p:cNvSpPr>
            <p:nvPr/>
          </p:nvSpPr>
          <p:spPr bwMode="auto">
            <a:xfrm>
              <a:off x="4032" y="258"/>
              <a:ext cx="0" cy="720"/>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9506" name="Text Box 52"/>
            <p:cNvSpPr txBox="1">
              <a:spLocks noChangeArrowheads="1"/>
            </p:cNvSpPr>
            <p:nvPr/>
          </p:nvSpPr>
          <p:spPr bwMode="auto">
            <a:xfrm>
              <a:off x="3984" y="258"/>
              <a:ext cx="240" cy="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0000"/>
                  </a:solidFill>
                </a:rPr>
                <a:t>++++</a:t>
              </a:r>
            </a:p>
          </p:txBody>
        </p:sp>
      </p:grpSp>
      <p:grpSp>
        <p:nvGrpSpPr>
          <p:cNvPr id="40052" name="Group 116"/>
          <p:cNvGrpSpPr>
            <a:grpSpLocks/>
          </p:cNvGrpSpPr>
          <p:nvPr/>
        </p:nvGrpSpPr>
        <p:grpSpPr bwMode="auto">
          <a:xfrm>
            <a:off x="9982200" y="381001"/>
            <a:ext cx="381000" cy="1190625"/>
            <a:chOff x="5328" y="240"/>
            <a:chExt cx="240" cy="750"/>
          </a:xfrm>
        </p:grpSpPr>
        <p:sp>
          <p:nvSpPr>
            <p:cNvPr id="19503" name="Line 54"/>
            <p:cNvSpPr>
              <a:spLocks noChangeShapeType="1"/>
            </p:cNvSpPr>
            <p:nvPr/>
          </p:nvSpPr>
          <p:spPr bwMode="auto">
            <a:xfrm>
              <a:off x="5472" y="258"/>
              <a:ext cx="0" cy="720"/>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9504" name="Text Box 55"/>
            <p:cNvSpPr txBox="1">
              <a:spLocks noChangeArrowheads="1"/>
            </p:cNvSpPr>
            <p:nvPr/>
          </p:nvSpPr>
          <p:spPr bwMode="auto">
            <a:xfrm>
              <a:off x="5328" y="240"/>
              <a:ext cx="240" cy="7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 - - -</a:t>
              </a:r>
            </a:p>
          </p:txBody>
        </p:sp>
      </p:grpSp>
      <p:grpSp>
        <p:nvGrpSpPr>
          <p:cNvPr id="40053" name="Group 117"/>
          <p:cNvGrpSpPr>
            <a:grpSpLocks/>
          </p:cNvGrpSpPr>
          <p:nvPr/>
        </p:nvGrpSpPr>
        <p:grpSpPr bwMode="auto">
          <a:xfrm>
            <a:off x="8153400" y="533400"/>
            <a:ext cx="1905000" cy="914400"/>
            <a:chOff x="4176" y="336"/>
            <a:chExt cx="1200" cy="576"/>
          </a:xfrm>
        </p:grpSpPr>
        <p:sp>
          <p:nvSpPr>
            <p:cNvPr id="19499" name="Line 75"/>
            <p:cNvSpPr>
              <a:spLocks noChangeShapeType="1"/>
            </p:cNvSpPr>
            <p:nvPr/>
          </p:nvSpPr>
          <p:spPr bwMode="auto">
            <a:xfrm>
              <a:off x="4176" y="336"/>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9500" name="Line 76"/>
            <p:cNvSpPr>
              <a:spLocks noChangeShapeType="1"/>
            </p:cNvSpPr>
            <p:nvPr/>
          </p:nvSpPr>
          <p:spPr bwMode="auto">
            <a:xfrm>
              <a:off x="4176" y="528"/>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9501" name="Line 77"/>
            <p:cNvSpPr>
              <a:spLocks noChangeShapeType="1"/>
            </p:cNvSpPr>
            <p:nvPr/>
          </p:nvSpPr>
          <p:spPr bwMode="auto">
            <a:xfrm>
              <a:off x="4176" y="720"/>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9502" name="Line 78"/>
            <p:cNvSpPr>
              <a:spLocks noChangeShapeType="1"/>
            </p:cNvSpPr>
            <p:nvPr/>
          </p:nvSpPr>
          <p:spPr bwMode="auto">
            <a:xfrm>
              <a:off x="4176" y="912"/>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40015" name="Group 79"/>
          <p:cNvGrpSpPr>
            <a:grpSpLocks/>
          </p:cNvGrpSpPr>
          <p:nvPr/>
        </p:nvGrpSpPr>
        <p:grpSpPr bwMode="auto">
          <a:xfrm>
            <a:off x="8839200" y="152401"/>
            <a:ext cx="609600" cy="366713"/>
            <a:chOff x="2448" y="1968"/>
            <a:chExt cx="384" cy="231"/>
          </a:xfrm>
        </p:grpSpPr>
        <p:sp>
          <p:nvSpPr>
            <p:cNvPr id="19497" name="Text Box 80"/>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99FF"/>
                  </a:solidFill>
                </a:rPr>
                <a:t>E</a:t>
              </a:r>
              <a:endParaRPr lang="en-US" altLang="en-US" sz="1800" b="1" baseline="-25000">
                <a:solidFill>
                  <a:srgbClr val="CC99FF"/>
                </a:solidFill>
              </a:endParaRPr>
            </a:p>
          </p:txBody>
        </p:sp>
        <p:sp>
          <p:nvSpPr>
            <p:cNvPr id="19498" name="Line 81"/>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40018" name="Text Box 82"/>
          <p:cNvSpPr txBox="1">
            <a:spLocks noChangeArrowheads="1"/>
          </p:cNvSpPr>
          <p:nvPr/>
        </p:nvSpPr>
        <p:spPr bwMode="auto">
          <a:xfrm>
            <a:off x="1600200" y="838201"/>
            <a:ext cx="5105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000" b="1">
                <a:solidFill>
                  <a:srgbClr val="FFCC99"/>
                </a:solidFill>
              </a:rPr>
              <a:t>     </a:t>
            </a:r>
            <a:r>
              <a:rPr lang="en-US" altLang="en-US" sz="2000" b="1" u="sng">
                <a:solidFill>
                  <a:srgbClr val="FFFF66"/>
                </a:solidFill>
              </a:rPr>
              <a:t>Properties of Electric Lines of Force or Field Lines:</a:t>
            </a:r>
          </a:p>
        </p:txBody>
      </p:sp>
      <p:sp>
        <p:nvSpPr>
          <p:cNvPr id="40020" name="Freeform 84"/>
          <p:cNvSpPr>
            <a:spLocks/>
          </p:cNvSpPr>
          <p:nvPr/>
        </p:nvSpPr>
        <p:spPr bwMode="auto">
          <a:xfrm rot="2682578" flipH="1" flipV="1">
            <a:off x="8763000" y="4648200"/>
            <a:ext cx="304800" cy="1828800"/>
          </a:xfrm>
          <a:custGeom>
            <a:avLst/>
            <a:gdLst>
              <a:gd name="T0" fmla="*/ 0 w 288"/>
              <a:gd name="T1" fmla="*/ 0 h 1056"/>
              <a:gd name="T2" fmla="*/ 2147483646 w 288"/>
              <a:gd name="T3" fmla="*/ 2147483646 h 1056"/>
              <a:gd name="T4" fmla="*/ 0 w 288"/>
              <a:gd name="T5" fmla="*/ 214748364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ap="flat" cmpd="sng">
            <a:solidFill>
              <a:srgbClr val="FFFF00"/>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0023" name="Freeform 87"/>
          <p:cNvSpPr>
            <a:spLocks/>
          </p:cNvSpPr>
          <p:nvPr/>
        </p:nvSpPr>
        <p:spPr bwMode="auto">
          <a:xfrm rot="5400000" flipH="1">
            <a:off x="8572500" y="4762500"/>
            <a:ext cx="381000" cy="1828800"/>
          </a:xfrm>
          <a:custGeom>
            <a:avLst/>
            <a:gdLst>
              <a:gd name="T0" fmla="*/ 0 w 288"/>
              <a:gd name="T1" fmla="*/ 0 h 1056"/>
              <a:gd name="T2" fmla="*/ 2147483646 w 288"/>
              <a:gd name="T3" fmla="*/ 2147483646 h 1056"/>
              <a:gd name="T4" fmla="*/ 0 w 288"/>
              <a:gd name="T5" fmla="*/ 214748364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ap="flat" cmpd="sng">
            <a:solidFill>
              <a:srgbClr val="FFFF00"/>
            </a:solidFill>
            <a:prstDash val="dash"/>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0027" name="Rectangle 91"/>
          <p:cNvSpPr>
            <a:spLocks noChangeArrowheads="1"/>
          </p:cNvSpPr>
          <p:nvPr/>
        </p:nvSpPr>
        <p:spPr bwMode="auto">
          <a:xfrm>
            <a:off x="7696200" y="4648200"/>
            <a:ext cx="2743200" cy="1828800"/>
          </a:xfrm>
          <a:prstGeom prst="rect">
            <a:avLst/>
          </a:prstGeom>
          <a:noFill/>
          <a:ln w="19050">
            <a:solidFill>
              <a:srgbClr val="99FF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40030" name="Text Box 94"/>
          <p:cNvSpPr txBox="1">
            <a:spLocks noChangeArrowheads="1"/>
          </p:cNvSpPr>
          <p:nvPr/>
        </p:nvSpPr>
        <p:spPr bwMode="auto">
          <a:xfrm>
            <a:off x="1600200" y="1524001"/>
            <a:ext cx="87630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a:pPr>
            <a:r>
              <a:rPr lang="en-US" altLang="en-US" sz="1800" b="1">
                <a:solidFill>
                  <a:srgbClr val="FF99FF"/>
                </a:solidFill>
              </a:rPr>
              <a:t>The electric lines of force are imaginary lines.</a:t>
            </a:r>
          </a:p>
          <a:p>
            <a:pPr fontAlgn="base">
              <a:spcBef>
                <a:spcPct val="50000"/>
              </a:spcBef>
              <a:spcAft>
                <a:spcPct val="0"/>
              </a:spcAft>
              <a:buFontTx/>
              <a:buAutoNum type="arabicPeriod"/>
            </a:pPr>
            <a:r>
              <a:rPr lang="en-US" altLang="en-US" sz="1800" b="1">
                <a:solidFill>
                  <a:srgbClr val="FF9900"/>
                </a:solidFill>
              </a:rPr>
              <a:t>A unit positive charge placed in the electric field tends to follow a path along the field line if it is free to do so.</a:t>
            </a:r>
          </a:p>
          <a:p>
            <a:pPr fontAlgn="base">
              <a:spcBef>
                <a:spcPct val="50000"/>
              </a:spcBef>
              <a:spcAft>
                <a:spcPct val="0"/>
              </a:spcAft>
              <a:buFontTx/>
              <a:buAutoNum type="arabicPeriod"/>
            </a:pPr>
            <a:r>
              <a:rPr lang="en-US" altLang="en-US" sz="1800" b="1">
                <a:solidFill>
                  <a:srgbClr val="CCFF99"/>
                </a:solidFill>
              </a:rPr>
              <a:t>The electric lines of force emanate from a positive charge and terminate on a negative charge.</a:t>
            </a:r>
          </a:p>
          <a:p>
            <a:pPr fontAlgn="base">
              <a:spcBef>
                <a:spcPct val="50000"/>
              </a:spcBef>
              <a:spcAft>
                <a:spcPct val="0"/>
              </a:spcAft>
              <a:buFontTx/>
              <a:buAutoNum type="arabicPeriod"/>
            </a:pPr>
            <a:r>
              <a:rPr lang="en-US" altLang="en-US" sz="1800" b="1">
                <a:solidFill>
                  <a:srgbClr val="00CCFF"/>
                </a:solidFill>
              </a:rPr>
              <a:t>The tangent to an electric field line at any point                                                 gives the direction of the electric field at that point.</a:t>
            </a:r>
          </a:p>
        </p:txBody>
      </p:sp>
      <p:sp>
        <p:nvSpPr>
          <p:cNvPr id="40031" name="Rectangle 95"/>
          <p:cNvSpPr>
            <a:spLocks noChangeArrowheads="1"/>
          </p:cNvSpPr>
          <p:nvPr/>
        </p:nvSpPr>
        <p:spPr bwMode="auto">
          <a:xfrm>
            <a:off x="1600200" y="3927476"/>
            <a:ext cx="5715000" cy="270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startAt="5"/>
            </a:pPr>
            <a:r>
              <a:rPr lang="en-US" altLang="en-US" sz="1800" b="1">
                <a:solidFill>
                  <a:srgbClr val="FFCCCC"/>
                </a:solidFill>
              </a:rPr>
              <a:t>Two electric lines of force can never cross each other.  If they do,  then at the point of intersection, there will be two tangents.  It means there are two values of the electric field at that point, which is not possible.</a:t>
            </a:r>
            <a:r>
              <a:rPr lang="en-US" altLang="en-US" sz="1800">
                <a:solidFill>
                  <a:srgbClr val="FFCCCC"/>
                </a:solidFill>
              </a:rPr>
              <a:t> </a:t>
            </a:r>
          </a:p>
          <a:p>
            <a:pPr fontAlgn="base">
              <a:spcBef>
                <a:spcPct val="50000"/>
              </a:spcBef>
              <a:spcAft>
                <a:spcPct val="0"/>
              </a:spcAft>
              <a:buNone/>
            </a:pPr>
            <a:r>
              <a:rPr lang="en-US" altLang="en-US" sz="1800" b="1">
                <a:solidFill>
                  <a:srgbClr val="000000"/>
                </a:solidFill>
              </a:rPr>
              <a:t>      </a:t>
            </a:r>
            <a:r>
              <a:rPr lang="en-US" altLang="en-US" sz="1800" b="1">
                <a:solidFill>
                  <a:srgbClr val="9999FF"/>
                </a:solidFill>
              </a:rPr>
              <a:t>Further, electric field being a vector quantity, there can be only one resultant field at the given point, represented by one tangent at the given point for the given line of force.</a:t>
            </a:r>
          </a:p>
        </p:txBody>
      </p:sp>
      <p:grpSp>
        <p:nvGrpSpPr>
          <p:cNvPr id="40058" name="Group 122"/>
          <p:cNvGrpSpPr>
            <a:grpSpLocks/>
          </p:cNvGrpSpPr>
          <p:nvPr/>
        </p:nvGrpSpPr>
        <p:grpSpPr bwMode="auto">
          <a:xfrm>
            <a:off x="8610600" y="4738688"/>
            <a:ext cx="685800" cy="747712"/>
            <a:chOff x="4464" y="2985"/>
            <a:chExt cx="432" cy="471"/>
          </a:xfrm>
        </p:grpSpPr>
        <p:sp>
          <p:nvSpPr>
            <p:cNvPr id="19493" name="Line 88"/>
            <p:cNvSpPr>
              <a:spLocks noChangeShapeType="1"/>
            </p:cNvSpPr>
            <p:nvPr/>
          </p:nvSpPr>
          <p:spPr bwMode="auto">
            <a:xfrm flipV="1">
              <a:off x="4560" y="3024"/>
              <a:ext cx="336" cy="432"/>
            </a:xfrm>
            <a:prstGeom prst="line">
              <a:avLst/>
            </a:prstGeom>
            <a:noFill/>
            <a:ln w="28575">
              <a:solidFill>
                <a:srgbClr val="CCCC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9494" name="Group 96"/>
            <p:cNvGrpSpPr>
              <a:grpSpLocks/>
            </p:cNvGrpSpPr>
            <p:nvPr/>
          </p:nvGrpSpPr>
          <p:grpSpPr bwMode="auto">
            <a:xfrm>
              <a:off x="4464" y="2985"/>
              <a:ext cx="336" cy="231"/>
              <a:chOff x="5040" y="576"/>
              <a:chExt cx="336" cy="231"/>
            </a:xfrm>
          </p:grpSpPr>
          <p:sp>
            <p:nvSpPr>
              <p:cNvPr id="19495" name="Text Box 97"/>
              <p:cNvSpPr txBox="1">
                <a:spLocks noChangeArrowheads="1"/>
              </p:cNvSpPr>
              <p:nvPr/>
            </p:nvSpPr>
            <p:spPr bwMode="auto">
              <a:xfrm>
                <a:off x="5040" y="57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r>
                  <a:rPr lang="en-US" altLang="en-US" sz="1800" b="1" baseline="-25000">
                    <a:solidFill>
                      <a:srgbClr val="FF99FF"/>
                    </a:solidFill>
                  </a:rPr>
                  <a:t>1  </a:t>
                </a:r>
              </a:p>
            </p:txBody>
          </p:sp>
          <p:sp>
            <p:nvSpPr>
              <p:cNvPr id="19496" name="Line 98"/>
              <p:cNvSpPr>
                <a:spLocks noChangeShapeType="1"/>
              </p:cNvSpPr>
              <p:nvPr/>
            </p:nvSpPr>
            <p:spPr bwMode="auto">
              <a:xfrm>
                <a:off x="5088" y="57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40059" name="Group 123"/>
          <p:cNvGrpSpPr>
            <a:grpSpLocks/>
          </p:cNvGrpSpPr>
          <p:nvPr/>
        </p:nvGrpSpPr>
        <p:grpSpPr bwMode="auto">
          <a:xfrm>
            <a:off x="8763000" y="5486400"/>
            <a:ext cx="1447800" cy="457200"/>
            <a:chOff x="4560" y="3456"/>
            <a:chExt cx="912" cy="288"/>
          </a:xfrm>
        </p:grpSpPr>
        <p:sp>
          <p:nvSpPr>
            <p:cNvPr id="19489" name="Line 89"/>
            <p:cNvSpPr>
              <a:spLocks noChangeShapeType="1"/>
            </p:cNvSpPr>
            <p:nvPr/>
          </p:nvSpPr>
          <p:spPr bwMode="auto">
            <a:xfrm>
              <a:off x="4560" y="3456"/>
              <a:ext cx="672" cy="0"/>
            </a:xfrm>
            <a:prstGeom prst="line">
              <a:avLst/>
            </a:prstGeom>
            <a:noFill/>
            <a:ln w="28575">
              <a:solidFill>
                <a:srgbClr val="CCCC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9490" name="Group 99"/>
            <p:cNvGrpSpPr>
              <a:grpSpLocks/>
            </p:cNvGrpSpPr>
            <p:nvPr/>
          </p:nvGrpSpPr>
          <p:grpSpPr bwMode="auto">
            <a:xfrm>
              <a:off x="5136" y="3513"/>
              <a:ext cx="336" cy="231"/>
              <a:chOff x="5040" y="576"/>
              <a:chExt cx="336" cy="231"/>
            </a:xfrm>
          </p:grpSpPr>
          <p:sp>
            <p:nvSpPr>
              <p:cNvPr id="19491" name="Text Box 100"/>
              <p:cNvSpPr txBox="1">
                <a:spLocks noChangeArrowheads="1"/>
              </p:cNvSpPr>
              <p:nvPr/>
            </p:nvSpPr>
            <p:spPr bwMode="auto">
              <a:xfrm>
                <a:off x="5040" y="57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r>
                  <a:rPr lang="en-US" altLang="en-US" sz="1800" b="1" baseline="-25000">
                    <a:solidFill>
                      <a:srgbClr val="FF99FF"/>
                    </a:solidFill>
                  </a:rPr>
                  <a:t>2  </a:t>
                </a:r>
              </a:p>
            </p:txBody>
          </p:sp>
          <p:sp>
            <p:nvSpPr>
              <p:cNvPr id="19492" name="Line 101"/>
              <p:cNvSpPr>
                <a:spLocks noChangeShapeType="1"/>
              </p:cNvSpPr>
              <p:nvPr/>
            </p:nvSpPr>
            <p:spPr bwMode="auto">
              <a:xfrm>
                <a:off x="5088" y="57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40060" name="Group 124"/>
          <p:cNvGrpSpPr>
            <a:grpSpLocks/>
          </p:cNvGrpSpPr>
          <p:nvPr/>
        </p:nvGrpSpPr>
        <p:grpSpPr bwMode="auto">
          <a:xfrm>
            <a:off x="8763000" y="4953000"/>
            <a:ext cx="1752600" cy="533400"/>
            <a:chOff x="4560" y="3120"/>
            <a:chExt cx="1104" cy="336"/>
          </a:xfrm>
        </p:grpSpPr>
        <p:sp>
          <p:nvSpPr>
            <p:cNvPr id="19485" name="Line 90"/>
            <p:cNvSpPr>
              <a:spLocks noChangeShapeType="1"/>
            </p:cNvSpPr>
            <p:nvPr/>
          </p:nvSpPr>
          <p:spPr bwMode="auto">
            <a:xfrm flipV="1">
              <a:off x="4560" y="3120"/>
              <a:ext cx="912" cy="336"/>
            </a:xfrm>
            <a:prstGeom prst="line">
              <a:avLst/>
            </a:prstGeom>
            <a:noFill/>
            <a:ln w="28575">
              <a:solidFill>
                <a:srgbClr val="99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9486" name="Group 102"/>
            <p:cNvGrpSpPr>
              <a:grpSpLocks/>
            </p:cNvGrpSpPr>
            <p:nvPr/>
          </p:nvGrpSpPr>
          <p:grpSpPr bwMode="auto">
            <a:xfrm>
              <a:off x="5328" y="3216"/>
              <a:ext cx="336" cy="231"/>
              <a:chOff x="5040" y="576"/>
              <a:chExt cx="336" cy="231"/>
            </a:xfrm>
          </p:grpSpPr>
          <p:sp>
            <p:nvSpPr>
              <p:cNvPr id="19487" name="Text Box 103"/>
              <p:cNvSpPr txBox="1">
                <a:spLocks noChangeArrowheads="1"/>
              </p:cNvSpPr>
              <p:nvPr/>
            </p:nvSpPr>
            <p:spPr bwMode="auto">
              <a:xfrm>
                <a:off x="5040" y="57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endParaRPr lang="en-US" altLang="en-US" sz="1800" b="1" baseline="-25000">
                  <a:solidFill>
                    <a:srgbClr val="FF99FF"/>
                  </a:solidFill>
                </a:endParaRPr>
              </a:p>
            </p:txBody>
          </p:sp>
          <p:sp>
            <p:nvSpPr>
              <p:cNvPr id="19488" name="Line 104"/>
              <p:cNvSpPr>
                <a:spLocks noChangeShapeType="1"/>
              </p:cNvSpPr>
              <p:nvPr/>
            </p:nvSpPr>
            <p:spPr bwMode="auto">
              <a:xfrm>
                <a:off x="5088" y="57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40054" name="Group 118"/>
          <p:cNvGrpSpPr>
            <a:grpSpLocks/>
          </p:cNvGrpSpPr>
          <p:nvPr/>
        </p:nvGrpSpPr>
        <p:grpSpPr bwMode="auto">
          <a:xfrm>
            <a:off x="8077200" y="1095376"/>
            <a:ext cx="685800" cy="384175"/>
            <a:chOff x="4128" y="690"/>
            <a:chExt cx="432" cy="242"/>
          </a:xfrm>
        </p:grpSpPr>
        <p:sp>
          <p:nvSpPr>
            <p:cNvPr id="19483" name="Oval 105"/>
            <p:cNvSpPr>
              <a:spLocks noChangeArrowheads="1"/>
            </p:cNvSpPr>
            <p:nvPr/>
          </p:nvSpPr>
          <p:spPr bwMode="auto">
            <a:xfrm>
              <a:off x="4224" y="690"/>
              <a:ext cx="48" cy="48"/>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19484" name="Text Box 106"/>
            <p:cNvSpPr txBox="1">
              <a:spLocks noChangeArrowheads="1"/>
            </p:cNvSpPr>
            <p:nvPr/>
          </p:nvSpPr>
          <p:spPr bwMode="auto">
            <a:xfrm>
              <a:off x="4128" y="720"/>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600" b="1">
                  <a:solidFill>
                    <a:srgbClr val="FFFF00"/>
                  </a:solidFill>
                </a:rPr>
                <a:t>+1 C</a:t>
              </a:r>
            </a:p>
          </p:txBody>
        </p:sp>
      </p:grpSp>
      <p:sp>
        <p:nvSpPr>
          <p:cNvPr id="40044" name="Freeform 108"/>
          <p:cNvSpPr>
            <a:spLocks/>
          </p:cNvSpPr>
          <p:nvPr/>
        </p:nvSpPr>
        <p:spPr bwMode="auto">
          <a:xfrm rot="5400000" flipH="1">
            <a:off x="8801100" y="2705100"/>
            <a:ext cx="381000" cy="1828800"/>
          </a:xfrm>
          <a:custGeom>
            <a:avLst/>
            <a:gdLst>
              <a:gd name="T0" fmla="*/ 0 w 288"/>
              <a:gd name="T1" fmla="*/ 0 h 1056"/>
              <a:gd name="T2" fmla="*/ 2147483646 w 288"/>
              <a:gd name="T3" fmla="*/ 2147483646 h 1056"/>
              <a:gd name="T4" fmla="*/ 0 w 288"/>
              <a:gd name="T5" fmla="*/ 2147483646 h 1056"/>
              <a:gd name="T6" fmla="*/ 0 60000 65536"/>
              <a:gd name="T7" fmla="*/ 0 60000 65536"/>
              <a:gd name="T8" fmla="*/ 0 60000 65536"/>
            </a:gdLst>
            <a:ahLst/>
            <a:cxnLst>
              <a:cxn ang="T6">
                <a:pos x="T0" y="T1"/>
              </a:cxn>
              <a:cxn ang="T7">
                <a:pos x="T2" y="T3"/>
              </a:cxn>
              <a:cxn ang="T8">
                <a:pos x="T4" y="T5"/>
              </a:cxn>
            </a:cxnLst>
            <a:rect l="0" t="0" r="r" b="b"/>
            <a:pathLst>
              <a:path w="288" h="1056">
                <a:moveTo>
                  <a:pt x="0" y="0"/>
                </a:moveTo>
                <a:cubicBezTo>
                  <a:pt x="144" y="176"/>
                  <a:pt x="288" y="352"/>
                  <a:pt x="288" y="528"/>
                </a:cubicBezTo>
                <a:cubicBezTo>
                  <a:pt x="288" y="704"/>
                  <a:pt x="144" y="880"/>
                  <a:pt x="0" y="1056"/>
                </a:cubicBezTo>
              </a:path>
            </a:pathLst>
          </a:custGeom>
          <a:noFill/>
          <a:ln w="28575" cap="flat" cmpd="sng">
            <a:solidFill>
              <a:srgbClr val="FFFF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40057" name="Group 121"/>
          <p:cNvGrpSpPr>
            <a:grpSpLocks/>
          </p:cNvGrpSpPr>
          <p:nvPr/>
        </p:nvGrpSpPr>
        <p:grpSpPr bwMode="auto">
          <a:xfrm>
            <a:off x="8915400" y="3290888"/>
            <a:ext cx="1600200" cy="366712"/>
            <a:chOff x="4656" y="2073"/>
            <a:chExt cx="1008" cy="231"/>
          </a:xfrm>
        </p:grpSpPr>
        <p:sp>
          <p:nvSpPr>
            <p:cNvPr id="19479" name="Line 109"/>
            <p:cNvSpPr>
              <a:spLocks noChangeShapeType="1"/>
            </p:cNvSpPr>
            <p:nvPr/>
          </p:nvSpPr>
          <p:spPr bwMode="auto">
            <a:xfrm>
              <a:off x="4656" y="2160"/>
              <a:ext cx="672" cy="0"/>
            </a:xfrm>
            <a:prstGeom prst="line">
              <a:avLst/>
            </a:prstGeom>
            <a:noFill/>
            <a:ln w="28575">
              <a:solidFill>
                <a:srgbClr val="CCCC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9480" name="Group 110"/>
            <p:cNvGrpSpPr>
              <a:grpSpLocks/>
            </p:cNvGrpSpPr>
            <p:nvPr/>
          </p:nvGrpSpPr>
          <p:grpSpPr bwMode="auto">
            <a:xfrm>
              <a:off x="5328" y="2073"/>
              <a:ext cx="336" cy="231"/>
              <a:chOff x="5040" y="576"/>
              <a:chExt cx="336" cy="231"/>
            </a:xfrm>
          </p:grpSpPr>
          <p:sp>
            <p:nvSpPr>
              <p:cNvPr id="19481" name="Text Box 111"/>
              <p:cNvSpPr txBox="1">
                <a:spLocks noChangeArrowheads="1"/>
              </p:cNvSpPr>
              <p:nvPr/>
            </p:nvSpPr>
            <p:spPr bwMode="auto">
              <a:xfrm>
                <a:off x="5040" y="57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E</a:t>
                </a:r>
                <a:endParaRPr lang="en-US" altLang="en-US" sz="1800" b="1" baseline="-25000">
                  <a:solidFill>
                    <a:srgbClr val="FF99FF"/>
                  </a:solidFill>
                </a:endParaRPr>
              </a:p>
            </p:txBody>
          </p:sp>
          <p:sp>
            <p:nvSpPr>
              <p:cNvPr id="19482" name="Line 112"/>
              <p:cNvSpPr>
                <a:spLocks noChangeShapeType="1"/>
              </p:cNvSpPr>
              <p:nvPr/>
            </p:nvSpPr>
            <p:spPr bwMode="auto">
              <a:xfrm>
                <a:off x="5088" y="576"/>
                <a:ext cx="144" cy="0"/>
              </a:xfrm>
              <a:prstGeom prst="line">
                <a:avLst/>
              </a:prstGeom>
              <a:noFill/>
              <a:ln w="12700">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40056" name="Group 120"/>
          <p:cNvGrpSpPr>
            <a:grpSpLocks/>
          </p:cNvGrpSpPr>
          <p:nvPr/>
        </p:nvGrpSpPr>
        <p:grpSpPr bwMode="auto">
          <a:xfrm>
            <a:off x="8763000" y="3001963"/>
            <a:ext cx="457200" cy="793750"/>
            <a:chOff x="4560" y="1891"/>
            <a:chExt cx="288" cy="500"/>
          </a:xfrm>
        </p:grpSpPr>
        <p:sp>
          <p:nvSpPr>
            <p:cNvPr id="19477" name="Text Box 113"/>
            <p:cNvSpPr txBox="1">
              <a:spLocks noChangeArrowheads="1"/>
            </p:cNvSpPr>
            <p:nvPr/>
          </p:nvSpPr>
          <p:spPr bwMode="auto">
            <a:xfrm>
              <a:off x="4583" y="1891"/>
              <a:ext cx="26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a:solidFill>
                    <a:srgbClr val="CC00FF"/>
                  </a:solidFill>
                </a:rPr>
                <a:t>.</a:t>
              </a:r>
            </a:p>
          </p:txBody>
        </p:sp>
        <p:sp>
          <p:nvSpPr>
            <p:cNvPr id="19478" name="Rectangle 114"/>
            <p:cNvSpPr>
              <a:spLocks noChangeArrowheads="1"/>
            </p:cNvSpPr>
            <p:nvPr/>
          </p:nvSpPr>
          <p:spPr bwMode="auto">
            <a:xfrm>
              <a:off x="4560" y="216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P</a:t>
              </a:r>
              <a:endParaRPr lang="en-US" altLang="en-US" sz="1800" b="1" baseline="-25000">
                <a:solidFill>
                  <a:srgbClr val="FFFFCC"/>
                </a:solidFill>
              </a:endParaRPr>
            </a:p>
          </p:txBody>
        </p:sp>
      </p:grpSp>
      <p:sp>
        <p:nvSpPr>
          <p:cNvPr id="40061" name="Text Box 125"/>
          <p:cNvSpPr txBox="1">
            <a:spLocks noChangeArrowheads="1"/>
          </p:cNvSpPr>
          <p:nvPr/>
        </p:nvSpPr>
        <p:spPr bwMode="auto">
          <a:xfrm rot="19843513">
            <a:off x="7834314" y="5334000"/>
            <a:ext cx="2528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400" b="1">
                <a:solidFill>
                  <a:srgbClr val="FF0066"/>
                </a:solidFill>
              </a:rPr>
              <a:t>NOT POSSIBLE</a:t>
            </a:r>
          </a:p>
        </p:txBody>
      </p:sp>
    </p:spTree>
    <p:extLst>
      <p:ext uri="{BB962C8B-B14F-4D97-AF65-F5344CB8AC3E}">
        <p14:creationId xmlns:p14="http://schemas.microsoft.com/office/powerpoint/2010/main" val="2059436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9984"/>
                                        </p:tgtEl>
                                        <p:attrNameLst>
                                          <p:attrName>style.visibility</p:attrName>
                                        </p:attrNameLst>
                                      </p:cBhvr>
                                      <p:to>
                                        <p:strVal val="visible"/>
                                      </p:to>
                                    </p:set>
                                    <p:animEffect transition="in" filter="slide(fromTop)">
                                      <p:cBhvr>
                                        <p:cTn id="7" dur="500"/>
                                        <p:tgtEl>
                                          <p:spTgt spid="399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40051"/>
                                        </p:tgtEl>
                                        <p:attrNameLst>
                                          <p:attrName>style.visibility</p:attrName>
                                        </p:attrNameLst>
                                      </p:cBhvr>
                                      <p:to>
                                        <p:strVal val="visible"/>
                                      </p:to>
                                    </p:set>
                                    <p:anim calcmode="lin" valueType="num">
                                      <p:cBhvr>
                                        <p:cTn id="12" dur="500" fill="hold"/>
                                        <p:tgtEl>
                                          <p:spTgt spid="40051"/>
                                        </p:tgtEl>
                                        <p:attrNameLst>
                                          <p:attrName>ppt_w</p:attrName>
                                        </p:attrNameLst>
                                      </p:cBhvr>
                                      <p:tavLst>
                                        <p:tav tm="0">
                                          <p:val>
                                            <p:fltVal val="0"/>
                                          </p:val>
                                        </p:tav>
                                        <p:tav tm="100000">
                                          <p:val>
                                            <p:strVal val="#ppt_w"/>
                                          </p:val>
                                        </p:tav>
                                      </p:tavLst>
                                    </p:anim>
                                    <p:anim calcmode="lin" valueType="num">
                                      <p:cBhvr>
                                        <p:cTn id="13" dur="500" fill="hold"/>
                                        <p:tgtEl>
                                          <p:spTgt spid="40051"/>
                                        </p:tgtEl>
                                        <p:attrNameLst>
                                          <p:attrName>ppt_h</p:attrName>
                                        </p:attrNameLst>
                                      </p:cBhvr>
                                      <p:tavLst>
                                        <p:tav tm="0">
                                          <p:val>
                                            <p:fltVal val="0"/>
                                          </p:val>
                                        </p:tav>
                                        <p:tav tm="100000">
                                          <p:val>
                                            <p:strVal val="#ppt_h"/>
                                          </p:val>
                                        </p:tav>
                                      </p:tavLst>
                                    </p:anim>
                                    <p:animEffect transition="in" filter="fade">
                                      <p:cBhvr>
                                        <p:cTn id="14" dur="500"/>
                                        <p:tgtEl>
                                          <p:spTgt spid="40051"/>
                                        </p:tgtEl>
                                      </p:cBhvr>
                                    </p:animEffect>
                                  </p:childTnLst>
                                </p:cTn>
                              </p:par>
                              <p:par>
                                <p:cTn id="15" presetID="53" presetClass="entr" presetSubtype="0" fill="hold" nodeType="withEffect">
                                  <p:stCondLst>
                                    <p:cond delay="0"/>
                                  </p:stCondLst>
                                  <p:childTnLst>
                                    <p:set>
                                      <p:cBhvr>
                                        <p:cTn id="16" dur="1" fill="hold">
                                          <p:stCondLst>
                                            <p:cond delay="0"/>
                                          </p:stCondLst>
                                        </p:cTn>
                                        <p:tgtEl>
                                          <p:spTgt spid="40052"/>
                                        </p:tgtEl>
                                        <p:attrNameLst>
                                          <p:attrName>style.visibility</p:attrName>
                                        </p:attrNameLst>
                                      </p:cBhvr>
                                      <p:to>
                                        <p:strVal val="visible"/>
                                      </p:to>
                                    </p:set>
                                    <p:anim calcmode="lin" valueType="num">
                                      <p:cBhvr>
                                        <p:cTn id="17" dur="500" fill="hold"/>
                                        <p:tgtEl>
                                          <p:spTgt spid="40052"/>
                                        </p:tgtEl>
                                        <p:attrNameLst>
                                          <p:attrName>ppt_w</p:attrName>
                                        </p:attrNameLst>
                                      </p:cBhvr>
                                      <p:tavLst>
                                        <p:tav tm="0">
                                          <p:val>
                                            <p:fltVal val="0"/>
                                          </p:val>
                                        </p:tav>
                                        <p:tav tm="100000">
                                          <p:val>
                                            <p:strVal val="#ppt_w"/>
                                          </p:val>
                                        </p:tav>
                                      </p:tavLst>
                                    </p:anim>
                                    <p:anim calcmode="lin" valueType="num">
                                      <p:cBhvr>
                                        <p:cTn id="18" dur="500" fill="hold"/>
                                        <p:tgtEl>
                                          <p:spTgt spid="40052"/>
                                        </p:tgtEl>
                                        <p:attrNameLst>
                                          <p:attrName>ppt_h</p:attrName>
                                        </p:attrNameLst>
                                      </p:cBhvr>
                                      <p:tavLst>
                                        <p:tav tm="0">
                                          <p:val>
                                            <p:fltVal val="0"/>
                                          </p:val>
                                        </p:tav>
                                        <p:tav tm="100000">
                                          <p:val>
                                            <p:strVal val="#ppt_h"/>
                                          </p:val>
                                        </p:tav>
                                      </p:tavLst>
                                    </p:anim>
                                    <p:animEffect transition="in" filter="fade">
                                      <p:cBhvr>
                                        <p:cTn id="19" dur="500"/>
                                        <p:tgtEl>
                                          <p:spTgt spid="4005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0053"/>
                                        </p:tgtEl>
                                        <p:attrNameLst>
                                          <p:attrName>style.visibility</p:attrName>
                                        </p:attrNameLst>
                                      </p:cBhvr>
                                      <p:to>
                                        <p:strVal val="visible"/>
                                      </p:to>
                                    </p:set>
                                    <p:animEffect transition="in" filter="wipe(left)">
                                      <p:cBhvr>
                                        <p:cTn id="24" dur="500"/>
                                        <p:tgtEl>
                                          <p:spTgt spid="40053"/>
                                        </p:tgtEl>
                                      </p:cBhvr>
                                    </p:animEffect>
                                  </p:childTnLst>
                                </p:cTn>
                              </p:par>
                              <p:par>
                                <p:cTn id="25" presetID="22" presetClass="entr" presetSubtype="8" fill="hold" nodeType="withEffect">
                                  <p:stCondLst>
                                    <p:cond delay="0"/>
                                  </p:stCondLst>
                                  <p:childTnLst>
                                    <p:set>
                                      <p:cBhvr>
                                        <p:cTn id="26" dur="1" fill="hold">
                                          <p:stCondLst>
                                            <p:cond delay="0"/>
                                          </p:stCondLst>
                                        </p:cTn>
                                        <p:tgtEl>
                                          <p:spTgt spid="40015"/>
                                        </p:tgtEl>
                                        <p:attrNameLst>
                                          <p:attrName>style.visibility</p:attrName>
                                        </p:attrNameLst>
                                      </p:cBhvr>
                                      <p:to>
                                        <p:strVal val="visible"/>
                                      </p:to>
                                    </p:set>
                                    <p:animEffect transition="in" filter="wipe(left)">
                                      <p:cBhvr>
                                        <p:cTn id="27" dur="500"/>
                                        <p:tgtEl>
                                          <p:spTgt spid="400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40018"/>
                                        </p:tgtEl>
                                        <p:attrNameLst>
                                          <p:attrName>style.visibility</p:attrName>
                                        </p:attrNameLst>
                                      </p:cBhvr>
                                      <p:to>
                                        <p:strVal val="visible"/>
                                      </p:to>
                                    </p:set>
                                    <p:animEffect transition="in" filter="slide(fromTop)">
                                      <p:cBhvr>
                                        <p:cTn id="32" dur="500"/>
                                        <p:tgtEl>
                                          <p:spTgt spid="400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0030">
                                            <p:txEl>
                                              <p:pRg st="0" end="0"/>
                                            </p:txEl>
                                          </p:spTgt>
                                        </p:tgtEl>
                                        <p:attrNameLst>
                                          <p:attrName>style.visibility</p:attrName>
                                        </p:attrNameLst>
                                      </p:cBhvr>
                                      <p:to>
                                        <p:strVal val="visible"/>
                                      </p:to>
                                    </p:set>
                                    <p:animEffect transition="in" filter="wipe(up)">
                                      <p:cBhvr>
                                        <p:cTn id="37" dur="500"/>
                                        <p:tgtEl>
                                          <p:spTgt spid="40030">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0030">
                                            <p:txEl>
                                              <p:pRg st="1" end="1"/>
                                            </p:txEl>
                                          </p:spTgt>
                                        </p:tgtEl>
                                        <p:attrNameLst>
                                          <p:attrName>style.visibility</p:attrName>
                                        </p:attrNameLst>
                                      </p:cBhvr>
                                      <p:to>
                                        <p:strVal val="visible"/>
                                      </p:to>
                                    </p:set>
                                    <p:animEffect transition="in" filter="wipe(up)">
                                      <p:cBhvr>
                                        <p:cTn id="42" dur="500"/>
                                        <p:tgtEl>
                                          <p:spTgt spid="40030">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40054"/>
                                        </p:tgtEl>
                                        <p:attrNameLst>
                                          <p:attrName>style.visibility</p:attrName>
                                        </p:attrNameLst>
                                      </p:cBhvr>
                                      <p:to>
                                        <p:strVal val="visible"/>
                                      </p:to>
                                    </p:set>
                                  </p:childTnLst>
                                </p:cTn>
                              </p:par>
                            </p:childTnLst>
                          </p:cTn>
                        </p:par>
                        <p:par>
                          <p:cTn id="47" fill="hold" nodeType="afterGroup">
                            <p:stCondLst>
                              <p:cond delay="0"/>
                            </p:stCondLst>
                            <p:childTnLst>
                              <p:par>
                                <p:cTn id="48" presetID="0" presetClass="path" presetSubtype="0" accel="50000" decel="50000" fill="hold" nodeType="afterEffect">
                                  <p:stCondLst>
                                    <p:cond delay="0"/>
                                  </p:stCondLst>
                                  <p:childTnLst>
                                    <p:animMotion origin="layout" path="M -1.73472E-18 4.81481E-6 L 0.16666 4.81481E-6 " pathEditMode="relative" ptsTypes="AA">
                                      <p:cBhvr>
                                        <p:cTn id="49" dur="2000" fill="hold"/>
                                        <p:tgtEl>
                                          <p:spTgt spid="40054"/>
                                        </p:tgtEl>
                                        <p:attrNameLst>
                                          <p:attrName>ppt_x</p:attrName>
                                          <p:attrName>ppt_y</p:attrName>
                                        </p:attrNameLst>
                                      </p:cBhvr>
                                    </p:animMotion>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40030">
                                            <p:txEl>
                                              <p:pRg st="2" end="2"/>
                                            </p:txEl>
                                          </p:spTgt>
                                        </p:tgtEl>
                                        <p:attrNameLst>
                                          <p:attrName>style.visibility</p:attrName>
                                        </p:attrNameLst>
                                      </p:cBhvr>
                                      <p:to>
                                        <p:strVal val="visible"/>
                                      </p:to>
                                    </p:set>
                                    <p:animEffect transition="in" filter="wipe(up)">
                                      <p:cBhvr>
                                        <p:cTn id="54" dur="500"/>
                                        <p:tgtEl>
                                          <p:spTgt spid="40030">
                                            <p:txEl>
                                              <p:pRg st="2" end="2"/>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40053"/>
                                        </p:tgtEl>
                                        <p:attrNameLst>
                                          <p:attrName>style.visibility</p:attrName>
                                        </p:attrNameLst>
                                      </p:cBhvr>
                                      <p:to>
                                        <p:strVal val="visible"/>
                                      </p:to>
                                    </p:set>
                                    <p:animEffect transition="in" filter="wipe(left)">
                                      <p:cBhvr>
                                        <p:cTn id="59" dur="500"/>
                                        <p:tgtEl>
                                          <p:spTgt spid="4005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40030">
                                            <p:txEl>
                                              <p:pRg st="3" end="3"/>
                                            </p:txEl>
                                          </p:spTgt>
                                        </p:tgtEl>
                                        <p:attrNameLst>
                                          <p:attrName>style.visibility</p:attrName>
                                        </p:attrNameLst>
                                      </p:cBhvr>
                                      <p:to>
                                        <p:strVal val="visible"/>
                                      </p:to>
                                    </p:set>
                                    <p:animEffect transition="in" filter="wipe(up)">
                                      <p:cBhvr>
                                        <p:cTn id="64" dur="500"/>
                                        <p:tgtEl>
                                          <p:spTgt spid="40030">
                                            <p:txEl>
                                              <p:pRg st="3" end="3"/>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0044"/>
                                        </p:tgtEl>
                                        <p:attrNameLst>
                                          <p:attrName>style.visibility</p:attrName>
                                        </p:attrNameLst>
                                      </p:cBhvr>
                                      <p:to>
                                        <p:strVal val="visible"/>
                                      </p:to>
                                    </p:set>
                                    <p:animEffect transition="in" filter="wipe(left)">
                                      <p:cBhvr>
                                        <p:cTn id="69" dur="500"/>
                                        <p:tgtEl>
                                          <p:spTgt spid="4004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0" fill="hold" nodeType="clickEffect">
                                  <p:stCondLst>
                                    <p:cond delay="0"/>
                                  </p:stCondLst>
                                  <p:childTnLst>
                                    <p:set>
                                      <p:cBhvr>
                                        <p:cTn id="73" dur="1" fill="hold">
                                          <p:stCondLst>
                                            <p:cond delay="0"/>
                                          </p:stCondLst>
                                        </p:cTn>
                                        <p:tgtEl>
                                          <p:spTgt spid="40056"/>
                                        </p:tgtEl>
                                        <p:attrNameLst>
                                          <p:attrName>style.visibility</p:attrName>
                                        </p:attrNameLst>
                                      </p:cBhvr>
                                      <p:to>
                                        <p:strVal val="visible"/>
                                      </p:to>
                                    </p:set>
                                    <p:anim calcmode="lin" valueType="num">
                                      <p:cBhvr>
                                        <p:cTn id="74" dur="500" fill="hold"/>
                                        <p:tgtEl>
                                          <p:spTgt spid="40056"/>
                                        </p:tgtEl>
                                        <p:attrNameLst>
                                          <p:attrName>ppt_w</p:attrName>
                                        </p:attrNameLst>
                                      </p:cBhvr>
                                      <p:tavLst>
                                        <p:tav tm="0">
                                          <p:val>
                                            <p:fltVal val="0"/>
                                          </p:val>
                                        </p:tav>
                                        <p:tav tm="100000">
                                          <p:val>
                                            <p:strVal val="#ppt_w"/>
                                          </p:val>
                                        </p:tav>
                                      </p:tavLst>
                                    </p:anim>
                                    <p:anim calcmode="lin" valueType="num">
                                      <p:cBhvr>
                                        <p:cTn id="75" dur="500" fill="hold"/>
                                        <p:tgtEl>
                                          <p:spTgt spid="40056"/>
                                        </p:tgtEl>
                                        <p:attrNameLst>
                                          <p:attrName>ppt_h</p:attrName>
                                        </p:attrNameLst>
                                      </p:cBhvr>
                                      <p:tavLst>
                                        <p:tav tm="0">
                                          <p:val>
                                            <p:fltVal val="0"/>
                                          </p:val>
                                        </p:tav>
                                        <p:tav tm="100000">
                                          <p:val>
                                            <p:strVal val="#ppt_h"/>
                                          </p:val>
                                        </p:tav>
                                      </p:tavLst>
                                    </p:anim>
                                    <p:animEffect transition="in" filter="fade">
                                      <p:cBhvr>
                                        <p:cTn id="76" dur="500"/>
                                        <p:tgtEl>
                                          <p:spTgt spid="4005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40057"/>
                                        </p:tgtEl>
                                        <p:attrNameLst>
                                          <p:attrName>style.visibility</p:attrName>
                                        </p:attrNameLst>
                                      </p:cBhvr>
                                      <p:to>
                                        <p:strVal val="visible"/>
                                      </p:to>
                                    </p:set>
                                    <p:animEffect transition="in" filter="wipe(left)">
                                      <p:cBhvr>
                                        <p:cTn id="81" dur="500"/>
                                        <p:tgtEl>
                                          <p:spTgt spid="4005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nodeType="clickEffect">
                                  <p:stCondLst>
                                    <p:cond delay="0"/>
                                  </p:stCondLst>
                                  <p:childTnLst>
                                    <p:set>
                                      <p:cBhvr>
                                        <p:cTn id="85" dur="1" fill="hold">
                                          <p:stCondLst>
                                            <p:cond delay="0"/>
                                          </p:stCondLst>
                                        </p:cTn>
                                        <p:tgtEl>
                                          <p:spTgt spid="40031">
                                            <p:txEl>
                                              <p:pRg st="0" end="0"/>
                                            </p:txEl>
                                          </p:spTgt>
                                        </p:tgtEl>
                                        <p:attrNameLst>
                                          <p:attrName>style.visibility</p:attrName>
                                        </p:attrNameLst>
                                      </p:cBhvr>
                                      <p:to>
                                        <p:strVal val="visible"/>
                                      </p:to>
                                    </p:set>
                                    <p:animEffect transition="in" filter="wipe(up)">
                                      <p:cBhvr>
                                        <p:cTn id="86" dur="500"/>
                                        <p:tgtEl>
                                          <p:spTgt spid="40031">
                                            <p:txEl>
                                              <p:pRg st="0" end="0"/>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1" fill="hold" nodeType="clickEffect">
                                  <p:stCondLst>
                                    <p:cond delay="0"/>
                                  </p:stCondLst>
                                  <p:childTnLst>
                                    <p:set>
                                      <p:cBhvr>
                                        <p:cTn id="90" dur="1" fill="hold">
                                          <p:stCondLst>
                                            <p:cond delay="0"/>
                                          </p:stCondLst>
                                        </p:cTn>
                                        <p:tgtEl>
                                          <p:spTgt spid="40031">
                                            <p:txEl>
                                              <p:pRg st="1" end="1"/>
                                            </p:txEl>
                                          </p:spTgt>
                                        </p:tgtEl>
                                        <p:attrNameLst>
                                          <p:attrName>style.visibility</p:attrName>
                                        </p:attrNameLst>
                                      </p:cBhvr>
                                      <p:to>
                                        <p:strVal val="visible"/>
                                      </p:to>
                                    </p:set>
                                    <p:animEffect transition="in" filter="wipe(up)">
                                      <p:cBhvr>
                                        <p:cTn id="91" dur="500"/>
                                        <p:tgtEl>
                                          <p:spTgt spid="40031">
                                            <p:txEl>
                                              <p:pRg st="1" end="1"/>
                                            </p:txEl>
                                          </p:spTgt>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53" presetClass="entr" presetSubtype="0" fill="hold" grpId="0" nodeType="clickEffect">
                                  <p:stCondLst>
                                    <p:cond delay="0"/>
                                  </p:stCondLst>
                                  <p:childTnLst>
                                    <p:set>
                                      <p:cBhvr>
                                        <p:cTn id="95" dur="1" fill="hold">
                                          <p:stCondLst>
                                            <p:cond delay="0"/>
                                          </p:stCondLst>
                                        </p:cTn>
                                        <p:tgtEl>
                                          <p:spTgt spid="40027"/>
                                        </p:tgtEl>
                                        <p:attrNameLst>
                                          <p:attrName>style.visibility</p:attrName>
                                        </p:attrNameLst>
                                      </p:cBhvr>
                                      <p:to>
                                        <p:strVal val="visible"/>
                                      </p:to>
                                    </p:set>
                                    <p:anim calcmode="lin" valueType="num">
                                      <p:cBhvr>
                                        <p:cTn id="96" dur="500" fill="hold"/>
                                        <p:tgtEl>
                                          <p:spTgt spid="40027"/>
                                        </p:tgtEl>
                                        <p:attrNameLst>
                                          <p:attrName>ppt_w</p:attrName>
                                        </p:attrNameLst>
                                      </p:cBhvr>
                                      <p:tavLst>
                                        <p:tav tm="0">
                                          <p:val>
                                            <p:fltVal val="0"/>
                                          </p:val>
                                        </p:tav>
                                        <p:tav tm="100000">
                                          <p:val>
                                            <p:strVal val="#ppt_w"/>
                                          </p:val>
                                        </p:tav>
                                      </p:tavLst>
                                    </p:anim>
                                    <p:anim calcmode="lin" valueType="num">
                                      <p:cBhvr>
                                        <p:cTn id="97" dur="500" fill="hold"/>
                                        <p:tgtEl>
                                          <p:spTgt spid="40027"/>
                                        </p:tgtEl>
                                        <p:attrNameLst>
                                          <p:attrName>ppt_h</p:attrName>
                                        </p:attrNameLst>
                                      </p:cBhvr>
                                      <p:tavLst>
                                        <p:tav tm="0">
                                          <p:val>
                                            <p:fltVal val="0"/>
                                          </p:val>
                                        </p:tav>
                                        <p:tav tm="100000">
                                          <p:val>
                                            <p:strVal val="#ppt_h"/>
                                          </p:val>
                                        </p:tav>
                                      </p:tavLst>
                                    </p:anim>
                                    <p:animEffect transition="in" filter="fade">
                                      <p:cBhvr>
                                        <p:cTn id="98" dur="500"/>
                                        <p:tgtEl>
                                          <p:spTgt spid="4002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40023"/>
                                        </p:tgtEl>
                                        <p:attrNameLst>
                                          <p:attrName>style.visibility</p:attrName>
                                        </p:attrNameLst>
                                      </p:cBhvr>
                                      <p:to>
                                        <p:strVal val="visible"/>
                                      </p:to>
                                    </p:set>
                                    <p:animEffect transition="in" filter="wipe(left)">
                                      <p:cBhvr>
                                        <p:cTn id="103" dur="500"/>
                                        <p:tgtEl>
                                          <p:spTgt spid="40023"/>
                                        </p:tgtEl>
                                      </p:cBhvr>
                                    </p:animEffect>
                                  </p:childTnLst>
                                </p:cTn>
                              </p:par>
                              <p:par>
                                <p:cTn id="104" presetID="22" presetClass="entr" presetSubtype="8" fill="hold" nodeType="withEffect">
                                  <p:stCondLst>
                                    <p:cond delay="0"/>
                                  </p:stCondLst>
                                  <p:childTnLst>
                                    <p:set>
                                      <p:cBhvr>
                                        <p:cTn id="105" dur="1" fill="hold">
                                          <p:stCondLst>
                                            <p:cond delay="0"/>
                                          </p:stCondLst>
                                        </p:cTn>
                                        <p:tgtEl>
                                          <p:spTgt spid="40020"/>
                                        </p:tgtEl>
                                        <p:attrNameLst>
                                          <p:attrName>style.visibility</p:attrName>
                                        </p:attrNameLst>
                                      </p:cBhvr>
                                      <p:to>
                                        <p:strVal val="visible"/>
                                      </p:to>
                                    </p:set>
                                    <p:animEffect transition="in" filter="wipe(left)">
                                      <p:cBhvr>
                                        <p:cTn id="106" dur="500"/>
                                        <p:tgtEl>
                                          <p:spTgt spid="40020"/>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40058"/>
                                        </p:tgtEl>
                                        <p:attrNameLst>
                                          <p:attrName>style.visibility</p:attrName>
                                        </p:attrNameLst>
                                      </p:cBhvr>
                                      <p:to>
                                        <p:strVal val="visible"/>
                                      </p:to>
                                    </p:set>
                                    <p:animEffect transition="in" filter="wipe(left)">
                                      <p:cBhvr>
                                        <p:cTn id="111" dur="500"/>
                                        <p:tgtEl>
                                          <p:spTgt spid="40058"/>
                                        </p:tgtEl>
                                      </p:cBhvr>
                                    </p:animEffect>
                                  </p:childTnLst>
                                </p:cTn>
                              </p:par>
                              <p:par>
                                <p:cTn id="112" presetID="22" presetClass="entr" presetSubtype="8" fill="hold" nodeType="withEffect">
                                  <p:stCondLst>
                                    <p:cond delay="0"/>
                                  </p:stCondLst>
                                  <p:childTnLst>
                                    <p:set>
                                      <p:cBhvr>
                                        <p:cTn id="113" dur="1" fill="hold">
                                          <p:stCondLst>
                                            <p:cond delay="0"/>
                                          </p:stCondLst>
                                        </p:cTn>
                                        <p:tgtEl>
                                          <p:spTgt spid="40059"/>
                                        </p:tgtEl>
                                        <p:attrNameLst>
                                          <p:attrName>style.visibility</p:attrName>
                                        </p:attrNameLst>
                                      </p:cBhvr>
                                      <p:to>
                                        <p:strVal val="visible"/>
                                      </p:to>
                                    </p:set>
                                    <p:animEffect transition="in" filter="wipe(left)">
                                      <p:cBhvr>
                                        <p:cTn id="114" dur="500"/>
                                        <p:tgtEl>
                                          <p:spTgt spid="40059"/>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40060"/>
                                        </p:tgtEl>
                                        <p:attrNameLst>
                                          <p:attrName>style.visibility</p:attrName>
                                        </p:attrNameLst>
                                      </p:cBhvr>
                                      <p:to>
                                        <p:strVal val="visible"/>
                                      </p:to>
                                    </p:set>
                                    <p:animEffect transition="in" filter="wipe(left)">
                                      <p:cBhvr>
                                        <p:cTn id="119" dur="500"/>
                                        <p:tgtEl>
                                          <p:spTgt spid="4006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53" presetClass="entr" presetSubtype="0" fill="hold" grpId="0" nodeType="clickEffect">
                                  <p:stCondLst>
                                    <p:cond delay="0"/>
                                  </p:stCondLst>
                                  <p:childTnLst>
                                    <p:set>
                                      <p:cBhvr>
                                        <p:cTn id="123" dur="1" fill="hold">
                                          <p:stCondLst>
                                            <p:cond delay="0"/>
                                          </p:stCondLst>
                                        </p:cTn>
                                        <p:tgtEl>
                                          <p:spTgt spid="40061"/>
                                        </p:tgtEl>
                                        <p:attrNameLst>
                                          <p:attrName>style.visibility</p:attrName>
                                        </p:attrNameLst>
                                      </p:cBhvr>
                                      <p:to>
                                        <p:strVal val="visible"/>
                                      </p:to>
                                    </p:set>
                                    <p:anim calcmode="lin" valueType="num">
                                      <p:cBhvr>
                                        <p:cTn id="124" dur="500" fill="hold"/>
                                        <p:tgtEl>
                                          <p:spTgt spid="40061"/>
                                        </p:tgtEl>
                                        <p:attrNameLst>
                                          <p:attrName>ppt_w</p:attrName>
                                        </p:attrNameLst>
                                      </p:cBhvr>
                                      <p:tavLst>
                                        <p:tav tm="0">
                                          <p:val>
                                            <p:fltVal val="0"/>
                                          </p:val>
                                        </p:tav>
                                        <p:tav tm="100000">
                                          <p:val>
                                            <p:strVal val="#ppt_w"/>
                                          </p:val>
                                        </p:tav>
                                      </p:tavLst>
                                    </p:anim>
                                    <p:anim calcmode="lin" valueType="num">
                                      <p:cBhvr>
                                        <p:cTn id="125" dur="500" fill="hold"/>
                                        <p:tgtEl>
                                          <p:spTgt spid="40061"/>
                                        </p:tgtEl>
                                        <p:attrNameLst>
                                          <p:attrName>ppt_h</p:attrName>
                                        </p:attrNameLst>
                                      </p:cBhvr>
                                      <p:tavLst>
                                        <p:tav tm="0">
                                          <p:val>
                                            <p:fltVal val="0"/>
                                          </p:val>
                                        </p:tav>
                                        <p:tav tm="100000">
                                          <p:val>
                                            <p:strVal val="#ppt_h"/>
                                          </p:val>
                                        </p:tav>
                                      </p:tavLst>
                                    </p:anim>
                                    <p:animEffect transition="in" filter="fade">
                                      <p:cBhvr>
                                        <p:cTn id="126" dur="500"/>
                                        <p:tgtEl>
                                          <p:spTgt spid="40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84" grpId="0"/>
      <p:bldP spid="40018" grpId="0"/>
      <p:bldP spid="40027" grpId="0" animBg="1"/>
      <p:bldP spid="4006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44" name="Line 284"/>
          <p:cNvSpPr>
            <a:spLocks noChangeShapeType="1"/>
          </p:cNvSpPr>
          <p:nvPr/>
        </p:nvSpPr>
        <p:spPr bwMode="auto">
          <a:xfrm flipV="1">
            <a:off x="9677400" y="2819400"/>
            <a:ext cx="381000" cy="4572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38" name="Line 278"/>
          <p:cNvSpPr>
            <a:spLocks noChangeShapeType="1"/>
          </p:cNvSpPr>
          <p:nvPr/>
        </p:nvSpPr>
        <p:spPr bwMode="auto">
          <a:xfrm rot="299563">
            <a:off x="8610600" y="4419600"/>
            <a:ext cx="533400" cy="6096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42" name="Line 282"/>
          <p:cNvSpPr>
            <a:spLocks noChangeShapeType="1"/>
          </p:cNvSpPr>
          <p:nvPr/>
        </p:nvSpPr>
        <p:spPr bwMode="auto">
          <a:xfrm flipV="1">
            <a:off x="8077200" y="2971800"/>
            <a:ext cx="152400" cy="6858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0978" name="Text Box 18"/>
          <p:cNvSpPr txBox="1">
            <a:spLocks noChangeArrowheads="1"/>
          </p:cNvSpPr>
          <p:nvPr/>
        </p:nvSpPr>
        <p:spPr bwMode="auto">
          <a:xfrm>
            <a:off x="1600200" y="152401"/>
            <a:ext cx="4191000" cy="311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startAt="6"/>
            </a:pPr>
            <a:r>
              <a:rPr lang="en-US" altLang="en-US" sz="1800" b="1">
                <a:solidFill>
                  <a:srgbClr val="FFCCCC"/>
                </a:solidFill>
              </a:rPr>
              <a:t>Electric lines of force are closer (crowded) where the electric field is stronger and the lines spread out where the electric field is weaker.</a:t>
            </a:r>
          </a:p>
          <a:p>
            <a:pPr fontAlgn="base">
              <a:spcBef>
                <a:spcPct val="50000"/>
              </a:spcBef>
              <a:spcAft>
                <a:spcPct val="0"/>
              </a:spcAft>
              <a:buFontTx/>
              <a:buAutoNum type="arabicPeriod" startAt="6"/>
            </a:pPr>
            <a:r>
              <a:rPr lang="en-US" altLang="en-US" sz="1800" b="1">
                <a:solidFill>
                  <a:srgbClr val="66FFFF"/>
                </a:solidFill>
              </a:rPr>
              <a:t>Electric lines of force are perpendicular to the surface of a positively or negatively charged body.</a:t>
            </a:r>
          </a:p>
          <a:p>
            <a:pPr fontAlgn="base">
              <a:spcBef>
                <a:spcPct val="50000"/>
              </a:spcBef>
              <a:spcAft>
                <a:spcPct val="0"/>
              </a:spcAft>
              <a:buFontTx/>
              <a:buAutoNum type="arabicPeriod" startAt="4"/>
            </a:pPr>
            <a:endParaRPr lang="en-US" altLang="en-US" sz="1800" b="1">
              <a:solidFill>
                <a:srgbClr val="66FFFF"/>
              </a:solidFill>
            </a:endParaRPr>
          </a:p>
        </p:txBody>
      </p:sp>
      <p:sp>
        <p:nvSpPr>
          <p:cNvPr id="41060" name="Rectangle 100"/>
          <p:cNvSpPr>
            <a:spLocks noChangeArrowheads="1"/>
          </p:cNvSpPr>
          <p:nvPr/>
        </p:nvSpPr>
        <p:spPr bwMode="auto">
          <a:xfrm>
            <a:off x="5791200" y="152400"/>
            <a:ext cx="4800600" cy="2438400"/>
          </a:xfrm>
          <a:prstGeom prst="rect">
            <a:avLst/>
          </a:prstGeom>
          <a:noFill/>
          <a:ln w="19050">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41061" name="Text Box 101"/>
          <p:cNvSpPr txBox="1">
            <a:spLocks noChangeArrowheads="1"/>
          </p:cNvSpPr>
          <p:nvPr/>
        </p:nvSpPr>
        <p:spPr bwMode="auto">
          <a:xfrm>
            <a:off x="7696200" y="20574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400" b="1">
                <a:solidFill>
                  <a:srgbClr val="FFFF00"/>
                </a:solidFill>
              </a:rPr>
              <a:t>Q</a:t>
            </a:r>
            <a:r>
              <a:rPr lang="en-US" altLang="en-US" sz="2400" b="1">
                <a:solidFill>
                  <a:srgbClr val="000000"/>
                </a:solidFill>
              </a:rPr>
              <a:t> </a:t>
            </a:r>
            <a:r>
              <a:rPr lang="en-US" altLang="en-US" sz="1800" b="1">
                <a:solidFill>
                  <a:srgbClr val="000000"/>
                </a:solidFill>
              </a:rPr>
              <a:t> </a:t>
            </a:r>
            <a:r>
              <a:rPr lang="en-US" altLang="en-US" sz="1800" b="1">
                <a:solidFill>
                  <a:srgbClr val="FFFFCC"/>
                </a:solidFill>
              </a:rPr>
              <a:t>&gt;</a:t>
            </a:r>
            <a:r>
              <a:rPr lang="en-US" altLang="en-US" sz="1800" b="1">
                <a:solidFill>
                  <a:srgbClr val="000000"/>
                </a:solidFill>
              </a:rPr>
              <a:t>  </a:t>
            </a:r>
            <a:r>
              <a:rPr lang="en-US" altLang="en-US" sz="1800" b="1">
                <a:solidFill>
                  <a:srgbClr val="00FF00"/>
                </a:solidFill>
              </a:rPr>
              <a:t>q</a:t>
            </a:r>
          </a:p>
        </p:txBody>
      </p:sp>
      <p:grpSp>
        <p:nvGrpSpPr>
          <p:cNvPr id="41247" name="Group 287"/>
          <p:cNvGrpSpPr>
            <a:grpSpLocks/>
          </p:cNvGrpSpPr>
          <p:nvPr/>
        </p:nvGrpSpPr>
        <p:grpSpPr bwMode="auto">
          <a:xfrm>
            <a:off x="8305800" y="152400"/>
            <a:ext cx="2236788" cy="2236788"/>
            <a:chOff x="4272" y="96"/>
            <a:chExt cx="1409" cy="1409"/>
          </a:xfrm>
        </p:grpSpPr>
        <p:grpSp>
          <p:nvGrpSpPr>
            <p:cNvPr id="21699" name="Group 99"/>
            <p:cNvGrpSpPr>
              <a:grpSpLocks/>
            </p:cNvGrpSpPr>
            <p:nvPr/>
          </p:nvGrpSpPr>
          <p:grpSpPr bwMode="auto">
            <a:xfrm>
              <a:off x="4272" y="96"/>
              <a:ext cx="1409" cy="1409"/>
              <a:chOff x="4063" y="1471"/>
              <a:chExt cx="1409" cy="1409"/>
            </a:xfrm>
          </p:grpSpPr>
          <p:grpSp>
            <p:nvGrpSpPr>
              <p:cNvPr id="21701" name="Group 85"/>
              <p:cNvGrpSpPr>
                <a:grpSpLocks/>
              </p:cNvGrpSpPr>
              <p:nvPr/>
            </p:nvGrpSpPr>
            <p:grpSpPr bwMode="auto">
              <a:xfrm>
                <a:off x="4487" y="1471"/>
                <a:ext cx="265" cy="1392"/>
                <a:chOff x="4487" y="48"/>
                <a:chExt cx="265" cy="1392"/>
              </a:xfrm>
            </p:grpSpPr>
            <p:sp>
              <p:nvSpPr>
                <p:cNvPr id="21713" name="Line 86"/>
                <p:cNvSpPr>
                  <a:spLocks noChangeShapeType="1"/>
                </p:cNvSpPr>
                <p:nvPr/>
              </p:nvSpPr>
              <p:spPr bwMode="auto">
                <a:xfrm rot="-8317262">
                  <a:off x="4752" y="4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14" name="Line 87"/>
                <p:cNvSpPr>
                  <a:spLocks noChangeShapeType="1"/>
                </p:cNvSpPr>
                <p:nvPr/>
              </p:nvSpPr>
              <p:spPr bwMode="auto">
                <a:xfrm rot="-2895652" flipH="1" flipV="1">
                  <a:off x="4464" y="1048"/>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1702" name="Line 74"/>
              <p:cNvSpPr>
                <a:spLocks noChangeShapeType="1"/>
              </p:cNvSpPr>
              <p:nvPr/>
            </p:nvSpPr>
            <p:spPr bwMode="auto">
              <a:xfrm>
                <a:off x="4752" y="148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03" name="Line 75"/>
              <p:cNvSpPr>
                <a:spLocks noChangeShapeType="1"/>
              </p:cNvSpPr>
              <p:nvPr/>
            </p:nvSpPr>
            <p:spPr bwMode="auto">
              <a:xfrm rot="-5400000">
                <a:off x="4776" y="1464"/>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04" name="Line 76"/>
              <p:cNvSpPr>
                <a:spLocks noChangeShapeType="1"/>
              </p:cNvSpPr>
              <p:nvPr/>
            </p:nvSpPr>
            <p:spPr bwMode="auto">
              <a:xfrm rot="-2759326">
                <a:off x="4759" y="1457"/>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05" name="Oval 77"/>
              <p:cNvSpPr>
                <a:spLocks noChangeArrowheads="1"/>
              </p:cNvSpPr>
              <p:nvPr/>
            </p:nvSpPr>
            <p:spPr bwMode="auto">
              <a:xfrm>
                <a:off x="4704" y="2112"/>
                <a:ext cx="96" cy="96"/>
              </a:xfrm>
              <a:prstGeom prst="ellipse">
                <a:avLst/>
              </a:prstGeom>
              <a:solidFill>
                <a:srgbClr val="66FF33"/>
              </a:solidFill>
              <a:ln>
                <a:noFill/>
              </a:ln>
              <a:effectLst/>
              <a:extLst>
                <a:ext uri="{91240B29-F687-4F45-9708-019B960494DF}">
                  <a14:hiddenLine xmlns:a14="http://schemas.microsoft.com/office/drawing/2010/main" w="9525">
                    <a:solidFill>
                      <a:srgbClr val="66FF33"/>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21706" name="Line 78"/>
              <p:cNvSpPr>
                <a:spLocks noChangeShapeType="1"/>
              </p:cNvSpPr>
              <p:nvPr/>
            </p:nvSpPr>
            <p:spPr bwMode="auto">
              <a:xfrm rot="5400000" flipH="1" flipV="1">
                <a:off x="4728" y="1752"/>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07" name="Line 79"/>
              <p:cNvSpPr>
                <a:spLocks noChangeShapeType="1"/>
              </p:cNvSpPr>
              <p:nvPr/>
            </p:nvSpPr>
            <p:spPr bwMode="auto">
              <a:xfrm rot="16200000" flipH="1">
                <a:off x="4728" y="2568"/>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08" name="Line 80"/>
              <p:cNvSpPr>
                <a:spLocks noChangeShapeType="1"/>
              </p:cNvSpPr>
              <p:nvPr/>
            </p:nvSpPr>
            <p:spPr bwMode="auto">
              <a:xfrm rot="10800000" flipH="1">
                <a:off x="5136" y="2160"/>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09" name="Line 81"/>
              <p:cNvSpPr>
                <a:spLocks noChangeShapeType="1"/>
              </p:cNvSpPr>
              <p:nvPr/>
            </p:nvSpPr>
            <p:spPr bwMode="auto">
              <a:xfrm rot="10800000">
                <a:off x="4320" y="2160"/>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10" name="Line 82"/>
              <p:cNvSpPr>
                <a:spLocks noChangeShapeType="1"/>
              </p:cNvSpPr>
              <p:nvPr/>
            </p:nvSpPr>
            <p:spPr bwMode="auto">
              <a:xfrm rot="2749369" flipH="1">
                <a:off x="4416" y="1847"/>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11" name="Line 83"/>
              <p:cNvSpPr>
                <a:spLocks noChangeShapeType="1"/>
              </p:cNvSpPr>
              <p:nvPr/>
            </p:nvSpPr>
            <p:spPr bwMode="auto">
              <a:xfrm rot="-8052422" flipH="1" flipV="1">
                <a:off x="5016" y="2424"/>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712" name="Line 84"/>
              <p:cNvSpPr>
                <a:spLocks noChangeShapeType="1"/>
              </p:cNvSpPr>
              <p:nvPr/>
            </p:nvSpPr>
            <p:spPr bwMode="auto">
              <a:xfrm rot="8147578" flipH="1" flipV="1">
                <a:off x="4992" y="1872"/>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1700" name="Text Box 102"/>
            <p:cNvSpPr txBox="1">
              <a:spLocks noChangeArrowheads="1"/>
            </p:cNvSpPr>
            <p:nvPr/>
          </p:nvSpPr>
          <p:spPr bwMode="auto">
            <a:xfrm>
              <a:off x="5040" y="72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00"/>
                  </a:solidFill>
                </a:rPr>
                <a:t>q</a:t>
              </a:r>
            </a:p>
          </p:txBody>
        </p:sp>
      </p:grpSp>
      <p:grpSp>
        <p:nvGrpSpPr>
          <p:cNvPr id="41246" name="Group 286"/>
          <p:cNvGrpSpPr>
            <a:grpSpLocks/>
          </p:cNvGrpSpPr>
          <p:nvPr/>
        </p:nvGrpSpPr>
        <p:grpSpPr bwMode="auto">
          <a:xfrm>
            <a:off x="5791201" y="96838"/>
            <a:ext cx="2246313" cy="2292350"/>
            <a:chOff x="2688" y="61"/>
            <a:chExt cx="1415" cy="1444"/>
          </a:xfrm>
        </p:grpSpPr>
        <p:grpSp>
          <p:nvGrpSpPr>
            <p:cNvPr id="21669" name="Group 53"/>
            <p:cNvGrpSpPr>
              <a:grpSpLocks/>
            </p:cNvGrpSpPr>
            <p:nvPr/>
          </p:nvGrpSpPr>
          <p:grpSpPr bwMode="auto">
            <a:xfrm rot="-4048496">
              <a:off x="3383" y="96"/>
              <a:ext cx="1" cy="1392"/>
              <a:chOff x="4800" y="209"/>
              <a:chExt cx="0" cy="1392"/>
            </a:xfrm>
          </p:grpSpPr>
          <p:sp>
            <p:nvSpPr>
              <p:cNvPr id="21696" name="Line 50"/>
              <p:cNvSpPr>
                <a:spLocks noChangeShapeType="1"/>
              </p:cNvSpPr>
              <p:nvPr/>
            </p:nvSpPr>
            <p:spPr bwMode="auto">
              <a:xfrm>
                <a:off x="4800" y="209"/>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97" name="Line 51"/>
              <p:cNvSpPr>
                <a:spLocks noChangeShapeType="1"/>
              </p:cNvSpPr>
              <p:nvPr/>
            </p:nvSpPr>
            <p:spPr bwMode="auto">
              <a:xfrm rot="5400000" flipH="1" flipV="1">
                <a:off x="4776" y="473"/>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98" name="Line 52"/>
              <p:cNvSpPr>
                <a:spLocks noChangeShapeType="1"/>
              </p:cNvSpPr>
              <p:nvPr/>
            </p:nvSpPr>
            <p:spPr bwMode="auto">
              <a:xfrm rot="16200000" flipH="1">
                <a:off x="4776" y="1289"/>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1670" name="Line 20"/>
            <p:cNvSpPr>
              <a:spLocks noChangeShapeType="1"/>
            </p:cNvSpPr>
            <p:nvPr/>
          </p:nvSpPr>
          <p:spPr bwMode="auto">
            <a:xfrm>
              <a:off x="3383" y="113"/>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1" name="Line 21"/>
            <p:cNvSpPr>
              <a:spLocks noChangeShapeType="1"/>
            </p:cNvSpPr>
            <p:nvPr/>
          </p:nvSpPr>
          <p:spPr bwMode="auto">
            <a:xfrm rot="-5400000">
              <a:off x="3407" y="89"/>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2" name="Line 22"/>
            <p:cNvSpPr>
              <a:spLocks noChangeShapeType="1"/>
            </p:cNvSpPr>
            <p:nvPr/>
          </p:nvSpPr>
          <p:spPr bwMode="auto">
            <a:xfrm rot="-2759326">
              <a:off x="3390" y="82"/>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3" name="Oval 24"/>
            <p:cNvSpPr>
              <a:spLocks noChangeArrowheads="1"/>
            </p:cNvSpPr>
            <p:nvPr/>
          </p:nvSpPr>
          <p:spPr bwMode="auto">
            <a:xfrm>
              <a:off x="3335" y="737"/>
              <a:ext cx="96" cy="96"/>
            </a:xfrm>
            <a:prstGeom prst="ellipse">
              <a:avLst/>
            </a:prstGeom>
            <a:solidFill>
              <a:srgbClr val="66FF33"/>
            </a:solidFill>
            <a:ln>
              <a:noFill/>
            </a:ln>
            <a:effectLst/>
            <a:extLst>
              <a:ext uri="{91240B29-F687-4F45-9708-019B960494DF}">
                <a14:hiddenLine xmlns:a14="http://schemas.microsoft.com/office/drawing/2010/main" w="9525">
                  <a:solidFill>
                    <a:srgbClr val="66FF33"/>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21674" name="Line 25"/>
            <p:cNvSpPr>
              <a:spLocks noChangeShapeType="1"/>
            </p:cNvSpPr>
            <p:nvPr/>
          </p:nvSpPr>
          <p:spPr bwMode="auto">
            <a:xfrm rot="5400000" flipH="1" flipV="1">
              <a:off x="3359" y="377"/>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5" name="Line 26"/>
            <p:cNvSpPr>
              <a:spLocks noChangeShapeType="1"/>
            </p:cNvSpPr>
            <p:nvPr/>
          </p:nvSpPr>
          <p:spPr bwMode="auto">
            <a:xfrm rot="16200000" flipH="1">
              <a:off x="3359" y="1193"/>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6" name="Line 27"/>
            <p:cNvSpPr>
              <a:spLocks noChangeShapeType="1"/>
            </p:cNvSpPr>
            <p:nvPr/>
          </p:nvSpPr>
          <p:spPr bwMode="auto">
            <a:xfrm rot="10800000" flipH="1">
              <a:off x="3767" y="785"/>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7" name="Line 28"/>
            <p:cNvSpPr>
              <a:spLocks noChangeShapeType="1"/>
            </p:cNvSpPr>
            <p:nvPr/>
          </p:nvSpPr>
          <p:spPr bwMode="auto">
            <a:xfrm rot="10800000">
              <a:off x="2951" y="785"/>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8" name="Line 29"/>
            <p:cNvSpPr>
              <a:spLocks noChangeShapeType="1"/>
            </p:cNvSpPr>
            <p:nvPr/>
          </p:nvSpPr>
          <p:spPr bwMode="auto">
            <a:xfrm rot="2749369" flipH="1">
              <a:off x="3047" y="472"/>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79" name="Line 30"/>
            <p:cNvSpPr>
              <a:spLocks noChangeShapeType="1"/>
            </p:cNvSpPr>
            <p:nvPr/>
          </p:nvSpPr>
          <p:spPr bwMode="auto">
            <a:xfrm rot="-8052422" flipH="1" flipV="1">
              <a:off x="3647" y="1049"/>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80" name="Line 31"/>
            <p:cNvSpPr>
              <a:spLocks noChangeShapeType="1"/>
            </p:cNvSpPr>
            <p:nvPr/>
          </p:nvSpPr>
          <p:spPr bwMode="auto">
            <a:xfrm rot="8147578" flipH="1" flipV="1">
              <a:off x="3623" y="497"/>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21681" name="Group 48"/>
            <p:cNvGrpSpPr>
              <a:grpSpLocks/>
            </p:cNvGrpSpPr>
            <p:nvPr/>
          </p:nvGrpSpPr>
          <p:grpSpPr bwMode="auto">
            <a:xfrm>
              <a:off x="3118" y="96"/>
              <a:ext cx="265" cy="1392"/>
              <a:chOff x="4487" y="48"/>
              <a:chExt cx="265" cy="1392"/>
            </a:xfrm>
          </p:grpSpPr>
          <p:sp>
            <p:nvSpPr>
              <p:cNvPr id="21694" name="Line 23"/>
              <p:cNvSpPr>
                <a:spLocks noChangeShapeType="1"/>
              </p:cNvSpPr>
              <p:nvPr/>
            </p:nvSpPr>
            <p:spPr bwMode="auto">
              <a:xfrm rot="-8317262">
                <a:off x="4752" y="4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95" name="Line 32"/>
              <p:cNvSpPr>
                <a:spLocks noChangeShapeType="1"/>
              </p:cNvSpPr>
              <p:nvPr/>
            </p:nvSpPr>
            <p:spPr bwMode="auto">
              <a:xfrm rot="-2895652" flipH="1" flipV="1">
                <a:off x="4464" y="1048"/>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82" name="Group 33"/>
            <p:cNvGrpSpPr>
              <a:grpSpLocks/>
            </p:cNvGrpSpPr>
            <p:nvPr/>
          </p:nvGrpSpPr>
          <p:grpSpPr bwMode="auto">
            <a:xfrm rot="-6744500">
              <a:off x="2705" y="61"/>
              <a:ext cx="1392" cy="1392"/>
              <a:chOff x="2160" y="864"/>
              <a:chExt cx="1392" cy="1392"/>
            </a:xfrm>
          </p:grpSpPr>
          <p:sp>
            <p:nvSpPr>
              <p:cNvPr id="21692" name="Line 34"/>
              <p:cNvSpPr>
                <a:spLocks noChangeShapeType="1"/>
              </p:cNvSpPr>
              <p:nvPr/>
            </p:nvSpPr>
            <p:spPr bwMode="auto">
              <a:xfrm>
                <a:off x="2832" y="864"/>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93" name="Line 35"/>
              <p:cNvSpPr>
                <a:spLocks noChangeShapeType="1"/>
              </p:cNvSpPr>
              <p:nvPr/>
            </p:nvSpPr>
            <p:spPr bwMode="auto">
              <a:xfrm rot="-5400000">
                <a:off x="2856" y="840"/>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1683" name="Line 36"/>
            <p:cNvSpPr>
              <a:spLocks noChangeShapeType="1"/>
            </p:cNvSpPr>
            <p:nvPr/>
          </p:nvSpPr>
          <p:spPr bwMode="auto">
            <a:xfrm rot="-9503827">
              <a:off x="3379" y="88"/>
              <a:ext cx="0" cy="1392"/>
            </a:xfrm>
            <a:prstGeom prst="line">
              <a:avLst/>
            </a:prstGeom>
            <a:noFill/>
            <a:ln w="28575">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84" name="Oval 38"/>
            <p:cNvSpPr>
              <a:spLocks noChangeArrowheads="1"/>
            </p:cNvSpPr>
            <p:nvPr/>
          </p:nvSpPr>
          <p:spPr bwMode="auto">
            <a:xfrm rot="-6744500">
              <a:off x="3273" y="663"/>
              <a:ext cx="235" cy="240"/>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21685" name="Line 39"/>
            <p:cNvSpPr>
              <a:spLocks noChangeShapeType="1"/>
            </p:cNvSpPr>
            <p:nvPr/>
          </p:nvSpPr>
          <p:spPr bwMode="auto">
            <a:xfrm rot="-1344500" flipH="1" flipV="1">
              <a:off x="2987" y="944"/>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86" name="Line 40"/>
            <p:cNvSpPr>
              <a:spLocks noChangeShapeType="1"/>
            </p:cNvSpPr>
            <p:nvPr/>
          </p:nvSpPr>
          <p:spPr bwMode="auto">
            <a:xfrm rot="9455500" flipH="1">
              <a:off x="3741" y="633"/>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87" name="Line 41"/>
            <p:cNvSpPr>
              <a:spLocks noChangeShapeType="1"/>
            </p:cNvSpPr>
            <p:nvPr/>
          </p:nvSpPr>
          <p:spPr bwMode="auto">
            <a:xfrm rot="4055500" flipH="1">
              <a:off x="3208" y="411"/>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88" name="Line 42"/>
            <p:cNvSpPr>
              <a:spLocks noChangeShapeType="1"/>
            </p:cNvSpPr>
            <p:nvPr/>
          </p:nvSpPr>
          <p:spPr bwMode="auto">
            <a:xfrm rot="4055500">
              <a:off x="3520" y="1165"/>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89" name="Line 43"/>
            <p:cNvSpPr>
              <a:spLocks noChangeShapeType="1"/>
            </p:cNvSpPr>
            <p:nvPr/>
          </p:nvSpPr>
          <p:spPr bwMode="auto">
            <a:xfrm rot="17604868" flipH="1">
              <a:off x="3203" y="1177"/>
              <a:ext cx="48" cy="1"/>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90" name="Line 44"/>
            <p:cNvSpPr>
              <a:spLocks noChangeShapeType="1"/>
            </p:cNvSpPr>
            <p:nvPr/>
          </p:nvSpPr>
          <p:spPr bwMode="auto">
            <a:xfrm rot="6803078" flipH="1" flipV="1">
              <a:off x="3498" y="421"/>
              <a:ext cx="48" cy="0"/>
            </a:xfrm>
            <a:prstGeom prst="line">
              <a:avLst/>
            </a:prstGeom>
            <a:noFill/>
            <a:ln w="28575">
              <a:solidFill>
                <a:srgbClr val="66FF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91" name="Text Box 103"/>
            <p:cNvSpPr txBox="1">
              <a:spLocks noChangeArrowheads="1"/>
            </p:cNvSpPr>
            <p:nvPr/>
          </p:nvSpPr>
          <p:spPr bwMode="auto">
            <a:xfrm>
              <a:off x="3264" y="67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0066"/>
                  </a:solidFill>
                </a:rPr>
                <a:t>Q</a:t>
              </a:r>
            </a:p>
          </p:txBody>
        </p:sp>
      </p:grpSp>
      <p:grpSp>
        <p:nvGrpSpPr>
          <p:cNvPr id="41250" name="Group 290"/>
          <p:cNvGrpSpPr>
            <a:grpSpLocks/>
          </p:cNvGrpSpPr>
          <p:nvPr/>
        </p:nvGrpSpPr>
        <p:grpSpPr bwMode="auto">
          <a:xfrm>
            <a:off x="4267200" y="3276600"/>
            <a:ext cx="1905000" cy="914400"/>
            <a:chOff x="1728" y="2064"/>
            <a:chExt cx="1200" cy="576"/>
          </a:xfrm>
        </p:grpSpPr>
        <p:sp>
          <p:nvSpPr>
            <p:cNvPr id="21665" name="Line 106"/>
            <p:cNvSpPr>
              <a:spLocks noChangeShapeType="1"/>
            </p:cNvSpPr>
            <p:nvPr/>
          </p:nvSpPr>
          <p:spPr bwMode="auto">
            <a:xfrm>
              <a:off x="1728" y="2064"/>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6" name="Line 107"/>
            <p:cNvSpPr>
              <a:spLocks noChangeShapeType="1"/>
            </p:cNvSpPr>
            <p:nvPr/>
          </p:nvSpPr>
          <p:spPr bwMode="auto">
            <a:xfrm>
              <a:off x="1728" y="2256"/>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7" name="Line 108"/>
            <p:cNvSpPr>
              <a:spLocks noChangeShapeType="1"/>
            </p:cNvSpPr>
            <p:nvPr/>
          </p:nvSpPr>
          <p:spPr bwMode="auto">
            <a:xfrm>
              <a:off x="1728" y="2448"/>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8" name="Line 109"/>
            <p:cNvSpPr>
              <a:spLocks noChangeShapeType="1"/>
            </p:cNvSpPr>
            <p:nvPr/>
          </p:nvSpPr>
          <p:spPr bwMode="auto">
            <a:xfrm>
              <a:off x="1728" y="2640"/>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41249" name="Group 289"/>
          <p:cNvGrpSpPr>
            <a:grpSpLocks/>
          </p:cNvGrpSpPr>
          <p:nvPr/>
        </p:nvGrpSpPr>
        <p:grpSpPr bwMode="auto">
          <a:xfrm>
            <a:off x="1828800" y="3276600"/>
            <a:ext cx="1905000" cy="914400"/>
            <a:chOff x="192" y="2064"/>
            <a:chExt cx="1200" cy="576"/>
          </a:xfrm>
        </p:grpSpPr>
        <p:sp>
          <p:nvSpPr>
            <p:cNvPr id="21661" name="Line 110"/>
            <p:cNvSpPr>
              <a:spLocks noChangeShapeType="1"/>
            </p:cNvSpPr>
            <p:nvPr/>
          </p:nvSpPr>
          <p:spPr bwMode="auto">
            <a:xfrm flipH="1">
              <a:off x="192" y="2064"/>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2" name="Line 111"/>
            <p:cNvSpPr>
              <a:spLocks noChangeShapeType="1"/>
            </p:cNvSpPr>
            <p:nvPr/>
          </p:nvSpPr>
          <p:spPr bwMode="auto">
            <a:xfrm flipH="1">
              <a:off x="192" y="2256"/>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3" name="Line 112"/>
            <p:cNvSpPr>
              <a:spLocks noChangeShapeType="1"/>
            </p:cNvSpPr>
            <p:nvPr/>
          </p:nvSpPr>
          <p:spPr bwMode="auto">
            <a:xfrm flipH="1">
              <a:off x="192" y="2448"/>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4" name="Line 113"/>
            <p:cNvSpPr>
              <a:spLocks noChangeShapeType="1"/>
            </p:cNvSpPr>
            <p:nvPr/>
          </p:nvSpPr>
          <p:spPr bwMode="auto">
            <a:xfrm flipH="1">
              <a:off x="192" y="2640"/>
              <a:ext cx="1200"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41248" name="Group 288"/>
          <p:cNvGrpSpPr>
            <a:grpSpLocks/>
          </p:cNvGrpSpPr>
          <p:nvPr/>
        </p:nvGrpSpPr>
        <p:grpSpPr bwMode="auto">
          <a:xfrm>
            <a:off x="3657600" y="3124200"/>
            <a:ext cx="609600" cy="1219200"/>
            <a:chOff x="1344" y="1968"/>
            <a:chExt cx="384" cy="768"/>
          </a:xfrm>
        </p:grpSpPr>
        <p:sp>
          <p:nvSpPr>
            <p:cNvPr id="21636" name="Rectangle 226"/>
            <p:cNvSpPr>
              <a:spLocks noChangeArrowheads="1"/>
            </p:cNvSpPr>
            <p:nvPr/>
          </p:nvSpPr>
          <p:spPr bwMode="auto">
            <a:xfrm>
              <a:off x="1344" y="1968"/>
              <a:ext cx="384" cy="768"/>
            </a:xfrm>
            <a:prstGeom prst="rect">
              <a:avLst/>
            </a:prstGeom>
            <a:solidFill>
              <a:srgbClr val="CCCCFF"/>
            </a:solidFill>
            <a:ln w="28575">
              <a:solidFill>
                <a:srgbClr val="CC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grpSp>
          <p:nvGrpSpPr>
            <p:cNvPr id="21637" name="Group 230"/>
            <p:cNvGrpSpPr>
              <a:grpSpLocks/>
            </p:cNvGrpSpPr>
            <p:nvPr/>
          </p:nvGrpSpPr>
          <p:grpSpPr bwMode="auto">
            <a:xfrm>
              <a:off x="1344" y="2016"/>
              <a:ext cx="96" cy="96"/>
              <a:chOff x="672" y="1248"/>
              <a:chExt cx="96" cy="96"/>
            </a:xfrm>
          </p:grpSpPr>
          <p:sp>
            <p:nvSpPr>
              <p:cNvPr id="21659" name="Line 231"/>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60" name="Line 232"/>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38" name="Group 236"/>
            <p:cNvGrpSpPr>
              <a:grpSpLocks/>
            </p:cNvGrpSpPr>
            <p:nvPr/>
          </p:nvGrpSpPr>
          <p:grpSpPr bwMode="auto">
            <a:xfrm>
              <a:off x="1344" y="2208"/>
              <a:ext cx="96" cy="96"/>
              <a:chOff x="672" y="1248"/>
              <a:chExt cx="96" cy="96"/>
            </a:xfrm>
          </p:grpSpPr>
          <p:sp>
            <p:nvSpPr>
              <p:cNvPr id="21657" name="Line 237"/>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58" name="Line 238"/>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39" name="Group 248"/>
            <p:cNvGrpSpPr>
              <a:grpSpLocks/>
            </p:cNvGrpSpPr>
            <p:nvPr/>
          </p:nvGrpSpPr>
          <p:grpSpPr bwMode="auto">
            <a:xfrm>
              <a:off x="1344" y="2400"/>
              <a:ext cx="96" cy="96"/>
              <a:chOff x="672" y="1248"/>
              <a:chExt cx="96" cy="96"/>
            </a:xfrm>
          </p:grpSpPr>
          <p:sp>
            <p:nvSpPr>
              <p:cNvPr id="21655" name="Line 249"/>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56" name="Line 250"/>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40" name="Group 254"/>
            <p:cNvGrpSpPr>
              <a:grpSpLocks/>
            </p:cNvGrpSpPr>
            <p:nvPr/>
          </p:nvGrpSpPr>
          <p:grpSpPr bwMode="auto">
            <a:xfrm>
              <a:off x="1344" y="2592"/>
              <a:ext cx="96" cy="96"/>
              <a:chOff x="672" y="1248"/>
              <a:chExt cx="96" cy="96"/>
            </a:xfrm>
          </p:grpSpPr>
          <p:sp>
            <p:nvSpPr>
              <p:cNvPr id="21653" name="Line 255"/>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54" name="Line 256"/>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41" name="Group 260"/>
            <p:cNvGrpSpPr>
              <a:grpSpLocks/>
            </p:cNvGrpSpPr>
            <p:nvPr/>
          </p:nvGrpSpPr>
          <p:grpSpPr bwMode="auto">
            <a:xfrm>
              <a:off x="1632" y="2016"/>
              <a:ext cx="96" cy="96"/>
              <a:chOff x="672" y="1248"/>
              <a:chExt cx="96" cy="96"/>
            </a:xfrm>
          </p:grpSpPr>
          <p:sp>
            <p:nvSpPr>
              <p:cNvPr id="21651" name="Line 261"/>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52" name="Line 262"/>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42" name="Group 263"/>
            <p:cNvGrpSpPr>
              <a:grpSpLocks/>
            </p:cNvGrpSpPr>
            <p:nvPr/>
          </p:nvGrpSpPr>
          <p:grpSpPr bwMode="auto">
            <a:xfrm>
              <a:off x="1632" y="2208"/>
              <a:ext cx="96" cy="96"/>
              <a:chOff x="672" y="1248"/>
              <a:chExt cx="96" cy="96"/>
            </a:xfrm>
          </p:grpSpPr>
          <p:sp>
            <p:nvSpPr>
              <p:cNvPr id="21649" name="Line 264"/>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50" name="Line 265"/>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43" name="Group 266"/>
            <p:cNvGrpSpPr>
              <a:grpSpLocks/>
            </p:cNvGrpSpPr>
            <p:nvPr/>
          </p:nvGrpSpPr>
          <p:grpSpPr bwMode="auto">
            <a:xfrm>
              <a:off x="1632" y="2400"/>
              <a:ext cx="96" cy="96"/>
              <a:chOff x="672" y="1248"/>
              <a:chExt cx="96" cy="96"/>
            </a:xfrm>
          </p:grpSpPr>
          <p:sp>
            <p:nvSpPr>
              <p:cNvPr id="21647" name="Line 267"/>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48" name="Line 268"/>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644" name="Group 269"/>
            <p:cNvGrpSpPr>
              <a:grpSpLocks/>
            </p:cNvGrpSpPr>
            <p:nvPr/>
          </p:nvGrpSpPr>
          <p:grpSpPr bwMode="auto">
            <a:xfrm>
              <a:off x="1632" y="2592"/>
              <a:ext cx="96" cy="96"/>
              <a:chOff x="672" y="1248"/>
              <a:chExt cx="96" cy="96"/>
            </a:xfrm>
          </p:grpSpPr>
          <p:sp>
            <p:nvSpPr>
              <p:cNvPr id="21645" name="Line 270"/>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46" name="Line 271"/>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41251" name="Group 291"/>
          <p:cNvGrpSpPr>
            <a:grpSpLocks/>
          </p:cNvGrpSpPr>
          <p:nvPr/>
        </p:nvGrpSpPr>
        <p:grpSpPr bwMode="auto">
          <a:xfrm>
            <a:off x="6705600" y="3035300"/>
            <a:ext cx="3276600" cy="1841500"/>
            <a:chOff x="3264" y="1912"/>
            <a:chExt cx="2064" cy="1160"/>
          </a:xfrm>
        </p:grpSpPr>
        <p:sp>
          <p:nvSpPr>
            <p:cNvPr id="21524" name="Freeform 116"/>
            <p:cNvSpPr>
              <a:spLocks/>
            </p:cNvSpPr>
            <p:nvPr/>
          </p:nvSpPr>
          <p:spPr bwMode="auto">
            <a:xfrm rot="21185999" flipV="1">
              <a:off x="3264" y="1912"/>
              <a:ext cx="2064" cy="1160"/>
            </a:xfrm>
            <a:custGeom>
              <a:avLst/>
              <a:gdLst>
                <a:gd name="T0" fmla="*/ 61 w 2488"/>
                <a:gd name="T1" fmla="*/ 504 h 1160"/>
                <a:gd name="T2" fmla="*/ 126 w 2488"/>
                <a:gd name="T3" fmla="*/ 264 h 1160"/>
                <a:gd name="T4" fmla="*/ 242 w 2488"/>
                <a:gd name="T5" fmla="*/ 168 h 1160"/>
                <a:gd name="T6" fmla="*/ 359 w 2488"/>
                <a:gd name="T7" fmla="*/ 216 h 1160"/>
                <a:gd name="T8" fmla="*/ 424 w 2488"/>
                <a:gd name="T9" fmla="*/ 312 h 1160"/>
                <a:gd name="T10" fmla="*/ 489 w 2488"/>
                <a:gd name="T11" fmla="*/ 120 h 1160"/>
                <a:gd name="T12" fmla="*/ 592 w 2488"/>
                <a:gd name="T13" fmla="*/ 24 h 1160"/>
                <a:gd name="T14" fmla="*/ 632 w 2488"/>
                <a:gd name="T15" fmla="*/ 264 h 1160"/>
                <a:gd name="T16" fmla="*/ 619 w 2488"/>
                <a:gd name="T17" fmla="*/ 936 h 1160"/>
                <a:gd name="T18" fmla="*/ 307 w 2488"/>
                <a:gd name="T19" fmla="*/ 792 h 1160"/>
                <a:gd name="T20" fmla="*/ 190 w 2488"/>
                <a:gd name="T21" fmla="*/ 1128 h 1160"/>
                <a:gd name="T22" fmla="*/ 22 w 2488"/>
                <a:gd name="T23" fmla="*/ 984 h 1160"/>
                <a:gd name="T24" fmla="*/ 61 w 2488"/>
                <a:gd name="T25" fmla="*/ 504 h 11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488" h="1160">
                  <a:moveTo>
                    <a:pt x="224" y="504"/>
                  </a:moveTo>
                  <a:cubicBezTo>
                    <a:pt x="288" y="384"/>
                    <a:pt x="352" y="320"/>
                    <a:pt x="464" y="264"/>
                  </a:cubicBezTo>
                  <a:cubicBezTo>
                    <a:pt x="576" y="208"/>
                    <a:pt x="752" y="176"/>
                    <a:pt x="896" y="168"/>
                  </a:cubicBezTo>
                  <a:cubicBezTo>
                    <a:pt x="1040" y="160"/>
                    <a:pt x="1216" y="192"/>
                    <a:pt x="1328" y="216"/>
                  </a:cubicBezTo>
                  <a:cubicBezTo>
                    <a:pt x="1440" y="240"/>
                    <a:pt x="1488" y="328"/>
                    <a:pt x="1568" y="312"/>
                  </a:cubicBezTo>
                  <a:cubicBezTo>
                    <a:pt x="1648" y="296"/>
                    <a:pt x="1704" y="168"/>
                    <a:pt x="1808" y="120"/>
                  </a:cubicBezTo>
                  <a:cubicBezTo>
                    <a:pt x="1912" y="72"/>
                    <a:pt x="2104" y="0"/>
                    <a:pt x="2192" y="24"/>
                  </a:cubicBezTo>
                  <a:cubicBezTo>
                    <a:pt x="2280" y="48"/>
                    <a:pt x="2320" y="112"/>
                    <a:pt x="2336" y="264"/>
                  </a:cubicBezTo>
                  <a:cubicBezTo>
                    <a:pt x="2352" y="416"/>
                    <a:pt x="2488" y="848"/>
                    <a:pt x="2288" y="936"/>
                  </a:cubicBezTo>
                  <a:cubicBezTo>
                    <a:pt x="2088" y="1024"/>
                    <a:pt x="1400" y="760"/>
                    <a:pt x="1136" y="792"/>
                  </a:cubicBezTo>
                  <a:cubicBezTo>
                    <a:pt x="872" y="824"/>
                    <a:pt x="880" y="1096"/>
                    <a:pt x="704" y="1128"/>
                  </a:cubicBezTo>
                  <a:cubicBezTo>
                    <a:pt x="528" y="1160"/>
                    <a:pt x="160" y="1088"/>
                    <a:pt x="80" y="984"/>
                  </a:cubicBezTo>
                  <a:cubicBezTo>
                    <a:pt x="0" y="880"/>
                    <a:pt x="160" y="624"/>
                    <a:pt x="224" y="504"/>
                  </a:cubicBezTo>
                  <a:close/>
                </a:path>
              </a:pathLst>
            </a:custGeom>
            <a:solidFill>
              <a:srgbClr val="CCCCFF"/>
            </a:solidFill>
            <a:ln w="28575" cmpd="sng">
              <a:solidFill>
                <a:srgbClr val="CC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21525" name="Group 117"/>
            <p:cNvGrpSpPr>
              <a:grpSpLocks/>
            </p:cNvGrpSpPr>
            <p:nvPr/>
          </p:nvGrpSpPr>
          <p:grpSpPr bwMode="auto">
            <a:xfrm>
              <a:off x="3456" y="2056"/>
              <a:ext cx="96" cy="96"/>
              <a:chOff x="672" y="1248"/>
              <a:chExt cx="96" cy="96"/>
            </a:xfrm>
          </p:grpSpPr>
          <p:sp>
            <p:nvSpPr>
              <p:cNvPr id="21634" name="Line 118"/>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35" name="Line 119"/>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26" name="Group 120"/>
            <p:cNvGrpSpPr>
              <a:grpSpLocks/>
            </p:cNvGrpSpPr>
            <p:nvPr/>
          </p:nvGrpSpPr>
          <p:grpSpPr bwMode="auto">
            <a:xfrm>
              <a:off x="3744" y="2008"/>
              <a:ext cx="96" cy="96"/>
              <a:chOff x="672" y="1248"/>
              <a:chExt cx="96" cy="96"/>
            </a:xfrm>
          </p:grpSpPr>
          <p:sp>
            <p:nvSpPr>
              <p:cNvPr id="21632" name="Line 121"/>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33" name="Line 122"/>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27" name="Group 123"/>
            <p:cNvGrpSpPr>
              <a:grpSpLocks/>
            </p:cNvGrpSpPr>
            <p:nvPr/>
          </p:nvGrpSpPr>
          <p:grpSpPr bwMode="auto">
            <a:xfrm>
              <a:off x="3360" y="2104"/>
              <a:ext cx="96" cy="96"/>
              <a:chOff x="672" y="1248"/>
              <a:chExt cx="96" cy="96"/>
            </a:xfrm>
          </p:grpSpPr>
          <p:sp>
            <p:nvSpPr>
              <p:cNvPr id="21630" name="Line 124"/>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31" name="Line 125"/>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28" name="Group 126"/>
            <p:cNvGrpSpPr>
              <a:grpSpLocks/>
            </p:cNvGrpSpPr>
            <p:nvPr/>
          </p:nvGrpSpPr>
          <p:grpSpPr bwMode="auto">
            <a:xfrm>
              <a:off x="4032" y="2296"/>
              <a:ext cx="96" cy="96"/>
              <a:chOff x="672" y="1248"/>
              <a:chExt cx="96" cy="96"/>
            </a:xfrm>
          </p:grpSpPr>
          <p:sp>
            <p:nvSpPr>
              <p:cNvPr id="21628" name="Line 127"/>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29" name="Line 128"/>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29" name="Group 129"/>
            <p:cNvGrpSpPr>
              <a:grpSpLocks/>
            </p:cNvGrpSpPr>
            <p:nvPr/>
          </p:nvGrpSpPr>
          <p:grpSpPr bwMode="auto">
            <a:xfrm>
              <a:off x="4848" y="2824"/>
              <a:ext cx="96" cy="96"/>
              <a:chOff x="672" y="1248"/>
              <a:chExt cx="96" cy="96"/>
            </a:xfrm>
          </p:grpSpPr>
          <p:sp>
            <p:nvSpPr>
              <p:cNvPr id="21626" name="Line 130"/>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27" name="Line 131"/>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0" name="Group 132"/>
            <p:cNvGrpSpPr>
              <a:grpSpLocks/>
            </p:cNvGrpSpPr>
            <p:nvPr/>
          </p:nvGrpSpPr>
          <p:grpSpPr bwMode="auto">
            <a:xfrm>
              <a:off x="3360" y="2344"/>
              <a:ext cx="96" cy="96"/>
              <a:chOff x="672" y="1248"/>
              <a:chExt cx="96" cy="96"/>
            </a:xfrm>
          </p:grpSpPr>
          <p:sp>
            <p:nvSpPr>
              <p:cNvPr id="21624" name="Line 133"/>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25" name="Line 134"/>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1" name="Group 135"/>
            <p:cNvGrpSpPr>
              <a:grpSpLocks/>
            </p:cNvGrpSpPr>
            <p:nvPr/>
          </p:nvGrpSpPr>
          <p:grpSpPr bwMode="auto">
            <a:xfrm>
              <a:off x="3312" y="2208"/>
              <a:ext cx="96" cy="96"/>
              <a:chOff x="672" y="1248"/>
              <a:chExt cx="96" cy="96"/>
            </a:xfrm>
          </p:grpSpPr>
          <p:sp>
            <p:nvSpPr>
              <p:cNvPr id="21622" name="Line 136"/>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23" name="Line 137"/>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2" name="Group 138"/>
            <p:cNvGrpSpPr>
              <a:grpSpLocks/>
            </p:cNvGrpSpPr>
            <p:nvPr/>
          </p:nvGrpSpPr>
          <p:grpSpPr bwMode="auto">
            <a:xfrm>
              <a:off x="3840" y="2104"/>
              <a:ext cx="96" cy="96"/>
              <a:chOff x="672" y="1248"/>
              <a:chExt cx="96" cy="96"/>
            </a:xfrm>
          </p:grpSpPr>
          <p:sp>
            <p:nvSpPr>
              <p:cNvPr id="21620" name="Line 139"/>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21" name="Line 140"/>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3" name="Group 141"/>
            <p:cNvGrpSpPr>
              <a:grpSpLocks/>
            </p:cNvGrpSpPr>
            <p:nvPr/>
          </p:nvGrpSpPr>
          <p:grpSpPr bwMode="auto">
            <a:xfrm>
              <a:off x="3936" y="2200"/>
              <a:ext cx="96" cy="96"/>
              <a:chOff x="672" y="1248"/>
              <a:chExt cx="96" cy="96"/>
            </a:xfrm>
          </p:grpSpPr>
          <p:sp>
            <p:nvSpPr>
              <p:cNvPr id="21618" name="Line 142"/>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19" name="Line 143"/>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4" name="Group 144"/>
            <p:cNvGrpSpPr>
              <a:grpSpLocks/>
            </p:cNvGrpSpPr>
            <p:nvPr/>
          </p:nvGrpSpPr>
          <p:grpSpPr bwMode="auto">
            <a:xfrm>
              <a:off x="4176" y="2296"/>
              <a:ext cx="96" cy="96"/>
              <a:chOff x="672" y="1248"/>
              <a:chExt cx="96" cy="96"/>
            </a:xfrm>
          </p:grpSpPr>
          <p:sp>
            <p:nvSpPr>
              <p:cNvPr id="21616" name="Line 145"/>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17" name="Line 146"/>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5" name="Group 147"/>
            <p:cNvGrpSpPr>
              <a:grpSpLocks/>
            </p:cNvGrpSpPr>
            <p:nvPr/>
          </p:nvGrpSpPr>
          <p:grpSpPr bwMode="auto">
            <a:xfrm>
              <a:off x="4992" y="2824"/>
              <a:ext cx="96" cy="96"/>
              <a:chOff x="672" y="1248"/>
              <a:chExt cx="96" cy="96"/>
            </a:xfrm>
          </p:grpSpPr>
          <p:sp>
            <p:nvSpPr>
              <p:cNvPr id="21614" name="Line 148"/>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15" name="Line 149"/>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6" name="Group 150"/>
            <p:cNvGrpSpPr>
              <a:grpSpLocks/>
            </p:cNvGrpSpPr>
            <p:nvPr/>
          </p:nvGrpSpPr>
          <p:grpSpPr bwMode="auto">
            <a:xfrm>
              <a:off x="4752" y="2776"/>
              <a:ext cx="96" cy="96"/>
              <a:chOff x="672" y="1248"/>
              <a:chExt cx="96" cy="96"/>
            </a:xfrm>
          </p:grpSpPr>
          <p:sp>
            <p:nvSpPr>
              <p:cNvPr id="21612" name="Line 151"/>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13" name="Line 152"/>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7" name="Group 153"/>
            <p:cNvGrpSpPr>
              <a:grpSpLocks/>
            </p:cNvGrpSpPr>
            <p:nvPr/>
          </p:nvGrpSpPr>
          <p:grpSpPr bwMode="auto">
            <a:xfrm>
              <a:off x="3456" y="2584"/>
              <a:ext cx="96" cy="96"/>
              <a:chOff x="672" y="1248"/>
              <a:chExt cx="96" cy="96"/>
            </a:xfrm>
          </p:grpSpPr>
          <p:sp>
            <p:nvSpPr>
              <p:cNvPr id="21610" name="Line 154"/>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11" name="Line 155"/>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8" name="Group 156"/>
            <p:cNvGrpSpPr>
              <a:grpSpLocks/>
            </p:cNvGrpSpPr>
            <p:nvPr/>
          </p:nvGrpSpPr>
          <p:grpSpPr bwMode="auto">
            <a:xfrm>
              <a:off x="3408" y="2488"/>
              <a:ext cx="96" cy="96"/>
              <a:chOff x="672" y="1248"/>
              <a:chExt cx="96" cy="96"/>
            </a:xfrm>
          </p:grpSpPr>
          <p:sp>
            <p:nvSpPr>
              <p:cNvPr id="21608" name="Line 157"/>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09" name="Line 158"/>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39" name="Group 159"/>
            <p:cNvGrpSpPr>
              <a:grpSpLocks/>
            </p:cNvGrpSpPr>
            <p:nvPr/>
          </p:nvGrpSpPr>
          <p:grpSpPr bwMode="auto">
            <a:xfrm>
              <a:off x="4176" y="2776"/>
              <a:ext cx="96" cy="96"/>
              <a:chOff x="672" y="1248"/>
              <a:chExt cx="96" cy="96"/>
            </a:xfrm>
          </p:grpSpPr>
          <p:sp>
            <p:nvSpPr>
              <p:cNvPr id="21606" name="Line 160"/>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07" name="Line 161"/>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0" name="Group 162"/>
            <p:cNvGrpSpPr>
              <a:grpSpLocks/>
            </p:cNvGrpSpPr>
            <p:nvPr/>
          </p:nvGrpSpPr>
          <p:grpSpPr bwMode="auto">
            <a:xfrm>
              <a:off x="3648" y="2776"/>
              <a:ext cx="96" cy="96"/>
              <a:chOff x="672" y="1248"/>
              <a:chExt cx="96" cy="96"/>
            </a:xfrm>
          </p:grpSpPr>
          <p:sp>
            <p:nvSpPr>
              <p:cNvPr id="21604" name="Line 163"/>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05" name="Line 164"/>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1" name="Group 165"/>
            <p:cNvGrpSpPr>
              <a:grpSpLocks/>
            </p:cNvGrpSpPr>
            <p:nvPr/>
          </p:nvGrpSpPr>
          <p:grpSpPr bwMode="auto">
            <a:xfrm>
              <a:off x="4560" y="2632"/>
              <a:ext cx="96" cy="96"/>
              <a:chOff x="672" y="1248"/>
              <a:chExt cx="96" cy="96"/>
            </a:xfrm>
          </p:grpSpPr>
          <p:sp>
            <p:nvSpPr>
              <p:cNvPr id="21602" name="Line 166"/>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03" name="Line 167"/>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2" name="Group 168"/>
            <p:cNvGrpSpPr>
              <a:grpSpLocks/>
            </p:cNvGrpSpPr>
            <p:nvPr/>
          </p:nvGrpSpPr>
          <p:grpSpPr bwMode="auto">
            <a:xfrm>
              <a:off x="3552" y="2680"/>
              <a:ext cx="96" cy="96"/>
              <a:chOff x="672" y="1248"/>
              <a:chExt cx="96" cy="96"/>
            </a:xfrm>
          </p:grpSpPr>
          <p:sp>
            <p:nvSpPr>
              <p:cNvPr id="21600" name="Line 169"/>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601" name="Line 170"/>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3" name="Group 171"/>
            <p:cNvGrpSpPr>
              <a:grpSpLocks/>
            </p:cNvGrpSpPr>
            <p:nvPr/>
          </p:nvGrpSpPr>
          <p:grpSpPr bwMode="auto">
            <a:xfrm>
              <a:off x="3744" y="2824"/>
              <a:ext cx="96" cy="96"/>
              <a:chOff x="672" y="1248"/>
              <a:chExt cx="96" cy="96"/>
            </a:xfrm>
          </p:grpSpPr>
          <p:sp>
            <p:nvSpPr>
              <p:cNvPr id="21598" name="Line 172"/>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99" name="Line 173"/>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4" name="Group 174"/>
            <p:cNvGrpSpPr>
              <a:grpSpLocks/>
            </p:cNvGrpSpPr>
            <p:nvPr/>
          </p:nvGrpSpPr>
          <p:grpSpPr bwMode="auto">
            <a:xfrm>
              <a:off x="3888" y="2824"/>
              <a:ext cx="96" cy="96"/>
              <a:chOff x="672" y="1248"/>
              <a:chExt cx="96" cy="96"/>
            </a:xfrm>
          </p:grpSpPr>
          <p:sp>
            <p:nvSpPr>
              <p:cNvPr id="21596" name="Line 175"/>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97" name="Line 176"/>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5" name="Group 177"/>
            <p:cNvGrpSpPr>
              <a:grpSpLocks/>
            </p:cNvGrpSpPr>
            <p:nvPr/>
          </p:nvGrpSpPr>
          <p:grpSpPr bwMode="auto">
            <a:xfrm>
              <a:off x="4032" y="2824"/>
              <a:ext cx="96" cy="96"/>
              <a:chOff x="672" y="1248"/>
              <a:chExt cx="96" cy="96"/>
            </a:xfrm>
          </p:grpSpPr>
          <p:sp>
            <p:nvSpPr>
              <p:cNvPr id="21594" name="Line 178"/>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95" name="Line 179"/>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6" name="Group 180"/>
            <p:cNvGrpSpPr>
              <a:grpSpLocks/>
            </p:cNvGrpSpPr>
            <p:nvPr/>
          </p:nvGrpSpPr>
          <p:grpSpPr bwMode="auto">
            <a:xfrm>
              <a:off x="4656" y="2680"/>
              <a:ext cx="96" cy="96"/>
              <a:chOff x="672" y="1248"/>
              <a:chExt cx="96" cy="96"/>
            </a:xfrm>
          </p:grpSpPr>
          <p:sp>
            <p:nvSpPr>
              <p:cNvPr id="21592" name="Line 181"/>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93" name="Line 182"/>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7" name="Group 183"/>
            <p:cNvGrpSpPr>
              <a:grpSpLocks/>
            </p:cNvGrpSpPr>
            <p:nvPr/>
          </p:nvGrpSpPr>
          <p:grpSpPr bwMode="auto">
            <a:xfrm>
              <a:off x="4416" y="2680"/>
              <a:ext cx="96" cy="96"/>
              <a:chOff x="672" y="1248"/>
              <a:chExt cx="96" cy="96"/>
            </a:xfrm>
          </p:grpSpPr>
          <p:sp>
            <p:nvSpPr>
              <p:cNvPr id="21590" name="Line 184"/>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91" name="Line 185"/>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8" name="Group 186"/>
            <p:cNvGrpSpPr>
              <a:grpSpLocks/>
            </p:cNvGrpSpPr>
            <p:nvPr/>
          </p:nvGrpSpPr>
          <p:grpSpPr bwMode="auto">
            <a:xfrm>
              <a:off x="4320" y="2728"/>
              <a:ext cx="96" cy="96"/>
              <a:chOff x="672" y="1248"/>
              <a:chExt cx="96" cy="96"/>
            </a:xfrm>
          </p:grpSpPr>
          <p:sp>
            <p:nvSpPr>
              <p:cNvPr id="21588" name="Line 187"/>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89" name="Line 188"/>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49" name="Group 189"/>
            <p:cNvGrpSpPr>
              <a:grpSpLocks/>
            </p:cNvGrpSpPr>
            <p:nvPr/>
          </p:nvGrpSpPr>
          <p:grpSpPr bwMode="auto">
            <a:xfrm>
              <a:off x="4416" y="2248"/>
              <a:ext cx="96" cy="96"/>
              <a:chOff x="672" y="1248"/>
              <a:chExt cx="96" cy="96"/>
            </a:xfrm>
          </p:grpSpPr>
          <p:sp>
            <p:nvSpPr>
              <p:cNvPr id="21586" name="Line 190"/>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87" name="Line 191"/>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0" name="Group 192"/>
            <p:cNvGrpSpPr>
              <a:grpSpLocks/>
            </p:cNvGrpSpPr>
            <p:nvPr/>
          </p:nvGrpSpPr>
          <p:grpSpPr bwMode="auto">
            <a:xfrm>
              <a:off x="4560" y="2200"/>
              <a:ext cx="96" cy="96"/>
              <a:chOff x="672" y="1248"/>
              <a:chExt cx="96" cy="96"/>
            </a:xfrm>
          </p:grpSpPr>
          <p:sp>
            <p:nvSpPr>
              <p:cNvPr id="21584" name="Line 193"/>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85" name="Line 194"/>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1" name="Group 195"/>
            <p:cNvGrpSpPr>
              <a:grpSpLocks/>
            </p:cNvGrpSpPr>
            <p:nvPr/>
          </p:nvGrpSpPr>
          <p:grpSpPr bwMode="auto">
            <a:xfrm>
              <a:off x="5136" y="2680"/>
              <a:ext cx="96" cy="96"/>
              <a:chOff x="672" y="1248"/>
              <a:chExt cx="96" cy="96"/>
            </a:xfrm>
          </p:grpSpPr>
          <p:sp>
            <p:nvSpPr>
              <p:cNvPr id="21582" name="Line 196"/>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83" name="Line 197"/>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2" name="Group 198"/>
            <p:cNvGrpSpPr>
              <a:grpSpLocks/>
            </p:cNvGrpSpPr>
            <p:nvPr/>
          </p:nvGrpSpPr>
          <p:grpSpPr bwMode="auto">
            <a:xfrm>
              <a:off x="4800" y="2104"/>
              <a:ext cx="96" cy="96"/>
              <a:chOff x="672" y="1248"/>
              <a:chExt cx="96" cy="96"/>
            </a:xfrm>
          </p:grpSpPr>
          <p:sp>
            <p:nvSpPr>
              <p:cNvPr id="21580" name="Line 199"/>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81" name="Line 200"/>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3" name="Group 201"/>
            <p:cNvGrpSpPr>
              <a:grpSpLocks/>
            </p:cNvGrpSpPr>
            <p:nvPr/>
          </p:nvGrpSpPr>
          <p:grpSpPr bwMode="auto">
            <a:xfrm>
              <a:off x="4944" y="2056"/>
              <a:ext cx="96" cy="96"/>
              <a:chOff x="672" y="1248"/>
              <a:chExt cx="96" cy="96"/>
            </a:xfrm>
          </p:grpSpPr>
          <p:sp>
            <p:nvSpPr>
              <p:cNvPr id="21578" name="Line 202"/>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79" name="Line 203"/>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4" name="Group 204"/>
            <p:cNvGrpSpPr>
              <a:grpSpLocks/>
            </p:cNvGrpSpPr>
            <p:nvPr/>
          </p:nvGrpSpPr>
          <p:grpSpPr bwMode="auto">
            <a:xfrm>
              <a:off x="4320" y="2296"/>
              <a:ext cx="96" cy="96"/>
              <a:chOff x="672" y="1248"/>
              <a:chExt cx="96" cy="96"/>
            </a:xfrm>
          </p:grpSpPr>
          <p:sp>
            <p:nvSpPr>
              <p:cNvPr id="21576" name="Line 205"/>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77" name="Line 206"/>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5" name="Group 207"/>
            <p:cNvGrpSpPr>
              <a:grpSpLocks/>
            </p:cNvGrpSpPr>
            <p:nvPr/>
          </p:nvGrpSpPr>
          <p:grpSpPr bwMode="auto">
            <a:xfrm>
              <a:off x="5088" y="2776"/>
              <a:ext cx="96" cy="96"/>
              <a:chOff x="672" y="1248"/>
              <a:chExt cx="96" cy="96"/>
            </a:xfrm>
          </p:grpSpPr>
          <p:sp>
            <p:nvSpPr>
              <p:cNvPr id="21574" name="Line 208"/>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75" name="Line 209"/>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6" name="Group 210"/>
            <p:cNvGrpSpPr>
              <a:grpSpLocks/>
            </p:cNvGrpSpPr>
            <p:nvPr/>
          </p:nvGrpSpPr>
          <p:grpSpPr bwMode="auto">
            <a:xfrm>
              <a:off x="4656" y="2152"/>
              <a:ext cx="96" cy="96"/>
              <a:chOff x="672" y="1248"/>
              <a:chExt cx="96" cy="96"/>
            </a:xfrm>
          </p:grpSpPr>
          <p:sp>
            <p:nvSpPr>
              <p:cNvPr id="21572" name="Line 211"/>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73" name="Line 212"/>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7" name="Group 213"/>
            <p:cNvGrpSpPr>
              <a:grpSpLocks/>
            </p:cNvGrpSpPr>
            <p:nvPr/>
          </p:nvGrpSpPr>
          <p:grpSpPr bwMode="auto">
            <a:xfrm>
              <a:off x="5136" y="2536"/>
              <a:ext cx="96" cy="96"/>
              <a:chOff x="672" y="1248"/>
              <a:chExt cx="96" cy="96"/>
            </a:xfrm>
          </p:grpSpPr>
          <p:sp>
            <p:nvSpPr>
              <p:cNvPr id="21570" name="Line 214"/>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71" name="Line 215"/>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8" name="Group 216"/>
            <p:cNvGrpSpPr>
              <a:grpSpLocks/>
            </p:cNvGrpSpPr>
            <p:nvPr/>
          </p:nvGrpSpPr>
          <p:grpSpPr bwMode="auto">
            <a:xfrm>
              <a:off x="5136" y="2392"/>
              <a:ext cx="96" cy="96"/>
              <a:chOff x="672" y="1248"/>
              <a:chExt cx="96" cy="96"/>
            </a:xfrm>
          </p:grpSpPr>
          <p:sp>
            <p:nvSpPr>
              <p:cNvPr id="21568" name="Line 217"/>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69" name="Line 218"/>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59" name="Group 219"/>
            <p:cNvGrpSpPr>
              <a:grpSpLocks/>
            </p:cNvGrpSpPr>
            <p:nvPr/>
          </p:nvGrpSpPr>
          <p:grpSpPr bwMode="auto">
            <a:xfrm>
              <a:off x="5088" y="2104"/>
              <a:ext cx="96" cy="96"/>
              <a:chOff x="672" y="1248"/>
              <a:chExt cx="96" cy="96"/>
            </a:xfrm>
          </p:grpSpPr>
          <p:sp>
            <p:nvSpPr>
              <p:cNvPr id="21566" name="Line 220"/>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67" name="Line 221"/>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60" name="Group 222"/>
            <p:cNvGrpSpPr>
              <a:grpSpLocks/>
            </p:cNvGrpSpPr>
            <p:nvPr/>
          </p:nvGrpSpPr>
          <p:grpSpPr bwMode="auto">
            <a:xfrm>
              <a:off x="5136" y="2248"/>
              <a:ext cx="96" cy="96"/>
              <a:chOff x="672" y="1248"/>
              <a:chExt cx="96" cy="96"/>
            </a:xfrm>
          </p:grpSpPr>
          <p:sp>
            <p:nvSpPr>
              <p:cNvPr id="21564" name="Line 223"/>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65" name="Line 224"/>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21561" name="Group 272"/>
            <p:cNvGrpSpPr>
              <a:grpSpLocks/>
            </p:cNvGrpSpPr>
            <p:nvPr/>
          </p:nvGrpSpPr>
          <p:grpSpPr bwMode="auto">
            <a:xfrm>
              <a:off x="3600" y="2016"/>
              <a:ext cx="96" cy="96"/>
              <a:chOff x="672" y="1248"/>
              <a:chExt cx="96" cy="96"/>
            </a:xfrm>
          </p:grpSpPr>
          <p:sp>
            <p:nvSpPr>
              <p:cNvPr id="21562" name="Line 273"/>
              <p:cNvSpPr>
                <a:spLocks noChangeShapeType="1"/>
              </p:cNvSpPr>
              <p:nvPr/>
            </p:nvSpPr>
            <p:spPr bwMode="auto">
              <a:xfrm>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1563" name="Line 274"/>
              <p:cNvSpPr>
                <a:spLocks noChangeShapeType="1"/>
              </p:cNvSpPr>
              <p:nvPr/>
            </p:nvSpPr>
            <p:spPr bwMode="auto">
              <a:xfrm rot="5400000">
                <a:off x="672" y="1296"/>
                <a:ext cx="9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sp>
        <p:nvSpPr>
          <p:cNvPr id="41235" name="Line 275"/>
          <p:cNvSpPr>
            <a:spLocks noChangeShapeType="1"/>
          </p:cNvSpPr>
          <p:nvPr/>
        </p:nvSpPr>
        <p:spPr bwMode="auto">
          <a:xfrm flipH="1">
            <a:off x="6781800" y="4495800"/>
            <a:ext cx="457200" cy="6096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39" name="Line 279"/>
          <p:cNvSpPr>
            <a:spLocks noChangeShapeType="1"/>
          </p:cNvSpPr>
          <p:nvPr/>
        </p:nvSpPr>
        <p:spPr bwMode="auto">
          <a:xfrm>
            <a:off x="9753600" y="4648200"/>
            <a:ext cx="533400" cy="4572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40" name="Line 280"/>
          <p:cNvSpPr>
            <a:spLocks noChangeShapeType="1"/>
          </p:cNvSpPr>
          <p:nvPr/>
        </p:nvSpPr>
        <p:spPr bwMode="auto">
          <a:xfrm>
            <a:off x="9829800" y="3962400"/>
            <a:ext cx="609600"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41" name="Line 281"/>
          <p:cNvSpPr>
            <a:spLocks noChangeShapeType="1"/>
          </p:cNvSpPr>
          <p:nvPr/>
        </p:nvSpPr>
        <p:spPr bwMode="auto">
          <a:xfrm flipH="1" flipV="1">
            <a:off x="8763000" y="2895600"/>
            <a:ext cx="228600" cy="4572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43" name="Line 283"/>
          <p:cNvSpPr>
            <a:spLocks noChangeShapeType="1"/>
          </p:cNvSpPr>
          <p:nvPr/>
        </p:nvSpPr>
        <p:spPr bwMode="auto">
          <a:xfrm flipH="1" flipV="1">
            <a:off x="6858000" y="2743200"/>
            <a:ext cx="228600" cy="5334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41245" name="Text Box 285"/>
          <p:cNvSpPr txBox="1">
            <a:spLocks noChangeArrowheads="1"/>
          </p:cNvSpPr>
          <p:nvPr/>
        </p:nvSpPr>
        <p:spPr bwMode="auto">
          <a:xfrm>
            <a:off x="1600200" y="5224464"/>
            <a:ext cx="8763000" cy="132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startAt="8"/>
            </a:pPr>
            <a:r>
              <a:rPr lang="en-US" altLang="en-US" sz="1800" b="1">
                <a:solidFill>
                  <a:srgbClr val="FF66FF"/>
                </a:solidFill>
              </a:rPr>
              <a:t>Electric lines of force contract lengthwise to represent attraction between two unlike charges.</a:t>
            </a:r>
          </a:p>
          <a:p>
            <a:pPr fontAlgn="base">
              <a:spcBef>
                <a:spcPct val="50000"/>
              </a:spcBef>
              <a:spcAft>
                <a:spcPct val="0"/>
              </a:spcAft>
              <a:buFontTx/>
              <a:buAutoNum type="arabicPeriod" startAt="8"/>
            </a:pPr>
            <a:r>
              <a:rPr lang="en-US" altLang="en-US" sz="1800" b="1">
                <a:solidFill>
                  <a:srgbClr val="FFFF66"/>
                </a:solidFill>
              </a:rPr>
              <a:t>Electric lines of force exert lateral (sideways) pressure to represent repulsion between two like charges.</a:t>
            </a:r>
          </a:p>
        </p:txBody>
      </p:sp>
    </p:spTree>
    <p:extLst>
      <p:ext uri="{BB962C8B-B14F-4D97-AF65-F5344CB8AC3E}">
        <p14:creationId xmlns:p14="http://schemas.microsoft.com/office/powerpoint/2010/main" val="23897353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0978">
                                            <p:txEl>
                                              <p:pRg st="0" end="0"/>
                                            </p:txEl>
                                          </p:spTgt>
                                        </p:tgtEl>
                                        <p:attrNameLst>
                                          <p:attrName>style.visibility</p:attrName>
                                        </p:attrNameLst>
                                      </p:cBhvr>
                                      <p:to>
                                        <p:strVal val="visible"/>
                                      </p:to>
                                    </p:set>
                                    <p:animEffect transition="in" filter="wipe(up)">
                                      <p:cBhvr>
                                        <p:cTn id="7" dur="500"/>
                                        <p:tgtEl>
                                          <p:spTgt spid="409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41246"/>
                                        </p:tgtEl>
                                        <p:attrNameLst>
                                          <p:attrName>style.visibility</p:attrName>
                                        </p:attrNameLst>
                                      </p:cBhvr>
                                      <p:to>
                                        <p:strVal val="visible"/>
                                      </p:to>
                                    </p:set>
                                    <p:anim calcmode="lin" valueType="num">
                                      <p:cBhvr>
                                        <p:cTn id="12" dur="500" fill="hold"/>
                                        <p:tgtEl>
                                          <p:spTgt spid="41246"/>
                                        </p:tgtEl>
                                        <p:attrNameLst>
                                          <p:attrName>ppt_w</p:attrName>
                                        </p:attrNameLst>
                                      </p:cBhvr>
                                      <p:tavLst>
                                        <p:tav tm="0">
                                          <p:val>
                                            <p:fltVal val="0"/>
                                          </p:val>
                                        </p:tav>
                                        <p:tav tm="100000">
                                          <p:val>
                                            <p:strVal val="#ppt_w"/>
                                          </p:val>
                                        </p:tav>
                                      </p:tavLst>
                                    </p:anim>
                                    <p:anim calcmode="lin" valueType="num">
                                      <p:cBhvr>
                                        <p:cTn id="13" dur="500" fill="hold"/>
                                        <p:tgtEl>
                                          <p:spTgt spid="41246"/>
                                        </p:tgtEl>
                                        <p:attrNameLst>
                                          <p:attrName>ppt_h</p:attrName>
                                        </p:attrNameLst>
                                      </p:cBhvr>
                                      <p:tavLst>
                                        <p:tav tm="0">
                                          <p:val>
                                            <p:fltVal val="0"/>
                                          </p:val>
                                        </p:tav>
                                        <p:tav tm="100000">
                                          <p:val>
                                            <p:strVal val="#ppt_h"/>
                                          </p:val>
                                        </p:tav>
                                      </p:tavLst>
                                    </p:anim>
                                    <p:animEffect transition="in" filter="fade">
                                      <p:cBhvr>
                                        <p:cTn id="14" dur="500"/>
                                        <p:tgtEl>
                                          <p:spTgt spid="4124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41247"/>
                                        </p:tgtEl>
                                        <p:attrNameLst>
                                          <p:attrName>style.visibility</p:attrName>
                                        </p:attrNameLst>
                                      </p:cBhvr>
                                      <p:to>
                                        <p:strVal val="visible"/>
                                      </p:to>
                                    </p:set>
                                    <p:anim calcmode="lin" valueType="num">
                                      <p:cBhvr>
                                        <p:cTn id="19" dur="500" fill="hold"/>
                                        <p:tgtEl>
                                          <p:spTgt spid="41247"/>
                                        </p:tgtEl>
                                        <p:attrNameLst>
                                          <p:attrName>ppt_w</p:attrName>
                                        </p:attrNameLst>
                                      </p:cBhvr>
                                      <p:tavLst>
                                        <p:tav tm="0">
                                          <p:val>
                                            <p:fltVal val="0"/>
                                          </p:val>
                                        </p:tav>
                                        <p:tav tm="100000">
                                          <p:val>
                                            <p:strVal val="#ppt_w"/>
                                          </p:val>
                                        </p:tav>
                                      </p:tavLst>
                                    </p:anim>
                                    <p:anim calcmode="lin" valueType="num">
                                      <p:cBhvr>
                                        <p:cTn id="20" dur="500" fill="hold"/>
                                        <p:tgtEl>
                                          <p:spTgt spid="41247"/>
                                        </p:tgtEl>
                                        <p:attrNameLst>
                                          <p:attrName>ppt_h</p:attrName>
                                        </p:attrNameLst>
                                      </p:cBhvr>
                                      <p:tavLst>
                                        <p:tav tm="0">
                                          <p:val>
                                            <p:fltVal val="0"/>
                                          </p:val>
                                        </p:tav>
                                        <p:tav tm="100000">
                                          <p:val>
                                            <p:strVal val="#ppt_h"/>
                                          </p:val>
                                        </p:tav>
                                      </p:tavLst>
                                    </p:anim>
                                    <p:animEffect transition="in" filter="fade">
                                      <p:cBhvr>
                                        <p:cTn id="21" dur="500"/>
                                        <p:tgtEl>
                                          <p:spTgt spid="4124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1061"/>
                                        </p:tgtEl>
                                        <p:attrNameLst>
                                          <p:attrName>style.visibility</p:attrName>
                                        </p:attrNameLst>
                                      </p:cBhvr>
                                      <p:to>
                                        <p:strVal val="visible"/>
                                      </p:to>
                                    </p:set>
                                    <p:animEffect transition="in" filter="dissolve">
                                      <p:cBhvr>
                                        <p:cTn id="26" dur="500"/>
                                        <p:tgtEl>
                                          <p:spTgt spid="41061"/>
                                        </p:tgtEl>
                                      </p:cBhvr>
                                    </p:animEffect>
                                  </p:childTnLst>
                                </p:cTn>
                              </p:par>
                            </p:childTnLst>
                          </p:cTn>
                        </p:par>
                        <p:par>
                          <p:cTn id="27" fill="hold" nodeType="afterGroup">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41060"/>
                                        </p:tgtEl>
                                        <p:attrNameLst>
                                          <p:attrName>style.visibility</p:attrName>
                                        </p:attrNameLst>
                                      </p:cBhvr>
                                      <p:to>
                                        <p:strVal val="visible"/>
                                      </p:to>
                                    </p:set>
                                    <p:animEffect transition="in" filter="dissolve">
                                      <p:cBhvr>
                                        <p:cTn id="30" dur="500"/>
                                        <p:tgtEl>
                                          <p:spTgt spid="4106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40978">
                                            <p:txEl>
                                              <p:pRg st="1" end="1"/>
                                            </p:txEl>
                                          </p:spTgt>
                                        </p:tgtEl>
                                        <p:attrNameLst>
                                          <p:attrName>style.visibility</p:attrName>
                                        </p:attrNameLst>
                                      </p:cBhvr>
                                      <p:to>
                                        <p:strVal val="visible"/>
                                      </p:to>
                                    </p:set>
                                    <p:animEffect transition="in" filter="wipe(up)">
                                      <p:cBhvr>
                                        <p:cTn id="35" dur="500"/>
                                        <p:tgtEl>
                                          <p:spTgt spid="40978">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0" fill="hold" nodeType="clickEffect">
                                  <p:stCondLst>
                                    <p:cond delay="0"/>
                                  </p:stCondLst>
                                  <p:childTnLst>
                                    <p:set>
                                      <p:cBhvr>
                                        <p:cTn id="39" dur="1" fill="hold">
                                          <p:stCondLst>
                                            <p:cond delay="0"/>
                                          </p:stCondLst>
                                        </p:cTn>
                                        <p:tgtEl>
                                          <p:spTgt spid="41248"/>
                                        </p:tgtEl>
                                        <p:attrNameLst>
                                          <p:attrName>style.visibility</p:attrName>
                                        </p:attrNameLst>
                                      </p:cBhvr>
                                      <p:to>
                                        <p:strVal val="visible"/>
                                      </p:to>
                                    </p:set>
                                    <p:anim calcmode="lin" valueType="num">
                                      <p:cBhvr>
                                        <p:cTn id="40" dur="500" fill="hold"/>
                                        <p:tgtEl>
                                          <p:spTgt spid="41248"/>
                                        </p:tgtEl>
                                        <p:attrNameLst>
                                          <p:attrName>ppt_w</p:attrName>
                                        </p:attrNameLst>
                                      </p:cBhvr>
                                      <p:tavLst>
                                        <p:tav tm="0">
                                          <p:val>
                                            <p:fltVal val="0"/>
                                          </p:val>
                                        </p:tav>
                                        <p:tav tm="100000">
                                          <p:val>
                                            <p:strVal val="#ppt_w"/>
                                          </p:val>
                                        </p:tav>
                                      </p:tavLst>
                                    </p:anim>
                                    <p:anim calcmode="lin" valueType="num">
                                      <p:cBhvr>
                                        <p:cTn id="41" dur="500" fill="hold"/>
                                        <p:tgtEl>
                                          <p:spTgt spid="41248"/>
                                        </p:tgtEl>
                                        <p:attrNameLst>
                                          <p:attrName>ppt_h</p:attrName>
                                        </p:attrNameLst>
                                      </p:cBhvr>
                                      <p:tavLst>
                                        <p:tav tm="0">
                                          <p:val>
                                            <p:fltVal val="0"/>
                                          </p:val>
                                        </p:tav>
                                        <p:tav tm="100000">
                                          <p:val>
                                            <p:strVal val="#ppt_h"/>
                                          </p:val>
                                        </p:tav>
                                      </p:tavLst>
                                    </p:anim>
                                    <p:animEffect transition="in" filter="fade">
                                      <p:cBhvr>
                                        <p:cTn id="42" dur="500"/>
                                        <p:tgtEl>
                                          <p:spTgt spid="412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41249"/>
                                        </p:tgtEl>
                                        <p:attrNameLst>
                                          <p:attrName>style.visibility</p:attrName>
                                        </p:attrNameLst>
                                      </p:cBhvr>
                                      <p:to>
                                        <p:strVal val="visible"/>
                                      </p:to>
                                    </p:set>
                                    <p:animEffect transition="in" filter="wipe(right)">
                                      <p:cBhvr>
                                        <p:cTn id="47" dur="500"/>
                                        <p:tgtEl>
                                          <p:spTgt spid="41249"/>
                                        </p:tgtEl>
                                      </p:cBhvr>
                                    </p:animEffect>
                                  </p:childTnLst>
                                </p:cTn>
                              </p:par>
                              <p:par>
                                <p:cTn id="48" presetID="22" presetClass="entr" presetSubtype="8" fill="hold" nodeType="withEffect">
                                  <p:stCondLst>
                                    <p:cond delay="0"/>
                                  </p:stCondLst>
                                  <p:childTnLst>
                                    <p:set>
                                      <p:cBhvr>
                                        <p:cTn id="49" dur="1" fill="hold">
                                          <p:stCondLst>
                                            <p:cond delay="0"/>
                                          </p:stCondLst>
                                        </p:cTn>
                                        <p:tgtEl>
                                          <p:spTgt spid="41250"/>
                                        </p:tgtEl>
                                        <p:attrNameLst>
                                          <p:attrName>style.visibility</p:attrName>
                                        </p:attrNameLst>
                                      </p:cBhvr>
                                      <p:to>
                                        <p:strVal val="visible"/>
                                      </p:to>
                                    </p:set>
                                    <p:animEffect transition="in" filter="wipe(left)">
                                      <p:cBhvr>
                                        <p:cTn id="50" dur="500"/>
                                        <p:tgtEl>
                                          <p:spTgt spid="4125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3" presetClass="entr" presetSubtype="0" fill="hold" nodeType="clickEffect">
                                  <p:stCondLst>
                                    <p:cond delay="0"/>
                                  </p:stCondLst>
                                  <p:childTnLst>
                                    <p:set>
                                      <p:cBhvr>
                                        <p:cTn id="54" dur="1" fill="hold">
                                          <p:stCondLst>
                                            <p:cond delay="0"/>
                                          </p:stCondLst>
                                        </p:cTn>
                                        <p:tgtEl>
                                          <p:spTgt spid="41251"/>
                                        </p:tgtEl>
                                        <p:attrNameLst>
                                          <p:attrName>style.visibility</p:attrName>
                                        </p:attrNameLst>
                                      </p:cBhvr>
                                      <p:to>
                                        <p:strVal val="visible"/>
                                      </p:to>
                                    </p:set>
                                    <p:anim calcmode="lin" valueType="num">
                                      <p:cBhvr>
                                        <p:cTn id="55" dur="500" fill="hold"/>
                                        <p:tgtEl>
                                          <p:spTgt spid="41251"/>
                                        </p:tgtEl>
                                        <p:attrNameLst>
                                          <p:attrName>ppt_w</p:attrName>
                                        </p:attrNameLst>
                                      </p:cBhvr>
                                      <p:tavLst>
                                        <p:tav tm="0">
                                          <p:val>
                                            <p:fltVal val="0"/>
                                          </p:val>
                                        </p:tav>
                                        <p:tav tm="100000">
                                          <p:val>
                                            <p:strVal val="#ppt_w"/>
                                          </p:val>
                                        </p:tav>
                                      </p:tavLst>
                                    </p:anim>
                                    <p:anim calcmode="lin" valueType="num">
                                      <p:cBhvr>
                                        <p:cTn id="56" dur="500" fill="hold"/>
                                        <p:tgtEl>
                                          <p:spTgt spid="41251"/>
                                        </p:tgtEl>
                                        <p:attrNameLst>
                                          <p:attrName>ppt_h</p:attrName>
                                        </p:attrNameLst>
                                      </p:cBhvr>
                                      <p:tavLst>
                                        <p:tav tm="0">
                                          <p:val>
                                            <p:fltVal val="0"/>
                                          </p:val>
                                        </p:tav>
                                        <p:tav tm="100000">
                                          <p:val>
                                            <p:strVal val="#ppt_h"/>
                                          </p:val>
                                        </p:tav>
                                      </p:tavLst>
                                    </p:anim>
                                    <p:animEffect transition="in" filter="fade">
                                      <p:cBhvr>
                                        <p:cTn id="57" dur="500"/>
                                        <p:tgtEl>
                                          <p:spTgt spid="412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41243"/>
                                        </p:tgtEl>
                                        <p:attrNameLst>
                                          <p:attrName>style.visibility</p:attrName>
                                        </p:attrNameLst>
                                      </p:cBhvr>
                                      <p:to>
                                        <p:strVal val="visible"/>
                                      </p:to>
                                    </p:set>
                                    <p:animEffect transition="in" filter="wipe(down)">
                                      <p:cBhvr>
                                        <p:cTn id="62" dur="500"/>
                                        <p:tgtEl>
                                          <p:spTgt spid="41243"/>
                                        </p:tgtEl>
                                      </p:cBhvr>
                                    </p:animEffect>
                                  </p:childTnLst>
                                </p:cTn>
                              </p:par>
                              <p:par>
                                <p:cTn id="63" presetID="22" presetClass="entr" presetSubtype="4" fill="hold" nodeType="withEffect">
                                  <p:stCondLst>
                                    <p:cond delay="0"/>
                                  </p:stCondLst>
                                  <p:childTnLst>
                                    <p:set>
                                      <p:cBhvr>
                                        <p:cTn id="64" dur="1" fill="hold">
                                          <p:stCondLst>
                                            <p:cond delay="0"/>
                                          </p:stCondLst>
                                        </p:cTn>
                                        <p:tgtEl>
                                          <p:spTgt spid="41242"/>
                                        </p:tgtEl>
                                        <p:attrNameLst>
                                          <p:attrName>style.visibility</p:attrName>
                                        </p:attrNameLst>
                                      </p:cBhvr>
                                      <p:to>
                                        <p:strVal val="visible"/>
                                      </p:to>
                                    </p:set>
                                    <p:animEffect transition="in" filter="wipe(down)">
                                      <p:cBhvr>
                                        <p:cTn id="65" dur="500"/>
                                        <p:tgtEl>
                                          <p:spTgt spid="41242"/>
                                        </p:tgtEl>
                                      </p:cBhvr>
                                    </p:animEffect>
                                  </p:childTnLst>
                                </p:cTn>
                              </p:par>
                              <p:par>
                                <p:cTn id="66" presetID="22" presetClass="entr" presetSubtype="4" fill="hold" nodeType="withEffect">
                                  <p:stCondLst>
                                    <p:cond delay="0"/>
                                  </p:stCondLst>
                                  <p:childTnLst>
                                    <p:set>
                                      <p:cBhvr>
                                        <p:cTn id="67" dur="1" fill="hold">
                                          <p:stCondLst>
                                            <p:cond delay="0"/>
                                          </p:stCondLst>
                                        </p:cTn>
                                        <p:tgtEl>
                                          <p:spTgt spid="41241"/>
                                        </p:tgtEl>
                                        <p:attrNameLst>
                                          <p:attrName>style.visibility</p:attrName>
                                        </p:attrNameLst>
                                      </p:cBhvr>
                                      <p:to>
                                        <p:strVal val="visible"/>
                                      </p:to>
                                    </p:set>
                                    <p:animEffect transition="in" filter="wipe(down)">
                                      <p:cBhvr>
                                        <p:cTn id="68" dur="500"/>
                                        <p:tgtEl>
                                          <p:spTgt spid="41241"/>
                                        </p:tgtEl>
                                      </p:cBhvr>
                                    </p:animEffect>
                                  </p:childTnLst>
                                </p:cTn>
                              </p:par>
                              <p:par>
                                <p:cTn id="69" presetID="22" presetClass="entr" presetSubtype="4" fill="hold" nodeType="withEffect">
                                  <p:stCondLst>
                                    <p:cond delay="0"/>
                                  </p:stCondLst>
                                  <p:childTnLst>
                                    <p:set>
                                      <p:cBhvr>
                                        <p:cTn id="70" dur="1" fill="hold">
                                          <p:stCondLst>
                                            <p:cond delay="0"/>
                                          </p:stCondLst>
                                        </p:cTn>
                                        <p:tgtEl>
                                          <p:spTgt spid="41244"/>
                                        </p:tgtEl>
                                        <p:attrNameLst>
                                          <p:attrName>style.visibility</p:attrName>
                                        </p:attrNameLst>
                                      </p:cBhvr>
                                      <p:to>
                                        <p:strVal val="visible"/>
                                      </p:to>
                                    </p:set>
                                    <p:animEffect transition="in" filter="wipe(down)">
                                      <p:cBhvr>
                                        <p:cTn id="71" dur="500"/>
                                        <p:tgtEl>
                                          <p:spTgt spid="41244"/>
                                        </p:tgtEl>
                                      </p:cBhvr>
                                    </p:animEffect>
                                  </p:childTnLst>
                                </p:cTn>
                              </p:par>
                              <p:par>
                                <p:cTn id="72" presetID="22" presetClass="entr" presetSubtype="8" fill="hold" nodeType="withEffect">
                                  <p:stCondLst>
                                    <p:cond delay="0"/>
                                  </p:stCondLst>
                                  <p:childTnLst>
                                    <p:set>
                                      <p:cBhvr>
                                        <p:cTn id="73" dur="1" fill="hold">
                                          <p:stCondLst>
                                            <p:cond delay="0"/>
                                          </p:stCondLst>
                                        </p:cTn>
                                        <p:tgtEl>
                                          <p:spTgt spid="41240"/>
                                        </p:tgtEl>
                                        <p:attrNameLst>
                                          <p:attrName>style.visibility</p:attrName>
                                        </p:attrNameLst>
                                      </p:cBhvr>
                                      <p:to>
                                        <p:strVal val="visible"/>
                                      </p:to>
                                    </p:set>
                                    <p:animEffect transition="in" filter="wipe(left)">
                                      <p:cBhvr>
                                        <p:cTn id="74" dur="500"/>
                                        <p:tgtEl>
                                          <p:spTgt spid="41240"/>
                                        </p:tgtEl>
                                      </p:cBhvr>
                                    </p:animEffect>
                                  </p:childTnLst>
                                </p:cTn>
                              </p:par>
                              <p:par>
                                <p:cTn id="75" presetID="22" presetClass="entr" presetSubtype="1" fill="hold" nodeType="withEffect">
                                  <p:stCondLst>
                                    <p:cond delay="0"/>
                                  </p:stCondLst>
                                  <p:childTnLst>
                                    <p:set>
                                      <p:cBhvr>
                                        <p:cTn id="76" dur="1" fill="hold">
                                          <p:stCondLst>
                                            <p:cond delay="0"/>
                                          </p:stCondLst>
                                        </p:cTn>
                                        <p:tgtEl>
                                          <p:spTgt spid="41239"/>
                                        </p:tgtEl>
                                        <p:attrNameLst>
                                          <p:attrName>style.visibility</p:attrName>
                                        </p:attrNameLst>
                                      </p:cBhvr>
                                      <p:to>
                                        <p:strVal val="visible"/>
                                      </p:to>
                                    </p:set>
                                    <p:animEffect transition="in" filter="wipe(up)">
                                      <p:cBhvr>
                                        <p:cTn id="77" dur="500"/>
                                        <p:tgtEl>
                                          <p:spTgt spid="41239"/>
                                        </p:tgtEl>
                                      </p:cBhvr>
                                    </p:animEffect>
                                  </p:childTnLst>
                                </p:cTn>
                              </p:par>
                              <p:par>
                                <p:cTn id="78" presetID="22" presetClass="entr" presetSubtype="1" fill="hold" nodeType="withEffect">
                                  <p:stCondLst>
                                    <p:cond delay="0"/>
                                  </p:stCondLst>
                                  <p:childTnLst>
                                    <p:set>
                                      <p:cBhvr>
                                        <p:cTn id="79" dur="1" fill="hold">
                                          <p:stCondLst>
                                            <p:cond delay="0"/>
                                          </p:stCondLst>
                                        </p:cTn>
                                        <p:tgtEl>
                                          <p:spTgt spid="41238"/>
                                        </p:tgtEl>
                                        <p:attrNameLst>
                                          <p:attrName>style.visibility</p:attrName>
                                        </p:attrNameLst>
                                      </p:cBhvr>
                                      <p:to>
                                        <p:strVal val="visible"/>
                                      </p:to>
                                    </p:set>
                                    <p:animEffect transition="in" filter="wipe(up)">
                                      <p:cBhvr>
                                        <p:cTn id="80" dur="500"/>
                                        <p:tgtEl>
                                          <p:spTgt spid="41238"/>
                                        </p:tgtEl>
                                      </p:cBhvr>
                                    </p:animEffect>
                                  </p:childTnLst>
                                </p:cTn>
                              </p:par>
                              <p:par>
                                <p:cTn id="81" presetID="22" presetClass="entr" presetSubtype="1" fill="hold" nodeType="withEffect">
                                  <p:stCondLst>
                                    <p:cond delay="0"/>
                                  </p:stCondLst>
                                  <p:childTnLst>
                                    <p:set>
                                      <p:cBhvr>
                                        <p:cTn id="82" dur="1" fill="hold">
                                          <p:stCondLst>
                                            <p:cond delay="0"/>
                                          </p:stCondLst>
                                        </p:cTn>
                                        <p:tgtEl>
                                          <p:spTgt spid="41235"/>
                                        </p:tgtEl>
                                        <p:attrNameLst>
                                          <p:attrName>style.visibility</p:attrName>
                                        </p:attrNameLst>
                                      </p:cBhvr>
                                      <p:to>
                                        <p:strVal val="visible"/>
                                      </p:to>
                                    </p:set>
                                    <p:animEffect transition="in" filter="wipe(up)">
                                      <p:cBhvr>
                                        <p:cTn id="83" dur="500"/>
                                        <p:tgtEl>
                                          <p:spTgt spid="4123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41245">
                                            <p:txEl>
                                              <p:pRg st="0" end="0"/>
                                            </p:txEl>
                                          </p:spTgt>
                                        </p:tgtEl>
                                        <p:attrNameLst>
                                          <p:attrName>style.visibility</p:attrName>
                                        </p:attrNameLst>
                                      </p:cBhvr>
                                      <p:to>
                                        <p:strVal val="visible"/>
                                      </p:to>
                                    </p:set>
                                    <p:animEffect transition="in" filter="wipe(up)">
                                      <p:cBhvr>
                                        <p:cTn id="88" dur="500"/>
                                        <p:tgtEl>
                                          <p:spTgt spid="41245">
                                            <p:txEl>
                                              <p:pRg st="0" end="0"/>
                                            </p:txEl>
                                          </p:spTgt>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nodeType="clickEffect">
                                  <p:stCondLst>
                                    <p:cond delay="0"/>
                                  </p:stCondLst>
                                  <p:childTnLst>
                                    <p:set>
                                      <p:cBhvr>
                                        <p:cTn id="92" dur="1" fill="hold">
                                          <p:stCondLst>
                                            <p:cond delay="0"/>
                                          </p:stCondLst>
                                        </p:cTn>
                                        <p:tgtEl>
                                          <p:spTgt spid="41245">
                                            <p:txEl>
                                              <p:pRg st="1" end="1"/>
                                            </p:txEl>
                                          </p:spTgt>
                                        </p:tgtEl>
                                        <p:attrNameLst>
                                          <p:attrName>style.visibility</p:attrName>
                                        </p:attrNameLst>
                                      </p:cBhvr>
                                      <p:to>
                                        <p:strVal val="visible"/>
                                      </p:to>
                                    </p:set>
                                    <p:animEffect transition="in" filter="wipe(up)">
                                      <p:cBhvr>
                                        <p:cTn id="93" dur="500"/>
                                        <p:tgtEl>
                                          <p:spTgt spid="412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0" grpId="0" animBg="1"/>
      <p:bldP spid="4106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4"/>
          <p:cNvSpPr txBox="1">
            <a:spLocks noChangeArrowheads="1"/>
          </p:cNvSpPr>
          <p:nvPr/>
        </p:nvSpPr>
        <p:spPr bwMode="auto">
          <a:xfrm>
            <a:off x="1600200" y="228601"/>
            <a:ext cx="87630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startAt="10"/>
            </a:pPr>
            <a:r>
              <a:rPr lang="en-US" altLang="en-US" sz="1800" b="1">
                <a:solidFill>
                  <a:srgbClr val="FF66FF"/>
                </a:solidFill>
              </a:rPr>
              <a:t>The number of lines per unit cross – sectional area perpendicular to the field lines (i.e. density of lines of force) is directly proportional to the magnitude of the intensity of electric field in that region.</a:t>
            </a:r>
          </a:p>
          <a:p>
            <a:pPr fontAlgn="base">
              <a:spcBef>
                <a:spcPct val="50000"/>
              </a:spcBef>
              <a:spcAft>
                <a:spcPct val="0"/>
              </a:spcAft>
              <a:buNone/>
            </a:pPr>
            <a:endParaRPr lang="en-US" altLang="en-US" sz="1800" b="1">
              <a:solidFill>
                <a:srgbClr val="FF66FF"/>
              </a:solidFill>
            </a:endParaRPr>
          </a:p>
          <a:p>
            <a:pPr fontAlgn="base">
              <a:spcBef>
                <a:spcPct val="50000"/>
              </a:spcBef>
              <a:spcAft>
                <a:spcPct val="0"/>
              </a:spcAft>
              <a:buNone/>
            </a:pPr>
            <a:endParaRPr lang="en-US" altLang="en-US" sz="1800" b="1">
              <a:solidFill>
                <a:srgbClr val="FF66FF"/>
              </a:solidFill>
            </a:endParaRPr>
          </a:p>
          <a:p>
            <a:pPr fontAlgn="base">
              <a:spcBef>
                <a:spcPct val="50000"/>
              </a:spcBef>
              <a:spcAft>
                <a:spcPct val="0"/>
              </a:spcAft>
              <a:buNone/>
            </a:pPr>
            <a:r>
              <a:rPr lang="en-US" altLang="en-US" sz="1800" b="1">
                <a:solidFill>
                  <a:srgbClr val="FF9900"/>
                </a:solidFill>
              </a:rPr>
              <a:t>11.</a:t>
            </a:r>
            <a:r>
              <a:rPr lang="en-US" altLang="en-US" sz="1800" b="1">
                <a:solidFill>
                  <a:srgbClr val="000000"/>
                </a:solidFill>
              </a:rPr>
              <a:t> </a:t>
            </a:r>
            <a:r>
              <a:rPr lang="en-US" altLang="en-US" sz="1800" b="1">
                <a:solidFill>
                  <a:srgbClr val="FF9900"/>
                </a:solidFill>
              </a:rPr>
              <a:t>Electric lines of force do not pass through a conductor.  Hence, the interior of the conductor is free from the influence of the electric field.</a:t>
            </a:r>
            <a:endParaRPr lang="en-US" altLang="en-US" sz="1800" b="1">
              <a:solidFill>
                <a:srgbClr val="000000"/>
              </a:solidFill>
            </a:endParaRPr>
          </a:p>
        </p:txBody>
      </p:sp>
      <p:grpSp>
        <p:nvGrpSpPr>
          <p:cNvPr id="48179" name="Group 51"/>
          <p:cNvGrpSpPr>
            <a:grpSpLocks/>
          </p:cNvGrpSpPr>
          <p:nvPr/>
        </p:nvGrpSpPr>
        <p:grpSpPr bwMode="auto">
          <a:xfrm>
            <a:off x="4419600" y="3548063"/>
            <a:ext cx="2209800" cy="1054100"/>
            <a:chOff x="1824" y="2235"/>
            <a:chExt cx="1392" cy="664"/>
          </a:xfrm>
        </p:grpSpPr>
        <p:sp>
          <p:nvSpPr>
            <p:cNvPr id="23592" name="Rectangle 7"/>
            <p:cNvSpPr>
              <a:spLocks noChangeArrowheads="1"/>
            </p:cNvSpPr>
            <p:nvPr/>
          </p:nvSpPr>
          <p:spPr bwMode="auto">
            <a:xfrm>
              <a:off x="1824" y="2235"/>
              <a:ext cx="1296" cy="624"/>
            </a:xfrm>
            <a:prstGeom prst="rect">
              <a:avLst/>
            </a:prstGeom>
            <a:solidFill>
              <a:srgbClr val="FF6600"/>
            </a:solidFill>
            <a:ln w="2857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800">
                <a:solidFill>
                  <a:srgbClr val="000000"/>
                </a:solidFill>
              </a:endParaRPr>
            </a:p>
          </p:txBody>
        </p:sp>
        <p:sp>
          <p:nvSpPr>
            <p:cNvPr id="23593" name="Text Box 8"/>
            <p:cNvSpPr txBox="1">
              <a:spLocks noChangeArrowheads="1"/>
            </p:cNvSpPr>
            <p:nvPr/>
          </p:nvSpPr>
          <p:spPr bwMode="auto">
            <a:xfrm>
              <a:off x="1930" y="2235"/>
              <a:ext cx="1286" cy="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00"/>
                  </a:solidFill>
                </a:rPr>
                <a:t>Solid or hollow conductor</a:t>
              </a:r>
            </a:p>
            <a:p>
              <a:pPr fontAlgn="base">
                <a:spcBef>
                  <a:spcPct val="50000"/>
                </a:spcBef>
                <a:spcAft>
                  <a:spcPct val="0"/>
                </a:spcAft>
                <a:buNone/>
              </a:pPr>
              <a:r>
                <a:rPr lang="en-US" altLang="en-US" sz="1800" b="1">
                  <a:solidFill>
                    <a:srgbClr val="FFFF00"/>
                  </a:solidFill>
                </a:rPr>
                <a:t>      </a:t>
              </a:r>
              <a:r>
                <a:rPr lang="en-US" altLang="en-US" sz="1800" b="1">
                  <a:solidFill>
                    <a:srgbClr val="0000FF"/>
                  </a:solidFill>
                </a:rPr>
                <a:t>No Field</a:t>
              </a:r>
            </a:p>
          </p:txBody>
        </p:sp>
      </p:grpSp>
      <p:grpSp>
        <p:nvGrpSpPr>
          <p:cNvPr id="48180" name="Group 52"/>
          <p:cNvGrpSpPr>
            <a:grpSpLocks/>
          </p:cNvGrpSpPr>
          <p:nvPr/>
        </p:nvGrpSpPr>
        <p:grpSpPr bwMode="auto">
          <a:xfrm>
            <a:off x="3657600" y="2971800"/>
            <a:ext cx="381000" cy="2133600"/>
            <a:chOff x="1344" y="1872"/>
            <a:chExt cx="240" cy="1344"/>
          </a:xfrm>
        </p:grpSpPr>
        <p:sp>
          <p:nvSpPr>
            <p:cNvPr id="23590" name="Line 9"/>
            <p:cNvSpPr>
              <a:spLocks noChangeShapeType="1"/>
            </p:cNvSpPr>
            <p:nvPr/>
          </p:nvSpPr>
          <p:spPr bwMode="auto">
            <a:xfrm>
              <a:off x="1392" y="1872"/>
              <a:ext cx="0" cy="1323"/>
            </a:xfrm>
            <a:prstGeom prst="line">
              <a:avLst/>
            </a:prstGeom>
            <a:noFill/>
            <a:ln w="28575">
              <a:solidFill>
                <a:srgbClr val="66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91" name="Text Box 10"/>
            <p:cNvSpPr txBox="1">
              <a:spLocks noChangeArrowheads="1"/>
            </p:cNvSpPr>
            <p:nvPr/>
          </p:nvSpPr>
          <p:spPr bwMode="auto">
            <a:xfrm>
              <a:off x="1344" y="1947"/>
              <a:ext cx="240" cy="1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0000"/>
                  </a:solidFill>
                </a:rPr>
                <a:t>++++ + + +</a:t>
              </a:r>
            </a:p>
          </p:txBody>
        </p:sp>
      </p:grpSp>
      <p:grpSp>
        <p:nvGrpSpPr>
          <p:cNvPr id="48181" name="Group 53"/>
          <p:cNvGrpSpPr>
            <a:grpSpLocks/>
          </p:cNvGrpSpPr>
          <p:nvPr/>
        </p:nvGrpSpPr>
        <p:grpSpPr bwMode="auto">
          <a:xfrm>
            <a:off x="6962775" y="2971801"/>
            <a:ext cx="381000" cy="2100263"/>
            <a:chOff x="3426" y="1872"/>
            <a:chExt cx="240" cy="1323"/>
          </a:xfrm>
        </p:grpSpPr>
        <p:sp>
          <p:nvSpPr>
            <p:cNvPr id="23588" name="Text Box 12"/>
            <p:cNvSpPr txBox="1">
              <a:spLocks noChangeArrowheads="1"/>
            </p:cNvSpPr>
            <p:nvPr/>
          </p:nvSpPr>
          <p:spPr bwMode="auto">
            <a:xfrm>
              <a:off x="3426" y="1926"/>
              <a:ext cx="240" cy="126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 - - - - - -</a:t>
              </a:r>
            </a:p>
          </p:txBody>
        </p:sp>
        <p:sp>
          <p:nvSpPr>
            <p:cNvPr id="23589" name="Line 23"/>
            <p:cNvSpPr>
              <a:spLocks noChangeShapeType="1"/>
            </p:cNvSpPr>
            <p:nvPr/>
          </p:nvSpPr>
          <p:spPr bwMode="auto">
            <a:xfrm>
              <a:off x="3552" y="1872"/>
              <a:ext cx="0" cy="1323"/>
            </a:xfrm>
            <a:prstGeom prst="line">
              <a:avLst/>
            </a:prstGeom>
            <a:noFill/>
            <a:ln w="28575">
              <a:solidFill>
                <a:srgbClr val="66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48182" name="Group 54"/>
          <p:cNvGrpSpPr>
            <a:grpSpLocks/>
          </p:cNvGrpSpPr>
          <p:nvPr/>
        </p:nvGrpSpPr>
        <p:grpSpPr bwMode="auto">
          <a:xfrm>
            <a:off x="3733801" y="3167063"/>
            <a:ext cx="727075" cy="1752600"/>
            <a:chOff x="1392" y="1995"/>
            <a:chExt cx="458" cy="1104"/>
          </a:xfrm>
        </p:grpSpPr>
        <p:sp>
          <p:nvSpPr>
            <p:cNvPr id="23582" name="Line 33"/>
            <p:cNvSpPr>
              <a:spLocks noChangeShapeType="1"/>
            </p:cNvSpPr>
            <p:nvPr/>
          </p:nvSpPr>
          <p:spPr bwMode="auto">
            <a:xfrm>
              <a:off x="1392" y="2763"/>
              <a:ext cx="432"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3" name="Arc 28"/>
            <p:cNvSpPr>
              <a:spLocks/>
            </p:cNvSpPr>
            <p:nvPr/>
          </p:nvSpPr>
          <p:spPr bwMode="auto">
            <a:xfrm flipV="1">
              <a:off x="1392" y="2523"/>
              <a:ext cx="458" cy="576"/>
            </a:xfrm>
            <a:custGeom>
              <a:avLst/>
              <a:gdLst>
                <a:gd name="T0" fmla="*/ 0 w 17665"/>
                <a:gd name="T1" fmla="*/ 0 h 21600"/>
                <a:gd name="T2" fmla="*/ 0 w 17665"/>
                <a:gd name="T3" fmla="*/ 0 h 21600"/>
                <a:gd name="T4" fmla="*/ 0 w 17665"/>
                <a:gd name="T5" fmla="*/ 0 h 21600"/>
                <a:gd name="T6" fmla="*/ 0 60000 65536"/>
                <a:gd name="T7" fmla="*/ 0 60000 65536"/>
                <a:gd name="T8" fmla="*/ 0 60000 65536"/>
              </a:gdLst>
              <a:ahLst/>
              <a:cxnLst>
                <a:cxn ang="T6">
                  <a:pos x="T0" y="T1"/>
                </a:cxn>
                <a:cxn ang="T7">
                  <a:pos x="T2" y="T3"/>
                </a:cxn>
                <a:cxn ang="T8">
                  <a:pos x="T4" y="T5"/>
                </a:cxn>
              </a:cxnLst>
              <a:rect l="0" t="0" r="r" b="b"/>
              <a:pathLst>
                <a:path w="17665" h="21600" fill="none" extrusionOk="0">
                  <a:moveTo>
                    <a:pt x="-1" y="0"/>
                  </a:moveTo>
                  <a:cubicBezTo>
                    <a:pt x="7029" y="0"/>
                    <a:pt x="13619" y="3420"/>
                    <a:pt x="17664" y="9169"/>
                  </a:cubicBezTo>
                </a:path>
                <a:path w="17665" h="21600" stroke="0" extrusionOk="0">
                  <a:moveTo>
                    <a:pt x="-1" y="0"/>
                  </a:moveTo>
                  <a:cubicBezTo>
                    <a:pt x="7029" y="0"/>
                    <a:pt x="13619" y="3420"/>
                    <a:pt x="17664" y="9169"/>
                  </a:cubicBezTo>
                  <a:lnTo>
                    <a:pt x="0" y="21600"/>
                  </a:lnTo>
                  <a:lnTo>
                    <a:pt x="-1" y="0"/>
                  </a:lnTo>
                  <a:close/>
                </a:path>
              </a:pathLst>
            </a:custGeom>
            <a:noFill/>
            <a:ln w="28575">
              <a:solidFill>
                <a:srgbClr val="00FF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4" name="Arc 26"/>
            <p:cNvSpPr>
              <a:spLocks/>
            </p:cNvSpPr>
            <p:nvPr/>
          </p:nvSpPr>
          <p:spPr bwMode="auto">
            <a:xfrm>
              <a:off x="1392" y="1995"/>
              <a:ext cx="458" cy="576"/>
            </a:xfrm>
            <a:custGeom>
              <a:avLst/>
              <a:gdLst>
                <a:gd name="T0" fmla="*/ 0 w 17665"/>
                <a:gd name="T1" fmla="*/ 0 h 21600"/>
                <a:gd name="T2" fmla="*/ 0 w 17665"/>
                <a:gd name="T3" fmla="*/ 0 h 21600"/>
                <a:gd name="T4" fmla="*/ 0 w 17665"/>
                <a:gd name="T5" fmla="*/ 0 h 21600"/>
                <a:gd name="T6" fmla="*/ 0 60000 65536"/>
                <a:gd name="T7" fmla="*/ 0 60000 65536"/>
                <a:gd name="T8" fmla="*/ 0 60000 65536"/>
              </a:gdLst>
              <a:ahLst/>
              <a:cxnLst>
                <a:cxn ang="T6">
                  <a:pos x="T0" y="T1"/>
                </a:cxn>
                <a:cxn ang="T7">
                  <a:pos x="T2" y="T3"/>
                </a:cxn>
                <a:cxn ang="T8">
                  <a:pos x="T4" y="T5"/>
                </a:cxn>
              </a:cxnLst>
              <a:rect l="0" t="0" r="r" b="b"/>
              <a:pathLst>
                <a:path w="17665" h="21600" fill="none" extrusionOk="0">
                  <a:moveTo>
                    <a:pt x="-1" y="0"/>
                  </a:moveTo>
                  <a:cubicBezTo>
                    <a:pt x="7029" y="0"/>
                    <a:pt x="13619" y="3420"/>
                    <a:pt x="17664" y="9169"/>
                  </a:cubicBezTo>
                </a:path>
                <a:path w="17665" h="21600" stroke="0" extrusionOk="0">
                  <a:moveTo>
                    <a:pt x="-1" y="0"/>
                  </a:moveTo>
                  <a:cubicBezTo>
                    <a:pt x="7029" y="0"/>
                    <a:pt x="13619" y="3420"/>
                    <a:pt x="17664" y="9169"/>
                  </a:cubicBezTo>
                  <a:lnTo>
                    <a:pt x="0" y="21600"/>
                  </a:lnTo>
                  <a:lnTo>
                    <a:pt x="-1" y="0"/>
                  </a:lnTo>
                  <a:close/>
                </a:path>
              </a:pathLst>
            </a:custGeom>
            <a:noFill/>
            <a:ln w="28575">
              <a:solidFill>
                <a:srgbClr val="00FF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5" name="Line 30"/>
            <p:cNvSpPr>
              <a:spLocks noChangeShapeType="1"/>
            </p:cNvSpPr>
            <p:nvPr/>
          </p:nvSpPr>
          <p:spPr bwMode="auto">
            <a:xfrm>
              <a:off x="1392" y="2331"/>
              <a:ext cx="432"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6" name="Line 31"/>
            <p:cNvSpPr>
              <a:spLocks noChangeShapeType="1"/>
            </p:cNvSpPr>
            <p:nvPr/>
          </p:nvSpPr>
          <p:spPr bwMode="auto">
            <a:xfrm>
              <a:off x="1392" y="2475"/>
              <a:ext cx="432"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7" name="Line 32"/>
            <p:cNvSpPr>
              <a:spLocks noChangeShapeType="1"/>
            </p:cNvSpPr>
            <p:nvPr/>
          </p:nvSpPr>
          <p:spPr bwMode="auto">
            <a:xfrm>
              <a:off x="1392" y="2619"/>
              <a:ext cx="432"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48183" name="Group 55"/>
          <p:cNvGrpSpPr>
            <a:grpSpLocks/>
          </p:cNvGrpSpPr>
          <p:nvPr/>
        </p:nvGrpSpPr>
        <p:grpSpPr bwMode="auto">
          <a:xfrm>
            <a:off x="6435726" y="3167063"/>
            <a:ext cx="727075" cy="1752600"/>
            <a:chOff x="3094" y="1995"/>
            <a:chExt cx="458" cy="1104"/>
          </a:xfrm>
        </p:grpSpPr>
        <p:sp>
          <p:nvSpPr>
            <p:cNvPr id="23576" name="Arc 29"/>
            <p:cNvSpPr>
              <a:spLocks/>
            </p:cNvSpPr>
            <p:nvPr/>
          </p:nvSpPr>
          <p:spPr bwMode="auto">
            <a:xfrm flipH="1" flipV="1">
              <a:off x="3094" y="2523"/>
              <a:ext cx="458" cy="576"/>
            </a:xfrm>
            <a:custGeom>
              <a:avLst/>
              <a:gdLst>
                <a:gd name="T0" fmla="*/ 0 w 17665"/>
                <a:gd name="T1" fmla="*/ 0 h 21600"/>
                <a:gd name="T2" fmla="*/ 0 w 17665"/>
                <a:gd name="T3" fmla="*/ 0 h 21600"/>
                <a:gd name="T4" fmla="*/ 0 w 17665"/>
                <a:gd name="T5" fmla="*/ 0 h 21600"/>
                <a:gd name="T6" fmla="*/ 0 60000 65536"/>
                <a:gd name="T7" fmla="*/ 0 60000 65536"/>
                <a:gd name="T8" fmla="*/ 0 60000 65536"/>
              </a:gdLst>
              <a:ahLst/>
              <a:cxnLst>
                <a:cxn ang="T6">
                  <a:pos x="T0" y="T1"/>
                </a:cxn>
                <a:cxn ang="T7">
                  <a:pos x="T2" y="T3"/>
                </a:cxn>
                <a:cxn ang="T8">
                  <a:pos x="T4" y="T5"/>
                </a:cxn>
              </a:cxnLst>
              <a:rect l="0" t="0" r="r" b="b"/>
              <a:pathLst>
                <a:path w="17665" h="21600" fill="none" extrusionOk="0">
                  <a:moveTo>
                    <a:pt x="-1" y="0"/>
                  </a:moveTo>
                  <a:cubicBezTo>
                    <a:pt x="7029" y="0"/>
                    <a:pt x="13619" y="3420"/>
                    <a:pt x="17664" y="9169"/>
                  </a:cubicBezTo>
                </a:path>
                <a:path w="17665" h="21600" stroke="0" extrusionOk="0">
                  <a:moveTo>
                    <a:pt x="-1" y="0"/>
                  </a:moveTo>
                  <a:cubicBezTo>
                    <a:pt x="7029" y="0"/>
                    <a:pt x="13619" y="3420"/>
                    <a:pt x="17664" y="9169"/>
                  </a:cubicBezTo>
                  <a:lnTo>
                    <a:pt x="0" y="21600"/>
                  </a:lnTo>
                  <a:lnTo>
                    <a:pt x="-1" y="0"/>
                  </a:lnTo>
                  <a:close/>
                </a:path>
              </a:pathLst>
            </a:custGeom>
            <a:noFill/>
            <a:ln w="28575">
              <a:solidFill>
                <a:srgbClr val="00FF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77" name="Arc 27"/>
            <p:cNvSpPr>
              <a:spLocks/>
            </p:cNvSpPr>
            <p:nvPr/>
          </p:nvSpPr>
          <p:spPr bwMode="auto">
            <a:xfrm flipH="1">
              <a:off x="3094" y="1995"/>
              <a:ext cx="458" cy="576"/>
            </a:xfrm>
            <a:custGeom>
              <a:avLst/>
              <a:gdLst>
                <a:gd name="T0" fmla="*/ 0 w 17665"/>
                <a:gd name="T1" fmla="*/ 0 h 21600"/>
                <a:gd name="T2" fmla="*/ 0 w 17665"/>
                <a:gd name="T3" fmla="*/ 0 h 21600"/>
                <a:gd name="T4" fmla="*/ 0 w 17665"/>
                <a:gd name="T5" fmla="*/ 0 h 21600"/>
                <a:gd name="T6" fmla="*/ 0 60000 65536"/>
                <a:gd name="T7" fmla="*/ 0 60000 65536"/>
                <a:gd name="T8" fmla="*/ 0 60000 65536"/>
              </a:gdLst>
              <a:ahLst/>
              <a:cxnLst>
                <a:cxn ang="T6">
                  <a:pos x="T0" y="T1"/>
                </a:cxn>
                <a:cxn ang="T7">
                  <a:pos x="T2" y="T3"/>
                </a:cxn>
                <a:cxn ang="T8">
                  <a:pos x="T4" y="T5"/>
                </a:cxn>
              </a:cxnLst>
              <a:rect l="0" t="0" r="r" b="b"/>
              <a:pathLst>
                <a:path w="17665" h="21600" fill="none" extrusionOk="0">
                  <a:moveTo>
                    <a:pt x="-1" y="0"/>
                  </a:moveTo>
                  <a:cubicBezTo>
                    <a:pt x="7029" y="0"/>
                    <a:pt x="13619" y="3420"/>
                    <a:pt x="17664" y="9169"/>
                  </a:cubicBezTo>
                </a:path>
                <a:path w="17665" h="21600" stroke="0" extrusionOk="0">
                  <a:moveTo>
                    <a:pt x="-1" y="0"/>
                  </a:moveTo>
                  <a:cubicBezTo>
                    <a:pt x="7029" y="0"/>
                    <a:pt x="13619" y="3420"/>
                    <a:pt x="17664" y="9169"/>
                  </a:cubicBezTo>
                  <a:lnTo>
                    <a:pt x="0" y="21600"/>
                  </a:lnTo>
                  <a:lnTo>
                    <a:pt x="-1" y="0"/>
                  </a:lnTo>
                  <a:close/>
                </a:path>
              </a:pathLst>
            </a:custGeom>
            <a:noFill/>
            <a:ln w="28575">
              <a:solidFill>
                <a:srgbClr val="00FF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78" name="Line 34"/>
            <p:cNvSpPr>
              <a:spLocks noChangeShapeType="1"/>
            </p:cNvSpPr>
            <p:nvPr/>
          </p:nvSpPr>
          <p:spPr bwMode="auto">
            <a:xfrm flipH="1">
              <a:off x="3120" y="2763"/>
              <a:ext cx="432" cy="0"/>
            </a:xfrm>
            <a:prstGeom prst="line">
              <a:avLst/>
            </a:prstGeom>
            <a:noFill/>
            <a:ln w="28575">
              <a:solidFill>
                <a:srgbClr val="00FF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79" name="Line 35"/>
            <p:cNvSpPr>
              <a:spLocks noChangeShapeType="1"/>
            </p:cNvSpPr>
            <p:nvPr/>
          </p:nvSpPr>
          <p:spPr bwMode="auto">
            <a:xfrm flipH="1">
              <a:off x="3120" y="2331"/>
              <a:ext cx="432" cy="0"/>
            </a:xfrm>
            <a:prstGeom prst="line">
              <a:avLst/>
            </a:prstGeom>
            <a:noFill/>
            <a:ln w="28575">
              <a:solidFill>
                <a:srgbClr val="00FF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0" name="Line 36"/>
            <p:cNvSpPr>
              <a:spLocks noChangeShapeType="1"/>
            </p:cNvSpPr>
            <p:nvPr/>
          </p:nvSpPr>
          <p:spPr bwMode="auto">
            <a:xfrm flipH="1">
              <a:off x="3120" y="2475"/>
              <a:ext cx="432" cy="0"/>
            </a:xfrm>
            <a:prstGeom prst="line">
              <a:avLst/>
            </a:prstGeom>
            <a:noFill/>
            <a:ln w="28575">
              <a:solidFill>
                <a:srgbClr val="00FF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81" name="Line 37"/>
            <p:cNvSpPr>
              <a:spLocks noChangeShapeType="1"/>
            </p:cNvSpPr>
            <p:nvPr/>
          </p:nvSpPr>
          <p:spPr bwMode="auto">
            <a:xfrm flipH="1">
              <a:off x="3120" y="2619"/>
              <a:ext cx="432" cy="0"/>
            </a:xfrm>
            <a:prstGeom prst="line">
              <a:avLst/>
            </a:prstGeom>
            <a:noFill/>
            <a:ln w="28575">
              <a:solidFill>
                <a:srgbClr val="00FF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48166" name="Text Box 38"/>
          <p:cNvSpPr txBox="1">
            <a:spLocks noChangeArrowheads="1"/>
          </p:cNvSpPr>
          <p:nvPr/>
        </p:nvSpPr>
        <p:spPr bwMode="auto">
          <a:xfrm flipH="1">
            <a:off x="6400800" y="3500439"/>
            <a:ext cx="381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0000"/>
                </a:solidFill>
              </a:rPr>
              <a:t>++++</a:t>
            </a:r>
          </a:p>
        </p:txBody>
      </p:sp>
      <p:grpSp>
        <p:nvGrpSpPr>
          <p:cNvPr id="48145" name="Group 17"/>
          <p:cNvGrpSpPr>
            <a:grpSpLocks/>
          </p:cNvGrpSpPr>
          <p:nvPr/>
        </p:nvGrpSpPr>
        <p:grpSpPr bwMode="auto">
          <a:xfrm>
            <a:off x="4038600" y="2938463"/>
            <a:ext cx="609600" cy="366712"/>
            <a:chOff x="2448" y="1968"/>
            <a:chExt cx="384" cy="231"/>
          </a:xfrm>
        </p:grpSpPr>
        <p:sp>
          <p:nvSpPr>
            <p:cNvPr id="23574" name="Text Box 18"/>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99FF"/>
                  </a:solidFill>
                </a:rPr>
                <a:t>E</a:t>
              </a:r>
              <a:endParaRPr lang="en-US" altLang="en-US" sz="1800" b="1" baseline="-25000">
                <a:solidFill>
                  <a:srgbClr val="CC99FF"/>
                </a:solidFill>
              </a:endParaRPr>
            </a:p>
          </p:txBody>
        </p:sp>
        <p:sp>
          <p:nvSpPr>
            <p:cNvPr id="23575" name="Line 19"/>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48169" name="Group 41"/>
          <p:cNvGrpSpPr>
            <a:grpSpLocks/>
          </p:cNvGrpSpPr>
          <p:nvPr/>
        </p:nvGrpSpPr>
        <p:grpSpPr bwMode="auto">
          <a:xfrm>
            <a:off x="6477000" y="2938463"/>
            <a:ext cx="609600" cy="366712"/>
            <a:chOff x="2448" y="1968"/>
            <a:chExt cx="384" cy="231"/>
          </a:xfrm>
        </p:grpSpPr>
        <p:sp>
          <p:nvSpPr>
            <p:cNvPr id="23572" name="Text Box 42"/>
            <p:cNvSpPr txBox="1">
              <a:spLocks noChangeArrowheads="1"/>
            </p:cNvSpPr>
            <p:nvPr/>
          </p:nvSpPr>
          <p:spPr bwMode="auto">
            <a:xfrm>
              <a:off x="2448" y="19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CC99FF"/>
                  </a:solidFill>
                </a:rPr>
                <a:t>E</a:t>
              </a:r>
              <a:endParaRPr lang="en-US" altLang="en-US" sz="1800" b="1" baseline="-25000">
                <a:solidFill>
                  <a:srgbClr val="CC99FF"/>
                </a:solidFill>
              </a:endParaRPr>
            </a:p>
          </p:txBody>
        </p:sp>
        <p:sp>
          <p:nvSpPr>
            <p:cNvPr id="23573" name="Line 43"/>
            <p:cNvSpPr>
              <a:spLocks noChangeShapeType="1"/>
            </p:cNvSpPr>
            <p:nvPr/>
          </p:nvSpPr>
          <p:spPr bwMode="auto">
            <a:xfrm>
              <a:off x="2496" y="1968"/>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48167" name="Text Box 39"/>
          <p:cNvSpPr txBox="1">
            <a:spLocks noChangeArrowheads="1"/>
          </p:cNvSpPr>
          <p:nvPr/>
        </p:nvSpPr>
        <p:spPr bwMode="auto">
          <a:xfrm flipH="1">
            <a:off x="4238625" y="3429001"/>
            <a:ext cx="381000" cy="1190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 - - -</a:t>
            </a:r>
          </a:p>
        </p:txBody>
      </p:sp>
      <p:grpSp>
        <p:nvGrpSpPr>
          <p:cNvPr id="48176" name="Group 48"/>
          <p:cNvGrpSpPr>
            <a:grpSpLocks/>
          </p:cNvGrpSpPr>
          <p:nvPr/>
        </p:nvGrpSpPr>
        <p:grpSpPr bwMode="auto">
          <a:xfrm>
            <a:off x="4572000" y="1157288"/>
            <a:ext cx="1143000" cy="823912"/>
            <a:chOff x="1632" y="3696"/>
            <a:chExt cx="720" cy="519"/>
          </a:xfrm>
        </p:grpSpPr>
        <p:grpSp>
          <p:nvGrpSpPr>
            <p:cNvPr id="23567" name="Group 45"/>
            <p:cNvGrpSpPr>
              <a:grpSpLocks/>
            </p:cNvGrpSpPr>
            <p:nvPr/>
          </p:nvGrpSpPr>
          <p:grpSpPr bwMode="auto">
            <a:xfrm>
              <a:off x="1674" y="3849"/>
              <a:ext cx="678" cy="231"/>
              <a:chOff x="1104" y="878"/>
              <a:chExt cx="678" cy="231"/>
            </a:xfrm>
          </p:grpSpPr>
          <p:sp>
            <p:nvSpPr>
              <p:cNvPr id="23570" name="Line 5"/>
              <p:cNvSpPr>
                <a:spLocks noChangeShapeType="1"/>
              </p:cNvSpPr>
              <p:nvPr/>
            </p:nvSpPr>
            <p:spPr bwMode="auto">
              <a:xfrm>
                <a:off x="1104" y="1000"/>
                <a:ext cx="240" cy="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23571" name="Rectangle 6"/>
              <p:cNvSpPr>
                <a:spLocks noChangeArrowheads="1"/>
              </p:cNvSpPr>
              <p:nvPr/>
            </p:nvSpPr>
            <p:spPr bwMode="auto">
              <a:xfrm>
                <a:off x="1392" y="878"/>
                <a:ext cx="39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l-GR" altLang="en-US" sz="1800" b="1">
                    <a:solidFill>
                      <a:srgbClr val="00FF00"/>
                    </a:solidFill>
                  </a:rPr>
                  <a:t>α</a:t>
                </a:r>
                <a:r>
                  <a:rPr lang="en-US" altLang="en-US" sz="1800" b="1">
                    <a:solidFill>
                      <a:srgbClr val="00FF00"/>
                    </a:solidFill>
                  </a:rPr>
                  <a:t>  E</a:t>
                </a:r>
              </a:p>
            </p:txBody>
          </p:sp>
        </p:grpSp>
        <p:sp>
          <p:nvSpPr>
            <p:cNvPr id="23568" name="Rectangle 46"/>
            <p:cNvSpPr>
              <a:spLocks noChangeArrowheads="1"/>
            </p:cNvSpPr>
            <p:nvPr/>
          </p:nvSpPr>
          <p:spPr bwMode="auto">
            <a:xfrm>
              <a:off x="1632" y="3696"/>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00"/>
                  </a:solidFill>
                </a:rPr>
                <a:t>∆N</a:t>
              </a:r>
              <a:endParaRPr lang="el-GR" altLang="en-US" sz="1800" b="1">
                <a:solidFill>
                  <a:srgbClr val="00FF00"/>
                </a:solidFill>
              </a:endParaRPr>
            </a:p>
          </p:txBody>
        </p:sp>
        <p:sp>
          <p:nvSpPr>
            <p:cNvPr id="23569" name="Rectangle 47"/>
            <p:cNvSpPr>
              <a:spLocks noChangeArrowheads="1"/>
            </p:cNvSpPr>
            <p:nvPr/>
          </p:nvSpPr>
          <p:spPr bwMode="auto">
            <a:xfrm>
              <a:off x="1632" y="3984"/>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∆A</a:t>
              </a:r>
              <a:endParaRPr lang="en-US" altLang="en-US" sz="1800">
                <a:solidFill>
                  <a:srgbClr val="66FF33"/>
                </a:solidFill>
              </a:endParaRPr>
            </a:p>
          </p:txBody>
        </p:sp>
      </p:grpSp>
      <p:sp>
        <p:nvSpPr>
          <p:cNvPr id="48177" name="Rectangle 49"/>
          <p:cNvSpPr>
            <a:spLocks noChangeArrowheads="1"/>
          </p:cNvSpPr>
          <p:nvPr/>
        </p:nvSpPr>
        <p:spPr bwMode="auto">
          <a:xfrm>
            <a:off x="1600200" y="5653088"/>
            <a:ext cx="6267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FF"/>
                </a:solidFill>
              </a:rPr>
              <a:t>12. Electric lines of force can pass through an insulator.</a:t>
            </a:r>
          </a:p>
        </p:txBody>
      </p:sp>
      <p:sp>
        <p:nvSpPr>
          <p:cNvPr id="48178" name="Rectangle 50"/>
          <p:cNvSpPr>
            <a:spLocks noChangeArrowheads="1"/>
          </p:cNvSpPr>
          <p:nvPr/>
        </p:nvSpPr>
        <p:spPr bwMode="auto">
          <a:xfrm>
            <a:off x="7410450" y="3886201"/>
            <a:ext cx="280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99FF"/>
                </a:solidFill>
              </a:rPr>
              <a:t>(Electrostatic Shielding)</a:t>
            </a:r>
          </a:p>
        </p:txBody>
      </p:sp>
    </p:spTree>
    <p:extLst>
      <p:ext uri="{BB962C8B-B14F-4D97-AF65-F5344CB8AC3E}">
        <p14:creationId xmlns:p14="http://schemas.microsoft.com/office/powerpoint/2010/main" val="4270749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slide(fromTop)">
                                      <p:cBhvr>
                                        <p:cTn id="7" dur="500"/>
                                        <p:tgtEl>
                                          <p:spTgt spid="481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48176"/>
                                        </p:tgtEl>
                                        <p:attrNameLst>
                                          <p:attrName>style.visibility</p:attrName>
                                        </p:attrNameLst>
                                      </p:cBhvr>
                                      <p:to>
                                        <p:strVal val="visible"/>
                                      </p:to>
                                    </p:set>
                                    <p:anim calcmode="lin" valueType="num">
                                      <p:cBhvr>
                                        <p:cTn id="12" dur="500" fill="hold"/>
                                        <p:tgtEl>
                                          <p:spTgt spid="48176"/>
                                        </p:tgtEl>
                                        <p:attrNameLst>
                                          <p:attrName>ppt_w</p:attrName>
                                        </p:attrNameLst>
                                      </p:cBhvr>
                                      <p:tavLst>
                                        <p:tav tm="0">
                                          <p:val>
                                            <p:fltVal val="0"/>
                                          </p:val>
                                        </p:tav>
                                        <p:tav tm="100000">
                                          <p:val>
                                            <p:strVal val="#ppt_w"/>
                                          </p:val>
                                        </p:tav>
                                      </p:tavLst>
                                    </p:anim>
                                    <p:anim calcmode="lin" valueType="num">
                                      <p:cBhvr>
                                        <p:cTn id="13" dur="500" fill="hold"/>
                                        <p:tgtEl>
                                          <p:spTgt spid="48176"/>
                                        </p:tgtEl>
                                        <p:attrNameLst>
                                          <p:attrName>ppt_h</p:attrName>
                                        </p:attrNameLst>
                                      </p:cBhvr>
                                      <p:tavLst>
                                        <p:tav tm="0">
                                          <p:val>
                                            <p:fltVal val="0"/>
                                          </p:val>
                                        </p:tav>
                                        <p:tav tm="100000">
                                          <p:val>
                                            <p:strVal val="#ppt_h"/>
                                          </p:val>
                                        </p:tav>
                                      </p:tavLst>
                                    </p:anim>
                                    <p:animEffect transition="in" filter="fade">
                                      <p:cBhvr>
                                        <p:cTn id="14" dur="500"/>
                                        <p:tgtEl>
                                          <p:spTgt spid="4817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48132">
                                            <p:txEl>
                                              <p:pRg st="3" end="3"/>
                                            </p:txEl>
                                          </p:spTgt>
                                        </p:tgtEl>
                                        <p:attrNameLst>
                                          <p:attrName>style.visibility</p:attrName>
                                        </p:attrNameLst>
                                      </p:cBhvr>
                                      <p:to>
                                        <p:strVal val="visible"/>
                                      </p:to>
                                    </p:set>
                                    <p:animEffect transition="in" filter="wipe(up)">
                                      <p:cBhvr>
                                        <p:cTn id="19" dur="500"/>
                                        <p:tgtEl>
                                          <p:spTgt spid="48132">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48180"/>
                                        </p:tgtEl>
                                        <p:attrNameLst>
                                          <p:attrName>style.visibility</p:attrName>
                                        </p:attrNameLst>
                                      </p:cBhvr>
                                      <p:to>
                                        <p:strVal val="visible"/>
                                      </p:to>
                                    </p:set>
                                    <p:anim calcmode="lin" valueType="num">
                                      <p:cBhvr>
                                        <p:cTn id="24" dur="500" fill="hold"/>
                                        <p:tgtEl>
                                          <p:spTgt spid="48180"/>
                                        </p:tgtEl>
                                        <p:attrNameLst>
                                          <p:attrName>ppt_w</p:attrName>
                                        </p:attrNameLst>
                                      </p:cBhvr>
                                      <p:tavLst>
                                        <p:tav tm="0">
                                          <p:val>
                                            <p:fltVal val="0"/>
                                          </p:val>
                                        </p:tav>
                                        <p:tav tm="100000">
                                          <p:val>
                                            <p:strVal val="#ppt_w"/>
                                          </p:val>
                                        </p:tav>
                                      </p:tavLst>
                                    </p:anim>
                                    <p:anim calcmode="lin" valueType="num">
                                      <p:cBhvr>
                                        <p:cTn id="25" dur="500" fill="hold"/>
                                        <p:tgtEl>
                                          <p:spTgt spid="48180"/>
                                        </p:tgtEl>
                                        <p:attrNameLst>
                                          <p:attrName>ppt_h</p:attrName>
                                        </p:attrNameLst>
                                      </p:cBhvr>
                                      <p:tavLst>
                                        <p:tav tm="0">
                                          <p:val>
                                            <p:fltVal val="0"/>
                                          </p:val>
                                        </p:tav>
                                        <p:tav tm="100000">
                                          <p:val>
                                            <p:strVal val="#ppt_h"/>
                                          </p:val>
                                        </p:tav>
                                      </p:tavLst>
                                    </p:anim>
                                    <p:animEffect transition="in" filter="fade">
                                      <p:cBhvr>
                                        <p:cTn id="26" dur="500"/>
                                        <p:tgtEl>
                                          <p:spTgt spid="48180"/>
                                        </p:tgtEl>
                                      </p:cBhvr>
                                    </p:animEffect>
                                  </p:childTnLst>
                                </p:cTn>
                              </p:par>
                              <p:par>
                                <p:cTn id="27" presetID="53" presetClass="entr" presetSubtype="0" fill="hold" nodeType="withEffect">
                                  <p:stCondLst>
                                    <p:cond delay="0"/>
                                  </p:stCondLst>
                                  <p:childTnLst>
                                    <p:set>
                                      <p:cBhvr>
                                        <p:cTn id="28" dur="1" fill="hold">
                                          <p:stCondLst>
                                            <p:cond delay="0"/>
                                          </p:stCondLst>
                                        </p:cTn>
                                        <p:tgtEl>
                                          <p:spTgt spid="48181"/>
                                        </p:tgtEl>
                                        <p:attrNameLst>
                                          <p:attrName>style.visibility</p:attrName>
                                        </p:attrNameLst>
                                      </p:cBhvr>
                                      <p:to>
                                        <p:strVal val="visible"/>
                                      </p:to>
                                    </p:set>
                                    <p:anim calcmode="lin" valueType="num">
                                      <p:cBhvr>
                                        <p:cTn id="29" dur="500" fill="hold"/>
                                        <p:tgtEl>
                                          <p:spTgt spid="48181"/>
                                        </p:tgtEl>
                                        <p:attrNameLst>
                                          <p:attrName>ppt_w</p:attrName>
                                        </p:attrNameLst>
                                      </p:cBhvr>
                                      <p:tavLst>
                                        <p:tav tm="0">
                                          <p:val>
                                            <p:fltVal val="0"/>
                                          </p:val>
                                        </p:tav>
                                        <p:tav tm="100000">
                                          <p:val>
                                            <p:strVal val="#ppt_w"/>
                                          </p:val>
                                        </p:tav>
                                      </p:tavLst>
                                    </p:anim>
                                    <p:anim calcmode="lin" valueType="num">
                                      <p:cBhvr>
                                        <p:cTn id="30" dur="500" fill="hold"/>
                                        <p:tgtEl>
                                          <p:spTgt spid="48181"/>
                                        </p:tgtEl>
                                        <p:attrNameLst>
                                          <p:attrName>ppt_h</p:attrName>
                                        </p:attrNameLst>
                                      </p:cBhvr>
                                      <p:tavLst>
                                        <p:tav tm="0">
                                          <p:val>
                                            <p:fltVal val="0"/>
                                          </p:val>
                                        </p:tav>
                                        <p:tav tm="100000">
                                          <p:val>
                                            <p:strVal val="#ppt_h"/>
                                          </p:val>
                                        </p:tav>
                                      </p:tavLst>
                                    </p:anim>
                                    <p:animEffect transition="in" filter="fade">
                                      <p:cBhvr>
                                        <p:cTn id="31" dur="500"/>
                                        <p:tgtEl>
                                          <p:spTgt spid="4818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nodeType="clickEffect">
                                  <p:stCondLst>
                                    <p:cond delay="0"/>
                                  </p:stCondLst>
                                  <p:childTnLst>
                                    <p:set>
                                      <p:cBhvr>
                                        <p:cTn id="35" dur="1" fill="hold">
                                          <p:stCondLst>
                                            <p:cond delay="0"/>
                                          </p:stCondLst>
                                        </p:cTn>
                                        <p:tgtEl>
                                          <p:spTgt spid="48179"/>
                                        </p:tgtEl>
                                        <p:attrNameLst>
                                          <p:attrName>style.visibility</p:attrName>
                                        </p:attrNameLst>
                                      </p:cBhvr>
                                      <p:to>
                                        <p:strVal val="visible"/>
                                      </p:to>
                                    </p:set>
                                    <p:anim calcmode="lin" valueType="num">
                                      <p:cBhvr>
                                        <p:cTn id="36" dur="500" fill="hold"/>
                                        <p:tgtEl>
                                          <p:spTgt spid="48179"/>
                                        </p:tgtEl>
                                        <p:attrNameLst>
                                          <p:attrName>ppt_w</p:attrName>
                                        </p:attrNameLst>
                                      </p:cBhvr>
                                      <p:tavLst>
                                        <p:tav tm="0">
                                          <p:val>
                                            <p:fltVal val="0"/>
                                          </p:val>
                                        </p:tav>
                                        <p:tav tm="100000">
                                          <p:val>
                                            <p:strVal val="#ppt_w"/>
                                          </p:val>
                                        </p:tav>
                                      </p:tavLst>
                                    </p:anim>
                                    <p:anim calcmode="lin" valueType="num">
                                      <p:cBhvr>
                                        <p:cTn id="37" dur="500" fill="hold"/>
                                        <p:tgtEl>
                                          <p:spTgt spid="48179"/>
                                        </p:tgtEl>
                                        <p:attrNameLst>
                                          <p:attrName>ppt_h</p:attrName>
                                        </p:attrNameLst>
                                      </p:cBhvr>
                                      <p:tavLst>
                                        <p:tav tm="0">
                                          <p:val>
                                            <p:fltVal val="0"/>
                                          </p:val>
                                        </p:tav>
                                        <p:tav tm="100000">
                                          <p:val>
                                            <p:strVal val="#ppt_h"/>
                                          </p:val>
                                        </p:tav>
                                      </p:tavLst>
                                    </p:anim>
                                    <p:animEffect transition="in" filter="fade">
                                      <p:cBhvr>
                                        <p:cTn id="38" dur="500"/>
                                        <p:tgtEl>
                                          <p:spTgt spid="48179"/>
                                        </p:tgtEl>
                                      </p:cBhvr>
                                    </p:animEffect>
                                  </p:childTnLst>
                                </p:cTn>
                              </p:par>
                            </p:childTnLst>
                          </p:cTn>
                        </p:par>
                        <p:par>
                          <p:cTn id="39" fill="hold" nodeType="afterGroup">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48167"/>
                                        </p:tgtEl>
                                        <p:attrNameLst>
                                          <p:attrName>style.visibility</p:attrName>
                                        </p:attrNameLst>
                                      </p:cBhvr>
                                      <p:to>
                                        <p:strVal val="visible"/>
                                      </p:to>
                                    </p:set>
                                    <p:animEffect transition="in" filter="dissolve">
                                      <p:cBhvr>
                                        <p:cTn id="42" dur="500"/>
                                        <p:tgtEl>
                                          <p:spTgt spid="4816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48166"/>
                                        </p:tgtEl>
                                        <p:attrNameLst>
                                          <p:attrName>style.visibility</p:attrName>
                                        </p:attrNameLst>
                                      </p:cBhvr>
                                      <p:to>
                                        <p:strVal val="visible"/>
                                      </p:to>
                                    </p:set>
                                    <p:animEffect transition="in" filter="dissolve">
                                      <p:cBhvr>
                                        <p:cTn id="45" dur="500"/>
                                        <p:tgtEl>
                                          <p:spTgt spid="481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8182"/>
                                        </p:tgtEl>
                                        <p:attrNameLst>
                                          <p:attrName>style.visibility</p:attrName>
                                        </p:attrNameLst>
                                      </p:cBhvr>
                                      <p:to>
                                        <p:strVal val="visible"/>
                                      </p:to>
                                    </p:set>
                                    <p:animEffect transition="in" filter="wipe(left)">
                                      <p:cBhvr>
                                        <p:cTn id="50" dur="500"/>
                                        <p:tgtEl>
                                          <p:spTgt spid="48182"/>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48183"/>
                                        </p:tgtEl>
                                        <p:attrNameLst>
                                          <p:attrName>style.visibility</p:attrName>
                                        </p:attrNameLst>
                                      </p:cBhvr>
                                      <p:to>
                                        <p:strVal val="visible"/>
                                      </p:to>
                                    </p:set>
                                    <p:animEffect transition="in" filter="wipe(left)">
                                      <p:cBhvr>
                                        <p:cTn id="54" dur="500"/>
                                        <p:tgtEl>
                                          <p:spTgt spid="48183"/>
                                        </p:tgtEl>
                                      </p:cBhvr>
                                    </p:animEffect>
                                  </p:childTnLst>
                                </p:cTn>
                              </p:par>
                            </p:childTnLst>
                          </p:cTn>
                        </p:par>
                        <p:par>
                          <p:cTn id="55" fill="hold" nodeType="afterGroup">
                            <p:stCondLst>
                              <p:cond delay="1000"/>
                            </p:stCondLst>
                            <p:childTnLst>
                              <p:par>
                                <p:cTn id="56" presetID="53" presetClass="entr" presetSubtype="0" fill="hold" nodeType="afterEffect">
                                  <p:stCondLst>
                                    <p:cond delay="0"/>
                                  </p:stCondLst>
                                  <p:childTnLst>
                                    <p:set>
                                      <p:cBhvr>
                                        <p:cTn id="57" dur="1" fill="hold">
                                          <p:stCondLst>
                                            <p:cond delay="0"/>
                                          </p:stCondLst>
                                        </p:cTn>
                                        <p:tgtEl>
                                          <p:spTgt spid="48145"/>
                                        </p:tgtEl>
                                        <p:attrNameLst>
                                          <p:attrName>style.visibility</p:attrName>
                                        </p:attrNameLst>
                                      </p:cBhvr>
                                      <p:to>
                                        <p:strVal val="visible"/>
                                      </p:to>
                                    </p:set>
                                    <p:anim calcmode="lin" valueType="num">
                                      <p:cBhvr>
                                        <p:cTn id="58" dur="500" fill="hold"/>
                                        <p:tgtEl>
                                          <p:spTgt spid="48145"/>
                                        </p:tgtEl>
                                        <p:attrNameLst>
                                          <p:attrName>ppt_w</p:attrName>
                                        </p:attrNameLst>
                                      </p:cBhvr>
                                      <p:tavLst>
                                        <p:tav tm="0">
                                          <p:val>
                                            <p:fltVal val="0"/>
                                          </p:val>
                                        </p:tav>
                                        <p:tav tm="100000">
                                          <p:val>
                                            <p:strVal val="#ppt_w"/>
                                          </p:val>
                                        </p:tav>
                                      </p:tavLst>
                                    </p:anim>
                                    <p:anim calcmode="lin" valueType="num">
                                      <p:cBhvr>
                                        <p:cTn id="59" dur="500" fill="hold"/>
                                        <p:tgtEl>
                                          <p:spTgt spid="48145"/>
                                        </p:tgtEl>
                                        <p:attrNameLst>
                                          <p:attrName>ppt_h</p:attrName>
                                        </p:attrNameLst>
                                      </p:cBhvr>
                                      <p:tavLst>
                                        <p:tav tm="0">
                                          <p:val>
                                            <p:fltVal val="0"/>
                                          </p:val>
                                        </p:tav>
                                        <p:tav tm="100000">
                                          <p:val>
                                            <p:strVal val="#ppt_h"/>
                                          </p:val>
                                        </p:tav>
                                      </p:tavLst>
                                    </p:anim>
                                    <p:animEffect transition="in" filter="fade">
                                      <p:cBhvr>
                                        <p:cTn id="60" dur="500"/>
                                        <p:tgtEl>
                                          <p:spTgt spid="48145"/>
                                        </p:tgtEl>
                                      </p:cBhvr>
                                    </p:animEffect>
                                  </p:childTnLst>
                                </p:cTn>
                              </p:par>
                              <p:par>
                                <p:cTn id="61" presetID="53" presetClass="entr" presetSubtype="0" fill="hold" nodeType="withEffect">
                                  <p:stCondLst>
                                    <p:cond delay="0"/>
                                  </p:stCondLst>
                                  <p:childTnLst>
                                    <p:set>
                                      <p:cBhvr>
                                        <p:cTn id="62" dur="1" fill="hold">
                                          <p:stCondLst>
                                            <p:cond delay="0"/>
                                          </p:stCondLst>
                                        </p:cTn>
                                        <p:tgtEl>
                                          <p:spTgt spid="48169"/>
                                        </p:tgtEl>
                                        <p:attrNameLst>
                                          <p:attrName>style.visibility</p:attrName>
                                        </p:attrNameLst>
                                      </p:cBhvr>
                                      <p:to>
                                        <p:strVal val="visible"/>
                                      </p:to>
                                    </p:set>
                                    <p:anim calcmode="lin" valueType="num">
                                      <p:cBhvr>
                                        <p:cTn id="63" dur="500" fill="hold"/>
                                        <p:tgtEl>
                                          <p:spTgt spid="48169"/>
                                        </p:tgtEl>
                                        <p:attrNameLst>
                                          <p:attrName>ppt_w</p:attrName>
                                        </p:attrNameLst>
                                      </p:cBhvr>
                                      <p:tavLst>
                                        <p:tav tm="0">
                                          <p:val>
                                            <p:fltVal val="0"/>
                                          </p:val>
                                        </p:tav>
                                        <p:tav tm="100000">
                                          <p:val>
                                            <p:strVal val="#ppt_w"/>
                                          </p:val>
                                        </p:tav>
                                      </p:tavLst>
                                    </p:anim>
                                    <p:anim calcmode="lin" valueType="num">
                                      <p:cBhvr>
                                        <p:cTn id="64" dur="500" fill="hold"/>
                                        <p:tgtEl>
                                          <p:spTgt spid="48169"/>
                                        </p:tgtEl>
                                        <p:attrNameLst>
                                          <p:attrName>ppt_h</p:attrName>
                                        </p:attrNameLst>
                                      </p:cBhvr>
                                      <p:tavLst>
                                        <p:tav tm="0">
                                          <p:val>
                                            <p:fltVal val="0"/>
                                          </p:val>
                                        </p:tav>
                                        <p:tav tm="100000">
                                          <p:val>
                                            <p:strVal val="#ppt_h"/>
                                          </p:val>
                                        </p:tav>
                                      </p:tavLst>
                                    </p:anim>
                                    <p:animEffect transition="in" filter="fade">
                                      <p:cBhvr>
                                        <p:cTn id="65" dur="500"/>
                                        <p:tgtEl>
                                          <p:spTgt spid="4816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grpId="0" nodeType="clickEffect">
                                  <p:stCondLst>
                                    <p:cond delay="0"/>
                                  </p:stCondLst>
                                  <p:childTnLst>
                                    <p:set>
                                      <p:cBhvr>
                                        <p:cTn id="69" dur="1" fill="hold">
                                          <p:stCondLst>
                                            <p:cond delay="0"/>
                                          </p:stCondLst>
                                        </p:cTn>
                                        <p:tgtEl>
                                          <p:spTgt spid="48178"/>
                                        </p:tgtEl>
                                        <p:attrNameLst>
                                          <p:attrName>style.visibility</p:attrName>
                                        </p:attrNameLst>
                                      </p:cBhvr>
                                      <p:to>
                                        <p:strVal val="visible"/>
                                      </p:to>
                                    </p:set>
                                    <p:anim calcmode="lin" valueType="num">
                                      <p:cBhvr>
                                        <p:cTn id="70" dur="500" fill="hold"/>
                                        <p:tgtEl>
                                          <p:spTgt spid="48178"/>
                                        </p:tgtEl>
                                        <p:attrNameLst>
                                          <p:attrName>ppt_w</p:attrName>
                                        </p:attrNameLst>
                                      </p:cBhvr>
                                      <p:tavLst>
                                        <p:tav tm="0">
                                          <p:val>
                                            <p:fltVal val="0"/>
                                          </p:val>
                                        </p:tav>
                                        <p:tav tm="100000">
                                          <p:val>
                                            <p:strVal val="#ppt_w"/>
                                          </p:val>
                                        </p:tav>
                                      </p:tavLst>
                                    </p:anim>
                                    <p:anim calcmode="lin" valueType="num">
                                      <p:cBhvr>
                                        <p:cTn id="71" dur="500" fill="hold"/>
                                        <p:tgtEl>
                                          <p:spTgt spid="48178"/>
                                        </p:tgtEl>
                                        <p:attrNameLst>
                                          <p:attrName>ppt_h</p:attrName>
                                        </p:attrNameLst>
                                      </p:cBhvr>
                                      <p:tavLst>
                                        <p:tav tm="0">
                                          <p:val>
                                            <p:fltVal val="0"/>
                                          </p:val>
                                        </p:tav>
                                        <p:tav tm="100000">
                                          <p:val>
                                            <p:strVal val="#ppt_h"/>
                                          </p:val>
                                        </p:tav>
                                      </p:tavLst>
                                    </p:anim>
                                    <p:animEffect transition="in" filter="fade">
                                      <p:cBhvr>
                                        <p:cTn id="72" dur="500"/>
                                        <p:tgtEl>
                                          <p:spTgt spid="4817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8177"/>
                                        </p:tgtEl>
                                        <p:attrNameLst>
                                          <p:attrName>style.visibility</p:attrName>
                                        </p:attrNameLst>
                                      </p:cBhvr>
                                      <p:to>
                                        <p:strVal val="visible"/>
                                      </p:to>
                                    </p:set>
                                    <p:animEffect transition="in" filter="wipe(up)">
                                      <p:cBhvr>
                                        <p:cTn id="77" dur="500"/>
                                        <p:tgtEl>
                                          <p:spTgt spid="48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66" grpId="0"/>
      <p:bldP spid="48167" grpId="0"/>
      <p:bldP spid="48177" grpId="0"/>
      <p:bldP spid="4817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34" name="Rectangle 138"/>
          <p:cNvSpPr>
            <a:spLocks noChangeArrowheads="1"/>
          </p:cNvSpPr>
          <p:nvPr/>
        </p:nvSpPr>
        <p:spPr bwMode="auto">
          <a:xfrm>
            <a:off x="1676400" y="457201"/>
            <a:ext cx="883920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99FF"/>
                </a:solidFill>
              </a:rPr>
              <a:t>Electric potential is a physical quantity which determines the flow of charges from one body to another.</a:t>
            </a:r>
          </a:p>
          <a:p>
            <a:pPr fontAlgn="base">
              <a:spcBef>
                <a:spcPct val="50000"/>
              </a:spcBef>
              <a:spcAft>
                <a:spcPct val="0"/>
              </a:spcAft>
              <a:buNone/>
            </a:pPr>
            <a:r>
              <a:rPr lang="en-US" altLang="en-US" sz="1800" b="1">
                <a:solidFill>
                  <a:srgbClr val="00FFFF"/>
                </a:solidFill>
              </a:rPr>
              <a:t>It is a physical quantity that determines the degree of electrification of a body.</a:t>
            </a:r>
          </a:p>
          <a:p>
            <a:pPr fontAlgn="base">
              <a:spcBef>
                <a:spcPct val="50000"/>
              </a:spcBef>
              <a:spcAft>
                <a:spcPct val="0"/>
              </a:spcAft>
              <a:buNone/>
            </a:pPr>
            <a:r>
              <a:rPr lang="en-US" altLang="en-US" sz="1800" b="1">
                <a:solidFill>
                  <a:srgbClr val="FF66FF"/>
                </a:solidFill>
              </a:rPr>
              <a:t>Electric Potential at a point in the electric field is defined as the work done in moving (without any acceleration) a unit positive charge from infinity to that point against the electrostatic force irrespective of the path followed.</a:t>
            </a:r>
          </a:p>
        </p:txBody>
      </p:sp>
      <p:sp>
        <p:nvSpPr>
          <p:cNvPr id="29835" name="Text Box 139"/>
          <p:cNvSpPr txBox="1">
            <a:spLocks noChangeArrowheads="1"/>
          </p:cNvSpPr>
          <p:nvPr/>
        </p:nvSpPr>
        <p:spPr bwMode="auto">
          <a:xfrm>
            <a:off x="1676400" y="44450"/>
            <a:ext cx="2590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FFFF66"/>
                </a:solidFill>
              </a:rPr>
              <a:t>Electric Potential:</a:t>
            </a:r>
          </a:p>
        </p:txBody>
      </p:sp>
      <p:grpSp>
        <p:nvGrpSpPr>
          <p:cNvPr id="29876" name="Group 180"/>
          <p:cNvGrpSpPr>
            <a:grpSpLocks/>
          </p:cNvGrpSpPr>
          <p:nvPr/>
        </p:nvGrpSpPr>
        <p:grpSpPr bwMode="auto">
          <a:xfrm>
            <a:off x="1752600" y="2590800"/>
            <a:ext cx="4267200" cy="1143000"/>
            <a:chOff x="1680" y="1584"/>
            <a:chExt cx="2688" cy="720"/>
          </a:xfrm>
        </p:grpSpPr>
        <p:grpSp>
          <p:nvGrpSpPr>
            <p:cNvPr id="9266" name="Group 141"/>
            <p:cNvGrpSpPr>
              <a:grpSpLocks/>
            </p:cNvGrpSpPr>
            <p:nvPr/>
          </p:nvGrpSpPr>
          <p:grpSpPr bwMode="auto">
            <a:xfrm>
              <a:off x="2784" y="1707"/>
              <a:ext cx="1584" cy="501"/>
              <a:chOff x="2352" y="3552"/>
              <a:chExt cx="1584" cy="501"/>
            </a:xfrm>
          </p:grpSpPr>
          <p:sp>
            <p:nvSpPr>
              <p:cNvPr id="9282" name="Text Box 142"/>
              <p:cNvSpPr txBox="1">
                <a:spLocks noChangeArrowheads="1"/>
              </p:cNvSpPr>
              <p:nvPr/>
            </p:nvSpPr>
            <p:spPr bwMode="auto">
              <a:xfrm>
                <a:off x="2352"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a:t>
                </a:r>
                <a:endParaRPr lang="en-US" altLang="en-US" sz="1800" b="1">
                  <a:solidFill>
                    <a:srgbClr val="FF9999"/>
                  </a:solidFill>
                  <a:cs typeface="Arial" panose="020B0604020202020204" pitchFamily="34" charset="0"/>
                </a:endParaRPr>
              </a:p>
            </p:txBody>
          </p:sp>
          <p:sp>
            <p:nvSpPr>
              <p:cNvPr id="9283" name="Rectangle 143"/>
              <p:cNvSpPr>
                <a:spLocks noChangeArrowheads="1"/>
              </p:cNvSpPr>
              <p:nvPr/>
            </p:nvSpPr>
            <p:spPr bwMode="auto">
              <a:xfrm>
                <a:off x="3600" y="35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1</a:t>
                </a:r>
                <a:endParaRPr lang="en-US" altLang="en-US" sz="1800">
                  <a:solidFill>
                    <a:srgbClr val="FF9999"/>
                  </a:solidFill>
                </a:endParaRPr>
              </a:p>
            </p:txBody>
          </p:sp>
          <p:sp>
            <p:nvSpPr>
              <p:cNvPr id="9284" name="Rectangle 144"/>
              <p:cNvSpPr>
                <a:spLocks noChangeArrowheads="1"/>
              </p:cNvSpPr>
              <p:nvPr/>
            </p:nvSpPr>
            <p:spPr bwMode="auto">
              <a:xfrm>
                <a:off x="3120" y="3561"/>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1</a:t>
                </a:r>
                <a:endParaRPr lang="en-US" altLang="en-US" sz="1800">
                  <a:solidFill>
                    <a:srgbClr val="FF9999"/>
                  </a:solidFill>
                </a:endParaRPr>
              </a:p>
            </p:txBody>
          </p:sp>
          <p:sp>
            <p:nvSpPr>
              <p:cNvPr id="9285" name="Rectangle 145"/>
              <p:cNvSpPr>
                <a:spLocks noChangeArrowheads="1"/>
              </p:cNvSpPr>
              <p:nvPr/>
            </p:nvSpPr>
            <p:spPr bwMode="auto">
              <a:xfrm>
                <a:off x="2640" y="3591"/>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qq</a:t>
                </a:r>
                <a:r>
                  <a:rPr lang="en-US" altLang="en-US" sz="1800" b="1" baseline="-25000">
                    <a:solidFill>
                      <a:srgbClr val="FF9999"/>
                    </a:solidFill>
                  </a:rPr>
                  <a:t>0</a:t>
                </a:r>
              </a:p>
            </p:txBody>
          </p:sp>
          <p:sp>
            <p:nvSpPr>
              <p:cNvPr id="9286" name="Rectangle 146"/>
              <p:cNvSpPr>
                <a:spLocks noChangeArrowheads="1"/>
              </p:cNvSpPr>
              <p:nvPr/>
            </p:nvSpPr>
            <p:spPr bwMode="auto">
              <a:xfrm>
                <a:off x="2597" y="3822"/>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4</a:t>
                </a:r>
                <a:r>
                  <a:rPr lang="el-GR" altLang="en-US" sz="1800" b="1">
                    <a:solidFill>
                      <a:srgbClr val="FF9999"/>
                    </a:solidFill>
                    <a:cs typeface="Arial" panose="020B0604020202020204" pitchFamily="34" charset="0"/>
                  </a:rPr>
                  <a:t>πε</a:t>
                </a:r>
                <a:r>
                  <a:rPr lang="en-US" altLang="en-US" sz="1800" b="1" baseline="-25000">
                    <a:solidFill>
                      <a:srgbClr val="FF9999"/>
                    </a:solidFill>
                    <a:cs typeface="Arial" panose="020B0604020202020204" pitchFamily="34" charset="0"/>
                  </a:rPr>
                  <a:t>0</a:t>
                </a:r>
                <a:endParaRPr lang="el-GR" altLang="en-US" sz="1800" b="1" baseline="-25000">
                  <a:solidFill>
                    <a:srgbClr val="FF9999"/>
                  </a:solidFill>
                  <a:cs typeface="Arial" panose="020B0604020202020204" pitchFamily="34" charset="0"/>
                </a:endParaRPr>
              </a:p>
            </p:txBody>
          </p:sp>
          <p:sp>
            <p:nvSpPr>
              <p:cNvPr id="9287" name="Line 147"/>
              <p:cNvSpPr>
                <a:spLocks noChangeShapeType="1"/>
              </p:cNvSpPr>
              <p:nvPr/>
            </p:nvSpPr>
            <p:spPr bwMode="auto">
              <a:xfrm>
                <a:off x="2592" y="3831"/>
                <a:ext cx="384" cy="0"/>
              </a:xfrm>
              <a:prstGeom prst="line">
                <a:avLst/>
              </a:prstGeom>
              <a:noFill/>
              <a:ln w="19050">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88" name="Text Box 148"/>
              <p:cNvSpPr txBox="1">
                <a:spLocks noChangeArrowheads="1"/>
              </p:cNvSpPr>
              <p:nvPr/>
            </p:nvSpPr>
            <p:spPr bwMode="auto">
              <a:xfrm>
                <a:off x="3792" y="358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FF9999"/>
                    </a:solidFill>
                  </a:rPr>
                  <a:t>]</a:t>
                </a:r>
              </a:p>
            </p:txBody>
          </p:sp>
          <p:sp>
            <p:nvSpPr>
              <p:cNvPr id="9289" name="Text Box 149"/>
              <p:cNvSpPr txBox="1">
                <a:spLocks noChangeArrowheads="1"/>
              </p:cNvSpPr>
              <p:nvPr/>
            </p:nvSpPr>
            <p:spPr bwMode="auto">
              <a:xfrm>
                <a:off x="2976" y="360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FF9999"/>
                    </a:solidFill>
                  </a:rPr>
                  <a:t>[</a:t>
                </a:r>
              </a:p>
            </p:txBody>
          </p:sp>
          <p:sp>
            <p:nvSpPr>
              <p:cNvPr id="9290" name="Text Box 150"/>
              <p:cNvSpPr txBox="1">
                <a:spLocks noChangeArrowheads="1"/>
              </p:cNvSpPr>
              <p:nvPr/>
            </p:nvSpPr>
            <p:spPr bwMode="auto">
              <a:xfrm>
                <a:off x="3408"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a:t>
                </a:r>
              </a:p>
            </p:txBody>
          </p:sp>
          <p:sp>
            <p:nvSpPr>
              <p:cNvPr id="9291" name="Line 151"/>
              <p:cNvSpPr>
                <a:spLocks noChangeShapeType="1"/>
              </p:cNvSpPr>
              <p:nvPr/>
            </p:nvSpPr>
            <p:spPr bwMode="auto">
              <a:xfrm>
                <a:off x="3120" y="3840"/>
                <a:ext cx="240" cy="0"/>
              </a:xfrm>
              <a:prstGeom prst="line">
                <a:avLst/>
              </a:prstGeom>
              <a:noFill/>
              <a:ln w="19050">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92" name="Line 152"/>
              <p:cNvSpPr>
                <a:spLocks noChangeShapeType="1"/>
              </p:cNvSpPr>
              <p:nvPr/>
            </p:nvSpPr>
            <p:spPr bwMode="auto">
              <a:xfrm>
                <a:off x="3600" y="3840"/>
                <a:ext cx="240" cy="0"/>
              </a:xfrm>
              <a:prstGeom prst="line">
                <a:avLst/>
              </a:prstGeom>
              <a:noFill/>
              <a:ln w="19050">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93" name="Text Box 153"/>
              <p:cNvSpPr txBox="1">
                <a:spLocks noChangeArrowheads="1"/>
              </p:cNvSpPr>
              <p:nvPr/>
            </p:nvSpPr>
            <p:spPr bwMode="auto">
              <a:xfrm>
                <a:off x="312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r</a:t>
                </a:r>
                <a:r>
                  <a:rPr lang="en-US" altLang="en-US" sz="1800" b="1" baseline="-25000">
                    <a:solidFill>
                      <a:srgbClr val="FF9999"/>
                    </a:solidFill>
                  </a:rPr>
                  <a:t>B</a:t>
                </a:r>
              </a:p>
            </p:txBody>
          </p:sp>
          <p:sp>
            <p:nvSpPr>
              <p:cNvPr id="9294" name="Text Box 154"/>
              <p:cNvSpPr txBox="1">
                <a:spLocks noChangeArrowheads="1"/>
              </p:cNvSpPr>
              <p:nvPr/>
            </p:nvSpPr>
            <p:spPr bwMode="auto">
              <a:xfrm>
                <a:off x="360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r</a:t>
                </a:r>
                <a:r>
                  <a:rPr lang="en-US" altLang="en-US" sz="1800" b="1" baseline="-25000">
                    <a:solidFill>
                      <a:srgbClr val="FF9999"/>
                    </a:solidFill>
                  </a:rPr>
                  <a:t>A</a:t>
                </a:r>
              </a:p>
            </p:txBody>
          </p:sp>
        </p:grpSp>
        <p:sp>
          <p:nvSpPr>
            <p:cNvPr id="9267" name="Text Box 164"/>
            <p:cNvSpPr txBox="1">
              <a:spLocks noChangeArrowheads="1"/>
            </p:cNvSpPr>
            <p:nvPr/>
          </p:nvSpPr>
          <p:spPr bwMode="auto">
            <a:xfrm>
              <a:off x="1680" y="1872"/>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W</a:t>
              </a:r>
              <a:r>
                <a:rPr lang="en-US" altLang="en-US" sz="1800" b="1" baseline="-25000">
                  <a:solidFill>
                    <a:srgbClr val="FF9999"/>
                  </a:solidFill>
                </a:rPr>
                <a:t>AB</a:t>
              </a:r>
              <a:r>
                <a:rPr lang="en-US" altLang="en-US" sz="1800" b="1">
                  <a:solidFill>
                    <a:srgbClr val="FF9999"/>
                  </a:solidFill>
                </a:rPr>
                <a:t> = - </a:t>
              </a:r>
            </a:p>
          </p:txBody>
        </p:sp>
        <p:grpSp>
          <p:nvGrpSpPr>
            <p:cNvPr id="9268" name="Group 166"/>
            <p:cNvGrpSpPr>
              <a:grpSpLocks/>
            </p:cNvGrpSpPr>
            <p:nvPr/>
          </p:nvGrpSpPr>
          <p:grpSpPr bwMode="auto">
            <a:xfrm rot="10800000">
              <a:off x="2256" y="1776"/>
              <a:ext cx="144" cy="336"/>
              <a:chOff x="2832" y="3312"/>
              <a:chExt cx="192" cy="432"/>
            </a:xfrm>
          </p:grpSpPr>
          <p:sp>
            <p:nvSpPr>
              <p:cNvPr id="9275" name="Line 167"/>
              <p:cNvSpPr>
                <a:spLocks noChangeShapeType="1"/>
              </p:cNvSpPr>
              <p:nvPr/>
            </p:nvSpPr>
            <p:spPr bwMode="auto">
              <a:xfrm>
                <a:off x="2928" y="3408"/>
                <a:ext cx="0" cy="24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9276" name="Group 168"/>
              <p:cNvGrpSpPr>
                <a:grpSpLocks/>
              </p:cNvGrpSpPr>
              <p:nvPr/>
            </p:nvGrpSpPr>
            <p:grpSpPr bwMode="auto">
              <a:xfrm>
                <a:off x="2928" y="3312"/>
                <a:ext cx="96" cy="96"/>
                <a:chOff x="3168" y="3312"/>
                <a:chExt cx="96" cy="96"/>
              </a:xfrm>
            </p:grpSpPr>
            <p:sp>
              <p:nvSpPr>
                <p:cNvPr id="9280" name="Arc 169"/>
                <p:cNvSpPr>
                  <a:spLocks/>
                </p:cNvSpPr>
                <p:nvPr/>
              </p:nvSpPr>
              <p:spPr bwMode="auto">
                <a:xfrm>
                  <a:off x="3216" y="3312"/>
                  <a:ext cx="48"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81" name="Arc 170"/>
                <p:cNvSpPr>
                  <a:spLocks/>
                </p:cNvSpPr>
                <p:nvPr/>
              </p:nvSpPr>
              <p:spPr bwMode="auto">
                <a:xfrm flipH="1">
                  <a:off x="3168" y="3312"/>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9277" name="Group 171"/>
              <p:cNvGrpSpPr>
                <a:grpSpLocks/>
              </p:cNvGrpSpPr>
              <p:nvPr/>
            </p:nvGrpSpPr>
            <p:grpSpPr bwMode="auto">
              <a:xfrm flipH="1" flipV="1">
                <a:off x="2832" y="3648"/>
                <a:ext cx="96" cy="96"/>
                <a:chOff x="3168" y="3312"/>
                <a:chExt cx="96" cy="96"/>
              </a:xfrm>
            </p:grpSpPr>
            <p:sp>
              <p:nvSpPr>
                <p:cNvPr id="9278" name="Arc 172"/>
                <p:cNvSpPr>
                  <a:spLocks/>
                </p:cNvSpPr>
                <p:nvPr/>
              </p:nvSpPr>
              <p:spPr bwMode="auto">
                <a:xfrm>
                  <a:off x="3216" y="3312"/>
                  <a:ext cx="48"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79" name="Arc 173"/>
                <p:cNvSpPr>
                  <a:spLocks/>
                </p:cNvSpPr>
                <p:nvPr/>
              </p:nvSpPr>
              <p:spPr bwMode="auto">
                <a:xfrm flipH="1">
                  <a:off x="3168" y="3312"/>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9269" name="Group 174"/>
            <p:cNvGrpSpPr>
              <a:grpSpLocks/>
            </p:cNvGrpSpPr>
            <p:nvPr/>
          </p:nvGrpSpPr>
          <p:grpSpPr bwMode="auto">
            <a:xfrm>
              <a:off x="2352" y="1872"/>
              <a:ext cx="576" cy="231"/>
              <a:chOff x="1536" y="1824"/>
              <a:chExt cx="576" cy="231"/>
            </a:xfrm>
          </p:grpSpPr>
          <p:sp>
            <p:nvSpPr>
              <p:cNvPr id="9272" name="Text Box 175"/>
              <p:cNvSpPr txBox="1">
                <a:spLocks noChangeArrowheads="1"/>
              </p:cNvSpPr>
              <p:nvPr/>
            </p:nvSpPr>
            <p:spPr bwMode="auto">
              <a:xfrm>
                <a:off x="1536" y="1824"/>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E . d</a:t>
                </a:r>
                <a:r>
                  <a:rPr lang="en-US" altLang="en-US" sz="1800" b="1">
                    <a:solidFill>
                      <a:srgbClr val="FF9999"/>
                    </a:solidFill>
                    <a:latin typeface="ItalicC" pitchFamily="2" charset="0"/>
                  </a:rPr>
                  <a:t>l</a:t>
                </a:r>
              </a:p>
            </p:txBody>
          </p:sp>
          <p:sp>
            <p:nvSpPr>
              <p:cNvPr id="9273" name="Line 176"/>
              <p:cNvSpPr>
                <a:spLocks noChangeShapeType="1"/>
              </p:cNvSpPr>
              <p:nvPr/>
            </p:nvSpPr>
            <p:spPr bwMode="auto">
              <a:xfrm>
                <a:off x="1584" y="1824"/>
                <a:ext cx="144" cy="0"/>
              </a:xfrm>
              <a:prstGeom prst="line">
                <a:avLst/>
              </a:prstGeom>
              <a:noFill/>
              <a:ln w="12700">
                <a:solidFill>
                  <a:srgbClr val="FF9999"/>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74" name="Line 177"/>
              <p:cNvSpPr>
                <a:spLocks noChangeShapeType="1"/>
              </p:cNvSpPr>
              <p:nvPr/>
            </p:nvSpPr>
            <p:spPr bwMode="auto">
              <a:xfrm>
                <a:off x="1824" y="1824"/>
                <a:ext cx="144" cy="0"/>
              </a:xfrm>
              <a:prstGeom prst="line">
                <a:avLst/>
              </a:prstGeom>
              <a:noFill/>
              <a:ln w="12700">
                <a:solidFill>
                  <a:srgbClr val="FF9999"/>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9270" name="Text Box 178"/>
            <p:cNvSpPr txBox="1">
              <a:spLocks noChangeArrowheads="1"/>
            </p:cNvSpPr>
            <p:nvPr/>
          </p:nvSpPr>
          <p:spPr bwMode="auto">
            <a:xfrm>
              <a:off x="2208" y="2112"/>
              <a:ext cx="1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400" b="1">
                  <a:solidFill>
                    <a:srgbClr val="FF9999"/>
                  </a:solidFill>
                </a:rPr>
                <a:t>A</a:t>
              </a:r>
            </a:p>
          </p:txBody>
        </p:sp>
        <p:sp>
          <p:nvSpPr>
            <p:cNvPr id="9271" name="Text Box 179"/>
            <p:cNvSpPr txBox="1">
              <a:spLocks noChangeArrowheads="1"/>
            </p:cNvSpPr>
            <p:nvPr/>
          </p:nvSpPr>
          <p:spPr bwMode="auto">
            <a:xfrm>
              <a:off x="2256" y="1584"/>
              <a:ext cx="2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400" b="1">
                  <a:solidFill>
                    <a:srgbClr val="FF9999"/>
                  </a:solidFill>
                </a:rPr>
                <a:t>B</a:t>
              </a:r>
            </a:p>
          </p:txBody>
        </p:sp>
      </p:grpSp>
      <p:grpSp>
        <p:nvGrpSpPr>
          <p:cNvPr id="29911" name="Group 215"/>
          <p:cNvGrpSpPr>
            <a:grpSpLocks/>
          </p:cNvGrpSpPr>
          <p:nvPr/>
        </p:nvGrpSpPr>
        <p:grpSpPr bwMode="auto">
          <a:xfrm>
            <a:off x="7162800" y="2819400"/>
            <a:ext cx="3124200" cy="795338"/>
            <a:chOff x="2400" y="2523"/>
            <a:chExt cx="1968" cy="501"/>
          </a:xfrm>
        </p:grpSpPr>
        <p:grpSp>
          <p:nvGrpSpPr>
            <p:cNvPr id="9249" name="Group 182"/>
            <p:cNvGrpSpPr>
              <a:grpSpLocks/>
            </p:cNvGrpSpPr>
            <p:nvPr/>
          </p:nvGrpSpPr>
          <p:grpSpPr bwMode="auto">
            <a:xfrm>
              <a:off x="2784" y="2523"/>
              <a:ext cx="1584" cy="501"/>
              <a:chOff x="2352" y="3552"/>
              <a:chExt cx="1584" cy="501"/>
            </a:xfrm>
          </p:grpSpPr>
          <p:sp>
            <p:nvSpPr>
              <p:cNvPr id="9253" name="Text Box 183"/>
              <p:cNvSpPr txBox="1">
                <a:spLocks noChangeArrowheads="1"/>
              </p:cNvSpPr>
              <p:nvPr/>
            </p:nvSpPr>
            <p:spPr bwMode="auto">
              <a:xfrm>
                <a:off x="2352"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66"/>
                    </a:solidFill>
                  </a:rPr>
                  <a:t>=</a:t>
                </a:r>
                <a:endParaRPr lang="en-US" altLang="en-US" sz="1800" b="1">
                  <a:solidFill>
                    <a:srgbClr val="99FF66"/>
                  </a:solidFill>
                  <a:cs typeface="Arial" panose="020B0604020202020204" pitchFamily="34" charset="0"/>
                </a:endParaRPr>
              </a:p>
            </p:txBody>
          </p:sp>
          <p:sp>
            <p:nvSpPr>
              <p:cNvPr id="9254" name="Rectangle 184"/>
              <p:cNvSpPr>
                <a:spLocks noChangeArrowheads="1"/>
              </p:cNvSpPr>
              <p:nvPr/>
            </p:nvSpPr>
            <p:spPr bwMode="auto">
              <a:xfrm>
                <a:off x="3600" y="35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66"/>
                    </a:solidFill>
                  </a:rPr>
                  <a:t>1</a:t>
                </a:r>
                <a:endParaRPr lang="en-US" altLang="en-US" sz="1800">
                  <a:solidFill>
                    <a:srgbClr val="99FF66"/>
                  </a:solidFill>
                </a:endParaRPr>
              </a:p>
            </p:txBody>
          </p:sp>
          <p:sp>
            <p:nvSpPr>
              <p:cNvPr id="9255" name="Rectangle 185"/>
              <p:cNvSpPr>
                <a:spLocks noChangeArrowheads="1"/>
              </p:cNvSpPr>
              <p:nvPr/>
            </p:nvSpPr>
            <p:spPr bwMode="auto">
              <a:xfrm>
                <a:off x="3120" y="3561"/>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66"/>
                    </a:solidFill>
                  </a:rPr>
                  <a:t>1</a:t>
                </a:r>
                <a:endParaRPr lang="en-US" altLang="en-US" sz="1800">
                  <a:solidFill>
                    <a:srgbClr val="99FF66"/>
                  </a:solidFill>
                </a:endParaRPr>
              </a:p>
            </p:txBody>
          </p:sp>
          <p:sp>
            <p:nvSpPr>
              <p:cNvPr id="9256" name="Rectangle 186"/>
              <p:cNvSpPr>
                <a:spLocks noChangeArrowheads="1"/>
              </p:cNvSpPr>
              <p:nvPr/>
            </p:nvSpPr>
            <p:spPr bwMode="auto">
              <a:xfrm>
                <a:off x="2640" y="3591"/>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66"/>
                    </a:solidFill>
                  </a:rPr>
                  <a:t> q</a:t>
                </a:r>
                <a:endParaRPr lang="en-US" altLang="en-US" sz="1800" b="1" baseline="-25000">
                  <a:solidFill>
                    <a:srgbClr val="99FF66"/>
                  </a:solidFill>
                </a:endParaRPr>
              </a:p>
            </p:txBody>
          </p:sp>
          <p:sp>
            <p:nvSpPr>
              <p:cNvPr id="9257" name="Rectangle 187"/>
              <p:cNvSpPr>
                <a:spLocks noChangeArrowheads="1"/>
              </p:cNvSpPr>
              <p:nvPr/>
            </p:nvSpPr>
            <p:spPr bwMode="auto">
              <a:xfrm>
                <a:off x="2597" y="3822"/>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66"/>
                    </a:solidFill>
                  </a:rPr>
                  <a:t>4</a:t>
                </a:r>
                <a:r>
                  <a:rPr lang="el-GR" altLang="en-US" sz="1800" b="1">
                    <a:solidFill>
                      <a:srgbClr val="99FF66"/>
                    </a:solidFill>
                    <a:cs typeface="Arial" panose="020B0604020202020204" pitchFamily="34" charset="0"/>
                  </a:rPr>
                  <a:t>πε</a:t>
                </a:r>
                <a:r>
                  <a:rPr lang="en-US" altLang="en-US" sz="1800" b="1" baseline="-25000">
                    <a:solidFill>
                      <a:srgbClr val="99FF66"/>
                    </a:solidFill>
                    <a:cs typeface="Arial" panose="020B0604020202020204" pitchFamily="34" charset="0"/>
                  </a:rPr>
                  <a:t>0</a:t>
                </a:r>
                <a:endParaRPr lang="el-GR" altLang="en-US" sz="1800" b="1" baseline="-25000">
                  <a:solidFill>
                    <a:srgbClr val="99FF66"/>
                  </a:solidFill>
                  <a:cs typeface="Arial" panose="020B0604020202020204" pitchFamily="34" charset="0"/>
                </a:endParaRPr>
              </a:p>
            </p:txBody>
          </p:sp>
          <p:sp>
            <p:nvSpPr>
              <p:cNvPr id="9258" name="Line 188"/>
              <p:cNvSpPr>
                <a:spLocks noChangeShapeType="1"/>
              </p:cNvSpPr>
              <p:nvPr/>
            </p:nvSpPr>
            <p:spPr bwMode="auto">
              <a:xfrm>
                <a:off x="2592" y="3831"/>
                <a:ext cx="384" cy="0"/>
              </a:xfrm>
              <a:prstGeom prst="line">
                <a:avLst/>
              </a:prstGeom>
              <a:noFill/>
              <a:ln w="19050">
                <a:solidFill>
                  <a:srgbClr val="99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59" name="Text Box 189"/>
              <p:cNvSpPr txBox="1">
                <a:spLocks noChangeArrowheads="1"/>
              </p:cNvSpPr>
              <p:nvPr/>
            </p:nvSpPr>
            <p:spPr bwMode="auto">
              <a:xfrm>
                <a:off x="3792" y="358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99FF66"/>
                    </a:solidFill>
                  </a:rPr>
                  <a:t>]</a:t>
                </a:r>
              </a:p>
            </p:txBody>
          </p:sp>
          <p:sp>
            <p:nvSpPr>
              <p:cNvPr id="9260" name="Text Box 190"/>
              <p:cNvSpPr txBox="1">
                <a:spLocks noChangeArrowheads="1"/>
              </p:cNvSpPr>
              <p:nvPr/>
            </p:nvSpPr>
            <p:spPr bwMode="auto">
              <a:xfrm>
                <a:off x="2976" y="360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99FF66"/>
                    </a:solidFill>
                  </a:rPr>
                  <a:t>[</a:t>
                </a:r>
              </a:p>
            </p:txBody>
          </p:sp>
          <p:sp>
            <p:nvSpPr>
              <p:cNvPr id="9261" name="Text Box 191"/>
              <p:cNvSpPr txBox="1">
                <a:spLocks noChangeArrowheads="1"/>
              </p:cNvSpPr>
              <p:nvPr/>
            </p:nvSpPr>
            <p:spPr bwMode="auto">
              <a:xfrm>
                <a:off x="3408"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66"/>
                    </a:solidFill>
                  </a:rPr>
                  <a:t>-</a:t>
                </a:r>
              </a:p>
            </p:txBody>
          </p:sp>
          <p:sp>
            <p:nvSpPr>
              <p:cNvPr id="9262" name="Line 192"/>
              <p:cNvSpPr>
                <a:spLocks noChangeShapeType="1"/>
              </p:cNvSpPr>
              <p:nvPr/>
            </p:nvSpPr>
            <p:spPr bwMode="auto">
              <a:xfrm>
                <a:off x="3120" y="3840"/>
                <a:ext cx="240" cy="0"/>
              </a:xfrm>
              <a:prstGeom prst="line">
                <a:avLst/>
              </a:prstGeom>
              <a:noFill/>
              <a:ln w="19050">
                <a:solidFill>
                  <a:srgbClr val="99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63" name="Line 193"/>
              <p:cNvSpPr>
                <a:spLocks noChangeShapeType="1"/>
              </p:cNvSpPr>
              <p:nvPr/>
            </p:nvSpPr>
            <p:spPr bwMode="auto">
              <a:xfrm>
                <a:off x="3600" y="3840"/>
                <a:ext cx="240" cy="0"/>
              </a:xfrm>
              <a:prstGeom prst="line">
                <a:avLst/>
              </a:prstGeom>
              <a:noFill/>
              <a:ln w="19050">
                <a:solidFill>
                  <a:srgbClr val="99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64" name="Text Box 194"/>
              <p:cNvSpPr txBox="1">
                <a:spLocks noChangeArrowheads="1"/>
              </p:cNvSpPr>
              <p:nvPr/>
            </p:nvSpPr>
            <p:spPr bwMode="auto">
              <a:xfrm>
                <a:off x="312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66"/>
                    </a:solidFill>
                  </a:rPr>
                  <a:t>r</a:t>
                </a:r>
                <a:r>
                  <a:rPr lang="en-US" altLang="en-US" sz="1800" b="1" baseline="-25000">
                    <a:solidFill>
                      <a:srgbClr val="99FF66"/>
                    </a:solidFill>
                  </a:rPr>
                  <a:t>B</a:t>
                </a:r>
              </a:p>
            </p:txBody>
          </p:sp>
          <p:sp>
            <p:nvSpPr>
              <p:cNvPr id="9265" name="Text Box 195"/>
              <p:cNvSpPr txBox="1">
                <a:spLocks noChangeArrowheads="1"/>
              </p:cNvSpPr>
              <p:nvPr/>
            </p:nvSpPr>
            <p:spPr bwMode="auto">
              <a:xfrm>
                <a:off x="360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66"/>
                    </a:solidFill>
                  </a:rPr>
                  <a:t>r</a:t>
                </a:r>
                <a:r>
                  <a:rPr lang="en-US" altLang="en-US" sz="1800" b="1" baseline="-25000">
                    <a:solidFill>
                      <a:srgbClr val="99FF66"/>
                    </a:solidFill>
                  </a:rPr>
                  <a:t>A</a:t>
                </a:r>
              </a:p>
            </p:txBody>
          </p:sp>
        </p:grpSp>
        <p:sp>
          <p:nvSpPr>
            <p:cNvPr id="9250" name="Text Box 196"/>
            <p:cNvSpPr txBox="1">
              <a:spLocks noChangeArrowheads="1"/>
            </p:cNvSpPr>
            <p:nvPr/>
          </p:nvSpPr>
          <p:spPr bwMode="auto">
            <a:xfrm>
              <a:off x="2400" y="2544"/>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66"/>
                  </a:solidFill>
                </a:rPr>
                <a:t>W</a:t>
              </a:r>
              <a:r>
                <a:rPr lang="en-US" altLang="en-US" sz="1800" b="1" baseline="-25000">
                  <a:solidFill>
                    <a:srgbClr val="99FF66"/>
                  </a:solidFill>
                </a:rPr>
                <a:t>AB</a:t>
              </a:r>
              <a:endParaRPr lang="en-US" altLang="en-US" sz="1800" b="1">
                <a:solidFill>
                  <a:srgbClr val="99FF66"/>
                </a:solidFill>
              </a:endParaRPr>
            </a:p>
          </p:txBody>
        </p:sp>
        <p:sp>
          <p:nvSpPr>
            <p:cNvPr id="9251" name="Rectangle 211"/>
            <p:cNvSpPr>
              <a:spLocks noChangeArrowheads="1"/>
            </p:cNvSpPr>
            <p:nvPr/>
          </p:nvSpPr>
          <p:spPr bwMode="auto">
            <a:xfrm>
              <a:off x="2448" y="2745"/>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66"/>
                  </a:solidFill>
                </a:rPr>
                <a:t>q</a:t>
              </a:r>
              <a:r>
                <a:rPr lang="en-US" altLang="en-US" sz="1800" b="1" baseline="-25000">
                  <a:solidFill>
                    <a:srgbClr val="99FF66"/>
                  </a:solidFill>
                </a:rPr>
                <a:t>0</a:t>
              </a:r>
            </a:p>
          </p:txBody>
        </p:sp>
        <p:sp>
          <p:nvSpPr>
            <p:cNvPr id="9252" name="Line 213"/>
            <p:cNvSpPr>
              <a:spLocks noChangeShapeType="1"/>
            </p:cNvSpPr>
            <p:nvPr/>
          </p:nvSpPr>
          <p:spPr bwMode="auto">
            <a:xfrm>
              <a:off x="2400" y="2784"/>
              <a:ext cx="336" cy="0"/>
            </a:xfrm>
            <a:prstGeom prst="line">
              <a:avLst/>
            </a:prstGeom>
            <a:noFill/>
            <a:ln w="19050">
              <a:solidFill>
                <a:srgbClr val="99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9912" name="Text Box 216"/>
          <p:cNvSpPr txBox="1">
            <a:spLocks noChangeArrowheads="1"/>
          </p:cNvSpPr>
          <p:nvPr/>
        </p:nvSpPr>
        <p:spPr bwMode="auto">
          <a:xfrm>
            <a:off x="1676400" y="3733801"/>
            <a:ext cx="289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CCCC00"/>
                </a:solidFill>
              </a:rPr>
              <a:t>According to definition, </a:t>
            </a:r>
          </a:p>
        </p:txBody>
      </p:sp>
      <p:sp>
        <p:nvSpPr>
          <p:cNvPr id="29913" name="Rectangle 217"/>
          <p:cNvSpPr>
            <a:spLocks noChangeArrowheads="1"/>
          </p:cNvSpPr>
          <p:nvPr/>
        </p:nvSpPr>
        <p:spPr bwMode="auto">
          <a:xfrm>
            <a:off x="4572000" y="3733800"/>
            <a:ext cx="57912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r</a:t>
            </a:r>
            <a:r>
              <a:rPr lang="en-US" altLang="en-US" sz="1800" b="1" baseline="-25000">
                <a:solidFill>
                  <a:srgbClr val="FFFFCC"/>
                </a:solidFill>
              </a:rPr>
              <a:t>A </a:t>
            </a:r>
            <a:r>
              <a:rPr lang="en-US" altLang="en-US" sz="1800" b="1">
                <a:solidFill>
                  <a:srgbClr val="FFFFCC"/>
                </a:solidFill>
              </a:rPr>
              <a:t>= </a:t>
            </a:r>
            <a:r>
              <a:rPr lang="en-US" altLang="en-US" sz="1800" b="1">
                <a:solidFill>
                  <a:srgbClr val="FFFFCC"/>
                </a:solidFill>
                <a:cs typeface="Arial" panose="020B0604020202020204" pitchFamily="34" charset="0"/>
              </a:rPr>
              <a:t>∞  and</a:t>
            </a:r>
            <a:r>
              <a:rPr lang="en-US" altLang="en-US" sz="1800" b="1" baseline="-25000">
                <a:solidFill>
                  <a:srgbClr val="FFFFCC"/>
                </a:solidFill>
                <a:cs typeface="Arial" panose="020B0604020202020204" pitchFamily="34" charset="0"/>
              </a:rPr>
              <a:t>  </a:t>
            </a:r>
            <a:r>
              <a:rPr lang="en-US" altLang="en-US" sz="1800" b="1">
                <a:solidFill>
                  <a:srgbClr val="FFFFCC"/>
                </a:solidFill>
              </a:rPr>
              <a:t>r</a:t>
            </a:r>
            <a:r>
              <a:rPr lang="en-US" altLang="en-US" sz="1800" b="1" baseline="-25000">
                <a:solidFill>
                  <a:srgbClr val="FFFFCC"/>
                </a:solidFill>
              </a:rPr>
              <a:t>B</a:t>
            </a:r>
            <a:r>
              <a:rPr lang="en-US" altLang="en-US" sz="1800" b="1">
                <a:solidFill>
                  <a:srgbClr val="FFFFCC"/>
                </a:solidFill>
              </a:rPr>
              <a:t> = r   </a:t>
            </a:r>
          </a:p>
          <a:p>
            <a:pPr fontAlgn="base">
              <a:spcBef>
                <a:spcPct val="50000"/>
              </a:spcBef>
              <a:spcAft>
                <a:spcPct val="0"/>
              </a:spcAft>
              <a:buNone/>
            </a:pPr>
            <a:r>
              <a:rPr lang="en-US" altLang="en-US" sz="1800" b="1">
                <a:solidFill>
                  <a:srgbClr val="CCCCFF"/>
                </a:solidFill>
              </a:rPr>
              <a:t>(where r is the distance from the source charge  and the point of consideration)</a:t>
            </a:r>
            <a:endParaRPr lang="en-US" altLang="en-US" sz="1800" b="1" baseline="-25000">
              <a:solidFill>
                <a:srgbClr val="CCCCFF"/>
              </a:solidFill>
              <a:cs typeface="Arial" panose="020B0604020202020204" pitchFamily="34" charset="0"/>
            </a:endParaRPr>
          </a:p>
        </p:txBody>
      </p:sp>
      <p:grpSp>
        <p:nvGrpSpPr>
          <p:cNvPr id="29933" name="Group 237"/>
          <p:cNvGrpSpPr>
            <a:grpSpLocks/>
          </p:cNvGrpSpPr>
          <p:nvPr/>
        </p:nvGrpSpPr>
        <p:grpSpPr bwMode="auto">
          <a:xfrm>
            <a:off x="1905000" y="5181600"/>
            <a:ext cx="152400" cy="152400"/>
            <a:chOff x="3168" y="1392"/>
            <a:chExt cx="144" cy="144"/>
          </a:xfrm>
        </p:grpSpPr>
        <p:sp>
          <p:nvSpPr>
            <p:cNvPr id="9246" name="Oval 238"/>
            <p:cNvSpPr>
              <a:spLocks noChangeArrowheads="1"/>
            </p:cNvSpPr>
            <p:nvPr/>
          </p:nvSpPr>
          <p:spPr bwMode="auto">
            <a:xfrm>
              <a:off x="3168" y="1488"/>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9247" name="Oval 239"/>
            <p:cNvSpPr>
              <a:spLocks noChangeArrowheads="1"/>
            </p:cNvSpPr>
            <p:nvPr/>
          </p:nvSpPr>
          <p:spPr bwMode="auto">
            <a:xfrm>
              <a:off x="3264" y="1488"/>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9248" name="Oval 240"/>
            <p:cNvSpPr>
              <a:spLocks noChangeArrowheads="1"/>
            </p:cNvSpPr>
            <p:nvPr/>
          </p:nvSpPr>
          <p:spPr bwMode="auto">
            <a:xfrm>
              <a:off x="3216" y="1392"/>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grpSp>
      <p:grpSp>
        <p:nvGrpSpPr>
          <p:cNvPr id="29948" name="Group 252"/>
          <p:cNvGrpSpPr>
            <a:grpSpLocks/>
          </p:cNvGrpSpPr>
          <p:nvPr/>
        </p:nvGrpSpPr>
        <p:grpSpPr bwMode="auto">
          <a:xfrm>
            <a:off x="2209800" y="4800600"/>
            <a:ext cx="2438400" cy="838200"/>
            <a:chOff x="432" y="3408"/>
            <a:chExt cx="1536" cy="528"/>
          </a:xfrm>
        </p:grpSpPr>
        <p:sp>
          <p:nvSpPr>
            <p:cNvPr id="9238" name="Text Box 221"/>
            <p:cNvSpPr txBox="1">
              <a:spLocks noChangeArrowheads="1"/>
            </p:cNvSpPr>
            <p:nvPr/>
          </p:nvSpPr>
          <p:spPr bwMode="auto">
            <a:xfrm>
              <a:off x="816" y="3588"/>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FFFF"/>
                  </a:solidFill>
                </a:rPr>
                <a:t>=</a:t>
              </a:r>
              <a:endParaRPr lang="en-US" altLang="en-US" sz="1800" b="1">
                <a:solidFill>
                  <a:srgbClr val="00FFFF"/>
                </a:solidFill>
                <a:cs typeface="Arial" panose="020B0604020202020204" pitchFamily="34" charset="0"/>
              </a:endParaRPr>
            </a:p>
          </p:txBody>
        </p:sp>
        <p:sp>
          <p:nvSpPr>
            <p:cNvPr id="9239" name="Rectangle 224"/>
            <p:cNvSpPr>
              <a:spLocks noChangeArrowheads="1"/>
            </p:cNvSpPr>
            <p:nvPr/>
          </p:nvSpPr>
          <p:spPr bwMode="auto">
            <a:xfrm>
              <a:off x="1152" y="340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FFFF"/>
                  </a:solidFill>
                </a:rPr>
                <a:t> q</a:t>
              </a:r>
              <a:endParaRPr lang="en-US" altLang="en-US" sz="1800" b="1" baseline="-25000">
                <a:solidFill>
                  <a:srgbClr val="00FFFF"/>
                </a:solidFill>
              </a:endParaRPr>
            </a:p>
          </p:txBody>
        </p:sp>
        <p:sp>
          <p:nvSpPr>
            <p:cNvPr id="9240" name="Rectangle 225"/>
            <p:cNvSpPr>
              <a:spLocks noChangeArrowheads="1"/>
            </p:cNvSpPr>
            <p:nvPr/>
          </p:nvSpPr>
          <p:spPr bwMode="auto">
            <a:xfrm>
              <a:off x="1061" y="3705"/>
              <a:ext cx="52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FF"/>
                  </a:solidFill>
                </a:rPr>
                <a:t>4</a:t>
              </a:r>
              <a:r>
                <a:rPr lang="el-GR" altLang="en-US" sz="1800" b="1">
                  <a:solidFill>
                    <a:srgbClr val="00FFFF"/>
                  </a:solidFill>
                  <a:cs typeface="Arial" panose="020B0604020202020204" pitchFamily="34" charset="0"/>
                </a:rPr>
                <a:t>πε</a:t>
              </a:r>
              <a:r>
                <a:rPr lang="en-US" altLang="en-US" sz="1800" b="1" baseline="-25000">
                  <a:solidFill>
                    <a:srgbClr val="00FFFF"/>
                  </a:solidFill>
                  <a:cs typeface="Arial" panose="020B0604020202020204" pitchFamily="34" charset="0"/>
                </a:rPr>
                <a:t>0</a:t>
              </a:r>
              <a:r>
                <a:rPr lang="en-US" altLang="en-US" sz="1800" b="1">
                  <a:solidFill>
                    <a:srgbClr val="00FFFF"/>
                  </a:solidFill>
                  <a:cs typeface="Arial" panose="020B0604020202020204" pitchFamily="34" charset="0"/>
                </a:rPr>
                <a:t> r</a:t>
              </a:r>
              <a:endParaRPr lang="el-GR" altLang="en-US" sz="1800" b="1">
                <a:solidFill>
                  <a:srgbClr val="00FFFF"/>
                </a:solidFill>
                <a:cs typeface="Arial" panose="020B0604020202020204" pitchFamily="34" charset="0"/>
              </a:endParaRPr>
            </a:p>
          </p:txBody>
        </p:sp>
        <p:sp>
          <p:nvSpPr>
            <p:cNvPr id="9241" name="Text Box 234"/>
            <p:cNvSpPr txBox="1">
              <a:spLocks noChangeArrowheads="1"/>
            </p:cNvSpPr>
            <p:nvPr/>
          </p:nvSpPr>
          <p:spPr bwMode="auto">
            <a:xfrm>
              <a:off x="432" y="345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FFFF"/>
                  </a:solidFill>
                </a:rPr>
                <a:t>W</a:t>
              </a:r>
              <a:r>
                <a:rPr lang="en-US" altLang="en-US" sz="1800" b="1" baseline="-25000">
                  <a:solidFill>
                    <a:srgbClr val="00FFFF"/>
                  </a:solidFill>
                  <a:cs typeface="Arial" panose="020B0604020202020204" pitchFamily="34" charset="0"/>
                </a:rPr>
                <a:t>∞</a:t>
              </a:r>
              <a:r>
                <a:rPr lang="en-US" altLang="en-US" sz="1800" b="1" baseline="-25000">
                  <a:solidFill>
                    <a:srgbClr val="00FFFF"/>
                  </a:solidFill>
                </a:rPr>
                <a:t>B</a:t>
              </a:r>
              <a:endParaRPr lang="en-US" altLang="en-US" sz="1800" b="1">
                <a:solidFill>
                  <a:srgbClr val="00FFFF"/>
                </a:solidFill>
              </a:endParaRPr>
            </a:p>
          </p:txBody>
        </p:sp>
        <p:sp>
          <p:nvSpPr>
            <p:cNvPr id="9242" name="Rectangle 235"/>
            <p:cNvSpPr>
              <a:spLocks noChangeArrowheads="1"/>
            </p:cNvSpPr>
            <p:nvPr/>
          </p:nvSpPr>
          <p:spPr bwMode="auto">
            <a:xfrm>
              <a:off x="480" y="3657"/>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FFFF"/>
                  </a:solidFill>
                </a:rPr>
                <a:t>q</a:t>
              </a:r>
              <a:r>
                <a:rPr lang="en-US" altLang="en-US" sz="1800" b="1" baseline="-25000">
                  <a:solidFill>
                    <a:srgbClr val="00FFFF"/>
                  </a:solidFill>
                </a:rPr>
                <a:t>0</a:t>
              </a:r>
            </a:p>
          </p:txBody>
        </p:sp>
        <p:sp>
          <p:nvSpPr>
            <p:cNvPr id="9243" name="Line 236"/>
            <p:cNvSpPr>
              <a:spLocks noChangeShapeType="1"/>
            </p:cNvSpPr>
            <p:nvPr/>
          </p:nvSpPr>
          <p:spPr bwMode="auto">
            <a:xfrm>
              <a:off x="432" y="3696"/>
              <a:ext cx="336" cy="0"/>
            </a:xfrm>
            <a:prstGeom prst="line">
              <a:avLst/>
            </a:prstGeom>
            <a:noFill/>
            <a:ln w="190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44" name="Line 241"/>
            <p:cNvSpPr>
              <a:spLocks noChangeShapeType="1"/>
            </p:cNvSpPr>
            <p:nvPr/>
          </p:nvSpPr>
          <p:spPr bwMode="auto">
            <a:xfrm>
              <a:off x="1056" y="3696"/>
              <a:ext cx="528" cy="0"/>
            </a:xfrm>
            <a:prstGeom prst="line">
              <a:avLst/>
            </a:prstGeom>
            <a:noFill/>
            <a:ln w="190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9245" name="Text Box 242"/>
            <p:cNvSpPr txBox="1">
              <a:spLocks noChangeArrowheads="1"/>
            </p:cNvSpPr>
            <p:nvPr/>
          </p:nvSpPr>
          <p:spPr bwMode="auto">
            <a:xfrm>
              <a:off x="1632" y="3561"/>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FFFF"/>
                  </a:solidFill>
                </a:rPr>
                <a:t>= V</a:t>
              </a:r>
              <a:endParaRPr lang="en-US" altLang="en-US" sz="1800" b="1">
                <a:solidFill>
                  <a:srgbClr val="00FFFF"/>
                </a:solidFill>
                <a:cs typeface="Arial" panose="020B0604020202020204" pitchFamily="34" charset="0"/>
              </a:endParaRPr>
            </a:p>
          </p:txBody>
        </p:sp>
      </p:grpSp>
      <p:grpSp>
        <p:nvGrpSpPr>
          <p:cNvPr id="29939" name="Group 243"/>
          <p:cNvGrpSpPr>
            <a:grpSpLocks/>
          </p:cNvGrpSpPr>
          <p:nvPr/>
        </p:nvGrpSpPr>
        <p:grpSpPr bwMode="auto">
          <a:xfrm>
            <a:off x="5257800" y="5181600"/>
            <a:ext cx="152400" cy="152400"/>
            <a:chOff x="3168" y="1392"/>
            <a:chExt cx="144" cy="144"/>
          </a:xfrm>
        </p:grpSpPr>
        <p:sp>
          <p:nvSpPr>
            <p:cNvPr id="9235" name="Oval 244"/>
            <p:cNvSpPr>
              <a:spLocks noChangeArrowheads="1"/>
            </p:cNvSpPr>
            <p:nvPr/>
          </p:nvSpPr>
          <p:spPr bwMode="auto">
            <a:xfrm>
              <a:off x="3168" y="1488"/>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9236" name="Oval 245"/>
            <p:cNvSpPr>
              <a:spLocks noChangeArrowheads="1"/>
            </p:cNvSpPr>
            <p:nvPr/>
          </p:nvSpPr>
          <p:spPr bwMode="auto">
            <a:xfrm>
              <a:off x="3264" y="1488"/>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9237" name="Oval 246"/>
            <p:cNvSpPr>
              <a:spLocks noChangeArrowheads="1"/>
            </p:cNvSpPr>
            <p:nvPr/>
          </p:nvSpPr>
          <p:spPr bwMode="auto">
            <a:xfrm>
              <a:off x="3216" y="1392"/>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grpSp>
      <p:grpSp>
        <p:nvGrpSpPr>
          <p:cNvPr id="29953" name="Group 257"/>
          <p:cNvGrpSpPr>
            <a:grpSpLocks/>
          </p:cNvGrpSpPr>
          <p:nvPr/>
        </p:nvGrpSpPr>
        <p:grpSpPr bwMode="auto">
          <a:xfrm>
            <a:off x="5638800" y="4876800"/>
            <a:ext cx="1219200" cy="762000"/>
            <a:chOff x="2592" y="3072"/>
            <a:chExt cx="768" cy="480"/>
          </a:xfrm>
        </p:grpSpPr>
        <p:sp>
          <p:nvSpPr>
            <p:cNvPr id="9230" name="Rectangle 253"/>
            <p:cNvSpPr>
              <a:spLocks noChangeArrowheads="1"/>
            </p:cNvSpPr>
            <p:nvPr/>
          </p:nvSpPr>
          <p:spPr bwMode="auto">
            <a:xfrm>
              <a:off x="2592" y="3072"/>
              <a:ext cx="768" cy="480"/>
            </a:xfrm>
            <a:prstGeom prst="rect">
              <a:avLst/>
            </a:prstGeom>
            <a:solidFill>
              <a:srgbClr val="FFFFCC"/>
            </a:solidFill>
            <a:ln w="2857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9231" name="Text Box 247"/>
            <p:cNvSpPr txBox="1">
              <a:spLocks noChangeArrowheads="1"/>
            </p:cNvSpPr>
            <p:nvPr/>
          </p:nvSpPr>
          <p:spPr bwMode="auto">
            <a:xfrm>
              <a:off x="2602" y="3198"/>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00FF"/>
                  </a:solidFill>
                </a:rPr>
                <a:t>V =</a:t>
              </a:r>
              <a:endParaRPr lang="en-US" altLang="en-US" sz="1800" b="1">
                <a:solidFill>
                  <a:srgbClr val="0000FF"/>
                </a:solidFill>
                <a:cs typeface="Arial" panose="020B0604020202020204" pitchFamily="34" charset="0"/>
              </a:endParaRPr>
            </a:p>
          </p:txBody>
        </p:sp>
        <p:sp>
          <p:nvSpPr>
            <p:cNvPr id="9232" name="Text Box 248"/>
            <p:cNvSpPr txBox="1">
              <a:spLocks noChangeArrowheads="1"/>
            </p:cNvSpPr>
            <p:nvPr/>
          </p:nvSpPr>
          <p:spPr bwMode="auto">
            <a:xfrm>
              <a:off x="2928" y="307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FF"/>
                  </a:solidFill>
                </a:rPr>
                <a:t>W</a:t>
              </a:r>
              <a:r>
                <a:rPr lang="en-US" altLang="en-US" sz="1800" b="1" baseline="-25000">
                  <a:solidFill>
                    <a:srgbClr val="0000FF"/>
                  </a:solidFill>
                  <a:cs typeface="Arial" panose="020B0604020202020204" pitchFamily="34" charset="0"/>
                </a:rPr>
                <a:t>∞</a:t>
              </a:r>
              <a:r>
                <a:rPr lang="en-US" altLang="en-US" sz="1800" b="1" baseline="-25000">
                  <a:solidFill>
                    <a:srgbClr val="0000FF"/>
                  </a:solidFill>
                </a:rPr>
                <a:t>B</a:t>
              </a:r>
              <a:endParaRPr lang="en-US" altLang="en-US" sz="1800" b="1">
                <a:solidFill>
                  <a:srgbClr val="0000FF"/>
                </a:solidFill>
              </a:endParaRPr>
            </a:p>
          </p:txBody>
        </p:sp>
        <p:sp>
          <p:nvSpPr>
            <p:cNvPr id="9233" name="Rectangle 249"/>
            <p:cNvSpPr>
              <a:spLocks noChangeArrowheads="1"/>
            </p:cNvSpPr>
            <p:nvPr/>
          </p:nvSpPr>
          <p:spPr bwMode="auto">
            <a:xfrm>
              <a:off x="2976" y="3273"/>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0000FF"/>
                  </a:solidFill>
                </a:rPr>
                <a:t>q</a:t>
              </a:r>
              <a:r>
                <a:rPr lang="en-US" altLang="en-US" sz="1800" b="1" baseline="-25000">
                  <a:solidFill>
                    <a:srgbClr val="0000FF"/>
                  </a:solidFill>
                </a:rPr>
                <a:t>0</a:t>
              </a:r>
            </a:p>
          </p:txBody>
        </p:sp>
        <p:sp>
          <p:nvSpPr>
            <p:cNvPr id="9234" name="Line 250"/>
            <p:cNvSpPr>
              <a:spLocks noChangeShapeType="1"/>
            </p:cNvSpPr>
            <p:nvPr/>
          </p:nvSpPr>
          <p:spPr bwMode="auto">
            <a:xfrm>
              <a:off x="2928" y="3312"/>
              <a:ext cx="336"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29950" name="Text Box 254"/>
          <p:cNvSpPr txBox="1">
            <a:spLocks noChangeArrowheads="1"/>
          </p:cNvSpPr>
          <p:nvPr/>
        </p:nvSpPr>
        <p:spPr bwMode="auto">
          <a:xfrm>
            <a:off x="1676400" y="5715000"/>
            <a:ext cx="84582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66"/>
                </a:solidFill>
              </a:rPr>
              <a:t>SI unit of electric potential is volt (V)  or J C</a:t>
            </a:r>
            <a:r>
              <a:rPr lang="en-US" altLang="en-US" sz="1800" b="1" baseline="30000">
                <a:solidFill>
                  <a:srgbClr val="99FF66"/>
                </a:solidFill>
              </a:rPr>
              <a:t>-1</a:t>
            </a:r>
            <a:r>
              <a:rPr lang="en-US" altLang="en-US" sz="1800" b="1">
                <a:solidFill>
                  <a:srgbClr val="99FF66"/>
                </a:solidFill>
              </a:rPr>
              <a:t> or Nm C</a:t>
            </a:r>
            <a:r>
              <a:rPr lang="en-US" altLang="en-US" sz="1800" b="1" baseline="30000">
                <a:solidFill>
                  <a:srgbClr val="99FF66"/>
                </a:solidFill>
              </a:rPr>
              <a:t>-1</a:t>
            </a:r>
            <a:r>
              <a:rPr lang="en-US" altLang="en-US" sz="1800" b="1">
                <a:solidFill>
                  <a:srgbClr val="99FF66"/>
                </a:solidFill>
              </a:rPr>
              <a:t>.</a:t>
            </a:r>
          </a:p>
          <a:p>
            <a:pPr fontAlgn="base">
              <a:spcBef>
                <a:spcPct val="50000"/>
              </a:spcBef>
              <a:spcAft>
                <a:spcPct val="0"/>
              </a:spcAft>
              <a:buNone/>
            </a:pPr>
            <a:r>
              <a:rPr lang="en-US" altLang="en-US" sz="1800" b="1">
                <a:solidFill>
                  <a:srgbClr val="FF9900"/>
                </a:solidFill>
              </a:rPr>
              <a:t>Electric potential at a point is one volt if one joule of work is done in moving one coulomb charge from infinity to that point in the electric field.</a:t>
            </a:r>
          </a:p>
        </p:txBody>
      </p:sp>
      <p:sp>
        <p:nvSpPr>
          <p:cNvPr id="29951" name="Text Box 255"/>
          <p:cNvSpPr txBox="1">
            <a:spLocks noChangeArrowheads="1"/>
          </p:cNvSpPr>
          <p:nvPr/>
        </p:nvSpPr>
        <p:spPr bwMode="auto">
          <a:xfrm>
            <a:off x="6400800" y="3048001"/>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00"/>
                </a:solidFill>
              </a:rPr>
              <a:t>or</a:t>
            </a:r>
          </a:p>
        </p:txBody>
      </p:sp>
    </p:spTree>
    <p:extLst>
      <p:ext uri="{BB962C8B-B14F-4D97-AF65-F5344CB8AC3E}">
        <p14:creationId xmlns:p14="http://schemas.microsoft.com/office/powerpoint/2010/main" val="3486535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9835"/>
                                        </p:tgtEl>
                                        <p:attrNameLst>
                                          <p:attrName>style.visibility</p:attrName>
                                        </p:attrNameLst>
                                      </p:cBhvr>
                                      <p:to>
                                        <p:strVal val="visible"/>
                                      </p:to>
                                    </p:set>
                                    <p:animEffect transition="in" filter="slide(fromTop)">
                                      <p:cBhvr>
                                        <p:cTn id="7" dur="500"/>
                                        <p:tgtEl>
                                          <p:spTgt spid="29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9834">
                                            <p:txEl>
                                              <p:pRg st="0" end="0"/>
                                            </p:txEl>
                                          </p:spTgt>
                                        </p:tgtEl>
                                        <p:attrNameLst>
                                          <p:attrName>style.visibility</p:attrName>
                                        </p:attrNameLst>
                                      </p:cBhvr>
                                      <p:to>
                                        <p:strVal val="visible"/>
                                      </p:to>
                                    </p:set>
                                    <p:animEffect transition="in" filter="wipe(up)">
                                      <p:cBhvr>
                                        <p:cTn id="12" dur="500"/>
                                        <p:tgtEl>
                                          <p:spTgt spid="2983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9834">
                                            <p:txEl>
                                              <p:pRg st="1" end="1"/>
                                            </p:txEl>
                                          </p:spTgt>
                                        </p:tgtEl>
                                        <p:attrNameLst>
                                          <p:attrName>style.visibility</p:attrName>
                                        </p:attrNameLst>
                                      </p:cBhvr>
                                      <p:to>
                                        <p:strVal val="visible"/>
                                      </p:to>
                                    </p:set>
                                    <p:animEffect transition="in" filter="wipe(up)">
                                      <p:cBhvr>
                                        <p:cTn id="17" dur="500"/>
                                        <p:tgtEl>
                                          <p:spTgt spid="2983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9834">
                                            <p:txEl>
                                              <p:pRg st="2" end="2"/>
                                            </p:txEl>
                                          </p:spTgt>
                                        </p:tgtEl>
                                        <p:attrNameLst>
                                          <p:attrName>style.visibility</p:attrName>
                                        </p:attrNameLst>
                                      </p:cBhvr>
                                      <p:to>
                                        <p:strVal val="visible"/>
                                      </p:to>
                                    </p:set>
                                    <p:animEffect transition="in" filter="wipe(up)">
                                      <p:cBhvr>
                                        <p:cTn id="22" dur="500"/>
                                        <p:tgtEl>
                                          <p:spTgt spid="2983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29876"/>
                                        </p:tgtEl>
                                        <p:attrNameLst>
                                          <p:attrName>style.visibility</p:attrName>
                                        </p:attrNameLst>
                                      </p:cBhvr>
                                      <p:to>
                                        <p:strVal val="visible"/>
                                      </p:to>
                                    </p:set>
                                    <p:anim calcmode="lin" valueType="num">
                                      <p:cBhvr>
                                        <p:cTn id="27" dur="500" fill="hold"/>
                                        <p:tgtEl>
                                          <p:spTgt spid="29876"/>
                                        </p:tgtEl>
                                        <p:attrNameLst>
                                          <p:attrName>ppt_w</p:attrName>
                                        </p:attrNameLst>
                                      </p:cBhvr>
                                      <p:tavLst>
                                        <p:tav tm="0">
                                          <p:val>
                                            <p:fltVal val="0"/>
                                          </p:val>
                                        </p:tav>
                                        <p:tav tm="100000">
                                          <p:val>
                                            <p:strVal val="#ppt_w"/>
                                          </p:val>
                                        </p:tav>
                                      </p:tavLst>
                                    </p:anim>
                                    <p:anim calcmode="lin" valueType="num">
                                      <p:cBhvr>
                                        <p:cTn id="28" dur="500" fill="hold"/>
                                        <p:tgtEl>
                                          <p:spTgt spid="29876"/>
                                        </p:tgtEl>
                                        <p:attrNameLst>
                                          <p:attrName>ppt_h</p:attrName>
                                        </p:attrNameLst>
                                      </p:cBhvr>
                                      <p:tavLst>
                                        <p:tav tm="0">
                                          <p:val>
                                            <p:fltVal val="0"/>
                                          </p:val>
                                        </p:tav>
                                        <p:tav tm="100000">
                                          <p:val>
                                            <p:strVal val="#ppt_h"/>
                                          </p:val>
                                        </p:tav>
                                      </p:tavLst>
                                    </p:anim>
                                    <p:animEffect transition="in" filter="fade">
                                      <p:cBhvr>
                                        <p:cTn id="29" dur="500"/>
                                        <p:tgtEl>
                                          <p:spTgt spid="2987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grpId="0" nodeType="clickEffect">
                                  <p:stCondLst>
                                    <p:cond delay="0"/>
                                  </p:stCondLst>
                                  <p:childTnLst>
                                    <p:set>
                                      <p:cBhvr>
                                        <p:cTn id="33" dur="1" fill="hold">
                                          <p:stCondLst>
                                            <p:cond delay="0"/>
                                          </p:stCondLst>
                                        </p:cTn>
                                        <p:tgtEl>
                                          <p:spTgt spid="29951"/>
                                        </p:tgtEl>
                                        <p:attrNameLst>
                                          <p:attrName>style.visibility</p:attrName>
                                        </p:attrNameLst>
                                      </p:cBhvr>
                                      <p:to>
                                        <p:strVal val="visible"/>
                                      </p:to>
                                    </p:set>
                                    <p:anim calcmode="lin" valueType="num">
                                      <p:cBhvr>
                                        <p:cTn id="34" dur="500" fill="hold"/>
                                        <p:tgtEl>
                                          <p:spTgt spid="29951"/>
                                        </p:tgtEl>
                                        <p:attrNameLst>
                                          <p:attrName>ppt_w</p:attrName>
                                        </p:attrNameLst>
                                      </p:cBhvr>
                                      <p:tavLst>
                                        <p:tav tm="0">
                                          <p:val>
                                            <p:fltVal val="0"/>
                                          </p:val>
                                        </p:tav>
                                        <p:tav tm="100000">
                                          <p:val>
                                            <p:strVal val="#ppt_w"/>
                                          </p:val>
                                        </p:tav>
                                      </p:tavLst>
                                    </p:anim>
                                    <p:anim calcmode="lin" valueType="num">
                                      <p:cBhvr>
                                        <p:cTn id="35" dur="500" fill="hold"/>
                                        <p:tgtEl>
                                          <p:spTgt spid="29951"/>
                                        </p:tgtEl>
                                        <p:attrNameLst>
                                          <p:attrName>ppt_h</p:attrName>
                                        </p:attrNameLst>
                                      </p:cBhvr>
                                      <p:tavLst>
                                        <p:tav tm="0">
                                          <p:val>
                                            <p:fltVal val="0"/>
                                          </p:val>
                                        </p:tav>
                                        <p:tav tm="100000">
                                          <p:val>
                                            <p:strVal val="#ppt_h"/>
                                          </p:val>
                                        </p:tav>
                                      </p:tavLst>
                                    </p:anim>
                                    <p:animEffect transition="in" filter="fade">
                                      <p:cBhvr>
                                        <p:cTn id="36" dur="500"/>
                                        <p:tgtEl>
                                          <p:spTgt spid="2995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0" fill="hold" nodeType="clickEffect">
                                  <p:stCondLst>
                                    <p:cond delay="0"/>
                                  </p:stCondLst>
                                  <p:childTnLst>
                                    <p:set>
                                      <p:cBhvr>
                                        <p:cTn id="40" dur="1" fill="hold">
                                          <p:stCondLst>
                                            <p:cond delay="0"/>
                                          </p:stCondLst>
                                        </p:cTn>
                                        <p:tgtEl>
                                          <p:spTgt spid="29911"/>
                                        </p:tgtEl>
                                        <p:attrNameLst>
                                          <p:attrName>style.visibility</p:attrName>
                                        </p:attrNameLst>
                                      </p:cBhvr>
                                      <p:to>
                                        <p:strVal val="visible"/>
                                      </p:to>
                                    </p:set>
                                    <p:anim calcmode="lin" valueType="num">
                                      <p:cBhvr>
                                        <p:cTn id="41" dur="500" fill="hold"/>
                                        <p:tgtEl>
                                          <p:spTgt spid="29911"/>
                                        </p:tgtEl>
                                        <p:attrNameLst>
                                          <p:attrName>ppt_w</p:attrName>
                                        </p:attrNameLst>
                                      </p:cBhvr>
                                      <p:tavLst>
                                        <p:tav tm="0">
                                          <p:val>
                                            <p:fltVal val="0"/>
                                          </p:val>
                                        </p:tav>
                                        <p:tav tm="100000">
                                          <p:val>
                                            <p:strVal val="#ppt_w"/>
                                          </p:val>
                                        </p:tav>
                                      </p:tavLst>
                                    </p:anim>
                                    <p:anim calcmode="lin" valueType="num">
                                      <p:cBhvr>
                                        <p:cTn id="42" dur="500" fill="hold"/>
                                        <p:tgtEl>
                                          <p:spTgt spid="29911"/>
                                        </p:tgtEl>
                                        <p:attrNameLst>
                                          <p:attrName>ppt_h</p:attrName>
                                        </p:attrNameLst>
                                      </p:cBhvr>
                                      <p:tavLst>
                                        <p:tav tm="0">
                                          <p:val>
                                            <p:fltVal val="0"/>
                                          </p:val>
                                        </p:tav>
                                        <p:tav tm="100000">
                                          <p:val>
                                            <p:strVal val="#ppt_h"/>
                                          </p:val>
                                        </p:tav>
                                      </p:tavLst>
                                    </p:anim>
                                    <p:animEffect transition="in" filter="fade">
                                      <p:cBhvr>
                                        <p:cTn id="43" dur="500"/>
                                        <p:tgtEl>
                                          <p:spTgt spid="2991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9912"/>
                                        </p:tgtEl>
                                        <p:attrNameLst>
                                          <p:attrName>style.visibility</p:attrName>
                                        </p:attrNameLst>
                                      </p:cBhvr>
                                      <p:to>
                                        <p:strVal val="visible"/>
                                      </p:to>
                                    </p:set>
                                    <p:animEffect transition="in" filter="wipe(left)">
                                      <p:cBhvr>
                                        <p:cTn id="48" dur="500"/>
                                        <p:tgtEl>
                                          <p:spTgt spid="2991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9913"/>
                                        </p:tgtEl>
                                        <p:attrNameLst>
                                          <p:attrName>style.visibility</p:attrName>
                                        </p:attrNameLst>
                                      </p:cBhvr>
                                      <p:to>
                                        <p:strVal val="visible"/>
                                      </p:to>
                                    </p:set>
                                    <p:animEffect transition="in" filter="wipe(left)">
                                      <p:cBhvr>
                                        <p:cTn id="53" dur="500"/>
                                        <p:tgtEl>
                                          <p:spTgt spid="299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29933"/>
                                        </p:tgtEl>
                                        <p:attrNameLst>
                                          <p:attrName>style.visibility</p:attrName>
                                        </p:attrNameLst>
                                      </p:cBhvr>
                                      <p:to>
                                        <p:strVal val="visible"/>
                                      </p:to>
                                    </p:set>
                                    <p:animEffect transition="in" filter="dissolve">
                                      <p:cBhvr>
                                        <p:cTn id="58" dur="500"/>
                                        <p:tgtEl>
                                          <p:spTgt spid="2993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9948"/>
                                        </p:tgtEl>
                                        <p:attrNameLst>
                                          <p:attrName>style.visibility</p:attrName>
                                        </p:attrNameLst>
                                      </p:cBhvr>
                                      <p:to>
                                        <p:strVal val="visible"/>
                                      </p:to>
                                    </p:set>
                                    <p:animEffect transition="in" filter="wipe(left)">
                                      <p:cBhvr>
                                        <p:cTn id="63" dur="500"/>
                                        <p:tgtEl>
                                          <p:spTgt spid="2994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29939"/>
                                        </p:tgtEl>
                                        <p:attrNameLst>
                                          <p:attrName>style.visibility</p:attrName>
                                        </p:attrNameLst>
                                      </p:cBhvr>
                                      <p:to>
                                        <p:strVal val="visible"/>
                                      </p:to>
                                    </p:set>
                                    <p:animEffect transition="in" filter="dissolve">
                                      <p:cBhvr>
                                        <p:cTn id="68" dur="500"/>
                                        <p:tgtEl>
                                          <p:spTgt spid="2993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0" fill="hold" nodeType="clickEffect">
                                  <p:stCondLst>
                                    <p:cond delay="0"/>
                                  </p:stCondLst>
                                  <p:childTnLst>
                                    <p:set>
                                      <p:cBhvr>
                                        <p:cTn id="72" dur="1" fill="hold">
                                          <p:stCondLst>
                                            <p:cond delay="0"/>
                                          </p:stCondLst>
                                        </p:cTn>
                                        <p:tgtEl>
                                          <p:spTgt spid="29953"/>
                                        </p:tgtEl>
                                        <p:attrNameLst>
                                          <p:attrName>style.visibility</p:attrName>
                                        </p:attrNameLst>
                                      </p:cBhvr>
                                      <p:to>
                                        <p:strVal val="visible"/>
                                      </p:to>
                                    </p:set>
                                    <p:anim calcmode="lin" valueType="num">
                                      <p:cBhvr>
                                        <p:cTn id="73" dur="500" fill="hold"/>
                                        <p:tgtEl>
                                          <p:spTgt spid="29953"/>
                                        </p:tgtEl>
                                        <p:attrNameLst>
                                          <p:attrName>ppt_w</p:attrName>
                                        </p:attrNameLst>
                                      </p:cBhvr>
                                      <p:tavLst>
                                        <p:tav tm="0">
                                          <p:val>
                                            <p:fltVal val="0"/>
                                          </p:val>
                                        </p:tav>
                                        <p:tav tm="100000">
                                          <p:val>
                                            <p:strVal val="#ppt_w"/>
                                          </p:val>
                                        </p:tav>
                                      </p:tavLst>
                                    </p:anim>
                                    <p:anim calcmode="lin" valueType="num">
                                      <p:cBhvr>
                                        <p:cTn id="74" dur="500" fill="hold"/>
                                        <p:tgtEl>
                                          <p:spTgt spid="29953"/>
                                        </p:tgtEl>
                                        <p:attrNameLst>
                                          <p:attrName>ppt_h</p:attrName>
                                        </p:attrNameLst>
                                      </p:cBhvr>
                                      <p:tavLst>
                                        <p:tav tm="0">
                                          <p:val>
                                            <p:fltVal val="0"/>
                                          </p:val>
                                        </p:tav>
                                        <p:tav tm="100000">
                                          <p:val>
                                            <p:strVal val="#ppt_h"/>
                                          </p:val>
                                        </p:tav>
                                      </p:tavLst>
                                    </p:anim>
                                    <p:animEffect transition="in" filter="fade">
                                      <p:cBhvr>
                                        <p:cTn id="75" dur="500"/>
                                        <p:tgtEl>
                                          <p:spTgt spid="2995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29950">
                                            <p:txEl>
                                              <p:pRg st="0" end="0"/>
                                            </p:txEl>
                                          </p:spTgt>
                                        </p:tgtEl>
                                        <p:attrNameLst>
                                          <p:attrName>style.visibility</p:attrName>
                                        </p:attrNameLst>
                                      </p:cBhvr>
                                      <p:to>
                                        <p:strVal val="visible"/>
                                      </p:to>
                                    </p:set>
                                    <p:animEffect transition="in" filter="wipe(up)">
                                      <p:cBhvr>
                                        <p:cTn id="80" dur="500"/>
                                        <p:tgtEl>
                                          <p:spTgt spid="29950">
                                            <p:txEl>
                                              <p:pRg st="0" end="0"/>
                                            </p:txEl>
                                          </p:spTgt>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29950">
                                            <p:txEl>
                                              <p:pRg st="1" end="1"/>
                                            </p:txEl>
                                          </p:spTgt>
                                        </p:tgtEl>
                                        <p:attrNameLst>
                                          <p:attrName>style.visibility</p:attrName>
                                        </p:attrNameLst>
                                      </p:cBhvr>
                                      <p:to>
                                        <p:strVal val="visible"/>
                                      </p:to>
                                    </p:set>
                                    <p:animEffect transition="in" filter="wipe(up)">
                                      <p:cBhvr>
                                        <p:cTn id="85" dur="500"/>
                                        <p:tgtEl>
                                          <p:spTgt spid="2995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35" grpId="0"/>
      <p:bldP spid="29912" grpId="0"/>
      <p:bldP spid="29913" grpId="0"/>
      <p:bldP spid="299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52" name="Rectangle 132"/>
          <p:cNvSpPr>
            <a:spLocks noChangeArrowheads="1"/>
          </p:cNvSpPr>
          <p:nvPr/>
        </p:nvSpPr>
        <p:spPr bwMode="auto">
          <a:xfrm>
            <a:off x="1676400" y="457201"/>
            <a:ext cx="8839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CCCCFF"/>
                </a:solidFill>
              </a:rPr>
              <a:t>Electric Potential Difference between any two points in the electric field is defined as the work done in moving (without any acceleration) a unit positive charge from one point to the other against the electrostatic force irrespective of the path followed.</a:t>
            </a:r>
          </a:p>
        </p:txBody>
      </p:sp>
      <p:sp>
        <p:nvSpPr>
          <p:cNvPr id="11267" name="Text Box 133"/>
          <p:cNvSpPr txBox="1">
            <a:spLocks noChangeArrowheads="1"/>
          </p:cNvSpPr>
          <p:nvPr/>
        </p:nvSpPr>
        <p:spPr bwMode="auto">
          <a:xfrm>
            <a:off x="1676400" y="28575"/>
            <a:ext cx="4038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2200" b="1">
                <a:solidFill>
                  <a:srgbClr val="99FF33"/>
                </a:solidFill>
              </a:rPr>
              <a:t>Electric Potential Difference:</a:t>
            </a:r>
          </a:p>
        </p:txBody>
      </p:sp>
      <p:grpSp>
        <p:nvGrpSpPr>
          <p:cNvPr id="30854" name="Group 134"/>
          <p:cNvGrpSpPr>
            <a:grpSpLocks/>
          </p:cNvGrpSpPr>
          <p:nvPr/>
        </p:nvGrpSpPr>
        <p:grpSpPr bwMode="auto">
          <a:xfrm>
            <a:off x="1752600" y="1600200"/>
            <a:ext cx="4267200" cy="1143000"/>
            <a:chOff x="1680" y="1584"/>
            <a:chExt cx="2688" cy="720"/>
          </a:xfrm>
        </p:grpSpPr>
        <p:grpSp>
          <p:nvGrpSpPr>
            <p:cNvPr id="11318" name="Group 135"/>
            <p:cNvGrpSpPr>
              <a:grpSpLocks/>
            </p:cNvGrpSpPr>
            <p:nvPr/>
          </p:nvGrpSpPr>
          <p:grpSpPr bwMode="auto">
            <a:xfrm>
              <a:off x="2784" y="1707"/>
              <a:ext cx="1584" cy="501"/>
              <a:chOff x="2352" y="3552"/>
              <a:chExt cx="1584" cy="501"/>
            </a:xfrm>
          </p:grpSpPr>
          <p:sp>
            <p:nvSpPr>
              <p:cNvPr id="11334" name="Text Box 136"/>
              <p:cNvSpPr txBox="1">
                <a:spLocks noChangeArrowheads="1"/>
              </p:cNvSpPr>
              <p:nvPr/>
            </p:nvSpPr>
            <p:spPr bwMode="auto">
              <a:xfrm>
                <a:off x="2352"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a:t>
                </a:r>
                <a:endParaRPr lang="en-US" altLang="en-US" sz="1800" b="1">
                  <a:solidFill>
                    <a:srgbClr val="FF99FF"/>
                  </a:solidFill>
                  <a:cs typeface="Arial" panose="020B0604020202020204" pitchFamily="34" charset="0"/>
                </a:endParaRPr>
              </a:p>
            </p:txBody>
          </p:sp>
          <p:sp>
            <p:nvSpPr>
              <p:cNvPr id="11335" name="Rectangle 137"/>
              <p:cNvSpPr>
                <a:spLocks noChangeArrowheads="1"/>
              </p:cNvSpPr>
              <p:nvPr/>
            </p:nvSpPr>
            <p:spPr bwMode="auto">
              <a:xfrm>
                <a:off x="3600" y="35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1</a:t>
                </a:r>
                <a:endParaRPr lang="en-US" altLang="en-US" sz="1800">
                  <a:solidFill>
                    <a:srgbClr val="FF99FF"/>
                  </a:solidFill>
                </a:endParaRPr>
              </a:p>
            </p:txBody>
          </p:sp>
          <p:sp>
            <p:nvSpPr>
              <p:cNvPr id="11336" name="Rectangle 138"/>
              <p:cNvSpPr>
                <a:spLocks noChangeArrowheads="1"/>
              </p:cNvSpPr>
              <p:nvPr/>
            </p:nvSpPr>
            <p:spPr bwMode="auto">
              <a:xfrm>
                <a:off x="3120" y="3561"/>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1</a:t>
                </a:r>
                <a:endParaRPr lang="en-US" altLang="en-US" sz="1800">
                  <a:solidFill>
                    <a:srgbClr val="FF99FF"/>
                  </a:solidFill>
                </a:endParaRPr>
              </a:p>
            </p:txBody>
          </p:sp>
          <p:sp>
            <p:nvSpPr>
              <p:cNvPr id="11337" name="Rectangle 139"/>
              <p:cNvSpPr>
                <a:spLocks noChangeArrowheads="1"/>
              </p:cNvSpPr>
              <p:nvPr/>
            </p:nvSpPr>
            <p:spPr bwMode="auto">
              <a:xfrm>
                <a:off x="2640" y="3591"/>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FF"/>
                    </a:solidFill>
                  </a:rPr>
                  <a:t>qq</a:t>
                </a:r>
                <a:r>
                  <a:rPr lang="en-US" altLang="en-US" sz="1800" b="1" baseline="-25000">
                    <a:solidFill>
                      <a:srgbClr val="FF99FF"/>
                    </a:solidFill>
                  </a:rPr>
                  <a:t>0</a:t>
                </a:r>
              </a:p>
            </p:txBody>
          </p:sp>
          <p:sp>
            <p:nvSpPr>
              <p:cNvPr id="11338" name="Rectangle 140"/>
              <p:cNvSpPr>
                <a:spLocks noChangeArrowheads="1"/>
              </p:cNvSpPr>
              <p:nvPr/>
            </p:nvSpPr>
            <p:spPr bwMode="auto">
              <a:xfrm>
                <a:off x="2597" y="3822"/>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4</a:t>
                </a:r>
                <a:r>
                  <a:rPr lang="el-GR" altLang="en-US" sz="1800" b="1">
                    <a:solidFill>
                      <a:srgbClr val="FF99FF"/>
                    </a:solidFill>
                    <a:cs typeface="Arial" panose="020B0604020202020204" pitchFamily="34" charset="0"/>
                  </a:rPr>
                  <a:t>πε</a:t>
                </a:r>
                <a:r>
                  <a:rPr lang="en-US" altLang="en-US" sz="1800" b="1" baseline="-25000">
                    <a:solidFill>
                      <a:srgbClr val="FF99FF"/>
                    </a:solidFill>
                    <a:cs typeface="Arial" panose="020B0604020202020204" pitchFamily="34" charset="0"/>
                  </a:rPr>
                  <a:t>0</a:t>
                </a:r>
                <a:endParaRPr lang="el-GR" altLang="en-US" sz="1800" b="1" baseline="-25000">
                  <a:solidFill>
                    <a:srgbClr val="FF99FF"/>
                  </a:solidFill>
                  <a:cs typeface="Arial" panose="020B0604020202020204" pitchFamily="34" charset="0"/>
                </a:endParaRPr>
              </a:p>
            </p:txBody>
          </p:sp>
          <p:sp>
            <p:nvSpPr>
              <p:cNvPr id="11339" name="Line 141"/>
              <p:cNvSpPr>
                <a:spLocks noChangeShapeType="1"/>
              </p:cNvSpPr>
              <p:nvPr/>
            </p:nvSpPr>
            <p:spPr bwMode="auto">
              <a:xfrm>
                <a:off x="2592" y="3831"/>
                <a:ext cx="384" cy="0"/>
              </a:xfrm>
              <a:prstGeom prst="line">
                <a:avLst/>
              </a:prstGeom>
              <a:noFill/>
              <a:ln w="1905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40" name="Text Box 142"/>
              <p:cNvSpPr txBox="1">
                <a:spLocks noChangeArrowheads="1"/>
              </p:cNvSpPr>
              <p:nvPr/>
            </p:nvSpPr>
            <p:spPr bwMode="auto">
              <a:xfrm>
                <a:off x="3792" y="358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FF99FF"/>
                    </a:solidFill>
                  </a:rPr>
                  <a:t>]</a:t>
                </a:r>
              </a:p>
            </p:txBody>
          </p:sp>
          <p:sp>
            <p:nvSpPr>
              <p:cNvPr id="11341" name="Text Box 143"/>
              <p:cNvSpPr txBox="1">
                <a:spLocks noChangeArrowheads="1"/>
              </p:cNvSpPr>
              <p:nvPr/>
            </p:nvSpPr>
            <p:spPr bwMode="auto">
              <a:xfrm>
                <a:off x="2976" y="360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FF99FF"/>
                    </a:solidFill>
                  </a:rPr>
                  <a:t>[</a:t>
                </a:r>
              </a:p>
            </p:txBody>
          </p:sp>
          <p:sp>
            <p:nvSpPr>
              <p:cNvPr id="11342" name="Text Box 144"/>
              <p:cNvSpPr txBox="1">
                <a:spLocks noChangeArrowheads="1"/>
              </p:cNvSpPr>
              <p:nvPr/>
            </p:nvSpPr>
            <p:spPr bwMode="auto">
              <a:xfrm>
                <a:off x="3408"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a:t>
                </a:r>
              </a:p>
            </p:txBody>
          </p:sp>
          <p:sp>
            <p:nvSpPr>
              <p:cNvPr id="11343" name="Line 145"/>
              <p:cNvSpPr>
                <a:spLocks noChangeShapeType="1"/>
              </p:cNvSpPr>
              <p:nvPr/>
            </p:nvSpPr>
            <p:spPr bwMode="auto">
              <a:xfrm>
                <a:off x="3120" y="3840"/>
                <a:ext cx="240" cy="0"/>
              </a:xfrm>
              <a:prstGeom prst="line">
                <a:avLst/>
              </a:prstGeom>
              <a:noFill/>
              <a:ln w="1905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44" name="Line 146"/>
              <p:cNvSpPr>
                <a:spLocks noChangeShapeType="1"/>
              </p:cNvSpPr>
              <p:nvPr/>
            </p:nvSpPr>
            <p:spPr bwMode="auto">
              <a:xfrm>
                <a:off x="3600" y="3840"/>
                <a:ext cx="240" cy="0"/>
              </a:xfrm>
              <a:prstGeom prst="line">
                <a:avLst/>
              </a:prstGeom>
              <a:noFill/>
              <a:ln w="1905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45" name="Text Box 147"/>
              <p:cNvSpPr txBox="1">
                <a:spLocks noChangeArrowheads="1"/>
              </p:cNvSpPr>
              <p:nvPr/>
            </p:nvSpPr>
            <p:spPr bwMode="auto">
              <a:xfrm>
                <a:off x="312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r</a:t>
                </a:r>
                <a:r>
                  <a:rPr lang="en-US" altLang="en-US" sz="1800" b="1" baseline="-25000">
                    <a:solidFill>
                      <a:srgbClr val="FF99FF"/>
                    </a:solidFill>
                  </a:rPr>
                  <a:t>B</a:t>
                </a:r>
              </a:p>
            </p:txBody>
          </p:sp>
          <p:sp>
            <p:nvSpPr>
              <p:cNvPr id="11346" name="Text Box 148"/>
              <p:cNvSpPr txBox="1">
                <a:spLocks noChangeArrowheads="1"/>
              </p:cNvSpPr>
              <p:nvPr/>
            </p:nvSpPr>
            <p:spPr bwMode="auto">
              <a:xfrm>
                <a:off x="360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r</a:t>
                </a:r>
                <a:r>
                  <a:rPr lang="en-US" altLang="en-US" sz="1800" b="1" baseline="-25000">
                    <a:solidFill>
                      <a:srgbClr val="FF99FF"/>
                    </a:solidFill>
                  </a:rPr>
                  <a:t>A</a:t>
                </a:r>
              </a:p>
            </p:txBody>
          </p:sp>
        </p:grpSp>
        <p:sp>
          <p:nvSpPr>
            <p:cNvPr id="11319" name="Text Box 149"/>
            <p:cNvSpPr txBox="1">
              <a:spLocks noChangeArrowheads="1"/>
            </p:cNvSpPr>
            <p:nvPr/>
          </p:nvSpPr>
          <p:spPr bwMode="auto">
            <a:xfrm>
              <a:off x="1680" y="1872"/>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W</a:t>
              </a:r>
              <a:r>
                <a:rPr lang="en-US" altLang="en-US" sz="1800" b="1" baseline="-25000">
                  <a:solidFill>
                    <a:srgbClr val="FF99FF"/>
                  </a:solidFill>
                </a:rPr>
                <a:t>AB</a:t>
              </a:r>
              <a:r>
                <a:rPr lang="en-US" altLang="en-US" sz="1800" b="1">
                  <a:solidFill>
                    <a:srgbClr val="FF99FF"/>
                  </a:solidFill>
                </a:rPr>
                <a:t> = - </a:t>
              </a:r>
            </a:p>
          </p:txBody>
        </p:sp>
        <p:grpSp>
          <p:nvGrpSpPr>
            <p:cNvPr id="11320" name="Group 150"/>
            <p:cNvGrpSpPr>
              <a:grpSpLocks/>
            </p:cNvGrpSpPr>
            <p:nvPr/>
          </p:nvGrpSpPr>
          <p:grpSpPr bwMode="auto">
            <a:xfrm rot="10800000">
              <a:off x="2256" y="1776"/>
              <a:ext cx="144" cy="336"/>
              <a:chOff x="2832" y="3312"/>
              <a:chExt cx="192" cy="432"/>
            </a:xfrm>
          </p:grpSpPr>
          <p:sp>
            <p:nvSpPr>
              <p:cNvPr id="11327" name="Line 151"/>
              <p:cNvSpPr>
                <a:spLocks noChangeShapeType="1"/>
              </p:cNvSpPr>
              <p:nvPr/>
            </p:nvSpPr>
            <p:spPr bwMode="auto">
              <a:xfrm>
                <a:off x="2928" y="3408"/>
                <a:ext cx="0" cy="24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nvGrpSpPr>
              <p:cNvPr id="11328" name="Group 152"/>
              <p:cNvGrpSpPr>
                <a:grpSpLocks/>
              </p:cNvGrpSpPr>
              <p:nvPr/>
            </p:nvGrpSpPr>
            <p:grpSpPr bwMode="auto">
              <a:xfrm>
                <a:off x="2928" y="3312"/>
                <a:ext cx="96" cy="96"/>
                <a:chOff x="3168" y="3312"/>
                <a:chExt cx="96" cy="96"/>
              </a:xfrm>
            </p:grpSpPr>
            <p:sp>
              <p:nvSpPr>
                <p:cNvPr id="11332" name="Arc 153"/>
                <p:cNvSpPr>
                  <a:spLocks/>
                </p:cNvSpPr>
                <p:nvPr/>
              </p:nvSpPr>
              <p:spPr bwMode="auto">
                <a:xfrm>
                  <a:off x="3216" y="3312"/>
                  <a:ext cx="48"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33" name="Arc 154"/>
                <p:cNvSpPr>
                  <a:spLocks/>
                </p:cNvSpPr>
                <p:nvPr/>
              </p:nvSpPr>
              <p:spPr bwMode="auto">
                <a:xfrm flipH="1">
                  <a:off x="3168" y="3312"/>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11329" name="Group 155"/>
              <p:cNvGrpSpPr>
                <a:grpSpLocks/>
              </p:cNvGrpSpPr>
              <p:nvPr/>
            </p:nvGrpSpPr>
            <p:grpSpPr bwMode="auto">
              <a:xfrm flipH="1" flipV="1">
                <a:off x="2832" y="3648"/>
                <a:ext cx="96" cy="96"/>
                <a:chOff x="3168" y="3312"/>
                <a:chExt cx="96" cy="96"/>
              </a:xfrm>
            </p:grpSpPr>
            <p:sp>
              <p:nvSpPr>
                <p:cNvPr id="11330" name="Arc 156"/>
                <p:cNvSpPr>
                  <a:spLocks/>
                </p:cNvSpPr>
                <p:nvPr/>
              </p:nvSpPr>
              <p:spPr bwMode="auto">
                <a:xfrm>
                  <a:off x="3216" y="3312"/>
                  <a:ext cx="48"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31" name="Arc 157"/>
                <p:cNvSpPr>
                  <a:spLocks/>
                </p:cNvSpPr>
                <p:nvPr/>
              </p:nvSpPr>
              <p:spPr bwMode="auto">
                <a:xfrm flipH="1">
                  <a:off x="3168" y="3312"/>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grpSp>
          <p:nvGrpSpPr>
            <p:cNvPr id="11321" name="Group 158"/>
            <p:cNvGrpSpPr>
              <a:grpSpLocks/>
            </p:cNvGrpSpPr>
            <p:nvPr/>
          </p:nvGrpSpPr>
          <p:grpSpPr bwMode="auto">
            <a:xfrm>
              <a:off x="2352" y="1872"/>
              <a:ext cx="576" cy="231"/>
              <a:chOff x="1536" y="1824"/>
              <a:chExt cx="576" cy="231"/>
            </a:xfrm>
          </p:grpSpPr>
          <p:sp>
            <p:nvSpPr>
              <p:cNvPr id="11324" name="Text Box 159"/>
              <p:cNvSpPr txBox="1">
                <a:spLocks noChangeArrowheads="1"/>
              </p:cNvSpPr>
              <p:nvPr/>
            </p:nvSpPr>
            <p:spPr bwMode="auto">
              <a:xfrm>
                <a:off x="1536" y="1824"/>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FF"/>
                    </a:solidFill>
                  </a:rPr>
                  <a:t>E . d</a:t>
                </a:r>
                <a:r>
                  <a:rPr lang="en-US" altLang="en-US" sz="1800" b="1">
                    <a:solidFill>
                      <a:srgbClr val="FF99FF"/>
                    </a:solidFill>
                    <a:latin typeface="ItalicC" pitchFamily="2" charset="0"/>
                  </a:rPr>
                  <a:t>l</a:t>
                </a:r>
              </a:p>
            </p:txBody>
          </p:sp>
          <p:sp>
            <p:nvSpPr>
              <p:cNvPr id="11325" name="Line 160"/>
              <p:cNvSpPr>
                <a:spLocks noChangeShapeType="1"/>
              </p:cNvSpPr>
              <p:nvPr/>
            </p:nvSpPr>
            <p:spPr bwMode="auto">
              <a:xfrm>
                <a:off x="1584" y="1824"/>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26" name="Line 161"/>
              <p:cNvSpPr>
                <a:spLocks noChangeShapeType="1"/>
              </p:cNvSpPr>
              <p:nvPr/>
            </p:nvSpPr>
            <p:spPr bwMode="auto">
              <a:xfrm>
                <a:off x="1824" y="1824"/>
                <a:ext cx="144" cy="0"/>
              </a:xfrm>
              <a:prstGeom prst="line">
                <a:avLst/>
              </a:prstGeom>
              <a:noFill/>
              <a:ln w="12700">
                <a:solidFill>
                  <a:srgbClr val="FF99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11322" name="Text Box 162"/>
            <p:cNvSpPr txBox="1">
              <a:spLocks noChangeArrowheads="1"/>
            </p:cNvSpPr>
            <p:nvPr/>
          </p:nvSpPr>
          <p:spPr bwMode="auto">
            <a:xfrm>
              <a:off x="2208" y="2112"/>
              <a:ext cx="1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400" b="1">
                  <a:solidFill>
                    <a:srgbClr val="FF99FF"/>
                  </a:solidFill>
                </a:rPr>
                <a:t>A</a:t>
              </a:r>
            </a:p>
          </p:txBody>
        </p:sp>
        <p:sp>
          <p:nvSpPr>
            <p:cNvPr id="11323" name="Text Box 163"/>
            <p:cNvSpPr txBox="1">
              <a:spLocks noChangeArrowheads="1"/>
            </p:cNvSpPr>
            <p:nvPr/>
          </p:nvSpPr>
          <p:spPr bwMode="auto">
            <a:xfrm>
              <a:off x="2256" y="1584"/>
              <a:ext cx="2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400" b="1">
                  <a:solidFill>
                    <a:srgbClr val="FF99FF"/>
                  </a:solidFill>
                </a:rPr>
                <a:t>B</a:t>
              </a:r>
            </a:p>
          </p:txBody>
        </p:sp>
      </p:grpSp>
      <p:grpSp>
        <p:nvGrpSpPr>
          <p:cNvPr id="30884" name="Group 164"/>
          <p:cNvGrpSpPr>
            <a:grpSpLocks/>
          </p:cNvGrpSpPr>
          <p:nvPr/>
        </p:nvGrpSpPr>
        <p:grpSpPr bwMode="auto">
          <a:xfrm>
            <a:off x="7162800" y="1828800"/>
            <a:ext cx="3124200" cy="795338"/>
            <a:chOff x="2400" y="2523"/>
            <a:chExt cx="1968" cy="501"/>
          </a:xfrm>
        </p:grpSpPr>
        <p:grpSp>
          <p:nvGrpSpPr>
            <p:cNvPr id="11301" name="Group 165"/>
            <p:cNvGrpSpPr>
              <a:grpSpLocks/>
            </p:cNvGrpSpPr>
            <p:nvPr/>
          </p:nvGrpSpPr>
          <p:grpSpPr bwMode="auto">
            <a:xfrm>
              <a:off x="2784" y="2523"/>
              <a:ext cx="1584" cy="501"/>
              <a:chOff x="2352" y="3552"/>
              <a:chExt cx="1584" cy="501"/>
            </a:xfrm>
          </p:grpSpPr>
          <p:sp>
            <p:nvSpPr>
              <p:cNvPr id="11305" name="Text Box 166"/>
              <p:cNvSpPr txBox="1">
                <a:spLocks noChangeArrowheads="1"/>
              </p:cNvSpPr>
              <p:nvPr/>
            </p:nvSpPr>
            <p:spPr bwMode="auto">
              <a:xfrm>
                <a:off x="2352"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99"/>
                    </a:solidFill>
                  </a:rPr>
                  <a:t>=</a:t>
                </a:r>
                <a:endParaRPr lang="en-US" altLang="en-US" sz="1800" b="1">
                  <a:solidFill>
                    <a:srgbClr val="99FF99"/>
                  </a:solidFill>
                  <a:cs typeface="Arial" panose="020B0604020202020204" pitchFamily="34" charset="0"/>
                </a:endParaRPr>
              </a:p>
            </p:txBody>
          </p:sp>
          <p:sp>
            <p:nvSpPr>
              <p:cNvPr id="11306" name="Rectangle 167"/>
              <p:cNvSpPr>
                <a:spLocks noChangeArrowheads="1"/>
              </p:cNvSpPr>
              <p:nvPr/>
            </p:nvSpPr>
            <p:spPr bwMode="auto">
              <a:xfrm>
                <a:off x="3600" y="35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99"/>
                    </a:solidFill>
                  </a:rPr>
                  <a:t>1</a:t>
                </a:r>
                <a:endParaRPr lang="en-US" altLang="en-US" sz="1800">
                  <a:solidFill>
                    <a:srgbClr val="99FF99"/>
                  </a:solidFill>
                </a:endParaRPr>
              </a:p>
            </p:txBody>
          </p:sp>
          <p:sp>
            <p:nvSpPr>
              <p:cNvPr id="11307" name="Rectangle 168"/>
              <p:cNvSpPr>
                <a:spLocks noChangeArrowheads="1"/>
              </p:cNvSpPr>
              <p:nvPr/>
            </p:nvSpPr>
            <p:spPr bwMode="auto">
              <a:xfrm>
                <a:off x="3120" y="3561"/>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99"/>
                    </a:solidFill>
                  </a:rPr>
                  <a:t>1</a:t>
                </a:r>
                <a:endParaRPr lang="en-US" altLang="en-US" sz="1800">
                  <a:solidFill>
                    <a:srgbClr val="99FF99"/>
                  </a:solidFill>
                </a:endParaRPr>
              </a:p>
            </p:txBody>
          </p:sp>
          <p:sp>
            <p:nvSpPr>
              <p:cNvPr id="11308" name="Rectangle 169"/>
              <p:cNvSpPr>
                <a:spLocks noChangeArrowheads="1"/>
              </p:cNvSpPr>
              <p:nvPr/>
            </p:nvSpPr>
            <p:spPr bwMode="auto">
              <a:xfrm>
                <a:off x="2640" y="3591"/>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99"/>
                    </a:solidFill>
                  </a:rPr>
                  <a:t> q</a:t>
                </a:r>
                <a:endParaRPr lang="en-US" altLang="en-US" sz="1800" b="1" baseline="-25000">
                  <a:solidFill>
                    <a:srgbClr val="99FF99"/>
                  </a:solidFill>
                </a:endParaRPr>
              </a:p>
            </p:txBody>
          </p:sp>
          <p:sp>
            <p:nvSpPr>
              <p:cNvPr id="11309" name="Rectangle 170"/>
              <p:cNvSpPr>
                <a:spLocks noChangeArrowheads="1"/>
              </p:cNvSpPr>
              <p:nvPr/>
            </p:nvSpPr>
            <p:spPr bwMode="auto">
              <a:xfrm>
                <a:off x="2597" y="3822"/>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99"/>
                    </a:solidFill>
                  </a:rPr>
                  <a:t>4</a:t>
                </a:r>
                <a:r>
                  <a:rPr lang="el-GR" altLang="en-US" sz="1800" b="1">
                    <a:solidFill>
                      <a:srgbClr val="99FF99"/>
                    </a:solidFill>
                    <a:cs typeface="Arial" panose="020B0604020202020204" pitchFamily="34" charset="0"/>
                  </a:rPr>
                  <a:t>πε</a:t>
                </a:r>
                <a:r>
                  <a:rPr lang="en-US" altLang="en-US" sz="1800" b="1" baseline="-25000">
                    <a:solidFill>
                      <a:srgbClr val="99FF99"/>
                    </a:solidFill>
                    <a:cs typeface="Arial" panose="020B0604020202020204" pitchFamily="34" charset="0"/>
                  </a:rPr>
                  <a:t>0</a:t>
                </a:r>
                <a:endParaRPr lang="el-GR" altLang="en-US" sz="1800" b="1" baseline="-25000">
                  <a:solidFill>
                    <a:srgbClr val="99FF99"/>
                  </a:solidFill>
                  <a:cs typeface="Arial" panose="020B0604020202020204" pitchFamily="34" charset="0"/>
                </a:endParaRPr>
              </a:p>
            </p:txBody>
          </p:sp>
          <p:sp>
            <p:nvSpPr>
              <p:cNvPr id="11310" name="Line 171"/>
              <p:cNvSpPr>
                <a:spLocks noChangeShapeType="1"/>
              </p:cNvSpPr>
              <p:nvPr/>
            </p:nvSpPr>
            <p:spPr bwMode="auto">
              <a:xfrm>
                <a:off x="2592" y="3831"/>
                <a:ext cx="384" cy="0"/>
              </a:xfrm>
              <a:prstGeom prst="line">
                <a:avLst/>
              </a:prstGeom>
              <a:noFill/>
              <a:ln w="190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11" name="Text Box 172"/>
              <p:cNvSpPr txBox="1">
                <a:spLocks noChangeArrowheads="1"/>
              </p:cNvSpPr>
              <p:nvPr/>
            </p:nvSpPr>
            <p:spPr bwMode="auto">
              <a:xfrm>
                <a:off x="3792" y="358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99FF99"/>
                    </a:solidFill>
                  </a:rPr>
                  <a:t>]</a:t>
                </a:r>
              </a:p>
            </p:txBody>
          </p:sp>
          <p:sp>
            <p:nvSpPr>
              <p:cNvPr id="11312" name="Text Box 173"/>
              <p:cNvSpPr txBox="1">
                <a:spLocks noChangeArrowheads="1"/>
              </p:cNvSpPr>
              <p:nvPr/>
            </p:nvSpPr>
            <p:spPr bwMode="auto">
              <a:xfrm>
                <a:off x="2976" y="3600"/>
                <a:ext cx="1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3600">
                    <a:solidFill>
                      <a:srgbClr val="99FF99"/>
                    </a:solidFill>
                  </a:rPr>
                  <a:t>[</a:t>
                </a:r>
              </a:p>
            </p:txBody>
          </p:sp>
          <p:sp>
            <p:nvSpPr>
              <p:cNvPr id="11313" name="Text Box 174"/>
              <p:cNvSpPr txBox="1">
                <a:spLocks noChangeArrowheads="1"/>
              </p:cNvSpPr>
              <p:nvPr/>
            </p:nvSpPr>
            <p:spPr bwMode="auto">
              <a:xfrm>
                <a:off x="3408" y="3705"/>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99"/>
                    </a:solidFill>
                  </a:rPr>
                  <a:t>-</a:t>
                </a:r>
              </a:p>
            </p:txBody>
          </p:sp>
          <p:sp>
            <p:nvSpPr>
              <p:cNvPr id="11314" name="Line 175"/>
              <p:cNvSpPr>
                <a:spLocks noChangeShapeType="1"/>
              </p:cNvSpPr>
              <p:nvPr/>
            </p:nvSpPr>
            <p:spPr bwMode="auto">
              <a:xfrm>
                <a:off x="3120" y="3840"/>
                <a:ext cx="240" cy="0"/>
              </a:xfrm>
              <a:prstGeom prst="line">
                <a:avLst/>
              </a:prstGeom>
              <a:noFill/>
              <a:ln w="190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15" name="Line 176"/>
              <p:cNvSpPr>
                <a:spLocks noChangeShapeType="1"/>
              </p:cNvSpPr>
              <p:nvPr/>
            </p:nvSpPr>
            <p:spPr bwMode="auto">
              <a:xfrm>
                <a:off x="3600" y="3840"/>
                <a:ext cx="240" cy="0"/>
              </a:xfrm>
              <a:prstGeom prst="line">
                <a:avLst/>
              </a:prstGeom>
              <a:noFill/>
              <a:ln w="190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316" name="Text Box 177"/>
              <p:cNvSpPr txBox="1">
                <a:spLocks noChangeArrowheads="1"/>
              </p:cNvSpPr>
              <p:nvPr/>
            </p:nvSpPr>
            <p:spPr bwMode="auto">
              <a:xfrm>
                <a:off x="312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99"/>
                    </a:solidFill>
                  </a:rPr>
                  <a:t>r</a:t>
                </a:r>
                <a:r>
                  <a:rPr lang="en-US" altLang="en-US" sz="1800" b="1" baseline="-25000">
                    <a:solidFill>
                      <a:srgbClr val="99FF99"/>
                    </a:solidFill>
                  </a:rPr>
                  <a:t>B</a:t>
                </a:r>
              </a:p>
            </p:txBody>
          </p:sp>
          <p:sp>
            <p:nvSpPr>
              <p:cNvPr id="11317" name="Text Box 178"/>
              <p:cNvSpPr txBox="1">
                <a:spLocks noChangeArrowheads="1"/>
              </p:cNvSpPr>
              <p:nvPr/>
            </p:nvSpPr>
            <p:spPr bwMode="auto">
              <a:xfrm>
                <a:off x="3600" y="379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99"/>
                    </a:solidFill>
                  </a:rPr>
                  <a:t>r</a:t>
                </a:r>
                <a:r>
                  <a:rPr lang="en-US" altLang="en-US" sz="1800" b="1" baseline="-25000">
                    <a:solidFill>
                      <a:srgbClr val="99FF99"/>
                    </a:solidFill>
                  </a:rPr>
                  <a:t>A</a:t>
                </a:r>
              </a:p>
            </p:txBody>
          </p:sp>
        </p:grpSp>
        <p:sp>
          <p:nvSpPr>
            <p:cNvPr id="11302" name="Text Box 179"/>
            <p:cNvSpPr txBox="1">
              <a:spLocks noChangeArrowheads="1"/>
            </p:cNvSpPr>
            <p:nvPr/>
          </p:nvSpPr>
          <p:spPr bwMode="auto">
            <a:xfrm>
              <a:off x="2400" y="2544"/>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99FF99"/>
                  </a:solidFill>
                </a:rPr>
                <a:t>W</a:t>
              </a:r>
              <a:r>
                <a:rPr lang="en-US" altLang="en-US" sz="1800" b="1" baseline="-25000">
                  <a:solidFill>
                    <a:srgbClr val="99FF99"/>
                  </a:solidFill>
                </a:rPr>
                <a:t>AB</a:t>
              </a:r>
              <a:endParaRPr lang="en-US" altLang="en-US" sz="1800" b="1">
                <a:solidFill>
                  <a:srgbClr val="99FF99"/>
                </a:solidFill>
              </a:endParaRPr>
            </a:p>
          </p:txBody>
        </p:sp>
        <p:sp>
          <p:nvSpPr>
            <p:cNvPr id="11303" name="Rectangle 180"/>
            <p:cNvSpPr>
              <a:spLocks noChangeArrowheads="1"/>
            </p:cNvSpPr>
            <p:nvPr/>
          </p:nvSpPr>
          <p:spPr bwMode="auto">
            <a:xfrm>
              <a:off x="2448" y="2745"/>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99FF99"/>
                  </a:solidFill>
                </a:rPr>
                <a:t>q</a:t>
              </a:r>
              <a:r>
                <a:rPr lang="en-US" altLang="en-US" sz="1800" b="1" baseline="-25000">
                  <a:solidFill>
                    <a:srgbClr val="99FF99"/>
                  </a:solidFill>
                </a:rPr>
                <a:t>0</a:t>
              </a:r>
            </a:p>
          </p:txBody>
        </p:sp>
        <p:sp>
          <p:nvSpPr>
            <p:cNvPr id="11304" name="Line 181"/>
            <p:cNvSpPr>
              <a:spLocks noChangeShapeType="1"/>
            </p:cNvSpPr>
            <p:nvPr/>
          </p:nvSpPr>
          <p:spPr bwMode="auto">
            <a:xfrm>
              <a:off x="2400" y="2784"/>
              <a:ext cx="336" cy="0"/>
            </a:xfrm>
            <a:prstGeom prst="line">
              <a:avLst/>
            </a:prstGeom>
            <a:noFill/>
            <a:ln w="190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grpSp>
        <p:nvGrpSpPr>
          <p:cNvPr id="30953" name="Group 233"/>
          <p:cNvGrpSpPr>
            <a:grpSpLocks/>
          </p:cNvGrpSpPr>
          <p:nvPr/>
        </p:nvGrpSpPr>
        <p:grpSpPr bwMode="auto">
          <a:xfrm>
            <a:off x="4953000" y="4114800"/>
            <a:ext cx="152400" cy="152400"/>
            <a:chOff x="2304" y="2688"/>
            <a:chExt cx="96" cy="96"/>
          </a:xfrm>
        </p:grpSpPr>
        <p:sp>
          <p:nvSpPr>
            <p:cNvPr id="11298" name="Oval 198"/>
            <p:cNvSpPr>
              <a:spLocks noChangeArrowheads="1"/>
            </p:cNvSpPr>
            <p:nvPr/>
          </p:nvSpPr>
          <p:spPr bwMode="auto">
            <a:xfrm>
              <a:off x="2304" y="2752"/>
              <a:ext cx="32" cy="32"/>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1299" name="Oval 199"/>
            <p:cNvSpPr>
              <a:spLocks noChangeArrowheads="1"/>
            </p:cNvSpPr>
            <p:nvPr/>
          </p:nvSpPr>
          <p:spPr bwMode="auto">
            <a:xfrm>
              <a:off x="2368" y="2752"/>
              <a:ext cx="32" cy="32"/>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1300" name="Oval 200"/>
            <p:cNvSpPr>
              <a:spLocks noChangeArrowheads="1"/>
            </p:cNvSpPr>
            <p:nvPr/>
          </p:nvSpPr>
          <p:spPr bwMode="auto">
            <a:xfrm>
              <a:off x="2336" y="2688"/>
              <a:ext cx="32" cy="32"/>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grpSp>
      <p:sp>
        <p:nvSpPr>
          <p:cNvPr id="30927" name="Text Box 207"/>
          <p:cNvSpPr txBox="1">
            <a:spLocks noChangeArrowheads="1"/>
          </p:cNvSpPr>
          <p:nvPr/>
        </p:nvSpPr>
        <p:spPr bwMode="auto">
          <a:xfrm>
            <a:off x="1676400" y="4724400"/>
            <a:ext cx="8839200"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FontTx/>
              <a:buAutoNum type="arabicPeriod"/>
            </a:pPr>
            <a:r>
              <a:rPr lang="en-US" altLang="en-US" sz="1800" b="1">
                <a:solidFill>
                  <a:srgbClr val="99FFCC"/>
                </a:solidFill>
              </a:rPr>
              <a:t>Electric potential and potential difference are scalar quantities.</a:t>
            </a:r>
          </a:p>
          <a:p>
            <a:pPr fontAlgn="base">
              <a:spcBef>
                <a:spcPct val="50000"/>
              </a:spcBef>
              <a:spcAft>
                <a:spcPct val="0"/>
              </a:spcAft>
              <a:buFontTx/>
              <a:buAutoNum type="arabicPeriod"/>
            </a:pPr>
            <a:r>
              <a:rPr lang="en-US" altLang="en-US" sz="1800" b="1">
                <a:solidFill>
                  <a:srgbClr val="FF6600"/>
                </a:solidFill>
              </a:rPr>
              <a:t>Electric potential at infinity is zero.</a:t>
            </a:r>
          </a:p>
          <a:p>
            <a:pPr fontAlgn="base">
              <a:spcBef>
                <a:spcPct val="50000"/>
              </a:spcBef>
              <a:spcAft>
                <a:spcPct val="0"/>
              </a:spcAft>
              <a:buFontTx/>
              <a:buAutoNum type="arabicPeriod"/>
            </a:pPr>
            <a:r>
              <a:rPr lang="en-US" altLang="en-US" sz="1800" b="1">
                <a:solidFill>
                  <a:srgbClr val="FFFFCC"/>
                </a:solidFill>
              </a:rPr>
              <a:t>Electric potential near an isolated positive charge (q &gt; 0) is positive and that near an isolated negative charge (q &lt; 0) is negative.</a:t>
            </a:r>
          </a:p>
          <a:p>
            <a:pPr fontAlgn="base">
              <a:spcBef>
                <a:spcPct val="50000"/>
              </a:spcBef>
              <a:spcAft>
                <a:spcPct val="0"/>
              </a:spcAft>
              <a:buFontTx/>
              <a:buAutoNum type="arabicPeriod"/>
            </a:pPr>
            <a:r>
              <a:rPr lang="en-US" altLang="en-US" sz="1800" b="1">
                <a:solidFill>
                  <a:srgbClr val="66FF33"/>
                </a:solidFill>
              </a:rPr>
              <a:t>cgs unit of electric potential is stat volt.     1 stat volt = 1 erg / stat coulomb</a:t>
            </a:r>
          </a:p>
        </p:txBody>
      </p:sp>
      <p:sp>
        <p:nvSpPr>
          <p:cNvPr id="30928" name="Text Box 208"/>
          <p:cNvSpPr txBox="1">
            <a:spLocks noChangeArrowheads="1"/>
          </p:cNvSpPr>
          <p:nvPr/>
        </p:nvSpPr>
        <p:spPr bwMode="auto">
          <a:xfrm>
            <a:off x="6400800" y="2057401"/>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00"/>
                </a:solidFill>
              </a:rPr>
              <a:t>or</a:t>
            </a:r>
          </a:p>
        </p:txBody>
      </p:sp>
      <p:grpSp>
        <p:nvGrpSpPr>
          <p:cNvPr id="30956" name="Group 236"/>
          <p:cNvGrpSpPr>
            <a:grpSpLocks/>
          </p:cNvGrpSpPr>
          <p:nvPr/>
        </p:nvGrpSpPr>
        <p:grpSpPr bwMode="auto">
          <a:xfrm>
            <a:off x="4114800" y="2852738"/>
            <a:ext cx="3657600" cy="762000"/>
            <a:chOff x="1632" y="1797"/>
            <a:chExt cx="2304" cy="480"/>
          </a:xfrm>
        </p:grpSpPr>
        <p:sp>
          <p:nvSpPr>
            <p:cNvPr id="11281" name="Text Box 211"/>
            <p:cNvSpPr txBox="1">
              <a:spLocks noChangeArrowheads="1"/>
            </p:cNvSpPr>
            <p:nvPr/>
          </p:nvSpPr>
          <p:spPr bwMode="auto">
            <a:xfrm>
              <a:off x="2016" y="1929"/>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a:t>
              </a:r>
              <a:endParaRPr lang="en-US" altLang="en-US" sz="1800" b="1">
                <a:solidFill>
                  <a:srgbClr val="66FF33"/>
                </a:solidFill>
                <a:cs typeface="Arial" panose="020B0604020202020204" pitchFamily="34" charset="0"/>
              </a:endParaRPr>
            </a:p>
          </p:txBody>
        </p:sp>
        <p:sp>
          <p:nvSpPr>
            <p:cNvPr id="11282" name="Rectangle 212"/>
            <p:cNvSpPr>
              <a:spLocks noChangeArrowheads="1"/>
            </p:cNvSpPr>
            <p:nvPr/>
          </p:nvSpPr>
          <p:spPr bwMode="auto">
            <a:xfrm>
              <a:off x="3648" y="1823"/>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1</a:t>
              </a:r>
              <a:endParaRPr lang="en-US" altLang="en-US" sz="1800">
                <a:solidFill>
                  <a:srgbClr val="66FF33"/>
                </a:solidFill>
              </a:endParaRPr>
            </a:p>
          </p:txBody>
        </p:sp>
        <p:sp>
          <p:nvSpPr>
            <p:cNvPr id="11283" name="Rectangle 213"/>
            <p:cNvSpPr>
              <a:spLocks noChangeArrowheads="1"/>
            </p:cNvSpPr>
            <p:nvPr/>
          </p:nvSpPr>
          <p:spPr bwMode="auto">
            <a:xfrm>
              <a:off x="2688" y="1823"/>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1</a:t>
              </a:r>
              <a:endParaRPr lang="en-US" altLang="en-US" sz="1800">
                <a:solidFill>
                  <a:srgbClr val="66FF33"/>
                </a:solidFill>
              </a:endParaRPr>
            </a:p>
          </p:txBody>
        </p:sp>
        <p:sp>
          <p:nvSpPr>
            <p:cNvPr id="11284" name="Rectangle 214"/>
            <p:cNvSpPr>
              <a:spLocks noChangeArrowheads="1"/>
            </p:cNvSpPr>
            <p:nvPr/>
          </p:nvSpPr>
          <p:spPr bwMode="auto">
            <a:xfrm>
              <a:off x="2304" y="1815"/>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 q</a:t>
              </a:r>
              <a:endParaRPr lang="en-US" altLang="en-US" sz="1800" b="1" baseline="-25000">
                <a:solidFill>
                  <a:srgbClr val="66FF33"/>
                </a:solidFill>
              </a:endParaRPr>
            </a:p>
          </p:txBody>
        </p:sp>
        <p:sp>
          <p:nvSpPr>
            <p:cNvPr id="11285" name="Rectangle 215"/>
            <p:cNvSpPr>
              <a:spLocks noChangeArrowheads="1"/>
            </p:cNvSpPr>
            <p:nvPr/>
          </p:nvSpPr>
          <p:spPr bwMode="auto">
            <a:xfrm>
              <a:off x="2261" y="2046"/>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4</a:t>
              </a:r>
              <a:r>
                <a:rPr lang="el-GR" altLang="en-US" sz="1800" b="1">
                  <a:solidFill>
                    <a:srgbClr val="66FF33"/>
                  </a:solidFill>
                  <a:cs typeface="Arial" panose="020B0604020202020204" pitchFamily="34" charset="0"/>
                </a:rPr>
                <a:t>πε</a:t>
              </a:r>
              <a:r>
                <a:rPr lang="en-US" altLang="en-US" sz="1800" b="1" baseline="-25000">
                  <a:solidFill>
                    <a:srgbClr val="66FF33"/>
                  </a:solidFill>
                  <a:cs typeface="Arial" panose="020B0604020202020204" pitchFamily="34" charset="0"/>
                </a:rPr>
                <a:t>0</a:t>
              </a:r>
              <a:endParaRPr lang="el-GR" altLang="en-US" sz="1800" b="1" baseline="-25000">
                <a:solidFill>
                  <a:srgbClr val="66FF33"/>
                </a:solidFill>
                <a:cs typeface="Arial" panose="020B0604020202020204" pitchFamily="34" charset="0"/>
              </a:endParaRPr>
            </a:p>
          </p:txBody>
        </p:sp>
        <p:sp>
          <p:nvSpPr>
            <p:cNvPr id="11286" name="Line 216"/>
            <p:cNvSpPr>
              <a:spLocks noChangeShapeType="1"/>
            </p:cNvSpPr>
            <p:nvPr/>
          </p:nvSpPr>
          <p:spPr bwMode="auto">
            <a:xfrm>
              <a:off x="2256" y="2055"/>
              <a:ext cx="384"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287" name="Text Box 219"/>
            <p:cNvSpPr txBox="1">
              <a:spLocks noChangeArrowheads="1"/>
            </p:cNvSpPr>
            <p:nvPr/>
          </p:nvSpPr>
          <p:spPr bwMode="auto">
            <a:xfrm>
              <a:off x="2976" y="1919"/>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a:t>
              </a:r>
            </a:p>
          </p:txBody>
        </p:sp>
        <p:sp>
          <p:nvSpPr>
            <p:cNvPr id="11288" name="Line 220"/>
            <p:cNvSpPr>
              <a:spLocks noChangeShapeType="1"/>
            </p:cNvSpPr>
            <p:nvPr/>
          </p:nvSpPr>
          <p:spPr bwMode="auto">
            <a:xfrm>
              <a:off x="2688" y="2054"/>
              <a:ext cx="240"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289" name="Line 221"/>
            <p:cNvSpPr>
              <a:spLocks noChangeShapeType="1"/>
            </p:cNvSpPr>
            <p:nvPr/>
          </p:nvSpPr>
          <p:spPr bwMode="auto">
            <a:xfrm>
              <a:off x="3648" y="2054"/>
              <a:ext cx="240"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290" name="Text Box 222"/>
            <p:cNvSpPr txBox="1">
              <a:spLocks noChangeArrowheads="1"/>
            </p:cNvSpPr>
            <p:nvPr/>
          </p:nvSpPr>
          <p:spPr bwMode="auto">
            <a:xfrm>
              <a:off x="2688" y="2006"/>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r</a:t>
              </a:r>
              <a:r>
                <a:rPr lang="en-US" altLang="en-US" sz="1800" b="1" baseline="-25000">
                  <a:solidFill>
                    <a:srgbClr val="66FF33"/>
                  </a:solidFill>
                </a:rPr>
                <a:t>B</a:t>
              </a:r>
            </a:p>
          </p:txBody>
        </p:sp>
        <p:sp>
          <p:nvSpPr>
            <p:cNvPr id="11291" name="Text Box 223"/>
            <p:cNvSpPr txBox="1">
              <a:spLocks noChangeArrowheads="1"/>
            </p:cNvSpPr>
            <p:nvPr/>
          </p:nvSpPr>
          <p:spPr bwMode="auto">
            <a:xfrm>
              <a:off x="3648" y="2006"/>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r</a:t>
              </a:r>
              <a:r>
                <a:rPr lang="en-US" altLang="en-US" sz="1800" b="1" baseline="-25000">
                  <a:solidFill>
                    <a:srgbClr val="66FF33"/>
                  </a:solidFill>
                </a:rPr>
                <a:t>A</a:t>
              </a:r>
            </a:p>
          </p:txBody>
        </p:sp>
        <p:sp>
          <p:nvSpPr>
            <p:cNvPr id="11292" name="Text Box 224"/>
            <p:cNvSpPr txBox="1">
              <a:spLocks noChangeArrowheads="1"/>
            </p:cNvSpPr>
            <p:nvPr/>
          </p:nvSpPr>
          <p:spPr bwMode="auto">
            <a:xfrm>
              <a:off x="1632" y="1797"/>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FFCC"/>
                  </a:solidFill>
                </a:rPr>
                <a:t>W</a:t>
              </a:r>
              <a:r>
                <a:rPr lang="en-US" altLang="en-US" sz="1800" b="1" baseline="-25000">
                  <a:solidFill>
                    <a:srgbClr val="FFFFCC"/>
                  </a:solidFill>
                </a:rPr>
                <a:t>AB</a:t>
              </a:r>
              <a:endParaRPr lang="en-US" altLang="en-US" sz="1800" b="1">
                <a:solidFill>
                  <a:srgbClr val="FFFFCC"/>
                </a:solidFill>
              </a:endParaRPr>
            </a:p>
          </p:txBody>
        </p:sp>
        <p:sp>
          <p:nvSpPr>
            <p:cNvPr id="11293" name="Rectangle 225"/>
            <p:cNvSpPr>
              <a:spLocks noChangeArrowheads="1"/>
            </p:cNvSpPr>
            <p:nvPr/>
          </p:nvSpPr>
          <p:spPr bwMode="auto">
            <a:xfrm>
              <a:off x="1680" y="1998"/>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FFCC"/>
                  </a:solidFill>
                </a:rPr>
                <a:t>q</a:t>
              </a:r>
              <a:r>
                <a:rPr lang="en-US" altLang="en-US" sz="1800" b="1" baseline="-25000">
                  <a:solidFill>
                    <a:srgbClr val="FFFFCC"/>
                  </a:solidFill>
                </a:rPr>
                <a:t>0</a:t>
              </a:r>
            </a:p>
          </p:txBody>
        </p:sp>
        <p:sp>
          <p:nvSpPr>
            <p:cNvPr id="11294" name="Line 226"/>
            <p:cNvSpPr>
              <a:spLocks noChangeShapeType="1"/>
            </p:cNvSpPr>
            <p:nvPr/>
          </p:nvSpPr>
          <p:spPr bwMode="auto">
            <a:xfrm>
              <a:off x="1632" y="2037"/>
              <a:ext cx="336"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295" name="Rectangle 227"/>
            <p:cNvSpPr>
              <a:spLocks noChangeArrowheads="1"/>
            </p:cNvSpPr>
            <p:nvPr/>
          </p:nvSpPr>
          <p:spPr bwMode="auto">
            <a:xfrm>
              <a:off x="3264" y="181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66FF33"/>
                  </a:solidFill>
                </a:rPr>
                <a:t> q</a:t>
              </a:r>
              <a:endParaRPr lang="en-US" altLang="en-US" sz="1800" b="1" baseline="-25000">
                <a:solidFill>
                  <a:srgbClr val="66FF33"/>
                </a:solidFill>
              </a:endParaRPr>
            </a:p>
          </p:txBody>
        </p:sp>
        <p:sp>
          <p:nvSpPr>
            <p:cNvPr id="11296" name="Rectangle 228"/>
            <p:cNvSpPr>
              <a:spLocks noChangeArrowheads="1"/>
            </p:cNvSpPr>
            <p:nvPr/>
          </p:nvSpPr>
          <p:spPr bwMode="auto">
            <a:xfrm>
              <a:off x="3221" y="2045"/>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66FF33"/>
                  </a:solidFill>
                </a:rPr>
                <a:t>4</a:t>
              </a:r>
              <a:r>
                <a:rPr lang="el-GR" altLang="en-US" sz="1800" b="1">
                  <a:solidFill>
                    <a:srgbClr val="66FF33"/>
                  </a:solidFill>
                  <a:cs typeface="Arial" panose="020B0604020202020204" pitchFamily="34" charset="0"/>
                </a:rPr>
                <a:t>πε</a:t>
              </a:r>
              <a:r>
                <a:rPr lang="en-US" altLang="en-US" sz="1800" b="1" baseline="-25000">
                  <a:solidFill>
                    <a:srgbClr val="66FF33"/>
                  </a:solidFill>
                  <a:cs typeface="Arial" panose="020B0604020202020204" pitchFamily="34" charset="0"/>
                </a:rPr>
                <a:t>0</a:t>
              </a:r>
              <a:endParaRPr lang="el-GR" altLang="en-US" sz="1800" b="1" baseline="-25000">
                <a:solidFill>
                  <a:srgbClr val="66FF33"/>
                </a:solidFill>
                <a:cs typeface="Arial" panose="020B0604020202020204" pitchFamily="34" charset="0"/>
              </a:endParaRPr>
            </a:p>
          </p:txBody>
        </p:sp>
        <p:sp>
          <p:nvSpPr>
            <p:cNvPr id="11297" name="Line 229"/>
            <p:cNvSpPr>
              <a:spLocks noChangeShapeType="1"/>
            </p:cNvSpPr>
            <p:nvPr/>
          </p:nvSpPr>
          <p:spPr bwMode="auto">
            <a:xfrm>
              <a:off x="3216" y="2054"/>
              <a:ext cx="384"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grpSp>
      <p:sp>
        <p:nvSpPr>
          <p:cNvPr id="30950" name="Text Box 230"/>
          <p:cNvSpPr txBox="1">
            <a:spLocks noChangeArrowheads="1"/>
          </p:cNvSpPr>
          <p:nvPr/>
        </p:nvSpPr>
        <p:spPr bwMode="auto">
          <a:xfrm>
            <a:off x="7772400" y="3046413"/>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00"/>
                </a:solidFill>
              </a:rPr>
              <a:t>=  V</a:t>
            </a:r>
            <a:r>
              <a:rPr lang="en-US" altLang="en-US" sz="1800" b="1" baseline="-25000">
                <a:solidFill>
                  <a:srgbClr val="FF9900"/>
                </a:solidFill>
              </a:rPr>
              <a:t>B</a:t>
            </a:r>
            <a:r>
              <a:rPr lang="en-US" altLang="en-US" sz="1800" b="1">
                <a:solidFill>
                  <a:srgbClr val="FF9900"/>
                </a:solidFill>
              </a:rPr>
              <a:t> - V</a:t>
            </a:r>
            <a:r>
              <a:rPr lang="en-US" altLang="en-US" sz="1800" b="1" baseline="-25000">
                <a:solidFill>
                  <a:srgbClr val="FF9900"/>
                </a:solidFill>
              </a:rPr>
              <a:t>A</a:t>
            </a:r>
            <a:r>
              <a:rPr lang="en-US" altLang="en-US" sz="1800" b="1">
                <a:solidFill>
                  <a:srgbClr val="FF9900"/>
                </a:solidFill>
              </a:rPr>
              <a:t> </a:t>
            </a:r>
            <a:endParaRPr lang="en-US" altLang="en-US" sz="1800" b="1">
              <a:solidFill>
                <a:srgbClr val="FF9900"/>
              </a:solidFill>
              <a:cs typeface="Arial" panose="020B0604020202020204" pitchFamily="34" charset="0"/>
            </a:endParaRPr>
          </a:p>
        </p:txBody>
      </p:sp>
      <p:grpSp>
        <p:nvGrpSpPr>
          <p:cNvPr id="30955" name="Group 235"/>
          <p:cNvGrpSpPr>
            <a:grpSpLocks/>
          </p:cNvGrpSpPr>
          <p:nvPr/>
        </p:nvGrpSpPr>
        <p:grpSpPr bwMode="auto">
          <a:xfrm>
            <a:off x="5410200" y="3810000"/>
            <a:ext cx="2590800" cy="762000"/>
            <a:chOff x="2448" y="2400"/>
            <a:chExt cx="1632" cy="480"/>
          </a:xfrm>
        </p:grpSpPr>
        <p:sp>
          <p:nvSpPr>
            <p:cNvPr id="11276" name="Rectangle 206"/>
            <p:cNvSpPr>
              <a:spLocks noChangeArrowheads="1"/>
            </p:cNvSpPr>
            <p:nvPr/>
          </p:nvSpPr>
          <p:spPr bwMode="auto">
            <a:xfrm>
              <a:off x="2448" y="2400"/>
              <a:ext cx="1632" cy="480"/>
            </a:xfrm>
            <a:prstGeom prst="rect">
              <a:avLst/>
            </a:prstGeom>
            <a:solidFill>
              <a:srgbClr val="00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800">
                <a:solidFill>
                  <a:srgbClr val="000000"/>
                </a:solidFill>
              </a:endParaRPr>
            </a:p>
          </p:txBody>
        </p:sp>
        <p:sp>
          <p:nvSpPr>
            <p:cNvPr id="11277" name="Text Box 203"/>
            <p:cNvSpPr txBox="1">
              <a:spLocks noChangeArrowheads="1"/>
            </p:cNvSpPr>
            <p:nvPr/>
          </p:nvSpPr>
          <p:spPr bwMode="auto">
            <a:xfrm>
              <a:off x="3648" y="240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FF9999"/>
                  </a:solidFill>
                </a:rPr>
                <a:t>W</a:t>
              </a:r>
              <a:r>
                <a:rPr lang="en-US" altLang="en-US" sz="1800" b="1" baseline="-25000">
                  <a:solidFill>
                    <a:srgbClr val="FF9999"/>
                  </a:solidFill>
                  <a:cs typeface="Arial" panose="020B0604020202020204" pitchFamily="34" charset="0"/>
                </a:rPr>
                <a:t>A</a:t>
              </a:r>
              <a:r>
                <a:rPr lang="en-US" altLang="en-US" sz="1800" b="1" baseline="-25000">
                  <a:solidFill>
                    <a:srgbClr val="FF9999"/>
                  </a:solidFill>
                </a:rPr>
                <a:t>B</a:t>
              </a:r>
              <a:endParaRPr lang="en-US" altLang="en-US" sz="1800" b="1">
                <a:solidFill>
                  <a:srgbClr val="FF9999"/>
                </a:solidFill>
              </a:endParaRPr>
            </a:p>
          </p:txBody>
        </p:sp>
        <p:sp>
          <p:nvSpPr>
            <p:cNvPr id="11278" name="Rectangle 204"/>
            <p:cNvSpPr>
              <a:spLocks noChangeArrowheads="1"/>
            </p:cNvSpPr>
            <p:nvPr/>
          </p:nvSpPr>
          <p:spPr bwMode="auto">
            <a:xfrm>
              <a:off x="3696" y="2601"/>
              <a:ext cx="25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q</a:t>
              </a:r>
              <a:r>
                <a:rPr lang="en-US" altLang="en-US" sz="1800" b="1" baseline="-25000">
                  <a:solidFill>
                    <a:srgbClr val="FF9999"/>
                  </a:solidFill>
                </a:rPr>
                <a:t>0</a:t>
              </a:r>
            </a:p>
          </p:txBody>
        </p:sp>
        <p:sp>
          <p:nvSpPr>
            <p:cNvPr id="11279" name="Line 205"/>
            <p:cNvSpPr>
              <a:spLocks noChangeShapeType="1"/>
            </p:cNvSpPr>
            <p:nvPr/>
          </p:nvSpPr>
          <p:spPr bwMode="auto">
            <a:xfrm>
              <a:off x="3648" y="2640"/>
              <a:ext cx="336" cy="0"/>
            </a:xfrm>
            <a:prstGeom prst="line">
              <a:avLst/>
            </a:prstGeom>
            <a:noFill/>
            <a:ln w="19050">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a:solidFill>
                  <a:srgbClr val="000000"/>
                </a:solidFill>
                <a:latin typeface="Arial" panose="020B0604020202020204" pitchFamily="34" charset="0"/>
              </a:endParaRPr>
            </a:p>
          </p:txBody>
        </p:sp>
        <p:sp>
          <p:nvSpPr>
            <p:cNvPr id="11280" name="Text Box 231"/>
            <p:cNvSpPr txBox="1">
              <a:spLocks noChangeArrowheads="1"/>
            </p:cNvSpPr>
            <p:nvPr/>
          </p:nvSpPr>
          <p:spPr bwMode="auto">
            <a:xfrm>
              <a:off x="2478" y="2525"/>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800" b="1">
                  <a:solidFill>
                    <a:srgbClr val="FF9999"/>
                  </a:solidFill>
                </a:rPr>
                <a:t>V</a:t>
              </a:r>
              <a:r>
                <a:rPr lang="en-US" altLang="en-US" sz="1800" b="1" baseline="-25000">
                  <a:solidFill>
                    <a:srgbClr val="FF9999"/>
                  </a:solidFill>
                </a:rPr>
                <a:t>B</a:t>
              </a:r>
              <a:r>
                <a:rPr lang="en-US" altLang="en-US" sz="1800" b="1">
                  <a:solidFill>
                    <a:srgbClr val="FF9999"/>
                  </a:solidFill>
                </a:rPr>
                <a:t> - V</a:t>
              </a:r>
              <a:r>
                <a:rPr lang="en-US" altLang="en-US" sz="1800" b="1" baseline="-25000">
                  <a:solidFill>
                    <a:srgbClr val="FF9999"/>
                  </a:solidFill>
                </a:rPr>
                <a:t>A</a:t>
              </a:r>
              <a:r>
                <a:rPr lang="en-US" altLang="en-US" sz="1800" b="1">
                  <a:solidFill>
                    <a:srgbClr val="FF9999"/>
                  </a:solidFill>
                </a:rPr>
                <a:t>  =  </a:t>
              </a:r>
              <a:r>
                <a:rPr lang="en-US" altLang="en-US" sz="1800" b="1">
                  <a:solidFill>
                    <a:srgbClr val="FF9999"/>
                  </a:solidFill>
                  <a:cs typeface="Arial" panose="020B0604020202020204" pitchFamily="34" charset="0"/>
                </a:rPr>
                <a:t>∆V  =</a:t>
              </a:r>
            </a:p>
          </p:txBody>
        </p:sp>
      </p:grpSp>
    </p:spTree>
    <p:extLst>
      <p:ext uri="{BB962C8B-B14F-4D97-AF65-F5344CB8AC3E}">
        <p14:creationId xmlns:p14="http://schemas.microsoft.com/office/powerpoint/2010/main" val="895603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852"/>
                                        </p:tgtEl>
                                        <p:attrNameLst>
                                          <p:attrName>style.visibility</p:attrName>
                                        </p:attrNameLst>
                                      </p:cBhvr>
                                      <p:to>
                                        <p:strVal val="visible"/>
                                      </p:to>
                                    </p:set>
                                    <p:animEffect transition="in" filter="wipe(up)">
                                      <p:cBhvr>
                                        <p:cTn id="7" dur="500"/>
                                        <p:tgtEl>
                                          <p:spTgt spid="308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854"/>
                                        </p:tgtEl>
                                        <p:attrNameLst>
                                          <p:attrName>style.visibility</p:attrName>
                                        </p:attrNameLst>
                                      </p:cBhvr>
                                      <p:to>
                                        <p:strVal val="visible"/>
                                      </p:to>
                                    </p:set>
                                    <p:animEffect transition="in" filter="wipe(left)">
                                      <p:cBhvr>
                                        <p:cTn id="12" dur="500"/>
                                        <p:tgtEl>
                                          <p:spTgt spid="308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928"/>
                                        </p:tgtEl>
                                        <p:attrNameLst>
                                          <p:attrName>style.visibility</p:attrName>
                                        </p:attrNameLst>
                                      </p:cBhvr>
                                      <p:to>
                                        <p:strVal val="visible"/>
                                      </p:to>
                                    </p:set>
                                    <p:animEffect transition="in" filter="wipe(left)">
                                      <p:cBhvr>
                                        <p:cTn id="17" dur="500"/>
                                        <p:tgtEl>
                                          <p:spTgt spid="309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884"/>
                                        </p:tgtEl>
                                        <p:attrNameLst>
                                          <p:attrName>style.visibility</p:attrName>
                                        </p:attrNameLst>
                                      </p:cBhvr>
                                      <p:to>
                                        <p:strVal val="visible"/>
                                      </p:to>
                                    </p:set>
                                    <p:animEffect transition="in" filter="wipe(left)">
                                      <p:cBhvr>
                                        <p:cTn id="22" dur="500"/>
                                        <p:tgtEl>
                                          <p:spTgt spid="308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956"/>
                                        </p:tgtEl>
                                        <p:attrNameLst>
                                          <p:attrName>style.visibility</p:attrName>
                                        </p:attrNameLst>
                                      </p:cBhvr>
                                      <p:to>
                                        <p:strVal val="visible"/>
                                      </p:to>
                                    </p:set>
                                    <p:animEffect transition="in" filter="wipe(left)">
                                      <p:cBhvr>
                                        <p:cTn id="27" dur="500"/>
                                        <p:tgtEl>
                                          <p:spTgt spid="309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950"/>
                                        </p:tgtEl>
                                        <p:attrNameLst>
                                          <p:attrName>style.visibility</p:attrName>
                                        </p:attrNameLst>
                                      </p:cBhvr>
                                      <p:to>
                                        <p:strVal val="visible"/>
                                      </p:to>
                                    </p:set>
                                    <p:animEffect transition="in" filter="wipe(left)">
                                      <p:cBhvr>
                                        <p:cTn id="32" dur="500"/>
                                        <p:tgtEl>
                                          <p:spTgt spid="309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30953"/>
                                        </p:tgtEl>
                                        <p:attrNameLst>
                                          <p:attrName>style.visibility</p:attrName>
                                        </p:attrNameLst>
                                      </p:cBhvr>
                                      <p:to>
                                        <p:strVal val="visible"/>
                                      </p:to>
                                    </p:set>
                                    <p:animEffect transition="in" filter="dissolve">
                                      <p:cBhvr>
                                        <p:cTn id="37" dur="500"/>
                                        <p:tgtEl>
                                          <p:spTgt spid="309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0955"/>
                                        </p:tgtEl>
                                        <p:attrNameLst>
                                          <p:attrName>style.visibility</p:attrName>
                                        </p:attrNameLst>
                                      </p:cBhvr>
                                      <p:to>
                                        <p:strVal val="visible"/>
                                      </p:to>
                                    </p:set>
                                    <p:anim calcmode="lin" valueType="num">
                                      <p:cBhvr>
                                        <p:cTn id="42" dur="500" fill="hold"/>
                                        <p:tgtEl>
                                          <p:spTgt spid="30955"/>
                                        </p:tgtEl>
                                        <p:attrNameLst>
                                          <p:attrName>ppt_w</p:attrName>
                                        </p:attrNameLst>
                                      </p:cBhvr>
                                      <p:tavLst>
                                        <p:tav tm="0">
                                          <p:val>
                                            <p:fltVal val="0"/>
                                          </p:val>
                                        </p:tav>
                                        <p:tav tm="100000">
                                          <p:val>
                                            <p:strVal val="#ppt_w"/>
                                          </p:val>
                                        </p:tav>
                                      </p:tavLst>
                                    </p:anim>
                                    <p:anim calcmode="lin" valueType="num">
                                      <p:cBhvr>
                                        <p:cTn id="43" dur="500" fill="hold"/>
                                        <p:tgtEl>
                                          <p:spTgt spid="30955"/>
                                        </p:tgtEl>
                                        <p:attrNameLst>
                                          <p:attrName>ppt_h</p:attrName>
                                        </p:attrNameLst>
                                      </p:cBhvr>
                                      <p:tavLst>
                                        <p:tav tm="0">
                                          <p:val>
                                            <p:fltVal val="0"/>
                                          </p:val>
                                        </p:tav>
                                        <p:tav tm="100000">
                                          <p:val>
                                            <p:strVal val="#ppt_h"/>
                                          </p:val>
                                        </p:tav>
                                      </p:tavLst>
                                    </p:anim>
                                    <p:animEffect transition="in" filter="fade">
                                      <p:cBhvr>
                                        <p:cTn id="44" dur="500"/>
                                        <p:tgtEl>
                                          <p:spTgt spid="3095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30927">
                                            <p:txEl>
                                              <p:pRg st="0" end="0"/>
                                            </p:txEl>
                                          </p:spTgt>
                                        </p:tgtEl>
                                        <p:attrNameLst>
                                          <p:attrName>style.visibility</p:attrName>
                                        </p:attrNameLst>
                                      </p:cBhvr>
                                      <p:to>
                                        <p:strVal val="visible"/>
                                      </p:to>
                                    </p:set>
                                    <p:animEffect transition="in" filter="wipe(left)">
                                      <p:cBhvr>
                                        <p:cTn id="49" dur="500"/>
                                        <p:tgtEl>
                                          <p:spTgt spid="30927">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30927">
                                            <p:txEl>
                                              <p:pRg st="1" end="1"/>
                                            </p:txEl>
                                          </p:spTgt>
                                        </p:tgtEl>
                                        <p:attrNameLst>
                                          <p:attrName>style.visibility</p:attrName>
                                        </p:attrNameLst>
                                      </p:cBhvr>
                                      <p:to>
                                        <p:strVal val="visible"/>
                                      </p:to>
                                    </p:set>
                                    <p:animEffect transition="in" filter="wipe(left)">
                                      <p:cBhvr>
                                        <p:cTn id="54" dur="500"/>
                                        <p:tgtEl>
                                          <p:spTgt spid="30927">
                                            <p:txEl>
                                              <p:pRg st="1" end="1"/>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30927">
                                            <p:txEl>
                                              <p:pRg st="2" end="2"/>
                                            </p:txEl>
                                          </p:spTgt>
                                        </p:tgtEl>
                                        <p:attrNameLst>
                                          <p:attrName>style.visibility</p:attrName>
                                        </p:attrNameLst>
                                      </p:cBhvr>
                                      <p:to>
                                        <p:strVal val="visible"/>
                                      </p:to>
                                    </p:set>
                                    <p:animEffect transition="in" filter="wipe(left)">
                                      <p:cBhvr>
                                        <p:cTn id="59" dur="500"/>
                                        <p:tgtEl>
                                          <p:spTgt spid="30927">
                                            <p:txEl>
                                              <p:pRg st="2" end="2"/>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30927">
                                            <p:txEl>
                                              <p:pRg st="3" end="3"/>
                                            </p:txEl>
                                          </p:spTgt>
                                        </p:tgtEl>
                                        <p:attrNameLst>
                                          <p:attrName>style.visibility</p:attrName>
                                        </p:attrNameLst>
                                      </p:cBhvr>
                                      <p:to>
                                        <p:strVal val="visible"/>
                                      </p:to>
                                    </p:set>
                                    <p:animEffect transition="in" filter="wipe(left)">
                                      <p:cBhvr>
                                        <p:cTn id="64" dur="500"/>
                                        <p:tgtEl>
                                          <p:spTgt spid="309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52" grpId="0"/>
      <p:bldP spid="30928" grpId="0"/>
      <p:bldP spid="309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descr="Difference Between potential difference and electric potential ? | Sathee  For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628" y="243225"/>
            <a:ext cx="9714451" cy="6455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744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Define potential and potential difference. | Homework.Study.co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Define potential and potential difference. | Homework.Study.co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descr="Define potential and potential difference. | Homework.Study.com"/>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8" descr="Define potential and potential difference. | Homework.Study.com"/>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10" descr="Electric Potential and Potential Difference - Class 10 Science"/>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12" descr="Electric Potential and Potential Difference - Class 10 Science"/>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a:picLocks noChangeAspect="1"/>
          </p:cNvPicPr>
          <p:nvPr/>
        </p:nvPicPr>
        <p:blipFill>
          <a:blip r:embed="rId2"/>
          <a:stretch>
            <a:fillRect/>
          </a:stretch>
        </p:blipFill>
        <p:spPr>
          <a:xfrm>
            <a:off x="765175" y="83438"/>
            <a:ext cx="9788175" cy="6525450"/>
          </a:xfrm>
          <a:prstGeom prst="rect">
            <a:avLst/>
          </a:prstGeom>
        </p:spPr>
      </p:pic>
    </p:spTree>
    <p:extLst>
      <p:ext uri="{BB962C8B-B14F-4D97-AF65-F5344CB8AC3E}">
        <p14:creationId xmlns:p14="http://schemas.microsoft.com/office/powerpoint/2010/main" val="3223292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An Overview of Magnetic Field Lines and its Characteristics | ET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8407" y="705335"/>
            <a:ext cx="9366687" cy="5745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023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Magnets and Magnetic Fields A clear explanation of magnetic poles,  attraction and repulsion, magnetic materials, and invisible field lines. # Magnets #MagneticFields #MagneticPoles #Magnetism #physicsnot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2"/>
          <a:stretch>
            <a:fillRect/>
          </a:stretch>
        </p:blipFill>
        <p:spPr>
          <a:xfrm>
            <a:off x="1384184" y="236011"/>
            <a:ext cx="9565154" cy="6382598"/>
          </a:xfrm>
          <a:prstGeom prst="rect">
            <a:avLst/>
          </a:prstGeom>
        </p:spPr>
      </p:pic>
    </p:spTree>
    <p:extLst>
      <p:ext uri="{BB962C8B-B14F-4D97-AF65-F5344CB8AC3E}">
        <p14:creationId xmlns:p14="http://schemas.microsoft.com/office/powerpoint/2010/main" val="1087858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78310" y="230736"/>
            <a:ext cx="8403363" cy="6302523"/>
          </a:xfrm>
          <a:prstGeom prst="rect">
            <a:avLst/>
          </a:prstGeom>
        </p:spPr>
      </p:pic>
    </p:spTree>
    <p:extLst>
      <p:ext uri="{BB962C8B-B14F-4D97-AF65-F5344CB8AC3E}">
        <p14:creationId xmlns:p14="http://schemas.microsoft.com/office/powerpoint/2010/main" val="2782493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1510" y="455025"/>
            <a:ext cx="8870535" cy="6281106"/>
          </a:xfrm>
          <a:prstGeom prst="rect">
            <a:avLst/>
          </a:prstGeom>
        </p:spPr>
      </p:pic>
    </p:spTree>
    <p:extLst>
      <p:ext uri="{BB962C8B-B14F-4D97-AF65-F5344CB8AC3E}">
        <p14:creationId xmlns:p14="http://schemas.microsoft.com/office/powerpoint/2010/main" val="2733685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5853" y="394475"/>
            <a:ext cx="8673169" cy="6404802"/>
          </a:xfrm>
          <a:prstGeom prst="rect">
            <a:avLst/>
          </a:prstGeom>
        </p:spPr>
      </p:pic>
    </p:spTree>
    <p:extLst>
      <p:ext uri="{BB962C8B-B14F-4D97-AF65-F5344CB8AC3E}">
        <p14:creationId xmlns:p14="http://schemas.microsoft.com/office/powerpoint/2010/main" val="1135440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35185" y="251451"/>
            <a:ext cx="8992987" cy="6255485"/>
          </a:xfrm>
          <a:prstGeom prst="rect">
            <a:avLst/>
          </a:prstGeom>
        </p:spPr>
      </p:pic>
    </p:spTree>
    <p:extLst>
      <p:ext uri="{BB962C8B-B14F-4D97-AF65-F5344CB8AC3E}">
        <p14:creationId xmlns:p14="http://schemas.microsoft.com/office/powerpoint/2010/main" val="3913926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7250" y="776287"/>
            <a:ext cx="10477500" cy="5305425"/>
          </a:xfrm>
          <a:prstGeom prst="rect">
            <a:avLst/>
          </a:prstGeom>
        </p:spPr>
      </p:pic>
    </p:spTree>
    <p:extLst>
      <p:ext uri="{BB962C8B-B14F-4D97-AF65-F5344CB8AC3E}">
        <p14:creationId xmlns:p14="http://schemas.microsoft.com/office/powerpoint/2010/main" val="1200839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Text Box 4"/>
          <p:cNvSpPr txBox="1">
            <a:spLocks noChangeArrowheads="1"/>
          </p:cNvSpPr>
          <p:nvPr/>
        </p:nvSpPr>
        <p:spPr bwMode="auto">
          <a:xfrm>
            <a:off x="1981200" y="152401"/>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b="1">
                <a:solidFill>
                  <a:srgbClr val="CC3300"/>
                </a:solidFill>
              </a:rPr>
              <a:t>Electric Current:</a:t>
            </a:r>
          </a:p>
        </p:txBody>
      </p:sp>
      <p:sp>
        <p:nvSpPr>
          <p:cNvPr id="20485" name="Text Box 5"/>
          <p:cNvSpPr txBox="1">
            <a:spLocks noChangeArrowheads="1"/>
          </p:cNvSpPr>
          <p:nvPr/>
        </p:nvSpPr>
        <p:spPr bwMode="auto">
          <a:xfrm>
            <a:off x="1981200" y="609600"/>
            <a:ext cx="6781800" cy="14668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a:solidFill>
                  <a:srgbClr val="0000FF"/>
                </a:solidFill>
              </a:rPr>
              <a:t>The electric current is defined as the charge flowing through any section of the conductor in one second.</a:t>
            </a:r>
          </a:p>
          <a:p>
            <a:pPr eaLnBrk="1" hangingPunct="1">
              <a:spcBef>
                <a:spcPct val="50000"/>
              </a:spcBef>
              <a:buFontTx/>
              <a:buNone/>
            </a:pPr>
            <a:r>
              <a:rPr lang="en-US" altLang="en-US" sz="1800" b="1">
                <a:solidFill>
                  <a:srgbClr val="FF00FF"/>
                </a:solidFill>
              </a:rPr>
              <a:t>I = q / t            (if the rate of flow of charge is steady)</a:t>
            </a:r>
          </a:p>
          <a:p>
            <a:pPr eaLnBrk="1" hangingPunct="1">
              <a:spcBef>
                <a:spcPct val="50000"/>
              </a:spcBef>
              <a:buFontTx/>
              <a:buNone/>
            </a:pPr>
            <a:r>
              <a:rPr lang="en-US" altLang="en-US" sz="1800" b="1">
                <a:solidFill>
                  <a:srgbClr val="CC3300"/>
                </a:solidFill>
              </a:rPr>
              <a:t>I = dq / dt        (if the rate of flow of charge varies with time)</a:t>
            </a:r>
          </a:p>
        </p:txBody>
      </p:sp>
      <p:sp>
        <p:nvSpPr>
          <p:cNvPr id="20486" name="Text Box 6"/>
          <p:cNvSpPr txBox="1">
            <a:spLocks noChangeArrowheads="1"/>
          </p:cNvSpPr>
          <p:nvPr/>
        </p:nvSpPr>
        <p:spPr bwMode="auto">
          <a:xfrm>
            <a:off x="1981200" y="2376488"/>
            <a:ext cx="3048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dirty="0">
                <a:solidFill>
                  <a:srgbClr val="008000"/>
                </a:solidFill>
              </a:rPr>
              <a:t>Different types of current:</a:t>
            </a:r>
          </a:p>
        </p:txBody>
      </p:sp>
      <p:grpSp>
        <p:nvGrpSpPr>
          <p:cNvPr id="2" name="Group 33"/>
          <p:cNvGrpSpPr>
            <a:grpSpLocks/>
          </p:cNvGrpSpPr>
          <p:nvPr/>
        </p:nvGrpSpPr>
        <p:grpSpPr bwMode="auto">
          <a:xfrm>
            <a:off x="6934200" y="2971800"/>
            <a:ext cx="3276600" cy="2971800"/>
            <a:chOff x="3408" y="1872"/>
            <a:chExt cx="2064" cy="1872"/>
          </a:xfrm>
        </p:grpSpPr>
        <p:grpSp>
          <p:nvGrpSpPr>
            <p:cNvPr id="10267" name="Group 16"/>
            <p:cNvGrpSpPr>
              <a:grpSpLocks/>
            </p:cNvGrpSpPr>
            <p:nvPr/>
          </p:nvGrpSpPr>
          <p:grpSpPr bwMode="auto">
            <a:xfrm>
              <a:off x="3648" y="1872"/>
              <a:ext cx="1776" cy="1872"/>
              <a:chOff x="3648" y="1872"/>
              <a:chExt cx="1776" cy="1872"/>
            </a:xfrm>
          </p:grpSpPr>
          <p:sp>
            <p:nvSpPr>
              <p:cNvPr id="10271" name="Line 7"/>
              <p:cNvSpPr>
                <a:spLocks noChangeShapeType="1"/>
              </p:cNvSpPr>
              <p:nvPr/>
            </p:nvSpPr>
            <p:spPr bwMode="auto">
              <a:xfrm>
                <a:off x="3648" y="1872"/>
                <a:ext cx="0" cy="1872"/>
              </a:xfrm>
              <a:prstGeom prst="line">
                <a:avLst/>
              </a:prstGeom>
              <a:noFill/>
              <a:ln w="28575">
                <a:solidFill>
                  <a:srgbClr val="FF6600"/>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IN"/>
              </a:p>
            </p:txBody>
          </p:sp>
          <p:sp>
            <p:nvSpPr>
              <p:cNvPr id="10272" name="Line 8"/>
              <p:cNvSpPr>
                <a:spLocks noChangeShapeType="1"/>
              </p:cNvSpPr>
              <p:nvPr/>
            </p:nvSpPr>
            <p:spPr bwMode="auto">
              <a:xfrm>
                <a:off x="3648" y="2928"/>
                <a:ext cx="1776" cy="0"/>
              </a:xfrm>
              <a:prstGeom prst="line">
                <a:avLst/>
              </a:prstGeom>
              <a:noFill/>
              <a:ln w="28575">
                <a:solidFill>
                  <a:srgbClr val="FF6600"/>
                </a:solidFill>
                <a:round/>
                <a:headEnd/>
                <a:tailEnd type="arrow" w="med" len="med"/>
              </a:ln>
              <a:extLst>
                <a:ext uri="{909E8E84-426E-40DD-AFC4-6F175D3DCCD1}">
                  <a14:hiddenFill xmlns:a14="http://schemas.microsoft.com/office/drawing/2010/main">
                    <a:noFill/>
                  </a14:hiddenFill>
                </a:ext>
              </a:extLst>
            </p:spPr>
            <p:txBody>
              <a:bodyPr/>
              <a:lstStyle/>
              <a:p>
                <a:endParaRPr lang="en-IN"/>
              </a:p>
            </p:txBody>
          </p:sp>
        </p:grpSp>
        <p:sp>
          <p:nvSpPr>
            <p:cNvPr id="10268" name="Text Box 17"/>
            <p:cNvSpPr txBox="1">
              <a:spLocks noChangeArrowheads="1"/>
            </p:cNvSpPr>
            <p:nvPr/>
          </p:nvSpPr>
          <p:spPr bwMode="auto">
            <a:xfrm>
              <a:off x="3408" y="1872"/>
              <a:ext cx="1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a:solidFill>
                    <a:srgbClr val="008000"/>
                  </a:solidFill>
                </a:rPr>
                <a:t>I</a:t>
              </a:r>
            </a:p>
          </p:txBody>
        </p:sp>
        <p:sp>
          <p:nvSpPr>
            <p:cNvPr id="10269" name="Text Box 18"/>
            <p:cNvSpPr txBox="1">
              <a:spLocks noChangeArrowheads="1"/>
            </p:cNvSpPr>
            <p:nvPr/>
          </p:nvSpPr>
          <p:spPr bwMode="auto">
            <a:xfrm>
              <a:off x="5280" y="2976"/>
              <a:ext cx="1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a:solidFill>
                    <a:srgbClr val="008000"/>
                  </a:solidFill>
                </a:rPr>
                <a:t>t</a:t>
              </a:r>
            </a:p>
          </p:txBody>
        </p:sp>
        <p:sp>
          <p:nvSpPr>
            <p:cNvPr id="10270" name="Text Box 19"/>
            <p:cNvSpPr txBox="1">
              <a:spLocks noChangeArrowheads="1"/>
            </p:cNvSpPr>
            <p:nvPr/>
          </p:nvSpPr>
          <p:spPr bwMode="auto">
            <a:xfrm>
              <a:off x="3456" y="2793"/>
              <a:ext cx="1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a:solidFill>
                    <a:srgbClr val="008000"/>
                  </a:solidFill>
                </a:rPr>
                <a:t>0</a:t>
              </a:r>
            </a:p>
          </p:txBody>
        </p:sp>
      </p:grpSp>
      <p:grpSp>
        <p:nvGrpSpPr>
          <p:cNvPr id="4" name="Group 29"/>
          <p:cNvGrpSpPr>
            <a:grpSpLocks/>
          </p:cNvGrpSpPr>
          <p:nvPr/>
        </p:nvGrpSpPr>
        <p:grpSpPr bwMode="auto">
          <a:xfrm>
            <a:off x="7315200" y="3124200"/>
            <a:ext cx="1981200" cy="381000"/>
            <a:chOff x="3648" y="1968"/>
            <a:chExt cx="1248" cy="240"/>
          </a:xfrm>
        </p:grpSpPr>
        <p:sp>
          <p:nvSpPr>
            <p:cNvPr id="10265" name="Line 9"/>
            <p:cNvSpPr>
              <a:spLocks noChangeShapeType="1"/>
            </p:cNvSpPr>
            <p:nvPr/>
          </p:nvSpPr>
          <p:spPr bwMode="auto">
            <a:xfrm>
              <a:off x="3648" y="2208"/>
              <a:ext cx="1248"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6" name="Text Box 20"/>
            <p:cNvSpPr txBox="1">
              <a:spLocks noChangeArrowheads="1"/>
            </p:cNvSpPr>
            <p:nvPr/>
          </p:nvSpPr>
          <p:spPr bwMode="auto">
            <a:xfrm>
              <a:off x="3840" y="1968"/>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a:solidFill>
                    <a:srgbClr val="0000FF"/>
                  </a:solidFill>
                </a:rPr>
                <a:t>a</a:t>
              </a:r>
            </a:p>
          </p:txBody>
        </p:sp>
      </p:grpSp>
      <p:grpSp>
        <p:nvGrpSpPr>
          <p:cNvPr id="5" name="Group 30"/>
          <p:cNvGrpSpPr>
            <a:grpSpLocks/>
          </p:cNvGrpSpPr>
          <p:nvPr/>
        </p:nvGrpSpPr>
        <p:grpSpPr bwMode="auto">
          <a:xfrm>
            <a:off x="7315200" y="2895600"/>
            <a:ext cx="1371600" cy="1752600"/>
            <a:chOff x="3648" y="1824"/>
            <a:chExt cx="864" cy="1104"/>
          </a:xfrm>
        </p:grpSpPr>
        <p:sp>
          <p:nvSpPr>
            <p:cNvPr id="10263" name="Line 10"/>
            <p:cNvSpPr>
              <a:spLocks noChangeShapeType="1"/>
            </p:cNvSpPr>
            <p:nvPr/>
          </p:nvSpPr>
          <p:spPr bwMode="auto">
            <a:xfrm flipV="1">
              <a:off x="3648" y="1920"/>
              <a:ext cx="864" cy="1008"/>
            </a:xfrm>
            <a:prstGeom prst="line">
              <a:avLst/>
            </a:prstGeom>
            <a:noFill/>
            <a:ln w="28575">
              <a:solidFill>
                <a:srgbClr val="99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4" name="Rectangle 23"/>
            <p:cNvSpPr>
              <a:spLocks noChangeArrowheads="1"/>
            </p:cNvSpPr>
            <p:nvPr/>
          </p:nvSpPr>
          <p:spPr bwMode="auto">
            <a:xfrm>
              <a:off x="4272" y="182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solidFill>
                    <a:srgbClr val="9900FF"/>
                  </a:solidFill>
                </a:rPr>
                <a:t>b</a:t>
              </a:r>
            </a:p>
          </p:txBody>
        </p:sp>
      </p:grpSp>
      <p:grpSp>
        <p:nvGrpSpPr>
          <p:cNvPr id="6" name="Group 31"/>
          <p:cNvGrpSpPr>
            <a:grpSpLocks/>
          </p:cNvGrpSpPr>
          <p:nvPr/>
        </p:nvGrpSpPr>
        <p:grpSpPr bwMode="auto">
          <a:xfrm>
            <a:off x="7315200" y="2971800"/>
            <a:ext cx="2216150" cy="1676400"/>
            <a:chOff x="3648" y="1872"/>
            <a:chExt cx="1396" cy="1056"/>
          </a:xfrm>
        </p:grpSpPr>
        <p:sp>
          <p:nvSpPr>
            <p:cNvPr id="10261" name="Freeform 11"/>
            <p:cNvSpPr>
              <a:spLocks/>
            </p:cNvSpPr>
            <p:nvPr/>
          </p:nvSpPr>
          <p:spPr bwMode="auto">
            <a:xfrm>
              <a:off x="3648" y="1968"/>
              <a:ext cx="1248" cy="960"/>
            </a:xfrm>
            <a:custGeom>
              <a:avLst/>
              <a:gdLst>
                <a:gd name="T0" fmla="*/ 0 w 1248"/>
                <a:gd name="T1" fmla="*/ 960 h 960"/>
                <a:gd name="T2" fmla="*/ 480 w 1248"/>
                <a:gd name="T3" fmla="*/ 720 h 960"/>
                <a:gd name="T4" fmla="*/ 576 w 1248"/>
                <a:gd name="T5" fmla="*/ 480 h 960"/>
                <a:gd name="T6" fmla="*/ 816 w 1248"/>
                <a:gd name="T7" fmla="*/ 288 h 960"/>
                <a:gd name="T8" fmla="*/ 1104 w 1248"/>
                <a:gd name="T9" fmla="*/ 384 h 960"/>
                <a:gd name="T10" fmla="*/ 1248 w 1248"/>
                <a:gd name="T11" fmla="*/ 0 h 960"/>
                <a:gd name="T12" fmla="*/ 0 60000 65536"/>
                <a:gd name="T13" fmla="*/ 0 60000 65536"/>
                <a:gd name="T14" fmla="*/ 0 60000 65536"/>
                <a:gd name="T15" fmla="*/ 0 60000 65536"/>
                <a:gd name="T16" fmla="*/ 0 60000 65536"/>
                <a:gd name="T17" fmla="*/ 0 60000 65536"/>
                <a:gd name="T18" fmla="*/ 0 w 1248"/>
                <a:gd name="T19" fmla="*/ 0 h 960"/>
                <a:gd name="T20" fmla="*/ 1248 w 1248"/>
                <a:gd name="T21" fmla="*/ 960 h 960"/>
              </a:gdLst>
              <a:ahLst/>
              <a:cxnLst>
                <a:cxn ang="T12">
                  <a:pos x="T0" y="T1"/>
                </a:cxn>
                <a:cxn ang="T13">
                  <a:pos x="T2" y="T3"/>
                </a:cxn>
                <a:cxn ang="T14">
                  <a:pos x="T4" y="T5"/>
                </a:cxn>
                <a:cxn ang="T15">
                  <a:pos x="T6" y="T7"/>
                </a:cxn>
                <a:cxn ang="T16">
                  <a:pos x="T8" y="T9"/>
                </a:cxn>
                <a:cxn ang="T17">
                  <a:pos x="T10" y="T11"/>
                </a:cxn>
              </a:cxnLst>
              <a:rect l="T18" t="T19" r="T20" b="T21"/>
              <a:pathLst>
                <a:path w="1248" h="960">
                  <a:moveTo>
                    <a:pt x="0" y="960"/>
                  </a:moveTo>
                  <a:cubicBezTo>
                    <a:pt x="192" y="880"/>
                    <a:pt x="384" y="800"/>
                    <a:pt x="480" y="720"/>
                  </a:cubicBezTo>
                  <a:cubicBezTo>
                    <a:pt x="576" y="640"/>
                    <a:pt x="520" y="552"/>
                    <a:pt x="576" y="480"/>
                  </a:cubicBezTo>
                  <a:cubicBezTo>
                    <a:pt x="632" y="408"/>
                    <a:pt x="728" y="304"/>
                    <a:pt x="816" y="288"/>
                  </a:cubicBezTo>
                  <a:cubicBezTo>
                    <a:pt x="904" y="272"/>
                    <a:pt x="1032" y="432"/>
                    <a:pt x="1104" y="384"/>
                  </a:cubicBezTo>
                  <a:cubicBezTo>
                    <a:pt x="1176" y="336"/>
                    <a:pt x="1200" y="56"/>
                    <a:pt x="1248" y="0"/>
                  </a:cubicBezTo>
                </a:path>
              </a:pathLst>
            </a:cu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262" name="Rectangle 24"/>
            <p:cNvSpPr>
              <a:spLocks noChangeArrowheads="1"/>
            </p:cNvSpPr>
            <p:nvPr/>
          </p:nvSpPr>
          <p:spPr bwMode="auto">
            <a:xfrm>
              <a:off x="4848" y="187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solidFill>
                    <a:srgbClr val="00CC00"/>
                  </a:solidFill>
                </a:rPr>
                <a:t>c</a:t>
              </a:r>
            </a:p>
          </p:txBody>
        </p:sp>
      </p:grpSp>
      <p:sp>
        <p:nvSpPr>
          <p:cNvPr id="20506" name="Text Box 26"/>
          <p:cNvSpPr txBox="1">
            <a:spLocks noChangeArrowheads="1"/>
          </p:cNvSpPr>
          <p:nvPr/>
        </p:nvSpPr>
        <p:spPr bwMode="auto">
          <a:xfrm>
            <a:off x="2133600" y="4524376"/>
            <a:ext cx="41148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b="1">
                <a:solidFill>
                  <a:srgbClr val="FF3300"/>
                </a:solidFill>
              </a:rPr>
              <a:t>d)  Alternating current whose magnitude varies continuously and direction changes periodically</a:t>
            </a:r>
          </a:p>
        </p:txBody>
      </p:sp>
      <p:sp>
        <p:nvSpPr>
          <p:cNvPr id="20507" name="Text Box 27"/>
          <p:cNvSpPr txBox="1">
            <a:spLocks noChangeArrowheads="1"/>
          </p:cNvSpPr>
          <p:nvPr/>
        </p:nvSpPr>
        <p:spPr bwMode="auto">
          <a:xfrm>
            <a:off x="2133600" y="2895600"/>
            <a:ext cx="4038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AutoNum type="alphaLcParenR"/>
            </a:pPr>
            <a:r>
              <a:rPr lang="en-US" altLang="en-US" sz="1800" b="1">
                <a:solidFill>
                  <a:srgbClr val="0000FF"/>
                </a:solidFill>
              </a:rPr>
              <a:t>Steady current which does not vary with time </a:t>
            </a:r>
            <a:endParaRPr lang="en-US" altLang="en-US" sz="1800"/>
          </a:p>
        </p:txBody>
      </p:sp>
      <p:sp>
        <p:nvSpPr>
          <p:cNvPr id="20508" name="Text Box 28"/>
          <p:cNvSpPr txBox="1">
            <a:spLocks noChangeArrowheads="1"/>
          </p:cNvSpPr>
          <p:nvPr/>
        </p:nvSpPr>
        <p:spPr bwMode="auto">
          <a:xfrm>
            <a:off x="2133600" y="3733800"/>
            <a:ext cx="419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solidFill>
                  <a:srgbClr val="9900FF"/>
                </a:solidFill>
              </a:rPr>
              <a:t>b)</a:t>
            </a:r>
            <a:r>
              <a:rPr lang="en-US" altLang="en-US" sz="1800" b="1"/>
              <a:t>  </a:t>
            </a:r>
            <a:r>
              <a:rPr lang="en-US" altLang="en-US" sz="1800" b="1">
                <a:solidFill>
                  <a:schemeClr val="bg2"/>
                </a:solidFill>
              </a:rPr>
              <a:t>&amp;</a:t>
            </a:r>
            <a:r>
              <a:rPr lang="en-US" altLang="en-US" sz="1800" b="1"/>
              <a:t>  </a:t>
            </a:r>
            <a:r>
              <a:rPr lang="en-US" altLang="en-US" sz="1800" b="1">
                <a:solidFill>
                  <a:srgbClr val="00CC00"/>
                </a:solidFill>
              </a:rPr>
              <a:t>c)</a:t>
            </a:r>
            <a:r>
              <a:rPr lang="en-US" altLang="en-US" sz="1800" b="1"/>
              <a:t>  </a:t>
            </a:r>
            <a:r>
              <a:rPr lang="en-US" altLang="en-US" sz="1800" b="1">
                <a:solidFill>
                  <a:srgbClr val="00CC00"/>
                </a:solidFill>
              </a:rPr>
              <a:t>Varying current whose   </a:t>
            </a:r>
          </a:p>
          <a:p>
            <a:pPr eaLnBrk="1" hangingPunct="1">
              <a:spcBef>
                <a:spcPct val="0"/>
              </a:spcBef>
              <a:buFontTx/>
              <a:buNone/>
            </a:pPr>
            <a:r>
              <a:rPr lang="en-US" altLang="en-US" sz="1800" b="1">
                <a:solidFill>
                  <a:srgbClr val="00CC00"/>
                </a:solidFill>
              </a:rPr>
              <a:t>               magnitude varies with time</a:t>
            </a:r>
          </a:p>
        </p:txBody>
      </p:sp>
      <p:grpSp>
        <p:nvGrpSpPr>
          <p:cNvPr id="7" name="Group 42"/>
          <p:cNvGrpSpPr>
            <a:grpSpLocks/>
          </p:cNvGrpSpPr>
          <p:nvPr/>
        </p:nvGrpSpPr>
        <p:grpSpPr bwMode="auto">
          <a:xfrm>
            <a:off x="7315200" y="4114800"/>
            <a:ext cx="2514600" cy="914400"/>
            <a:chOff x="3648" y="2592"/>
            <a:chExt cx="1584" cy="576"/>
          </a:xfrm>
        </p:grpSpPr>
        <p:sp>
          <p:nvSpPr>
            <p:cNvPr id="10253" name="Rectangle 25"/>
            <p:cNvSpPr>
              <a:spLocks noChangeArrowheads="1"/>
            </p:cNvSpPr>
            <p:nvPr/>
          </p:nvSpPr>
          <p:spPr bwMode="auto">
            <a:xfrm>
              <a:off x="4704" y="2592"/>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solidFill>
                    <a:srgbClr val="FF3300"/>
                  </a:solidFill>
                </a:rPr>
                <a:t>d</a:t>
              </a:r>
            </a:p>
          </p:txBody>
        </p:sp>
        <p:grpSp>
          <p:nvGrpSpPr>
            <p:cNvPr id="10254" name="Group 35"/>
            <p:cNvGrpSpPr>
              <a:grpSpLocks/>
            </p:cNvGrpSpPr>
            <p:nvPr/>
          </p:nvGrpSpPr>
          <p:grpSpPr bwMode="auto">
            <a:xfrm>
              <a:off x="3648" y="2688"/>
              <a:ext cx="1584" cy="480"/>
              <a:chOff x="2352" y="912"/>
              <a:chExt cx="1536" cy="384"/>
            </a:xfrm>
          </p:grpSpPr>
          <p:grpSp>
            <p:nvGrpSpPr>
              <p:cNvPr id="10255" name="Group 36"/>
              <p:cNvGrpSpPr>
                <a:grpSpLocks/>
              </p:cNvGrpSpPr>
              <p:nvPr/>
            </p:nvGrpSpPr>
            <p:grpSpPr bwMode="auto">
              <a:xfrm>
                <a:off x="2352" y="912"/>
                <a:ext cx="768" cy="384"/>
                <a:chOff x="2736" y="816"/>
                <a:chExt cx="768" cy="384"/>
              </a:xfrm>
            </p:grpSpPr>
            <p:sp>
              <p:nvSpPr>
                <p:cNvPr id="10259" name="Freeform 37"/>
                <p:cNvSpPr>
                  <a:spLocks/>
                </p:cNvSpPr>
                <p:nvPr/>
              </p:nvSpPr>
              <p:spPr bwMode="auto">
                <a:xfrm>
                  <a:off x="2736" y="816"/>
                  <a:ext cx="384" cy="192"/>
                </a:xfrm>
                <a:custGeom>
                  <a:avLst/>
                  <a:gdLst>
                    <a:gd name="T0" fmla="*/ 0 w 384"/>
                    <a:gd name="T1" fmla="*/ 192 h 192"/>
                    <a:gd name="T2" fmla="*/ 192 w 384"/>
                    <a:gd name="T3" fmla="*/ 0 h 192"/>
                    <a:gd name="T4" fmla="*/ 384 w 384"/>
                    <a:gd name="T5" fmla="*/ 192 h 192"/>
                    <a:gd name="T6" fmla="*/ 0 60000 65536"/>
                    <a:gd name="T7" fmla="*/ 0 60000 65536"/>
                    <a:gd name="T8" fmla="*/ 0 60000 65536"/>
                    <a:gd name="T9" fmla="*/ 0 w 384"/>
                    <a:gd name="T10" fmla="*/ 0 h 192"/>
                    <a:gd name="T11" fmla="*/ 384 w 384"/>
                    <a:gd name="T12" fmla="*/ 192 h 192"/>
                  </a:gdLst>
                  <a:ahLst/>
                  <a:cxnLst>
                    <a:cxn ang="T6">
                      <a:pos x="T0" y="T1"/>
                    </a:cxn>
                    <a:cxn ang="T7">
                      <a:pos x="T2" y="T3"/>
                    </a:cxn>
                    <a:cxn ang="T8">
                      <a:pos x="T4" y="T5"/>
                    </a:cxn>
                  </a:cxnLst>
                  <a:rect l="T9" t="T10" r="T11" b="T12"/>
                  <a:pathLst>
                    <a:path w="384" h="192">
                      <a:moveTo>
                        <a:pt x="0" y="192"/>
                      </a:moveTo>
                      <a:cubicBezTo>
                        <a:pt x="64" y="96"/>
                        <a:pt x="128" y="0"/>
                        <a:pt x="192" y="0"/>
                      </a:cubicBezTo>
                      <a:cubicBezTo>
                        <a:pt x="256" y="0"/>
                        <a:pt x="320" y="96"/>
                        <a:pt x="384" y="19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260" name="Freeform 38"/>
                <p:cNvSpPr>
                  <a:spLocks/>
                </p:cNvSpPr>
                <p:nvPr/>
              </p:nvSpPr>
              <p:spPr bwMode="auto">
                <a:xfrm flipV="1">
                  <a:off x="3120" y="1008"/>
                  <a:ext cx="384" cy="192"/>
                </a:xfrm>
                <a:custGeom>
                  <a:avLst/>
                  <a:gdLst>
                    <a:gd name="T0" fmla="*/ 0 w 384"/>
                    <a:gd name="T1" fmla="*/ 192 h 192"/>
                    <a:gd name="T2" fmla="*/ 192 w 384"/>
                    <a:gd name="T3" fmla="*/ 0 h 192"/>
                    <a:gd name="T4" fmla="*/ 384 w 384"/>
                    <a:gd name="T5" fmla="*/ 192 h 192"/>
                    <a:gd name="T6" fmla="*/ 0 60000 65536"/>
                    <a:gd name="T7" fmla="*/ 0 60000 65536"/>
                    <a:gd name="T8" fmla="*/ 0 60000 65536"/>
                    <a:gd name="T9" fmla="*/ 0 w 384"/>
                    <a:gd name="T10" fmla="*/ 0 h 192"/>
                    <a:gd name="T11" fmla="*/ 384 w 384"/>
                    <a:gd name="T12" fmla="*/ 192 h 192"/>
                  </a:gdLst>
                  <a:ahLst/>
                  <a:cxnLst>
                    <a:cxn ang="T6">
                      <a:pos x="T0" y="T1"/>
                    </a:cxn>
                    <a:cxn ang="T7">
                      <a:pos x="T2" y="T3"/>
                    </a:cxn>
                    <a:cxn ang="T8">
                      <a:pos x="T4" y="T5"/>
                    </a:cxn>
                  </a:cxnLst>
                  <a:rect l="T9" t="T10" r="T11" b="T12"/>
                  <a:pathLst>
                    <a:path w="384" h="192">
                      <a:moveTo>
                        <a:pt x="0" y="192"/>
                      </a:moveTo>
                      <a:cubicBezTo>
                        <a:pt x="64" y="96"/>
                        <a:pt x="128" y="0"/>
                        <a:pt x="192" y="0"/>
                      </a:cubicBezTo>
                      <a:cubicBezTo>
                        <a:pt x="256" y="0"/>
                        <a:pt x="320" y="96"/>
                        <a:pt x="384" y="19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10256" name="Group 39"/>
              <p:cNvGrpSpPr>
                <a:grpSpLocks/>
              </p:cNvGrpSpPr>
              <p:nvPr/>
            </p:nvGrpSpPr>
            <p:grpSpPr bwMode="auto">
              <a:xfrm>
                <a:off x="3120" y="912"/>
                <a:ext cx="768" cy="384"/>
                <a:chOff x="2736" y="816"/>
                <a:chExt cx="768" cy="384"/>
              </a:xfrm>
            </p:grpSpPr>
            <p:sp>
              <p:nvSpPr>
                <p:cNvPr id="10257" name="Freeform 40"/>
                <p:cNvSpPr>
                  <a:spLocks/>
                </p:cNvSpPr>
                <p:nvPr/>
              </p:nvSpPr>
              <p:spPr bwMode="auto">
                <a:xfrm>
                  <a:off x="2736" y="816"/>
                  <a:ext cx="384" cy="192"/>
                </a:xfrm>
                <a:custGeom>
                  <a:avLst/>
                  <a:gdLst>
                    <a:gd name="T0" fmla="*/ 0 w 384"/>
                    <a:gd name="T1" fmla="*/ 192 h 192"/>
                    <a:gd name="T2" fmla="*/ 192 w 384"/>
                    <a:gd name="T3" fmla="*/ 0 h 192"/>
                    <a:gd name="T4" fmla="*/ 384 w 384"/>
                    <a:gd name="T5" fmla="*/ 192 h 192"/>
                    <a:gd name="T6" fmla="*/ 0 60000 65536"/>
                    <a:gd name="T7" fmla="*/ 0 60000 65536"/>
                    <a:gd name="T8" fmla="*/ 0 60000 65536"/>
                    <a:gd name="T9" fmla="*/ 0 w 384"/>
                    <a:gd name="T10" fmla="*/ 0 h 192"/>
                    <a:gd name="T11" fmla="*/ 384 w 384"/>
                    <a:gd name="T12" fmla="*/ 192 h 192"/>
                  </a:gdLst>
                  <a:ahLst/>
                  <a:cxnLst>
                    <a:cxn ang="T6">
                      <a:pos x="T0" y="T1"/>
                    </a:cxn>
                    <a:cxn ang="T7">
                      <a:pos x="T2" y="T3"/>
                    </a:cxn>
                    <a:cxn ang="T8">
                      <a:pos x="T4" y="T5"/>
                    </a:cxn>
                  </a:cxnLst>
                  <a:rect l="T9" t="T10" r="T11" b="T12"/>
                  <a:pathLst>
                    <a:path w="384" h="192">
                      <a:moveTo>
                        <a:pt x="0" y="192"/>
                      </a:moveTo>
                      <a:cubicBezTo>
                        <a:pt x="64" y="96"/>
                        <a:pt x="128" y="0"/>
                        <a:pt x="192" y="0"/>
                      </a:cubicBezTo>
                      <a:cubicBezTo>
                        <a:pt x="256" y="0"/>
                        <a:pt x="320" y="96"/>
                        <a:pt x="384" y="19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258" name="Freeform 41"/>
                <p:cNvSpPr>
                  <a:spLocks/>
                </p:cNvSpPr>
                <p:nvPr/>
              </p:nvSpPr>
              <p:spPr bwMode="auto">
                <a:xfrm flipV="1">
                  <a:off x="3120" y="1008"/>
                  <a:ext cx="384" cy="192"/>
                </a:xfrm>
                <a:custGeom>
                  <a:avLst/>
                  <a:gdLst>
                    <a:gd name="T0" fmla="*/ 0 w 384"/>
                    <a:gd name="T1" fmla="*/ 192 h 192"/>
                    <a:gd name="T2" fmla="*/ 192 w 384"/>
                    <a:gd name="T3" fmla="*/ 0 h 192"/>
                    <a:gd name="T4" fmla="*/ 384 w 384"/>
                    <a:gd name="T5" fmla="*/ 192 h 192"/>
                    <a:gd name="T6" fmla="*/ 0 60000 65536"/>
                    <a:gd name="T7" fmla="*/ 0 60000 65536"/>
                    <a:gd name="T8" fmla="*/ 0 60000 65536"/>
                    <a:gd name="T9" fmla="*/ 0 w 384"/>
                    <a:gd name="T10" fmla="*/ 0 h 192"/>
                    <a:gd name="T11" fmla="*/ 384 w 384"/>
                    <a:gd name="T12" fmla="*/ 192 h 192"/>
                  </a:gdLst>
                  <a:ahLst/>
                  <a:cxnLst>
                    <a:cxn ang="T6">
                      <a:pos x="T0" y="T1"/>
                    </a:cxn>
                    <a:cxn ang="T7">
                      <a:pos x="T2" y="T3"/>
                    </a:cxn>
                    <a:cxn ang="T8">
                      <a:pos x="T4" y="T5"/>
                    </a:cxn>
                  </a:cxnLst>
                  <a:rect l="T9" t="T10" r="T11" b="T12"/>
                  <a:pathLst>
                    <a:path w="384" h="192">
                      <a:moveTo>
                        <a:pt x="0" y="192"/>
                      </a:moveTo>
                      <a:cubicBezTo>
                        <a:pt x="64" y="96"/>
                        <a:pt x="128" y="0"/>
                        <a:pt x="192" y="0"/>
                      </a:cubicBezTo>
                      <a:cubicBezTo>
                        <a:pt x="256" y="0"/>
                        <a:pt x="320" y="96"/>
                        <a:pt x="384" y="19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grpSp>
    </p:spTree>
    <p:extLst>
      <p:ext uri="{BB962C8B-B14F-4D97-AF65-F5344CB8AC3E}">
        <p14:creationId xmlns:p14="http://schemas.microsoft.com/office/powerpoint/2010/main" val="575015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slide(fromTop)">
                                      <p:cBhvr>
                                        <p:cTn id="7" dur="500"/>
                                        <p:tgtEl>
                                          <p:spTgt spid="204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wipe(up)">
                                      <p:cBhvr>
                                        <p:cTn id="12" dur="50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dissolve">
                                      <p:cBhvr>
                                        <p:cTn id="17" dur="500"/>
                                        <p:tgtEl>
                                          <p:spTgt spid="204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lide(from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07"/>
                                        </p:tgtEl>
                                        <p:attrNameLst>
                                          <p:attrName>style.visibility</p:attrName>
                                        </p:attrNameLst>
                                      </p:cBhvr>
                                      <p:to>
                                        <p:strVal val="visible"/>
                                      </p:to>
                                    </p:set>
                                    <p:animEffect transition="in" filter="wipe(left)">
                                      <p:cBhvr>
                                        <p:cTn id="32" dur="500"/>
                                        <p:tgtEl>
                                          <p:spTgt spid="205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dissolve">
                                      <p:cBhvr>
                                        <p:cTn id="42" dur="5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508"/>
                                        </p:tgtEl>
                                        <p:attrNameLst>
                                          <p:attrName>style.visibility</p:attrName>
                                        </p:attrNameLst>
                                      </p:cBhvr>
                                      <p:to>
                                        <p:strVal val="visible"/>
                                      </p:to>
                                    </p:set>
                                    <p:animEffect transition="in" filter="wipe(left)">
                                      <p:cBhvr>
                                        <p:cTn id="47" dur="500"/>
                                        <p:tgtEl>
                                          <p:spTgt spid="2050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dissolve">
                                      <p:cBhvr>
                                        <p:cTn id="52" dur="500"/>
                                        <p:tgtEl>
                                          <p:spTgt spid="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506"/>
                                        </p:tgtEl>
                                        <p:attrNameLst>
                                          <p:attrName>style.visibility</p:attrName>
                                        </p:attrNameLst>
                                      </p:cBhvr>
                                      <p:to>
                                        <p:strVal val="visible"/>
                                      </p:to>
                                    </p:set>
                                    <p:animEffect transition="in" filter="wipe(left)">
                                      <p:cBhvr>
                                        <p:cTn id="57" dur="500"/>
                                        <p:tgtEl>
                                          <p:spTgt spid="20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0485" grpId="0" animBg="1"/>
      <p:bldP spid="20486" grpId="0"/>
      <p:bldP spid="20506" grpId="0"/>
      <p:bldP spid="20507" grpId="0"/>
      <p:bldP spid="2050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0069" y="478172"/>
            <a:ext cx="11873300" cy="6075199"/>
          </a:xfrm>
          <a:prstGeom prst="rect">
            <a:avLst/>
          </a:prstGeom>
        </p:spPr>
      </p:pic>
    </p:spTree>
    <p:extLst>
      <p:ext uri="{BB962C8B-B14F-4D97-AF65-F5344CB8AC3E}">
        <p14:creationId xmlns:p14="http://schemas.microsoft.com/office/powerpoint/2010/main" val="524529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48250" y="571101"/>
            <a:ext cx="7298422" cy="5715798"/>
          </a:xfrm>
          <a:prstGeom prst="rect">
            <a:avLst/>
          </a:prstGeom>
        </p:spPr>
      </p:pic>
    </p:spTree>
    <p:extLst>
      <p:ext uri="{BB962C8B-B14F-4D97-AF65-F5344CB8AC3E}">
        <p14:creationId xmlns:p14="http://schemas.microsoft.com/office/powerpoint/2010/main" val="2369218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3024" y="369116"/>
            <a:ext cx="11315917" cy="6241409"/>
          </a:xfrm>
          <a:prstGeom prst="rect">
            <a:avLst/>
          </a:prstGeom>
        </p:spPr>
      </p:pic>
    </p:spTree>
    <p:extLst>
      <p:ext uri="{BB962C8B-B14F-4D97-AF65-F5344CB8AC3E}">
        <p14:creationId xmlns:p14="http://schemas.microsoft.com/office/powerpoint/2010/main" val="1424801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6796" y="151494"/>
            <a:ext cx="9561135" cy="6608197"/>
          </a:xfrm>
          <a:prstGeom prst="rect">
            <a:avLst/>
          </a:prstGeom>
        </p:spPr>
      </p:pic>
    </p:spTree>
    <p:extLst>
      <p:ext uri="{BB962C8B-B14F-4D97-AF65-F5344CB8AC3E}">
        <p14:creationId xmlns:p14="http://schemas.microsoft.com/office/powerpoint/2010/main" val="665709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42238" y="109057"/>
            <a:ext cx="9873843" cy="6669248"/>
          </a:xfrm>
          <a:prstGeom prst="rect">
            <a:avLst/>
          </a:prstGeom>
        </p:spPr>
      </p:pic>
    </p:spTree>
    <p:extLst>
      <p:ext uri="{BB962C8B-B14F-4D97-AF65-F5344CB8AC3E}">
        <p14:creationId xmlns:p14="http://schemas.microsoft.com/office/powerpoint/2010/main" val="511399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8285" y="922789"/>
            <a:ext cx="11634745" cy="4969417"/>
          </a:xfrm>
          <a:prstGeom prst="rect">
            <a:avLst/>
          </a:prstGeom>
        </p:spPr>
      </p:pic>
    </p:spTree>
    <p:extLst>
      <p:ext uri="{BB962C8B-B14F-4D97-AF65-F5344CB8AC3E}">
        <p14:creationId xmlns:p14="http://schemas.microsoft.com/office/powerpoint/2010/main" val="2541961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10039" y="2046914"/>
            <a:ext cx="6360439" cy="3201492"/>
          </a:xfrm>
          <a:prstGeom prst="rect">
            <a:avLst/>
          </a:prstGeom>
        </p:spPr>
      </p:pic>
    </p:spTree>
    <p:extLst>
      <p:ext uri="{BB962C8B-B14F-4D97-AF65-F5344CB8AC3E}">
        <p14:creationId xmlns:p14="http://schemas.microsoft.com/office/powerpoint/2010/main" val="3108038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48919" y="397153"/>
            <a:ext cx="7113863" cy="6165348"/>
          </a:xfrm>
          <a:prstGeom prst="rect">
            <a:avLst/>
          </a:prstGeom>
        </p:spPr>
      </p:pic>
    </p:spTree>
    <p:extLst>
      <p:ext uri="{BB962C8B-B14F-4D97-AF65-F5344CB8AC3E}">
        <p14:creationId xmlns:p14="http://schemas.microsoft.com/office/powerpoint/2010/main" val="3112804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4910" y="162413"/>
            <a:ext cx="9446004" cy="6672250"/>
          </a:xfrm>
          <a:prstGeom prst="rect">
            <a:avLst/>
          </a:prstGeom>
        </p:spPr>
      </p:pic>
    </p:spTree>
    <p:extLst>
      <p:ext uri="{BB962C8B-B14F-4D97-AF65-F5344CB8AC3E}">
        <p14:creationId xmlns:p14="http://schemas.microsoft.com/office/powerpoint/2010/main" val="3856189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499919" y="601674"/>
            <a:ext cx="7520554" cy="6115198"/>
          </a:xfrm>
          <a:prstGeom prst="rect">
            <a:avLst/>
          </a:prstGeom>
        </p:spPr>
      </p:pic>
    </p:spTree>
    <p:extLst>
      <p:ext uri="{BB962C8B-B14F-4D97-AF65-F5344CB8AC3E}">
        <p14:creationId xmlns:p14="http://schemas.microsoft.com/office/powerpoint/2010/main" val="7812543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66363" y="248656"/>
            <a:ext cx="6920918" cy="6364491"/>
          </a:xfrm>
          <a:prstGeom prst="rect">
            <a:avLst/>
          </a:prstGeom>
        </p:spPr>
      </p:pic>
    </p:spTree>
    <p:extLst>
      <p:ext uri="{BB962C8B-B14F-4D97-AF65-F5344CB8AC3E}">
        <p14:creationId xmlns:p14="http://schemas.microsoft.com/office/powerpoint/2010/main" val="889262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36520" y="527301"/>
            <a:ext cx="8329963" cy="6062120"/>
          </a:xfrm>
          <a:prstGeom prst="rect">
            <a:avLst/>
          </a:prstGeom>
        </p:spPr>
      </p:pic>
    </p:spTree>
    <p:extLst>
      <p:ext uri="{BB962C8B-B14F-4D97-AF65-F5344CB8AC3E}">
        <p14:creationId xmlns:p14="http://schemas.microsoft.com/office/powerpoint/2010/main" val="2223667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2338" y="234701"/>
            <a:ext cx="11551640" cy="6355057"/>
          </a:xfrm>
          <a:prstGeom prst="rect">
            <a:avLst/>
          </a:prstGeom>
        </p:spPr>
      </p:pic>
    </p:spTree>
    <p:extLst>
      <p:ext uri="{BB962C8B-B14F-4D97-AF65-F5344CB8AC3E}">
        <p14:creationId xmlns:p14="http://schemas.microsoft.com/office/powerpoint/2010/main" val="1648421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1806" y="186744"/>
            <a:ext cx="6568579" cy="6568579"/>
          </a:xfrm>
          <a:prstGeom prst="rect">
            <a:avLst/>
          </a:prstGeom>
        </p:spPr>
      </p:pic>
    </p:spTree>
    <p:extLst>
      <p:ext uri="{BB962C8B-B14F-4D97-AF65-F5344CB8AC3E}">
        <p14:creationId xmlns:p14="http://schemas.microsoft.com/office/powerpoint/2010/main" val="27993790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7523" y="125835"/>
            <a:ext cx="6608777" cy="6618913"/>
          </a:xfrm>
          <a:prstGeom prst="rect">
            <a:avLst/>
          </a:prstGeom>
        </p:spPr>
      </p:pic>
    </p:spTree>
    <p:extLst>
      <p:ext uri="{BB962C8B-B14F-4D97-AF65-F5344CB8AC3E}">
        <p14:creationId xmlns:p14="http://schemas.microsoft.com/office/powerpoint/2010/main" val="31987871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438150"/>
            <a:ext cx="11430000" cy="5981700"/>
          </a:xfrm>
          <a:prstGeom prst="rect">
            <a:avLst/>
          </a:prstGeom>
        </p:spPr>
      </p:pic>
    </p:spTree>
    <p:extLst>
      <p:ext uri="{BB962C8B-B14F-4D97-AF65-F5344CB8AC3E}">
        <p14:creationId xmlns:p14="http://schemas.microsoft.com/office/powerpoint/2010/main" val="36274385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44458" y="302150"/>
            <a:ext cx="6507263" cy="6286101"/>
          </a:xfrm>
          <a:prstGeom prst="rect">
            <a:avLst/>
          </a:prstGeom>
        </p:spPr>
      </p:pic>
    </p:spTree>
    <p:extLst>
      <p:ext uri="{BB962C8B-B14F-4D97-AF65-F5344CB8AC3E}">
        <p14:creationId xmlns:p14="http://schemas.microsoft.com/office/powerpoint/2010/main" val="332587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27090" y="177618"/>
            <a:ext cx="5561901" cy="6485643"/>
          </a:xfrm>
          <a:prstGeom prst="rect">
            <a:avLst/>
          </a:prstGeom>
        </p:spPr>
      </p:pic>
    </p:spTree>
    <p:extLst>
      <p:ext uri="{BB962C8B-B14F-4D97-AF65-F5344CB8AC3E}">
        <p14:creationId xmlns:p14="http://schemas.microsoft.com/office/powerpoint/2010/main" val="33762005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3023" y="218683"/>
            <a:ext cx="6639317" cy="6639317"/>
          </a:xfrm>
          <a:prstGeom prst="rect">
            <a:avLst/>
          </a:prstGeom>
        </p:spPr>
      </p:pic>
    </p:spTree>
    <p:extLst>
      <p:ext uri="{BB962C8B-B14F-4D97-AF65-F5344CB8AC3E}">
        <p14:creationId xmlns:p14="http://schemas.microsoft.com/office/powerpoint/2010/main" val="12742009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80758" y="242443"/>
            <a:ext cx="7230484" cy="6373114"/>
          </a:xfrm>
          <a:prstGeom prst="rect">
            <a:avLst/>
          </a:prstGeom>
        </p:spPr>
      </p:pic>
    </p:spTree>
    <p:extLst>
      <p:ext uri="{BB962C8B-B14F-4D97-AF65-F5344CB8AC3E}">
        <p14:creationId xmlns:p14="http://schemas.microsoft.com/office/powerpoint/2010/main" val="3909865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4245</TotalTime>
  <Words>2300</Words>
  <Application>Microsoft Office PowerPoint</Application>
  <PresentationFormat>Widescreen</PresentationFormat>
  <Paragraphs>336</Paragraphs>
  <Slides>58</Slides>
  <Notes>16</Notes>
  <HiddenSlides>0</HiddenSlides>
  <MMClips>0</MMClips>
  <ScaleCrop>false</ScaleCrop>
  <HeadingPairs>
    <vt:vector size="6" baseType="variant">
      <vt:variant>
        <vt:lpstr>Fonts Used</vt:lpstr>
      </vt:variant>
      <vt:variant>
        <vt:i4>4</vt:i4>
      </vt:variant>
      <vt:variant>
        <vt:lpstr>Theme</vt:lpstr>
      </vt:variant>
      <vt:variant>
        <vt:i4>9</vt:i4>
      </vt:variant>
      <vt:variant>
        <vt:lpstr>Slide Titles</vt:lpstr>
      </vt:variant>
      <vt:variant>
        <vt:i4>58</vt:i4>
      </vt:variant>
    </vt:vector>
  </HeadingPairs>
  <TitlesOfParts>
    <vt:vector size="71" baseType="lpstr">
      <vt:lpstr>Arial</vt:lpstr>
      <vt:lpstr>Calibri</vt:lpstr>
      <vt:lpstr>Calibri Light</vt:lpstr>
      <vt:lpstr>ItalicC</vt:lpstr>
      <vt:lpstr>Office Theme</vt:lpstr>
      <vt:lpstr>Default Design</vt:lpstr>
      <vt:lpstr>1_Default Design</vt:lpstr>
      <vt:lpstr>2_Default Design</vt:lpstr>
      <vt:lpstr>3_Default Design</vt:lpstr>
      <vt:lpstr>4_Default Design</vt:lpstr>
      <vt:lpstr>5_Default Design</vt:lpstr>
      <vt:lpstr>6_Default Design</vt:lpstr>
      <vt:lpstr>7_Default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Shailendrakumar Tiwari</dc:creator>
  <cp:lastModifiedBy>Shailendrakumar Tiwari</cp:lastModifiedBy>
  <cp:revision>21</cp:revision>
  <dcterms:created xsi:type="dcterms:W3CDTF">2026-08-24T08:30:27Z</dcterms:created>
  <dcterms:modified xsi:type="dcterms:W3CDTF">2026-08-27T07:16:06Z</dcterms:modified>
</cp:coreProperties>
</file>