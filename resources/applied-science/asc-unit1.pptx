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5.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6.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7.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8.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9.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10.xml" ContentType="application/vnd.openxmlformats-officedocument.theme+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theme/theme11.xml" ContentType="application/vnd.openxmlformats-officedocument.theme+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theme/theme12.xml" ContentType="application/vnd.openxmlformats-officedocument.theme+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theme/theme13.xml" ContentType="application/vnd.openxmlformats-officedocument.theme+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theme/theme14.xml" ContentType="application/vnd.openxmlformats-officedocument.theme+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2.xml" ContentType="application/vnd.openxmlformats-officedocument.presentationml.comments+xml"/>
  <Override PartName="/ppt/notesSlides/notesSlide18.xml" ContentType="application/vnd.openxmlformats-officedocument.presentationml.notesSlide+xml"/>
  <Override PartName="/ppt/comments/comment3.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1" r:id="rId3"/>
    <p:sldMasterId id="2147483702" r:id="rId4"/>
    <p:sldMasterId id="2147483723" r:id="rId5"/>
    <p:sldMasterId id="2147483735" r:id="rId6"/>
    <p:sldMasterId id="2147483747" r:id="rId7"/>
    <p:sldMasterId id="2147483768" r:id="rId8"/>
    <p:sldMasterId id="2147483789" r:id="rId9"/>
    <p:sldMasterId id="2147483810" r:id="rId10"/>
    <p:sldMasterId id="2147483822" r:id="rId11"/>
    <p:sldMasterId id="2147483843" r:id="rId12"/>
    <p:sldMasterId id="2147483855" r:id="rId13"/>
    <p:sldMasterId id="2147483876" r:id="rId14"/>
    <p:sldMasterId id="2147483897" r:id="rId15"/>
  </p:sldMasterIdLst>
  <p:notesMasterIdLst>
    <p:notesMasterId r:id="rId121"/>
  </p:notesMasterIdLst>
  <p:sldIdLst>
    <p:sldId id="256" r:id="rId16"/>
    <p:sldId id="258" r:id="rId17"/>
    <p:sldId id="261"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303"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31" r:id="rId60"/>
    <p:sldId id="332" r:id="rId61"/>
    <p:sldId id="304" r:id="rId62"/>
    <p:sldId id="305" r:id="rId63"/>
    <p:sldId id="322" r:id="rId64"/>
    <p:sldId id="328" r:id="rId65"/>
    <p:sldId id="329" r:id="rId66"/>
    <p:sldId id="330" r:id="rId67"/>
    <p:sldId id="306" r:id="rId68"/>
    <p:sldId id="307" r:id="rId69"/>
    <p:sldId id="308" r:id="rId70"/>
    <p:sldId id="309" r:id="rId71"/>
    <p:sldId id="310" r:id="rId72"/>
    <p:sldId id="311" r:id="rId73"/>
    <p:sldId id="312" r:id="rId74"/>
    <p:sldId id="313" r:id="rId75"/>
    <p:sldId id="314" r:id="rId76"/>
    <p:sldId id="315" r:id="rId77"/>
    <p:sldId id="316" r:id="rId78"/>
    <p:sldId id="317"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C-Vaibhav" initials="A" lastIdx="2" clrIdx="1">
    <p:extLst>
      <p:ext uri="{19B8F6BF-5375-455C-9EA6-DF929625EA0E}">
        <p15:presenceInfo xmlns:p15="http://schemas.microsoft.com/office/powerpoint/2012/main" userId="ALC-Vaibhav" providerId="None"/>
      </p:ext>
    </p:extLst>
  </p:cmAuthor>
  <p:cmAuthor id="2" name="PS RAJGURU" initials="PR" lastIdx="1" clrIdx="0">
    <p:extLst>
      <p:ext uri="{19B8F6BF-5375-455C-9EA6-DF929625EA0E}">
        <p15:presenceInfo xmlns:p15="http://schemas.microsoft.com/office/powerpoint/2012/main" userId="d46bada6f6db80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117" Type="http://schemas.openxmlformats.org/officeDocument/2006/relationships/slide" Target="slides/slide102.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slide" Target="slides/slide53.xml"/><Relationship Id="rId84" Type="http://schemas.openxmlformats.org/officeDocument/2006/relationships/slide" Target="slides/slide69.xml"/><Relationship Id="rId89" Type="http://schemas.openxmlformats.org/officeDocument/2006/relationships/slide" Target="slides/slide74.xml"/><Relationship Id="rId112" Type="http://schemas.openxmlformats.org/officeDocument/2006/relationships/slide" Target="slides/slide97.xml"/><Relationship Id="rId16" Type="http://schemas.openxmlformats.org/officeDocument/2006/relationships/slide" Target="slides/slide1.xml"/><Relationship Id="rId107" Type="http://schemas.openxmlformats.org/officeDocument/2006/relationships/slide" Target="slides/slide92.xml"/><Relationship Id="rId11" Type="http://schemas.openxmlformats.org/officeDocument/2006/relationships/slideMaster" Target="slideMasters/slideMaster11.xml"/><Relationship Id="rId32" Type="http://schemas.openxmlformats.org/officeDocument/2006/relationships/slide" Target="slides/slide17.xml"/><Relationship Id="rId37" Type="http://schemas.openxmlformats.org/officeDocument/2006/relationships/slide" Target="slides/slide22.xml"/><Relationship Id="rId53" Type="http://schemas.openxmlformats.org/officeDocument/2006/relationships/slide" Target="slides/slide38.xml"/><Relationship Id="rId58" Type="http://schemas.openxmlformats.org/officeDocument/2006/relationships/slide" Target="slides/slide43.xml"/><Relationship Id="rId74" Type="http://schemas.openxmlformats.org/officeDocument/2006/relationships/slide" Target="slides/slide59.xml"/><Relationship Id="rId79" Type="http://schemas.openxmlformats.org/officeDocument/2006/relationships/slide" Target="slides/slide64.xml"/><Relationship Id="rId102" Type="http://schemas.openxmlformats.org/officeDocument/2006/relationships/slide" Target="slides/slide87.xml"/><Relationship Id="rId123" Type="http://schemas.openxmlformats.org/officeDocument/2006/relationships/presProps" Target="presProps.xml"/><Relationship Id="rId5" Type="http://schemas.openxmlformats.org/officeDocument/2006/relationships/slideMaster" Target="slideMasters/slideMaster5.xml"/><Relationship Id="rId90" Type="http://schemas.openxmlformats.org/officeDocument/2006/relationships/slide" Target="slides/slide75.xml"/><Relationship Id="rId95" Type="http://schemas.openxmlformats.org/officeDocument/2006/relationships/slide" Target="slides/slide80.xml"/><Relationship Id="rId22" Type="http://schemas.openxmlformats.org/officeDocument/2006/relationships/slide" Target="slides/slide7.xml"/><Relationship Id="rId27" Type="http://schemas.openxmlformats.org/officeDocument/2006/relationships/slide" Target="slides/slide12.xml"/><Relationship Id="rId43" Type="http://schemas.openxmlformats.org/officeDocument/2006/relationships/slide" Target="slides/slide28.xml"/><Relationship Id="rId48" Type="http://schemas.openxmlformats.org/officeDocument/2006/relationships/slide" Target="slides/slide33.xml"/><Relationship Id="rId64" Type="http://schemas.openxmlformats.org/officeDocument/2006/relationships/slide" Target="slides/slide49.xml"/><Relationship Id="rId69" Type="http://schemas.openxmlformats.org/officeDocument/2006/relationships/slide" Target="slides/slide54.xml"/><Relationship Id="rId113" Type="http://schemas.openxmlformats.org/officeDocument/2006/relationships/slide" Target="slides/slide98.xml"/><Relationship Id="rId118" Type="http://schemas.openxmlformats.org/officeDocument/2006/relationships/slide" Target="slides/slide103.xml"/><Relationship Id="rId80" Type="http://schemas.openxmlformats.org/officeDocument/2006/relationships/slide" Target="slides/slide65.xml"/><Relationship Id="rId85" Type="http://schemas.openxmlformats.org/officeDocument/2006/relationships/slide" Target="slides/slide70.xml"/><Relationship Id="rId12" Type="http://schemas.openxmlformats.org/officeDocument/2006/relationships/slideMaster" Target="slideMasters/slideMaster12.xml"/><Relationship Id="rId17" Type="http://schemas.openxmlformats.org/officeDocument/2006/relationships/slide" Target="slides/slide2.xml"/><Relationship Id="rId33" Type="http://schemas.openxmlformats.org/officeDocument/2006/relationships/slide" Target="slides/slide18.xml"/><Relationship Id="rId38" Type="http://schemas.openxmlformats.org/officeDocument/2006/relationships/slide" Target="slides/slide23.xml"/><Relationship Id="rId59" Type="http://schemas.openxmlformats.org/officeDocument/2006/relationships/slide" Target="slides/slide44.xml"/><Relationship Id="rId103" Type="http://schemas.openxmlformats.org/officeDocument/2006/relationships/slide" Target="slides/slide88.xml"/><Relationship Id="rId108" Type="http://schemas.openxmlformats.org/officeDocument/2006/relationships/slide" Target="slides/slide93.xml"/><Relationship Id="rId124" Type="http://schemas.openxmlformats.org/officeDocument/2006/relationships/viewProps" Target="viewProps.xml"/><Relationship Id="rId54" Type="http://schemas.openxmlformats.org/officeDocument/2006/relationships/slide" Target="slides/slide39.xml"/><Relationship Id="rId70" Type="http://schemas.openxmlformats.org/officeDocument/2006/relationships/slide" Target="slides/slide55.xml"/><Relationship Id="rId75" Type="http://schemas.openxmlformats.org/officeDocument/2006/relationships/slide" Target="slides/slide60.xml"/><Relationship Id="rId91" Type="http://schemas.openxmlformats.org/officeDocument/2006/relationships/slide" Target="slides/slide76.xml"/><Relationship Id="rId96" Type="http://schemas.openxmlformats.org/officeDocument/2006/relationships/slide" Target="slides/slide8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8.xml"/><Relationship Id="rId28" Type="http://schemas.openxmlformats.org/officeDocument/2006/relationships/slide" Target="slides/slide13.xml"/><Relationship Id="rId49" Type="http://schemas.openxmlformats.org/officeDocument/2006/relationships/slide" Target="slides/slide34.xml"/><Relationship Id="rId114" Type="http://schemas.openxmlformats.org/officeDocument/2006/relationships/slide" Target="slides/slide99.xml"/><Relationship Id="rId119" Type="http://schemas.openxmlformats.org/officeDocument/2006/relationships/slide" Target="slides/slide104.xml"/><Relationship Id="rId44" Type="http://schemas.openxmlformats.org/officeDocument/2006/relationships/slide" Target="slides/slide29.xml"/><Relationship Id="rId60" Type="http://schemas.openxmlformats.org/officeDocument/2006/relationships/slide" Target="slides/slide45.xml"/><Relationship Id="rId65" Type="http://schemas.openxmlformats.org/officeDocument/2006/relationships/slide" Target="slides/slide50.xml"/><Relationship Id="rId81" Type="http://schemas.openxmlformats.org/officeDocument/2006/relationships/slide" Target="slides/slide66.xml"/><Relationship Id="rId86" Type="http://schemas.openxmlformats.org/officeDocument/2006/relationships/slide" Target="slides/slide71.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109" Type="http://schemas.openxmlformats.org/officeDocument/2006/relationships/slide" Target="slides/slide9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04" Type="http://schemas.openxmlformats.org/officeDocument/2006/relationships/slide" Target="slides/slide89.xml"/><Relationship Id="rId120" Type="http://schemas.openxmlformats.org/officeDocument/2006/relationships/slide" Target="slides/slide105.xml"/><Relationship Id="rId125"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56.xml"/><Relationship Id="rId92" Type="http://schemas.openxmlformats.org/officeDocument/2006/relationships/slide" Target="slides/slide77.xml"/><Relationship Id="rId2" Type="http://schemas.openxmlformats.org/officeDocument/2006/relationships/slideMaster" Target="slideMasters/slideMaster2.xml"/><Relationship Id="rId29" Type="http://schemas.openxmlformats.org/officeDocument/2006/relationships/slide" Target="slides/slide14.xml"/><Relationship Id="rId24" Type="http://schemas.openxmlformats.org/officeDocument/2006/relationships/slide" Target="slides/slide9.xml"/><Relationship Id="rId40" Type="http://schemas.openxmlformats.org/officeDocument/2006/relationships/slide" Target="slides/slide25.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110" Type="http://schemas.openxmlformats.org/officeDocument/2006/relationships/slide" Target="slides/slide95.xml"/><Relationship Id="rId115" Type="http://schemas.openxmlformats.org/officeDocument/2006/relationships/slide" Target="slides/slide100.xml"/><Relationship Id="rId61" Type="http://schemas.openxmlformats.org/officeDocument/2006/relationships/slide" Target="slides/slide46.xml"/><Relationship Id="rId82" Type="http://schemas.openxmlformats.org/officeDocument/2006/relationships/slide" Target="slides/slide67.xml"/><Relationship Id="rId19" Type="http://schemas.openxmlformats.org/officeDocument/2006/relationships/slide" Target="slides/slide4.xml"/><Relationship Id="rId14" Type="http://schemas.openxmlformats.org/officeDocument/2006/relationships/slideMaster" Target="slideMasters/slideMaster14.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slide" Target="slides/slide90.xml"/><Relationship Id="rId12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slide" Target="slides/slide83.xml"/><Relationship Id="rId121"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10.xml"/><Relationship Id="rId46" Type="http://schemas.openxmlformats.org/officeDocument/2006/relationships/slide" Target="slides/slide31.xml"/><Relationship Id="rId67" Type="http://schemas.openxmlformats.org/officeDocument/2006/relationships/slide" Target="slides/slide52.xml"/><Relationship Id="rId116" Type="http://schemas.openxmlformats.org/officeDocument/2006/relationships/slide" Target="slides/slide101.xml"/><Relationship Id="rId20" Type="http://schemas.openxmlformats.org/officeDocument/2006/relationships/slide" Target="slides/slide5.xml"/><Relationship Id="rId41" Type="http://schemas.openxmlformats.org/officeDocument/2006/relationships/slide" Target="slides/slide26.xml"/><Relationship Id="rId62" Type="http://schemas.openxmlformats.org/officeDocument/2006/relationships/slide" Target="slides/slide47.xml"/><Relationship Id="rId83" Type="http://schemas.openxmlformats.org/officeDocument/2006/relationships/slide" Target="slides/slide68.xml"/><Relationship Id="rId88" Type="http://schemas.openxmlformats.org/officeDocument/2006/relationships/slide" Target="slides/slide73.xml"/><Relationship Id="rId111" Type="http://schemas.openxmlformats.org/officeDocument/2006/relationships/slide" Target="slides/slide96.xml"/><Relationship Id="rId15" Type="http://schemas.openxmlformats.org/officeDocument/2006/relationships/slideMaster" Target="slideMasters/slideMaster15.xml"/><Relationship Id="rId36" Type="http://schemas.openxmlformats.org/officeDocument/2006/relationships/slide" Target="slides/slide21.xml"/><Relationship Id="rId57" Type="http://schemas.openxmlformats.org/officeDocument/2006/relationships/slide" Target="slides/slide42.xml"/><Relationship Id="rId106" Type="http://schemas.openxmlformats.org/officeDocument/2006/relationships/slide" Target="slides/slide91.xml"/><Relationship Id="rId10" Type="http://schemas.openxmlformats.org/officeDocument/2006/relationships/slideMaster" Target="slideMasters/slideMaster10.xml"/><Relationship Id="rId31" Type="http://schemas.openxmlformats.org/officeDocument/2006/relationships/slide" Target="slides/slide16.xml"/><Relationship Id="rId52" Type="http://schemas.openxmlformats.org/officeDocument/2006/relationships/slide" Target="slides/slide37.xml"/><Relationship Id="rId73" Type="http://schemas.openxmlformats.org/officeDocument/2006/relationships/slide" Target="slides/slide58.xml"/><Relationship Id="rId78" Type="http://schemas.openxmlformats.org/officeDocument/2006/relationships/slide" Target="slides/slide63.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122"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9-08-07T18:29:39.037" idx="1">
    <p:pos x="10" y="10"/>
    <p:text>what is a physical quantity</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7-23T13:51:46.971" idx="2">
    <p:pos x="10" y="10"/>
    <p:text>Put more examples like of current, &amp; Kg,</p:text>
    <p:extLst>
      <p:ext uri="{C676402C-5697-4E1C-873F-D02D1690AC5C}">
        <p15:threadingInfo xmlns:p15="http://schemas.microsoft.com/office/powerpoint/2012/main" timeZoneBias="-33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07-23T13:51:46.971" idx="2">
    <p:pos x="10" y="10"/>
    <p:text>Put more examples like of current, &amp; Kg,</p:text>
    <p:extLst>
      <p:ext uri="{C676402C-5697-4E1C-873F-D02D1690AC5C}">
        <p15:threadingInfo xmlns:p15="http://schemas.microsoft.com/office/powerpoint/2012/main" timeZoneBias="-33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E04A6-8B1D-459A-B138-4DCE759CC5B4}" type="datetimeFigureOut">
              <a:rPr lang="en-IN" smtClean="0"/>
              <a:t>06-08-2026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4639BD-55A5-4BCB-B5FE-042ADE483E34}" type="slidenum">
              <a:rPr lang="en-IN" smtClean="0"/>
              <a:t>‹#›</a:t>
            </a:fld>
            <a:endParaRPr lang="en-IN"/>
          </a:p>
        </p:txBody>
      </p:sp>
    </p:spTree>
    <p:extLst>
      <p:ext uri="{BB962C8B-B14F-4D97-AF65-F5344CB8AC3E}">
        <p14:creationId xmlns:p14="http://schemas.microsoft.com/office/powerpoint/2010/main" val="2413446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555c5418ba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2" name="Google Shape;802;g555c5418ba_0_69: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803" name="Google Shape;803;g555c5418ba_0_69: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129537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58d31713a5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58d31713a5_0_11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242" name="Google Shape;242;g58d31713a5_0_11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rtl="0">
              <a:lnSpc>
                <a:spcPct val="100000"/>
              </a:lnSpc>
              <a:spcBef>
                <a:spcPts val="0"/>
              </a:spcBef>
              <a:spcAft>
                <a:spcPts val="0"/>
              </a:spcAft>
              <a:buClr>
                <a:schemeClr val="dk1"/>
              </a:buClr>
              <a:buSzPts val="300"/>
              <a:buFont typeface="Calibri"/>
              <a:buNone/>
            </a:pPr>
            <a:fld id="{00000000-1234-1234-1234-123412341234}" type="slidenum">
              <a:rPr lang="en" sz="1300" b="0" i="0" u="none" strike="noStrike" cap="none">
                <a:solidFill>
                  <a:srgbClr val="000000"/>
                </a:solidFill>
                <a:latin typeface="Arial"/>
                <a:ea typeface="Arial"/>
                <a:cs typeface="Arial"/>
                <a:sym typeface="Arial"/>
              </a:rPr>
              <a:t>4</a:t>
            </a:fld>
            <a:endParaRPr sz="13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92422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58d31713a5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58d31713a5_0_11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242" name="Google Shape;242;g58d31713a5_0_11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5</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80087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58d31713a5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58d31713a5_0_11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242" name="Google Shape;242;g58d31713a5_0_11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12560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393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8</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295717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9</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585575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10</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002857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11</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035424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603af41ee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5603af41ee_0_46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36" name="Google Shape;336;g5603af41ee_0_46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12</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869522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92f0f9b64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592f0f9b64_3_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61" name="Google Shape;361;g592f0f9b64_3_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13</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14449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92f0f9b64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592f0f9b64_3_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61" name="Google Shape;361;g592f0f9b64_3_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14</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524940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50f76a661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g50f76a661f_0_2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79" name="Google Shape;379;g50f76a661f_0_2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15</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27440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50f76a661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g50f76a661f_0_2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79" name="Google Shape;379;g50f76a661f_0_2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16</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08240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50f76a661f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50f76a661f_0_9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391" name="Google Shape;391;g50f76a661f_0_9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17</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010284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56c629702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g56c6297022_0_14: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dirty="0"/>
          </a:p>
        </p:txBody>
      </p:sp>
      <p:sp>
        <p:nvSpPr>
          <p:cNvPr id="405" name="Google Shape;405;g56c6297022_0_14: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18</a:t>
            </a:fld>
            <a:endParaRPr kumimoji="0" sz="13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0612702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603af41ee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g5603af41ee_0_35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428" name="Google Shape;428;g5603af41ee_0_35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19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00077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603af41ee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g5603af41ee_0_35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428" name="Google Shape;428;g5603af41ee_0_35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20</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74137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58e7090df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3" name="Google Shape;793;g58e7090df7_0_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94" name="Google Shape;794;g58e7090df7_0_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24</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51449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0f76a661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g50f76a661f_0_18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55" name="Google Shape;555;g50f76a661f_0_18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25</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40095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0f76a661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g50f76a661f_0_18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55" name="Google Shape;555;g50f76a661f_0_18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26</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51354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0f76a661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g50f76a661f_0_18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55" name="Google Shape;555;g50f76a661f_0_18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27</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4686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0f76a661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g50f76a661f_0_18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55" name="Google Shape;555;g50f76a661f_0_18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28</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719912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0f76a661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4" name="Google Shape;554;g50f76a661f_0_18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55" name="Google Shape;555;g50f76a661f_0_18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29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88602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56175f9867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0" name="Google Shape;570;g56175f9867_0_36: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71" name="Google Shape;571;g56175f9867_0_36: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30</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059178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5603af41ee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8" name="Google Shape;578;g5603af41ee_0_222: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79" name="Google Shape;579;g5603af41ee_0_222: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31</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884690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55e1431af3_1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g55e1431af3_1_12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88" name="Google Shape;588;g55e1431af3_1_12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32</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7597555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55e1431af3_1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8" name="Google Shape;598;g55e1431af3_1_149: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599" name="Google Shape;599;g55e1431af3_1_149: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33</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9771798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55e1431af3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1" name="Google Shape;611;g55e1431af3_1_17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12" name="Google Shape;612;g55e1431af3_1_17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34</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35273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55e1431af3_1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6" name="Google Shape;626;g55e1431af3_1_19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27" name="Google Shape;627;g55e1431af3_1_19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35</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46683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55e1431af3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5" name="Google Shape;645;g55e1431af3_1_215: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46" name="Google Shape;646;g55e1431af3_1_215: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36</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3821387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55e1431af3_1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6" name="Google Shape;666;g55e1431af3_1_23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67" name="Google Shape;667;g55e1431af3_1_23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37</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89711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55e1431af3_1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9" name="Google Shape;689;g55e1431af3_1_27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90" name="Google Shape;690;g55e1431af3_1_27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38</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808657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5603af41ee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7" name="Google Shape;697;g5603af41ee_0_206: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698" name="Google Shape;698;g5603af41ee_0_206: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39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9376291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50f76a661f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8" name="Google Shape;708;g50f76a661f_0_195: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09" name="Google Shape;709;g50f76a661f_0_195: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40</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5928212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0f76a661f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0" name="Google Shape;720;g50f76a661f_0_21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21" name="Google Shape;721;g50f76a661f_0_21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41</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510970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50f76a661f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5" name="Google Shape;755;g50f76a661f_0_249: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56" name="Google Shape;756;g50f76a661f_0_249: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42</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9156003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58e7090df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3" name="Google Shape;793;g58e7090df7_0_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94" name="Google Shape;794;g58e7090df7_0_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43</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284446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58e7090df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3" name="Google Shape;793;g58e7090df7_0_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794" name="Google Shape;794;g58e7090df7_0_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44</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942539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3"/>
        <p:cNvGrpSpPr/>
        <p:nvPr/>
      </p:nvGrpSpPr>
      <p:grpSpPr>
        <a:xfrm>
          <a:off x="0" y="0"/>
          <a:ext cx="0" cy="0"/>
          <a:chOff x="0" y="0"/>
          <a:chExt cx="0" cy="0"/>
        </a:xfrm>
      </p:grpSpPr>
      <p:sp>
        <p:nvSpPr>
          <p:cNvPr id="1914" name="Google Shape;1914;g582dd8a3f7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5" name="Google Shape;1915;g582dd8a3f7_1_7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916" name="Google Shape;1916;g582dd8a3f7_1_7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49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262095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83972"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F3075E7-91B3-4541-BE78-D6CDC423CE3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79013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84996"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D67F774-A94A-46ED-8E2F-538CCFFD798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5725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86020"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ED3B4E-9AAE-4627-A531-69B2EF96733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43996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592f0f9b6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0" name="Google Shape;1420;g592f0f9b64_1_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21" name="Google Shape;1421;g592f0f9b64_1_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65</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943110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592f0f9b6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9" name="Google Shape;1429;g592f0f9b64_1_15: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30" name="Google Shape;1430;g592f0f9b64_1_15: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66</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910110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592f0f9b64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0" name="Google Shape;1440;g592f0f9b64_1_27: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41" name="Google Shape;1441;g592f0f9b64_1_27: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67</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69424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55f84415d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3" name="Google Shape;1453;g55f84415dd_0_89: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54" name="Google Shape;1454;g55f84415dd_0_89: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68</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952928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g5705f038a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1" name="Google Shape;1461;g5705f038a7_0_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62" name="Google Shape;1462;g5705f038a7_0_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69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846952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
        <p:cNvGrpSpPr/>
        <p:nvPr/>
      </p:nvGrpSpPr>
      <p:grpSpPr>
        <a:xfrm>
          <a:off x="0" y="0"/>
          <a:ext cx="0" cy="0"/>
          <a:chOff x="0" y="0"/>
          <a:chExt cx="0" cy="0"/>
        </a:xfrm>
      </p:grpSpPr>
      <p:sp>
        <p:nvSpPr>
          <p:cNvPr id="1470" name="Google Shape;1470;g55f84415dd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1" name="Google Shape;1471;g55f84415dd_0_384: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72" name="Google Shape;1472;g55f84415dd_0_384: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70</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4852098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p:cNvGrpSpPr/>
        <p:nvPr/>
      </p:nvGrpSpPr>
      <p:grpSpPr>
        <a:xfrm>
          <a:off x="0" y="0"/>
          <a:ext cx="0" cy="0"/>
          <a:chOff x="0" y="0"/>
          <a:chExt cx="0" cy="0"/>
        </a:xfrm>
      </p:grpSpPr>
      <p:sp>
        <p:nvSpPr>
          <p:cNvPr id="1484" name="Google Shape;1484;g55f84415dd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5" name="Google Shape;1485;g55f84415dd_0_40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486" name="Google Shape;1486;g55f84415dd_0_40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71</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2021908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55f84415dd_0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1" name="Google Shape;1501;g55f84415dd_0_422: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02" name="Google Shape;1502;g55f84415dd_0_422: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72</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3868375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55f84415dd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9" name="Google Shape;1519;g55f84415dd_0_44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20" name="Google Shape;1520;g55f84415dd_0_44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73</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2381460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g55f84415d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9" name="Google Shape;1539;g55f84415dd_0_0: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40" name="Google Shape;1540;g55f84415dd_0_0: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74</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045225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5"/>
        <p:cNvGrpSpPr/>
        <p:nvPr/>
      </p:nvGrpSpPr>
      <p:grpSpPr>
        <a:xfrm>
          <a:off x="0" y="0"/>
          <a:ext cx="0" cy="0"/>
          <a:chOff x="0" y="0"/>
          <a:chExt cx="0" cy="0"/>
        </a:xfrm>
      </p:grpSpPr>
      <p:sp>
        <p:nvSpPr>
          <p:cNvPr id="1546" name="Google Shape;1546;g5705f038a7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7" name="Google Shape;1547;g5705f038a7_0_48: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48" name="Google Shape;1548;g5705f038a7_0_48: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75</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0817463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5705f038a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9" name="Google Shape;1579;g5705f038a7_0_106: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80" name="Google Shape;1580;g5705f038a7_0_106: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76</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886269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5705f038a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9" name="Google Shape;1579;g5705f038a7_0_106: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80" name="Google Shape;1580;g5705f038a7_0_106: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77</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816727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5705f038a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9" name="Google Shape;1579;g5705f038a7_0_106: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80" name="Google Shape;1580;g5705f038a7_0_106: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78</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857510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g571f81a9a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0" name="Google Shape;1590;g571f81a9a2_0_3: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591" name="Google Shape;1591;g571f81a9a2_0_3: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79</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3255425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7"/>
        <p:cNvGrpSpPr/>
        <p:nvPr/>
      </p:nvGrpSpPr>
      <p:grpSpPr>
        <a:xfrm>
          <a:off x="0" y="0"/>
          <a:ext cx="0" cy="0"/>
          <a:chOff x="0" y="0"/>
          <a:chExt cx="0" cy="0"/>
        </a:xfrm>
      </p:grpSpPr>
      <p:sp>
        <p:nvSpPr>
          <p:cNvPr id="1608" name="Google Shape;1608;g592f0f9b64_3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9" name="Google Shape;1609;g592f0f9b64_3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06653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5705f038a7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0" name="Google Shape;1630;g5705f038a7_0_181: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631" name="Google Shape;1631;g5705f038a7_0_181: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81</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960872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4"/>
        <p:cNvGrpSpPr/>
        <p:nvPr/>
      </p:nvGrpSpPr>
      <p:grpSpPr>
        <a:xfrm>
          <a:off x="0" y="0"/>
          <a:ext cx="0" cy="0"/>
          <a:chOff x="0" y="0"/>
          <a:chExt cx="0" cy="0"/>
        </a:xfrm>
      </p:grpSpPr>
      <p:sp>
        <p:nvSpPr>
          <p:cNvPr id="1645" name="Google Shape;1645;g5665c2164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6" name="Google Shape;1646;g5665c21646_0_64: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647" name="Google Shape;1647;g5665c21646_0_64: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82</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9403355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4"/>
        <p:cNvGrpSpPr/>
        <p:nvPr/>
      </p:nvGrpSpPr>
      <p:grpSpPr>
        <a:xfrm>
          <a:off x="0" y="0"/>
          <a:ext cx="0" cy="0"/>
          <a:chOff x="0" y="0"/>
          <a:chExt cx="0" cy="0"/>
        </a:xfrm>
      </p:grpSpPr>
      <p:sp>
        <p:nvSpPr>
          <p:cNvPr id="1645" name="Google Shape;1645;g5665c2164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6" name="Google Shape;1646;g5665c21646_0_64: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647" name="Google Shape;1647;g5665c21646_0_64: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83</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195159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0"/>
        <p:cNvGrpSpPr/>
        <p:nvPr/>
      </p:nvGrpSpPr>
      <p:grpSpPr>
        <a:xfrm>
          <a:off x="0" y="0"/>
          <a:ext cx="0" cy="0"/>
          <a:chOff x="0" y="0"/>
          <a:chExt cx="0" cy="0"/>
        </a:xfrm>
      </p:grpSpPr>
      <p:sp>
        <p:nvSpPr>
          <p:cNvPr id="1681" name="Google Shape;1681;g511b0b7c6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2" name="Google Shape;1682;g511b0b7c66_0_134:notes"/>
          <p:cNvSpPr txBox="1">
            <a:spLocks noGrp="1"/>
          </p:cNvSpPr>
          <p:nvPr>
            <p:ph type="body" idx="1"/>
          </p:nvPr>
        </p:nvSpPr>
        <p:spPr>
          <a:xfrm>
            <a:off x="686098" y="4343703"/>
            <a:ext cx="5485800" cy="4113900"/>
          </a:xfrm>
          <a:prstGeom prst="rect">
            <a:avLst/>
          </a:prstGeom>
          <a:noFill/>
          <a:ln>
            <a:noFill/>
          </a:ln>
        </p:spPr>
        <p:txBody>
          <a:bodyPr spcFirstLastPara="1" wrap="square" lIns="86175" tIns="86175" rIns="86175" bIns="86175" anchor="ctr" anchorCtr="0">
            <a:noAutofit/>
          </a:bodyPr>
          <a:lstStyle/>
          <a:p>
            <a:pPr marL="0" lvl="0" indent="0" algn="l" rtl="0">
              <a:lnSpc>
                <a:spcPct val="100000"/>
              </a:lnSpc>
              <a:spcBef>
                <a:spcPts val="0"/>
              </a:spcBef>
              <a:spcAft>
                <a:spcPts val="0"/>
              </a:spcAft>
              <a:buSzPts val="1100"/>
              <a:buNone/>
            </a:pPr>
            <a:endParaRPr sz="1300"/>
          </a:p>
        </p:txBody>
      </p:sp>
      <p:sp>
        <p:nvSpPr>
          <p:cNvPr id="1683" name="Google Shape;1683;g511b0b7c66_0_134:notes"/>
          <p:cNvSpPr txBox="1">
            <a:spLocks noGrp="1"/>
          </p:cNvSpPr>
          <p:nvPr>
            <p:ph type="sldNum" idx="12"/>
          </p:nvPr>
        </p:nvSpPr>
        <p:spPr>
          <a:xfrm>
            <a:off x="3884414" y="8685894"/>
            <a:ext cx="2972100" cy="456600"/>
          </a:xfrm>
          <a:prstGeom prst="rect">
            <a:avLst/>
          </a:prstGeom>
          <a:noFill/>
          <a:ln>
            <a:noFill/>
          </a:ln>
        </p:spPr>
        <p:txBody>
          <a:bodyPr spcFirstLastPara="1" wrap="square" lIns="86175" tIns="86175" rIns="86175" bIns="861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fld id="{00000000-1234-1234-1234-123412341234}" type="slidenum">
              <a:rPr kumimoji="0" lang="en" sz="13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300"/>
                <a:buFont typeface="Calibri"/>
                <a:buNone/>
                <a:tabLst/>
                <a:defRPr/>
              </a:pPr>
              <a:t>84</a:t>
            </a:fld>
            <a:endParaRPr kumimoji="0" sz="13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6656013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3072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943E583-E438-4DC0-A6E9-9AF076E21CFB}"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220885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31748"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4AAF9F-FBFD-439D-B155-CFF90D7CB668}"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700166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32772"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001541-4762-4492-8EA3-B1627331EC5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752202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p:spPr>
        <p:txBody>
          <a:bodyPr/>
          <a:lstStyle/>
          <a:p>
            <a:endParaRPr lang="en-IN" altLang="en-US" smtClean="0">
              <a:latin typeface="Arial" panose="020B0604020202020204" pitchFamily="34" charset="0"/>
            </a:endParaRPr>
          </a:p>
        </p:txBody>
      </p:sp>
      <p:sp>
        <p:nvSpPr>
          <p:cNvPr id="34820"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B3FE60-87C0-4365-AF38-1D669C5C4BF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14150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3.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BCB07C3-ED0C-45B6-B831-EB9E61F5BD6A}" type="datetimeFigureOut">
              <a:rPr lang="en-IN" smtClean="0"/>
              <a:t>06-08-2026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468993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CB07C3-ED0C-45B6-B831-EB9E61F5BD6A}" type="datetimeFigureOut">
              <a:rPr lang="en-IN" smtClean="0"/>
              <a:t>06-08-2026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1170905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BCB07C3-ED0C-45B6-B831-EB9E61F5BD6A}" type="datetimeFigureOut">
              <a:rPr lang="en-IN" smtClean="0"/>
              <a:t>06-08-2026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1100384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BCB07C3-ED0C-45B6-B831-EB9E61F5BD6A}" type="datetimeFigureOut">
              <a:rPr lang="en-IN" smtClean="0"/>
              <a:t>06-08-2026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1305937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BCB07C3-ED0C-45B6-B831-EB9E61F5BD6A}" type="datetimeFigureOut">
              <a:rPr lang="en-IN" smtClean="0"/>
              <a:t>06-08-2026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3104484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BCB07C3-ED0C-45B6-B831-EB9E61F5BD6A}" type="datetimeFigureOut">
              <a:rPr lang="en-IN" smtClean="0"/>
              <a:t>06-08-2026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277856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CB07C3-ED0C-45B6-B831-EB9E61F5BD6A}" type="datetimeFigureOut">
              <a:rPr lang="en-IN" smtClean="0"/>
              <a:t>06-08-2026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384796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BCB07C3-ED0C-45B6-B831-EB9E61F5BD6A}" type="datetimeFigureOut">
              <a:rPr lang="en-IN" smtClean="0"/>
              <a:t>06-08-2026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3368761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BCB07C3-ED0C-45B6-B831-EB9E61F5BD6A}" type="datetimeFigureOut">
              <a:rPr lang="en-IN" smtClean="0"/>
              <a:t>06-08-2026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3876171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CB07C3-ED0C-45B6-B831-EB9E61F5BD6A}" type="datetimeFigureOut">
              <a:rPr lang="en-IN" smtClean="0"/>
              <a:t>06-08-2026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2634799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BCB07C3-ED0C-45B6-B831-EB9E61F5BD6A}" type="datetimeFigureOut">
              <a:rPr lang="en-IN" smtClean="0"/>
              <a:t>06-08-2026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9A10DC-ED65-46A4-ADA1-C490808C4AF1}" type="slidenum">
              <a:rPr lang="en-IN" smtClean="0"/>
              <a:t>‹#›</a:t>
            </a:fld>
            <a:endParaRPr lang="en-IN"/>
          </a:p>
        </p:txBody>
      </p:sp>
    </p:spTree>
    <p:extLst>
      <p:ext uri="{BB962C8B-B14F-4D97-AF65-F5344CB8AC3E}">
        <p14:creationId xmlns:p14="http://schemas.microsoft.com/office/powerpoint/2010/main" val="79785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564323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300721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883949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57463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81551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025198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45550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059585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6551044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9096905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3993137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2650076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3548030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29568661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5393527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42917870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18331868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9886201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5108091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6229335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2375648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3450435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1228887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871870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117795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809380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957861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7708766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5666245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7139092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14208600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6364146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33187959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11506784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3510974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6631082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2973549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468338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3259015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7726072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33993534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0653801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1952642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22908778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83943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2666996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025240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418407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7312169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4576247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30870979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3006768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423905937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20007911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4130512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5690983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41975020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841864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1048624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1BBF775-9701-4700-8C42-37C45592BF64}"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5236858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0DC9515-EEA6-4988-9B72-A3156BC6D82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7126577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847626A-32C6-4787-BF59-D9C6DCA6160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11701658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2224BC-1836-4F86-961E-5636B0D7F3F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93618199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61C7426-3AF4-4D23-A8FE-9508C9C44A8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1197366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13289C9-3785-4D8A-84E2-B4A3AA91160F}"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47005750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A76A7F8-A208-4BB2-A627-E034753FFEF1}"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5855847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0431DE78-BB98-4826-B532-EBA9DB1A05E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5729366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5EE6103C-7512-4011-A0FC-7F3D2BCAB56B}"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18816588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88FBF42-EA75-4CD7-B279-4E51B4C46B1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1001828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3939C2-77E1-4A89-B190-C5D1BFE8D3D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0444691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1BBF775-9701-4700-8C42-37C45592BF64}"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9465203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0DC9515-EEA6-4988-9B72-A3156BC6D82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32410089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847626A-32C6-4787-BF59-D9C6DCA6160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72587979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2224BC-1836-4F86-961E-5636B0D7F3F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25276866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61C7426-3AF4-4D23-A8FE-9508C9C44A8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89891197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13289C9-3785-4D8A-84E2-B4A3AA91160F}"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510864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A76A7F8-A208-4BB2-A627-E034753FFEF1}"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48569271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0431DE78-BB98-4826-B532-EBA9DB1A05E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0216527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5EE6103C-7512-4011-A0FC-7F3D2BCAB56B}"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93188306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88FBF42-EA75-4CD7-B279-4E51B4C46B1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28494141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3939C2-77E1-4A89-B190-C5D1BFE8D3D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4244768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54734701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335479457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3137070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51404143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92313692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4709186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2991666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06414891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20995824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92891004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93135043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4225026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73962037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216330095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32985957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4158079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44175848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418440684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53358655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1835150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1573267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315435098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60629356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38851804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37843865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12876911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48345443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1727343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66344212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3247370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071825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88992587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257142863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151207788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200669752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99800851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68905387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376826790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99573449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65222141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7866829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316395265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10168869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88957322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85175881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43679260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82504463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46244828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8102739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30445209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57987615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165841867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67842781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358916338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378317715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60403906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13655931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97838711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48296872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16478235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1BBF775-9701-4700-8C42-37C45592BF64}"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2778636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0DC9515-EEA6-4988-9B72-A3156BC6D82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88076272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847626A-32C6-4787-BF59-D9C6DCA6160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13890544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2224BC-1836-4F86-961E-5636B0D7F3F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09621453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61C7426-3AF4-4D23-A8FE-9508C9C44A8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576612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13289C9-3785-4D8A-84E2-B4A3AA91160F}"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93565914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A76A7F8-A208-4BB2-A627-E034753FFEF1}"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29667678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0431DE78-BB98-4826-B532-EBA9DB1A05E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16061028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5EE6103C-7512-4011-A0FC-7F3D2BCAB56B}"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72229428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88FBF42-EA75-4CD7-B279-4E51B4C46B1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92369731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3939C2-77E1-4A89-B190-C5D1BFE8D3D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505379971"/>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6203217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216373809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22986503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78168020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27917696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53827400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39115739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63138042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74628011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70469758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34676424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357824490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141236179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218622735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291588020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7276119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17150188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109618920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54782283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2438194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1BBF775-9701-4700-8C42-37C45592BF64}"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04682488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0DC9515-EEA6-4988-9B72-A3156BC6D82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10165719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847626A-32C6-4787-BF59-D9C6DCA6160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904108000"/>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2224BC-1836-4F86-961E-5636B0D7F3F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5457822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61C7426-3AF4-4D23-A8FE-9508C9C44A8A}"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85076828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13289C9-3785-4D8A-84E2-B4A3AA91160F}"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26801064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A76A7F8-A208-4BB2-A627-E034753FFEF1}"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41628977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0431DE78-BB98-4826-B532-EBA9DB1A05E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7572532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5EE6103C-7512-4011-A0FC-7F3D2BCAB56B}"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95170303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88FBF42-EA75-4CD7-B279-4E51B4C46B10}"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45661206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D3939C2-77E1-4A89-B190-C5D1BFE8D3D6}"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4160817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3415776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81586014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174427472"/>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364408024"/>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55130191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53853263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12196355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03003558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52178545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225585158"/>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92146611"/>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2897049023"/>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58604812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270878346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119091765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078411448"/>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106161262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686578244"/>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35098791"/>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10872849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0" name="Google Shape;10;p2"/>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0"/>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93613120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799544" y="2742415"/>
            <a:ext cx="10624800" cy="1470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400"/>
              <a:buFont typeface="Helvetica Neue"/>
              <a:buNone/>
              <a:defRPr sz="3200" b="0" i="0" u="none" strike="noStrike" cap="none">
                <a:solidFill>
                  <a:schemeClr val="dk1"/>
                </a:solidFill>
                <a:latin typeface="Helvetica Neue"/>
                <a:ea typeface="Helvetica Neue"/>
                <a:cs typeface="Helvetica Neue"/>
                <a:sym typeface="Helvetica Neue"/>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4" name="Google Shape;14;p3"/>
          <p:cNvSpPr txBox="1">
            <a:spLocks noGrp="1"/>
          </p:cNvSpPr>
          <p:nvPr>
            <p:ph type="subTitle" idx="1"/>
          </p:nvPr>
        </p:nvSpPr>
        <p:spPr>
          <a:xfrm>
            <a:off x="799544" y="4212439"/>
            <a:ext cx="10624800" cy="685600"/>
          </a:xfrm>
          <a:prstGeom prst="rect">
            <a:avLst/>
          </a:prstGeom>
          <a:noFill/>
          <a:ln>
            <a:noFill/>
          </a:ln>
        </p:spPr>
        <p:txBody>
          <a:bodyPr spcFirstLastPara="1" wrap="square" lIns="91425" tIns="91425" rIns="91425" bIns="91425" anchor="t" anchorCtr="0">
            <a:noAutofit/>
          </a:bodyPr>
          <a:lstStyle>
            <a:lvl1pPr marR="0" lvl="0" algn="l">
              <a:lnSpc>
                <a:spcPct val="120000"/>
              </a:lnSpc>
              <a:spcBef>
                <a:spcPts val="373"/>
              </a:spcBef>
              <a:spcAft>
                <a:spcPts val="0"/>
              </a:spcAft>
              <a:buClr>
                <a:schemeClr val="accent2"/>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R="0" lvl="1"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2pPr>
            <a:lvl3pPr marR="0" lvl="2"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3pPr>
            <a:lvl4pPr marR="0" lvl="3"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4pPr>
            <a:lvl5pPr marR="0" lvl="4" algn="ctr">
              <a:lnSpc>
                <a:spcPct val="120000"/>
              </a:lnSpc>
              <a:spcBef>
                <a:spcPts val="373"/>
              </a:spcBef>
              <a:spcAft>
                <a:spcPts val="0"/>
              </a:spcAft>
              <a:buClr>
                <a:schemeClr val="accent2"/>
              </a:buClr>
              <a:buSzPts val="1400"/>
              <a:buFont typeface="Arial"/>
              <a:buNone/>
              <a:defRPr sz="1867" b="0" i="0" u="none" strike="noStrike" cap="none">
                <a:solidFill>
                  <a:srgbClr val="888C92"/>
                </a:solidFill>
                <a:latin typeface="Arial"/>
                <a:ea typeface="Arial"/>
                <a:cs typeface="Arial"/>
                <a:sym typeface="Arial"/>
              </a:defRPr>
            </a:lvl5pPr>
            <a:lvl6pPr marR="0" lvl="5"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6pPr>
            <a:lvl7pPr marR="0" lvl="6"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7pPr>
            <a:lvl8pPr marR="0" lvl="7"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8pPr>
            <a:lvl9pPr marR="0" lvl="8" algn="ctr">
              <a:lnSpc>
                <a:spcPct val="100000"/>
              </a:lnSpc>
              <a:spcBef>
                <a:spcPts val="533"/>
              </a:spcBef>
              <a:spcAft>
                <a:spcPts val="0"/>
              </a:spcAft>
              <a:buClr>
                <a:srgbClr val="888C92"/>
              </a:buClr>
              <a:buSzPts val="2000"/>
              <a:buFont typeface="Arial"/>
              <a:buNone/>
              <a:defRPr sz="2667" b="0" i="0" u="none" strike="noStrike" cap="none">
                <a:solidFill>
                  <a:srgbClr val="888C92"/>
                </a:solidFill>
                <a:latin typeface="Arial"/>
                <a:ea typeface="Arial"/>
                <a:cs typeface="Arial"/>
                <a:sym typeface="Arial"/>
              </a:defRPr>
            </a:lvl9pPr>
          </a:lstStyle>
          <a:p>
            <a:endParaRPr/>
          </a:p>
        </p:txBody>
      </p:sp>
      <p:pic>
        <p:nvPicPr>
          <p:cNvPr id="15" name="Google Shape;15;p3" descr="PPT-Cover.jpg"/>
          <p:cNvPicPr preferRelativeResize="0"/>
          <p:nvPr/>
        </p:nvPicPr>
        <p:blipFill rotWithShape="1">
          <a:blip r:embed="rId2">
            <a:alphaModFix/>
          </a:blip>
          <a:srcRect/>
          <a:stretch/>
        </p:blipFill>
        <p:spPr>
          <a:xfrm>
            <a:off x="-65759" y="-12329"/>
            <a:ext cx="9153561" cy="6909408"/>
          </a:xfrm>
          <a:prstGeom prst="rect">
            <a:avLst/>
          </a:prstGeom>
          <a:noFill/>
          <a:ln>
            <a:noFill/>
          </a:ln>
        </p:spPr>
      </p:pic>
    </p:spTree>
    <p:extLst>
      <p:ext uri="{BB962C8B-B14F-4D97-AF65-F5344CB8AC3E}">
        <p14:creationId xmlns:p14="http://schemas.microsoft.com/office/powerpoint/2010/main" val="138701262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63084" y="2628900"/>
            <a:ext cx="10363200" cy="13620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4000"/>
              <a:buFont typeface="Arial"/>
              <a:buNone/>
              <a:defRPr sz="53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18" name="Google Shape;18;p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84744018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1" name="Google Shape;21;p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71032570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4" name="Google Shape;24;p6"/>
          <p:cNvSpPr txBox="1">
            <a:spLocks noGrp="1"/>
          </p:cNvSpPr>
          <p:nvPr>
            <p:ph type="body" idx="1"/>
          </p:nvPr>
        </p:nvSpPr>
        <p:spPr>
          <a:xfrm>
            <a:off x="609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5" name="Google Shape;25;p6"/>
          <p:cNvSpPr txBox="1">
            <a:spLocks noGrp="1"/>
          </p:cNvSpPr>
          <p:nvPr>
            <p:ph type="body" idx="2"/>
          </p:nvPr>
        </p:nvSpPr>
        <p:spPr>
          <a:xfrm>
            <a:off x="6197600" y="1600200"/>
            <a:ext cx="5384800" cy="45260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48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6pPr>
            <a:lvl7pPr marL="4267093" marR="0" lvl="6"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7pPr>
            <a:lvl8pPr marL="4876678" marR="0" lvl="7"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8pPr>
            <a:lvl9pPr marL="5486263" marR="0" lvl="8" indent="-457189" algn="l">
              <a:lnSpc>
                <a:spcPct val="100000"/>
              </a:lnSpc>
              <a:spcBef>
                <a:spcPts val="48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67961769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29" name="Google Shape;29;p7"/>
          <p:cNvSpPr txBox="1">
            <a:spLocks noGrp="1"/>
          </p:cNvSpPr>
          <p:nvPr>
            <p:ph type="body" idx="1"/>
          </p:nvPr>
        </p:nvSpPr>
        <p:spPr>
          <a:xfrm>
            <a:off x="609600" y="1535113"/>
            <a:ext cx="53868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609600" y="2174875"/>
            <a:ext cx="53868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6193367" y="1535113"/>
            <a:ext cx="5389200" cy="640000"/>
          </a:xfrm>
          <a:prstGeom prst="rect">
            <a:avLst/>
          </a:prstGeom>
          <a:noFill/>
          <a:ln>
            <a:noFill/>
          </a:ln>
        </p:spPr>
        <p:txBody>
          <a:bodyPr spcFirstLastPara="1" wrap="square" lIns="91425" tIns="91425" rIns="91425" bIns="91425" anchor="b" anchorCtr="0">
            <a:noAutofit/>
          </a:bodyPr>
          <a:lstStyle>
            <a:lvl1pPr marL="609585" marR="0" lvl="0" indent="-304792" algn="l">
              <a:lnSpc>
                <a:spcPct val="120000"/>
              </a:lnSpc>
              <a:spcBef>
                <a:spcPts val="640"/>
              </a:spcBef>
              <a:spcAft>
                <a:spcPts val="0"/>
              </a:spcAft>
              <a:buClr>
                <a:schemeClr val="accent2"/>
              </a:buClr>
              <a:buSzPts val="2400"/>
              <a:buFont typeface="Arial"/>
              <a:buNone/>
              <a:defRPr sz="3200" b="0" i="0" u="none" strike="noStrike" cap="none">
                <a:solidFill>
                  <a:schemeClr val="accent2"/>
                </a:solidFill>
                <a:latin typeface="Arial"/>
                <a:ea typeface="Arial"/>
                <a:cs typeface="Arial"/>
                <a:sym typeface="Arial"/>
              </a:defRPr>
            </a:lvl1pPr>
            <a:lvl2pPr marL="1219170" marR="0" lvl="1" indent="-304792" algn="l">
              <a:lnSpc>
                <a:spcPct val="120000"/>
              </a:lnSpc>
              <a:spcBef>
                <a:spcPts val="533"/>
              </a:spcBef>
              <a:spcAft>
                <a:spcPts val="0"/>
              </a:spcAft>
              <a:buClr>
                <a:schemeClr val="accent2"/>
              </a:buClr>
              <a:buSzPts val="2000"/>
              <a:buFont typeface="Arial"/>
              <a:buNone/>
              <a:defRPr sz="2667" b="1" i="0" u="none" strike="noStrike" cap="none">
                <a:solidFill>
                  <a:srgbClr val="FFFFFF"/>
                </a:solidFill>
                <a:latin typeface="Arial"/>
                <a:ea typeface="Arial"/>
                <a:cs typeface="Arial"/>
                <a:sym typeface="Arial"/>
              </a:defRPr>
            </a:lvl2pPr>
            <a:lvl3pPr marL="1828754" marR="0" lvl="2" indent="-304792" algn="l">
              <a:lnSpc>
                <a:spcPct val="120000"/>
              </a:lnSpc>
              <a:spcBef>
                <a:spcPts val="480"/>
              </a:spcBef>
              <a:spcAft>
                <a:spcPts val="0"/>
              </a:spcAft>
              <a:buClr>
                <a:schemeClr val="accent2"/>
              </a:buClr>
              <a:buSzPts val="1800"/>
              <a:buFont typeface="Arial"/>
              <a:buNone/>
              <a:defRPr sz="2400" b="1" i="0" u="none" strike="noStrike" cap="none">
                <a:solidFill>
                  <a:srgbClr val="FFFFFF"/>
                </a:solidFill>
                <a:latin typeface="Arial"/>
                <a:ea typeface="Arial"/>
                <a:cs typeface="Arial"/>
                <a:sym typeface="Arial"/>
              </a:defRPr>
            </a:lvl3pPr>
            <a:lvl4pPr marL="2438339" marR="0" lvl="3"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4pPr>
            <a:lvl5pPr marL="3047924" marR="0" lvl="4" indent="-304792" algn="l">
              <a:lnSpc>
                <a:spcPct val="120000"/>
              </a:lnSpc>
              <a:spcBef>
                <a:spcPts val="427"/>
              </a:spcBef>
              <a:spcAft>
                <a:spcPts val="0"/>
              </a:spcAft>
              <a:buClr>
                <a:schemeClr val="accent2"/>
              </a:buClr>
              <a:buSzPts val="1600"/>
              <a:buFont typeface="Arial"/>
              <a:buNone/>
              <a:defRPr sz="2133" b="1" i="0" u="none" strike="noStrike" cap="none">
                <a:solidFill>
                  <a:srgbClr val="FFFFFF"/>
                </a:solidFill>
                <a:latin typeface="Arial"/>
                <a:ea typeface="Arial"/>
                <a:cs typeface="Arial"/>
                <a:sym typeface="Arial"/>
              </a:defRPr>
            </a:lvl5pPr>
            <a:lvl6pPr marL="3657509" marR="0" lvl="5"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6pPr>
            <a:lvl7pPr marL="4267093" marR="0" lvl="6"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7pPr>
            <a:lvl8pPr marL="4876678" marR="0" lvl="7"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8pPr>
            <a:lvl9pPr marL="5486263" marR="0" lvl="8" indent="-304792" algn="l">
              <a:lnSpc>
                <a:spcPct val="100000"/>
              </a:lnSpc>
              <a:spcBef>
                <a:spcPts val="427"/>
              </a:spcBef>
              <a:spcAft>
                <a:spcPts val="0"/>
              </a:spcAft>
              <a:buClr>
                <a:schemeClr val="dk1"/>
              </a:buClr>
              <a:buSzPts val="1600"/>
              <a:buFont typeface="Arial"/>
              <a:buNone/>
              <a:defRPr sz="2133" b="1"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6193367" y="2174875"/>
            <a:ext cx="5389200" cy="3951200"/>
          </a:xfrm>
          <a:prstGeom prst="rect">
            <a:avLst/>
          </a:prstGeom>
          <a:noFill/>
          <a:ln>
            <a:noFill/>
          </a:ln>
        </p:spPr>
        <p:txBody>
          <a:bodyPr spcFirstLastPara="1" wrap="square" lIns="91425" tIns="91425" rIns="91425" bIns="91425" anchor="t" anchorCtr="0">
            <a:noAutofit/>
          </a:bodyPr>
          <a:lstStyle>
            <a:lvl1pPr marL="609585" marR="0" lvl="0" indent="-507987" algn="l">
              <a:lnSpc>
                <a:spcPct val="120000"/>
              </a:lnSpc>
              <a:spcBef>
                <a:spcPts val="640"/>
              </a:spcBef>
              <a:spcAft>
                <a:spcPts val="0"/>
              </a:spcAft>
              <a:buClr>
                <a:schemeClr val="accent2"/>
              </a:buClr>
              <a:buSzPts val="2400"/>
              <a:buFont typeface="Arial"/>
              <a:buChar char="•"/>
              <a:defRPr sz="3200" b="0" i="0" u="none" strike="noStrike" cap="none">
                <a:solidFill>
                  <a:schemeClr val="dk1"/>
                </a:solidFill>
                <a:latin typeface="Arial"/>
                <a:ea typeface="Arial"/>
                <a:cs typeface="Arial"/>
                <a:sym typeface="Arial"/>
              </a:defRPr>
            </a:lvl1pPr>
            <a:lvl2pPr marL="1219170" marR="0" lvl="1" indent="-474121" algn="l">
              <a:lnSpc>
                <a:spcPct val="120000"/>
              </a:lnSpc>
              <a:spcBef>
                <a:spcPts val="533"/>
              </a:spcBef>
              <a:spcAft>
                <a:spcPts val="0"/>
              </a:spcAft>
              <a:buClr>
                <a:schemeClr val="accent2"/>
              </a:buClr>
              <a:buSzPts val="2000"/>
              <a:buFont typeface="Arial"/>
              <a:buChar char="–"/>
              <a:defRPr sz="2667" b="0" i="0" u="none" strike="noStrike" cap="none">
                <a:solidFill>
                  <a:schemeClr val="dk1"/>
                </a:solidFill>
                <a:latin typeface="Arial"/>
                <a:ea typeface="Arial"/>
                <a:cs typeface="Arial"/>
                <a:sym typeface="Arial"/>
              </a:defRPr>
            </a:lvl2pPr>
            <a:lvl3pPr marL="1828754" marR="0" lvl="2" indent="-457189" algn="l">
              <a:lnSpc>
                <a:spcPct val="120000"/>
              </a:lnSpc>
              <a:spcBef>
                <a:spcPts val="480"/>
              </a:spcBef>
              <a:spcAft>
                <a:spcPts val="0"/>
              </a:spcAft>
              <a:buClr>
                <a:schemeClr val="accent2"/>
              </a:buClr>
              <a:buSzPts val="1800"/>
              <a:buFont typeface="Arial"/>
              <a:buChar char="•"/>
              <a:defRPr sz="2400" b="0" i="0" u="none" strike="noStrike" cap="none">
                <a:solidFill>
                  <a:schemeClr val="dk1"/>
                </a:solidFill>
                <a:latin typeface="Arial"/>
                <a:ea typeface="Arial"/>
                <a:cs typeface="Arial"/>
                <a:sym typeface="Arial"/>
              </a:defRPr>
            </a:lvl3pPr>
            <a:lvl4pPr marL="2438339" marR="0" lvl="3"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4pPr>
            <a:lvl5pPr marL="3047924" marR="0" lvl="4" indent="-440256" algn="l">
              <a:lnSpc>
                <a:spcPct val="120000"/>
              </a:lnSpc>
              <a:spcBef>
                <a:spcPts val="427"/>
              </a:spcBef>
              <a:spcAft>
                <a:spcPts val="0"/>
              </a:spcAft>
              <a:buClr>
                <a:schemeClr val="accent2"/>
              </a:buClr>
              <a:buSzPts val="1600"/>
              <a:buFont typeface="Arial"/>
              <a:buChar char="»"/>
              <a:defRPr sz="2133" b="0" i="0" u="none" strike="noStrike" cap="none">
                <a:solidFill>
                  <a:schemeClr val="dk1"/>
                </a:solidFill>
                <a:latin typeface="Arial"/>
                <a:ea typeface="Arial"/>
                <a:cs typeface="Arial"/>
                <a:sym typeface="Arial"/>
              </a:defRPr>
            </a:lvl5pPr>
            <a:lvl6pPr marL="3657509" marR="0" lvl="5"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6pPr>
            <a:lvl7pPr marL="4267093" marR="0" lvl="6"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7pPr>
            <a:lvl8pPr marL="4876678" marR="0" lvl="7"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8pPr>
            <a:lvl9pPr marL="5486263" marR="0" lvl="8" indent="-440256" algn="l">
              <a:lnSpc>
                <a:spcPct val="100000"/>
              </a:lnSpc>
              <a:spcBef>
                <a:spcPts val="427"/>
              </a:spcBef>
              <a:spcAft>
                <a:spcPts val="0"/>
              </a:spcAft>
              <a:buClr>
                <a:schemeClr val="dk1"/>
              </a:buClr>
              <a:buSzPts val="1600"/>
              <a:buFont typeface="Arial"/>
              <a:buChar char="•"/>
              <a:defRPr sz="2133" b="0" i="0" u="none" strike="noStrike" cap="none">
                <a:solidFill>
                  <a:schemeClr val="dk1"/>
                </a:solidFill>
                <a:latin typeface="Arial"/>
                <a:ea typeface="Arial"/>
                <a:cs typeface="Arial"/>
                <a:sym typeface="Arial"/>
              </a:defRPr>
            </a:lvl9pPr>
          </a:lstStyle>
          <a:p>
            <a:endParaRPr/>
          </a:p>
        </p:txBody>
      </p:sp>
      <p:sp>
        <p:nvSpPr>
          <p:cNvPr id="33" name="Google Shape;33;p7"/>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49463101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182976026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3051"/>
            <a:ext cx="4011200" cy="11620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38" name="Google Shape;38;p9"/>
          <p:cNvSpPr txBox="1">
            <a:spLocks noGrp="1"/>
          </p:cNvSpPr>
          <p:nvPr>
            <p:ph type="body" idx="1"/>
          </p:nvPr>
        </p:nvSpPr>
        <p:spPr>
          <a:xfrm>
            <a:off x="4766733" y="273051"/>
            <a:ext cx="6815600" cy="5852800"/>
          </a:xfrm>
          <a:prstGeom prst="rect">
            <a:avLst/>
          </a:prstGeom>
          <a:noFill/>
          <a:ln>
            <a:noFill/>
          </a:ln>
        </p:spPr>
        <p:txBody>
          <a:bodyPr spcFirstLastPara="1" wrap="square" lIns="91425" tIns="91425" rIns="91425" bIns="91425" anchor="t" anchorCtr="0">
            <a:noAutofit/>
          </a:bodyPr>
          <a:lstStyle>
            <a:lvl1pPr marL="609585" marR="0" lvl="0" indent="-575719" algn="l">
              <a:lnSpc>
                <a:spcPct val="120000"/>
              </a:lnSpc>
              <a:spcBef>
                <a:spcPts val="853"/>
              </a:spcBef>
              <a:spcAft>
                <a:spcPts val="0"/>
              </a:spcAft>
              <a:buClr>
                <a:schemeClr val="accent2"/>
              </a:buClr>
              <a:buSzPts val="3200"/>
              <a:buFont typeface="Arial"/>
              <a:buChar char="•"/>
              <a:defRPr sz="4267" b="0" i="0" u="none" strike="noStrike" cap="none">
                <a:solidFill>
                  <a:srgbClr val="FFFFFF"/>
                </a:solidFill>
                <a:latin typeface="Arial"/>
                <a:ea typeface="Arial"/>
                <a:cs typeface="Arial"/>
                <a:sym typeface="Arial"/>
              </a:defRPr>
            </a:lvl1pPr>
            <a:lvl2pPr marL="1219170" marR="0" lvl="1" indent="-541853" algn="l">
              <a:lnSpc>
                <a:spcPct val="120000"/>
              </a:lnSpc>
              <a:spcBef>
                <a:spcPts val="747"/>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2pPr>
            <a:lvl3pPr marL="1828754" marR="0" lvl="2" indent="-507987" algn="l">
              <a:lnSpc>
                <a:spcPct val="120000"/>
              </a:lnSpc>
              <a:spcBef>
                <a:spcPts val="64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3pPr>
            <a:lvl4pPr marL="2438339" marR="0" lvl="3"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4pPr>
            <a:lvl5pPr marL="3047924" marR="0" lvl="4" indent="-474121" algn="l">
              <a:lnSpc>
                <a:spcPct val="120000"/>
              </a:lnSpc>
              <a:spcBef>
                <a:spcPts val="533"/>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609600" y="1435100"/>
            <a:ext cx="4011200" cy="46912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656110920"/>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2389717" y="4800600"/>
            <a:ext cx="7315200" cy="5668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000"/>
              <a:buFont typeface="Arial"/>
              <a:buNone/>
              <a:defRPr sz="2667"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3" name="Google Shape;43;p10"/>
          <p:cNvSpPr>
            <a:spLocks noGrp="1"/>
          </p:cNvSpPr>
          <p:nvPr>
            <p:ph type="pic" idx="2"/>
          </p:nvPr>
        </p:nvSpPr>
        <p:spPr>
          <a:xfrm>
            <a:off x="2389717" y="612775"/>
            <a:ext cx="7315200" cy="4114800"/>
          </a:xfrm>
          <a:prstGeom prst="rect">
            <a:avLst/>
          </a:prstGeom>
          <a:noFill/>
          <a:ln>
            <a:noFill/>
          </a:ln>
        </p:spPr>
        <p:txBody>
          <a:bodyPr spcFirstLastPara="1" wrap="square" lIns="91425" tIns="91425" rIns="91425" bIns="91425" anchor="t" anchorCtr="0">
            <a:noAutofit/>
          </a:bodyPr>
          <a:lstStyle>
            <a:lvl1pPr marR="0" lvl="0" algn="l" rtl="0">
              <a:lnSpc>
                <a:spcPct val="120000"/>
              </a:lnSpc>
              <a:spcBef>
                <a:spcPts val="853"/>
              </a:spcBef>
              <a:spcAft>
                <a:spcPts val="0"/>
              </a:spcAft>
              <a:buClr>
                <a:schemeClr val="accent2"/>
              </a:buClr>
              <a:buSzPts val="3200"/>
              <a:buFont typeface="Arial"/>
              <a:buNone/>
              <a:defRPr sz="4267" b="0" i="0" u="none" strike="noStrike" cap="none">
                <a:solidFill>
                  <a:srgbClr val="FFFFFF"/>
                </a:solidFill>
                <a:latin typeface="Arial"/>
                <a:ea typeface="Arial"/>
                <a:cs typeface="Arial"/>
                <a:sym typeface="Arial"/>
              </a:defRPr>
            </a:lvl1pPr>
            <a:lvl2pPr marR="0" lvl="1" algn="l" rtl="0">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2pPr>
            <a:lvl3pPr marR="0" lvl="2" algn="l" rtl="0">
              <a:lnSpc>
                <a:spcPct val="120000"/>
              </a:lnSpc>
              <a:spcBef>
                <a:spcPts val="640"/>
              </a:spcBef>
              <a:spcAft>
                <a:spcPts val="0"/>
              </a:spcAft>
              <a:buClr>
                <a:schemeClr val="accent2"/>
              </a:buClr>
              <a:buSzPts val="2400"/>
              <a:buFont typeface="Arial"/>
              <a:buNone/>
              <a:defRPr sz="3200" b="0" i="0" u="none" strike="noStrike" cap="none">
                <a:solidFill>
                  <a:srgbClr val="FFFFFF"/>
                </a:solidFill>
                <a:latin typeface="Arial"/>
                <a:ea typeface="Arial"/>
                <a:cs typeface="Arial"/>
                <a:sym typeface="Arial"/>
              </a:defRPr>
            </a:lvl3pPr>
            <a:lvl4pPr marR="0" lvl="3"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4pPr>
            <a:lvl5pPr marR="0" lvl="4" algn="l" rtl="0">
              <a:lnSpc>
                <a:spcPct val="120000"/>
              </a:lnSpc>
              <a:spcBef>
                <a:spcPts val="533"/>
              </a:spcBef>
              <a:spcAft>
                <a:spcPts val="0"/>
              </a:spcAft>
              <a:buClr>
                <a:schemeClr val="accent2"/>
              </a:buClr>
              <a:buSzPts val="2000"/>
              <a:buFont typeface="Arial"/>
              <a:buNone/>
              <a:defRPr sz="2667" b="0" i="0" u="none" strike="noStrike" cap="none">
                <a:solidFill>
                  <a:srgbClr val="FFFFFF"/>
                </a:solidFill>
                <a:latin typeface="Arial"/>
                <a:ea typeface="Arial"/>
                <a:cs typeface="Arial"/>
                <a:sym typeface="Arial"/>
              </a:defRPr>
            </a:lvl5pPr>
            <a:lvl6pPr marR="0" lvl="5"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6pPr>
            <a:lvl7pPr marR="0" lvl="6"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7pPr>
            <a:lvl8pPr marR="0" lvl="7"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8pPr>
            <a:lvl9pPr marR="0" lvl="8" algn="l" rtl="0">
              <a:lnSpc>
                <a:spcPct val="100000"/>
              </a:lnSpc>
              <a:spcBef>
                <a:spcPts val="533"/>
              </a:spcBef>
              <a:spcAft>
                <a:spcPts val="0"/>
              </a:spcAft>
              <a:buClr>
                <a:schemeClr val="dk1"/>
              </a:buClr>
              <a:buSzPts val="2000"/>
              <a:buFont typeface="Arial"/>
              <a:buNone/>
              <a:defRPr sz="2667" b="0" i="0" u="none" strike="noStrike" cap="none">
                <a:solidFill>
                  <a:schemeClr val="dk1"/>
                </a:solidFill>
                <a:latin typeface="Arial"/>
                <a:ea typeface="Arial"/>
                <a:cs typeface="Arial"/>
                <a:sym typeface="Arial"/>
              </a:defRPr>
            </a:lvl9pPr>
          </a:lstStyle>
          <a:p>
            <a:endParaRPr/>
          </a:p>
        </p:txBody>
      </p:sp>
      <p:sp>
        <p:nvSpPr>
          <p:cNvPr id="44" name="Google Shape;44;p10"/>
          <p:cNvSpPr txBox="1">
            <a:spLocks noGrp="1"/>
          </p:cNvSpPr>
          <p:nvPr>
            <p:ph type="body" idx="1"/>
          </p:nvPr>
        </p:nvSpPr>
        <p:spPr>
          <a:xfrm>
            <a:off x="2389717" y="5367337"/>
            <a:ext cx="7315200" cy="804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373"/>
              </a:spcBef>
              <a:spcAft>
                <a:spcPts val="0"/>
              </a:spcAft>
              <a:buClr>
                <a:schemeClr val="accent2"/>
              </a:buClr>
              <a:buSzPts val="1400"/>
              <a:buFont typeface="Arial"/>
              <a:buNone/>
              <a:defRPr sz="1867" b="0" i="0" u="none" strike="noStrike" cap="none">
                <a:solidFill>
                  <a:srgbClr val="FFFFFF"/>
                </a:solidFill>
                <a:latin typeface="Arial"/>
                <a:ea typeface="Arial"/>
                <a:cs typeface="Arial"/>
                <a:sym typeface="Arial"/>
              </a:defRPr>
            </a:lvl1pPr>
            <a:lvl2pPr marL="1219170" marR="0" lvl="1" indent="-304792" algn="l">
              <a:lnSpc>
                <a:spcPct val="120000"/>
              </a:lnSpc>
              <a:spcBef>
                <a:spcPts val="320"/>
              </a:spcBef>
              <a:spcAft>
                <a:spcPts val="0"/>
              </a:spcAft>
              <a:buClr>
                <a:schemeClr val="accent2"/>
              </a:buClr>
              <a:buSzPts val="1200"/>
              <a:buFont typeface="Arial"/>
              <a:buNone/>
              <a:defRPr sz="1600" b="0" i="0" u="none" strike="noStrike" cap="none">
                <a:solidFill>
                  <a:srgbClr val="FFFFFF"/>
                </a:solidFill>
                <a:latin typeface="Arial"/>
                <a:ea typeface="Arial"/>
                <a:cs typeface="Arial"/>
                <a:sym typeface="Arial"/>
              </a:defRPr>
            </a:lvl2pPr>
            <a:lvl3pPr marL="1828754" marR="0" lvl="2" indent="-304792" algn="l">
              <a:lnSpc>
                <a:spcPct val="120000"/>
              </a:lnSpc>
              <a:spcBef>
                <a:spcPts val="267"/>
              </a:spcBef>
              <a:spcAft>
                <a:spcPts val="0"/>
              </a:spcAft>
              <a:buClr>
                <a:schemeClr val="accent2"/>
              </a:buClr>
              <a:buSzPts val="1000"/>
              <a:buFont typeface="Arial"/>
              <a:buNone/>
              <a:defRPr sz="1333" b="0" i="0" u="none" strike="noStrike" cap="none">
                <a:solidFill>
                  <a:srgbClr val="FFFFFF"/>
                </a:solidFill>
                <a:latin typeface="Arial"/>
                <a:ea typeface="Arial"/>
                <a:cs typeface="Arial"/>
                <a:sym typeface="Arial"/>
              </a:defRPr>
            </a:lvl3pPr>
            <a:lvl4pPr marL="2438339" marR="0" lvl="3"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4pPr>
            <a:lvl5pPr marL="3047924" marR="0" lvl="4" indent="-304792" algn="l">
              <a:lnSpc>
                <a:spcPct val="120000"/>
              </a:lnSpc>
              <a:spcBef>
                <a:spcPts val="240"/>
              </a:spcBef>
              <a:spcAft>
                <a:spcPts val="0"/>
              </a:spcAft>
              <a:buClr>
                <a:schemeClr val="accent2"/>
              </a:buClr>
              <a:buSzPts val="900"/>
              <a:buFont typeface="Arial"/>
              <a:buNone/>
              <a:defRPr sz="1200" b="0" i="0" u="none" strike="noStrike" cap="none">
                <a:solidFill>
                  <a:srgbClr val="FFFFFF"/>
                </a:solidFill>
                <a:latin typeface="Arial"/>
                <a:ea typeface="Arial"/>
                <a:cs typeface="Arial"/>
                <a:sym typeface="Arial"/>
              </a:defRPr>
            </a:lvl5pPr>
            <a:lvl6pPr marL="3657509" marR="0" lvl="5"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a:lnSpc>
                <a:spcPct val="100000"/>
              </a:lnSpc>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82746658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48" name="Google Shape;48;p11"/>
          <p:cNvSpPr txBox="1">
            <a:spLocks noGrp="1"/>
          </p:cNvSpPr>
          <p:nvPr>
            <p:ph type="body" idx="1"/>
          </p:nvPr>
        </p:nvSpPr>
        <p:spPr>
          <a:xfrm rot="5400000">
            <a:off x="3794799" y="-1661200"/>
            <a:ext cx="4602400" cy="109728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34559756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rot="5400000">
            <a:off x="7284999" y="1828837"/>
            <a:ext cx="5851600" cy="2743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2" name="Google Shape;52;p12"/>
          <p:cNvSpPr txBox="1">
            <a:spLocks noGrp="1"/>
          </p:cNvSpPr>
          <p:nvPr>
            <p:ph type="body" idx="1"/>
          </p:nvPr>
        </p:nvSpPr>
        <p:spPr>
          <a:xfrm rot="5400000">
            <a:off x="1697000" y="-812761"/>
            <a:ext cx="5851600" cy="8026400"/>
          </a:xfrm>
          <a:prstGeom prst="rect">
            <a:avLst/>
          </a:prstGeom>
          <a:noFill/>
          <a:ln>
            <a:noFill/>
          </a:ln>
        </p:spPr>
        <p:txBody>
          <a:bodyPr spcFirstLastPara="1" wrap="square" lIns="91425" tIns="91425" rIns="91425" bIns="91425" anchor="t" anchorCtr="0">
            <a:noAutofit/>
          </a:bodyPr>
          <a:lstStyle>
            <a:lvl1pPr marL="609585" marR="0" lvl="0"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53" name="Google Shape;53;p12"/>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298298352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56" name="Google Shape;56;p13"/>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57" name="Google Shape;57;p13"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Tree>
    <p:extLst>
      <p:ext uri="{BB962C8B-B14F-4D97-AF65-F5344CB8AC3E}">
        <p14:creationId xmlns:p14="http://schemas.microsoft.com/office/powerpoint/2010/main" val="251122811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1" name="Google Shape;61;p14"/>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389863175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64" name="Google Shape;64;p15"/>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65" name="Google Shape;65;p15"/>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66" name="Google Shape;66;p15"/>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262240893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matchingName="Final Slide">
  <p:cSld name="Final Slide">
    <p:spTree>
      <p:nvGrpSpPr>
        <p:cNvPr id="1" name="Shape 67"/>
        <p:cNvGrpSpPr/>
        <p:nvPr/>
      </p:nvGrpSpPr>
      <p:grpSpPr>
        <a:xfrm>
          <a:off x="0" y="0"/>
          <a:ext cx="0" cy="0"/>
          <a:chOff x="0" y="0"/>
          <a:chExt cx="0" cy="0"/>
        </a:xfrm>
      </p:grpSpPr>
      <p:sp>
        <p:nvSpPr>
          <p:cNvPr id="68" name="Google Shape;68;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69" name="Google Shape;69;p16"/>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70" name="Google Shape;70;p16"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1" name="Google Shape;71;p16"/>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Tree>
    <p:extLst>
      <p:ext uri="{BB962C8B-B14F-4D97-AF65-F5344CB8AC3E}">
        <p14:creationId xmlns:p14="http://schemas.microsoft.com/office/powerpoint/2010/main" val="67166154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72"/>
        <p:cNvGrpSpPr/>
        <p:nvPr/>
      </p:nvGrpSpPr>
      <p:grpSpPr>
        <a:xfrm>
          <a:off x="0" y="0"/>
          <a:ext cx="0" cy="0"/>
          <a:chOff x="0" y="0"/>
          <a:chExt cx="0" cy="0"/>
        </a:xfrm>
      </p:grpSpPr>
      <p:pic>
        <p:nvPicPr>
          <p:cNvPr id="73" name="Google Shape;73;p17"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74" name="Google Shape;74;p17"/>
          <p:cNvSpPr txBox="1">
            <a:spLocks noGrp="1"/>
          </p:cNvSpPr>
          <p:nvPr>
            <p:ph type="ctrTitle"/>
          </p:nvPr>
        </p:nvSpPr>
        <p:spPr>
          <a:xfrm>
            <a:off x="457200" y="1674813"/>
            <a:ext cx="6238000" cy="18052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
        <p:nvSpPr>
          <p:cNvPr id="75" name="Google Shape;75;p17"/>
          <p:cNvSpPr txBox="1">
            <a:spLocks noGrp="1"/>
          </p:cNvSpPr>
          <p:nvPr>
            <p:ph type="body" idx="1"/>
          </p:nvPr>
        </p:nvSpPr>
        <p:spPr>
          <a:xfrm>
            <a:off x="457200" y="3578225"/>
            <a:ext cx="6238000" cy="14128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747"/>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2pPr>
            <a:lvl3pPr marL="1828754" marR="0" lvl="2"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3pPr>
            <a:lvl4pPr marL="2438339" marR="0" lvl="3"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4pPr>
            <a:lvl5pPr marL="3047924" marR="0" lvl="4" indent="-423323" algn="l">
              <a:lnSpc>
                <a:spcPct val="120000"/>
              </a:lnSpc>
              <a:spcBef>
                <a:spcPts val="373"/>
              </a:spcBef>
              <a:spcAft>
                <a:spcPts val="0"/>
              </a:spcAft>
              <a:buClr>
                <a:schemeClr val="accent2"/>
              </a:buClr>
              <a:buSzPts val="1400"/>
              <a:buFont typeface="Arial"/>
              <a:buChar char="»"/>
              <a:defRPr sz="1867"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933410031"/>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609599" y="1524000"/>
            <a:ext cx="111552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78" name="Google Shape;78;p18"/>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79" name="Google Shape;79;p18"/>
          <p:cNvSpPr txBox="1">
            <a:spLocks noGrp="1"/>
          </p:cNvSpPr>
          <p:nvPr>
            <p:ph type="title"/>
          </p:nvPr>
        </p:nvSpPr>
        <p:spPr>
          <a:xfrm>
            <a:off x="609600" y="419100"/>
            <a:ext cx="110140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spTree>
    <p:extLst>
      <p:ext uri="{BB962C8B-B14F-4D97-AF65-F5344CB8AC3E}">
        <p14:creationId xmlns:p14="http://schemas.microsoft.com/office/powerpoint/2010/main" val="411840696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80"/>
        <p:cNvGrpSpPr/>
        <p:nvPr/>
      </p:nvGrpSpPr>
      <p:grpSpPr>
        <a:xfrm>
          <a:off x="0" y="0"/>
          <a:ext cx="0" cy="0"/>
          <a:chOff x="0" y="0"/>
          <a:chExt cx="0" cy="0"/>
        </a:xfrm>
      </p:grpSpPr>
      <p:sp>
        <p:nvSpPr>
          <p:cNvPr id="81" name="Google Shape;81;p19"/>
          <p:cNvSpPr txBox="1">
            <a:spLocks noGrp="1"/>
          </p:cNvSpPr>
          <p:nvPr>
            <p:ph type="body" idx="1"/>
          </p:nvPr>
        </p:nvSpPr>
        <p:spPr>
          <a:xfrm>
            <a:off x="609600" y="1524000"/>
            <a:ext cx="9364000" cy="4602400"/>
          </a:xfrm>
          <a:prstGeom prst="rect">
            <a:avLst/>
          </a:prstGeom>
          <a:noFill/>
          <a:ln>
            <a:noFill/>
          </a:ln>
        </p:spPr>
        <p:txBody>
          <a:bodyPr spcFirstLastPara="1" wrap="square" lIns="91425" tIns="91425" rIns="91425" bIns="91425" anchor="t" anchorCtr="0">
            <a:noAutofit/>
          </a:bodyPr>
          <a:lstStyle>
            <a:lvl1pPr marL="609585" marR="0" lvl="0" indent="-541853" algn="l">
              <a:lnSpc>
                <a:spcPct val="120000"/>
              </a:lnSpc>
              <a:spcBef>
                <a:spcPts val="0"/>
              </a:spcBef>
              <a:spcAft>
                <a:spcPts val="0"/>
              </a:spcAft>
              <a:buClr>
                <a:schemeClr val="accent2"/>
              </a:buClr>
              <a:buSzPts val="2800"/>
              <a:buFont typeface="Arial"/>
              <a:buChar char="•"/>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82" name="Google Shape;82;p19"/>
          <p:cNvSpPr txBox="1">
            <a:spLocks noGrp="1"/>
          </p:cNvSpPr>
          <p:nvPr>
            <p:ph type="sldNum" idx="12"/>
          </p:nvPr>
        </p:nvSpPr>
        <p:spPr>
          <a:xfrm>
            <a:off x="9297880" y="12329"/>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
        <p:nvSpPr>
          <p:cNvPr id="83" name="Google Shape;83;p19"/>
          <p:cNvSpPr txBox="1">
            <a:spLocks noGrp="1"/>
          </p:cNvSpPr>
          <p:nvPr>
            <p:ph type="title"/>
          </p:nvPr>
        </p:nvSpPr>
        <p:spPr>
          <a:xfrm>
            <a:off x="609600" y="419100"/>
            <a:ext cx="9245600" cy="9524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3100"/>
              <a:buFont typeface="Arial"/>
              <a:buNone/>
              <a:defRPr sz="4133"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800"/>
              <a:buFont typeface="Arial"/>
              <a:buNone/>
              <a:defRPr sz="2400"/>
            </a:lvl2pPr>
            <a:lvl3pPr lvl="2" algn="l">
              <a:lnSpc>
                <a:spcPct val="100000"/>
              </a:lnSpc>
              <a:spcBef>
                <a:spcPts val="0"/>
              </a:spcBef>
              <a:spcAft>
                <a:spcPts val="0"/>
              </a:spcAft>
              <a:buSzPts val="1800"/>
              <a:buFont typeface="Arial"/>
              <a:buNone/>
              <a:defRPr sz="2400"/>
            </a:lvl3pPr>
            <a:lvl4pPr lvl="3" algn="l">
              <a:lnSpc>
                <a:spcPct val="100000"/>
              </a:lnSpc>
              <a:spcBef>
                <a:spcPts val="0"/>
              </a:spcBef>
              <a:spcAft>
                <a:spcPts val="0"/>
              </a:spcAft>
              <a:buSzPts val="1800"/>
              <a:buFont typeface="Arial"/>
              <a:buNone/>
              <a:defRPr sz="2400"/>
            </a:lvl4pPr>
            <a:lvl5pPr lvl="4" algn="l">
              <a:lnSpc>
                <a:spcPct val="100000"/>
              </a:lnSpc>
              <a:spcBef>
                <a:spcPts val="0"/>
              </a:spcBef>
              <a:spcAft>
                <a:spcPts val="0"/>
              </a:spcAft>
              <a:buSzPts val="1800"/>
              <a:buFont typeface="Arial"/>
              <a:buNone/>
              <a:defRPr sz="2400"/>
            </a:lvl5pPr>
            <a:lvl6pPr lvl="5" algn="l">
              <a:lnSpc>
                <a:spcPct val="100000"/>
              </a:lnSpc>
              <a:spcBef>
                <a:spcPts val="0"/>
              </a:spcBef>
              <a:spcAft>
                <a:spcPts val="0"/>
              </a:spcAft>
              <a:buSzPts val="1800"/>
              <a:buFont typeface="Arial"/>
              <a:buNone/>
              <a:defRPr sz="2400"/>
            </a:lvl6pPr>
            <a:lvl7pPr lvl="6" algn="l">
              <a:lnSpc>
                <a:spcPct val="100000"/>
              </a:lnSpc>
              <a:spcBef>
                <a:spcPts val="0"/>
              </a:spcBef>
              <a:spcAft>
                <a:spcPts val="0"/>
              </a:spcAft>
              <a:buSzPts val="1800"/>
              <a:buFont typeface="Arial"/>
              <a:buNone/>
              <a:defRPr sz="2400"/>
            </a:lvl7pPr>
            <a:lvl8pPr lvl="7" algn="l">
              <a:lnSpc>
                <a:spcPct val="100000"/>
              </a:lnSpc>
              <a:spcBef>
                <a:spcPts val="0"/>
              </a:spcBef>
              <a:spcAft>
                <a:spcPts val="0"/>
              </a:spcAft>
              <a:buSzPts val="1800"/>
              <a:buFont typeface="Arial"/>
              <a:buNone/>
              <a:defRPr sz="2400"/>
            </a:lvl8pPr>
            <a:lvl9pPr lvl="8" algn="l">
              <a:lnSpc>
                <a:spcPct val="100000"/>
              </a:lnSpc>
              <a:spcBef>
                <a:spcPts val="0"/>
              </a:spcBef>
              <a:spcAft>
                <a:spcPts val="0"/>
              </a:spcAft>
              <a:buSzPts val="1800"/>
              <a:buFont typeface="Arial"/>
              <a:buNone/>
              <a:defRPr sz="2400"/>
            </a:lvl9pPr>
          </a:lstStyle>
          <a:p>
            <a:endParaRPr/>
          </a:p>
        </p:txBody>
      </p:sp>
      <p:pic>
        <p:nvPicPr>
          <p:cNvPr id="84" name="Google Shape;84;p19"/>
          <p:cNvPicPr preferRelativeResize="0"/>
          <p:nvPr/>
        </p:nvPicPr>
        <p:blipFill rotWithShape="1">
          <a:blip r:embed="rId2">
            <a:alphaModFix amt="85000"/>
          </a:blip>
          <a:srcRect/>
          <a:stretch/>
        </p:blipFill>
        <p:spPr>
          <a:xfrm>
            <a:off x="9642877" y="-38099"/>
            <a:ext cx="1873321" cy="2422668"/>
          </a:xfrm>
          <a:prstGeom prst="rect">
            <a:avLst/>
          </a:prstGeom>
          <a:noFill/>
          <a:ln>
            <a:noFill/>
          </a:ln>
        </p:spPr>
      </p:pic>
    </p:spTree>
    <p:extLst>
      <p:ext uri="{BB962C8B-B14F-4D97-AF65-F5344CB8AC3E}">
        <p14:creationId xmlns:p14="http://schemas.microsoft.com/office/powerpoint/2010/main" val="999173702"/>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matchingName="1_Final Slide">
  <p:cSld name="1_Final Slide">
    <p:spTree>
      <p:nvGrpSpPr>
        <p:cNvPr id="1" name="Shape 85"/>
        <p:cNvGrpSpPr/>
        <p:nvPr/>
      </p:nvGrpSpPr>
      <p:grpSpPr>
        <a:xfrm>
          <a:off x="0" y="0"/>
          <a:ext cx="0" cy="0"/>
          <a:chOff x="0" y="0"/>
          <a:chExt cx="0" cy="0"/>
        </a:xfrm>
      </p:grpSpPr>
      <p:pic>
        <p:nvPicPr>
          <p:cNvPr id="86" name="Google Shape;86;p20" descr="HF_PPT_cover.jpg"/>
          <p:cNvPicPr preferRelativeResize="0"/>
          <p:nvPr/>
        </p:nvPicPr>
        <p:blipFill rotWithShape="1">
          <a:blip r:embed="rId2">
            <a:alphaModFix/>
          </a:blip>
          <a:srcRect/>
          <a:stretch/>
        </p:blipFill>
        <p:spPr>
          <a:xfrm>
            <a:off x="-169334" y="-198754"/>
            <a:ext cx="9371427" cy="7062388"/>
          </a:xfrm>
          <a:prstGeom prst="rect">
            <a:avLst/>
          </a:prstGeom>
          <a:noFill/>
          <a:ln>
            <a:noFill/>
          </a:ln>
        </p:spPr>
      </p:pic>
      <p:sp>
        <p:nvSpPr>
          <p:cNvPr id="87" name="Google Shape;87;p20"/>
          <p:cNvSpPr txBox="1"/>
          <p:nvPr/>
        </p:nvSpPr>
        <p:spPr>
          <a:xfrm>
            <a:off x="457200" y="2500313"/>
            <a:ext cx="6238000" cy="1805200"/>
          </a:xfrm>
          <a:prstGeom prst="rect">
            <a:avLst/>
          </a:prstGeom>
          <a:noFill/>
          <a:ln>
            <a:noFill/>
          </a:ln>
        </p:spPr>
        <p:txBody>
          <a:bodyPr spcFirstLastPara="1" wrap="square" lIns="121900" tIns="60933" rIns="121900" bIns="60933" anchor="t" anchorCtr="0">
            <a:noAutofit/>
          </a:bodyPr>
          <a:lstStyle/>
          <a:p>
            <a:pPr marL="0" marR="0" lvl="0" indent="0" algn="l" defTabSz="1219170" rtl="0" eaLnBrk="1" fontAlgn="auto" latinLnBrk="0" hangingPunct="1">
              <a:lnSpc>
                <a:spcPct val="85000"/>
              </a:lnSpc>
              <a:spcBef>
                <a:spcPts val="0"/>
              </a:spcBef>
              <a:spcAft>
                <a:spcPts val="0"/>
              </a:spcAft>
              <a:buClr>
                <a:srgbClr val="002C46"/>
              </a:buClr>
              <a:buSzPts val="4400"/>
              <a:buFont typeface="Arial"/>
              <a:buNone/>
              <a:tabLst/>
              <a:defRPr/>
            </a:pPr>
            <a:endParaRPr kumimoji="0" sz="5867" b="0" i="0" u="none" strike="noStrike" kern="0" cap="none" spc="0" normalizeH="0" baseline="0" noProof="0">
              <a:ln>
                <a:noFill/>
              </a:ln>
              <a:solidFill>
                <a:srgbClr val="001623"/>
              </a:solidFill>
              <a:effectLst/>
              <a:uLnTx/>
              <a:uFillTx/>
              <a:latin typeface="PT Sans"/>
              <a:ea typeface="PT Sans"/>
              <a:cs typeface="PT Sans"/>
              <a:sym typeface="PT Sans"/>
            </a:endParaRPr>
          </a:p>
        </p:txBody>
      </p:sp>
      <p:sp>
        <p:nvSpPr>
          <p:cNvPr id="88" name="Google Shape;88;p20"/>
          <p:cNvSpPr txBox="1">
            <a:spLocks noGrp="1"/>
          </p:cNvSpPr>
          <p:nvPr>
            <p:ph type="body" idx="1"/>
          </p:nvPr>
        </p:nvSpPr>
        <p:spPr>
          <a:xfrm>
            <a:off x="575733" y="2476501"/>
            <a:ext cx="6146800" cy="1930400"/>
          </a:xfrm>
          <a:prstGeom prst="rect">
            <a:avLst/>
          </a:prstGeom>
          <a:noFill/>
          <a:ln>
            <a:noFill/>
          </a:ln>
        </p:spPr>
        <p:txBody>
          <a:bodyPr spcFirstLastPara="1" wrap="square" lIns="91425" tIns="91425" rIns="91425" bIns="91425" anchor="t" anchorCtr="0">
            <a:noAutofit/>
          </a:bodyPr>
          <a:lstStyle>
            <a:lvl1pPr marL="609585" marR="0" lvl="0" indent="-304792" algn="l">
              <a:lnSpc>
                <a:spcPct val="120000"/>
              </a:lnSpc>
              <a:spcBef>
                <a:spcPts val="0"/>
              </a:spcBef>
              <a:spcAft>
                <a:spcPts val="0"/>
              </a:spcAft>
              <a:buClr>
                <a:schemeClr val="accent2"/>
              </a:buClr>
              <a:buSzPts val="2800"/>
              <a:buFont typeface="Arial"/>
              <a:buNone/>
              <a:defRPr sz="3733" b="0" i="0" u="none" strike="noStrike" cap="none">
                <a:solidFill>
                  <a:srgbClr val="FFFFFF"/>
                </a:solidFill>
                <a:latin typeface="Arial"/>
                <a:ea typeface="Arial"/>
                <a:cs typeface="Arial"/>
                <a:sym typeface="Arial"/>
              </a:defRPr>
            </a:lvl1pPr>
            <a:lvl2pPr marL="1219170" marR="0" lvl="1" indent="-507987" algn="l">
              <a:lnSpc>
                <a:spcPct val="120000"/>
              </a:lnSpc>
              <a:spcBef>
                <a:spcPts val="0"/>
              </a:spcBef>
              <a:spcAft>
                <a:spcPts val="0"/>
              </a:spcAft>
              <a:buClr>
                <a:schemeClr val="accent2"/>
              </a:buClr>
              <a:buSzPts val="2400"/>
              <a:buFont typeface="Arial"/>
              <a:buChar char="–"/>
              <a:defRPr sz="3200" b="0" i="0" u="none" strike="noStrike" cap="none">
                <a:solidFill>
                  <a:srgbClr val="FFFFFF"/>
                </a:solidFill>
                <a:latin typeface="Arial"/>
                <a:ea typeface="Arial"/>
                <a:cs typeface="Arial"/>
                <a:sym typeface="Arial"/>
              </a:defRPr>
            </a:lvl2pPr>
            <a:lvl3pPr marL="1828754" marR="0" lvl="2" indent="-474121" algn="l">
              <a:lnSpc>
                <a:spcPct val="120000"/>
              </a:lnSpc>
              <a:spcBef>
                <a:spcPts val="0"/>
              </a:spcBef>
              <a:spcAft>
                <a:spcPts val="0"/>
              </a:spcAft>
              <a:buClr>
                <a:schemeClr val="accent2"/>
              </a:buClr>
              <a:buSzPts val="2000"/>
              <a:buFont typeface="Arial"/>
              <a:buChar char="•"/>
              <a:defRPr sz="2667" b="0" i="0" u="none" strike="noStrike" cap="none">
                <a:solidFill>
                  <a:srgbClr val="FFFFFF"/>
                </a:solidFill>
                <a:latin typeface="Arial"/>
                <a:ea typeface="Arial"/>
                <a:cs typeface="Arial"/>
                <a:sym typeface="Arial"/>
              </a:defRPr>
            </a:lvl3pPr>
            <a:lvl4pPr marL="2438339" marR="0" lvl="3"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4pPr>
            <a:lvl5pPr marL="3047924" marR="0" lvl="4" indent="-457189" algn="l">
              <a:lnSpc>
                <a:spcPct val="120000"/>
              </a:lnSpc>
              <a:spcBef>
                <a:spcPts val="0"/>
              </a:spcBef>
              <a:spcAft>
                <a:spcPts val="0"/>
              </a:spcAft>
              <a:buClr>
                <a:schemeClr val="accent2"/>
              </a:buClr>
              <a:buSzPts val="1800"/>
              <a:buFont typeface="Arial"/>
              <a:buChar char="»"/>
              <a:defRPr sz="2400" b="0" i="0" u="none" strike="noStrike" cap="none">
                <a:solidFill>
                  <a:srgbClr val="FFFFFF"/>
                </a:solidFill>
                <a:latin typeface="Arial"/>
                <a:ea typeface="Arial"/>
                <a:cs typeface="Arial"/>
                <a:sym typeface="Arial"/>
              </a:defRPr>
            </a:lvl5pPr>
            <a:lvl6pPr marL="3657509" marR="0" lvl="5"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6pPr>
            <a:lvl7pPr marL="4267093" marR="0" lvl="6"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7pPr>
            <a:lvl8pPr marL="4876678" marR="0" lvl="7"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8pPr>
            <a:lvl9pPr marL="5486263" marR="0" lvl="8" indent="-474121" algn="l">
              <a:lnSpc>
                <a:spcPct val="100000"/>
              </a:lnSpc>
              <a:spcBef>
                <a:spcPts val="533"/>
              </a:spcBef>
              <a:spcAft>
                <a:spcPts val="0"/>
              </a:spcAft>
              <a:buClr>
                <a:schemeClr val="dk1"/>
              </a:buClr>
              <a:buSzPts val="2000"/>
              <a:buFont typeface="Arial"/>
              <a:buChar char="•"/>
              <a:defRPr sz="26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84690506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2400"/>
              <a:buFont typeface="Arial"/>
              <a:buNone/>
              <a:defRPr sz="3200"/>
            </a:lvl2pPr>
            <a:lvl3pPr lvl="2" algn="l">
              <a:lnSpc>
                <a:spcPct val="100000"/>
              </a:lnSpc>
              <a:spcBef>
                <a:spcPts val="0"/>
              </a:spcBef>
              <a:spcAft>
                <a:spcPts val="0"/>
              </a:spcAft>
              <a:buSzPts val="2400"/>
              <a:buFont typeface="Arial"/>
              <a:buNone/>
              <a:defRPr sz="3200"/>
            </a:lvl3pPr>
            <a:lvl4pPr lvl="3" algn="l">
              <a:lnSpc>
                <a:spcPct val="100000"/>
              </a:lnSpc>
              <a:spcBef>
                <a:spcPts val="0"/>
              </a:spcBef>
              <a:spcAft>
                <a:spcPts val="0"/>
              </a:spcAft>
              <a:buSzPts val="2400"/>
              <a:buFont typeface="Arial"/>
              <a:buNone/>
              <a:defRPr sz="3200"/>
            </a:lvl4pPr>
            <a:lvl5pPr lvl="4" algn="l">
              <a:lnSpc>
                <a:spcPct val="100000"/>
              </a:lnSpc>
              <a:spcBef>
                <a:spcPts val="0"/>
              </a:spcBef>
              <a:spcAft>
                <a:spcPts val="0"/>
              </a:spcAft>
              <a:buSzPts val="2400"/>
              <a:buFont typeface="Arial"/>
              <a:buNone/>
              <a:defRPr sz="3200"/>
            </a:lvl5pPr>
            <a:lvl6pPr lvl="5" algn="l">
              <a:lnSpc>
                <a:spcPct val="100000"/>
              </a:lnSpc>
              <a:spcBef>
                <a:spcPts val="0"/>
              </a:spcBef>
              <a:spcAft>
                <a:spcPts val="0"/>
              </a:spcAft>
              <a:buSzPts val="2400"/>
              <a:buFont typeface="Arial"/>
              <a:buNone/>
              <a:defRPr sz="3200"/>
            </a:lvl6pPr>
            <a:lvl7pPr lvl="6" algn="l">
              <a:lnSpc>
                <a:spcPct val="100000"/>
              </a:lnSpc>
              <a:spcBef>
                <a:spcPts val="0"/>
              </a:spcBef>
              <a:spcAft>
                <a:spcPts val="0"/>
              </a:spcAft>
              <a:buSzPts val="2400"/>
              <a:buFont typeface="Arial"/>
              <a:buNone/>
              <a:defRPr sz="3200"/>
            </a:lvl7pPr>
            <a:lvl8pPr lvl="7" algn="l">
              <a:lnSpc>
                <a:spcPct val="100000"/>
              </a:lnSpc>
              <a:spcBef>
                <a:spcPts val="0"/>
              </a:spcBef>
              <a:spcAft>
                <a:spcPts val="0"/>
              </a:spcAft>
              <a:buSzPts val="2400"/>
              <a:buFont typeface="Arial"/>
              <a:buNone/>
              <a:defRPr sz="3200"/>
            </a:lvl8pPr>
            <a:lvl9pPr lvl="8" algn="l">
              <a:lnSpc>
                <a:spcPct val="100000"/>
              </a:lnSpc>
              <a:spcBef>
                <a:spcPts val="0"/>
              </a:spcBef>
              <a:spcAft>
                <a:spcPts val="0"/>
              </a:spcAft>
              <a:buSzPts val="2400"/>
              <a:buFont typeface="Arial"/>
              <a:buNone/>
              <a:defRPr sz="3200"/>
            </a:lvl9pPr>
          </a:lstStyle>
          <a:p>
            <a:endParaRPr/>
          </a:p>
        </p:txBody>
      </p:sp>
      <p:sp>
        <p:nvSpPr>
          <p:cNvPr id="91" name="Google Shape;91;p21"/>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marR="0" lvl="0"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1pPr>
            <a:lvl2pPr marL="1219170" marR="0" lvl="1"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2pPr>
            <a:lvl3pPr marL="1828754" marR="0" lvl="2"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3pPr>
            <a:lvl4pPr marL="2438339" marR="0" lvl="3"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4pPr>
            <a:lvl5pPr marL="3047924" marR="0" lvl="4" indent="-406390" algn="l">
              <a:lnSpc>
                <a:spcPct val="120000"/>
              </a:lnSpc>
              <a:spcBef>
                <a:spcPts val="0"/>
              </a:spcBef>
              <a:spcAft>
                <a:spcPts val="0"/>
              </a:spcAft>
              <a:buClr>
                <a:schemeClr val="accent2"/>
              </a:buClr>
              <a:buSzPts val="1200"/>
              <a:buFont typeface="Arial"/>
              <a:buChar char="»"/>
              <a:defRPr sz="1600" b="0" i="0" u="none" strike="noStrike" cap="none">
                <a:solidFill>
                  <a:srgbClr val="FFFFFF"/>
                </a:solidFill>
                <a:latin typeface="Arial"/>
                <a:ea typeface="Arial"/>
                <a:cs typeface="Arial"/>
                <a:sym typeface="Arial"/>
              </a:defRPr>
            </a:lvl5pPr>
            <a:lvl6pPr marL="3657509" marR="0" lvl="5"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21"/>
          <p:cNvSpPr txBox="1">
            <a:spLocks noGrp="1"/>
          </p:cNvSpPr>
          <p:nvPr>
            <p:ph type="sldNum" idx="12"/>
          </p:nvPr>
        </p:nvSpPr>
        <p:spPr>
          <a:xfrm>
            <a:off x="11296609" y="6217621"/>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300"/>
              <a:buFont typeface="Arial"/>
              <a:buNone/>
              <a:defRPr sz="1600" b="0" i="0" u="none" strike="noStrike" cap="none">
                <a:solidFill>
                  <a:srgbClr val="FFFFFF"/>
                </a:solidFill>
                <a:latin typeface="Arial"/>
                <a:ea typeface="Arial"/>
                <a:cs typeface="Arial"/>
                <a:sym typeface="Arial"/>
              </a:defRPr>
            </a:lvl9pPr>
          </a:lstStyle>
          <a:p>
            <a:pPr defTabSz="1219170"/>
            <a:fld id="{00000000-1234-1234-1234-123412341234}" type="slidenum">
              <a:rPr lang="en" kern="0" smtClean="0"/>
              <a:pPr defTabSz="1219170"/>
              <a:t>‹#›</a:t>
            </a:fld>
            <a:endParaRPr lang="en" kern="0"/>
          </a:p>
        </p:txBody>
      </p:sp>
    </p:spTree>
    <p:extLst>
      <p:ext uri="{BB962C8B-B14F-4D97-AF65-F5344CB8AC3E}">
        <p14:creationId xmlns:p14="http://schemas.microsoft.com/office/powerpoint/2010/main" val="410900999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0D8481AF-14E4-4D4C-8B64-3C6AEF98BFE9}"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335353234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06E3C24-16ED-41A9-8564-EEFD5CF8A0A1}"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115346338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656549E4-3CE6-4923-A8BF-1904B94368F9}"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6073715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55B608E-AFDC-49DE-927A-6A06B01358B8}"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2697338765"/>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444CC55-44B9-403A-A4D1-99895C415E29}"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423258695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356182F-B2B3-43B1-89DE-F4C47302BE77}"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102089274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FDE57ED-D5A0-4911-9F92-F47B5322C4AC}"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17990851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C94ADF4-9104-408A-A595-E60608326546}"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3847154903"/>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7C82696A-DB5F-4C7E-82A1-7E96BE4B1A1D}"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63751280"/>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4DFE745-3F69-4844-865A-CF501781751B}"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80412587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3034C85-E6E2-48A1-8FED-721732166F8F}"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16448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21" Type="http://schemas.openxmlformats.org/officeDocument/2006/relationships/theme" Target="../theme/theme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21" Type="http://schemas.openxmlformats.org/officeDocument/2006/relationships/theme" Target="../theme/theme4.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heme" Target="../theme/theme5.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6.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3" Type="http://schemas.openxmlformats.org/officeDocument/2006/relationships/slideLayout" Target="../slideLayouts/slideLayout95.xml"/><Relationship Id="rId21" Type="http://schemas.openxmlformats.org/officeDocument/2006/relationships/theme" Target="../theme/theme7.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3" Type="http://schemas.openxmlformats.org/officeDocument/2006/relationships/slideLayout" Target="../slideLayouts/slideLayout115.xml"/><Relationship Id="rId21" Type="http://schemas.openxmlformats.org/officeDocument/2006/relationships/theme" Target="../theme/theme8.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0" Type="http://schemas.openxmlformats.org/officeDocument/2006/relationships/slideLayout" Target="../slideLayouts/slideLayout132.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slideLayout" Target="../slideLayouts/slideLayout145.xml"/><Relationship Id="rId18" Type="http://schemas.openxmlformats.org/officeDocument/2006/relationships/slideLayout" Target="../slideLayouts/slideLayout150.xml"/><Relationship Id="rId3" Type="http://schemas.openxmlformats.org/officeDocument/2006/relationships/slideLayout" Target="../slideLayouts/slideLayout135.xml"/><Relationship Id="rId21" Type="http://schemas.openxmlformats.org/officeDocument/2006/relationships/theme" Target="../theme/theme9.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17" Type="http://schemas.openxmlformats.org/officeDocument/2006/relationships/slideLayout" Target="../slideLayouts/slideLayout149.xml"/><Relationship Id="rId2" Type="http://schemas.openxmlformats.org/officeDocument/2006/relationships/slideLayout" Target="../slideLayouts/slideLayout134.xml"/><Relationship Id="rId16" Type="http://schemas.openxmlformats.org/officeDocument/2006/relationships/slideLayout" Target="../slideLayouts/slideLayout148.xml"/><Relationship Id="rId20" Type="http://schemas.openxmlformats.org/officeDocument/2006/relationships/slideLayout" Target="../slideLayouts/slideLayout152.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5" Type="http://schemas.openxmlformats.org/officeDocument/2006/relationships/slideLayout" Target="../slideLayouts/slideLayout147.xml"/><Relationship Id="rId10" Type="http://schemas.openxmlformats.org/officeDocument/2006/relationships/slideLayout" Target="../slideLayouts/slideLayout142.xml"/><Relationship Id="rId19" Type="http://schemas.openxmlformats.org/officeDocument/2006/relationships/slideLayout" Target="../slideLayouts/slideLayout151.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slideLayout" Target="../slideLayouts/slideLayout14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60.xml"/><Relationship Id="rId3" Type="http://schemas.openxmlformats.org/officeDocument/2006/relationships/slideLayout" Target="../slideLayouts/slideLayout155.xml"/><Relationship Id="rId7" Type="http://schemas.openxmlformats.org/officeDocument/2006/relationships/slideLayout" Target="../slideLayouts/slideLayout159.xml"/><Relationship Id="rId12" Type="http://schemas.openxmlformats.org/officeDocument/2006/relationships/theme" Target="../theme/theme10.xml"/><Relationship Id="rId2" Type="http://schemas.openxmlformats.org/officeDocument/2006/relationships/slideLayout" Target="../slideLayouts/slideLayout154.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slideLayout" Target="../slideLayouts/slideLayout163.xml"/><Relationship Id="rId5" Type="http://schemas.openxmlformats.org/officeDocument/2006/relationships/slideLayout" Target="../slideLayouts/slideLayout157.xml"/><Relationship Id="rId10" Type="http://schemas.openxmlformats.org/officeDocument/2006/relationships/slideLayout" Target="../slideLayouts/slideLayout162.xml"/><Relationship Id="rId4" Type="http://schemas.openxmlformats.org/officeDocument/2006/relationships/slideLayout" Target="../slideLayouts/slideLayout156.xml"/><Relationship Id="rId9" Type="http://schemas.openxmlformats.org/officeDocument/2006/relationships/slideLayout" Target="../slideLayouts/slideLayout16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71.xml"/><Relationship Id="rId13" Type="http://schemas.openxmlformats.org/officeDocument/2006/relationships/slideLayout" Target="../slideLayouts/slideLayout176.xml"/><Relationship Id="rId18" Type="http://schemas.openxmlformats.org/officeDocument/2006/relationships/slideLayout" Target="../slideLayouts/slideLayout181.xml"/><Relationship Id="rId3" Type="http://schemas.openxmlformats.org/officeDocument/2006/relationships/slideLayout" Target="../slideLayouts/slideLayout166.xml"/><Relationship Id="rId21" Type="http://schemas.openxmlformats.org/officeDocument/2006/relationships/theme" Target="../theme/theme11.xml"/><Relationship Id="rId7" Type="http://schemas.openxmlformats.org/officeDocument/2006/relationships/slideLayout" Target="../slideLayouts/slideLayout170.xml"/><Relationship Id="rId12" Type="http://schemas.openxmlformats.org/officeDocument/2006/relationships/slideLayout" Target="../slideLayouts/slideLayout175.xml"/><Relationship Id="rId17" Type="http://schemas.openxmlformats.org/officeDocument/2006/relationships/slideLayout" Target="../slideLayouts/slideLayout180.xml"/><Relationship Id="rId2" Type="http://schemas.openxmlformats.org/officeDocument/2006/relationships/slideLayout" Target="../slideLayouts/slideLayout165.xml"/><Relationship Id="rId16" Type="http://schemas.openxmlformats.org/officeDocument/2006/relationships/slideLayout" Target="../slideLayouts/slideLayout179.xml"/><Relationship Id="rId20" Type="http://schemas.openxmlformats.org/officeDocument/2006/relationships/slideLayout" Target="../slideLayouts/slideLayout183.xml"/><Relationship Id="rId1" Type="http://schemas.openxmlformats.org/officeDocument/2006/relationships/slideLayout" Target="../slideLayouts/slideLayout164.xml"/><Relationship Id="rId6" Type="http://schemas.openxmlformats.org/officeDocument/2006/relationships/slideLayout" Target="../slideLayouts/slideLayout169.xml"/><Relationship Id="rId11" Type="http://schemas.openxmlformats.org/officeDocument/2006/relationships/slideLayout" Target="../slideLayouts/slideLayout174.xml"/><Relationship Id="rId5" Type="http://schemas.openxmlformats.org/officeDocument/2006/relationships/slideLayout" Target="../slideLayouts/slideLayout168.xml"/><Relationship Id="rId15" Type="http://schemas.openxmlformats.org/officeDocument/2006/relationships/slideLayout" Target="../slideLayouts/slideLayout178.xml"/><Relationship Id="rId10" Type="http://schemas.openxmlformats.org/officeDocument/2006/relationships/slideLayout" Target="../slideLayouts/slideLayout173.xml"/><Relationship Id="rId19" Type="http://schemas.openxmlformats.org/officeDocument/2006/relationships/slideLayout" Target="../slideLayouts/slideLayout182.xml"/><Relationship Id="rId4" Type="http://schemas.openxmlformats.org/officeDocument/2006/relationships/slideLayout" Target="../slideLayouts/slideLayout167.xml"/><Relationship Id="rId9" Type="http://schemas.openxmlformats.org/officeDocument/2006/relationships/slideLayout" Target="../slideLayouts/slideLayout172.xml"/><Relationship Id="rId14" Type="http://schemas.openxmlformats.org/officeDocument/2006/relationships/slideLayout" Target="../slideLayouts/slideLayout177.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91.xml"/><Relationship Id="rId3" Type="http://schemas.openxmlformats.org/officeDocument/2006/relationships/slideLayout" Target="../slideLayouts/slideLayout186.xml"/><Relationship Id="rId7" Type="http://schemas.openxmlformats.org/officeDocument/2006/relationships/slideLayout" Target="../slideLayouts/slideLayout190.xml"/><Relationship Id="rId12" Type="http://schemas.openxmlformats.org/officeDocument/2006/relationships/theme" Target="../theme/theme12.xml"/><Relationship Id="rId2" Type="http://schemas.openxmlformats.org/officeDocument/2006/relationships/slideLayout" Target="../slideLayouts/slideLayout185.xml"/><Relationship Id="rId1" Type="http://schemas.openxmlformats.org/officeDocument/2006/relationships/slideLayout" Target="../slideLayouts/slideLayout184.xml"/><Relationship Id="rId6" Type="http://schemas.openxmlformats.org/officeDocument/2006/relationships/slideLayout" Target="../slideLayouts/slideLayout189.xml"/><Relationship Id="rId11" Type="http://schemas.openxmlformats.org/officeDocument/2006/relationships/slideLayout" Target="../slideLayouts/slideLayout194.xml"/><Relationship Id="rId5" Type="http://schemas.openxmlformats.org/officeDocument/2006/relationships/slideLayout" Target="../slideLayouts/slideLayout188.xml"/><Relationship Id="rId10" Type="http://schemas.openxmlformats.org/officeDocument/2006/relationships/slideLayout" Target="../slideLayouts/slideLayout193.xml"/><Relationship Id="rId4" Type="http://schemas.openxmlformats.org/officeDocument/2006/relationships/slideLayout" Target="../slideLayouts/slideLayout187.xml"/><Relationship Id="rId9" Type="http://schemas.openxmlformats.org/officeDocument/2006/relationships/slideLayout" Target="../slideLayouts/slideLayout19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02.xml"/><Relationship Id="rId13" Type="http://schemas.openxmlformats.org/officeDocument/2006/relationships/slideLayout" Target="../slideLayouts/slideLayout207.xml"/><Relationship Id="rId18" Type="http://schemas.openxmlformats.org/officeDocument/2006/relationships/slideLayout" Target="../slideLayouts/slideLayout212.xml"/><Relationship Id="rId3" Type="http://schemas.openxmlformats.org/officeDocument/2006/relationships/slideLayout" Target="../slideLayouts/slideLayout197.xml"/><Relationship Id="rId21" Type="http://schemas.openxmlformats.org/officeDocument/2006/relationships/theme" Target="../theme/theme13.xml"/><Relationship Id="rId7" Type="http://schemas.openxmlformats.org/officeDocument/2006/relationships/slideLayout" Target="../slideLayouts/slideLayout201.xml"/><Relationship Id="rId12" Type="http://schemas.openxmlformats.org/officeDocument/2006/relationships/slideLayout" Target="../slideLayouts/slideLayout206.xml"/><Relationship Id="rId17" Type="http://schemas.openxmlformats.org/officeDocument/2006/relationships/slideLayout" Target="../slideLayouts/slideLayout211.xml"/><Relationship Id="rId2" Type="http://schemas.openxmlformats.org/officeDocument/2006/relationships/slideLayout" Target="../slideLayouts/slideLayout196.xml"/><Relationship Id="rId16" Type="http://schemas.openxmlformats.org/officeDocument/2006/relationships/slideLayout" Target="../slideLayouts/slideLayout210.xml"/><Relationship Id="rId20" Type="http://schemas.openxmlformats.org/officeDocument/2006/relationships/slideLayout" Target="../slideLayouts/slideLayout214.xml"/><Relationship Id="rId1" Type="http://schemas.openxmlformats.org/officeDocument/2006/relationships/slideLayout" Target="../slideLayouts/slideLayout195.xml"/><Relationship Id="rId6" Type="http://schemas.openxmlformats.org/officeDocument/2006/relationships/slideLayout" Target="../slideLayouts/slideLayout200.xml"/><Relationship Id="rId11" Type="http://schemas.openxmlformats.org/officeDocument/2006/relationships/slideLayout" Target="../slideLayouts/slideLayout205.xml"/><Relationship Id="rId5" Type="http://schemas.openxmlformats.org/officeDocument/2006/relationships/slideLayout" Target="../slideLayouts/slideLayout199.xml"/><Relationship Id="rId15" Type="http://schemas.openxmlformats.org/officeDocument/2006/relationships/slideLayout" Target="../slideLayouts/slideLayout209.xml"/><Relationship Id="rId10" Type="http://schemas.openxmlformats.org/officeDocument/2006/relationships/slideLayout" Target="../slideLayouts/slideLayout204.xml"/><Relationship Id="rId19" Type="http://schemas.openxmlformats.org/officeDocument/2006/relationships/slideLayout" Target="../slideLayouts/slideLayout213.xml"/><Relationship Id="rId4" Type="http://schemas.openxmlformats.org/officeDocument/2006/relationships/slideLayout" Target="../slideLayouts/slideLayout198.xml"/><Relationship Id="rId9" Type="http://schemas.openxmlformats.org/officeDocument/2006/relationships/slideLayout" Target="../slideLayouts/slideLayout203.xml"/><Relationship Id="rId14" Type="http://schemas.openxmlformats.org/officeDocument/2006/relationships/slideLayout" Target="../slideLayouts/slideLayout208.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22.xml"/><Relationship Id="rId13" Type="http://schemas.openxmlformats.org/officeDocument/2006/relationships/slideLayout" Target="../slideLayouts/slideLayout227.xml"/><Relationship Id="rId18" Type="http://schemas.openxmlformats.org/officeDocument/2006/relationships/slideLayout" Target="../slideLayouts/slideLayout232.xml"/><Relationship Id="rId3" Type="http://schemas.openxmlformats.org/officeDocument/2006/relationships/slideLayout" Target="../slideLayouts/slideLayout217.xml"/><Relationship Id="rId21" Type="http://schemas.openxmlformats.org/officeDocument/2006/relationships/theme" Target="../theme/theme14.xml"/><Relationship Id="rId7" Type="http://schemas.openxmlformats.org/officeDocument/2006/relationships/slideLayout" Target="../slideLayouts/slideLayout221.xml"/><Relationship Id="rId12" Type="http://schemas.openxmlformats.org/officeDocument/2006/relationships/slideLayout" Target="../slideLayouts/slideLayout226.xml"/><Relationship Id="rId17" Type="http://schemas.openxmlformats.org/officeDocument/2006/relationships/slideLayout" Target="../slideLayouts/slideLayout231.xml"/><Relationship Id="rId2" Type="http://schemas.openxmlformats.org/officeDocument/2006/relationships/slideLayout" Target="../slideLayouts/slideLayout216.xml"/><Relationship Id="rId16" Type="http://schemas.openxmlformats.org/officeDocument/2006/relationships/slideLayout" Target="../slideLayouts/slideLayout230.xml"/><Relationship Id="rId20" Type="http://schemas.openxmlformats.org/officeDocument/2006/relationships/slideLayout" Target="../slideLayouts/slideLayout234.xml"/><Relationship Id="rId1" Type="http://schemas.openxmlformats.org/officeDocument/2006/relationships/slideLayout" Target="../slideLayouts/slideLayout215.xml"/><Relationship Id="rId6" Type="http://schemas.openxmlformats.org/officeDocument/2006/relationships/slideLayout" Target="../slideLayouts/slideLayout220.xml"/><Relationship Id="rId11" Type="http://schemas.openxmlformats.org/officeDocument/2006/relationships/slideLayout" Target="../slideLayouts/slideLayout225.xml"/><Relationship Id="rId5" Type="http://schemas.openxmlformats.org/officeDocument/2006/relationships/slideLayout" Target="../slideLayouts/slideLayout219.xml"/><Relationship Id="rId15" Type="http://schemas.openxmlformats.org/officeDocument/2006/relationships/slideLayout" Target="../slideLayouts/slideLayout229.xml"/><Relationship Id="rId10" Type="http://schemas.openxmlformats.org/officeDocument/2006/relationships/slideLayout" Target="../slideLayouts/slideLayout224.xml"/><Relationship Id="rId19" Type="http://schemas.openxmlformats.org/officeDocument/2006/relationships/slideLayout" Target="../slideLayouts/slideLayout233.xml"/><Relationship Id="rId4" Type="http://schemas.openxmlformats.org/officeDocument/2006/relationships/slideLayout" Target="../slideLayouts/slideLayout218.xml"/><Relationship Id="rId9" Type="http://schemas.openxmlformats.org/officeDocument/2006/relationships/slideLayout" Target="../slideLayouts/slideLayout223.xml"/><Relationship Id="rId14" Type="http://schemas.openxmlformats.org/officeDocument/2006/relationships/slideLayout" Target="../slideLayouts/slideLayout228.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42.xml"/><Relationship Id="rId3" Type="http://schemas.openxmlformats.org/officeDocument/2006/relationships/slideLayout" Target="../slideLayouts/slideLayout237.xml"/><Relationship Id="rId7" Type="http://schemas.openxmlformats.org/officeDocument/2006/relationships/slideLayout" Target="../slideLayouts/slideLayout241.xml"/><Relationship Id="rId12" Type="http://schemas.openxmlformats.org/officeDocument/2006/relationships/theme" Target="../theme/theme15.xml"/><Relationship Id="rId2" Type="http://schemas.openxmlformats.org/officeDocument/2006/relationships/slideLayout" Target="../slideLayouts/slideLayout236.xml"/><Relationship Id="rId1" Type="http://schemas.openxmlformats.org/officeDocument/2006/relationships/slideLayout" Target="../slideLayouts/slideLayout235.xml"/><Relationship Id="rId6" Type="http://schemas.openxmlformats.org/officeDocument/2006/relationships/slideLayout" Target="../slideLayouts/slideLayout240.xml"/><Relationship Id="rId11" Type="http://schemas.openxmlformats.org/officeDocument/2006/relationships/slideLayout" Target="../slideLayouts/slideLayout245.xml"/><Relationship Id="rId5" Type="http://schemas.openxmlformats.org/officeDocument/2006/relationships/slideLayout" Target="../slideLayouts/slideLayout239.xml"/><Relationship Id="rId10" Type="http://schemas.openxmlformats.org/officeDocument/2006/relationships/slideLayout" Target="../slideLayouts/slideLayout244.xml"/><Relationship Id="rId4" Type="http://schemas.openxmlformats.org/officeDocument/2006/relationships/slideLayout" Target="../slideLayouts/slideLayout238.xml"/><Relationship Id="rId9" Type="http://schemas.openxmlformats.org/officeDocument/2006/relationships/slideLayout" Target="../slideLayouts/slideLayout2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CB07C3-ED0C-45B6-B831-EB9E61F5BD6A}" type="datetimeFigureOut">
              <a:rPr lang="en-IN" smtClean="0"/>
              <a:t>06-08-2026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9A10DC-ED65-46A4-ADA1-C490808C4AF1}" type="slidenum">
              <a:rPr lang="en-IN" smtClean="0"/>
              <a:t>‹#›</a:t>
            </a:fld>
            <a:endParaRPr lang="en-IN"/>
          </a:p>
        </p:txBody>
      </p:sp>
    </p:spTree>
    <p:extLst>
      <p:ext uri="{BB962C8B-B14F-4D97-AF65-F5344CB8AC3E}">
        <p14:creationId xmlns:p14="http://schemas.microsoft.com/office/powerpoint/2010/main" val="3800471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01384416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095048773"/>
      </p:ext>
    </p:extLst>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479193743"/>
      </p:ext>
    </p:extLst>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6DDAA58B-1345-43BA-831F-735B31133163}"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503979040"/>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6DDAA58B-1345-43BA-831F-735B31133163}"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924186211"/>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19521569"/>
      </p:ext>
    </p:extLst>
  </p:cSld>
  <p:clrMap bg1="lt1" tx1="dk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5795512"/>
      </p:ext>
    </p:extLst>
  </p:cSld>
  <p:clrMap bg1="lt1" tx1="dk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539331038"/>
      </p:ext>
    </p:extLst>
  </p:cSld>
  <p:clrMap bg1="lt1" tx1="dk1" bg2="dk2" tx2="lt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6DDAA58B-1345-43BA-831F-735B31133163}"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4076369339"/>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860760323"/>
      </p:ext>
    </p:extLst>
  </p:cSld>
  <p:clrMap bg1="lt1" tx1="dk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 id="2147483840" r:id="rId18"/>
    <p:sldLayoutId id="2147483841" r:id="rId19"/>
    <p:sldLayoutId id="2147483842"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6DDAA58B-1345-43BA-831F-735B31133163}"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832501859"/>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31549736"/>
      </p:ext>
    </p:extLst>
  </p:cSld>
  <p:clrMap bg1="lt1" tx1="dk1" bg2="dk2" tx2="lt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 id="2147483875"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274637"/>
            <a:ext cx="10972800" cy="1097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09600" y="1524000"/>
            <a:ext cx="10972800" cy="4602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20000"/>
              </a:lnSpc>
              <a:spcBef>
                <a:spcPts val="280"/>
              </a:spcBef>
              <a:spcAft>
                <a:spcPts val="0"/>
              </a:spcAft>
              <a:buClr>
                <a:schemeClr val="accent2"/>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983075672"/>
      </p:ext>
    </p:extLst>
  </p:cSld>
  <p:clrMap bg1="lt1" tx1="dk1" bg2="dk2" tx2="lt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 id="2147483894" r:id="rId18"/>
    <p:sldLayoutId id="2147483895" r:id="rId19"/>
    <p:sldLayoutId id="2147483896"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charset="0"/>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charset="0"/>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AF100007-F4D9-44D2-9483-65D26D269C3C}" type="slidenum">
              <a:rPr lang="en-US" altLang="en-US" smtClean="0">
                <a:solidFill>
                  <a:srgbClr val="000000"/>
                </a:solidFill>
                <a:cs typeface="Arial" panose="020B0604020202020204" pitchFamily="34" charset="0"/>
              </a:rPr>
              <a:pPr fontAlgn="base">
                <a:spcBef>
                  <a:spcPct val="0"/>
                </a:spcBef>
                <a:spcAft>
                  <a:spcPct val="0"/>
                </a:spcAft>
              </a:pPr>
              <a:t>‹#›</a:t>
            </a:fld>
            <a:endParaRPr lang="en-US" altLang="en-US" smtClean="0">
              <a:solidFill>
                <a:srgbClr val="000000"/>
              </a:solidFill>
              <a:cs typeface="Arial" panose="020B0604020202020204" pitchFamily="34" charset="0"/>
            </a:endParaRPr>
          </a:p>
        </p:txBody>
      </p:sp>
    </p:spTree>
    <p:extLst>
      <p:ext uri="{BB962C8B-B14F-4D97-AF65-F5344CB8AC3E}">
        <p14:creationId xmlns:p14="http://schemas.microsoft.com/office/powerpoint/2010/main" val="3347347311"/>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5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7.xml"/><Relationship Id="rId1" Type="http://schemas.openxmlformats.org/officeDocument/2006/relationships/slideLayout" Target="../slideLayouts/slideLayout51.xml"/><Relationship Id="rId4" Type="http://schemas.openxmlformats.org/officeDocument/2006/relationships/comments" Target="../comments/comment2.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88.xml"/></Relationships>
</file>

<file path=ppt/slides/_rels/slide2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88.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1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3.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13.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13.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1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13.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90.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0.xml"/></Relationships>
</file>

<file path=ppt/slides/_rels/slide4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4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4.xml"/></Relationships>
</file>

<file path=ppt/slides/_rels/slide5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7.xml"/></Relationships>
</file>

<file path=ppt/slides/_rels/slide5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7.xml"/></Relationships>
</file>

<file path=ppt/slides/_rels/slide5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7.xml"/></Relationships>
</file>

<file path=ppt/slides/_rels/slide5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5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72.xml"/><Relationship Id="rId1" Type="http://schemas.openxmlformats.org/officeDocument/2006/relationships/slideLayout" Target="../slideLayouts/slideLayout159.xml"/></Relationships>
</file>

<file path=ppt/slides/_rels/slide5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5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1.xml"/><Relationship Id="rId1" Type="http://schemas.openxmlformats.org/officeDocument/2006/relationships/slideLayout" Target="../slideLayouts/slideLayout159.xml"/></Relationships>
</file>

<file path=ppt/slides/_rels/slide5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5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6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2.xml"/><Relationship Id="rId1" Type="http://schemas.openxmlformats.org/officeDocument/2006/relationships/slideLayout" Target="../slideLayouts/slideLayout159.xml"/></Relationships>
</file>

<file path=ppt/slides/_rels/slide6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59.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59.xml"/><Relationship Id="rId1" Type="http://schemas.openxmlformats.org/officeDocument/2006/relationships/vmlDrawing" Target="../drawings/vmlDrawing1.vml"/><Relationship Id="rId5" Type="http://schemas.openxmlformats.org/officeDocument/2006/relationships/slide" Target="slide1.xml"/><Relationship Id="rId4" Type="http://schemas.openxmlformats.org/officeDocument/2006/relationships/image" Target="../media/image21.wmf"/></Relationships>
</file>

<file path=ppt/slides/_rels/slide6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3.xml"/><Relationship Id="rId1" Type="http://schemas.openxmlformats.org/officeDocument/2006/relationships/slideLayout" Target="../slideLayouts/slideLayout1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5.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195.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19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95.xml"/></Relationships>
</file>

<file path=ppt/slides/_rels/slide8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19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1.xml"/><Relationship Id="rId1" Type="http://schemas.openxmlformats.org/officeDocument/2006/relationships/slideLayout" Target="../slideLayouts/slideLayout195.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2.xml"/><Relationship Id="rId1" Type="http://schemas.openxmlformats.org/officeDocument/2006/relationships/slideLayout" Target="../slideLayouts/slideLayout195.xml"/></Relationships>
</file>

<file path=ppt/slides/_rels/slide8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2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1.xml"/></Relationships>
</file>

<file path=ppt/slides/_rels/slide9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4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4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4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4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ASC 2026</a:t>
            </a:r>
            <a:endParaRPr lang="en-IN" dirty="0"/>
          </a:p>
        </p:txBody>
      </p:sp>
      <p:sp>
        <p:nvSpPr>
          <p:cNvPr id="3" name="Subtitle 2"/>
          <p:cNvSpPr>
            <a:spLocks noGrp="1"/>
          </p:cNvSpPr>
          <p:nvPr>
            <p:ph type="subTitle" idx="1"/>
          </p:nvPr>
        </p:nvSpPr>
        <p:spPr/>
        <p:txBody>
          <a:bodyPr/>
          <a:lstStyle/>
          <a:p>
            <a:r>
              <a:rPr lang="en-IN" dirty="0" smtClean="0"/>
              <a:t>UNIT 1 </a:t>
            </a:r>
            <a:endParaRPr lang="en-IN" dirty="0"/>
          </a:p>
        </p:txBody>
      </p:sp>
    </p:spTree>
    <p:extLst>
      <p:ext uri="{BB962C8B-B14F-4D97-AF65-F5344CB8AC3E}">
        <p14:creationId xmlns:p14="http://schemas.microsoft.com/office/powerpoint/2010/main" val="33899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75988" y="350729"/>
            <a:ext cx="10039611" cy="5826234"/>
          </a:xfrm>
        </p:spPr>
        <p:txBody>
          <a:bodyPr>
            <a:normAutofit fontScale="92500" lnSpcReduction="20000"/>
          </a:bodyPr>
          <a:lstStyle/>
          <a:p>
            <a:pPr lvl="1"/>
            <a:r>
              <a:rPr lang="en-US" dirty="0"/>
              <a:t>Unit - I Units and Measurements</a:t>
            </a:r>
          </a:p>
          <a:p>
            <a:r>
              <a:rPr lang="en-IN" dirty="0"/>
              <a:t>1.1 Unit, physical quantities: fundamental and derived quantities</a:t>
            </a:r>
          </a:p>
          <a:p>
            <a:r>
              <a:rPr lang="en-US" dirty="0"/>
              <a:t>and their units Systems of units: CGS, MKS and SI .</a:t>
            </a:r>
          </a:p>
          <a:p>
            <a:r>
              <a:rPr lang="en-US" dirty="0"/>
              <a:t>1.2 Scalar and Vector Physical Quantities, vector operation</a:t>
            </a:r>
          </a:p>
          <a:p>
            <a:r>
              <a:rPr lang="en-IN" dirty="0"/>
              <a:t>(</a:t>
            </a:r>
            <a:r>
              <a:rPr lang="en-IN" dirty="0" err="1"/>
              <a:t>addition,substraction</a:t>
            </a:r>
            <a:r>
              <a:rPr lang="en-IN" dirty="0"/>
              <a:t>, multiplication).</a:t>
            </a:r>
          </a:p>
          <a:p>
            <a:r>
              <a:rPr lang="en-IN" dirty="0"/>
              <a:t>1.3 Dimensions, dimensional formula ,Applications of dimensional</a:t>
            </a:r>
          </a:p>
          <a:p>
            <a:r>
              <a:rPr lang="en-US" dirty="0"/>
              <a:t>analysis; correctness of physical equations ,conversion factor for</a:t>
            </a:r>
          </a:p>
          <a:p>
            <a:r>
              <a:rPr lang="en-US" dirty="0"/>
              <a:t>interconversion of units in different systems of units.</a:t>
            </a:r>
          </a:p>
          <a:p>
            <a:r>
              <a:rPr lang="en-US" dirty="0"/>
              <a:t>1.4 Errors, types of errors: instrumental, systematic and random</a:t>
            </a:r>
          </a:p>
          <a:p>
            <a:r>
              <a:rPr lang="en-US" dirty="0"/>
              <a:t>error, estimation of errors: absolute, relative and percentage error,</a:t>
            </a:r>
          </a:p>
          <a:p>
            <a:r>
              <a:rPr lang="en-IN" dirty="0"/>
              <a:t>significant figures.</a:t>
            </a:r>
          </a:p>
          <a:p>
            <a:r>
              <a:rPr lang="en-IN" dirty="0"/>
              <a:t>1.5 Ancient astronomical </a:t>
            </a:r>
            <a:r>
              <a:rPr lang="en-IN" dirty="0" err="1"/>
              <a:t>instruments:Chakra</a:t>
            </a:r>
            <a:r>
              <a:rPr lang="en-IN" dirty="0"/>
              <a:t>, </a:t>
            </a:r>
            <a:r>
              <a:rPr lang="en-IN" dirty="0" err="1"/>
              <a:t>Dhanuryatra</a:t>
            </a:r>
            <a:r>
              <a:rPr lang="en-IN" dirty="0"/>
              <a:t> , </a:t>
            </a:r>
            <a:r>
              <a:rPr lang="en-IN" dirty="0" err="1"/>
              <a:t>Yasti</a:t>
            </a:r>
            <a:endParaRPr lang="en-IN" dirty="0"/>
          </a:p>
          <a:p>
            <a:r>
              <a:rPr lang="en-IN" dirty="0"/>
              <a:t>and </a:t>
            </a:r>
            <a:r>
              <a:rPr lang="en-IN" dirty="0" err="1"/>
              <a:t>Phalaka</a:t>
            </a:r>
            <a:r>
              <a:rPr lang="en-IN" dirty="0"/>
              <a:t> </a:t>
            </a:r>
            <a:r>
              <a:rPr lang="en-IN" dirty="0" err="1"/>
              <a:t>yantra</a:t>
            </a:r>
            <a:r>
              <a:rPr lang="en-IN" dirty="0"/>
              <a:t> .</a:t>
            </a:r>
          </a:p>
          <a:p>
            <a:r>
              <a:rPr lang="en-IN" dirty="0"/>
              <a:t>1.6 Applications of Vernier </a:t>
            </a:r>
            <a:r>
              <a:rPr lang="en-IN" dirty="0" err="1"/>
              <a:t>calipers</a:t>
            </a:r>
            <a:r>
              <a:rPr lang="en-IN" dirty="0"/>
              <a:t> , Screw gauge .</a:t>
            </a:r>
          </a:p>
        </p:txBody>
      </p:sp>
    </p:spTree>
    <p:extLst>
      <p:ext uri="{BB962C8B-B14F-4D97-AF65-F5344CB8AC3E}">
        <p14:creationId xmlns:p14="http://schemas.microsoft.com/office/powerpoint/2010/main" val="337349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6" name="Google Shape;806;p81"/>
          <p:cNvSpPr txBox="1"/>
          <p:nvPr/>
        </p:nvSpPr>
        <p:spPr>
          <a:xfrm>
            <a:off x="0" y="12333"/>
            <a:ext cx="12142800" cy="6845600"/>
          </a:xfrm>
          <a:prstGeom prst="rect">
            <a:avLst/>
          </a:prstGeom>
          <a:noFill/>
          <a:ln>
            <a:noFill/>
          </a:ln>
        </p:spPr>
        <p:txBody>
          <a:bodyPr spcFirstLastPara="1" wrap="square" lIns="121900" tIns="121900" rIns="121900" bIns="121900" anchor="ctr" anchorCtr="0">
            <a:noAutofit/>
          </a:bodyPr>
          <a:lstStyle/>
          <a:p>
            <a:pPr algn="ctr" defTabSz="1219170">
              <a:lnSpc>
                <a:spcPct val="150000"/>
              </a:lnSpc>
              <a:buClr>
                <a:srgbClr val="000000"/>
              </a:buClr>
              <a:defRPr/>
            </a:pPr>
            <a:r>
              <a:rPr lang="en-IN" sz="6000" kern="0" dirty="0">
                <a:solidFill>
                  <a:srgbClr val="FFFFFF"/>
                </a:solidFill>
                <a:latin typeface="Cambria Math"/>
                <a:ea typeface="Cambria Math"/>
                <a:cs typeface="Cambria Math"/>
                <a:sym typeface="Cambria Math"/>
              </a:rPr>
              <a:t>1.1 Unit, physical quantities: fundamental and derived quantities</a:t>
            </a:r>
          </a:p>
          <a:p>
            <a:pPr algn="ctr" defTabSz="1219170">
              <a:lnSpc>
                <a:spcPct val="150000"/>
              </a:lnSpc>
              <a:buClr>
                <a:srgbClr val="000000"/>
              </a:buClr>
              <a:defRPr/>
            </a:pPr>
            <a:endParaRPr sz="6000" kern="0" dirty="0">
              <a:solidFill>
                <a:srgbClr val="FFFFFF"/>
              </a:solidFill>
              <a:latin typeface="Cambria Math"/>
              <a:ea typeface="Cambria Math"/>
              <a:cs typeface="Cambria Math"/>
              <a:sym typeface="Cambria Math"/>
            </a:endParaRPr>
          </a:p>
          <a:p>
            <a:pPr algn="ctr" defTabSz="1219170">
              <a:lnSpc>
                <a:spcPct val="150000"/>
              </a:lnSpc>
              <a:buClr>
                <a:srgbClr val="000000"/>
              </a:buClr>
            </a:pPr>
            <a:r>
              <a:rPr lang="en-US" sz="4000" kern="0" dirty="0">
                <a:solidFill>
                  <a:srgbClr val="FFFF00"/>
                </a:solidFill>
                <a:latin typeface="Cambria Math"/>
                <a:ea typeface="Cambria Math"/>
                <a:cs typeface="Cambria Math"/>
                <a:sym typeface="Cambria Math"/>
              </a:rPr>
              <a:t>Physical Quantities and Units </a:t>
            </a:r>
            <a:endParaRPr sz="1867" kern="0" dirty="0">
              <a:solidFill>
                <a:srgbClr val="000000"/>
              </a:solidFill>
              <a:latin typeface="Arial"/>
              <a:cs typeface="Arial"/>
              <a:sym typeface="Arial"/>
            </a:endParaRPr>
          </a:p>
        </p:txBody>
      </p:sp>
    </p:spTree>
    <p:extLst>
      <p:ext uri="{BB962C8B-B14F-4D97-AF65-F5344CB8AC3E}">
        <p14:creationId xmlns:p14="http://schemas.microsoft.com/office/powerpoint/2010/main" val="14358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6"/>
          <p:cNvSpPr txBox="1">
            <a:spLocks noGrp="1"/>
          </p:cNvSpPr>
          <p:nvPr>
            <p:ph type="body" idx="1"/>
          </p:nvPr>
        </p:nvSpPr>
        <p:spPr>
          <a:xfrm>
            <a:off x="313831" y="1090647"/>
            <a:ext cx="11897133" cy="5877983"/>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245" name="Google Shape;245;p3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fld id="{00000000-1234-1234-1234-123412341234}" type="slidenum">
              <a:rPr lang="en"/>
              <a:pPr/>
              <a:t>4</a:t>
            </a:fld>
            <a:endParaRPr dirty="0"/>
          </a:p>
        </p:txBody>
      </p:sp>
      <p:sp>
        <p:nvSpPr>
          <p:cNvPr id="246" name="Google Shape;246;p3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dirty="0">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247" name="Google Shape;247;p36"/>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a:r>
              <a:rPr lang="en" sz="2400" dirty="0">
                <a:solidFill>
                  <a:schemeClr val="bg1"/>
                </a:solidFill>
                <a:latin typeface="Cambria Math"/>
                <a:ea typeface="Cambria Math"/>
                <a:sym typeface="Cambria Math"/>
              </a:rPr>
              <a:t>Physical Quantity</a:t>
            </a:r>
            <a:endParaRPr sz="2400" dirty="0">
              <a:solidFill>
                <a:schemeClr val="bg1"/>
              </a:solidFill>
              <a:latin typeface="Cambria Math"/>
              <a:ea typeface="Cambria Math"/>
            </a:endParaRPr>
          </a:p>
        </p:txBody>
      </p:sp>
    </p:spTree>
    <p:extLst>
      <p:ext uri="{BB962C8B-B14F-4D97-AF65-F5344CB8AC3E}">
        <p14:creationId xmlns:p14="http://schemas.microsoft.com/office/powerpoint/2010/main" val="328410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6"/>
          <p:cNvSpPr txBox="1">
            <a:spLocks noGrp="1"/>
          </p:cNvSpPr>
          <p:nvPr>
            <p:ph type="body" idx="1"/>
          </p:nvPr>
        </p:nvSpPr>
        <p:spPr>
          <a:xfrm>
            <a:off x="313831" y="1090647"/>
            <a:ext cx="11897133" cy="5877983"/>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r>
              <a:rPr lang="en" sz="2933" b="1">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245" name="Google Shape;245;p3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5</a:t>
            </a:fld>
            <a:endParaRPr kern="0" dirty="0"/>
          </a:p>
        </p:txBody>
      </p:sp>
      <p:sp>
        <p:nvSpPr>
          <p:cNvPr id="246" name="Google Shape;246;p3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248" name="Google Shape;248;p36"/>
          <p:cNvSpPr/>
          <p:nvPr/>
        </p:nvSpPr>
        <p:spPr>
          <a:xfrm>
            <a:off x="8792569" y="1384833"/>
            <a:ext cx="2844800" cy="762800"/>
          </a:xfrm>
          <a:prstGeom prst="roundRect">
            <a:avLst>
              <a:gd name="adj" fmla="val 50000"/>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Can be Measured</a:t>
            </a:r>
            <a:endParaRPr sz="1867" kern="0" dirty="0">
              <a:solidFill>
                <a:srgbClr val="FFFFFF"/>
              </a:solidFill>
              <a:latin typeface="Arial"/>
              <a:cs typeface="Arial"/>
              <a:sym typeface="Arial"/>
            </a:endParaRPr>
          </a:p>
        </p:txBody>
      </p:sp>
      <p:cxnSp>
        <p:nvCxnSpPr>
          <p:cNvPr id="249" name="Google Shape;249;p36"/>
          <p:cNvCxnSpPr>
            <a:endCxn id="248" idx="1"/>
          </p:cNvCxnSpPr>
          <p:nvPr/>
        </p:nvCxnSpPr>
        <p:spPr>
          <a:xfrm>
            <a:off x="7518403" y="1766233"/>
            <a:ext cx="1274000" cy="0"/>
          </a:xfrm>
          <a:prstGeom prst="straightConnector1">
            <a:avLst/>
          </a:prstGeom>
          <a:noFill/>
          <a:ln w="38100" cap="flat" cmpd="sng">
            <a:solidFill>
              <a:srgbClr val="00FF00"/>
            </a:solidFill>
            <a:prstDash val="solid"/>
            <a:round/>
            <a:headEnd type="none" w="med" len="med"/>
            <a:tailEnd type="triangle" w="med" len="med"/>
          </a:ln>
        </p:spPr>
      </p:cxnSp>
      <p:sp>
        <p:nvSpPr>
          <p:cNvPr id="16" name="Google Shape;247;p36"/>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Arial"/>
                <a:sym typeface="Cambria Math"/>
              </a:rPr>
              <a:t>Physical Quantity</a:t>
            </a:r>
            <a:endParaRPr sz="2400" kern="0" dirty="0">
              <a:solidFill>
                <a:srgbClr val="FFFFFF"/>
              </a:solidFill>
              <a:latin typeface="Cambria Math"/>
              <a:ea typeface="Cambria Math"/>
              <a:cs typeface="Arial"/>
              <a:sym typeface="Arial"/>
            </a:endParaRPr>
          </a:p>
        </p:txBody>
      </p:sp>
    </p:spTree>
    <p:extLst>
      <p:ext uri="{BB962C8B-B14F-4D97-AF65-F5344CB8AC3E}">
        <p14:creationId xmlns:p14="http://schemas.microsoft.com/office/powerpoint/2010/main" val="11490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6"/>
          <p:cNvSpPr txBox="1">
            <a:spLocks noGrp="1"/>
          </p:cNvSpPr>
          <p:nvPr>
            <p:ph type="body" idx="1"/>
          </p:nvPr>
        </p:nvSpPr>
        <p:spPr>
          <a:xfrm>
            <a:off x="313831" y="1090647"/>
            <a:ext cx="11897133" cy="5877983"/>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endParaRPr sz="2933" b="1" dirty="0">
              <a:solidFill>
                <a:srgbClr val="00FF00"/>
              </a:solidFill>
              <a:latin typeface="Cambria Math"/>
              <a:ea typeface="Cambria Math"/>
              <a:cs typeface="Cambria Math"/>
              <a:sym typeface="Cambria Math"/>
            </a:endParaRPr>
          </a:p>
          <a:p>
            <a:pPr marL="0" indent="0">
              <a:lnSpc>
                <a:spcPct val="100000"/>
              </a:lnSpc>
              <a:buNone/>
            </a:pPr>
            <a:r>
              <a:rPr lang="en" sz="2933" b="1">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245" name="Google Shape;245;p3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a:t>
            </a:fld>
            <a:endParaRPr kern="0" dirty="0"/>
          </a:p>
        </p:txBody>
      </p:sp>
      <p:sp>
        <p:nvSpPr>
          <p:cNvPr id="246" name="Google Shape;246;p3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248" name="Google Shape;248;p36"/>
          <p:cNvSpPr/>
          <p:nvPr/>
        </p:nvSpPr>
        <p:spPr>
          <a:xfrm>
            <a:off x="8792569" y="1384833"/>
            <a:ext cx="2844800" cy="762800"/>
          </a:xfrm>
          <a:prstGeom prst="roundRect">
            <a:avLst>
              <a:gd name="adj" fmla="val 50000"/>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Can be Measured</a:t>
            </a:r>
            <a:endParaRPr sz="1867" kern="0" dirty="0">
              <a:solidFill>
                <a:srgbClr val="FFFFFF"/>
              </a:solidFill>
              <a:latin typeface="Arial"/>
              <a:cs typeface="Arial"/>
              <a:sym typeface="Arial"/>
            </a:endParaRPr>
          </a:p>
        </p:txBody>
      </p:sp>
      <p:cxnSp>
        <p:nvCxnSpPr>
          <p:cNvPr id="249" name="Google Shape;249;p36"/>
          <p:cNvCxnSpPr>
            <a:endCxn id="248" idx="1"/>
          </p:cNvCxnSpPr>
          <p:nvPr/>
        </p:nvCxnSpPr>
        <p:spPr>
          <a:xfrm>
            <a:off x="7518403" y="1766233"/>
            <a:ext cx="1274000" cy="0"/>
          </a:xfrm>
          <a:prstGeom prst="straightConnector1">
            <a:avLst/>
          </a:prstGeom>
          <a:noFill/>
          <a:ln w="38100" cap="flat" cmpd="sng">
            <a:solidFill>
              <a:srgbClr val="00FF00"/>
            </a:solidFill>
            <a:prstDash val="solid"/>
            <a:round/>
            <a:headEnd type="none" w="med" len="med"/>
            <a:tailEnd type="triangle" w="med" len="med"/>
          </a:ln>
        </p:spPr>
      </p:cxnSp>
      <p:sp>
        <p:nvSpPr>
          <p:cNvPr id="253" name="Google Shape;253;p36"/>
          <p:cNvSpPr/>
          <p:nvPr/>
        </p:nvSpPr>
        <p:spPr>
          <a:xfrm>
            <a:off x="996333" y="2440608"/>
            <a:ext cx="4162800" cy="564000"/>
          </a:xfrm>
          <a:prstGeom prst="roundRect">
            <a:avLst>
              <a:gd name="adj" fmla="val 50000"/>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00FF00"/>
                </a:solidFill>
                <a:latin typeface="Cambria Math"/>
                <a:ea typeface="Cambria Math"/>
                <a:cs typeface="Cambria Math"/>
                <a:sym typeface="Cambria Math"/>
              </a:rPr>
              <a:t>Is Mass a Physical Quantity?</a:t>
            </a:r>
            <a:r>
              <a:rPr lang="en" sz="2400" b="1" kern="0">
                <a:solidFill>
                  <a:srgbClr val="00FF00"/>
                </a:solidFill>
                <a:latin typeface="Cambria Math"/>
                <a:ea typeface="Cambria Math"/>
                <a:cs typeface="Cambria Math"/>
                <a:sym typeface="Cambria Math"/>
              </a:rPr>
              <a:t> </a:t>
            </a:r>
            <a:endParaRPr sz="2400" kern="0" dirty="0">
              <a:solidFill>
                <a:srgbClr val="FFFFFF"/>
              </a:solidFill>
              <a:latin typeface="Arial"/>
              <a:cs typeface="Arial"/>
              <a:sym typeface="Arial"/>
            </a:endParaRPr>
          </a:p>
        </p:txBody>
      </p:sp>
      <p:sp>
        <p:nvSpPr>
          <p:cNvPr id="254" name="Google Shape;254;p36"/>
          <p:cNvSpPr/>
          <p:nvPr/>
        </p:nvSpPr>
        <p:spPr>
          <a:xfrm>
            <a:off x="573117" y="3419209"/>
            <a:ext cx="5009233" cy="1213200"/>
          </a:xfrm>
          <a:prstGeom prst="roundRect">
            <a:avLst>
              <a:gd name="adj" fmla="val 3866"/>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dirty="0">
                <a:solidFill>
                  <a:srgbClr val="FFFFFF"/>
                </a:solidFill>
                <a:latin typeface="Cambria Math"/>
                <a:ea typeface="Cambria Math"/>
                <a:cs typeface="Cambria Math"/>
                <a:sym typeface="Cambria Math"/>
              </a:rPr>
              <a:t>Yes, Mass is a physical quantity we can measure mass by balance and weighing machines</a:t>
            </a:r>
            <a:endParaRPr sz="2400" kern="0" dirty="0">
              <a:solidFill>
                <a:srgbClr val="FFFFFF"/>
              </a:solidFill>
              <a:latin typeface="Arial"/>
              <a:cs typeface="Arial"/>
              <a:sym typeface="Arial"/>
            </a:endParaRPr>
          </a:p>
        </p:txBody>
      </p:sp>
      <p:pic>
        <p:nvPicPr>
          <p:cNvPr id="257" name="Google Shape;257;p36"/>
          <p:cNvPicPr preferRelativeResize="0"/>
          <p:nvPr/>
        </p:nvPicPr>
        <p:blipFill>
          <a:blip r:embed="rId3">
            <a:alphaModFix/>
          </a:blip>
          <a:stretch>
            <a:fillRect/>
          </a:stretch>
        </p:blipFill>
        <p:spPr>
          <a:xfrm>
            <a:off x="1822364" y="4963433"/>
            <a:ext cx="2739227" cy="1679200"/>
          </a:xfrm>
          <a:prstGeom prst="rect">
            <a:avLst/>
          </a:prstGeom>
          <a:noFill/>
          <a:ln>
            <a:noFill/>
          </a:ln>
        </p:spPr>
      </p:pic>
      <p:sp>
        <p:nvSpPr>
          <p:cNvPr id="17" name="Google Shape;247;p36"/>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Arial"/>
                <a:sym typeface="Cambria Math"/>
              </a:rPr>
              <a:t>Physical Quantity</a:t>
            </a:r>
            <a:endParaRPr sz="2400" kern="0" dirty="0">
              <a:solidFill>
                <a:srgbClr val="FFFFFF"/>
              </a:solidFill>
              <a:latin typeface="Cambria Math"/>
              <a:ea typeface="Cambria Math"/>
              <a:cs typeface="Arial"/>
              <a:sym typeface="Arial"/>
            </a:endParaRPr>
          </a:p>
        </p:txBody>
      </p:sp>
      <p:sp>
        <p:nvSpPr>
          <p:cNvPr id="16" name="Google Shape;250;p36">
            <a:extLst>
              <a:ext uri="{FF2B5EF4-FFF2-40B4-BE49-F238E27FC236}">
                <a16:creationId xmlns:a16="http://schemas.microsoft.com/office/drawing/2014/main" id="{F1F24848-6150-47A7-97BF-96634131C8A6}"/>
              </a:ext>
            </a:extLst>
          </p:cNvPr>
          <p:cNvSpPr/>
          <p:nvPr/>
        </p:nvSpPr>
        <p:spPr>
          <a:xfrm>
            <a:off x="7158167" y="2394292"/>
            <a:ext cx="4162800" cy="564000"/>
          </a:xfrm>
          <a:prstGeom prst="roundRect">
            <a:avLst>
              <a:gd name="adj" fmla="val 50000"/>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00FF00"/>
                </a:solidFill>
                <a:latin typeface="Cambria Math"/>
                <a:ea typeface="Cambria Math"/>
                <a:cs typeface="Cambria Math"/>
                <a:sym typeface="Cambria Math"/>
              </a:rPr>
              <a:t>Is Fever a Physical Quantity?</a:t>
            </a:r>
            <a:r>
              <a:rPr lang="en" sz="2400" b="1" kern="0">
                <a:solidFill>
                  <a:srgbClr val="00FF00"/>
                </a:solidFill>
                <a:latin typeface="Cambria Math"/>
                <a:ea typeface="Cambria Math"/>
                <a:cs typeface="Cambria Math"/>
                <a:sym typeface="Cambria Math"/>
              </a:rPr>
              <a:t> </a:t>
            </a:r>
            <a:endParaRPr sz="2400" kern="0" dirty="0">
              <a:solidFill>
                <a:srgbClr val="FFFFFF"/>
              </a:solidFill>
              <a:latin typeface="Arial"/>
              <a:cs typeface="Arial"/>
              <a:sym typeface="Arial"/>
            </a:endParaRPr>
          </a:p>
        </p:txBody>
      </p:sp>
      <p:sp>
        <p:nvSpPr>
          <p:cNvPr id="18" name="Google Shape;251;p36">
            <a:extLst>
              <a:ext uri="{FF2B5EF4-FFF2-40B4-BE49-F238E27FC236}">
                <a16:creationId xmlns:a16="http://schemas.microsoft.com/office/drawing/2014/main" id="{6ADE4201-809C-4404-8899-3A61ED9EB53D}"/>
              </a:ext>
            </a:extLst>
          </p:cNvPr>
          <p:cNvSpPr/>
          <p:nvPr/>
        </p:nvSpPr>
        <p:spPr>
          <a:xfrm>
            <a:off x="6642725" y="3284233"/>
            <a:ext cx="5193600" cy="1679200"/>
          </a:xfrm>
          <a:prstGeom prst="roundRect">
            <a:avLst>
              <a:gd name="adj" fmla="val 3866"/>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No, Doctor did not measure fever he measures temperature. Temperature is a Physical Quantity which is measured by the thermometer</a:t>
            </a:r>
            <a:r>
              <a:rPr lang="en" sz="2400" b="1" kern="0">
                <a:solidFill>
                  <a:srgbClr val="FFFFFF"/>
                </a:solidFill>
                <a:latin typeface="Cambria Math"/>
                <a:ea typeface="Cambria Math"/>
                <a:cs typeface="Cambria Math"/>
                <a:sym typeface="Cambria Math"/>
              </a:rPr>
              <a:t> </a:t>
            </a:r>
            <a:endParaRPr sz="2400" kern="0" dirty="0">
              <a:solidFill>
                <a:srgbClr val="FFFFFF"/>
              </a:solidFill>
              <a:latin typeface="Arial"/>
              <a:cs typeface="Arial"/>
              <a:sym typeface="Arial"/>
            </a:endParaRPr>
          </a:p>
        </p:txBody>
      </p:sp>
      <p:cxnSp>
        <p:nvCxnSpPr>
          <p:cNvPr id="19" name="Google Shape;252;p36">
            <a:extLst>
              <a:ext uri="{FF2B5EF4-FFF2-40B4-BE49-F238E27FC236}">
                <a16:creationId xmlns:a16="http://schemas.microsoft.com/office/drawing/2014/main" id="{E863CC0F-F143-43FE-B7F8-82713BBEF38C}"/>
              </a:ext>
            </a:extLst>
          </p:cNvPr>
          <p:cNvCxnSpPr>
            <a:stCxn id="16" idx="2"/>
            <a:endCxn id="18" idx="0"/>
          </p:cNvCxnSpPr>
          <p:nvPr/>
        </p:nvCxnSpPr>
        <p:spPr>
          <a:xfrm rot="-5400000" flipH="1">
            <a:off x="9076967" y="3120892"/>
            <a:ext cx="326000" cy="800"/>
          </a:xfrm>
          <a:prstGeom prst="bentConnector3">
            <a:avLst>
              <a:gd name="adj1" fmla="val 49991"/>
            </a:avLst>
          </a:prstGeom>
          <a:noFill/>
          <a:ln w="38100" cap="flat" cmpd="sng">
            <a:solidFill>
              <a:srgbClr val="00FF00"/>
            </a:solidFill>
            <a:prstDash val="solid"/>
            <a:round/>
            <a:headEnd type="none" w="med" len="med"/>
            <a:tailEnd type="none" w="med" len="med"/>
          </a:ln>
        </p:spPr>
      </p:cxnSp>
      <p:pic>
        <p:nvPicPr>
          <p:cNvPr id="20" name="Google Shape;256;p36">
            <a:extLst>
              <a:ext uri="{FF2B5EF4-FFF2-40B4-BE49-F238E27FC236}">
                <a16:creationId xmlns:a16="http://schemas.microsoft.com/office/drawing/2014/main" id="{1430C810-D2C3-4D37-9578-9FAA8DEB44FC}"/>
              </a:ext>
            </a:extLst>
          </p:cNvPr>
          <p:cNvPicPr preferRelativeResize="0"/>
          <p:nvPr/>
        </p:nvPicPr>
        <p:blipFill>
          <a:blip r:embed="rId4">
            <a:alphaModFix/>
          </a:blip>
          <a:stretch>
            <a:fillRect/>
          </a:stretch>
        </p:blipFill>
        <p:spPr>
          <a:xfrm>
            <a:off x="7158560" y="4963433"/>
            <a:ext cx="3277585" cy="2078000"/>
          </a:xfrm>
          <a:prstGeom prst="rect">
            <a:avLst/>
          </a:prstGeom>
          <a:noFill/>
          <a:ln>
            <a:noFill/>
          </a:ln>
        </p:spPr>
      </p:pic>
      <p:cxnSp>
        <p:nvCxnSpPr>
          <p:cNvPr id="5" name="Straight Connector 4">
            <a:extLst>
              <a:ext uri="{FF2B5EF4-FFF2-40B4-BE49-F238E27FC236}">
                <a16:creationId xmlns:a16="http://schemas.microsoft.com/office/drawing/2014/main" id="{054DAF3F-81BA-482A-B08A-11714EF1B8F9}"/>
              </a:ext>
            </a:extLst>
          </p:cNvPr>
          <p:cNvCxnSpPr>
            <a:stCxn id="253" idx="2"/>
            <a:endCxn id="254" idx="0"/>
          </p:cNvCxnSpPr>
          <p:nvPr/>
        </p:nvCxnSpPr>
        <p:spPr>
          <a:xfrm>
            <a:off x="3077733" y="3004609"/>
            <a:ext cx="0" cy="414601"/>
          </a:xfrm>
          <a:prstGeom prst="line">
            <a:avLst/>
          </a:prstGeom>
          <a:noFill/>
          <a:ln w="38100" cap="flat" cmpd="sng">
            <a:solidFill>
              <a:srgbClr val="00FF00"/>
            </a:solidFill>
            <a:prstDash val="solid"/>
            <a:round/>
            <a:headEnd type="none" w="sm" len="sm"/>
            <a:tailEnd type="none" w="sm" len="sm"/>
          </a:ln>
        </p:spPr>
      </p:cxnSp>
    </p:spTree>
    <p:extLst>
      <p:ext uri="{BB962C8B-B14F-4D97-AF65-F5344CB8AC3E}">
        <p14:creationId xmlns:p14="http://schemas.microsoft.com/office/powerpoint/2010/main" val="2505011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animBg="1"/>
      <p:bldP spid="254"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4093394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
        <p:nvSpPr>
          <p:cNvPr id="342" name="Google Shape;342;p43"/>
          <p:cNvSpPr/>
          <p:nvPr/>
        </p:nvSpPr>
        <p:spPr>
          <a:xfrm>
            <a:off x="1416536" y="3134000"/>
            <a:ext cx="33448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Fundamental Quantity</a:t>
            </a:r>
            <a:endParaRPr sz="1333" kern="0" dirty="0">
              <a:solidFill>
                <a:srgbClr val="FFFFFF"/>
              </a:solidFill>
              <a:latin typeface="Roboto"/>
              <a:ea typeface="Roboto"/>
              <a:cs typeface="Roboto"/>
              <a:sym typeface="Roboto"/>
            </a:endParaRPr>
          </a:p>
        </p:txBody>
      </p:sp>
      <p:cxnSp>
        <p:nvCxnSpPr>
          <p:cNvPr id="344" name="Google Shape;344;p43"/>
          <p:cNvCxnSpPr>
            <a:stCxn id="342" idx="0"/>
            <a:endCxn id="340" idx="2"/>
          </p:cNvCxnSpPr>
          <p:nvPr/>
        </p:nvCxnSpPr>
        <p:spPr>
          <a:xfrm rot="5400000" flipH="1" flipV="1">
            <a:off x="4099287" y="1137284"/>
            <a:ext cx="986367" cy="3007067"/>
          </a:xfrm>
          <a:prstGeom prst="bentConnector3">
            <a:avLst>
              <a:gd name="adj1" fmla="val 50000"/>
            </a:avLst>
          </a:prstGeom>
          <a:noFill/>
          <a:ln w="28575" cap="flat" cmpd="sng">
            <a:solidFill>
              <a:srgbClr val="00FF00"/>
            </a:solidFill>
            <a:prstDash val="solid"/>
            <a:round/>
            <a:headEnd type="none" w="sm" len="sm"/>
            <a:tailEnd type="none" w="sm" len="sm"/>
          </a:ln>
        </p:spPr>
      </p:cxnSp>
    </p:spTree>
    <p:extLst>
      <p:ext uri="{BB962C8B-B14F-4D97-AF65-F5344CB8AC3E}">
        <p14:creationId xmlns:p14="http://schemas.microsoft.com/office/powerpoint/2010/main" val="378977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
        <p:nvSpPr>
          <p:cNvPr id="341" name="Google Shape;341;p43"/>
          <p:cNvSpPr/>
          <p:nvPr/>
        </p:nvSpPr>
        <p:spPr>
          <a:xfrm>
            <a:off x="7329408" y="3134000"/>
            <a:ext cx="31780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Derived Quantity</a:t>
            </a:r>
            <a:endParaRPr sz="2400" kern="0" dirty="0">
              <a:solidFill>
                <a:srgbClr val="FFFFFF"/>
              </a:solidFill>
              <a:latin typeface="Cambria Math"/>
              <a:ea typeface="Cambria Math"/>
              <a:cs typeface="Cambria Math"/>
              <a:sym typeface="Cambria Math"/>
            </a:endParaRPr>
          </a:p>
        </p:txBody>
      </p:sp>
      <p:sp>
        <p:nvSpPr>
          <p:cNvPr id="342" name="Google Shape;342;p43"/>
          <p:cNvSpPr/>
          <p:nvPr/>
        </p:nvSpPr>
        <p:spPr>
          <a:xfrm>
            <a:off x="1416536" y="3134000"/>
            <a:ext cx="33448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Fundamental Quantity</a:t>
            </a:r>
            <a:endParaRPr sz="1333" kern="0" dirty="0">
              <a:solidFill>
                <a:srgbClr val="FFFFFF"/>
              </a:solidFill>
              <a:latin typeface="Roboto"/>
              <a:ea typeface="Roboto"/>
              <a:cs typeface="Roboto"/>
              <a:sym typeface="Roboto"/>
            </a:endParaRPr>
          </a:p>
        </p:txBody>
      </p:sp>
      <p:cxnSp>
        <p:nvCxnSpPr>
          <p:cNvPr id="343" name="Google Shape;343;p43"/>
          <p:cNvCxnSpPr>
            <a:stCxn id="340" idx="2"/>
            <a:endCxn id="341" idx="0"/>
          </p:cNvCxnSpPr>
          <p:nvPr/>
        </p:nvCxnSpPr>
        <p:spPr>
          <a:xfrm rot="-5400000" flipH="1">
            <a:off x="7014003" y="1229633"/>
            <a:ext cx="986400" cy="2822400"/>
          </a:xfrm>
          <a:prstGeom prst="bentConnector3">
            <a:avLst>
              <a:gd name="adj1" fmla="val 49998"/>
            </a:avLst>
          </a:prstGeom>
          <a:noFill/>
          <a:ln w="28575" cap="flat" cmpd="sng">
            <a:solidFill>
              <a:srgbClr val="00FF00"/>
            </a:solidFill>
            <a:prstDash val="solid"/>
            <a:round/>
            <a:headEnd type="none" w="sm" len="sm"/>
            <a:tailEnd type="none" w="sm" len="sm"/>
          </a:ln>
        </p:spPr>
      </p:cxnSp>
      <p:cxnSp>
        <p:nvCxnSpPr>
          <p:cNvPr id="344" name="Google Shape;344;p43"/>
          <p:cNvCxnSpPr>
            <a:stCxn id="342" idx="0"/>
            <a:endCxn id="340" idx="2"/>
          </p:cNvCxnSpPr>
          <p:nvPr/>
        </p:nvCxnSpPr>
        <p:spPr>
          <a:xfrm rot="5400000" flipH="1" flipV="1">
            <a:off x="4099287" y="1137284"/>
            <a:ext cx="986367" cy="3007067"/>
          </a:xfrm>
          <a:prstGeom prst="bentConnector3">
            <a:avLst>
              <a:gd name="adj1" fmla="val 50000"/>
            </a:avLst>
          </a:prstGeom>
          <a:noFill/>
          <a:ln w="28575" cap="flat" cmpd="sng">
            <a:solidFill>
              <a:srgbClr val="00FF00"/>
            </a:solidFill>
            <a:prstDash val="solid"/>
            <a:round/>
            <a:headEnd type="none" w="sm" len="sm"/>
            <a:tailEnd type="none" w="sm" len="sm"/>
          </a:ln>
        </p:spPr>
      </p:cxnSp>
    </p:spTree>
    <p:extLst>
      <p:ext uri="{BB962C8B-B14F-4D97-AF65-F5344CB8AC3E}">
        <p14:creationId xmlns:p14="http://schemas.microsoft.com/office/powerpoint/2010/main" val="1495456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
        <p:nvSpPr>
          <p:cNvPr id="341" name="Google Shape;341;p43"/>
          <p:cNvSpPr/>
          <p:nvPr/>
        </p:nvSpPr>
        <p:spPr>
          <a:xfrm>
            <a:off x="7329408" y="3134000"/>
            <a:ext cx="31780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Derived Quantity</a:t>
            </a:r>
            <a:endParaRPr sz="2400" kern="0" dirty="0">
              <a:solidFill>
                <a:srgbClr val="FFFFFF"/>
              </a:solidFill>
              <a:latin typeface="Cambria Math"/>
              <a:ea typeface="Cambria Math"/>
              <a:cs typeface="Cambria Math"/>
              <a:sym typeface="Cambria Math"/>
            </a:endParaRPr>
          </a:p>
        </p:txBody>
      </p:sp>
      <p:sp>
        <p:nvSpPr>
          <p:cNvPr id="342" name="Google Shape;342;p43"/>
          <p:cNvSpPr/>
          <p:nvPr/>
        </p:nvSpPr>
        <p:spPr>
          <a:xfrm>
            <a:off x="1416536" y="3134000"/>
            <a:ext cx="33448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Fundamental Quantity</a:t>
            </a:r>
            <a:endParaRPr sz="1333" kern="0" dirty="0">
              <a:solidFill>
                <a:srgbClr val="FFFFFF"/>
              </a:solidFill>
              <a:latin typeface="Roboto"/>
              <a:ea typeface="Roboto"/>
              <a:cs typeface="Roboto"/>
              <a:sym typeface="Roboto"/>
            </a:endParaRPr>
          </a:p>
        </p:txBody>
      </p:sp>
      <p:cxnSp>
        <p:nvCxnSpPr>
          <p:cNvPr id="343" name="Google Shape;343;p43"/>
          <p:cNvCxnSpPr>
            <a:stCxn id="340" idx="2"/>
            <a:endCxn id="341" idx="0"/>
          </p:cNvCxnSpPr>
          <p:nvPr/>
        </p:nvCxnSpPr>
        <p:spPr>
          <a:xfrm rot="-5400000" flipH="1">
            <a:off x="7014003" y="1229633"/>
            <a:ext cx="986400" cy="2822400"/>
          </a:xfrm>
          <a:prstGeom prst="bentConnector3">
            <a:avLst>
              <a:gd name="adj1" fmla="val 49998"/>
            </a:avLst>
          </a:prstGeom>
          <a:noFill/>
          <a:ln w="28575" cap="flat" cmpd="sng">
            <a:solidFill>
              <a:srgbClr val="00FF00"/>
            </a:solidFill>
            <a:prstDash val="solid"/>
            <a:round/>
            <a:headEnd type="none" w="sm" len="sm"/>
            <a:tailEnd type="none" w="sm" len="sm"/>
          </a:ln>
        </p:spPr>
      </p:cxnSp>
      <p:cxnSp>
        <p:nvCxnSpPr>
          <p:cNvPr id="344" name="Google Shape;344;p43"/>
          <p:cNvCxnSpPr>
            <a:stCxn id="342" idx="0"/>
            <a:endCxn id="340" idx="2"/>
          </p:cNvCxnSpPr>
          <p:nvPr/>
        </p:nvCxnSpPr>
        <p:spPr>
          <a:xfrm rot="5400000" flipH="1" flipV="1">
            <a:off x="4099287" y="1137284"/>
            <a:ext cx="986367" cy="3007067"/>
          </a:xfrm>
          <a:prstGeom prst="bentConnector3">
            <a:avLst>
              <a:gd name="adj1" fmla="val 50000"/>
            </a:avLst>
          </a:prstGeom>
          <a:noFill/>
          <a:ln w="28575" cap="flat" cmpd="sng">
            <a:solidFill>
              <a:srgbClr val="00FF00"/>
            </a:solidFill>
            <a:prstDash val="solid"/>
            <a:round/>
            <a:headEnd type="none" w="sm" len="sm"/>
            <a:tailEnd type="none" w="sm" len="sm"/>
          </a:ln>
        </p:spPr>
      </p:cxnSp>
      <p:cxnSp>
        <p:nvCxnSpPr>
          <p:cNvPr id="345" name="Google Shape;345;p43"/>
          <p:cNvCxnSpPr>
            <a:stCxn id="346" idx="0"/>
            <a:endCxn id="342" idx="2"/>
          </p:cNvCxnSpPr>
          <p:nvPr/>
        </p:nvCxnSpPr>
        <p:spPr>
          <a:xfrm rot="5400000" flipH="1" flipV="1">
            <a:off x="2707535" y="4105399"/>
            <a:ext cx="762800" cy="3"/>
          </a:xfrm>
          <a:prstGeom prst="bentConnector3">
            <a:avLst>
              <a:gd name="adj1" fmla="val 50000"/>
            </a:avLst>
          </a:prstGeom>
          <a:noFill/>
          <a:ln w="28575" cap="flat" cmpd="sng">
            <a:solidFill>
              <a:srgbClr val="00FF00"/>
            </a:solidFill>
            <a:prstDash val="solid"/>
            <a:round/>
            <a:headEnd type="arrow" w="med" len="med"/>
            <a:tailEnd type="none" w="med" len="med"/>
          </a:ln>
        </p:spPr>
      </p:cxnSp>
      <p:sp>
        <p:nvSpPr>
          <p:cNvPr id="346" name="Google Shape;346;p43"/>
          <p:cNvSpPr/>
          <p:nvPr/>
        </p:nvSpPr>
        <p:spPr>
          <a:xfrm>
            <a:off x="550933" y="4486800"/>
            <a:ext cx="5076000" cy="10268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Example: Mass, length,time etc.</a:t>
            </a:r>
            <a:endParaRPr sz="2400"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3467987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
        <p:nvSpPr>
          <p:cNvPr id="341" name="Google Shape;341;p43"/>
          <p:cNvSpPr/>
          <p:nvPr/>
        </p:nvSpPr>
        <p:spPr>
          <a:xfrm>
            <a:off x="7329408" y="3134000"/>
            <a:ext cx="31780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Derived Quantity</a:t>
            </a:r>
            <a:endParaRPr sz="2400" kern="0" dirty="0">
              <a:solidFill>
                <a:srgbClr val="FFFFFF"/>
              </a:solidFill>
              <a:latin typeface="Cambria Math"/>
              <a:ea typeface="Cambria Math"/>
              <a:cs typeface="Cambria Math"/>
              <a:sym typeface="Cambria Math"/>
            </a:endParaRPr>
          </a:p>
        </p:txBody>
      </p:sp>
      <p:sp>
        <p:nvSpPr>
          <p:cNvPr id="342" name="Google Shape;342;p43"/>
          <p:cNvSpPr/>
          <p:nvPr/>
        </p:nvSpPr>
        <p:spPr>
          <a:xfrm>
            <a:off x="1416536" y="3134000"/>
            <a:ext cx="33448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Fundamental Quantity</a:t>
            </a:r>
            <a:endParaRPr sz="1333" kern="0" dirty="0">
              <a:solidFill>
                <a:srgbClr val="FFFFFF"/>
              </a:solidFill>
              <a:latin typeface="Roboto"/>
              <a:ea typeface="Roboto"/>
              <a:cs typeface="Roboto"/>
              <a:sym typeface="Roboto"/>
            </a:endParaRPr>
          </a:p>
        </p:txBody>
      </p:sp>
      <p:cxnSp>
        <p:nvCxnSpPr>
          <p:cNvPr id="343" name="Google Shape;343;p43"/>
          <p:cNvCxnSpPr>
            <a:stCxn id="340" idx="2"/>
            <a:endCxn id="341" idx="0"/>
          </p:cNvCxnSpPr>
          <p:nvPr/>
        </p:nvCxnSpPr>
        <p:spPr>
          <a:xfrm rot="-5400000" flipH="1">
            <a:off x="7014003" y="1229633"/>
            <a:ext cx="986400" cy="2822400"/>
          </a:xfrm>
          <a:prstGeom prst="bentConnector3">
            <a:avLst>
              <a:gd name="adj1" fmla="val 49998"/>
            </a:avLst>
          </a:prstGeom>
          <a:noFill/>
          <a:ln w="28575" cap="flat" cmpd="sng">
            <a:solidFill>
              <a:srgbClr val="00FF00"/>
            </a:solidFill>
            <a:prstDash val="solid"/>
            <a:round/>
            <a:headEnd type="none" w="sm" len="sm"/>
            <a:tailEnd type="none" w="sm" len="sm"/>
          </a:ln>
        </p:spPr>
      </p:cxnSp>
      <p:cxnSp>
        <p:nvCxnSpPr>
          <p:cNvPr id="344" name="Google Shape;344;p43"/>
          <p:cNvCxnSpPr>
            <a:stCxn id="342" idx="0"/>
            <a:endCxn id="340" idx="2"/>
          </p:cNvCxnSpPr>
          <p:nvPr/>
        </p:nvCxnSpPr>
        <p:spPr>
          <a:xfrm rot="5400000" flipH="1" flipV="1">
            <a:off x="4099287" y="1137284"/>
            <a:ext cx="986367" cy="3007067"/>
          </a:xfrm>
          <a:prstGeom prst="bentConnector3">
            <a:avLst>
              <a:gd name="adj1" fmla="val 50000"/>
            </a:avLst>
          </a:prstGeom>
          <a:noFill/>
          <a:ln w="28575" cap="flat" cmpd="sng">
            <a:solidFill>
              <a:srgbClr val="00FF00"/>
            </a:solidFill>
            <a:prstDash val="solid"/>
            <a:round/>
            <a:headEnd type="none" w="sm" len="sm"/>
            <a:tailEnd type="none" w="sm" len="sm"/>
          </a:ln>
        </p:spPr>
      </p:cxnSp>
      <p:cxnSp>
        <p:nvCxnSpPr>
          <p:cNvPr id="345" name="Google Shape;345;p43"/>
          <p:cNvCxnSpPr>
            <a:stCxn id="346" idx="0"/>
            <a:endCxn id="342" idx="2"/>
          </p:cNvCxnSpPr>
          <p:nvPr/>
        </p:nvCxnSpPr>
        <p:spPr>
          <a:xfrm rot="5400000" flipH="1" flipV="1">
            <a:off x="2707535" y="4105399"/>
            <a:ext cx="762800" cy="3"/>
          </a:xfrm>
          <a:prstGeom prst="bentConnector3">
            <a:avLst>
              <a:gd name="adj1" fmla="val 50000"/>
            </a:avLst>
          </a:prstGeom>
          <a:noFill/>
          <a:ln w="28575" cap="flat" cmpd="sng">
            <a:solidFill>
              <a:srgbClr val="00FF00"/>
            </a:solidFill>
            <a:prstDash val="solid"/>
            <a:round/>
            <a:headEnd type="arrow" w="med" len="med"/>
            <a:tailEnd type="none" w="med" len="med"/>
          </a:ln>
        </p:spPr>
      </p:cxnSp>
      <p:cxnSp>
        <p:nvCxnSpPr>
          <p:cNvPr id="347" name="Google Shape;347;p43"/>
          <p:cNvCxnSpPr>
            <a:stCxn id="341" idx="2"/>
            <a:endCxn id="348" idx="0"/>
          </p:cNvCxnSpPr>
          <p:nvPr/>
        </p:nvCxnSpPr>
        <p:spPr>
          <a:xfrm rot="-5400000" flipH="1">
            <a:off x="8537408" y="4105000"/>
            <a:ext cx="762800" cy="800"/>
          </a:xfrm>
          <a:prstGeom prst="bentConnector3">
            <a:avLst>
              <a:gd name="adj1" fmla="val 50000"/>
            </a:avLst>
          </a:prstGeom>
          <a:noFill/>
          <a:ln w="28575" cap="flat" cmpd="sng">
            <a:solidFill>
              <a:srgbClr val="00FF00"/>
            </a:solidFill>
            <a:prstDash val="solid"/>
            <a:round/>
            <a:headEnd type="none" w="med" len="med"/>
            <a:tailEnd type="arrow" w="med" len="med"/>
          </a:ln>
        </p:spPr>
      </p:cxnSp>
      <p:sp>
        <p:nvSpPr>
          <p:cNvPr id="348" name="Google Shape;348;p43"/>
          <p:cNvSpPr/>
          <p:nvPr/>
        </p:nvSpPr>
        <p:spPr>
          <a:xfrm>
            <a:off x="6380400" y="4486800"/>
            <a:ext cx="5076000" cy="10268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Example: Velocity, Force,work etc.</a:t>
            </a:r>
            <a:endParaRPr sz="2400" kern="0" dirty="0">
              <a:solidFill>
                <a:srgbClr val="FFFFFF"/>
              </a:solidFill>
              <a:latin typeface="Cambria Math"/>
              <a:ea typeface="Cambria Math"/>
              <a:cs typeface="Cambria Math"/>
              <a:sym typeface="Cambria Math"/>
            </a:endParaRPr>
          </a:p>
        </p:txBody>
      </p:sp>
      <p:sp>
        <p:nvSpPr>
          <p:cNvPr id="346" name="Google Shape;346;p43"/>
          <p:cNvSpPr/>
          <p:nvPr/>
        </p:nvSpPr>
        <p:spPr>
          <a:xfrm>
            <a:off x="550933" y="4486800"/>
            <a:ext cx="5076000" cy="10268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Example: Mass, length,time etc.</a:t>
            </a:r>
            <a:endParaRPr sz="2400"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1668361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3"/>
          <p:cNvSpPr txBox="1">
            <a:spLocks noGrp="1"/>
          </p:cNvSpPr>
          <p:nvPr>
            <p:ph type="body" idx="1"/>
          </p:nvPr>
        </p:nvSpPr>
        <p:spPr>
          <a:xfrm>
            <a:off x="9933" y="950400"/>
            <a:ext cx="12132800" cy="5907600"/>
          </a:xfrm>
          <a:prstGeom prst="rect">
            <a:avLst/>
          </a:prstGeom>
          <a:noFill/>
          <a:ln>
            <a:noFill/>
          </a:ln>
        </p:spPr>
        <p:txBody>
          <a:bodyPr spcFirstLastPara="1" wrap="square" lIns="121900" tIns="121900" rIns="121900" bIns="121900" anchor="t" anchorCtr="0">
            <a:noAutofit/>
          </a:bodyPr>
          <a:lstStyle/>
          <a:p>
            <a:pPr marL="0" indent="0">
              <a:lnSpc>
                <a:spcPct val="100000"/>
              </a:lnSpc>
              <a:buNone/>
            </a:pPr>
            <a:r>
              <a:rPr lang="en" sz="2933" b="1" dirty="0">
                <a:solidFill>
                  <a:srgbClr val="00FF00"/>
                </a:solidFill>
                <a:latin typeface="Cambria Math"/>
                <a:ea typeface="Cambria Math"/>
                <a:cs typeface="Cambria Math"/>
                <a:sym typeface="Cambria Math"/>
              </a:rPr>
              <a:t>   </a:t>
            </a:r>
            <a:endParaRPr sz="2933" b="1" dirty="0">
              <a:solidFill>
                <a:srgbClr val="00FF00"/>
              </a:solidFill>
              <a:latin typeface="Cambria Math"/>
              <a:ea typeface="Cambria Math"/>
              <a:cs typeface="Cambria Math"/>
              <a:sym typeface="Cambria Math"/>
            </a:endParaRPr>
          </a:p>
        </p:txBody>
      </p:sp>
      <p:sp>
        <p:nvSpPr>
          <p:cNvPr id="339" name="Google Shape;339;p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40" name="Google Shape;340;p43"/>
          <p:cNvSpPr/>
          <p:nvPr/>
        </p:nvSpPr>
        <p:spPr>
          <a:xfrm>
            <a:off x="4673603" y="1384833"/>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a:t>
            </a:r>
            <a:endParaRPr sz="1867" kern="0" dirty="0">
              <a:solidFill>
                <a:srgbClr val="FFFFFF"/>
              </a:solidFill>
              <a:latin typeface="Cambria Math"/>
              <a:ea typeface="Cambria Math"/>
              <a:cs typeface="Cambria Math"/>
              <a:sym typeface="Cambria Math"/>
            </a:endParaRPr>
          </a:p>
        </p:txBody>
      </p:sp>
      <p:sp>
        <p:nvSpPr>
          <p:cNvPr id="341" name="Google Shape;341;p43"/>
          <p:cNvSpPr/>
          <p:nvPr/>
        </p:nvSpPr>
        <p:spPr>
          <a:xfrm>
            <a:off x="7329408" y="3134000"/>
            <a:ext cx="31780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Derived Quantity</a:t>
            </a:r>
            <a:endParaRPr sz="2400" kern="0" dirty="0">
              <a:solidFill>
                <a:srgbClr val="FFFFFF"/>
              </a:solidFill>
              <a:latin typeface="Cambria Math"/>
              <a:ea typeface="Cambria Math"/>
              <a:cs typeface="Cambria Math"/>
              <a:sym typeface="Cambria Math"/>
            </a:endParaRPr>
          </a:p>
        </p:txBody>
      </p:sp>
      <p:sp>
        <p:nvSpPr>
          <p:cNvPr id="342" name="Google Shape;342;p43"/>
          <p:cNvSpPr/>
          <p:nvPr/>
        </p:nvSpPr>
        <p:spPr>
          <a:xfrm>
            <a:off x="1416536" y="3134000"/>
            <a:ext cx="3344800" cy="5900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Fundamental Quantity</a:t>
            </a:r>
            <a:endParaRPr sz="1333" kern="0" dirty="0">
              <a:solidFill>
                <a:srgbClr val="FFFFFF"/>
              </a:solidFill>
              <a:latin typeface="Roboto"/>
              <a:ea typeface="Roboto"/>
              <a:cs typeface="Roboto"/>
              <a:sym typeface="Roboto"/>
            </a:endParaRPr>
          </a:p>
        </p:txBody>
      </p:sp>
      <p:cxnSp>
        <p:nvCxnSpPr>
          <p:cNvPr id="343" name="Google Shape;343;p43"/>
          <p:cNvCxnSpPr>
            <a:stCxn id="340" idx="2"/>
            <a:endCxn id="341" idx="0"/>
          </p:cNvCxnSpPr>
          <p:nvPr/>
        </p:nvCxnSpPr>
        <p:spPr>
          <a:xfrm rot="-5400000" flipH="1">
            <a:off x="7014003" y="1229633"/>
            <a:ext cx="986400" cy="2822400"/>
          </a:xfrm>
          <a:prstGeom prst="bentConnector3">
            <a:avLst>
              <a:gd name="adj1" fmla="val 49998"/>
            </a:avLst>
          </a:prstGeom>
          <a:noFill/>
          <a:ln w="28575" cap="flat" cmpd="sng">
            <a:solidFill>
              <a:srgbClr val="00FF00"/>
            </a:solidFill>
            <a:prstDash val="solid"/>
            <a:round/>
            <a:headEnd type="none" w="sm" len="sm"/>
            <a:tailEnd type="none" w="sm" len="sm"/>
          </a:ln>
        </p:spPr>
      </p:cxnSp>
      <p:cxnSp>
        <p:nvCxnSpPr>
          <p:cNvPr id="344" name="Google Shape;344;p43"/>
          <p:cNvCxnSpPr>
            <a:stCxn id="342" idx="0"/>
            <a:endCxn id="340" idx="2"/>
          </p:cNvCxnSpPr>
          <p:nvPr/>
        </p:nvCxnSpPr>
        <p:spPr>
          <a:xfrm rot="5400000" flipH="1" flipV="1">
            <a:off x="4099287" y="1137284"/>
            <a:ext cx="986367" cy="3007067"/>
          </a:xfrm>
          <a:prstGeom prst="bentConnector3">
            <a:avLst>
              <a:gd name="adj1" fmla="val 50000"/>
            </a:avLst>
          </a:prstGeom>
          <a:noFill/>
          <a:ln w="28575" cap="flat" cmpd="sng">
            <a:solidFill>
              <a:srgbClr val="00FF00"/>
            </a:solidFill>
            <a:prstDash val="solid"/>
            <a:round/>
            <a:headEnd type="none" w="sm" len="sm"/>
            <a:tailEnd type="none" w="sm" len="sm"/>
          </a:ln>
        </p:spPr>
      </p:cxnSp>
      <p:cxnSp>
        <p:nvCxnSpPr>
          <p:cNvPr id="345" name="Google Shape;345;p43"/>
          <p:cNvCxnSpPr>
            <a:stCxn id="346" idx="0"/>
            <a:endCxn id="342" idx="2"/>
          </p:cNvCxnSpPr>
          <p:nvPr/>
        </p:nvCxnSpPr>
        <p:spPr>
          <a:xfrm rot="5400000" flipH="1" flipV="1">
            <a:off x="2707535" y="4105399"/>
            <a:ext cx="762800" cy="3"/>
          </a:xfrm>
          <a:prstGeom prst="bentConnector3">
            <a:avLst>
              <a:gd name="adj1" fmla="val 50000"/>
            </a:avLst>
          </a:prstGeom>
          <a:noFill/>
          <a:ln w="28575" cap="flat" cmpd="sng">
            <a:solidFill>
              <a:srgbClr val="00FF00"/>
            </a:solidFill>
            <a:prstDash val="solid"/>
            <a:round/>
            <a:headEnd type="arrow" w="med" len="med"/>
            <a:tailEnd type="none" w="med" len="med"/>
          </a:ln>
        </p:spPr>
      </p:cxnSp>
      <p:cxnSp>
        <p:nvCxnSpPr>
          <p:cNvPr id="347" name="Google Shape;347;p43"/>
          <p:cNvCxnSpPr>
            <a:stCxn id="341" idx="2"/>
            <a:endCxn id="348" idx="0"/>
          </p:cNvCxnSpPr>
          <p:nvPr/>
        </p:nvCxnSpPr>
        <p:spPr>
          <a:xfrm rot="-5400000" flipH="1">
            <a:off x="8537408" y="4105000"/>
            <a:ext cx="762800" cy="800"/>
          </a:xfrm>
          <a:prstGeom prst="bentConnector3">
            <a:avLst>
              <a:gd name="adj1" fmla="val 50000"/>
            </a:avLst>
          </a:prstGeom>
          <a:noFill/>
          <a:ln w="28575" cap="flat" cmpd="sng">
            <a:solidFill>
              <a:srgbClr val="00FF00"/>
            </a:solidFill>
            <a:prstDash val="solid"/>
            <a:round/>
            <a:headEnd type="none" w="med" len="med"/>
            <a:tailEnd type="arrow" w="med" len="med"/>
          </a:ln>
        </p:spPr>
      </p:cxnSp>
      <p:sp>
        <p:nvSpPr>
          <p:cNvPr id="348" name="Google Shape;348;p43"/>
          <p:cNvSpPr/>
          <p:nvPr/>
        </p:nvSpPr>
        <p:spPr>
          <a:xfrm>
            <a:off x="6380400" y="4486800"/>
            <a:ext cx="5076000" cy="10268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Example: Velocity, Force,work etc.</a:t>
            </a:r>
            <a:endParaRPr sz="2400" kern="0" dirty="0">
              <a:solidFill>
                <a:srgbClr val="FFFFFF"/>
              </a:solidFill>
              <a:latin typeface="Cambria Math"/>
              <a:ea typeface="Cambria Math"/>
              <a:cs typeface="Cambria Math"/>
              <a:sym typeface="Cambria Math"/>
            </a:endParaRPr>
          </a:p>
        </p:txBody>
      </p:sp>
      <p:sp>
        <p:nvSpPr>
          <p:cNvPr id="346" name="Google Shape;346;p43"/>
          <p:cNvSpPr/>
          <p:nvPr/>
        </p:nvSpPr>
        <p:spPr>
          <a:xfrm>
            <a:off x="550933" y="4486800"/>
            <a:ext cx="5076000" cy="1026800"/>
          </a:xfrm>
          <a:prstGeom prst="roundRect">
            <a:avLst>
              <a:gd name="adj" fmla="val 50000"/>
            </a:avLst>
          </a:prstGeom>
          <a:noFill/>
          <a:ln w="19050">
            <a:solidFill>
              <a:srgbClr val="00FF00"/>
            </a:solidFill>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Example: Mass, length,time etc.</a:t>
            </a:r>
            <a:endParaRPr sz="2400" kern="0" dirty="0">
              <a:solidFill>
                <a:srgbClr val="FFFFFF"/>
              </a:solidFill>
              <a:latin typeface="Cambria Math"/>
              <a:ea typeface="Cambria Math"/>
              <a:cs typeface="Cambria Math"/>
              <a:sym typeface="Cambria Math"/>
            </a:endParaRPr>
          </a:p>
        </p:txBody>
      </p:sp>
      <p:cxnSp>
        <p:nvCxnSpPr>
          <p:cNvPr id="350" name="Google Shape;350;p43"/>
          <p:cNvCxnSpPr/>
          <p:nvPr/>
        </p:nvCxnSpPr>
        <p:spPr>
          <a:xfrm flipH="1">
            <a:off x="8404867" y="5284833"/>
            <a:ext cx="2400" cy="562000"/>
          </a:xfrm>
          <a:prstGeom prst="straightConnector1">
            <a:avLst/>
          </a:prstGeom>
          <a:noFill/>
          <a:ln w="28575" cap="flat" cmpd="sng">
            <a:solidFill>
              <a:srgbClr val="00FF00"/>
            </a:solidFill>
            <a:prstDash val="solid"/>
            <a:round/>
            <a:headEnd type="none" w="med" len="med"/>
            <a:tailEnd type="arrow" w="med" len="med"/>
          </a:ln>
        </p:spPr>
      </p:cxnSp>
      <mc:AlternateContent xmlns:mc="http://schemas.openxmlformats.org/markup-compatibility/2006" xmlns:a14="http://schemas.microsoft.com/office/drawing/2010/main">
        <mc:Choice Requires="a14">
          <p:sp>
            <p:nvSpPr>
              <p:cNvPr id="2" name="TextBox 1"/>
              <p:cNvSpPr txBox="1"/>
              <p:nvPr/>
            </p:nvSpPr>
            <p:spPr>
              <a:xfrm>
                <a:off x="7248885" y="5879257"/>
                <a:ext cx="2311964" cy="783804"/>
              </a:xfrm>
              <a:prstGeom prst="rect">
                <a:avLst/>
              </a:prstGeom>
              <a:noFill/>
            </p:spPr>
            <p:txBody>
              <a:bodyPr wrap="square" rtlCol="0">
                <a:spAutoFit/>
              </a:bodyPr>
              <a:lstStyle/>
              <a:p>
                <a:pPr defTabSz="1219170">
                  <a:buClr>
                    <a:srgbClr val="000000"/>
                  </a:buClr>
                </a:pPr>
                <a14:m>
                  <m:oMathPara xmlns:m="http://schemas.openxmlformats.org/officeDocument/2006/math">
                    <m:oMathParaPr>
                      <m:jc m:val="centerGroup"/>
                    </m:oMathParaPr>
                    <m:oMath xmlns:m="http://schemas.openxmlformats.org/officeDocument/2006/math">
                      <m:r>
                        <m:rPr>
                          <m:sty m:val="p"/>
                        </m:rPr>
                        <a:rPr lang="en-IN" sz="2400" kern="0">
                          <a:solidFill>
                            <a:srgbClr val="FFFFFF"/>
                          </a:solidFill>
                          <a:latin typeface="Cambria Math" panose="02040503050406030204" pitchFamily="18" charset="0"/>
                          <a:sym typeface="Arial"/>
                        </a:rPr>
                        <m:t>v</m:t>
                      </m:r>
                      <m:r>
                        <a:rPr lang="en-IN" sz="2400" kern="0">
                          <a:solidFill>
                            <a:srgbClr val="FFFFFF"/>
                          </a:solidFill>
                          <a:latin typeface="Cambria Math" panose="02040503050406030204" pitchFamily="18" charset="0"/>
                          <a:sym typeface="Arial"/>
                        </a:rPr>
                        <m:t>=</m:t>
                      </m:r>
                      <m:f>
                        <m:fPr>
                          <m:ctrlPr>
                            <a:rPr lang="en-IN" sz="2400" i="1" kern="0">
                              <a:solidFill>
                                <a:srgbClr val="FFFFFF"/>
                              </a:solidFill>
                              <a:latin typeface="Cambria Math" panose="02040503050406030204" pitchFamily="18" charset="0"/>
                              <a:sym typeface="Arial"/>
                            </a:rPr>
                          </m:ctrlPr>
                        </m:fPr>
                        <m:num>
                          <m:r>
                            <m:rPr>
                              <m:sty m:val="p"/>
                            </m:rPr>
                            <a:rPr lang="en-IN" sz="2400" kern="0">
                              <a:solidFill>
                                <a:srgbClr val="FFFFFF"/>
                              </a:solidFill>
                              <a:latin typeface="Cambria Math" panose="02040503050406030204" pitchFamily="18" charset="0"/>
                              <a:sym typeface="Arial"/>
                            </a:rPr>
                            <m:t>Distance</m:t>
                          </m:r>
                        </m:num>
                        <m:den>
                          <m:r>
                            <m:rPr>
                              <m:sty m:val="p"/>
                            </m:rPr>
                            <a:rPr lang="en-IN" sz="2400" kern="0">
                              <a:solidFill>
                                <a:srgbClr val="FFFFFF"/>
                              </a:solidFill>
                              <a:latin typeface="Cambria Math" panose="02040503050406030204" pitchFamily="18" charset="0"/>
                              <a:sym typeface="Arial"/>
                            </a:rPr>
                            <m:t>time</m:t>
                          </m:r>
                        </m:den>
                      </m:f>
                    </m:oMath>
                  </m:oMathPara>
                </a14:m>
                <a:endParaRPr lang="en-IN" sz="2400" kern="0" dirty="0">
                  <a:solidFill>
                    <a:srgbClr val="000000"/>
                  </a:solidFill>
                  <a:latin typeface="Arial"/>
                  <a:cs typeface="Arial"/>
                  <a:sym typeface="Aria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248885" y="5879257"/>
                <a:ext cx="2311964" cy="783804"/>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39285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5"/>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13</a:t>
            </a:fld>
            <a:endParaRPr kern="0" dirty="0"/>
          </a:p>
        </p:txBody>
      </p:sp>
      <p:sp>
        <p:nvSpPr>
          <p:cNvPr id="364" name="Google Shape;364;p45"/>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65" name="Google Shape;365;p45"/>
          <p:cNvSpPr/>
          <p:nvPr/>
        </p:nvSpPr>
        <p:spPr>
          <a:xfrm>
            <a:off x="609400" y="1406300"/>
            <a:ext cx="27764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Measuring a Physical Quantity</a:t>
            </a:r>
            <a:endParaRPr sz="2400" kern="0" dirty="0">
              <a:solidFill>
                <a:srgbClr val="FFFFFF"/>
              </a:solidFill>
              <a:latin typeface="Cambria Math"/>
              <a:ea typeface="Cambria Math"/>
              <a:cs typeface="Cambria Math"/>
              <a:sym typeface="Cambria Math"/>
            </a:endParaRPr>
          </a:p>
        </p:txBody>
      </p:sp>
      <p:pic>
        <p:nvPicPr>
          <p:cNvPr id="2" name="Picture 1">
            <a:extLst>
              <a:ext uri="{FF2B5EF4-FFF2-40B4-BE49-F238E27FC236}">
                <a16:creationId xmlns:a16="http://schemas.microsoft.com/office/drawing/2014/main" id="{5FDBEC5C-61C1-406B-9508-DE28AB0AC28D}"/>
              </a:ext>
            </a:extLst>
          </p:cNvPr>
          <p:cNvPicPr>
            <a:picLocks noChangeAspect="1"/>
          </p:cNvPicPr>
          <p:nvPr/>
        </p:nvPicPr>
        <p:blipFill>
          <a:blip r:embed="rId3"/>
          <a:stretch>
            <a:fillRect/>
          </a:stretch>
        </p:blipFill>
        <p:spPr>
          <a:xfrm>
            <a:off x="3385800" y="2487351"/>
            <a:ext cx="6731000" cy="3873500"/>
          </a:xfrm>
          <a:prstGeom prst="rect">
            <a:avLst/>
          </a:prstGeom>
        </p:spPr>
      </p:pic>
    </p:spTree>
    <p:extLst>
      <p:ext uri="{BB962C8B-B14F-4D97-AF65-F5344CB8AC3E}">
        <p14:creationId xmlns:p14="http://schemas.microsoft.com/office/powerpoint/2010/main" val="218356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5"/>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14</a:t>
            </a:fld>
            <a:endParaRPr kern="0" dirty="0"/>
          </a:p>
        </p:txBody>
      </p:sp>
      <p:sp>
        <p:nvSpPr>
          <p:cNvPr id="364" name="Google Shape;364;p45"/>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65" name="Google Shape;365;p45"/>
          <p:cNvSpPr/>
          <p:nvPr/>
        </p:nvSpPr>
        <p:spPr>
          <a:xfrm>
            <a:off x="609400" y="1406300"/>
            <a:ext cx="27764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Measuring a Physical Quantity</a:t>
            </a:r>
            <a:endParaRPr sz="2400" kern="0" dirty="0">
              <a:solidFill>
                <a:srgbClr val="FFFFFF"/>
              </a:solidFill>
              <a:latin typeface="Cambria Math"/>
              <a:ea typeface="Cambria Math"/>
              <a:cs typeface="Cambria Math"/>
              <a:sym typeface="Cambria Math"/>
            </a:endParaRPr>
          </a:p>
        </p:txBody>
      </p:sp>
      <p:pic>
        <p:nvPicPr>
          <p:cNvPr id="3" name="Picture 2">
            <a:extLst>
              <a:ext uri="{FF2B5EF4-FFF2-40B4-BE49-F238E27FC236}">
                <a16:creationId xmlns:a16="http://schemas.microsoft.com/office/drawing/2014/main" id="{059CB00C-CE86-4ECD-B3F7-0932D37B6AA7}"/>
              </a:ext>
            </a:extLst>
          </p:cNvPr>
          <p:cNvPicPr>
            <a:picLocks noChangeAspect="1"/>
          </p:cNvPicPr>
          <p:nvPr/>
        </p:nvPicPr>
        <p:blipFill rotWithShape="1">
          <a:blip r:embed="rId3"/>
          <a:srcRect l="9985" t="19561"/>
          <a:stretch/>
        </p:blipFill>
        <p:spPr>
          <a:xfrm>
            <a:off x="3686838" y="2242726"/>
            <a:ext cx="6367564" cy="4208873"/>
          </a:xfrm>
          <a:prstGeom prst="rect">
            <a:avLst/>
          </a:prstGeom>
        </p:spPr>
      </p:pic>
    </p:spTree>
    <p:extLst>
      <p:ext uri="{BB962C8B-B14F-4D97-AF65-F5344CB8AC3E}">
        <p14:creationId xmlns:p14="http://schemas.microsoft.com/office/powerpoint/2010/main" val="121684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7"/>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15</a:t>
            </a:fld>
            <a:endParaRPr kern="0" dirty="0"/>
          </a:p>
        </p:txBody>
      </p:sp>
      <p:sp>
        <p:nvSpPr>
          <p:cNvPr id="382" name="Google Shape;382;p47"/>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86" name="Google Shape;386;p47"/>
          <p:cNvSpPr/>
          <p:nvPr/>
        </p:nvSpPr>
        <p:spPr>
          <a:xfrm>
            <a:off x="609400" y="1406300"/>
            <a:ext cx="27764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Measuring a Physical Quantity</a:t>
            </a:r>
            <a:endParaRPr sz="2400" kern="0" dirty="0">
              <a:solidFill>
                <a:srgbClr val="FFFFFF"/>
              </a:solidFill>
              <a:latin typeface="Cambria Math"/>
              <a:ea typeface="Cambria Math"/>
              <a:cs typeface="Cambria Math"/>
              <a:sym typeface="Cambria Math"/>
            </a:endParaRPr>
          </a:p>
        </p:txBody>
      </p:sp>
      <p:cxnSp>
        <p:nvCxnSpPr>
          <p:cNvPr id="387" name="Google Shape;387;p47"/>
          <p:cNvCxnSpPr>
            <a:stCxn id="386" idx="3"/>
          </p:cNvCxnSpPr>
          <p:nvPr/>
        </p:nvCxnSpPr>
        <p:spPr>
          <a:xfrm rot="10800000" flipH="1">
            <a:off x="3385800" y="1916100"/>
            <a:ext cx="1165600" cy="4000"/>
          </a:xfrm>
          <a:prstGeom prst="straightConnector1">
            <a:avLst/>
          </a:prstGeom>
          <a:noFill/>
          <a:ln w="38100" cap="flat" cmpd="sng">
            <a:solidFill>
              <a:srgbClr val="00FF00"/>
            </a:solidFill>
            <a:prstDash val="solid"/>
            <a:round/>
            <a:headEnd type="none" w="med" len="med"/>
            <a:tailEnd type="triangle" w="med" len="med"/>
          </a:ln>
        </p:spPr>
      </p:cxnSp>
      <p:sp>
        <p:nvSpPr>
          <p:cNvPr id="9" name="Google Shape;373;p46">
            <a:extLst>
              <a:ext uri="{FF2B5EF4-FFF2-40B4-BE49-F238E27FC236}">
                <a16:creationId xmlns:a16="http://schemas.microsoft.com/office/drawing/2014/main" id="{9B77529A-D9FA-43BE-AE0C-47D406CCA8E9}"/>
              </a:ext>
            </a:extLst>
          </p:cNvPr>
          <p:cNvSpPr/>
          <p:nvPr/>
        </p:nvSpPr>
        <p:spPr>
          <a:xfrm>
            <a:off x="4626616" y="1406300"/>
            <a:ext cx="29388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Comparison</a:t>
            </a:r>
            <a:endParaRPr sz="2400"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10000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7"/>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16</a:t>
            </a:fld>
            <a:endParaRPr kern="0" dirty="0"/>
          </a:p>
        </p:txBody>
      </p:sp>
      <p:sp>
        <p:nvSpPr>
          <p:cNvPr id="382" name="Google Shape;382;p47"/>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86" name="Google Shape;386;p47"/>
          <p:cNvSpPr/>
          <p:nvPr/>
        </p:nvSpPr>
        <p:spPr>
          <a:xfrm>
            <a:off x="609400" y="1406300"/>
            <a:ext cx="27764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Measuring a Physical Quantity</a:t>
            </a:r>
            <a:endParaRPr sz="2400" kern="0" dirty="0">
              <a:solidFill>
                <a:srgbClr val="FFFFFF"/>
              </a:solidFill>
              <a:latin typeface="Cambria Math"/>
              <a:ea typeface="Cambria Math"/>
              <a:cs typeface="Cambria Math"/>
              <a:sym typeface="Cambria Math"/>
            </a:endParaRPr>
          </a:p>
        </p:txBody>
      </p:sp>
      <p:cxnSp>
        <p:nvCxnSpPr>
          <p:cNvPr id="387" name="Google Shape;387;p47"/>
          <p:cNvCxnSpPr>
            <a:stCxn id="386" idx="3"/>
          </p:cNvCxnSpPr>
          <p:nvPr/>
        </p:nvCxnSpPr>
        <p:spPr>
          <a:xfrm rot="10800000" flipH="1">
            <a:off x="3385800" y="1916100"/>
            <a:ext cx="1165600" cy="4000"/>
          </a:xfrm>
          <a:prstGeom prst="straightConnector1">
            <a:avLst/>
          </a:prstGeom>
          <a:noFill/>
          <a:ln w="38100" cap="flat" cmpd="sng">
            <a:solidFill>
              <a:srgbClr val="00FF00"/>
            </a:solidFill>
            <a:prstDash val="solid"/>
            <a:round/>
            <a:headEnd type="none" w="med" len="med"/>
            <a:tailEnd type="triangle" w="med" len="med"/>
          </a:ln>
        </p:spPr>
      </p:cxnSp>
      <p:sp>
        <p:nvSpPr>
          <p:cNvPr id="9" name="Google Shape;373;p46">
            <a:extLst>
              <a:ext uri="{FF2B5EF4-FFF2-40B4-BE49-F238E27FC236}">
                <a16:creationId xmlns:a16="http://schemas.microsoft.com/office/drawing/2014/main" id="{9B77529A-D9FA-43BE-AE0C-47D406CCA8E9}"/>
              </a:ext>
            </a:extLst>
          </p:cNvPr>
          <p:cNvSpPr/>
          <p:nvPr/>
        </p:nvSpPr>
        <p:spPr>
          <a:xfrm>
            <a:off x="4626616" y="1406300"/>
            <a:ext cx="29388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Comparison</a:t>
            </a:r>
            <a:endParaRPr sz="2400" kern="0" dirty="0">
              <a:solidFill>
                <a:srgbClr val="FFFFFF"/>
              </a:solidFill>
              <a:latin typeface="Cambria Math"/>
              <a:ea typeface="Cambria Math"/>
              <a:cs typeface="Cambria Math"/>
              <a:sym typeface="Cambria Math"/>
            </a:endParaRPr>
          </a:p>
        </p:txBody>
      </p:sp>
      <p:pic>
        <p:nvPicPr>
          <p:cNvPr id="3" name="Picture 2">
            <a:extLst>
              <a:ext uri="{FF2B5EF4-FFF2-40B4-BE49-F238E27FC236}">
                <a16:creationId xmlns:a16="http://schemas.microsoft.com/office/drawing/2014/main" id="{AC2ABD44-BF0C-4897-A6A6-ECB28AAA05EE}"/>
              </a:ext>
            </a:extLst>
          </p:cNvPr>
          <p:cNvPicPr>
            <a:picLocks noChangeAspect="1"/>
          </p:cNvPicPr>
          <p:nvPr/>
        </p:nvPicPr>
        <p:blipFill>
          <a:blip r:embed="rId3"/>
          <a:stretch>
            <a:fillRect/>
          </a:stretch>
        </p:blipFill>
        <p:spPr>
          <a:xfrm>
            <a:off x="2571986" y="2710593"/>
            <a:ext cx="6022623" cy="3995007"/>
          </a:xfrm>
          <a:prstGeom prst="rect">
            <a:avLst/>
          </a:prstGeom>
        </p:spPr>
      </p:pic>
    </p:spTree>
    <p:extLst>
      <p:ext uri="{BB962C8B-B14F-4D97-AF65-F5344CB8AC3E}">
        <p14:creationId xmlns:p14="http://schemas.microsoft.com/office/powerpoint/2010/main" val="3098733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8"/>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17</a:t>
            </a:fld>
            <a:endParaRPr kern="0" dirty="0"/>
          </a:p>
        </p:txBody>
      </p:sp>
      <p:sp>
        <p:nvSpPr>
          <p:cNvPr id="394" name="Google Shape;394;p48"/>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396" name="Google Shape;396;p48"/>
          <p:cNvSpPr/>
          <p:nvPr/>
        </p:nvSpPr>
        <p:spPr>
          <a:xfrm>
            <a:off x="9071800" y="1589084"/>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Unit</a:t>
            </a:r>
            <a:endParaRPr sz="2400" kern="0" dirty="0">
              <a:solidFill>
                <a:srgbClr val="FFFFFF"/>
              </a:solidFill>
              <a:latin typeface="Cambria Math"/>
              <a:ea typeface="Cambria Math"/>
              <a:cs typeface="Cambria Math"/>
              <a:sym typeface="Cambria Math"/>
            </a:endParaRPr>
          </a:p>
        </p:txBody>
      </p:sp>
      <p:cxnSp>
        <p:nvCxnSpPr>
          <p:cNvPr id="397" name="Google Shape;397;p48"/>
          <p:cNvCxnSpPr>
            <a:cxnSpLocks/>
            <a:stCxn id="396" idx="1"/>
          </p:cNvCxnSpPr>
          <p:nvPr/>
        </p:nvCxnSpPr>
        <p:spPr>
          <a:xfrm rot="10800000">
            <a:off x="7565400" y="1920084"/>
            <a:ext cx="1506400" cy="0"/>
          </a:xfrm>
          <a:prstGeom prst="straightConnector1">
            <a:avLst/>
          </a:prstGeom>
          <a:noFill/>
          <a:ln w="38100" cap="flat" cmpd="sng">
            <a:solidFill>
              <a:srgbClr val="00FF00"/>
            </a:solidFill>
            <a:prstDash val="solid"/>
            <a:round/>
            <a:headEnd type="triangle" w="med" len="med"/>
            <a:tailEnd type="none" w="med" len="med"/>
          </a:ln>
        </p:spPr>
      </p:cxnSp>
      <p:sp>
        <p:nvSpPr>
          <p:cNvPr id="398" name="Google Shape;398;p48"/>
          <p:cNvSpPr/>
          <p:nvPr/>
        </p:nvSpPr>
        <p:spPr>
          <a:xfrm>
            <a:off x="609400" y="1406300"/>
            <a:ext cx="27764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Measuring a Physical Quantity</a:t>
            </a:r>
            <a:endParaRPr sz="2400" kern="0" dirty="0">
              <a:solidFill>
                <a:srgbClr val="FFFFFF"/>
              </a:solidFill>
              <a:latin typeface="Cambria Math"/>
              <a:ea typeface="Cambria Math"/>
              <a:cs typeface="Cambria Math"/>
              <a:sym typeface="Cambria Math"/>
            </a:endParaRPr>
          </a:p>
        </p:txBody>
      </p:sp>
      <p:cxnSp>
        <p:nvCxnSpPr>
          <p:cNvPr id="399" name="Google Shape;399;p48"/>
          <p:cNvCxnSpPr>
            <a:stCxn id="398" idx="3"/>
          </p:cNvCxnSpPr>
          <p:nvPr/>
        </p:nvCxnSpPr>
        <p:spPr>
          <a:xfrm rot="10800000" flipH="1">
            <a:off x="3385800" y="1916100"/>
            <a:ext cx="1165600" cy="4000"/>
          </a:xfrm>
          <a:prstGeom prst="straightConnector1">
            <a:avLst/>
          </a:prstGeom>
          <a:noFill/>
          <a:ln w="38100" cap="flat" cmpd="sng">
            <a:solidFill>
              <a:srgbClr val="00FF00"/>
            </a:solidFill>
            <a:prstDash val="solid"/>
            <a:round/>
            <a:headEnd type="none" w="med" len="med"/>
            <a:tailEnd type="triangle" w="med" len="med"/>
          </a:ln>
        </p:spPr>
      </p:cxnSp>
      <p:sp>
        <p:nvSpPr>
          <p:cNvPr id="11" name="Google Shape;373;p46">
            <a:extLst>
              <a:ext uri="{FF2B5EF4-FFF2-40B4-BE49-F238E27FC236}">
                <a16:creationId xmlns:a16="http://schemas.microsoft.com/office/drawing/2014/main" id="{2D09577A-C0E6-4FFB-BCEB-682FC2F844BD}"/>
              </a:ext>
            </a:extLst>
          </p:cNvPr>
          <p:cNvSpPr/>
          <p:nvPr/>
        </p:nvSpPr>
        <p:spPr>
          <a:xfrm>
            <a:off x="4626616" y="1406300"/>
            <a:ext cx="29388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Comparison</a:t>
            </a:r>
            <a:endParaRPr sz="2400" kern="0" dirty="0">
              <a:solidFill>
                <a:srgbClr val="FFFFFF"/>
              </a:solidFill>
              <a:latin typeface="Cambria Math"/>
              <a:ea typeface="Cambria Math"/>
              <a:cs typeface="Cambria Math"/>
              <a:sym typeface="Cambria Math"/>
            </a:endParaRPr>
          </a:p>
        </p:txBody>
      </p:sp>
      <p:pic>
        <p:nvPicPr>
          <p:cNvPr id="12" name="Picture 11">
            <a:extLst>
              <a:ext uri="{FF2B5EF4-FFF2-40B4-BE49-F238E27FC236}">
                <a16:creationId xmlns:a16="http://schemas.microsoft.com/office/drawing/2014/main" id="{A277E312-2CFD-4811-82D2-CC30358E8244}"/>
              </a:ext>
            </a:extLst>
          </p:cNvPr>
          <p:cNvPicPr>
            <a:picLocks noChangeAspect="1"/>
          </p:cNvPicPr>
          <p:nvPr/>
        </p:nvPicPr>
        <p:blipFill>
          <a:blip r:embed="rId3"/>
          <a:stretch>
            <a:fillRect/>
          </a:stretch>
        </p:blipFill>
        <p:spPr>
          <a:xfrm>
            <a:off x="2571986" y="2710593"/>
            <a:ext cx="6022623" cy="3995007"/>
          </a:xfrm>
          <a:prstGeom prst="rect">
            <a:avLst/>
          </a:prstGeom>
        </p:spPr>
      </p:pic>
    </p:spTree>
    <p:extLst>
      <p:ext uri="{BB962C8B-B14F-4D97-AF65-F5344CB8AC3E}">
        <p14:creationId xmlns:p14="http://schemas.microsoft.com/office/powerpoint/2010/main" val="4264240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18</a:t>
            </a:fld>
            <a:endParaRPr kern="0" dirty="0"/>
          </a:p>
        </p:txBody>
      </p:sp>
      <p:sp>
        <p:nvSpPr>
          <p:cNvPr id="408" name="Google Shape;408;p49"/>
          <p:cNvSpPr txBox="1">
            <a:spLocks noGrp="1"/>
          </p:cNvSpPr>
          <p:nvPr>
            <p:ph type="title"/>
          </p:nvPr>
        </p:nvSpPr>
        <p:spPr>
          <a:xfrm>
            <a:off x="993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dirty="0">
              <a:solidFill>
                <a:srgbClr val="000000"/>
              </a:solidFill>
              <a:latin typeface="Cambria Math"/>
              <a:ea typeface="Cambria Math"/>
              <a:cs typeface="Cambria Math"/>
              <a:sym typeface="Cambria Math"/>
            </a:endParaRPr>
          </a:p>
        </p:txBody>
      </p:sp>
      <p:sp>
        <p:nvSpPr>
          <p:cNvPr id="409" name="Google Shape;409;p49"/>
          <p:cNvSpPr/>
          <p:nvPr/>
        </p:nvSpPr>
        <p:spPr>
          <a:xfrm>
            <a:off x="4626616" y="1406300"/>
            <a:ext cx="2938800" cy="1027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Comparison with Reference Standard</a:t>
            </a:r>
            <a:endParaRPr sz="2400" kern="0" dirty="0">
              <a:solidFill>
                <a:srgbClr val="FFFFFF"/>
              </a:solidFill>
              <a:latin typeface="Cambria Math"/>
              <a:ea typeface="Cambria Math"/>
              <a:cs typeface="Cambria Math"/>
              <a:sym typeface="Cambria Math"/>
            </a:endParaRPr>
          </a:p>
        </p:txBody>
      </p:sp>
      <p:pic>
        <p:nvPicPr>
          <p:cNvPr id="1026" name="Picture 2" descr="Iron Weight â Hexagonal w lifting ring 1kg">
            <a:extLst>
              <a:ext uri="{FF2B5EF4-FFF2-40B4-BE49-F238E27FC236}">
                <a16:creationId xmlns:a16="http://schemas.microsoft.com/office/drawing/2014/main" id="{8F51644B-C9B4-402F-B4EE-433CF929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284" y="3130629"/>
            <a:ext cx="4445000" cy="3175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6736A50-E19D-4635-B5BF-97A4158148FD}"/>
              </a:ext>
            </a:extLst>
          </p:cNvPr>
          <p:cNvPicPr>
            <a:picLocks noChangeAspect="1"/>
          </p:cNvPicPr>
          <p:nvPr/>
        </p:nvPicPr>
        <p:blipFill>
          <a:blip r:embed="rId4"/>
          <a:stretch>
            <a:fillRect/>
          </a:stretch>
        </p:blipFill>
        <p:spPr>
          <a:xfrm>
            <a:off x="6766408" y="2511686"/>
            <a:ext cx="3953873" cy="3726948"/>
          </a:xfrm>
          <a:prstGeom prst="rect">
            <a:avLst/>
          </a:prstGeom>
        </p:spPr>
      </p:pic>
    </p:spTree>
    <p:extLst>
      <p:ext uri="{BB962C8B-B14F-4D97-AF65-F5344CB8AC3E}">
        <p14:creationId xmlns:p14="http://schemas.microsoft.com/office/powerpoint/2010/main" val="1778289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1"/>
          <p:cNvSpPr txBox="1">
            <a:spLocks noGrp="1"/>
          </p:cNvSpPr>
          <p:nvPr>
            <p:ph type="body" idx="1"/>
          </p:nvPr>
        </p:nvSpPr>
        <p:spPr>
          <a:xfrm>
            <a:off x="100" y="950400"/>
            <a:ext cx="121920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r>
              <a:rPr lang="en" sz="2400" dirty="0">
                <a:solidFill>
                  <a:srgbClr val="00FF00"/>
                </a:solidFill>
                <a:latin typeface="Cambria Math"/>
                <a:ea typeface="Cambria Math"/>
                <a:cs typeface="Cambria Math"/>
                <a:sym typeface="Cambria Math"/>
              </a:rPr>
              <a:t>   </a:t>
            </a: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r>
              <a:rPr lang="en" sz="2400" dirty="0">
                <a:latin typeface="Cambria Math"/>
                <a:ea typeface="Cambria Math"/>
                <a:cs typeface="Cambria Math"/>
                <a:sym typeface="Cambria Math"/>
              </a:rPr>
              <a:t>      </a:t>
            </a:r>
            <a:endParaRPr sz="2400" dirty="0">
              <a:latin typeface="Cambria Math"/>
              <a:ea typeface="Cambria Math"/>
              <a:cs typeface="Cambria Math"/>
              <a:sym typeface="Cambria Math"/>
            </a:endParaRPr>
          </a:p>
        </p:txBody>
      </p:sp>
      <p:sp>
        <p:nvSpPr>
          <p:cNvPr id="431" name="Google Shape;431;p51"/>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19</a:t>
            </a:fld>
            <a:endParaRPr kern="0"/>
          </a:p>
        </p:txBody>
      </p:sp>
      <p:sp>
        <p:nvSpPr>
          <p:cNvPr id="432" name="Google Shape;432;p51"/>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439" name="Google Shape;439;p51"/>
          <p:cNvSpPr/>
          <p:nvPr/>
        </p:nvSpPr>
        <p:spPr>
          <a:xfrm>
            <a:off x="1261133" y="1721300"/>
            <a:ext cx="7414000" cy="839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Physical Quantity = Magnitude(n) × Unit(u) = n u</a:t>
            </a:r>
            <a:endParaRPr sz="2400" kern="0">
              <a:solidFill>
                <a:srgbClr val="FFFFFF"/>
              </a:solidFill>
              <a:latin typeface="Cambria Math"/>
              <a:ea typeface="Cambria Math"/>
              <a:cs typeface="Cambria Math"/>
              <a:sym typeface="Cambria Math"/>
            </a:endParaRPr>
          </a:p>
        </p:txBody>
      </p:sp>
      <p:pic>
        <p:nvPicPr>
          <p:cNvPr id="6" name="Picture 5">
            <a:extLst>
              <a:ext uri="{FF2B5EF4-FFF2-40B4-BE49-F238E27FC236}">
                <a16:creationId xmlns:a16="http://schemas.microsoft.com/office/drawing/2014/main" id="{695CA95A-50F6-4CB4-B82C-286FEB82BD38}"/>
              </a:ext>
            </a:extLst>
          </p:cNvPr>
          <p:cNvPicPr>
            <a:picLocks noChangeAspect="1"/>
          </p:cNvPicPr>
          <p:nvPr/>
        </p:nvPicPr>
        <p:blipFill>
          <a:blip r:embed="rId3"/>
          <a:stretch>
            <a:fillRect/>
          </a:stretch>
        </p:blipFill>
        <p:spPr>
          <a:xfrm>
            <a:off x="2571986" y="2710593"/>
            <a:ext cx="6022623" cy="3995007"/>
          </a:xfrm>
          <a:prstGeom prst="rect">
            <a:avLst/>
          </a:prstGeom>
        </p:spPr>
      </p:pic>
    </p:spTree>
    <p:extLst>
      <p:ext uri="{BB962C8B-B14F-4D97-AF65-F5344CB8AC3E}">
        <p14:creationId xmlns:p14="http://schemas.microsoft.com/office/powerpoint/2010/main" val="2260084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1"/>
          <p:cNvSpPr txBox="1">
            <a:spLocks noGrp="1"/>
          </p:cNvSpPr>
          <p:nvPr>
            <p:ph type="body" idx="1"/>
          </p:nvPr>
        </p:nvSpPr>
        <p:spPr>
          <a:xfrm>
            <a:off x="100" y="950400"/>
            <a:ext cx="121920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r>
              <a:rPr lang="en" sz="2400" dirty="0">
                <a:solidFill>
                  <a:srgbClr val="00FF00"/>
                </a:solidFill>
                <a:latin typeface="Cambria Math"/>
                <a:ea typeface="Cambria Math"/>
                <a:cs typeface="Cambria Math"/>
                <a:sym typeface="Cambria Math"/>
              </a:rPr>
              <a:t>   </a:t>
            </a: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endParaRPr sz="2933" dirty="0">
              <a:solidFill>
                <a:srgbClr val="00FF00"/>
              </a:solidFill>
              <a:latin typeface="Cambria Math"/>
              <a:ea typeface="Cambria Math"/>
              <a:cs typeface="Cambria Math"/>
              <a:sym typeface="Cambria Math"/>
            </a:endParaRPr>
          </a:p>
          <a:p>
            <a:pPr marL="0" indent="0">
              <a:lnSpc>
                <a:spcPct val="100000"/>
              </a:lnSpc>
              <a:buNone/>
            </a:pPr>
            <a:r>
              <a:rPr lang="en" sz="2400" dirty="0">
                <a:latin typeface="Cambria Math"/>
                <a:ea typeface="Cambria Math"/>
                <a:cs typeface="Cambria Math"/>
                <a:sym typeface="Cambria Math"/>
              </a:rPr>
              <a:t>      </a:t>
            </a:r>
            <a:endParaRPr sz="2400" dirty="0">
              <a:latin typeface="Cambria Math"/>
              <a:ea typeface="Cambria Math"/>
              <a:cs typeface="Cambria Math"/>
              <a:sym typeface="Cambria Math"/>
            </a:endParaRPr>
          </a:p>
          <a:p>
            <a:pPr marL="0" indent="0">
              <a:lnSpc>
                <a:spcPct val="100000"/>
              </a:lnSpc>
              <a:buNone/>
            </a:pPr>
            <a:r>
              <a:rPr lang="en" sz="2400" dirty="0">
                <a:latin typeface="Cambria Math"/>
                <a:ea typeface="Cambria Math"/>
                <a:cs typeface="Cambria Math"/>
                <a:sym typeface="Cambria Math"/>
              </a:rPr>
              <a:t>           Example:Length =  28  m</a:t>
            </a:r>
            <a:endParaRPr sz="2400" dirty="0">
              <a:latin typeface="Cambria Math"/>
              <a:ea typeface="Cambria Math"/>
              <a:cs typeface="Cambria Math"/>
              <a:sym typeface="Cambria Math"/>
            </a:endParaRPr>
          </a:p>
        </p:txBody>
      </p:sp>
      <p:sp>
        <p:nvSpPr>
          <p:cNvPr id="431" name="Google Shape;431;p51"/>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20</a:t>
            </a:fld>
            <a:endParaRPr kern="0"/>
          </a:p>
        </p:txBody>
      </p:sp>
      <p:sp>
        <p:nvSpPr>
          <p:cNvPr id="432" name="Google Shape;432;p51"/>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433" name="Google Shape;433;p51"/>
          <p:cNvSpPr/>
          <p:nvPr/>
        </p:nvSpPr>
        <p:spPr>
          <a:xfrm>
            <a:off x="3298277" y="3050153"/>
            <a:ext cx="484800" cy="594000"/>
          </a:xfrm>
          <a:prstGeom prst="ellipse">
            <a:avLst/>
          </a:prstGeom>
          <a:noFill/>
          <a:ln w="9525" cap="flat" cmpd="sng">
            <a:solidFill>
              <a:srgbClr val="0000FF"/>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4" name="Google Shape;434;p51"/>
          <p:cNvSpPr txBox="1"/>
          <p:nvPr/>
        </p:nvSpPr>
        <p:spPr>
          <a:xfrm>
            <a:off x="1478100" y="4650500"/>
            <a:ext cx="1712800" cy="594000"/>
          </a:xfrm>
          <a:prstGeom prst="rect">
            <a:avLst/>
          </a:prstGeom>
          <a:noFill/>
          <a:ln w="38100" cap="flat" cmpd="sng">
            <a:solidFill>
              <a:srgbClr val="0000FF"/>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Magnitude</a:t>
            </a:r>
            <a:endParaRPr sz="2400" kern="0">
              <a:solidFill>
                <a:srgbClr val="FFFFFF"/>
              </a:solidFill>
              <a:latin typeface="Cambria Math"/>
              <a:ea typeface="Cambria Math"/>
              <a:cs typeface="Cambria Math"/>
              <a:sym typeface="Cambria Math"/>
            </a:endParaRPr>
          </a:p>
        </p:txBody>
      </p:sp>
      <p:cxnSp>
        <p:nvCxnSpPr>
          <p:cNvPr id="435" name="Google Shape;435;p51"/>
          <p:cNvCxnSpPr>
            <a:stCxn id="436" idx="0"/>
            <a:endCxn id="437" idx="4"/>
          </p:cNvCxnSpPr>
          <p:nvPr/>
        </p:nvCxnSpPr>
        <p:spPr>
          <a:xfrm rot="5400000" flipH="1">
            <a:off x="4095967" y="3573500"/>
            <a:ext cx="1006400" cy="1147600"/>
          </a:xfrm>
          <a:prstGeom prst="bentConnector3">
            <a:avLst>
              <a:gd name="adj1" fmla="val 49997"/>
            </a:avLst>
          </a:prstGeom>
          <a:noFill/>
          <a:ln w="28575" cap="flat" cmpd="sng">
            <a:solidFill>
              <a:srgbClr val="00FF00"/>
            </a:solidFill>
            <a:prstDash val="solid"/>
            <a:round/>
            <a:headEnd type="triangle" w="med" len="med"/>
            <a:tailEnd type="none" w="med" len="med"/>
          </a:ln>
        </p:spPr>
      </p:cxnSp>
      <p:sp>
        <p:nvSpPr>
          <p:cNvPr id="436" name="Google Shape;436;p51"/>
          <p:cNvSpPr txBox="1"/>
          <p:nvPr/>
        </p:nvSpPr>
        <p:spPr>
          <a:xfrm>
            <a:off x="4339567" y="4650500"/>
            <a:ext cx="1666800" cy="594000"/>
          </a:xfrm>
          <a:prstGeom prst="rect">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Unit</a:t>
            </a:r>
            <a:endParaRPr sz="2400" kern="0">
              <a:solidFill>
                <a:srgbClr val="FFFFFF"/>
              </a:solidFill>
              <a:latin typeface="Cambria Math"/>
              <a:ea typeface="Cambria Math"/>
              <a:cs typeface="Cambria Math"/>
              <a:sym typeface="Cambria Math"/>
            </a:endParaRPr>
          </a:p>
        </p:txBody>
      </p:sp>
      <p:sp>
        <p:nvSpPr>
          <p:cNvPr id="437" name="Google Shape;437;p51"/>
          <p:cNvSpPr/>
          <p:nvPr/>
        </p:nvSpPr>
        <p:spPr>
          <a:xfrm>
            <a:off x="3783064" y="3050153"/>
            <a:ext cx="484800" cy="5940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2400" kern="0">
              <a:solidFill>
                <a:srgbClr val="FFFFFF"/>
              </a:solidFill>
              <a:latin typeface="Arial"/>
              <a:cs typeface="Arial"/>
              <a:sym typeface="Arial"/>
            </a:endParaRPr>
          </a:p>
        </p:txBody>
      </p:sp>
      <p:cxnSp>
        <p:nvCxnSpPr>
          <p:cNvPr id="438" name="Google Shape;438;p51"/>
          <p:cNvCxnSpPr>
            <a:stCxn id="434" idx="0"/>
            <a:endCxn id="433" idx="4"/>
          </p:cNvCxnSpPr>
          <p:nvPr/>
        </p:nvCxnSpPr>
        <p:spPr>
          <a:xfrm rot="-5400000">
            <a:off x="2434300" y="3544300"/>
            <a:ext cx="1006400" cy="1206000"/>
          </a:xfrm>
          <a:prstGeom prst="bentConnector3">
            <a:avLst>
              <a:gd name="adj1" fmla="val 49997"/>
            </a:avLst>
          </a:prstGeom>
          <a:noFill/>
          <a:ln w="28575" cap="flat" cmpd="sng">
            <a:solidFill>
              <a:srgbClr val="00FF00"/>
            </a:solidFill>
            <a:prstDash val="solid"/>
            <a:round/>
            <a:headEnd type="triangle" w="med" len="med"/>
            <a:tailEnd type="none" w="med" len="med"/>
          </a:ln>
        </p:spPr>
      </p:cxnSp>
      <p:sp>
        <p:nvSpPr>
          <p:cNvPr id="439" name="Google Shape;439;p51"/>
          <p:cNvSpPr/>
          <p:nvPr/>
        </p:nvSpPr>
        <p:spPr>
          <a:xfrm>
            <a:off x="1261133" y="1721300"/>
            <a:ext cx="7414000" cy="839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Physical Quantity = Magnitude(n) × Unit(u) = n u</a:t>
            </a:r>
            <a:endParaRPr sz="2400"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266895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8"/>
                                        </p:tgtEl>
                                        <p:attrNameLst>
                                          <p:attrName>style.visibility</p:attrName>
                                        </p:attrNameLst>
                                      </p:cBhvr>
                                      <p:to>
                                        <p:strVal val="visible"/>
                                      </p:to>
                                    </p:set>
                                    <p:animEffect transition="in" filter="wipe(up)">
                                      <p:cBhvr>
                                        <p:cTn id="7" dur="500"/>
                                        <p:tgtEl>
                                          <p:spTgt spid="43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34"/>
                                        </p:tgtEl>
                                        <p:attrNameLst>
                                          <p:attrName>style.visibility</p:attrName>
                                        </p:attrNameLst>
                                      </p:cBhvr>
                                      <p:to>
                                        <p:strVal val="visible"/>
                                      </p:to>
                                    </p:set>
                                    <p:animEffect transition="in" filter="wipe(up)">
                                      <p:cBhvr>
                                        <p:cTn id="10" dur="500"/>
                                        <p:tgtEl>
                                          <p:spTgt spid="43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33"/>
                                        </p:tgtEl>
                                        <p:attrNameLst>
                                          <p:attrName>style.visibility</p:attrName>
                                        </p:attrNameLst>
                                      </p:cBhvr>
                                      <p:to>
                                        <p:strVal val="visible"/>
                                      </p:to>
                                    </p:set>
                                    <p:animEffect transition="in" filter="wipe(left)">
                                      <p:cBhvr>
                                        <p:cTn id="13" dur="500"/>
                                        <p:tgtEl>
                                          <p:spTgt spid="43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37"/>
                                        </p:tgtEl>
                                        <p:attrNameLst>
                                          <p:attrName>style.visibility</p:attrName>
                                        </p:attrNameLst>
                                      </p:cBhvr>
                                      <p:to>
                                        <p:strVal val="visible"/>
                                      </p:to>
                                    </p:set>
                                    <p:animEffect transition="in" filter="wipe(left)">
                                      <p:cBhvr>
                                        <p:cTn id="18" dur="500"/>
                                        <p:tgtEl>
                                          <p:spTgt spid="437"/>
                                        </p:tgtEl>
                                      </p:cBhvr>
                                    </p:animEffect>
                                  </p:childTnLst>
                                </p:cTn>
                              </p:par>
                              <p:par>
                                <p:cTn id="19" presetID="22" presetClass="entr" presetSubtype="1" fill="hold" nodeType="withEffect">
                                  <p:stCondLst>
                                    <p:cond delay="0"/>
                                  </p:stCondLst>
                                  <p:childTnLst>
                                    <p:set>
                                      <p:cBhvr>
                                        <p:cTn id="20" dur="1" fill="hold">
                                          <p:stCondLst>
                                            <p:cond delay="0"/>
                                          </p:stCondLst>
                                        </p:cTn>
                                        <p:tgtEl>
                                          <p:spTgt spid="435"/>
                                        </p:tgtEl>
                                        <p:attrNameLst>
                                          <p:attrName>style.visibility</p:attrName>
                                        </p:attrNameLst>
                                      </p:cBhvr>
                                      <p:to>
                                        <p:strVal val="visible"/>
                                      </p:to>
                                    </p:set>
                                    <p:animEffect transition="in" filter="wipe(up)">
                                      <p:cBhvr>
                                        <p:cTn id="21" dur="500"/>
                                        <p:tgtEl>
                                          <p:spTgt spid="435"/>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36"/>
                                        </p:tgtEl>
                                        <p:attrNameLst>
                                          <p:attrName>style.visibility</p:attrName>
                                        </p:attrNameLst>
                                      </p:cBhvr>
                                      <p:to>
                                        <p:strVal val="visible"/>
                                      </p:to>
                                    </p:set>
                                    <p:animEffect transition="in" filter="wipe(up)">
                                      <p:cBhvr>
                                        <p:cTn id="24"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 grpId="0" animBg="1"/>
      <p:bldP spid="434" grpId="0" animBg="1"/>
      <p:bldP spid="436" grpId="0" animBg="1"/>
      <p:bldP spid="4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5"/>
          <p:cNvSpPr txBox="1">
            <a:spLocks noChangeArrowheads="1"/>
          </p:cNvSpPr>
          <p:nvPr/>
        </p:nvSpPr>
        <p:spPr bwMode="auto">
          <a:xfrm>
            <a:off x="1847850" y="269875"/>
            <a:ext cx="43815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99FF99"/>
                </a:solidFill>
              </a:rPr>
              <a:t>Fundamental  Units in SI system</a:t>
            </a:r>
          </a:p>
        </p:txBody>
      </p:sp>
      <p:graphicFrame>
        <p:nvGraphicFramePr>
          <p:cNvPr id="109" name="Table 108"/>
          <p:cNvGraphicFramePr>
            <a:graphicFrameLocks noGrp="1"/>
          </p:cNvGraphicFramePr>
          <p:nvPr/>
        </p:nvGraphicFramePr>
        <p:xfrm>
          <a:off x="1965325" y="908050"/>
          <a:ext cx="8351838" cy="5184774"/>
        </p:xfrm>
        <a:graphic>
          <a:graphicData uri="http://schemas.openxmlformats.org/drawingml/2006/table">
            <a:tbl>
              <a:tblPr firstRow="1" bandRow="1">
                <a:tableStyleId>{5C22544A-7EE6-4342-B048-85BDC9FD1C3A}</a:tableStyleId>
              </a:tblPr>
              <a:tblGrid>
                <a:gridCol w="1583969">
                  <a:extLst>
                    <a:ext uri="{9D8B030D-6E8A-4147-A177-3AD203B41FA5}">
                      <a16:colId xmlns:a16="http://schemas.microsoft.com/office/drawing/2014/main" val="20000"/>
                    </a:ext>
                  </a:extLst>
                </a:gridCol>
                <a:gridCol w="2015662">
                  <a:extLst>
                    <a:ext uri="{9D8B030D-6E8A-4147-A177-3AD203B41FA5}">
                      <a16:colId xmlns:a16="http://schemas.microsoft.com/office/drawing/2014/main" val="20001"/>
                    </a:ext>
                  </a:extLst>
                </a:gridCol>
                <a:gridCol w="1618320">
                  <a:extLst>
                    <a:ext uri="{9D8B030D-6E8A-4147-A177-3AD203B41FA5}">
                      <a16:colId xmlns:a16="http://schemas.microsoft.com/office/drawing/2014/main" val="20002"/>
                    </a:ext>
                  </a:extLst>
                </a:gridCol>
                <a:gridCol w="1753581">
                  <a:extLst>
                    <a:ext uri="{9D8B030D-6E8A-4147-A177-3AD203B41FA5}">
                      <a16:colId xmlns:a16="http://schemas.microsoft.com/office/drawing/2014/main" val="20003"/>
                    </a:ext>
                  </a:extLst>
                </a:gridCol>
                <a:gridCol w="1380306">
                  <a:extLst>
                    <a:ext uri="{9D8B030D-6E8A-4147-A177-3AD203B41FA5}">
                      <a16:colId xmlns:a16="http://schemas.microsoft.com/office/drawing/2014/main" val="20004"/>
                    </a:ext>
                  </a:extLst>
                </a:gridCol>
              </a:tblGrid>
              <a:tr h="426183">
                <a:tc>
                  <a:txBody>
                    <a:bodyPr/>
                    <a:lstStyle/>
                    <a:p>
                      <a:pPr algn="ctr"/>
                      <a:endParaRPr lang="en-IN" sz="2000" dirty="0">
                        <a:solidFill>
                          <a:srgbClr val="0033CC"/>
                        </a:solidFill>
                      </a:endParaRPr>
                    </a:p>
                  </a:txBody>
                  <a:tcPr marL="91428" marR="91428" marT="45714" marB="45714"/>
                </a:tc>
                <a:tc>
                  <a:txBody>
                    <a:bodyPr/>
                    <a:lstStyle/>
                    <a:p>
                      <a:pPr algn="ctr"/>
                      <a:r>
                        <a:rPr lang="en-US" sz="2000" dirty="0" smtClean="0">
                          <a:solidFill>
                            <a:srgbClr val="0033CC"/>
                          </a:solidFill>
                        </a:rPr>
                        <a:t>Quantity</a:t>
                      </a:r>
                      <a:endParaRPr lang="en-IN" sz="2000" dirty="0">
                        <a:solidFill>
                          <a:srgbClr val="0033CC"/>
                        </a:solidFill>
                      </a:endParaRPr>
                    </a:p>
                  </a:txBody>
                  <a:tcPr marL="91428" marR="91428" marT="45714" marB="45714" anchor="ctr"/>
                </a:tc>
                <a:tc>
                  <a:txBody>
                    <a:bodyPr/>
                    <a:lstStyle/>
                    <a:p>
                      <a:pPr algn="ctr"/>
                      <a:r>
                        <a:rPr lang="en-US" sz="2000" dirty="0" smtClean="0">
                          <a:solidFill>
                            <a:srgbClr val="0033CC"/>
                          </a:solidFill>
                        </a:rPr>
                        <a:t>Symbol</a:t>
                      </a:r>
                      <a:endParaRPr lang="en-IN" sz="2000" dirty="0">
                        <a:solidFill>
                          <a:srgbClr val="0033CC"/>
                        </a:solidFill>
                      </a:endParaRPr>
                    </a:p>
                  </a:txBody>
                  <a:tcPr marL="91428" marR="91428" marT="45714" marB="45714" anchor="ctr"/>
                </a:tc>
                <a:tc>
                  <a:txBody>
                    <a:bodyPr/>
                    <a:lstStyle/>
                    <a:p>
                      <a:pPr algn="ctr"/>
                      <a:r>
                        <a:rPr lang="en-US" sz="2000" dirty="0" smtClean="0">
                          <a:solidFill>
                            <a:srgbClr val="0033CC"/>
                          </a:solidFill>
                        </a:rPr>
                        <a:t>SI unit</a:t>
                      </a:r>
                      <a:endParaRPr lang="en-IN" sz="2000" dirty="0">
                        <a:solidFill>
                          <a:srgbClr val="FF0000"/>
                        </a:solidFill>
                      </a:endParaRPr>
                    </a:p>
                  </a:txBody>
                  <a:tcPr marL="91428" marR="91428" marT="45714" marB="45714" anchor="ctr"/>
                </a:tc>
                <a:tc>
                  <a:txBody>
                    <a:bodyPr/>
                    <a:lstStyle/>
                    <a:p>
                      <a:pPr algn="ctr"/>
                      <a:r>
                        <a:rPr lang="en-US" sz="2000" dirty="0" smtClean="0">
                          <a:solidFill>
                            <a:srgbClr val="0033CC"/>
                          </a:solidFill>
                        </a:rPr>
                        <a:t>Symbol</a:t>
                      </a:r>
                      <a:endParaRPr lang="en-IN" sz="2000" dirty="0">
                        <a:solidFill>
                          <a:srgbClr val="0033CC"/>
                        </a:solidFill>
                      </a:endParaRPr>
                    </a:p>
                  </a:txBody>
                  <a:tcPr marL="91428" marR="91428" marT="45714" marB="45714" anchor="ctr"/>
                </a:tc>
                <a:extLst>
                  <a:ext uri="{0D108BD9-81ED-4DB2-BD59-A6C34878D82A}">
                    <a16:rowId xmlns:a16="http://schemas.microsoft.com/office/drawing/2014/main" val="10000"/>
                  </a:ext>
                </a:extLst>
              </a:tr>
              <a:tr h="460402">
                <a:tc rowSpan="7">
                  <a:txBody>
                    <a:bodyPr/>
                    <a:lstStyle/>
                    <a:p>
                      <a:pPr algn="l"/>
                      <a:r>
                        <a:rPr lang="en-US" sz="1800" b="1" dirty="0" smtClean="0">
                          <a:solidFill>
                            <a:srgbClr val="C00000"/>
                          </a:solidFill>
                        </a:rPr>
                        <a:t>Main units</a:t>
                      </a:r>
                      <a:endParaRPr lang="en-IN" sz="1800" b="1" dirty="0">
                        <a:solidFill>
                          <a:srgbClr val="C00000"/>
                        </a:solidFill>
                      </a:endParaRPr>
                    </a:p>
                  </a:txBody>
                  <a:tcPr marL="91428" marR="91428" marT="45714" marB="45714" anchor="ctr" anchorCtr="1"/>
                </a:tc>
                <a:tc>
                  <a:txBody>
                    <a:bodyPr/>
                    <a:lstStyle/>
                    <a:p>
                      <a:pPr algn="l"/>
                      <a:r>
                        <a:rPr lang="en-US" sz="1800" b="1" dirty="0" smtClean="0">
                          <a:solidFill>
                            <a:srgbClr val="C00000"/>
                          </a:solidFill>
                        </a:rPr>
                        <a:t>Length</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L</a:t>
                      </a:r>
                      <a:endParaRPr lang="en-IN" sz="1800" b="1" dirty="0">
                        <a:solidFill>
                          <a:srgbClr val="C00000"/>
                        </a:solidFill>
                      </a:endParaRPr>
                    </a:p>
                  </a:txBody>
                  <a:tcPr marL="91428" marR="91428" marT="45714" marB="45714"/>
                </a:tc>
                <a:tc>
                  <a:txBody>
                    <a:bodyPr/>
                    <a:lstStyle/>
                    <a:p>
                      <a:pPr algn="l"/>
                      <a:r>
                        <a:rPr lang="en-US" sz="1800" b="1" u="none" dirty="0" err="1" smtClean="0">
                          <a:solidFill>
                            <a:srgbClr val="C00000"/>
                          </a:solidFill>
                        </a:rPr>
                        <a:t>metre</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m</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1"/>
                  </a:ext>
                </a:extLst>
              </a:tr>
              <a:tr h="450393">
                <a:tc vMerge="1">
                  <a:txBody>
                    <a:bodyPr/>
                    <a:lstStyle/>
                    <a:p>
                      <a:pPr algn="l"/>
                      <a:endParaRPr lang="en-IN" dirty="0"/>
                    </a:p>
                  </a:txBody>
                  <a:tcPr/>
                </a:tc>
                <a:tc>
                  <a:txBody>
                    <a:bodyPr/>
                    <a:lstStyle/>
                    <a:p>
                      <a:pPr algn="l"/>
                      <a:r>
                        <a:rPr lang="en-US" sz="1800" b="1" dirty="0" smtClean="0">
                          <a:solidFill>
                            <a:srgbClr val="C00000"/>
                          </a:solidFill>
                        </a:rPr>
                        <a:t>Mass</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M</a:t>
                      </a:r>
                      <a:endParaRPr lang="en-IN" sz="1800" b="1" dirty="0">
                        <a:solidFill>
                          <a:srgbClr val="C00000"/>
                        </a:solidFill>
                      </a:endParaRPr>
                    </a:p>
                  </a:txBody>
                  <a:tcPr marL="91428" marR="91428" marT="45714" marB="45714"/>
                </a:tc>
                <a:tc>
                  <a:txBody>
                    <a:bodyPr/>
                    <a:lstStyle/>
                    <a:p>
                      <a:pPr algn="l"/>
                      <a:r>
                        <a:rPr lang="en-US" sz="1800" b="1" u="none" dirty="0" err="1" smtClean="0">
                          <a:solidFill>
                            <a:srgbClr val="C00000"/>
                          </a:solidFill>
                        </a:rPr>
                        <a:t>kilogramme</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kg</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2"/>
                  </a:ext>
                </a:extLst>
              </a:tr>
              <a:tr h="450393">
                <a:tc vMerge="1">
                  <a:txBody>
                    <a:bodyPr/>
                    <a:lstStyle/>
                    <a:p>
                      <a:pPr algn="l"/>
                      <a:endParaRPr lang="en-IN" dirty="0"/>
                    </a:p>
                  </a:txBody>
                  <a:tcPr/>
                </a:tc>
                <a:tc>
                  <a:txBody>
                    <a:bodyPr/>
                    <a:lstStyle/>
                    <a:p>
                      <a:pPr algn="l"/>
                      <a:r>
                        <a:rPr lang="en-US" sz="1800" b="1" dirty="0" smtClean="0">
                          <a:solidFill>
                            <a:srgbClr val="C00000"/>
                          </a:solidFill>
                        </a:rPr>
                        <a:t>Time</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T</a:t>
                      </a:r>
                      <a:endParaRPr lang="en-IN" sz="1800" b="1" dirty="0">
                        <a:solidFill>
                          <a:srgbClr val="C00000"/>
                        </a:solidFill>
                      </a:endParaRPr>
                    </a:p>
                  </a:txBody>
                  <a:tcPr marL="91428" marR="91428" marT="45714" marB="45714"/>
                </a:tc>
                <a:tc>
                  <a:txBody>
                    <a:bodyPr/>
                    <a:lstStyle/>
                    <a:p>
                      <a:pPr algn="l"/>
                      <a:r>
                        <a:rPr lang="en-US" sz="1800" b="1" u="none" dirty="0" smtClean="0">
                          <a:solidFill>
                            <a:srgbClr val="C00000"/>
                          </a:solidFill>
                        </a:rPr>
                        <a:t>second</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s</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3"/>
                  </a:ext>
                </a:extLst>
              </a:tr>
              <a:tr h="491442">
                <a:tc vMerge="1">
                  <a:txBody>
                    <a:bodyPr/>
                    <a:lstStyle/>
                    <a:p>
                      <a:pPr algn="l"/>
                      <a:endParaRPr lang="en-IN" dirty="0"/>
                    </a:p>
                  </a:txBody>
                  <a:tcPr/>
                </a:tc>
                <a:tc>
                  <a:txBody>
                    <a:bodyPr/>
                    <a:lstStyle/>
                    <a:p>
                      <a:pPr algn="l"/>
                      <a:r>
                        <a:rPr lang="en-US" sz="1800" b="1" dirty="0" smtClean="0">
                          <a:solidFill>
                            <a:srgbClr val="C00000"/>
                          </a:solidFill>
                        </a:rPr>
                        <a:t>Electric Current</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A</a:t>
                      </a:r>
                      <a:endParaRPr lang="en-IN" sz="1800" b="1" dirty="0">
                        <a:solidFill>
                          <a:srgbClr val="C00000"/>
                        </a:solidFill>
                      </a:endParaRPr>
                    </a:p>
                  </a:txBody>
                  <a:tcPr marL="91428" marR="91428" marT="45714" marB="45714"/>
                </a:tc>
                <a:tc>
                  <a:txBody>
                    <a:bodyPr/>
                    <a:lstStyle/>
                    <a:p>
                      <a:pPr algn="l"/>
                      <a:r>
                        <a:rPr lang="en-US" sz="1800" b="1" u="none" dirty="0" smtClean="0">
                          <a:solidFill>
                            <a:srgbClr val="C00000"/>
                          </a:solidFill>
                        </a:rPr>
                        <a:t>ampere</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A</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4"/>
                  </a:ext>
                </a:extLst>
              </a:tr>
              <a:tr h="777391">
                <a:tc vMerge="1">
                  <a:txBody>
                    <a:bodyPr/>
                    <a:lstStyle/>
                    <a:p>
                      <a:pPr algn="l"/>
                      <a:endParaRPr lang="en-IN" dirty="0"/>
                    </a:p>
                  </a:txBody>
                  <a:tcPr/>
                </a:tc>
                <a:tc>
                  <a:txBody>
                    <a:bodyPr/>
                    <a:lstStyle/>
                    <a:p>
                      <a:pPr algn="l"/>
                      <a:r>
                        <a:rPr lang="en-US" sz="1800" b="1" dirty="0" smtClean="0">
                          <a:solidFill>
                            <a:srgbClr val="C00000"/>
                          </a:solidFill>
                        </a:rPr>
                        <a:t>Thermodynamic Temperature</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K</a:t>
                      </a:r>
                      <a:endParaRPr lang="en-IN" sz="1800" b="1" dirty="0">
                        <a:solidFill>
                          <a:srgbClr val="C00000"/>
                        </a:solidFill>
                      </a:endParaRPr>
                    </a:p>
                  </a:txBody>
                  <a:tcPr marL="91428" marR="91428" marT="45714" marB="45714"/>
                </a:tc>
                <a:tc>
                  <a:txBody>
                    <a:bodyPr/>
                    <a:lstStyle/>
                    <a:p>
                      <a:pPr algn="l"/>
                      <a:r>
                        <a:rPr lang="en-US" sz="1800" b="1" u="none" dirty="0" smtClean="0">
                          <a:solidFill>
                            <a:srgbClr val="C00000"/>
                          </a:solidFill>
                        </a:rPr>
                        <a:t>kelvin</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K</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5"/>
                  </a:ext>
                </a:extLst>
              </a:tr>
              <a:tr h="450393">
                <a:tc vMerge="1">
                  <a:txBody>
                    <a:bodyPr/>
                    <a:lstStyle/>
                    <a:p>
                      <a:pPr algn="l"/>
                      <a:endParaRPr lang="en-IN" dirty="0"/>
                    </a:p>
                  </a:txBody>
                  <a:tcPr/>
                </a:tc>
                <a:tc>
                  <a:txBody>
                    <a:bodyPr/>
                    <a:lstStyle/>
                    <a:p>
                      <a:pPr algn="l"/>
                      <a:r>
                        <a:rPr lang="en-US" sz="1800" b="1" dirty="0" smtClean="0">
                          <a:solidFill>
                            <a:srgbClr val="C00000"/>
                          </a:solidFill>
                        </a:rPr>
                        <a:t>Light Intensity</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Cd</a:t>
                      </a:r>
                      <a:endParaRPr lang="en-IN" sz="1800" b="1" dirty="0">
                        <a:solidFill>
                          <a:srgbClr val="C00000"/>
                        </a:solidFill>
                      </a:endParaRPr>
                    </a:p>
                  </a:txBody>
                  <a:tcPr marL="91428" marR="91428" marT="45714" marB="45714"/>
                </a:tc>
                <a:tc>
                  <a:txBody>
                    <a:bodyPr/>
                    <a:lstStyle/>
                    <a:p>
                      <a:pPr algn="l"/>
                      <a:r>
                        <a:rPr lang="en-US" sz="1800" b="1" u="none" dirty="0" smtClean="0">
                          <a:solidFill>
                            <a:srgbClr val="C00000"/>
                          </a:solidFill>
                        </a:rPr>
                        <a:t>candela</a:t>
                      </a:r>
                      <a:endParaRPr lang="en-IN" sz="1800" b="1" u="none" dirty="0">
                        <a:solidFill>
                          <a:srgbClr val="C00000"/>
                        </a:solidFill>
                      </a:endParaRPr>
                    </a:p>
                  </a:txBody>
                  <a:tcPr marL="91428" marR="91428" marT="45714" marB="45714"/>
                </a:tc>
                <a:tc>
                  <a:txBody>
                    <a:bodyPr/>
                    <a:lstStyle/>
                    <a:p>
                      <a:pPr algn="ctr"/>
                      <a:r>
                        <a:rPr lang="en-US" sz="1800" b="1" u="none" dirty="0" smtClean="0">
                          <a:solidFill>
                            <a:srgbClr val="C00000"/>
                          </a:solidFill>
                        </a:rPr>
                        <a:t>cd</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6"/>
                  </a:ext>
                </a:extLst>
              </a:tr>
              <a:tr h="777391">
                <a:tc vMerge="1">
                  <a:txBody>
                    <a:bodyPr/>
                    <a:lstStyle/>
                    <a:p>
                      <a:pPr algn="l"/>
                      <a:endParaRPr lang="en-IN" dirty="0"/>
                    </a:p>
                  </a:txBody>
                  <a:tcPr/>
                </a:tc>
                <a:tc>
                  <a:txBody>
                    <a:bodyPr/>
                    <a:lstStyle/>
                    <a:p>
                      <a:pPr algn="l"/>
                      <a:r>
                        <a:rPr lang="en-US" sz="1800" b="1" dirty="0" smtClean="0">
                          <a:solidFill>
                            <a:srgbClr val="C00000"/>
                          </a:solidFill>
                        </a:rPr>
                        <a:t>Amount of substance</a:t>
                      </a:r>
                      <a:endParaRPr lang="en-IN" sz="1800" b="1" dirty="0">
                        <a:solidFill>
                          <a:srgbClr val="C00000"/>
                        </a:solidFill>
                      </a:endParaRPr>
                    </a:p>
                  </a:txBody>
                  <a:tcPr marL="91428" marR="91428" marT="45714" marB="45714"/>
                </a:tc>
                <a:tc>
                  <a:txBody>
                    <a:bodyPr/>
                    <a:lstStyle/>
                    <a:p>
                      <a:pPr algn="ctr"/>
                      <a:r>
                        <a:rPr lang="en-US" sz="1800" b="1" dirty="0" smtClean="0">
                          <a:solidFill>
                            <a:srgbClr val="C00000"/>
                          </a:solidFill>
                        </a:rPr>
                        <a:t>mole</a:t>
                      </a:r>
                      <a:endParaRPr lang="en-IN" sz="1800" b="1" dirty="0">
                        <a:solidFill>
                          <a:srgbClr val="C00000"/>
                        </a:solidFill>
                      </a:endParaRPr>
                    </a:p>
                  </a:txBody>
                  <a:tcPr marL="91428" marR="91428" marT="45714" marB="45714"/>
                </a:tc>
                <a:tc>
                  <a:txBody>
                    <a:bodyPr/>
                    <a:lstStyle/>
                    <a:p>
                      <a:pPr algn="l"/>
                      <a:r>
                        <a:rPr lang="en-US" sz="1800" b="1" u="none" dirty="0" smtClean="0">
                          <a:solidFill>
                            <a:srgbClr val="C00000"/>
                          </a:solidFill>
                        </a:rPr>
                        <a:t>mole</a:t>
                      </a:r>
                      <a:endParaRPr lang="en-IN" sz="1800" b="1" u="none" dirty="0">
                        <a:solidFill>
                          <a:srgbClr val="C00000"/>
                        </a:solidFill>
                      </a:endParaRPr>
                    </a:p>
                  </a:txBody>
                  <a:tcPr marL="91428" marR="91428" marT="45714" marB="45714"/>
                </a:tc>
                <a:tc>
                  <a:txBody>
                    <a:bodyPr/>
                    <a:lstStyle/>
                    <a:p>
                      <a:pPr algn="ctr"/>
                      <a:r>
                        <a:rPr lang="en-US" sz="1800" b="1" u="none" dirty="0" err="1" smtClean="0">
                          <a:solidFill>
                            <a:srgbClr val="C00000"/>
                          </a:solidFill>
                        </a:rPr>
                        <a:t>mol</a:t>
                      </a:r>
                      <a:endParaRPr lang="en-IN" sz="1800" b="1" u="none" dirty="0">
                        <a:solidFill>
                          <a:srgbClr val="C00000"/>
                        </a:solidFill>
                      </a:endParaRPr>
                    </a:p>
                  </a:txBody>
                  <a:tcPr marL="91428" marR="91428" marT="45714" marB="45714"/>
                </a:tc>
                <a:extLst>
                  <a:ext uri="{0D108BD9-81ED-4DB2-BD59-A6C34878D82A}">
                    <a16:rowId xmlns:a16="http://schemas.microsoft.com/office/drawing/2014/main" val="10007"/>
                  </a:ext>
                </a:extLst>
              </a:tr>
              <a:tr h="450393">
                <a:tc rowSpan="2">
                  <a:txBody>
                    <a:bodyPr/>
                    <a:lstStyle/>
                    <a:p>
                      <a:pPr algn="l"/>
                      <a:r>
                        <a:rPr lang="en-US" sz="1800" b="1" dirty="0" smtClean="0">
                          <a:solidFill>
                            <a:srgbClr val="FF0000"/>
                          </a:solidFill>
                        </a:rPr>
                        <a:t>Supplementary units</a:t>
                      </a:r>
                      <a:endParaRPr lang="en-IN" sz="1800" b="1" dirty="0">
                        <a:solidFill>
                          <a:srgbClr val="FF0000"/>
                        </a:solidFill>
                      </a:endParaRPr>
                    </a:p>
                  </a:txBody>
                  <a:tcPr marL="91428" marR="91428" marT="45714" marB="45714" anchor="ctr" anchorCtr="1"/>
                </a:tc>
                <a:tc>
                  <a:txBody>
                    <a:bodyPr/>
                    <a:lstStyle/>
                    <a:p>
                      <a:pPr algn="l"/>
                      <a:r>
                        <a:rPr lang="en-US" sz="1800" b="1" dirty="0" smtClean="0">
                          <a:solidFill>
                            <a:srgbClr val="FF0000"/>
                          </a:solidFill>
                        </a:rPr>
                        <a:t>Plane angle</a:t>
                      </a:r>
                      <a:endParaRPr lang="en-IN" sz="1800" b="1" dirty="0">
                        <a:solidFill>
                          <a:srgbClr val="FF0000"/>
                        </a:solidFill>
                      </a:endParaRPr>
                    </a:p>
                  </a:txBody>
                  <a:tcPr marL="91428" marR="91428" marT="45714" marB="45714"/>
                </a:tc>
                <a:tc>
                  <a:txBody>
                    <a:bodyPr/>
                    <a:lstStyle/>
                    <a:p>
                      <a:pPr algn="ctr"/>
                      <a:r>
                        <a:rPr lang="en-US" sz="1800" b="1" dirty="0" smtClean="0">
                          <a:solidFill>
                            <a:srgbClr val="FF0000"/>
                          </a:solidFill>
                        </a:rPr>
                        <a:t>d</a:t>
                      </a:r>
                      <a:r>
                        <a:rPr lang="el-GR" sz="1800" b="1" dirty="0" smtClean="0">
                          <a:solidFill>
                            <a:srgbClr val="FF0000"/>
                          </a:solidFill>
                        </a:rPr>
                        <a:t>θ</a:t>
                      </a:r>
                      <a:endParaRPr lang="en-IN" sz="1800" b="1" dirty="0">
                        <a:solidFill>
                          <a:srgbClr val="FF0000"/>
                        </a:solidFill>
                      </a:endParaRPr>
                    </a:p>
                  </a:txBody>
                  <a:tcPr marL="91428" marR="91428" marT="45714" marB="45714"/>
                </a:tc>
                <a:tc>
                  <a:txBody>
                    <a:bodyPr/>
                    <a:lstStyle/>
                    <a:p>
                      <a:pPr algn="l"/>
                      <a:r>
                        <a:rPr lang="en-US" sz="1800" b="1" u="none" dirty="0" smtClean="0">
                          <a:solidFill>
                            <a:srgbClr val="FF0000"/>
                          </a:solidFill>
                        </a:rPr>
                        <a:t>radian</a:t>
                      </a:r>
                      <a:endParaRPr lang="en-IN" sz="1800" b="1" u="none" dirty="0">
                        <a:solidFill>
                          <a:srgbClr val="FF0000"/>
                        </a:solidFill>
                      </a:endParaRPr>
                    </a:p>
                  </a:txBody>
                  <a:tcPr marL="91428" marR="91428" marT="45714" marB="45714"/>
                </a:tc>
                <a:tc>
                  <a:txBody>
                    <a:bodyPr/>
                    <a:lstStyle/>
                    <a:p>
                      <a:pPr algn="ctr"/>
                      <a:r>
                        <a:rPr lang="en-US" sz="1800" b="1" u="none" dirty="0" smtClean="0">
                          <a:solidFill>
                            <a:srgbClr val="FF0000"/>
                          </a:solidFill>
                        </a:rPr>
                        <a:t>rad</a:t>
                      </a:r>
                      <a:endParaRPr lang="en-IN" sz="1800" b="1" u="none" dirty="0">
                        <a:solidFill>
                          <a:srgbClr val="FF0000"/>
                        </a:solidFill>
                      </a:endParaRPr>
                    </a:p>
                  </a:txBody>
                  <a:tcPr marL="91428" marR="91428" marT="45714" marB="45714"/>
                </a:tc>
                <a:extLst>
                  <a:ext uri="{0D108BD9-81ED-4DB2-BD59-A6C34878D82A}">
                    <a16:rowId xmlns:a16="http://schemas.microsoft.com/office/drawing/2014/main" val="10008"/>
                  </a:ext>
                </a:extLst>
              </a:tr>
              <a:tr h="450393">
                <a:tc vMerge="1">
                  <a:txBody>
                    <a:bodyPr/>
                    <a:lstStyle/>
                    <a:p>
                      <a:pPr algn="l"/>
                      <a:endParaRPr lang="en-IN" dirty="0"/>
                    </a:p>
                  </a:txBody>
                  <a:tcPr anchorCtr="1"/>
                </a:tc>
                <a:tc>
                  <a:txBody>
                    <a:bodyPr/>
                    <a:lstStyle/>
                    <a:p>
                      <a:pPr algn="l"/>
                      <a:r>
                        <a:rPr lang="en-US" sz="1800" b="1" dirty="0" smtClean="0">
                          <a:solidFill>
                            <a:srgbClr val="FF0000"/>
                          </a:solidFill>
                        </a:rPr>
                        <a:t>Solid angle</a:t>
                      </a:r>
                      <a:endParaRPr lang="en-IN" sz="1800" b="1" dirty="0">
                        <a:solidFill>
                          <a:srgbClr val="FF0000"/>
                        </a:solidFill>
                      </a:endParaRPr>
                    </a:p>
                  </a:txBody>
                  <a:tcPr marL="91428" marR="91428" marT="45714" marB="45714"/>
                </a:tc>
                <a:tc>
                  <a:txBody>
                    <a:bodyPr/>
                    <a:lstStyle/>
                    <a:p>
                      <a:pPr algn="ctr"/>
                      <a:r>
                        <a:rPr lang="en-US" sz="1800" b="1" dirty="0" smtClean="0">
                          <a:solidFill>
                            <a:srgbClr val="FF0000"/>
                          </a:solidFill>
                        </a:rPr>
                        <a:t>d</a:t>
                      </a:r>
                      <a:r>
                        <a:rPr lang="el-GR" sz="1800" b="1" dirty="0" smtClean="0">
                          <a:solidFill>
                            <a:srgbClr val="FF0000"/>
                          </a:solidFill>
                        </a:rPr>
                        <a:t>Ω</a:t>
                      </a:r>
                      <a:endParaRPr lang="en-IN" sz="1800" b="1" dirty="0">
                        <a:solidFill>
                          <a:srgbClr val="FF0000"/>
                        </a:solidFill>
                      </a:endParaRPr>
                    </a:p>
                  </a:txBody>
                  <a:tcPr marL="91428" marR="91428" marT="45714" marB="45714"/>
                </a:tc>
                <a:tc>
                  <a:txBody>
                    <a:bodyPr/>
                    <a:lstStyle/>
                    <a:p>
                      <a:pPr algn="l"/>
                      <a:r>
                        <a:rPr lang="en-US" sz="1800" b="1" u="none" dirty="0" err="1" smtClean="0">
                          <a:solidFill>
                            <a:srgbClr val="FF0000"/>
                          </a:solidFill>
                        </a:rPr>
                        <a:t>steradian</a:t>
                      </a:r>
                      <a:endParaRPr lang="en-IN" sz="1800" b="1" u="none" dirty="0">
                        <a:solidFill>
                          <a:srgbClr val="FF0000"/>
                        </a:solidFill>
                      </a:endParaRPr>
                    </a:p>
                  </a:txBody>
                  <a:tcPr marL="91428" marR="91428" marT="45714" marB="45714"/>
                </a:tc>
                <a:tc>
                  <a:txBody>
                    <a:bodyPr/>
                    <a:lstStyle/>
                    <a:p>
                      <a:pPr algn="ctr"/>
                      <a:r>
                        <a:rPr lang="en-US" sz="1800" b="1" u="none" dirty="0" err="1" smtClean="0">
                          <a:solidFill>
                            <a:srgbClr val="FF0000"/>
                          </a:solidFill>
                        </a:rPr>
                        <a:t>sr</a:t>
                      </a:r>
                      <a:endParaRPr lang="en-IN" sz="1800" b="1" u="none" dirty="0">
                        <a:solidFill>
                          <a:srgbClr val="FF0000"/>
                        </a:solidFill>
                      </a:endParaRPr>
                    </a:p>
                  </a:txBody>
                  <a:tcPr marL="91428" marR="91428" marT="45714" marB="45714"/>
                </a:tc>
                <a:extLst>
                  <a:ext uri="{0D108BD9-81ED-4DB2-BD59-A6C34878D82A}">
                    <a16:rowId xmlns:a16="http://schemas.microsoft.com/office/drawing/2014/main" val="10009"/>
                  </a:ext>
                </a:extLst>
              </a:tr>
            </a:tbl>
          </a:graphicData>
        </a:graphic>
      </p:graphicFrame>
      <p:sp>
        <p:nvSpPr>
          <p:cNvPr id="7232"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7233"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7234"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2939720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07"/>
                                        </p:tgtEl>
                                        <p:attrNameLst>
                                          <p:attrName>style.visibility</p:attrName>
                                        </p:attrNameLst>
                                      </p:cBhvr>
                                      <p:to>
                                        <p:strVal val="visible"/>
                                      </p:to>
                                    </p:set>
                                    <p:anim calcmode="lin" valueType="num">
                                      <p:cBhvr>
                                        <p:cTn id="7" dur="500" fill="hold"/>
                                        <p:tgtEl>
                                          <p:spTgt spid="107"/>
                                        </p:tgtEl>
                                        <p:attrNameLst>
                                          <p:attrName>ppt_w</p:attrName>
                                        </p:attrNameLst>
                                      </p:cBhvr>
                                      <p:tavLst>
                                        <p:tav tm="0">
                                          <p:val>
                                            <p:fltVal val="0"/>
                                          </p:val>
                                        </p:tav>
                                        <p:tav tm="100000">
                                          <p:val>
                                            <p:strVal val="#ppt_w"/>
                                          </p:val>
                                        </p:tav>
                                      </p:tavLst>
                                    </p:anim>
                                    <p:anim calcmode="lin" valueType="num">
                                      <p:cBhvr>
                                        <p:cTn id="8" dur="500" fill="hold"/>
                                        <p:tgtEl>
                                          <p:spTgt spid="107"/>
                                        </p:tgtEl>
                                        <p:attrNameLst>
                                          <p:attrName>ppt_h</p:attrName>
                                        </p:attrNameLst>
                                      </p:cBhvr>
                                      <p:tavLst>
                                        <p:tav tm="0">
                                          <p:val>
                                            <p:fltVal val="0"/>
                                          </p:val>
                                        </p:tav>
                                        <p:tav tm="100000">
                                          <p:val>
                                            <p:strVal val="#ppt_h"/>
                                          </p:val>
                                        </p:tav>
                                      </p:tavLst>
                                    </p:anim>
                                    <p:animEffect transition="in" filter="fade">
                                      <p:cBhvr>
                                        <p:cTn id="9" dur="500"/>
                                        <p:tgtEl>
                                          <p:spTgt spid="10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09"/>
                                        </p:tgtEl>
                                        <p:attrNameLst>
                                          <p:attrName>style.visibility</p:attrName>
                                        </p:attrNameLst>
                                      </p:cBhvr>
                                      <p:to>
                                        <p:strVal val="visible"/>
                                      </p:to>
                                    </p:set>
                                    <p:anim calcmode="lin" valueType="num">
                                      <p:cBhvr>
                                        <p:cTn id="14" dur="500" fill="hold"/>
                                        <p:tgtEl>
                                          <p:spTgt spid="109"/>
                                        </p:tgtEl>
                                        <p:attrNameLst>
                                          <p:attrName>ppt_w</p:attrName>
                                        </p:attrNameLst>
                                      </p:cBhvr>
                                      <p:tavLst>
                                        <p:tav tm="0">
                                          <p:val>
                                            <p:fltVal val="0"/>
                                          </p:val>
                                        </p:tav>
                                        <p:tav tm="100000">
                                          <p:val>
                                            <p:strVal val="#ppt_w"/>
                                          </p:val>
                                        </p:tav>
                                      </p:tavLst>
                                    </p:anim>
                                    <p:anim calcmode="lin" valueType="num">
                                      <p:cBhvr>
                                        <p:cTn id="15" dur="500" fill="hold"/>
                                        <p:tgtEl>
                                          <p:spTgt spid="109"/>
                                        </p:tgtEl>
                                        <p:attrNameLst>
                                          <p:attrName>ppt_h</p:attrName>
                                        </p:attrNameLst>
                                      </p:cBhvr>
                                      <p:tavLst>
                                        <p:tav tm="0">
                                          <p:val>
                                            <p:fltVal val="0"/>
                                          </p:val>
                                        </p:tav>
                                        <p:tav tm="100000">
                                          <p:val>
                                            <p:strVal val="#ppt_h"/>
                                          </p:val>
                                        </p:tav>
                                      </p:tavLst>
                                    </p:anim>
                                    <p:animEffect transition="in" filter="fade">
                                      <p:cBhvr>
                                        <p:cTn id="16"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828800" y="649288"/>
            <a:ext cx="10985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Metre</a:t>
            </a:r>
            <a:endParaRPr lang="en-US" altLang="en-US" sz="2000" b="1">
              <a:solidFill>
                <a:srgbClr val="FF0000"/>
              </a:solidFill>
            </a:endParaRPr>
          </a:p>
        </p:txBody>
      </p:sp>
      <p:sp>
        <p:nvSpPr>
          <p:cNvPr id="8195" name="Rectangle 2"/>
          <p:cNvSpPr>
            <a:spLocks noChangeArrowheads="1"/>
          </p:cNvSpPr>
          <p:nvPr/>
        </p:nvSpPr>
        <p:spPr bwMode="auto">
          <a:xfrm>
            <a:off x="1828801" y="1066801"/>
            <a:ext cx="8137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metre is the length of the path travelled by light in vacuum during a time interval of 1/299,792,458 of a second. (1983) </a:t>
            </a:r>
            <a:endParaRPr lang="en-IN" altLang="en-US" b="1">
              <a:solidFill>
                <a:srgbClr val="0099FF"/>
              </a:solidFill>
            </a:endParaRPr>
          </a:p>
        </p:txBody>
      </p:sp>
      <p:sp>
        <p:nvSpPr>
          <p:cNvPr id="4" name="Text Box 5"/>
          <p:cNvSpPr txBox="1">
            <a:spLocks noChangeArrowheads="1"/>
          </p:cNvSpPr>
          <p:nvPr/>
        </p:nvSpPr>
        <p:spPr bwMode="auto">
          <a:xfrm>
            <a:off x="1847851" y="1828800"/>
            <a:ext cx="18002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Kilogramme</a:t>
            </a:r>
            <a:endParaRPr lang="en-US" altLang="en-US" sz="2000" b="1">
              <a:solidFill>
                <a:srgbClr val="FF0000"/>
              </a:solidFill>
            </a:endParaRPr>
          </a:p>
        </p:txBody>
      </p:sp>
      <p:sp>
        <p:nvSpPr>
          <p:cNvPr id="8197" name="Rectangle 4"/>
          <p:cNvSpPr>
            <a:spLocks noChangeArrowheads="1"/>
          </p:cNvSpPr>
          <p:nvPr/>
        </p:nvSpPr>
        <p:spPr bwMode="auto">
          <a:xfrm>
            <a:off x="1847850" y="2274889"/>
            <a:ext cx="84963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kilogram is equal to the mass of the international prototype of the kilogram (a platinum-iridium alloy cylinder) kept at international Bureau of Weights and Measures, at Sevres, near Paris, France. (1889) </a:t>
            </a:r>
            <a:endParaRPr lang="en-IN" altLang="en-US" b="1">
              <a:solidFill>
                <a:srgbClr val="0099FF"/>
              </a:solidFill>
            </a:endParaRPr>
          </a:p>
        </p:txBody>
      </p:sp>
      <p:sp>
        <p:nvSpPr>
          <p:cNvPr id="8198" name="Rectangle 5"/>
          <p:cNvSpPr>
            <a:spLocks noChangeArrowheads="1"/>
          </p:cNvSpPr>
          <p:nvPr/>
        </p:nvSpPr>
        <p:spPr bwMode="auto">
          <a:xfrm>
            <a:off x="1847851" y="3597275"/>
            <a:ext cx="81184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second is the duration of 9,192,631,770 periods of the radiation corresponding to the transition between the two hyperfine levels of the ground state of the cesium-133 atom. (1967) </a:t>
            </a:r>
            <a:endParaRPr lang="en-IN" altLang="en-US" b="1">
              <a:solidFill>
                <a:srgbClr val="0099FF"/>
              </a:solidFill>
            </a:endParaRPr>
          </a:p>
        </p:txBody>
      </p:sp>
      <p:sp>
        <p:nvSpPr>
          <p:cNvPr id="7" name="Text Box 5"/>
          <p:cNvSpPr txBox="1">
            <a:spLocks noChangeArrowheads="1"/>
          </p:cNvSpPr>
          <p:nvPr/>
        </p:nvSpPr>
        <p:spPr bwMode="auto">
          <a:xfrm>
            <a:off x="1847851" y="3197225"/>
            <a:ext cx="12049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Second</a:t>
            </a:r>
            <a:endParaRPr lang="en-US" altLang="en-US" sz="2000" b="1">
              <a:solidFill>
                <a:srgbClr val="FF0000"/>
              </a:solidFill>
            </a:endParaRPr>
          </a:p>
        </p:txBody>
      </p:sp>
      <p:sp>
        <p:nvSpPr>
          <p:cNvPr id="8" name="Text Box 5"/>
          <p:cNvSpPr txBox="1">
            <a:spLocks noChangeArrowheads="1"/>
          </p:cNvSpPr>
          <p:nvPr/>
        </p:nvSpPr>
        <p:spPr bwMode="auto">
          <a:xfrm>
            <a:off x="1889126" y="4676775"/>
            <a:ext cx="12541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Ampere</a:t>
            </a:r>
            <a:endParaRPr lang="en-US" altLang="en-US" sz="2000" b="1">
              <a:solidFill>
                <a:srgbClr val="FF0000"/>
              </a:solidFill>
            </a:endParaRPr>
          </a:p>
        </p:txBody>
      </p:sp>
      <p:sp>
        <p:nvSpPr>
          <p:cNvPr id="8201" name="Rectangle 8"/>
          <p:cNvSpPr>
            <a:spLocks noChangeArrowheads="1"/>
          </p:cNvSpPr>
          <p:nvPr/>
        </p:nvSpPr>
        <p:spPr bwMode="auto">
          <a:xfrm>
            <a:off x="1847850" y="5108575"/>
            <a:ext cx="83518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ampere is that constant current which, if maintained in two straight parallel conductors of infinite length, of negligible circular cross-section, and placed 1 metre apart in vacuum, would produce between these conductors a force equal to 2×10</a:t>
            </a:r>
            <a:r>
              <a:rPr lang="en-US" altLang="en-US" b="1" baseline="30000">
                <a:solidFill>
                  <a:srgbClr val="0099FF"/>
                </a:solidFill>
              </a:rPr>
              <a:t>–7</a:t>
            </a:r>
            <a:r>
              <a:rPr lang="en-US" altLang="en-US" b="1">
                <a:solidFill>
                  <a:srgbClr val="0099FF"/>
                </a:solidFill>
              </a:rPr>
              <a:t> newton per metre of length. (1948) </a:t>
            </a:r>
            <a:endParaRPr lang="en-IN" altLang="en-US" b="1">
              <a:solidFill>
                <a:srgbClr val="0099FF"/>
              </a:solidFill>
            </a:endParaRPr>
          </a:p>
        </p:txBody>
      </p:sp>
      <p:sp>
        <p:nvSpPr>
          <p:cNvPr id="10" name="Text Box 5"/>
          <p:cNvSpPr txBox="1">
            <a:spLocks noChangeArrowheads="1"/>
          </p:cNvSpPr>
          <p:nvPr/>
        </p:nvSpPr>
        <p:spPr bwMode="auto">
          <a:xfrm>
            <a:off x="1828801" y="49213"/>
            <a:ext cx="35464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400" b="1">
                <a:solidFill>
                  <a:srgbClr val="00FF99"/>
                </a:solidFill>
              </a:rPr>
              <a:t>Definition of SI Units</a:t>
            </a:r>
          </a:p>
        </p:txBody>
      </p:sp>
      <p:sp>
        <p:nvSpPr>
          <p:cNvPr id="8203"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8204"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8205"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3057619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8195"/>
                                        </p:tgtEl>
                                        <p:attrNameLst>
                                          <p:attrName>style.visibility</p:attrName>
                                        </p:attrNameLst>
                                      </p:cBhvr>
                                      <p:to>
                                        <p:strVal val="visible"/>
                                      </p:to>
                                    </p:set>
                                    <p:animEffect transition="in" filter="wipe(up)">
                                      <p:cBhvr>
                                        <p:cTn id="20" dur="500"/>
                                        <p:tgtEl>
                                          <p:spTgt spid="819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197"/>
                                        </p:tgtEl>
                                        <p:attrNameLst>
                                          <p:attrName>style.visibility</p:attrName>
                                        </p:attrNameLst>
                                      </p:cBhvr>
                                      <p:to>
                                        <p:strVal val="visible"/>
                                      </p:to>
                                    </p:set>
                                    <p:animEffect transition="in" filter="wipe(up)">
                                      <p:cBhvr>
                                        <p:cTn id="32" dur="500"/>
                                        <p:tgtEl>
                                          <p:spTgt spid="81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8198"/>
                                        </p:tgtEl>
                                        <p:attrNameLst>
                                          <p:attrName>style.visibility</p:attrName>
                                        </p:attrNameLst>
                                      </p:cBhvr>
                                      <p:to>
                                        <p:strVal val="visible"/>
                                      </p:to>
                                    </p:set>
                                    <p:animEffect transition="in" filter="wipe(up)">
                                      <p:cBhvr>
                                        <p:cTn id="44" dur="500"/>
                                        <p:tgtEl>
                                          <p:spTgt spid="819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ppt_w</p:attrName>
                                        </p:attrNameLst>
                                      </p:cBhvr>
                                      <p:tavLst>
                                        <p:tav tm="0">
                                          <p:val>
                                            <p:fltVal val="0"/>
                                          </p:val>
                                        </p:tav>
                                        <p:tav tm="100000">
                                          <p:val>
                                            <p:strVal val="#ppt_w"/>
                                          </p:val>
                                        </p:tav>
                                      </p:tavLst>
                                    </p:anim>
                                    <p:anim calcmode="lin" valueType="num">
                                      <p:cBhvr>
                                        <p:cTn id="50" dur="500" fill="hold"/>
                                        <p:tgtEl>
                                          <p:spTgt spid="8"/>
                                        </p:tgtEl>
                                        <p:attrNameLst>
                                          <p:attrName>ppt_h</p:attrName>
                                        </p:attrNameLst>
                                      </p:cBhvr>
                                      <p:tavLst>
                                        <p:tav tm="0">
                                          <p:val>
                                            <p:fltVal val="0"/>
                                          </p:val>
                                        </p:tav>
                                        <p:tav tm="100000">
                                          <p:val>
                                            <p:strVal val="#ppt_h"/>
                                          </p:val>
                                        </p:tav>
                                      </p:tavLst>
                                    </p:anim>
                                    <p:animEffect transition="in" filter="fade">
                                      <p:cBhvr>
                                        <p:cTn id="51" dur="500"/>
                                        <p:tgtEl>
                                          <p:spTgt spid="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8201"/>
                                        </p:tgtEl>
                                        <p:attrNameLst>
                                          <p:attrName>style.visibility</p:attrName>
                                        </p:attrNameLst>
                                      </p:cBhvr>
                                      <p:to>
                                        <p:strVal val="visible"/>
                                      </p:to>
                                    </p:set>
                                    <p:animEffect transition="in" filter="wipe(up)">
                                      <p:cBhvr>
                                        <p:cTn id="56" dur="500"/>
                                        <p:tgtEl>
                                          <p:spTgt spid="8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195" grpId="0"/>
      <p:bldP spid="4" grpId="0"/>
      <p:bldP spid="8197" grpId="0"/>
      <p:bldP spid="8198" grpId="0"/>
      <p:bldP spid="7" grpId="0"/>
      <p:bldP spid="8" grpId="0"/>
      <p:bldP spid="8201"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2116138" y="287338"/>
            <a:ext cx="9890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Kelvin</a:t>
            </a:r>
            <a:endParaRPr lang="en-US" altLang="en-US" sz="2000" b="1">
              <a:solidFill>
                <a:srgbClr val="FF0000"/>
              </a:solidFill>
            </a:endParaRPr>
          </a:p>
        </p:txBody>
      </p:sp>
      <p:sp>
        <p:nvSpPr>
          <p:cNvPr id="9219" name="Rectangle 2"/>
          <p:cNvSpPr>
            <a:spLocks noChangeArrowheads="1"/>
          </p:cNvSpPr>
          <p:nvPr/>
        </p:nvSpPr>
        <p:spPr bwMode="auto">
          <a:xfrm>
            <a:off x="2101851" y="771526"/>
            <a:ext cx="7661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kelvin, is the fraction 1/273.16 of the thermodynamic temperature of the triple point of water. (1967) </a:t>
            </a:r>
            <a:endParaRPr lang="en-IN" altLang="en-US" b="1">
              <a:solidFill>
                <a:srgbClr val="0099FF"/>
              </a:solidFill>
            </a:endParaRPr>
          </a:p>
        </p:txBody>
      </p:sp>
      <p:sp>
        <p:nvSpPr>
          <p:cNvPr id="4" name="Text Box 5"/>
          <p:cNvSpPr txBox="1">
            <a:spLocks noChangeArrowheads="1"/>
          </p:cNvSpPr>
          <p:nvPr/>
        </p:nvSpPr>
        <p:spPr bwMode="auto">
          <a:xfrm>
            <a:off x="2135188" y="1579563"/>
            <a:ext cx="12319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Candela</a:t>
            </a:r>
            <a:endParaRPr lang="en-US" altLang="en-US" sz="2000" b="1">
              <a:solidFill>
                <a:srgbClr val="FF0000"/>
              </a:solidFill>
            </a:endParaRPr>
          </a:p>
        </p:txBody>
      </p:sp>
      <p:sp>
        <p:nvSpPr>
          <p:cNvPr id="5" name="Text Box 5"/>
          <p:cNvSpPr txBox="1">
            <a:spLocks noChangeArrowheads="1"/>
          </p:cNvSpPr>
          <p:nvPr/>
        </p:nvSpPr>
        <p:spPr bwMode="auto">
          <a:xfrm>
            <a:off x="2149476" y="3298825"/>
            <a:ext cx="9890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pPr>
            <a:r>
              <a:rPr lang="en-US" altLang="en-US" sz="2000" b="1">
                <a:solidFill>
                  <a:srgbClr val="FFCCCC"/>
                </a:solidFill>
              </a:rPr>
              <a:t>Mole</a:t>
            </a:r>
            <a:endParaRPr lang="en-US" altLang="en-US" sz="2000" b="1">
              <a:solidFill>
                <a:srgbClr val="FF0000"/>
              </a:solidFill>
            </a:endParaRPr>
          </a:p>
        </p:txBody>
      </p:sp>
      <p:sp>
        <p:nvSpPr>
          <p:cNvPr id="9222" name="Rectangle 5"/>
          <p:cNvSpPr>
            <a:spLocks noChangeArrowheads="1"/>
          </p:cNvSpPr>
          <p:nvPr/>
        </p:nvSpPr>
        <p:spPr bwMode="auto">
          <a:xfrm>
            <a:off x="2149476" y="1944688"/>
            <a:ext cx="76184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candela is the luminous intensity, in a given direction, of a source that emits monochromatic radiation of frequency 540×10</a:t>
            </a:r>
            <a:r>
              <a:rPr lang="en-US" altLang="en-US" b="1" baseline="30000">
                <a:solidFill>
                  <a:srgbClr val="0099FF"/>
                </a:solidFill>
              </a:rPr>
              <a:t>12</a:t>
            </a:r>
            <a:r>
              <a:rPr lang="en-US" altLang="en-US" b="1">
                <a:solidFill>
                  <a:srgbClr val="0099FF"/>
                </a:solidFill>
              </a:rPr>
              <a:t> hertz and that has a radiant intensity in that direction of 1/683 watt per steradian. (1979) </a:t>
            </a:r>
            <a:endParaRPr lang="en-IN" altLang="en-US" b="1">
              <a:solidFill>
                <a:srgbClr val="0099FF"/>
              </a:solidFill>
            </a:endParaRPr>
          </a:p>
        </p:txBody>
      </p:sp>
      <p:sp>
        <p:nvSpPr>
          <p:cNvPr id="9223" name="Rectangle 6"/>
          <p:cNvSpPr>
            <a:spLocks noChangeArrowheads="1"/>
          </p:cNvSpPr>
          <p:nvPr/>
        </p:nvSpPr>
        <p:spPr bwMode="auto">
          <a:xfrm>
            <a:off x="2135188" y="3729039"/>
            <a:ext cx="76311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mole is the amount of substance of a system, which contains as many elementary entities as there are atoms in 0.012 kilogramme of carbon-12. (1971) </a:t>
            </a:r>
            <a:endParaRPr lang="en-IN" altLang="en-US" b="1">
              <a:solidFill>
                <a:srgbClr val="0099FF"/>
              </a:solidFill>
            </a:endParaRPr>
          </a:p>
        </p:txBody>
      </p:sp>
      <p:sp>
        <p:nvSpPr>
          <p:cNvPr id="9224"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9225"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9226"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3355119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9219"/>
                                        </p:tgtEl>
                                        <p:attrNameLst>
                                          <p:attrName>style.visibility</p:attrName>
                                        </p:attrNameLst>
                                      </p:cBhvr>
                                      <p:to>
                                        <p:strVal val="visible"/>
                                      </p:to>
                                    </p:set>
                                    <p:animEffect transition="in" filter="wipe(up)">
                                      <p:cBhvr>
                                        <p:cTn id="14" dur="500"/>
                                        <p:tgtEl>
                                          <p:spTgt spid="921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222"/>
                                        </p:tgtEl>
                                        <p:attrNameLst>
                                          <p:attrName>style.visibility</p:attrName>
                                        </p:attrNameLst>
                                      </p:cBhvr>
                                      <p:to>
                                        <p:strVal val="visible"/>
                                      </p:to>
                                    </p:set>
                                    <p:animEffect transition="in" filter="wipe(up)">
                                      <p:cBhvr>
                                        <p:cTn id="26" dur="500"/>
                                        <p:tgtEl>
                                          <p:spTgt spid="92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ppt_w</p:attrName>
                                        </p:attrNameLst>
                                      </p:cBhvr>
                                      <p:tavLst>
                                        <p:tav tm="0">
                                          <p:val>
                                            <p:fltVal val="0"/>
                                          </p:val>
                                        </p:tav>
                                        <p:tav tm="100000">
                                          <p:val>
                                            <p:strVal val="#ppt_w"/>
                                          </p:val>
                                        </p:tav>
                                      </p:tavLst>
                                    </p:anim>
                                    <p:anim calcmode="lin" valueType="num">
                                      <p:cBhvr>
                                        <p:cTn id="32" dur="500" fill="hold"/>
                                        <p:tgtEl>
                                          <p:spTgt spid="5"/>
                                        </p:tgtEl>
                                        <p:attrNameLst>
                                          <p:attrName>ppt_h</p:attrName>
                                        </p:attrNameLst>
                                      </p:cBhvr>
                                      <p:tavLst>
                                        <p:tav tm="0">
                                          <p:val>
                                            <p:fltVal val="0"/>
                                          </p:val>
                                        </p:tav>
                                        <p:tav tm="100000">
                                          <p:val>
                                            <p:strVal val="#ppt_h"/>
                                          </p:val>
                                        </p:tav>
                                      </p:tavLst>
                                    </p:anim>
                                    <p:animEffect transition="in" filter="fade">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9223"/>
                                        </p:tgtEl>
                                        <p:attrNameLst>
                                          <p:attrName>style.visibility</p:attrName>
                                        </p:attrNameLst>
                                      </p:cBhvr>
                                      <p:to>
                                        <p:strVal val="visible"/>
                                      </p:to>
                                    </p:set>
                                    <p:animEffect transition="in" filter="wipe(up)">
                                      <p:cBhvr>
                                        <p:cTn id="38"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219" grpId="0"/>
      <p:bldP spid="4" grpId="0"/>
      <p:bldP spid="5" grpId="0"/>
      <p:bldP spid="9222" grpId="0"/>
      <p:bldP spid="92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80"/>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a:latin typeface="Cambria Math"/>
              <a:ea typeface="Cambria Math"/>
              <a:cs typeface="Cambria Math"/>
              <a:sym typeface="Cambria Math"/>
            </a:endParaRPr>
          </a:p>
        </p:txBody>
      </p:sp>
      <p:sp>
        <p:nvSpPr>
          <p:cNvPr id="797" name="Google Shape;797;p8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24</a:t>
            </a:fld>
            <a:endParaRPr kern="0"/>
          </a:p>
        </p:txBody>
      </p:sp>
      <p:sp>
        <p:nvSpPr>
          <p:cNvPr id="798" name="Google Shape;798;p80"/>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pic>
        <p:nvPicPr>
          <p:cNvPr id="799" name="Google Shape;799;p80"/>
          <p:cNvPicPr preferRelativeResize="0"/>
          <p:nvPr/>
        </p:nvPicPr>
        <p:blipFill>
          <a:blip r:embed="rId3">
            <a:alphaModFix/>
          </a:blip>
          <a:stretch>
            <a:fillRect/>
          </a:stretch>
        </p:blipFill>
        <p:spPr>
          <a:xfrm>
            <a:off x="222251" y="2279651"/>
            <a:ext cx="11747500" cy="2298700"/>
          </a:xfrm>
          <a:prstGeom prst="rect">
            <a:avLst/>
          </a:prstGeom>
          <a:noFill/>
          <a:ln>
            <a:noFill/>
          </a:ln>
        </p:spPr>
      </p:pic>
    </p:spTree>
    <p:extLst>
      <p:ext uri="{BB962C8B-B14F-4D97-AF65-F5344CB8AC3E}">
        <p14:creationId xmlns:p14="http://schemas.microsoft.com/office/powerpoint/2010/main" val="1177558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25</a:t>
            </a:fld>
            <a:endParaRPr kern="0"/>
          </a:p>
        </p:txBody>
      </p:sp>
      <p:sp>
        <p:nvSpPr>
          <p:cNvPr id="558" name="Google Shape;558;p6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59" name="Google Shape;559;p64"/>
          <p:cNvSpPr/>
          <p:nvPr/>
        </p:nvSpPr>
        <p:spPr>
          <a:xfrm>
            <a:off x="5414200" y="1684900"/>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Units</a:t>
            </a:r>
            <a:endParaRPr sz="2400"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1016346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26</a:t>
            </a:fld>
            <a:endParaRPr kern="0"/>
          </a:p>
        </p:txBody>
      </p:sp>
      <p:sp>
        <p:nvSpPr>
          <p:cNvPr id="558" name="Google Shape;558;p6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59" name="Google Shape;559;p64"/>
          <p:cNvSpPr/>
          <p:nvPr/>
        </p:nvSpPr>
        <p:spPr>
          <a:xfrm>
            <a:off x="5414200" y="1684900"/>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Units</a:t>
            </a:r>
            <a:endParaRPr sz="2400" kern="0" dirty="0">
              <a:solidFill>
                <a:srgbClr val="FFFFFF"/>
              </a:solidFill>
              <a:latin typeface="Cambria Math"/>
              <a:ea typeface="Cambria Math"/>
              <a:cs typeface="Cambria Math"/>
              <a:sym typeface="Cambria Math"/>
            </a:endParaRPr>
          </a:p>
        </p:txBody>
      </p:sp>
      <p:sp>
        <p:nvSpPr>
          <p:cNvPr id="560" name="Google Shape;560;p64"/>
          <p:cNvSpPr/>
          <p:nvPr/>
        </p:nvSpPr>
        <p:spPr>
          <a:xfrm>
            <a:off x="17566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Fundamental/Base Units</a:t>
            </a:r>
            <a:endParaRPr sz="2667" kern="0" dirty="0">
              <a:solidFill>
                <a:srgbClr val="FFFFFF"/>
              </a:solidFill>
              <a:latin typeface="Cambria Math"/>
              <a:ea typeface="Cambria Math"/>
              <a:cs typeface="Cambria Math"/>
              <a:sym typeface="Cambria Math"/>
            </a:endParaRPr>
          </a:p>
        </p:txBody>
      </p:sp>
      <p:cxnSp>
        <p:nvCxnSpPr>
          <p:cNvPr id="562" name="Google Shape;562;p64"/>
          <p:cNvCxnSpPr>
            <a:stCxn id="560" idx="0"/>
            <a:endCxn id="559" idx="2"/>
          </p:cNvCxnSpPr>
          <p:nvPr/>
        </p:nvCxnSpPr>
        <p:spPr>
          <a:xfrm rot="-5400000">
            <a:off x="4089200" y="1843300"/>
            <a:ext cx="1503200" cy="2510800"/>
          </a:xfrm>
          <a:prstGeom prst="bentConnector3">
            <a:avLst>
              <a:gd name="adj1" fmla="val 49993"/>
            </a:avLst>
          </a:prstGeom>
          <a:noFill/>
          <a:ln w="28575" cap="flat" cmpd="sng">
            <a:solidFill>
              <a:srgbClr val="00FF00"/>
            </a:solidFill>
            <a:prstDash val="solid"/>
            <a:round/>
            <a:headEnd type="triangle" w="med" len="med"/>
            <a:tailEnd type="none" w="med" len="med"/>
          </a:ln>
        </p:spPr>
      </p:cxnSp>
    </p:spTree>
    <p:extLst>
      <p:ext uri="{BB962C8B-B14F-4D97-AF65-F5344CB8AC3E}">
        <p14:creationId xmlns:p14="http://schemas.microsoft.com/office/powerpoint/2010/main" val="3918214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27</a:t>
            </a:fld>
            <a:endParaRPr kern="0"/>
          </a:p>
        </p:txBody>
      </p:sp>
      <p:sp>
        <p:nvSpPr>
          <p:cNvPr id="558" name="Google Shape;558;p6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59" name="Google Shape;559;p64"/>
          <p:cNvSpPr/>
          <p:nvPr/>
        </p:nvSpPr>
        <p:spPr>
          <a:xfrm>
            <a:off x="5414200" y="1684900"/>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Units</a:t>
            </a:r>
            <a:endParaRPr sz="2400" kern="0" dirty="0">
              <a:solidFill>
                <a:srgbClr val="FFFFFF"/>
              </a:solidFill>
              <a:latin typeface="Cambria Math"/>
              <a:ea typeface="Cambria Math"/>
              <a:cs typeface="Cambria Math"/>
              <a:sym typeface="Cambria Math"/>
            </a:endParaRPr>
          </a:p>
        </p:txBody>
      </p:sp>
      <p:sp>
        <p:nvSpPr>
          <p:cNvPr id="560" name="Google Shape;560;p64"/>
          <p:cNvSpPr/>
          <p:nvPr/>
        </p:nvSpPr>
        <p:spPr>
          <a:xfrm>
            <a:off x="17566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Fundamental/Base Units</a:t>
            </a:r>
            <a:endParaRPr sz="2667" kern="0" dirty="0">
              <a:solidFill>
                <a:srgbClr val="FFFFFF"/>
              </a:solidFill>
              <a:latin typeface="Cambria Math"/>
              <a:ea typeface="Cambria Math"/>
              <a:cs typeface="Cambria Math"/>
              <a:sym typeface="Cambria Math"/>
            </a:endParaRPr>
          </a:p>
        </p:txBody>
      </p:sp>
      <p:cxnSp>
        <p:nvCxnSpPr>
          <p:cNvPr id="562" name="Google Shape;562;p64"/>
          <p:cNvCxnSpPr>
            <a:stCxn id="560" idx="0"/>
            <a:endCxn id="559" idx="2"/>
          </p:cNvCxnSpPr>
          <p:nvPr/>
        </p:nvCxnSpPr>
        <p:spPr>
          <a:xfrm rot="-5400000">
            <a:off x="4089200" y="1843300"/>
            <a:ext cx="1503200" cy="2510800"/>
          </a:xfrm>
          <a:prstGeom prst="bentConnector3">
            <a:avLst>
              <a:gd name="adj1" fmla="val 49993"/>
            </a:avLst>
          </a:prstGeom>
          <a:noFill/>
          <a:ln w="28575" cap="flat" cmpd="sng">
            <a:solidFill>
              <a:srgbClr val="00FF00"/>
            </a:solidFill>
            <a:prstDash val="solid"/>
            <a:round/>
            <a:headEnd type="triangle" w="med" len="med"/>
            <a:tailEnd type="none" w="med" len="med"/>
          </a:ln>
        </p:spPr>
      </p:cxnSp>
      <p:cxnSp>
        <p:nvCxnSpPr>
          <p:cNvPr id="564" name="Google Shape;564;p64"/>
          <p:cNvCxnSpPr>
            <a:stCxn id="565" idx="0"/>
            <a:endCxn id="560" idx="2"/>
          </p:cNvCxnSpPr>
          <p:nvPr/>
        </p:nvCxnSpPr>
        <p:spPr>
          <a:xfrm rot="-5400000">
            <a:off x="3275800" y="5110367"/>
            <a:ext cx="620000" cy="800"/>
          </a:xfrm>
          <a:prstGeom prst="bentConnector3">
            <a:avLst>
              <a:gd name="adj1" fmla="val 50005"/>
            </a:avLst>
          </a:prstGeom>
          <a:noFill/>
          <a:ln w="28575" cap="flat" cmpd="sng">
            <a:solidFill>
              <a:srgbClr val="00FF00"/>
            </a:solidFill>
            <a:prstDash val="solid"/>
            <a:round/>
            <a:headEnd type="triangle" w="med" len="med"/>
            <a:tailEnd type="none" w="med" len="med"/>
          </a:ln>
        </p:spPr>
      </p:cxnSp>
      <p:sp>
        <p:nvSpPr>
          <p:cNvPr id="565" name="Google Shape;565;p64"/>
          <p:cNvSpPr/>
          <p:nvPr/>
        </p:nvSpPr>
        <p:spPr>
          <a:xfrm>
            <a:off x="1756600" y="5420767"/>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Metre, Kilogram etc.</a:t>
            </a:r>
            <a:endParaRPr sz="2667"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230479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28</a:t>
            </a:fld>
            <a:endParaRPr kern="0"/>
          </a:p>
        </p:txBody>
      </p:sp>
      <p:sp>
        <p:nvSpPr>
          <p:cNvPr id="558" name="Google Shape;558;p6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59" name="Google Shape;559;p64"/>
          <p:cNvSpPr/>
          <p:nvPr/>
        </p:nvSpPr>
        <p:spPr>
          <a:xfrm>
            <a:off x="5414200" y="1684900"/>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Units</a:t>
            </a:r>
            <a:endParaRPr sz="2400" kern="0" dirty="0">
              <a:solidFill>
                <a:srgbClr val="FFFFFF"/>
              </a:solidFill>
              <a:latin typeface="Cambria Math"/>
              <a:ea typeface="Cambria Math"/>
              <a:cs typeface="Cambria Math"/>
              <a:sym typeface="Cambria Math"/>
            </a:endParaRPr>
          </a:p>
        </p:txBody>
      </p:sp>
      <p:sp>
        <p:nvSpPr>
          <p:cNvPr id="560" name="Google Shape;560;p64"/>
          <p:cNvSpPr/>
          <p:nvPr/>
        </p:nvSpPr>
        <p:spPr>
          <a:xfrm>
            <a:off x="17566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Fundamental/Base Units</a:t>
            </a:r>
            <a:endParaRPr sz="2667" kern="0" dirty="0">
              <a:solidFill>
                <a:srgbClr val="FFFFFF"/>
              </a:solidFill>
              <a:latin typeface="Cambria Math"/>
              <a:ea typeface="Cambria Math"/>
              <a:cs typeface="Cambria Math"/>
              <a:sym typeface="Cambria Math"/>
            </a:endParaRPr>
          </a:p>
        </p:txBody>
      </p:sp>
      <p:sp>
        <p:nvSpPr>
          <p:cNvPr id="561" name="Google Shape;561;p64"/>
          <p:cNvSpPr/>
          <p:nvPr/>
        </p:nvSpPr>
        <p:spPr>
          <a:xfrm>
            <a:off x="67778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Derived Units</a:t>
            </a:r>
            <a:endParaRPr sz="2667" kern="0" dirty="0">
              <a:solidFill>
                <a:srgbClr val="FFFFFF"/>
              </a:solidFill>
              <a:latin typeface="Cambria Math"/>
              <a:ea typeface="Cambria Math"/>
              <a:cs typeface="Cambria Math"/>
              <a:sym typeface="Cambria Math"/>
            </a:endParaRPr>
          </a:p>
        </p:txBody>
      </p:sp>
      <p:cxnSp>
        <p:nvCxnSpPr>
          <p:cNvPr id="562" name="Google Shape;562;p64"/>
          <p:cNvCxnSpPr>
            <a:stCxn id="560" idx="0"/>
            <a:endCxn id="559" idx="2"/>
          </p:cNvCxnSpPr>
          <p:nvPr/>
        </p:nvCxnSpPr>
        <p:spPr>
          <a:xfrm rot="-5400000">
            <a:off x="4089200" y="1843300"/>
            <a:ext cx="1503200" cy="2510800"/>
          </a:xfrm>
          <a:prstGeom prst="bentConnector3">
            <a:avLst>
              <a:gd name="adj1" fmla="val 49993"/>
            </a:avLst>
          </a:prstGeom>
          <a:noFill/>
          <a:ln w="28575" cap="flat" cmpd="sng">
            <a:solidFill>
              <a:srgbClr val="00FF00"/>
            </a:solidFill>
            <a:prstDash val="solid"/>
            <a:round/>
            <a:headEnd type="triangle" w="med" len="med"/>
            <a:tailEnd type="none" w="med" len="med"/>
          </a:ln>
        </p:spPr>
      </p:cxnSp>
      <p:cxnSp>
        <p:nvCxnSpPr>
          <p:cNvPr id="563" name="Google Shape;563;p64"/>
          <p:cNvCxnSpPr>
            <a:stCxn id="559" idx="2"/>
            <a:endCxn id="561" idx="0"/>
          </p:cNvCxnSpPr>
          <p:nvPr/>
        </p:nvCxnSpPr>
        <p:spPr>
          <a:xfrm rot="-5400000" flipH="1">
            <a:off x="6599600" y="1843300"/>
            <a:ext cx="1503600" cy="2510800"/>
          </a:xfrm>
          <a:prstGeom prst="bentConnector3">
            <a:avLst>
              <a:gd name="adj1" fmla="val 49993"/>
            </a:avLst>
          </a:prstGeom>
          <a:noFill/>
          <a:ln w="28575" cap="flat" cmpd="sng">
            <a:solidFill>
              <a:srgbClr val="00FF00"/>
            </a:solidFill>
            <a:prstDash val="solid"/>
            <a:round/>
            <a:headEnd type="none" w="med" len="med"/>
            <a:tailEnd type="triangle" w="med" len="med"/>
          </a:ln>
        </p:spPr>
      </p:cxnSp>
      <p:cxnSp>
        <p:nvCxnSpPr>
          <p:cNvPr id="564" name="Google Shape;564;p64"/>
          <p:cNvCxnSpPr>
            <a:stCxn id="565" idx="0"/>
            <a:endCxn id="560" idx="2"/>
          </p:cNvCxnSpPr>
          <p:nvPr/>
        </p:nvCxnSpPr>
        <p:spPr>
          <a:xfrm rot="-5400000">
            <a:off x="3275800" y="5110367"/>
            <a:ext cx="620000" cy="800"/>
          </a:xfrm>
          <a:prstGeom prst="bentConnector3">
            <a:avLst>
              <a:gd name="adj1" fmla="val 50005"/>
            </a:avLst>
          </a:prstGeom>
          <a:noFill/>
          <a:ln w="28575" cap="flat" cmpd="sng">
            <a:solidFill>
              <a:srgbClr val="00FF00"/>
            </a:solidFill>
            <a:prstDash val="solid"/>
            <a:round/>
            <a:headEnd type="triangle" w="med" len="med"/>
            <a:tailEnd type="none" w="med" len="med"/>
          </a:ln>
        </p:spPr>
      </p:cxnSp>
      <p:sp>
        <p:nvSpPr>
          <p:cNvPr id="565" name="Google Shape;565;p64"/>
          <p:cNvSpPr/>
          <p:nvPr/>
        </p:nvSpPr>
        <p:spPr>
          <a:xfrm>
            <a:off x="1756600" y="5420767"/>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Metre, Kilogram etc.</a:t>
            </a:r>
            <a:endParaRPr sz="2667" kern="0" dirty="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1196026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29</a:t>
            </a:fld>
            <a:endParaRPr kern="0"/>
          </a:p>
        </p:txBody>
      </p:sp>
      <p:sp>
        <p:nvSpPr>
          <p:cNvPr id="558" name="Google Shape;558;p6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59" name="Google Shape;559;p64"/>
          <p:cNvSpPr/>
          <p:nvPr/>
        </p:nvSpPr>
        <p:spPr>
          <a:xfrm>
            <a:off x="5414200" y="1684900"/>
            <a:ext cx="136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Units</a:t>
            </a:r>
            <a:endParaRPr sz="2400" kern="0" dirty="0">
              <a:solidFill>
                <a:srgbClr val="FFFFFF"/>
              </a:solidFill>
              <a:latin typeface="Cambria Math"/>
              <a:ea typeface="Cambria Math"/>
              <a:cs typeface="Cambria Math"/>
              <a:sym typeface="Cambria Math"/>
            </a:endParaRPr>
          </a:p>
        </p:txBody>
      </p:sp>
      <p:sp>
        <p:nvSpPr>
          <p:cNvPr id="560" name="Google Shape;560;p64"/>
          <p:cNvSpPr/>
          <p:nvPr/>
        </p:nvSpPr>
        <p:spPr>
          <a:xfrm>
            <a:off x="17566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Fundamental/Base Units</a:t>
            </a:r>
            <a:endParaRPr sz="2667" kern="0" dirty="0">
              <a:solidFill>
                <a:srgbClr val="FFFFFF"/>
              </a:solidFill>
              <a:latin typeface="Cambria Math"/>
              <a:ea typeface="Cambria Math"/>
              <a:cs typeface="Cambria Math"/>
              <a:sym typeface="Cambria Math"/>
            </a:endParaRPr>
          </a:p>
        </p:txBody>
      </p:sp>
      <p:sp>
        <p:nvSpPr>
          <p:cNvPr id="561" name="Google Shape;561;p64"/>
          <p:cNvSpPr/>
          <p:nvPr/>
        </p:nvSpPr>
        <p:spPr>
          <a:xfrm>
            <a:off x="6777800" y="3850300"/>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Derived Units</a:t>
            </a:r>
            <a:endParaRPr sz="2667" kern="0" dirty="0">
              <a:solidFill>
                <a:srgbClr val="FFFFFF"/>
              </a:solidFill>
              <a:latin typeface="Cambria Math"/>
              <a:ea typeface="Cambria Math"/>
              <a:cs typeface="Cambria Math"/>
              <a:sym typeface="Cambria Math"/>
            </a:endParaRPr>
          </a:p>
        </p:txBody>
      </p:sp>
      <p:cxnSp>
        <p:nvCxnSpPr>
          <p:cNvPr id="562" name="Google Shape;562;p64"/>
          <p:cNvCxnSpPr>
            <a:stCxn id="560" idx="0"/>
            <a:endCxn id="559" idx="2"/>
          </p:cNvCxnSpPr>
          <p:nvPr/>
        </p:nvCxnSpPr>
        <p:spPr>
          <a:xfrm rot="-5400000">
            <a:off x="4089200" y="1843300"/>
            <a:ext cx="1503200" cy="2510800"/>
          </a:xfrm>
          <a:prstGeom prst="bentConnector3">
            <a:avLst>
              <a:gd name="adj1" fmla="val 49993"/>
            </a:avLst>
          </a:prstGeom>
          <a:noFill/>
          <a:ln w="28575" cap="flat" cmpd="sng">
            <a:solidFill>
              <a:srgbClr val="00FF00"/>
            </a:solidFill>
            <a:prstDash val="solid"/>
            <a:round/>
            <a:headEnd type="triangle" w="med" len="med"/>
            <a:tailEnd type="none" w="med" len="med"/>
          </a:ln>
        </p:spPr>
      </p:cxnSp>
      <p:cxnSp>
        <p:nvCxnSpPr>
          <p:cNvPr id="563" name="Google Shape;563;p64"/>
          <p:cNvCxnSpPr>
            <a:stCxn id="559" idx="2"/>
            <a:endCxn id="561" idx="0"/>
          </p:cNvCxnSpPr>
          <p:nvPr/>
        </p:nvCxnSpPr>
        <p:spPr>
          <a:xfrm rot="-5400000" flipH="1">
            <a:off x="6599600" y="1843300"/>
            <a:ext cx="1503600" cy="2510800"/>
          </a:xfrm>
          <a:prstGeom prst="bentConnector3">
            <a:avLst>
              <a:gd name="adj1" fmla="val 49993"/>
            </a:avLst>
          </a:prstGeom>
          <a:noFill/>
          <a:ln w="28575" cap="flat" cmpd="sng">
            <a:solidFill>
              <a:srgbClr val="00FF00"/>
            </a:solidFill>
            <a:prstDash val="solid"/>
            <a:round/>
            <a:headEnd type="none" w="med" len="med"/>
            <a:tailEnd type="triangle" w="med" len="med"/>
          </a:ln>
        </p:spPr>
      </p:cxnSp>
      <p:cxnSp>
        <p:nvCxnSpPr>
          <p:cNvPr id="564" name="Google Shape;564;p64"/>
          <p:cNvCxnSpPr>
            <a:stCxn id="565" idx="0"/>
            <a:endCxn id="560" idx="2"/>
          </p:cNvCxnSpPr>
          <p:nvPr/>
        </p:nvCxnSpPr>
        <p:spPr>
          <a:xfrm rot="-5400000">
            <a:off x="3275800" y="5110367"/>
            <a:ext cx="620000" cy="800"/>
          </a:xfrm>
          <a:prstGeom prst="bentConnector3">
            <a:avLst>
              <a:gd name="adj1" fmla="val 50005"/>
            </a:avLst>
          </a:prstGeom>
          <a:noFill/>
          <a:ln w="28575" cap="flat" cmpd="sng">
            <a:solidFill>
              <a:srgbClr val="00FF00"/>
            </a:solidFill>
            <a:prstDash val="solid"/>
            <a:round/>
            <a:headEnd type="triangle" w="med" len="med"/>
            <a:tailEnd type="none" w="med" len="med"/>
          </a:ln>
        </p:spPr>
      </p:cxnSp>
      <p:sp>
        <p:nvSpPr>
          <p:cNvPr id="565" name="Google Shape;565;p64"/>
          <p:cNvSpPr/>
          <p:nvPr/>
        </p:nvSpPr>
        <p:spPr>
          <a:xfrm>
            <a:off x="1756600" y="5420767"/>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Metre, Kilogram etc.</a:t>
            </a:r>
            <a:endParaRPr sz="2667" kern="0" dirty="0">
              <a:solidFill>
                <a:srgbClr val="FFFFFF"/>
              </a:solidFill>
              <a:latin typeface="Cambria Math"/>
              <a:ea typeface="Cambria Math"/>
              <a:cs typeface="Cambria Math"/>
              <a:sym typeface="Cambria Math"/>
            </a:endParaRPr>
          </a:p>
        </p:txBody>
      </p:sp>
      <p:sp>
        <p:nvSpPr>
          <p:cNvPr id="566" name="Google Shape;566;p64"/>
          <p:cNvSpPr/>
          <p:nvPr/>
        </p:nvSpPr>
        <p:spPr>
          <a:xfrm>
            <a:off x="6777800" y="5420767"/>
            <a:ext cx="36576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dirty="0">
                <a:solidFill>
                  <a:srgbClr val="FFFFFF"/>
                </a:solidFill>
                <a:latin typeface="Cambria Math"/>
                <a:ea typeface="Cambria Math"/>
                <a:cs typeface="Cambria Math"/>
                <a:sym typeface="Cambria Math"/>
              </a:rPr>
              <a:t>Newton (kg ms</a:t>
            </a:r>
            <a:r>
              <a:rPr lang="en" sz="2400" kern="0" baseline="30000" dirty="0">
                <a:solidFill>
                  <a:srgbClr val="FFFFFF"/>
                </a:solidFill>
                <a:latin typeface="Cambria Math"/>
                <a:ea typeface="Cambria Math"/>
                <a:cs typeface="Cambria Math"/>
                <a:sym typeface="Cambria Math"/>
              </a:rPr>
              <a:t>-2</a:t>
            </a:r>
            <a:r>
              <a:rPr lang="en" sz="2400" kern="0" dirty="0">
                <a:solidFill>
                  <a:srgbClr val="FFFFFF"/>
                </a:solidFill>
                <a:latin typeface="Cambria Math"/>
                <a:ea typeface="Cambria Math"/>
                <a:cs typeface="Cambria Math"/>
                <a:sym typeface="Cambria Math"/>
              </a:rPr>
              <a:t>), ms</a:t>
            </a:r>
            <a:r>
              <a:rPr lang="en" sz="2400" kern="0" baseline="30000" dirty="0">
                <a:solidFill>
                  <a:srgbClr val="FFFFFF"/>
                </a:solidFill>
                <a:latin typeface="Cambria Math"/>
                <a:ea typeface="Cambria Math"/>
                <a:cs typeface="Cambria Math"/>
                <a:sym typeface="Cambria Math"/>
              </a:rPr>
              <a:t>-1</a:t>
            </a:r>
            <a:r>
              <a:rPr lang="en" sz="2400" kern="0" dirty="0">
                <a:solidFill>
                  <a:srgbClr val="FFFFFF"/>
                </a:solidFill>
                <a:latin typeface="Cambria Math"/>
                <a:ea typeface="Cambria Math"/>
                <a:cs typeface="Cambria Math"/>
                <a:sym typeface="Cambria Math"/>
              </a:rPr>
              <a:t> etc.</a:t>
            </a:r>
            <a:endParaRPr sz="2667" kern="0" dirty="0">
              <a:solidFill>
                <a:srgbClr val="FFFFFF"/>
              </a:solidFill>
              <a:latin typeface="Cambria Math"/>
              <a:ea typeface="Cambria Math"/>
              <a:cs typeface="Cambria Math"/>
              <a:sym typeface="Cambria Math"/>
            </a:endParaRPr>
          </a:p>
        </p:txBody>
      </p:sp>
      <p:cxnSp>
        <p:nvCxnSpPr>
          <p:cNvPr id="567" name="Google Shape;567;p64"/>
          <p:cNvCxnSpPr>
            <a:stCxn id="566" idx="0"/>
            <a:endCxn id="561" idx="2"/>
          </p:cNvCxnSpPr>
          <p:nvPr/>
        </p:nvCxnSpPr>
        <p:spPr>
          <a:xfrm rot="-5400000">
            <a:off x="8297000" y="5110367"/>
            <a:ext cx="620000" cy="800"/>
          </a:xfrm>
          <a:prstGeom prst="bentConnector3">
            <a:avLst>
              <a:gd name="adj1" fmla="val 50005"/>
            </a:avLst>
          </a:prstGeom>
          <a:noFill/>
          <a:ln w="28575" cap="flat" cmpd="sng">
            <a:solidFill>
              <a:srgbClr val="00FF00"/>
            </a:solidFill>
            <a:prstDash val="solid"/>
            <a:round/>
            <a:headEnd type="triangle" w="med" len="med"/>
            <a:tailEnd type="none" w="med" len="med"/>
          </a:ln>
        </p:spPr>
      </p:cxnSp>
    </p:spTree>
    <p:extLst>
      <p:ext uri="{BB962C8B-B14F-4D97-AF65-F5344CB8AC3E}">
        <p14:creationId xmlns:p14="http://schemas.microsoft.com/office/powerpoint/2010/main" val="1917826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5"/>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30</a:t>
            </a:fld>
            <a:endParaRPr kern="0"/>
          </a:p>
        </p:txBody>
      </p:sp>
      <p:sp>
        <p:nvSpPr>
          <p:cNvPr id="574" name="Google Shape;574;p65"/>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75" name="Google Shape;575;p65"/>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2715619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6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31</a:t>
            </a:fld>
            <a:endParaRPr kern="0"/>
          </a:p>
        </p:txBody>
      </p:sp>
      <p:sp>
        <p:nvSpPr>
          <p:cNvPr id="582" name="Google Shape;582;p66"/>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583" name="Google Shape;583;p66"/>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584" name="Google Shape;584;p66"/>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3976229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67"/>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32</a:t>
            </a:fld>
            <a:endParaRPr kern="0"/>
          </a:p>
        </p:txBody>
      </p:sp>
      <p:sp>
        <p:nvSpPr>
          <p:cNvPr id="591" name="Google Shape;591;p67"/>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592" name="Google Shape;592;p67"/>
          <p:cNvCxnSpPr>
            <a:stCxn id="593" idx="3"/>
            <a:endCxn id="594"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593" name="Google Shape;593;p67"/>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594" name="Google Shape;594;p67"/>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sp>
        <p:nvSpPr>
          <p:cNvPr id="595" name="Google Shape;595;p67"/>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369998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8"/>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33</a:t>
            </a:fld>
            <a:endParaRPr kern="0"/>
          </a:p>
        </p:txBody>
      </p:sp>
      <p:sp>
        <p:nvSpPr>
          <p:cNvPr id="602" name="Google Shape;602;p68"/>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603" name="Google Shape;603;p68"/>
          <p:cNvCxnSpPr>
            <a:stCxn id="604" idx="3"/>
            <a:endCxn id="605"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604" name="Google Shape;604;p68"/>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605" name="Google Shape;605;p68"/>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cxnSp>
        <p:nvCxnSpPr>
          <p:cNvPr id="606" name="Google Shape;606;p68"/>
          <p:cNvCxnSpPr>
            <a:stCxn id="604" idx="3"/>
            <a:endCxn id="607" idx="1"/>
          </p:cNvCxnSpPr>
          <p:nvPr/>
        </p:nvCxnSpPr>
        <p:spPr>
          <a:xfrm>
            <a:off x="3017600" y="4438600"/>
            <a:ext cx="986000" cy="800"/>
          </a:xfrm>
          <a:prstGeom prst="bentConnector3">
            <a:avLst>
              <a:gd name="adj1" fmla="val 50005"/>
            </a:avLst>
          </a:prstGeom>
          <a:noFill/>
          <a:ln w="38100" cap="flat" cmpd="sng">
            <a:solidFill>
              <a:srgbClr val="00FF00"/>
            </a:solidFill>
            <a:prstDash val="solid"/>
            <a:round/>
            <a:headEnd type="none" w="sm" len="sm"/>
            <a:tailEnd type="none" w="sm" len="sm"/>
          </a:ln>
        </p:spPr>
      </p:cxnSp>
      <p:sp>
        <p:nvSpPr>
          <p:cNvPr id="607" name="Google Shape;607;p68"/>
          <p:cNvSpPr/>
          <p:nvPr/>
        </p:nvSpPr>
        <p:spPr>
          <a:xfrm>
            <a:off x="4003700" y="4088401"/>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CGS</a:t>
            </a:r>
            <a:endParaRPr sz="2667" kern="0">
              <a:solidFill>
                <a:srgbClr val="FFFFFF"/>
              </a:solidFill>
              <a:latin typeface="Cambria Math"/>
              <a:ea typeface="Cambria Math"/>
              <a:cs typeface="Cambria Math"/>
              <a:sym typeface="Cambria Math"/>
            </a:endParaRPr>
          </a:p>
        </p:txBody>
      </p:sp>
      <p:sp>
        <p:nvSpPr>
          <p:cNvPr id="608" name="Google Shape;608;p68"/>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1769336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6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34</a:t>
            </a:fld>
            <a:endParaRPr kern="0"/>
          </a:p>
        </p:txBody>
      </p:sp>
      <p:sp>
        <p:nvSpPr>
          <p:cNvPr id="615" name="Google Shape;615;p69"/>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616" name="Google Shape;616;p69"/>
          <p:cNvCxnSpPr>
            <a:stCxn id="617" idx="3"/>
            <a:endCxn id="618" idx="1"/>
          </p:cNvCxnSpPr>
          <p:nvPr/>
        </p:nvCxnSpPr>
        <p:spPr>
          <a:xfrm>
            <a:off x="3017600" y="4438600"/>
            <a:ext cx="986000" cy="1513600"/>
          </a:xfrm>
          <a:prstGeom prst="bentConnector3">
            <a:avLst>
              <a:gd name="adj1" fmla="val 50008"/>
            </a:avLst>
          </a:prstGeom>
          <a:noFill/>
          <a:ln w="38100" cap="flat" cmpd="sng">
            <a:solidFill>
              <a:srgbClr val="00FF00"/>
            </a:solidFill>
            <a:prstDash val="solid"/>
            <a:round/>
            <a:headEnd type="none" w="sm" len="sm"/>
            <a:tailEnd type="none" w="sm" len="sm"/>
          </a:ln>
        </p:spPr>
      </p:cxnSp>
      <p:cxnSp>
        <p:nvCxnSpPr>
          <p:cNvPr id="619" name="Google Shape;619;p69"/>
          <p:cNvCxnSpPr>
            <a:stCxn id="617" idx="3"/>
            <a:endCxn id="620"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617" name="Google Shape;617;p69"/>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620" name="Google Shape;620;p69"/>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sp>
        <p:nvSpPr>
          <p:cNvPr id="618" name="Google Shape;618;p69"/>
          <p:cNvSpPr/>
          <p:nvPr/>
        </p:nvSpPr>
        <p:spPr>
          <a:xfrm>
            <a:off x="4003767" y="5601865"/>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FPS</a:t>
            </a:r>
            <a:endParaRPr sz="2667" kern="0">
              <a:solidFill>
                <a:srgbClr val="FFFFFF"/>
              </a:solidFill>
              <a:latin typeface="Cambria Math"/>
              <a:ea typeface="Cambria Math"/>
              <a:cs typeface="Cambria Math"/>
              <a:sym typeface="Cambria Math"/>
            </a:endParaRPr>
          </a:p>
        </p:txBody>
      </p:sp>
      <p:cxnSp>
        <p:nvCxnSpPr>
          <p:cNvPr id="621" name="Google Shape;621;p69"/>
          <p:cNvCxnSpPr>
            <a:stCxn id="617" idx="3"/>
            <a:endCxn id="622" idx="1"/>
          </p:cNvCxnSpPr>
          <p:nvPr/>
        </p:nvCxnSpPr>
        <p:spPr>
          <a:xfrm>
            <a:off x="3017600" y="4438600"/>
            <a:ext cx="986000" cy="800"/>
          </a:xfrm>
          <a:prstGeom prst="bentConnector3">
            <a:avLst>
              <a:gd name="adj1" fmla="val 50005"/>
            </a:avLst>
          </a:prstGeom>
          <a:noFill/>
          <a:ln w="38100" cap="flat" cmpd="sng">
            <a:solidFill>
              <a:srgbClr val="00FF00"/>
            </a:solidFill>
            <a:prstDash val="solid"/>
            <a:round/>
            <a:headEnd type="none" w="sm" len="sm"/>
            <a:tailEnd type="none" w="sm" len="sm"/>
          </a:ln>
        </p:spPr>
      </p:cxnSp>
      <p:sp>
        <p:nvSpPr>
          <p:cNvPr id="622" name="Google Shape;622;p69"/>
          <p:cNvSpPr/>
          <p:nvPr/>
        </p:nvSpPr>
        <p:spPr>
          <a:xfrm>
            <a:off x="4003700" y="4088401"/>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CGS</a:t>
            </a:r>
            <a:endParaRPr sz="2667" kern="0">
              <a:solidFill>
                <a:srgbClr val="FFFFFF"/>
              </a:solidFill>
              <a:latin typeface="Cambria Math"/>
              <a:ea typeface="Cambria Math"/>
              <a:cs typeface="Cambria Math"/>
              <a:sym typeface="Cambria Math"/>
            </a:endParaRPr>
          </a:p>
        </p:txBody>
      </p:sp>
      <p:sp>
        <p:nvSpPr>
          <p:cNvPr id="623" name="Google Shape;623;p69"/>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1925202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70"/>
          <p:cNvSpPr/>
          <p:nvPr/>
        </p:nvSpPr>
        <p:spPr>
          <a:xfrm>
            <a:off x="7326367" y="2367300"/>
            <a:ext cx="35532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Metre, kilogram and second respectively</a:t>
            </a:r>
            <a:endParaRPr sz="2667" kern="0">
              <a:solidFill>
                <a:srgbClr val="FFFFFF"/>
              </a:solidFill>
              <a:latin typeface="Cambria Math"/>
              <a:ea typeface="Cambria Math"/>
              <a:cs typeface="Cambria Math"/>
              <a:sym typeface="Cambria Math"/>
            </a:endParaRPr>
          </a:p>
        </p:txBody>
      </p:sp>
      <p:sp>
        <p:nvSpPr>
          <p:cNvPr id="630" name="Google Shape;630;p7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35</a:t>
            </a:fld>
            <a:endParaRPr kern="0"/>
          </a:p>
        </p:txBody>
      </p:sp>
      <p:sp>
        <p:nvSpPr>
          <p:cNvPr id="631" name="Google Shape;631;p70"/>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632" name="Google Shape;632;p70"/>
          <p:cNvCxnSpPr>
            <a:stCxn id="633" idx="3"/>
            <a:endCxn id="634" idx="1"/>
          </p:cNvCxnSpPr>
          <p:nvPr/>
        </p:nvCxnSpPr>
        <p:spPr>
          <a:xfrm>
            <a:off x="3017600" y="4438600"/>
            <a:ext cx="986000" cy="1513600"/>
          </a:xfrm>
          <a:prstGeom prst="bentConnector3">
            <a:avLst>
              <a:gd name="adj1" fmla="val 50008"/>
            </a:avLst>
          </a:prstGeom>
          <a:noFill/>
          <a:ln w="38100" cap="flat" cmpd="sng">
            <a:solidFill>
              <a:srgbClr val="00FF00"/>
            </a:solidFill>
            <a:prstDash val="solid"/>
            <a:round/>
            <a:headEnd type="none" w="sm" len="sm"/>
            <a:tailEnd type="none" w="sm" len="sm"/>
          </a:ln>
        </p:spPr>
      </p:cxnSp>
      <p:cxnSp>
        <p:nvCxnSpPr>
          <p:cNvPr id="635" name="Google Shape;635;p70"/>
          <p:cNvCxnSpPr>
            <a:stCxn id="633" idx="3"/>
            <a:endCxn id="636"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633" name="Google Shape;633;p70"/>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636" name="Google Shape;636;p70"/>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sp>
        <p:nvSpPr>
          <p:cNvPr id="634" name="Google Shape;634;p70"/>
          <p:cNvSpPr/>
          <p:nvPr/>
        </p:nvSpPr>
        <p:spPr>
          <a:xfrm>
            <a:off x="4003767" y="5601865"/>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FPS</a:t>
            </a:r>
            <a:endParaRPr sz="2667" kern="0">
              <a:solidFill>
                <a:srgbClr val="FFFFFF"/>
              </a:solidFill>
              <a:latin typeface="Cambria Math"/>
              <a:ea typeface="Cambria Math"/>
              <a:cs typeface="Cambria Math"/>
              <a:sym typeface="Cambria Math"/>
            </a:endParaRPr>
          </a:p>
        </p:txBody>
      </p:sp>
      <p:cxnSp>
        <p:nvCxnSpPr>
          <p:cNvPr id="637" name="Google Shape;637;p70"/>
          <p:cNvCxnSpPr>
            <a:stCxn id="636" idx="3"/>
            <a:endCxn id="629" idx="1"/>
          </p:cNvCxnSpPr>
          <p:nvPr/>
        </p:nvCxnSpPr>
        <p:spPr>
          <a:xfrm>
            <a:off x="6697767" y="2842487"/>
            <a:ext cx="628800" cy="800"/>
          </a:xfrm>
          <a:prstGeom prst="bentConnector3">
            <a:avLst>
              <a:gd name="adj1" fmla="val 49984"/>
            </a:avLst>
          </a:prstGeom>
          <a:noFill/>
          <a:ln w="38100" cap="flat" cmpd="sng">
            <a:solidFill>
              <a:srgbClr val="00FF00"/>
            </a:solidFill>
            <a:prstDash val="solid"/>
            <a:round/>
            <a:headEnd type="none" w="sm" len="sm"/>
            <a:tailEnd type="none" w="sm" len="sm"/>
          </a:ln>
        </p:spPr>
      </p:cxnSp>
      <p:cxnSp>
        <p:nvCxnSpPr>
          <p:cNvPr id="638" name="Google Shape;638;p70"/>
          <p:cNvCxnSpPr>
            <a:stCxn id="633" idx="3"/>
            <a:endCxn id="639" idx="1"/>
          </p:cNvCxnSpPr>
          <p:nvPr/>
        </p:nvCxnSpPr>
        <p:spPr>
          <a:xfrm>
            <a:off x="3017600" y="4438600"/>
            <a:ext cx="986000" cy="800"/>
          </a:xfrm>
          <a:prstGeom prst="bentConnector3">
            <a:avLst>
              <a:gd name="adj1" fmla="val 50005"/>
            </a:avLst>
          </a:prstGeom>
          <a:noFill/>
          <a:ln w="38100" cap="flat" cmpd="sng">
            <a:solidFill>
              <a:srgbClr val="00FF00"/>
            </a:solidFill>
            <a:prstDash val="solid"/>
            <a:round/>
            <a:headEnd type="none" w="sm" len="sm"/>
            <a:tailEnd type="none" w="sm" len="sm"/>
          </a:ln>
        </p:spPr>
      </p:cxnSp>
      <p:sp>
        <p:nvSpPr>
          <p:cNvPr id="639" name="Google Shape;639;p70"/>
          <p:cNvSpPr/>
          <p:nvPr/>
        </p:nvSpPr>
        <p:spPr>
          <a:xfrm>
            <a:off x="4003700" y="4088401"/>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CGS</a:t>
            </a:r>
            <a:endParaRPr sz="2667" kern="0">
              <a:solidFill>
                <a:srgbClr val="FFFFFF"/>
              </a:solidFill>
              <a:latin typeface="Cambria Math"/>
              <a:ea typeface="Cambria Math"/>
              <a:cs typeface="Cambria Math"/>
              <a:sym typeface="Cambria Math"/>
            </a:endParaRPr>
          </a:p>
        </p:txBody>
      </p:sp>
      <p:sp>
        <p:nvSpPr>
          <p:cNvPr id="640" name="Google Shape;640;p70"/>
          <p:cNvSpPr/>
          <p:nvPr/>
        </p:nvSpPr>
        <p:spPr>
          <a:xfrm>
            <a:off x="6455967" y="1228984"/>
            <a:ext cx="52940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 Base units for length, mass and time</a:t>
            </a:r>
            <a:endParaRPr sz="2667" kern="0">
              <a:solidFill>
                <a:srgbClr val="FFFFFF"/>
              </a:solidFill>
              <a:latin typeface="Cambria Math"/>
              <a:ea typeface="Cambria Math"/>
              <a:cs typeface="Cambria Math"/>
              <a:sym typeface="Cambria Math"/>
            </a:endParaRPr>
          </a:p>
        </p:txBody>
      </p:sp>
      <p:cxnSp>
        <p:nvCxnSpPr>
          <p:cNvPr id="641" name="Google Shape;641;p70"/>
          <p:cNvCxnSpPr>
            <a:stCxn id="640" idx="2"/>
          </p:cNvCxnSpPr>
          <p:nvPr/>
        </p:nvCxnSpPr>
        <p:spPr>
          <a:xfrm rot="-5400000" flipH="1">
            <a:off x="8843967" y="2149984"/>
            <a:ext cx="518800" cy="800"/>
          </a:xfrm>
          <a:prstGeom prst="bentConnector3">
            <a:avLst>
              <a:gd name="adj1" fmla="val 50000"/>
            </a:avLst>
          </a:prstGeom>
          <a:noFill/>
          <a:ln w="38100" cap="flat" cmpd="sng">
            <a:solidFill>
              <a:srgbClr val="00FF00"/>
            </a:solidFill>
            <a:prstDash val="solid"/>
            <a:round/>
            <a:headEnd type="none" w="sm" len="sm"/>
            <a:tailEnd type="stealth" w="sm" len="sm"/>
          </a:ln>
        </p:spPr>
      </p:cxnSp>
      <p:sp>
        <p:nvSpPr>
          <p:cNvPr id="642" name="Google Shape;642;p70"/>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1406899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71"/>
          <p:cNvSpPr/>
          <p:nvPr/>
        </p:nvSpPr>
        <p:spPr>
          <a:xfrm>
            <a:off x="7326367" y="2367300"/>
            <a:ext cx="35532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Metre, kilogram and second respectively</a:t>
            </a:r>
            <a:endParaRPr sz="2667" kern="0">
              <a:solidFill>
                <a:srgbClr val="FFFFFF"/>
              </a:solidFill>
              <a:latin typeface="Cambria Math"/>
              <a:ea typeface="Cambria Math"/>
              <a:cs typeface="Cambria Math"/>
              <a:sym typeface="Cambria Math"/>
            </a:endParaRPr>
          </a:p>
        </p:txBody>
      </p:sp>
      <p:sp>
        <p:nvSpPr>
          <p:cNvPr id="649" name="Google Shape;649;p71"/>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36</a:t>
            </a:fld>
            <a:endParaRPr kern="0"/>
          </a:p>
        </p:txBody>
      </p:sp>
      <p:sp>
        <p:nvSpPr>
          <p:cNvPr id="650" name="Google Shape;650;p71"/>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651" name="Google Shape;651;p71"/>
          <p:cNvCxnSpPr>
            <a:stCxn id="652" idx="3"/>
            <a:endCxn id="653" idx="1"/>
          </p:cNvCxnSpPr>
          <p:nvPr/>
        </p:nvCxnSpPr>
        <p:spPr>
          <a:xfrm>
            <a:off x="3017600" y="4438600"/>
            <a:ext cx="986000" cy="1513600"/>
          </a:xfrm>
          <a:prstGeom prst="bentConnector3">
            <a:avLst>
              <a:gd name="adj1" fmla="val 50008"/>
            </a:avLst>
          </a:prstGeom>
          <a:noFill/>
          <a:ln w="38100" cap="flat" cmpd="sng">
            <a:solidFill>
              <a:srgbClr val="00FF00"/>
            </a:solidFill>
            <a:prstDash val="solid"/>
            <a:round/>
            <a:headEnd type="none" w="sm" len="sm"/>
            <a:tailEnd type="none" w="sm" len="sm"/>
          </a:ln>
        </p:spPr>
      </p:cxnSp>
      <p:cxnSp>
        <p:nvCxnSpPr>
          <p:cNvPr id="654" name="Google Shape;654;p71"/>
          <p:cNvCxnSpPr>
            <a:stCxn id="652" idx="3"/>
            <a:endCxn id="655"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652" name="Google Shape;652;p71"/>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655" name="Google Shape;655;p71"/>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sp>
        <p:nvSpPr>
          <p:cNvPr id="653" name="Google Shape;653;p71"/>
          <p:cNvSpPr/>
          <p:nvPr/>
        </p:nvSpPr>
        <p:spPr>
          <a:xfrm>
            <a:off x="4003767" y="5601865"/>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FPS</a:t>
            </a:r>
            <a:endParaRPr sz="2667" kern="0">
              <a:solidFill>
                <a:srgbClr val="FFFFFF"/>
              </a:solidFill>
              <a:latin typeface="Cambria Math"/>
              <a:ea typeface="Cambria Math"/>
              <a:cs typeface="Cambria Math"/>
              <a:sym typeface="Cambria Math"/>
            </a:endParaRPr>
          </a:p>
        </p:txBody>
      </p:sp>
      <p:sp>
        <p:nvSpPr>
          <p:cNvPr id="656" name="Google Shape;656;p71"/>
          <p:cNvSpPr/>
          <p:nvPr/>
        </p:nvSpPr>
        <p:spPr>
          <a:xfrm>
            <a:off x="7328967" y="3963584"/>
            <a:ext cx="3548000" cy="950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Centimetre, gram and second respectively</a:t>
            </a:r>
            <a:endParaRPr sz="2400" kern="0">
              <a:solidFill>
                <a:srgbClr val="FFFFFF"/>
              </a:solidFill>
              <a:latin typeface="Cambria Math"/>
              <a:ea typeface="Cambria Math"/>
              <a:cs typeface="Cambria Math"/>
              <a:sym typeface="Cambria Math"/>
            </a:endParaRPr>
          </a:p>
        </p:txBody>
      </p:sp>
      <p:cxnSp>
        <p:nvCxnSpPr>
          <p:cNvPr id="657" name="Google Shape;657;p71"/>
          <p:cNvCxnSpPr>
            <a:stCxn id="655" idx="3"/>
            <a:endCxn id="648" idx="1"/>
          </p:cNvCxnSpPr>
          <p:nvPr/>
        </p:nvCxnSpPr>
        <p:spPr>
          <a:xfrm>
            <a:off x="6697767" y="2842487"/>
            <a:ext cx="628800" cy="800"/>
          </a:xfrm>
          <a:prstGeom prst="bentConnector3">
            <a:avLst>
              <a:gd name="adj1" fmla="val 49984"/>
            </a:avLst>
          </a:prstGeom>
          <a:noFill/>
          <a:ln w="38100" cap="flat" cmpd="sng">
            <a:solidFill>
              <a:srgbClr val="00FF00"/>
            </a:solidFill>
            <a:prstDash val="solid"/>
            <a:round/>
            <a:headEnd type="none" w="sm" len="sm"/>
            <a:tailEnd type="none" w="sm" len="sm"/>
          </a:ln>
        </p:spPr>
      </p:cxnSp>
      <p:cxnSp>
        <p:nvCxnSpPr>
          <p:cNvPr id="658" name="Google Shape;658;p71"/>
          <p:cNvCxnSpPr>
            <a:stCxn id="656" idx="1"/>
            <a:endCxn id="659" idx="3"/>
          </p:cNvCxnSpPr>
          <p:nvPr/>
        </p:nvCxnSpPr>
        <p:spPr>
          <a:xfrm flipH="1">
            <a:off x="6697767" y="4438984"/>
            <a:ext cx="631200" cy="800"/>
          </a:xfrm>
          <a:prstGeom prst="bentConnector3">
            <a:avLst>
              <a:gd name="adj1" fmla="val 50005"/>
            </a:avLst>
          </a:prstGeom>
          <a:noFill/>
          <a:ln w="38100" cap="flat" cmpd="sng">
            <a:solidFill>
              <a:srgbClr val="00FF00"/>
            </a:solidFill>
            <a:prstDash val="solid"/>
            <a:round/>
            <a:headEnd type="none" w="sm" len="sm"/>
            <a:tailEnd type="none" w="sm" len="sm"/>
          </a:ln>
        </p:spPr>
      </p:cxnSp>
      <p:cxnSp>
        <p:nvCxnSpPr>
          <p:cNvPr id="660" name="Google Shape;660;p71"/>
          <p:cNvCxnSpPr>
            <a:stCxn id="652" idx="3"/>
            <a:endCxn id="659" idx="1"/>
          </p:cNvCxnSpPr>
          <p:nvPr/>
        </p:nvCxnSpPr>
        <p:spPr>
          <a:xfrm>
            <a:off x="3017600" y="4438600"/>
            <a:ext cx="986000" cy="800"/>
          </a:xfrm>
          <a:prstGeom prst="bentConnector3">
            <a:avLst>
              <a:gd name="adj1" fmla="val 50005"/>
            </a:avLst>
          </a:prstGeom>
          <a:noFill/>
          <a:ln w="38100" cap="flat" cmpd="sng">
            <a:solidFill>
              <a:srgbClr val="00FF00"/>
            </a:solidFill>
            <a:prstDash val="solid"/>
            <a:round/>
            <a:headEnd type="none" w="sm" len="sm"/>
            <a:tailEnd type="none" w="sm" len="sm"/>
          </a:ln>
        </p:spPr>
      </p:cxnSp>
      <p:sp>
        <p:nvSpPr>
          <p:cNvPr id="659" name="Google Shape;659;p71"/>
          <p:cNvSpPr/>
          <p:nvPr/>
        </p:nvSpPr>
        <p:spPr>
          <a:xfrm>
            <a:off x="4003700" y="4088401"/>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CGS</a:t>
            </a:r>
            <a:endParaRPr sz="2667" kern="0">
              <a:solidFill>
                <a:srgbClr val="FFFFFF"/>
              </a:solidFill>
              <a:latin typeface="Cambria Math"/>
              <a:ea typeface="Cambria Math"/>
              <a:cs typeface="Cambria Math"/>
              <a:sym typeface="Cambria Math"/>
            </a:endParaRPr>
          </a:p>
        </p:txBody>
      </p:sp>
      <p:sp>
        <p:nvSpPr>
          <p:cNvPr id="661" name="Google Shape;661;p71"/>
          <p:cNvSpPr/>
          <p:nvPr/>
        </p:nvSpPr>
        <p:spPr>
          <a:xfrm>
            <a:off x="6455967" y="1228984"/>
            <a:ext cx="52940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 Base units for length, mass and time</a:t>
            </a:r>
            <a:endParaRPr sz="2667" kern="0">
              <a:solidFill>
                <a:srgbClr val="FFFFFF"/>
              </a:solidFill>
              <a:latin typeface="Cambria Math"/>
              <a:ea typeface="Cambria Math"/>
              <a:cs typeface="Cambria Math"/>
              <a:sym typeface="Cambria Math"/>
            </a:endParaRPr>
          </a:p>
        </p:txBody>
      </p:sp>
      <p:cxnSp>
        <p:nvCxnSpPr>
          <p:cNvPr id="662" name="Google Shape;662;p71"/>
          <p:cNvCxnSpPr>
            <a:stCxn id="661" idx="2"/>
          </p:cNvCxnSpPr>
          <p:nvPr/>
        </p:nvCxnSpPr>
        <p:spPr>
          <a:xfrm rot="-5400000" flipH="1">
            <a:off x="8843967" y="2149984"/>
            <a:ext cx="518800" cy="800"/>
          </a:xfrm>
          <a:prstGeom prst="bentConnector3">
            <a:avLst>
              <a:gd name="adj1" fmla="val 50000"/>
            </a:avLst>
          </a:prstGeom>
          <a:noFill/>
          <a:ln w="38100" cap="flat" cmpd="sng">
            <a:solidFill>
              <a:srgbClr val="00FF00"/>
            </a:solidFill>
            <a:prstDash val="solid"/>
            <a:round/>
            <a:headEnd type="none" w="sm" len="sm"/>
            <a:tailEnd type="stealth" w="sm" len="sm"/>
          </a:ln>
        </p:spPr>
      </p:cxnSp>
      <p:sp>
        <p:nvSpPr>
          <p:cNvPr id="663" name="Google Shape;663;p71"/>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905236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72"/>
          <p:cNvSpPr/>
          <p:nvPr/>
        </p:nvSpPr>
        <p:spPr>
          <a:xfrm>
            <a:off x="7326367" y="2367300"/>
            <a:ext cx="35532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Metre, kilogram and second respectively</a:t>
            </a:r>
            <a:endParaRPr sz="2667" kern="0">
              <a:solidFill>
                <a:srgbClr val="FFFFFF"/>
              </a:solidFill>
              <a:latin typeface="Cambria Math"/>
              <a:ea typeface="Cambria Math"/>
              <a:cs typeface="Cambria Math"/>
              <a:sym typeface="Cambria Math"/>
            </a:endParaRPr>
          </a:p>
        </p:txBody>
      </p:sp>
      <p:sp>
        <p:nvSpPr>
          <p:cNvPr id="670" name="Google Shape;670;p72"/>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37</a:t>
            </a:fld>
            <a:endParaRPr kern="0"/>
          </a:p>
        </p:txBody>
      </p:sp>
      <p:sp>
        <p:nvSpPr>
          <p:cNvPr id="671" name="Google Shape;671;p72"/>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cxnSp>
        <p:nvCxnSpPr>
          <p:cNvPr id="672" name="Google Shape;672;p72"/>
          <p:cNvCxnSpPr>
            <a:stCxn id="673" idx="3"/>
            <a:endCxn id="674" idx="1"/>
          </p:cNvCxnSpPr>
          <p:nvPr/>
        </p:nvCxnSpPr>
        <p:spPr>
          <a:xfrm>
            <a:off x="3017600" y="4438600"/>
            <a:ext cx="986000" cy="1513600"/>
          </a:xfrm>
          <a:prstGeom prst="bentConnector3">
            <a:avLst>
              <a:gd name="adj1" fmla="val 50008"/>
            </a:avLst>
          </a:prstGeom>
          <a:noFill/>
          <a:ln w="38100" cap="flat" cmpd="sng">
            <a:solidFill>
              <a:srgbClr val="00FF00"/>
            </a:solidFill>
            <a:prstDash val="solid"/>
            <a:round/>
            <a:headEnd type="none" w="sm" len="sm"/>
            <a:tailEnd type="none" w="sm" len="sm"/>
          </a:ln>
        </p:spPr>
      </p:cxnSp>
      <p:cxnSp>
        <p:nvCxnSpPr>
          <p:cNvPr id="675" name="Google Shape;675;p72"/>
          <p:cNvCxnSpPr>
            <a:stCxn id="673" idx="3"/>
            <a:endCxn id="676" idx="1"/>
          </p:cNvCxnSpPr>
          <p:nvPr/>
        </p:nvCxnSpPr>
        <p:spPr>
          <a:xfrm rot="10800000" flipH="1">
            <a:off x="3017600" y="2842600"/>
            <a:ext cx="986000" cy="1596000"/>
          </a:xfrm>
          <a:prstGeom prst="bentConnector3">
            <a:avLst>
              <a:gd name="adj1" fmla="val 50008"/>
            </a:avLst>
          </a:prstGeom>
          <a:noFill/>
          <a:ln w="38100" cap="flat" cmpd="sng">
            <a:solidFill>
              <a:srgbClr val="00FF00"/>
            </a:solidFill>
            <a:prstDash val="solid"/>
            <a:round/>
            <a:headEnd type="none" w="sm" len="sm"/>
            <a:tailEnd type="none" w="sm" len="sm"/>
          </a:ln>
        </p:spPr>
      </p:cxnSp>
      <p:sp>
        <p:nvSpPr>
          <p:cNvPr id="673" name="Google Shape;673;p72"/>
          <p:cNvSpPr/>
          <p:nvPr/>
        </p:nvSpPr>
        <p:spPr>
          <a:xfrm>
            <a:off x="406400" y="4036200"/>
            <a:ext cx="2611200" cy="80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System of Units</a:t>
            </a:r>
            <a:endParaRPr sz="2667" kern="0">
              <a:solidFill>
                <a:srgbClr val="FFFFFF"/>
              </a:solidFill>
              <a:latin typeface="Cambria Math"/>
              <a:ea typeface="Cambria Math"/>
              <a:cs typeface="Cambria Math"/>
              <a:sym typeface="Cambria Math"/>
            </a:endParaRPr>
          </a:p>
        </p:txBody>
      </p:sp>
      <p:sp>
        <p:nvSpPr>
          <p:cNvPr id="676" name="Google Shape;676;p72"/>
          <p:cNvSpPr/>
          <p:nvPr/>
        </p:nvSpPr>
        <p:spPr>
          <a:xfrm>
            <a:off x="4003767" y="2492287"/>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MKS</a:t>
            </a:r>
            <a:endParaRPr sz="2667" kern="0">
              <a:solidFill>
                <a:srgbClr val="FFFFFF"/>
              </a:solidFill>
              <a:latin typeface="Cambria Math"/>
              <a:ea typeface="Cambria Math"/>
              <a:cs typeface="Cambria Math"/>
              <a:sym typeface="Cambria Math"/>
            </a:endParaRPr>
          </a:p>
        </p:txBody>
      </p:sp>
      <p:sp>
        <p:nvSpPr>
          <p:cNvPr id="674" name="Google Shape;674;p72"/>
          <p:cNvSpPr/>
          <p:nvPr/>
        </p:nvSpPr>
        <p:spPr>
          <a:xfrm>
            <a:off x="4003767" y="5601865"/>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FPS</a:t>
            </a:r>
            <a:endParaRPr sz="2667" kern="0">
              <a:solidFill>
                <a:srgbClr val="FFFFFF"/>
              </a:solidFill>
              <a:latin typeface="Cambria Math"/>
              <a:ea typeface="Cambria Math"/>
              <a:cs typeface="Cambria Math"/>
              <a:sym typeface="Cambria Math"/>
            </a:endParaRPr>
          </a:p>
        </p:txBody>
      </p:sp>
      <p:sp>
        <p:nvSpPr>
          <p:cNvPr id="677" name="Google Shape;677;p72"/>
          <p:cNvSpPr/>
          <p:nvPr/>
        </p:nvSpPr>
        <p:spPr>
          <a:xfrm>
            <a:off x="7328967" y="3963584"/>
            <a:ext cx="3548000" cy="950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Centimetre, gram and second respectively</a:t>
            </a:r>
            <a:endParaRPr sz="2400" kern="0">
              <a:solidFill>
                <a:srgbClr val="FFFFFF"/>
              </a:solidFill>
              <a:latin typeface="Cambria Math"/>
              <a:ea typeface="Cambria Math"/>
              <a:cs typeface="Cambria Math"/>
              <a:sym typeface="Cambria Math"/>
            </a:endParaRPr>
          </a:p>
        </p:txBody>
      </p:sp>
      <p:sp>
        <p:nvSpPr>
          <p:cNvPr id="678" name="Google Shape;678;p72"/>
          <p:cNvSpPr/>
          <p:nvPr/>
        </p:nvSpPr>
        <p:spPr>
          <a:xfrm>
            <a:off x="7328167" y="5476651"/>
            <a:ext cx="3548000" cy="950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Foot, pound and second respectively</a:t>
            </a:r>
            <a:endParaRPr sz="2667" kern="0">
              <a:solidFill>
                <a:srgbClr val="FFFFFF"/>
              </a:solidFill>
              <a:latin typeface="Cambria Math"/>
              <a:ea typeface="Cambria Math"/>
              <a:cs typeface="Cambria Math"/>
              <a:sym typeface="Cambria Math"/>
            </a:endParaRPr>
          </a:p>
        </p:txBody>
      </p:sp>
      <p:cxnSp>
        <p:nvCxnSpPr>
          <p:cNvPr id="679" name="Google Shape;679;p72"/>
          <p:cNvCxnSpPr>
            <a:stCxn id="676" idx="3"/>
            <a:endCxn id="669" idx="1"/>
          </p:cNvCxnSpPr>
          <p:nvPr/>
        </p:nvCxnSpPr>
        <p:spPr>
          <a:xfrm>
            <a:off x="6697767" y="2842487"/>
            <a:ext cx="628800" cy="800"/>
          </a:xfrm>
          <a:prstGeom prst="bentConnector3">
            <a:avLst>
              <a:gd name="adj1" fmla="val 49984"/>
            </a:avLst>
          </a:prstGeom>
          <a:noFill/>
          <a:ln w="38100" cap="flat" cmpd="sng">
            <a:solidFill>
              <a:srgbClr val="00FF00"/>
            </a:solidFill>
            <a:prstDash val="solid"/>
            <a:round/>
            <a:headEnd type="none" w="sm" len="sm"/>
            <a:tailEnd type="none" w="sm" len="sm"/>
          </a:ln>
        </p:spPr>
      </p:cxnSp>
      <p:cxnSp>
        <p:nvCxnSpPr>
          <p:cNvPr id="680" name="Google Shape;680;p72"/>
          <p:cNvCxnSpPr>
            <a:stCxn id="677" idx="1"/>
            <a:endCxn id="681" idx="3"/>
          </p:cNvCxnSpPr>
          <p:nvPr/>
        </p:nvCxnSpPr>
        <p:spPr>
          <a:xfrm flipH="1">
            <a:off x="6697767" y="4438984"/>
            <a:ext cx="631200" cy="800"/>
          </a:xfrm>
          <a:prstGeom prst="bentConnector3">
            <a:avLst>
              <a:gd name="adj1" fmla="val 50005"/>
            </a:avLst>
          </a:prstGeom>
          <a:noFill/>
          <a:ln w="38100" cap="flat" cmpd="sng">
            <a:solidFill>
              <a:srgbClr val="00FF00"/>
            </a:solidFill>
            <a:prstDash val="solid"/>
            <a:round/>
            <a:headEnd type="none" w="sm" len="sm"/>
            <a:tailEnd type="none" w="sm" len="sm"/>
          </a:ln>
        </p:spPr>
      </p:cxnSp>
      <p:cxnSp>
        <p:nvCxnSpPr>
          <p:cNvPr id="682" name="Google Shape;682;p72"/>
          <p:cNvCxnSpPr>
            <a:stCxn id="678" idx="1"/>
            <a:endCxn id="674" idx="3"/>
          </p:cNvCxnSpPr>
          <p:nvPr/>
        </p:nvCxnSpPr>
        <p:spPr>
          <a:xfrm flipH="1">
            <a:off x="6697767" y="5952051"/>
            <a:ext cx="630400" cy="800"/>
          </a:xfrm>
          <a:prstGeom prst="bentConnector3">
            <a:avLst>
              <a:gd name="adj1" fmla="val 50000"/>
            </a:avLst>
          </a:prstGeom>
          <a:noFill/>
          <a:ln w="38100" cap="flat" cmpd="sng">
            <a:solidFill>
              <a:srgbClr val="00FF00"/>
            </a:solidFill>
            <a:prstDash val="solid"/>
            <a:round/>
            <a:headEnd type="none" w="sm" len="sm"/>
            <a:tailEnd type="none" w="sm" len="sm"/>
          </a:ln>
        </p:spPr>
      </p:cxnSp>
      <p:cxnSp>
        <p:nvCxnSpPr>
          <p:cNvPr id="683" name="Google Shape;683;p72"/>
          <p:cNvCxnSpPr>
            <a:stCxn id="673" idx="3"/>
            <a:endCxn id="681" idx="1"/>
          </p:cNvCxnSpPr>
          <p:nvPr/>
        </p:nvCxnSpPr>
        <p:spPr>
          <a:xfrm>
            <a:off x="3017600" y="4438600"/>
            <a:ext cx="986000" cy="800"/>
          </a:xfrm>
          <a:prstGeom prst="bentConnector3">
            <a:avLst>
              <a:gd name="adj1" fmla="val 50005"/>
            </a:avLst>
          </a:prstGeom>
          <a:noFill/>
          <a:ln w="38100" cap="flat" cmpd="sng">
            <a:solidFill>
              <a:srgbClr val="00FF00"/>
            </a:solidFill>
            <a:prstDash val="solid"/>
            <a:round/>
            <a:headEnd type="none" w="sm" len="sm"/>
            <a:tailEnd type="none" w="sm" len="sm"/>
          </a:ln>
        </p:spPr>
      </p:cxnSp>
      <p:sp>
        <p:nvSpPr>
          <p:cNvPr id="681" name="Google Shape;681;p72"/>
          <p:cNvSpPr/>
          <p:nvPr/>
        </p:nvSpPr>
        <p:spPr>
          <a:xfrm>
            <a:off x="4003700" y="4088401"/>
            <a:ext cx="2694000" cy="70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CGS</a:t>
            </a:r>
            <a:endParaRPr sz="2667" kern="0">
              <a:solidFill>
                <a:srgbClr val="FFFFFF"/>
              </a:solidFill>
              <a:latin typeface="Cambria Math"/>
              <a:ea typeface="Cambria Math"/>
              <a:cs typeface="Cambria Math"/>
              <a:sym typeface="Cambria Math"/>
            </a:endParaRPr>
          </a:p>
        </p:txBody>
      </p:sp>
      <p:sp>
        <p:nvSpPr>
          <p:cNvPr id="684" name="Google Shape;684;p72"/>
          <p:cNvSpPr/>
          <p:nvPr/>
        </p:nvSpPr>
        <p:spPr>
          <a:xfrm>
            <a:off x="6455967" y="1228984"/>
            <a:ext cx="52940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 Base units for length, mass and time</a:t>
            </a:r>
            <a:endParaRPr sz="2667" kern="0">
              <a:solidFill>
                <a:srgbClr val="FFFFFF"/>
              </a:solidFill>
              <a:latin typeface="Cambria Math"/>
              <a:ea typeface="Cambria Math"/>
              <a:cs typeface="Cambria Math"/>
              <a:sym typeface="Cambria Math"/>
            </a:endParaRPr>
          </a:p>
        </p:txBody>
      </p:sp>
      <p:cxnSp>
        <p:nvCxnSpPr>
          <p:cNvPr id="685" name="Google Shape;685;p72"/>
          <p:cNvCxnSpPr>
            <a:stCxn id="684" idx="2"/>
          </p:cNvCxnSpPr>
          <p:nvPr/>
        </p:nvCxnSpPr>
        <p:spPr>
          <a:xfrm rot="-5400000" flipH="1">
            <a:off x="8843967" y="2149984"/>
            <a:ext cx="518800" cy="800"/>
          </a:xfrm>
          <a:prstGeom prst="bentConnector3">
            <a:avLst>
              <a:gd name="adj1" fmla="val 50000"/>
            </a:avLst>
          </a:prstGeom>
          <a:noFill/>
          <a:ln w="38100" cap="flat" cmpd="sng">
            <a:solidFill>
              <a:srgbClr val="00FF00"/>
            </a:solidFill>
            <a:prstDash val="solid"/>
            <a:round/>
            <a:headEnd type="none" w="sm" len="sm"/>
            <a:tailEnd type="stealth" w="sm" len="sm"/>
          </a:ln>
        </p:spPr>
      </p:cxnSp>
      <p:sp>
        <p:nvSpPr>
          <p:cNvPr id="686" name="Google Shape;686;p72"/>
          <p:cNvSpPr/>
          <p:nvPr/>
        </p:nvSpPr>
        <p:spPr>
          <a:xfrm>
            <a:off x="845233" y="1546400"/>
            <a:ext cx="2172400" cy="1296000"/>
          </a:xfrm>
          <a:prstGeom prst="wedgeRectCallout">
            <a:avLst>
              <a:gd name="adj1" fmla="val -5880"/>
              <a:gd name="adj2" fmla="val 142541"/>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Complete set of units</a:t>
            </a:r>
            <a:endParaRPr sz="2667" kern="0">
              <a:solidFill>
                <a:srgbClr val="FFFF00"/>
              </a:solidFill>
              <a:latin typeface="Cambria Math"/>
              <a:ea typeface="Cambria Math"/>
              <a:cs typeface="Cambria Math"/>
              <a:sym typeface="Cambria Math"/>
            </a:endParaRPr>
          </a:p>
        </p:txBody>
      </p:sp>
    </p:spTree>
    <p:extLst>
      <p:ext uri="{BB962C8B-B14F-4D97-AF65-F5344CB8AC3E}">
        <p14:creationId xmlns:p14="http://schemas.microsoft.com/office/powerpoint/2010/main" val="2391893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73"/>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38</a:t>
            </a:fld>
            <a:endParaRPr kern="0"/>
          </a:p>
        </p:txBody>
      </p:sp>
      <p:sp>
        <p:nvSpPr>
          <p:cNvPr id="694" name="Google Shape;694;p73"/>
          <p:cNvSpPr/>
          <p:nvPr/>
        </p:nvSpPr>
        <p:spPr>
          <a:xfrm>
            <a:off x="5122667" y="1367267"/>
            <a:ext cx="193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SI System</a:t>
            </a:r>
            <a:endParaRPr sz="2667" kern="0">
              <a:solidFill>
                <a:srgbClr val="FFFFFF"/>
              </a:solidFill>
              <a:latin typeface="Cambria Math"/>
              <a:ea typeface="Cambria Math"/>
              <a:cs typeface="Cambria Math"/>
              <a:sym typeface="Cambria Math"/>
            </a:endParaRPr>
          </a:p>
        </p:txBody>
      </p:sp>
      <p:sp>
        <p:nvSpPr>
          <p:cNvPr id="6" name="Google Shape;703;p7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Tree>
    <p:extLst>
      <p:ext uri="{BB962C8B-B14F-4D97-AF65-F5344CB8AC3E}">
        <p14:creationId xmlns:p14="http://schemas.microsoft.com/office/powerpoint/2010/main" val="409085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74"/>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a:latin typeface="Cambria Math"/>
              <a:ea typeface="Cambria Math"/>
              <a:cs typeface="Cambria Math"/>
              <a:sym typeface="Cambria Math"/>
            </a:endParaRPr>
          </a:p>
        </p:txBody>
      </p:sp>
      <p:sp>
        <p:nvSpPr>
          <p:cNvPr id="701" name="Google Shape;701;p74"/>
          <p:cNvSpPr/>
          <p:nvPr/>
        </p:nvSpPr>
        <p:spPr>
          <a:xfrm>
            <a:off x="505567" y="1288333"/>
            <a:ext cx="3168400" cy="84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International System of units</a:t>
            </a:r>
            <a:endParaRPr sz="2400" kern="0">
              <a:solidFill>
                <a:srgbClr val="FFFFFF"/>
              </a:solidFill>
              <a:latin typeface="Cambria Math"/>
              <a:ea typeface="Cambria Math"/>
              <a:cs typeface="Cambria Math"/>
              <a:sym typeface="Cambria Math"/>
            </a:endParaRPr>
          </a:p>
        </p:txBody>
      </p:sp>
      <p:sp>
        <p:nvSpPr>
          <p:cNvPr id="702" name="Google Shape;702;p7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39</a:t>
            </a:fld>
            <a:endParaRPr kern="0"/>
          </a:p>
        </p:txBody>
      </p:sp>
      <p:sp>
        <p:nvSpPr>
          <p:cNvPr id="703" name="Google Shape;703;p74"/>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704" name="Google Shape;704;p74"/>
          <p:cNvSpPr/>
          <p:nvPr/>
        </p:nvSpPr>
        <p:spPr>
          <a:xfrm>
            <a:off x="5122667" y="1367267"/>
            <a:ext cx="193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SI System</a:t>
            </a:r>
            <a:endParaRPr sz="2667" kern="0">
              <a:solidFill>
                <a:srgbClr val="FFFFFF"/>
              </a:solidFill>
              <a:latin typeface="Cambria Math"/>
              <a:ea typeface="Cambria Math"/>
              <a:cs typeface="Cambria Math"/>
              <a:sym typeface="Cambria Math"/>
            </a:endParaRPr>
          </a:p>
        </p:txBody>
      </p:sp>
      <p:cxnSp>
        <p:nvCxnSpPr>
          <p:cNvPr id="705" name="Google Shape;705;p74"/>
          <p:cNvCxnSpPr>
            <a:stCxn id="704" idx="1"/>
            <a:endCxn id="701" idx="3"/>
          </p:cNvCxnSpPr>
          <p:nvPr/>
        </p:nvCxnSpPr>
        <p:spPr>
          <a:xfrm flipH="1">
            <a:off x="3673867" y="1698267"/>
            <a:ext cx="1448800" cy="11600"/>
          </a:xfrm>
          <a:prstGeom prst="straightConnector1">
            <a:avLst/>
          </a:prstGeom>
          <a:noFill/>
          <a:ln w="38100" cap="flat" cmpd="sng">
            <a:solidFill>
              <a:srgbClr val="00FF00"/>
            </a:solidFill>
            <a:prstDash val="solid"/>
            <a:round/>
            <a:headEnd type="none" w="med" len="med"/>
            <a:tailEnd type="triangle" w="med" len="med"/>
          </a:ln>
        </p:spPr>
      </p:cxnSp>
    </p:spTree>
    <p:extLst>
      <p:ext uri="{BB962C8B-B14F-4D97-AF65-F5344CB8AC3E}">
        <p14:creationId xmlns:p14="http://schemas.microsoft.com/office/powerpoint/2010/main" val="26216217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5"/>
          <p:cNvSpPr/>
          <p:nvPr/>
        </p:nvSpPr>
        <p:spPr>
          <a:xfrm>
            <a:off x="505567" y="1288333"/>
            <a:ext cx="3168400" cy="84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International System of units</a:t>
            </a:r>
            <a:endParaRPr sz="2400" kern="0">
              <a:solidFill>
                <a:srgbClr val="FFFFFF"/>
              </a:solidFill>
              <a:latin typeface="Cambria Math"/>
              <a:ea typeface="Cambria Math"/>
              <a:cs typeface="Cambria Math"/>
              <a:sym typeface="Cambria Math"/>
            </a:endParaRPr>
          </a:p>
        </p:txBody>
      </p:sp>
      <p:sp>
        <p:nvSpPr>
          <p:cNvPr id="712" name="Google Shape;712;p75"/>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40</a:t>
            </a:fld>
            <a:endParaRPr kern="0"/>
          </a:p>
        </p:txBody>
      </p:sp>
      <p:sp>
        <p:nvSpPr>
          <p:cNvPr id="713" name="Google Shape;713;p75"/>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714" name="Google Shape;714;p75"/>
          <p:cNvSpPr/>
          <p:nvPr/>
        </p:nvSpPr>
        <p:spPr>
          <a:xfrm>
            <a:off x="5122667" y="1367267"/>
            <a:ext cx="193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SI System</a:t>
            </a:r>
            <a:endParaRPr sz="2667" kern="0">
              <a:solidFill>
                <a:srgbClr val="FFFFFF"/>
              </a:solidFill>
              <a:latin typeface="Cambria Math"/>
              <a:ea typeface="Cambria Math"/>
              <a:cs typeface="Cambria Math"/>
              <a:sym typeface="Cambria Math"/>
            </a:endParaRPr>
          </a:p>
        </p:txBody>
      </p:sp>
      <p:cxnSp>
        <p:nvCxnSpPr>
          <p:cNvPr id="715" name="Google Shape;715;p75"/>
          <p:cNvCxnSpPr>
            <a:stCxn id="714" idx="1"/>
            <a:endCxn id="711" idx="3"/>
          </p:cNvCxnSpPr>
          <p:nvPr/>
        </p:nvCxnSpPr>
        <p:spPr>
          <a:xfrm flipH="1">
            <a:off x="3673867" y="1698267"/>
            <a:ext cx="1448800" cy="11600"/>
          </a:xfrm>
          <a:prstGeom prst="straightConnector1">
            <a:avLst/>
          </a:prstGeom>
          <a:noFill/>
          <a:ln w="38100" cap="flat" cmpd="sng">
            <a:solidFill>
              <a:srgbClr val="00FF00"/>
            </a:solidFill>
            <a:prstDash val="solid"/>
            <a:round/>
            <a:headEnd type="none" w="med" len="med"/>
            <a:tailEnd type="triangle" w="med" len="med"/>
          </a:ln>
        </p:spPr>
      </p:cxnSp>
      <p:cxnSp>
        <p:nvCxnSpPr>
          <p:cNvPr id="716" name="Google Shape;716;p75"/>
          <p:cNvCxnSpPr>
            <a:stCxn id="714" idx="3"/>
            <a:endCxn id="717" idx="1"/>
          </p:cNvCxnSpPr>
          <p:nvPr/>
        </p:nvCxnSpPr>
        <p:spPr>
          <a:xfrm>
            <a:off x="7056267" y="1698267"/>
            <a:ext cx="1448800" cy="11600"/>
          </a:xfrm>
          <a:prstGeom prst="straightConnector1">
            <a:avLst/>
          </a:prstGeom>
          <a:noFill/>
          <a:ln w="38100" cap="flat" cmpd="sng">
            <a:solidFill>
              <a:srgbClr val="00FF00"/>
            </a:solidFill>
            <a:prstDash val="solid"/>
            <a:round/>
            <a:headEnd type="none" w="med" len="med"/>
            <a:tailEnd type="triangle" w="med" len="med"/>
          </a:ln>
          <a:effectLst>
            <a:outerShdw blurRad="57150" dist="19050" dir="5400000" algn="bl" rotWithShape="0">
              <a:srgbClr val="000000">
                <a:alpha val="50000"/>
              </a:srgbClr>
            </a:outerShdw>
          </a:effectLst>
        </p:spPr>
      </p:cxnSp>
      <p:sp>
        <p:nvSpPr>
          <p:cNvPr id="717" name="Google Shape;717;p75"/>
          <p:cNvSpPr/>
          <p:nvPr/>
        </p:nvSpPr>
        <p:spPr>
          <a:xfrm>
            <a:off x="8504967" y="1018133"/>
            <a:ext cx="3168400" cy="1383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Seven Fundamental Units and two Supplementary Units </a:t>
            </a:r>
            <a:endParaRPr sz="2667" kern="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3594722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76"/>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a:latin typeface="Cambria Math"/>
              <a:ea typeface="Cambria Math"/>
              <a:cs typeface="Cambria Math"/>
              <a:sym typeface="Cambria Math"/>
            </a:endParaRPr>
          </a:p>
        </p:txBody>
      </p:sp>
      <p:sp>
        <p:nvSpPr>
          <p:cNvPr id="724" name="Google Shape;724;p76"/>
          <p:cNvSpPr/>
          <p:nvPr/>
        </p:nvSpPr>
        <p:spPr>
          <a:xfrm>
            <a:off x="505567" y="1288333"/>
            <a:ext cx="3168400" cy="84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International System of units</a:t>
            </a:r>
            <a:endParaRPr sz="2400" kern="0">
              <a:solidFill>
                <a:srgbClr val="FFFFFF"/>
              </a:solidFill>
              <a:latin typeface="Cambria Math"/>
              <a:ea typeface="Cambria Math"/>
              <a:cs typeface="Cambria Math"/>
              <a:sym typeface="Cambria Math"/>
            </a:endParaRPr>
          </a:p>
        </p:txBody>
      </p:sp>
      <p:sp>
        <p:nvSpPr>
          <p:cNvPr id="725" name="Google Shape;725;p7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41</a:t>
            </a:fld>
            <a:endParaRPr kern="0"/>
          </a:p>
        </p:txBody>
      </p:sp>
      <p:sp>
        <p:nvSpPr>
          <p:cNvPr id="726" name="Google Shape;726;p76"/>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727" name="Google Shape;727;p76"/>
          <p:cNvSpPr/>
          <p:nvPr/>
        </p:nvSpPr>
        <p:spPr>
          <a:xfrm>
            <a:off x="5122667" y="1367267"/>
            <a:ext cx="193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SI System</a:t>
            </a:r>
            <a:endParaRPr sz="2667" kern="0">
              <a:solidFill>
                <a:srgbClr val="FFFFFF"/>
              </a:solidFill>
              <a:latin typeface="Cambria Math"/>
              <a:ea typeface="Cambria Math"/>
              <a:cs typeface="Cambria Math"/>
              <a:sym typeface="Cambria Math"/>
            </a:endParaRPr>
          </a:p>
        </p:txBody>
      </p:sp>
      <p:cxnSp>
        <p:nvCxnSpPr>
          <p:cNvPr id="728" name="Google Shape;728;p76"/>
          <p:cNvCxnSpPr>
            <a:stCxn id="727" idx="1"/>
            <a:endCxn id="724" idx="3"/>
          </p:cNvCxnSpPr>
          <p:nvPr/>
        </p:nvCxnSpPr>
        <p:spPr>
          <a:xfrm flipH="1">
            <a:off x="3673867" y="1698267"/>
            <a:ext cx="1448800" cy="11600"/>
          </a:xfrm>
          <a:prstGeom prst="straightConnector1">
            <a:avLst/>
          </a:prstGeom>
          <a:noFill/>
          <a:ln w="38100" cap="flat" cmpd="sng">
            <a:solidFill>
              <a:srgbClr val="00FF00"/>
            </a:solidFill>
            <a:prstDash val="solid"/>
            <a:round/>
            <a:headEnd type="none" w="med" len="med"/>
            <a:tailEnd type="triangle" w="med" len="med"/>
          </a:ln>
        </p:spPr>
      </p:cxnSp>
      <p:cxnSp>
        <p:nvCxnSpPr>
          <p:cNvPr id="729" name="Google Shape;729;p76"/>
          <p:cNvCxnSpPr>
            <a:stCxn id="727" idx="3"/>
            <a:endCxn id="730" idx="1"/>
          </p:cNvCxnSpPr>
          <p:nvPr/>
        </p:nvCxnSpPr>
        <p:spPr>
          <a:xfrm>
            <a:off x="7056267" y="1698267"/>
            <a:ext cx="1448800" cy="11600"/>
          </a:xfrm>
          <a:prstGeom prst="straightConnector1">
            <a:avLst/>
          </a:prstGeom>
          <a:noFill/>
          <a:ln w="38100" cap="flat" cmpd="sng">
            <a:solidFill>
              <a:srgbClr val="00FF00"/>
            </a:solidFill>
            <a:prstDash val="solid"/>
            <a:round/>
            <a:headEnd type="none" w="med" len="med"/>
            <a:tailEnd type="triangle" w="med" len="med"/>
          </a:ln>
          <a:effectLst>
            <a:outerShdw blurRad="57150" dist="19050" dir="5400000" algn="bl" rotWithShape="0">
              <a:srgbClr val="000000">
                <a:alpha val="50000"/>
              </a:srgbClr>
            </a:outerShdw>
          </a:effectLst>
        </p:spPr>
      </p:cxnSp>
      <p:pic>
        <p:nvPicPr>
          <p:cNvPr id="731" name="Google Shape;731;p76"/>
          <p:cNvPicPr preferRelativeResize="0"/>
          <p:nvPr/>
        </p:nvPicPr>
        <p:blipFill rotWithShape="1">
          <a:blip r:embed="rId3">
            <a:alphaModFix/>
          </a:blip>
          <a:srcRect l="2305"/>
          <a:stretch/>
        </p:blipFill>
        <p:spPr>
          <a:xfrm>
            <a:off x="304802" y="3098533"/>
            <a:ext cx="6238601" cy="3759467"/>
          </a:xfrm>
          <a:prstGeom prst="rect">
            <a:avLst/>
          </a:prstGeom>
          <a:noFill/>
          <a:ln>
            <a:noFill/>
          </a:ln>
        </p:spPr>
      </p:pic>
      <p:sp>
        <p:nvSpPr>
          <p:cNvPr id="730" name="Google Shape;730;p76"/>
          <p:cNvSpPr/>
          <p:nvPr/>
        </p:nvSpPr>
        <p:spPr>
          <a:xfrm>
            <a:off x="8504967" y="1018133"/>
            <a:ext cx="3168400" cy="1383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Seven Fundamental Units and two Supplementary Units </a:t>
            </a:r>
            <a:endParaRPr sz="2667" kern="0">
              <a:solidFill>
                <a:srgbClr val="FFFFFF"/>
              </a:solidFill>
              <a:latin typeface="Cambria Math"/>
              <a:ea typeface="Cambria Math"/>
              <a:cs typeface="Cambria Math"/>
              <a:sym typeface="Cambria Math"/>
            </a:endParaRPr>
          </a:p>
        </p:txBody>
      </p:sp>
      <p:sp>
        <p:nvSpPr>
          <p:cNvPr id="732" name="Google Shape;732;p76"/>
          <p:cNvSpPr/>
          <p:nvPr/>
        </p:nvSpPr>
        <p:spPr>
          <a:xfrm>
            <a:off x="2138300" y="2720467"/>
            <a:ext cx="2245600" cy="360800"/>
          </a:xfrm>
          <a:prstGeom prst="roundRect">
            <a:avLst>
              <a:gd name="adj" fmla="val 16667"/>
            </a:avLst>
          </a:prstGeom>
          <a:solidFill>
            <a:schemeClr val="lt2"/>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1867" kern="0">
                <a:solidFill>
                  <a:srgbClr val="001623"/>
                </a:solidFill>
                <a:latin typeface="Cambria Math"/>
                <a:ea typeface="Cambria Math"/>
                <a:cs typeface="Cambria Math"/>
                <a:sym typeface="Cambria Math"/>
              </a:rPr>
              <a:t>Fundamental unit</a:t>
            </a:r>
            <a:endParaRPr sz="1867" kern="0">
              <a:solidFill>
                <a:srgbClr val="001623"/>
              </a:solidFill>
              <a:latin typeface="Cambria Math"/>
              <a:ea typeface="Cambria Math"/>
              <a:cs typeface="Cambria Math"/>
              <a:sym typeface="Cambria Math"/>
            </a:endParaRPr>
          </a:p>
        </p:txBody>
      </p:sp>
      <p:cxnSp>
        <p:nvCxnSpPr>
          <p:cNvPr id="733" name="Google Shape;733;p76"/>
          <p:cNvCxnSpPr>
            <a:stCxn id="727" idx="2"/>
            <a:endCxn id="732" idx="0"/>
          </p:cNvCxnSpPr>
          <p:nvPr/>
        </p:nvCxnSpPr>
        <p:spPr>
          <a:xfrm rot="5400000">
            <a:off x="4329667" y="960667"/>
            <a:ext cx="691200" cy="2828400"/>
          </a:xfrm>
          <a:prstGeom prst="bentConnector3">
            <a:avLst>
              <a:gd name="adj1" fmla="val 50000"/>
            </a:avLst>
          </a:prstGeom>
          <a:noFill/>
          <a:ln w="19050" cap="flat" cmpd="sng">
            <a:solidFill>
              <a:srgbClr val="00FF00"/>
            </a:solidFill>
            <a:prstDash val="solid"/>
            <a:round/>
            <a:headEnd type="none" w="med" len="med"/>
            <a:tailEnd type="triangle" w="med" len="med"/>
          </a:ln>
        </p:spPr>
      </p:cxnSp>
    </p:spTree>
    <p:extLst>
      <p:ext uri="{BB962C8B-B14F-4D97-AF65-F5344CB8AC3E}">
        <p14:creationId xmlns:p14="http://schemas.microsoft.com/office/powerpoint/2010/main" val="2402491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78"/>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b="1">
              <a:solidFill>
                <a:srgbClr val="00FF00"/>
              </a:solidFill>
              <a:latin typeface="Cambria Math"/>
              <a:ea typeface="Cambria Math"/>
              <a:cs typeface="Cambria Math"/>
              <a:sym typeface="Cambria Math"/>
            </a:endParaRPr>
          </a:p>
          <a:p>
            <a:pPr marL="0" indent="0">
              <a:lnSpc>
                <a:spcPct val="100000"/>
              </a:lnSpc>
              <a:buNone/>
            </a:pPr>
            <a:endParaRPr sz="2400">
              <a:latin typeface="Cambria Math"/>
              <a:ea typeface="Cambria Math"/>
              <a:cs typeface="Cambria Math"/>
              <a:sym typeface="Cambria Math"/>
            </a:endParaRPr>
          </a:p>
        </p:txBody>
      </p:sp>
      <p:sp>
        <p:nvSpPr>
          <p:cNvPr id="759" name="Google Shape;759;p78"/>
          <p:cNvSpPr/>
          <p:nvPr/>
        </p:nvSpPr>
        <p:spPr>
          <a:xfrm>
            <a:off x="505567" y="1288333"/>
            <a:ext cx="3168400" cy="84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International System of units</a:t>
            </a:r>
            <a:endParaRPr sz="2400" kern="0">
              <a:solidFill>
                <a:srgbClr val="FFFFFF"/>
              </a:solidFill>
              <a:latin typeface="Cambria Math"/>
              <a:ea typeface="Cambria Math"/>
              <a:cs typeface="Cambria Math"/>
              <a:sym typeface="Cambria Math"/>
            </a:endParaRPr>
          </a:p>
        </p:txBody>
      </p:sp>
      <p:sp>
        <p:nvSpPr>
          <p:cNvPr id="760" name="Google Shape;760;p78"/>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42</a:t>
            </a:fld>
            <a:endParaRPr kern="0"/>
          </a:p>
        </p:txBody>
      </p:sp>
      <p:sp>
        <p:nvSpPr>
          <p:cNvPr id="761" name="Google Shape;761;p78"/>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762" name="Google Shape;762;p78"/>
          <p:cNvSpPr/>
          <p:nvPr/>
        </p:nvSpPr>
        <p:spPr>
          <a:xfrm>
            <a:off x="5122667" y="1367267"/>
            <a:ext cx="1933600" cy="6620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SI System</a:t>
            </a:r>
            <a:endParaRPr sz="2667" kern="0">
              <a:solidFill>
                <a:srgbClr val="FFFFFF"/>
              </a:solidFill>
              <a:latin typeface="Cambria Math"/>
              <a:ea typeface="Cambria Math"/>
              <a:cs typeface="Cambria Math"/>
              <a:sym typeface="Cambria Math"/>
            </a:endParaRPr>
          </a:p>
        </p:txBody>
      </p:sp>
      <p:cxnSp>
        <p:nvCxnSpPr>
          <p:cNvPr id="763" name="Google Shape;763;p78"/>
          <p:cNvCxnSpPr>
            <a:stCxn id="762" idx="1"/>
            <a:endCxn id="759" idx="3"/>
          </p:cNvCxnSpPr>
          <p:nvPr/>
        </p:nvCxnSpPr>
        <p:spPr>
          <a:xfrm flipH="1">
            <a:off x="3673867" y="1698267"/>
            <a:ext cx="1448800" cy="11600"/>
          </a:xfrm>
          <a:prstGeom prst="straightConnector1">
            <a:avLst/>
          </a:prstGeom>
          <a:noFill/>
          <a:ln w="38100" cap="flat" cmpd="sng">
            <a:solidFill>
              <a:srgbClr val="00FF00"/>
            </a:solidFill>
            <a:prstDash val="solid"/>
            <a:round/>
            <a:headEnd type="none" w="med" len="med"/>
            <a:tailEnd type="triangle" w="med" len="med"/>
          </a:ln>
        </p:spPr>
      </p:cxnSp>
      <p:cxnSp>
        <p:nvCxnSpPr>
          <p:cNvPr id="764" name="Google Shape;764;p78"/>
          <p:cNvCxnSpPr>
            <a:stCxn id="762" idx="3"/>
            <a:endCxn id="765" idx="1"/>
          </p:cNvCxnSpPr>
          <p:nvPr/>
        </p:nvCxnSpPr>
        <p:spPr>
          <a:xfrm>
            <a:off x="7056267" y="1698267"/>
            <a:ext cx="1448800" cy="11600"/>
          </a:xfrm>
          <a:prstGeom prst="straightConnector1">
            <a:avLst/>
          </a:prstGeom>
          <a:noFill/>
          <a:ln w="38100" cap="flat" cmpd="sng">
            <a:solidFill>
              <a:srgbClr val="00FF00"/>
            </a:solidFill>
            <a:prstDash val="solid"/>
            <a:round/>
            <a:headEnd type="none" w="med" len="med"/>
            <a:tailEnd type="triangle" w="med" len="med"/>
          </a:ln>
          <a:effectLst>
            <a:outerShdw blurRad="57150" dist="19050" dir="5400000" algn="bl" rotWithShape="0">
              <a:srgbClr val="000000">
                <a:alpha val="50000"/>
              </a:srgbClr>
            </a:outerShdw>
          </a:effectLst>
        </p:spPr>
      </p:cxnSp>
      <p:pic>
        <p:nvPicPr>
          <p:cNvPr id="766" name="Google Shape;766;p78"/>
          <p:cNvPicPr preferRelativeResize="0"/>
          <p:nvPr/>
        </p:nvPicPr>
        <p:blipFill rotWithShape="1">
          <a:blip r:embed="rId3">
            <a:alphaModFix/>
          </a:blip>
          <a:srcRect l="2305"/>
          <a:stretch/>
        </p:blipFill>
        <p:spPr>
          <a:xfrm>
            <a:off x="304802" y="3098533"/>
            <a:ext cx="6238601" cy="3759467"/>
          </a:xfrm>
          <a:prstGeom prst="rect">
            <a:avLst/>
          </a:prstGeom>
          <a:noFill/>
          <a:ln>
            <a:noFill/>
          </a:ln>
        </p:spPr>
      </p:pic>
      <p:sp>
        <p:nvSpPr>
          <p:cNvPr id="765" name="Google Shape;765;p78"/>
          <p:cNvSpPr/>
          <p:nvPr/>
        </p:nvSpPr>
        <p:spPr>
          <a:xfrm>
            <a:off x="8504967" y="1018133"/>
            <a:ext cx="3168400" cy="1383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Seven Fundamental Units and two Supplementary Units </a:t>
            </a:r>
            <a:endParaRPr sz="2667" kern="0">
              <a:solidFill>
                <a:srgbClr val="FFFFFF"/>
              </a:solidFill>
              <a:latin typeface="Cambria Math"/>
              <a:ea typeface="Cambria Math"/>
              <a:cs typeface="Cambria Math"/>
              <a:sym typeface="Cambria Math"/>
            </a:endParaRPr>
          </a:p>
        </p:txBody>
      </p:sp>
      <p:sp>
        <p:nvSpPr>
          <p:cNvPr id="767" name="Google Shape;767;p78"/>
          <p:cNvSpPr/>
          <p:nvPr/>
        </p:nvSpPr>
        <p:spPr>
          <a:xfrm>
            <a:off x="2138300" y="2720467"/>
            <a:ext cx="2245600" cy="360800"/>
          </a:xfrm>
          <a:prstGeom prst="roundRect">
            <a:avLst>
              <a:gd name="adj" fmla="val 16667"/>
            </a:avLst>
          </a:prstGeom>
          <a:solidFill>
            <a:schemeClr val="lt2"/>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1867" kern="0">
                <a:solidFill>
                  <a:srgbClr val="001623"/>
                </a:solidFill>
                <a:latin typeface="Cambria Math"/>
                <a:ea typeface="Cambria Math"/>
                <a:cs typeface="Cambria Math"/>
                <a:sym typeface="Cambria Math"/>
              </a:rPr>
              <a:t>Fundamental unit</a:t>
            </a:r>
            <a:endParaRPr sz="1867" kern="0">
              <a:solidFill>
                <a:srgbClr val="001623"/>
              </a:solidFill>
              <a:latin typeface="Cambria Math"/>
              <a:ea typeface="Cambria Math"/>
              <a:cs typeface="Cambria Math"/>
              <a:sym typeface="Cambria Math"/>
            </a:endParaRPr>
          </a:p>
        </p:txBody>
      </p:sp>
      <p:cxnSp>
        <p:nvCxnSpPr>
          <p:cNvPr id="768" name="Google Shape;768;p78"/>
          <p:cNvCxnSpPr>
            <a:stCxn id="762" idx="2"/>
            <a:endCxn id="767" idx="0"/>
          </p:cNvCxnSpPr>
          <p:nvPr/>
        </p:nvCxnSpPr>
        <p:spPr>
          <a:xfrm rot="5400000">
            <a:off x="4329667" y="960667"/>
            <a:ext cx="691200" cy="2828400"/>
          </a:xfrm>
          <a:prstGeom prst="bentConnector3">
            <a:avLst>
              <a:gd name="adj1" fmla="val 50000"/>
            </a:avLst>
          </a:prstGeom>
          <a:noFill/>
          <a:ln w="19050" cap="flat" cmpd="sng">
            <a:solidFill>
              <a:srgbClr val="00FF00"/>
            </a:solidFill>
            <a:prstDash val="solid"/>
            <a:round/>
            <a:headEnd type="none" w="med" len="med"/>
            <a:tailEnd type="triangle" w="med" len="med"/>
          </a:ln>
        </p:spPr>
      </p:cxnSp>
      <p:graphicFrame>
        <p:nvGraphicFramePr>
          <p:cNvPr id="769" name="Google Shape;769;p78"/>
          <p:cNvGraphicFramePr/>
          <p:nvPr/>
        </p:nvGraphicFramePr>
        <p:xfrm>
          <a:off x="6695800" y="3163708"/>
          <a:ext cx="4681400" cy="1950534"/>
        </p:xfrm>
        <a:graphic>
          <a:graphicData uri="http://schemas.openxmlformats.org/drawingml/2006/table">
            <a:tbl>
              <a:tblPr>
                <a:noFill/>
              </a:tblPr>
              <a:tblGrid>
                <a:gridCol w="1595400">
                  <a:extLst>
                    <a:ext uri="{9D8B030D-6E8A-4147-A177-3AD203B41FA5}">
                      <a16:colId xmlns:a16="http://schemas.microsoft.com/office/drawing/2014/main" val="20000"/>
                    </a:ext>
                  </a:extLst>
                </a:gridCol>
                <a:gridCol w="1891300">
                  <a:extLst>
                    <a:ext uri="{9D8B030D-6E8A-4147-A177-3AD203B41FA5}">
                      <a16:colId xmlns:a16="http://schemas.microsoft.com/office/drawing/2014/main" val="20001"/>
                    </a:ext>
                  </a:extLst>
                </a:gridCol>
                <a:gridCol w="1194700">
                  <a:extLst>
                    <a:ext uri="{9D8B030D-6E8A-4147-A177-3AD203B41FA5}">
                      <a16:colId xmlns:a16="http://schemas.microsoft.com/office/drawing/2014/main" val="20002"/>
                    </a:ext>
                  </a:extLst>
                </a:gridCol>
              </a:tblGrid>
              <a:tr h="613467">
                <a:tc>
                  <a:txBody>
                    <a:bodyPr/>
                    <a:lstStyle/>
                    <a:p>
                      <a:pPr marL="0" lvl="0" indent="0" algn="ctr" rtl="0">
                        <a:spcBef>
                          <a:spcPts val="0"/>
                        </a:spcBef>
                        <a:spcAft>
                          <a:spcPts val="0"/>
                        </a:spcAft>
                        <a:buNone/>
                      </a:pPr>
                      <a:r>
                        <a:rPr lang="en" sz="2100">
                          <a:solidFill>
                            <a:srgbClr val="FFFFFF"/>
                          </a:solidFill>
                          <a:latin typeface="Cambria Math"/>
                          <a:ea typeface="Cambria Math"/>
                          <a:cs typeface="Cambria Math"/>
                          <a:sym typeface="Cambria Math"/>
                        </a:rPr>
                        <a:t>Quantity</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Name of units </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Symbol</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717367">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Plane angle  </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Radian</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rad</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619700">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Solid angle</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Steradian</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100">
                          <a:solidFill>
                            <a:srgbClr val="FFFFFF"/>
                          </a:solidFill>
                          <a:latin typeface="Cambria Math"/>
                          <a:ea typeface="Cambria Math"/>
                          <a:cs typeface="Cambria Math"/>
                          <a:sym typeface="Cambria Math"/>
                        </a:rPr>
                        <a:t>sr</a:t>
                      </a:r>
                      <a:endParaRPr sz="2100">
                        <a:solidFill>
                          <a:srgbClr val="FFFFFF"/>
                        </a:solidFill>
                        <a:latin typeface="Cambria Math"/>
                        <a:ea typeface="Cambria Math"/>
                        <a:cs typeface="Cambria Math"/>
                        <a:sym typeface="Cambria Math"/>
                      </a:endParaRPr>
                    </a:p>
                  </a:txBody>
                  <a:tcPr marL="121900" marR="121900" marT="121900" marB="1219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70" name="Google Shape;770;p78"/>
          <p:cNvSpPr/>
          <p:nvPr/>
        </p:nvSpPr>
        <p:spPr>
          <a:xfrm>
            <a:off x="7267967" y="2737733"/>
            <a:ext cx="2378800" cy="360800"/>
          </a:xfrm>
          <a:prstGeom prst="roundRect">
            <a:avLst>
              <a:gd name="adj" fmla="val 16667"/>
            </a:avLst>
          </a:prstGeom>
          <a:solidFill>
            <a:schemeClr val="lt2"/>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1867" kern="0">
                <a:solidFill>
                  <a:srgbClr val="001623"/>
                </a:solidFill>
                <a:latin typeface="Cambria Math"/>
                <a:ea typeface="Cambria Math"/>
                <a:cs typeface="Cambria Math"/>
                <a:sym typeface="Cambria Math"/>
              </a:rPr>
              <a:t>Supplimentry Units</a:t>
            </a:r>
            <a:endParaRPr sz="1867" kern="0">
              <a:solidFill>
                <a:srgbClr val="001623"/>
              </a:solidFill>
              <a:latin typeface="Cambria Math"/>
              <a:ea typeface="Cambria Math"/>
              <a:cs typeface="Cambria Math"/>
              <a:sym typeface="Cambria Math"/>
            </a:endParaRPr>
          </a:p>
        </p:txBody>
      </p:sp>
      <p:cxnSp>
        <p:nvCxnSpPr>
          <p:cNvPr id="771" name="Google Shape;771;p78"/>
          <p:cNvCxnSpPr>
            <a:stCxn id="762" idx="2"/>
            <a:endCxn id="770" idx="0"/>
          </p:cNvCxnSpPr>
          <p:nvPr/>
        </p:nvCxnSpPr>
        <p:spPr>
          <a:xfrm rot="-5400000" flipH="1">
            <a:off x="6919267" y="1199467"/>
            <a:ext cx="708400" cy="2368000"/>
          </a:xfrm>
          <a:prstGeom prst="bentConnector3">
            <a:avLst>
              <a:gd name="adj1" fmla="val 50005"/>
            </a:avLst>
          </a:prstGeom>
          <a:noFill/>
          <a:ln w="19050" cap="flat" cmpd="sng">
            <a:solidFill>
              <a:srgbClr val="00FF00"/>
            </a:solidFill>
            <a:prstDash val="solid"/>
            <a:round/>
            <a:headEnd type="none" w="med" len="med"/>
            <a:tailEnd type="triangle" w="med" len="med"/>
          </a:ln>
        </p:spPr>
      </p:cxnSp>
    </p:spTree>
    <p:extLst>
      <p:ext uri="{BB962C8B-B14F-4D97-AF65-F5344CB8AC3E}">
        <p14:creationId xmlns:p14="http://schemas.microsoft.com/office/powerpoint/2010/main" val="4236686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11" name="Freeform: Shape 10">
            <a:extLst>
              <a:ext uri="{FF2B5EF4-FFF2-40B4-BE49-F238E27FC236}">
                <a16:creationId xmlns:a16="http://schemas.microsoft.com/office/drawing/2014/main" id="{D1BADF48-B49E-4F71-A772-BF3A831B7996}"/>
              </a:ext>
            </a:extLst>
          </p:cNvPr>
          <p:cNvSpPr/>
          <p:nvPr/>
        </p:nvSpPr>
        <p:spPr>
          <a:xfrm rot="21045258">
            <a:off x="9680315" y="3144049"/>
            <a:ext cx="225293" cy="376721"/>
          </a:xfrm>
          <a:custGeom>
            <a:avLst/>
            <a:gdLst>
              <a:gd name="connsiteX0" fmla="*/ 0 w 342055"/>
              <a:gd name="connsiteY0" fmla="*/ 0 h 304800"/>
              <a:gd name="connsiteX1" fmla="*/ 339970 w 342055"/>
              <a:gd name="connsiteY1" fmla="*/ 222738 h 304800"/>
              <a:gd name="connsiteX2" fmla="*/ 117231 w 342055"/>
              <a:gd name="connsiteY2" fmla="*/ 304800 h 304800"/>
            </a:gdLst>
            <a:ahLst/>
            <a:cxnLst>
              <a:cxn ang="0">
                <a:pos x="connsiteX0" y="connsiteY0"/>
              </a:cxn>
              <a:cxn ang="0">
                <a:pos x="connsiteX1" y="connsiteY1"/>
              </a:cxn>
              <a:cxn ang="0">
                <a:pos x="connsiteX2" y="connsiteY2"/>
              </a:cxn>
            </a:cxnLst>
            <a:rect l="l" t="t" r="r" b="b"/>
            <a:pathLst>
              <a:path w="342055" h="304800">
                <a:moveTo>
                  <a:pt x="0" y="0"/>
                </a:moveTo>
                <a:cubicBezTo>
                  <a:pt x="160215" y="85969"/>
                  <a:pt x="320431" y="171938"/>
                  <a:pt x="339970" y="222738"/>
                </a:cubicBezTo>
                <a:cubicBezTo>
                  <a:pt x="359509" y="273538"/>
                  <a:pt x="238370" y="289169"/>
                  <a:pt x="117231" y="304800"/>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sp>
        <p:nvSpPr>
          <p:cNvPr id="796" name="Google Shape;796;p80"/>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dirty="0">
              <a:latin typeface="Cambria Math"/>
              <a:ea typeface="Cambria Math"/>
              <a:cs typeface="Cambria Math"/>
              <a:sym typeface="Cambria Math"/>
            </a:endParaRPr>
          </a:p>
        </p:txBody>
      </p:sp>
      <p:sp>
        <p:nvSpPr>
          <p:cNvPr id="797" name="Google Shape;797;p8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43</a:t>
            </a:fld>
            <a:endParaRPr kern="0"/>
          </a:p>
        </p:txBody>
      </p:sp>
      <p:sp>
        <p:nvSpPr>
          <p:cNvPr id="798" name="Google Shape;798;p80"/>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sp>
        <p:nvSpPr>
          <p:cNvPr id="7" name="Google Shape;340;p43">
            <a:extLst>
              <a:ext uri="{FF2B5EF4-FFF2-40B4-BE49-F238E27FC236}">
                <a16:creationId xmlns:a16="http://schemas.microsoft.com/office/drawing/2014/main" id="{E586BA2D-33CA-4F23-8EA5-28AE5CED40F6}"/>
              </a:ext>
            </a:extLst>
          </p:cNvPr>
          <p:cNvSpPr/>
          <p:nvPr/>
        </p:nvSpPr>
        <p:spPr>
          <a:xfrm>
            <a:off x="343876" y="1141871"/>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US" sz="2400" kern="0" dirty="0">
                <a:solidFill>
                  <a:srgbClr val="FFFFFF"/>
                </a:solidFill>
                <a:latin typeface="Cambria Math"/>
                <a:ea typeface="Cambria Math"/>
                <a:cs typeface="Cambria Math"/>
                <a:sym typeface="Cambria Math"/>
              </a:rPr>
              <a:t>Plane</a:t>
            </a:r>
            <a:r>
              <a:rPr lang="en" sz="2400" kern="0" dirty="0">
                <a:solidFill>
                  <a:srgbClr val="FFFFFF"/>
                </a:solidFill>
                <a:latin typeface="Cambria Math"/>
                <a:ea typeface="Cambria Math"/>
                <a:cs typeface="Cambria Math"/>
                <a:sym typeface="Cambria Math"/>
              </a:rPr>
              <a:t> angle</a:t>
            </a:r>
            <a:endParaRPr sz="1867" kern="0" dirty="0">
              <a:solidFill>
                <a:srgbClr val="FFFFFF"/>
              </a:solidFill>
              <a:latin typeface="Cambria Math"/>
              <a:ea typeface="Cambria Math"/>
              <a:cs typeface="Cambria Math"/>
              <a:sym typeface="Cambria Math"/>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8C12269-EE55-47A9-902D-29734F2B2C38}"/>
                  </a:ext>
                </a:extLst>
              </p:cNvPr>
              <p:cNvSpPr txBox="1"/>
              <p:nvPr/>
            </p:nvSpPr>
            <p:spPr>
              <a:xfrm>
                <a:off x="656497" y="2688496"/>
                <a:ext cx="3141784" cy="792012"/>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r>
                        <a:rPr lang="en-US" sz="2667" i="1" kern="0">
                          <a:solidFill>
                            <a:srgbClr val="FFFFFF"/>
                          </a:solidFill>
                          <a:latin typeface="Cambria Math" panose="02040503050406030204" pitchFamily="18" charset="0"/>
                          <a:sym typeface="Arial"/>
                        </a:rPr>
                        <m:t>𝜃</m:t>
                      </m:r>
                      <m:r>
                        <a:rPr lang="en-US" sz="2667" i="1" kern="0">
                          <a:solidFill>
                            <a:srgbClr val="FFFFFF"/>
                          </a:solidFill>
                          <a:latin typeface="Cambria Math" panose="02040503050406030204" pitchFamily="18" charset="0"/>
                          <a:sym typeface="Arial"/>
                        </a:rPr>
                        <m:t>=</m:t>
                      </m:r>
                      <m:f>
                        <m:fPr>
                          <m:ctrlPr>
                            <a:rPr lang="en-US" sz="2667" i="1" kern="0">
                              <a:solidFill>
                                <a:srgbClr val="FFFFFF"/>
                              </a:solidFill>
                              <a:latin typeface="Cambria Math" panose="02040503050406030204" pitchFamily="18" charset="0"/>
                              <a:sym typeface="Arial"/>
                            </a:rPr>
                          </m:ctrlPr>
                        </m:fPr>
                        <m:num>
                          <m:r>
                            <a:rPr lang="en-US" sz="2667" i="1" kern="0">
                              <a:solidFill>
                                <a:srgbClr val="FFFFFF"/>
                              </a:solidFill>
                              <a:latin typeface="Cambria Math" panose="02040503050406030204" pitchFamily="18" charset="0"/>
                              <a:sym typeface="Arial"/>
                            </a:rPr>
                            <m:t>𝑠</m:t>
                          </m:r>
                        </m:num>
                        <m:den>
                          <m:r>
                            <a:rPr lang="en-US" sz="2667" i="1" kern="0">
                              <a:solidFill>
                                <a:srgbClr val="FFFFFF"/>
                              </a:solidFill>
                              <a:latin typeface="Cambria Math" panose="02040503050406030204" pitchFamily="18" charset="0"/>
                              <a:sym typeface="Arial"/>
                            </a:rPr>
                            <m:t>𝑟</m:t>
                          </m:r>
                        </m:den>
                      </m:f>
                      <m:r>
                        <a:rPr lang="en-US" sz="2667" i="1" kern="0">
                          <a:solidFill>
                            <a:srgbClr val="FFFFFF"/>
                          </a:solidFill>
                          <a:latin typeface="Cambria Math" panose="02040503050406030204" pitchFamily="18" charset="0"/>
                          <a:sym typeface="Arial"/>
                        </a:rPr>
                        <m:t> </m:t>
                      </m:r>
                      <m:r>
                        <a:rPr lang="en-US" sz="2667" i="1" kern="0">
                          <a:solidFill>
                            <a:srgbClr val="FFFFFF"/>
                          </a:solidFill>
                          <a:latin typeface="Cambria Math" panose="02040503050406030204" pitchFamily="18" charset="0"/>
                          <a:sym typeface="Arial"/>
                        </a:rPr>
                        <m:t>𝑟𝑎𝑑</m:t>
                      </m:r>
                    </m:oMath>
                  </m:oMathPara>
                </a14:m>
                <a:endParaRPr lang="en-US" sz="2667" i="1" kern="0" dirty="0">
                  <a:solidFill>
                    <a:srgbClr val="000000"/>
                  </a:solidFill>
                  <a:latin typeface="Arial"/>
                  <a:cs typeface="Arial"/>
                  <a:sym typeface="Arial"/>
                </a:endParaRPr>
              </a:p>
            </p:txBody>
          </p:sp>
        </mc:Choice>
        <mc:Fallback xmlns="">
          <p:sp>
            <p:nvSpPr>
              <p:cNvPr id="2" name="TextBox 1">
                <a:extLst>
                  <a:ext uri="{FF2B5EF4-FFF2-40B4-BE49-F238E27FC236}">
                    <a16:creationId xmlns:a16="http://schemas.microsoft.com/office/drawing/2014/main" id="{68C12269-EE55-47A9-902D-29734F2B2C38}"/>
                  </a:ext>
                </a:extLst>
              </p:cNvPr>
              <p:cNvSpPr txBox="1">
                <a:spLocks noRot="1" noChangeAspect="1" noMove="1" noResize="1" noEditPoints="1" noAdjustHandles="1" noChangeArrowheads="1" noChangeShapeType="1" noTextEdit="1"/>
              </p:cNvSpPr>
              <p:nvPr/>
            </p:nvSpPr>
            <p:spPr>
              <a:xfrm>
                <a:off x="656497" y="2688496"/>
                <a:ext cx="3141784" cy="792012"/>
              </a:xfrm>
              <a:prstGeom prst="rect">
                <a:avLst/>
              </a:prstGeom>
              <a:blipFill>
                <a:blip r:embed="rId3"/>
                <a:stretch>
                  <a:fillRect/>
                </a:stretch>
              </a:blipFill>
            </p:spPr>
            <p:txBody>
              <a:bodyPr/>
              <a:lstStyle/>
              <a:p>
                <a:r>
                  <a:rPr lang="en-IN">
                    <a:noFill/>
                  </a:rPr>
                  <a:t> </a:t>
                </a:r>
              </a:p>
            </p:txBody>
          </p:sp>
        </mc:Fallback>
      </mc:AlternateContent>
      <p:sp>
        <p:nvSpPr>
          <p:cNvPr id="3" name="Oval 2">
            <a:extLst>
              <a:ext uri="{FF2B5EF4-FFF2-40B4-BE49-F238E27FC236}">
                <a16:creationId xmlns:a16="http://schemas.microsoft.com/office/drawing/2014/main" id="{90FCDBCD-90CC-471E-8FFF-77ECDF7B6FEB}"/>
              </a:ext>
            </a:extLst>
          </p:cNvPr>
          <p:cNvSpPr/>
          <p:nvPr/>
        </p:nvSpPr>
        <p:spPr>
          <a:xfrm>
            <a:off x="7859853" y="2145282"/>
            <a:ext cx="2844800" cy="278227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FFFFFF"/>
              </a:solidFill>
              <a:latin typeface="Arial"/>
              <a:sym typeface="Arial"/>
            </a:endParaRPr>
          </a:p>
        </p:txBody>
      </p:sp>
      <p:cxnSp>
        <p:nvCxnSpPr>
          <p:cNvPr id="5" name="Straight Connector 4">
            <a:extLst>
              <a:ext uri="{FF2B5EF4-FFF2-40B4-BE49-F238E27FC236}">
                <a16:creationId xmlns:a16="http://schemas.microsoft.com/office/drawing/2014/main" id="{17075D7A-FE60-4B00-A642-6C7AB1D61660}"/>
              </a:ext>
            </a:extLst>
          </p:cNvPr>
          <p:cNvCxnSpPr>
            <a:cxnSpLocks/>
            <a:endCxn id="3" idx="7"/>
          </p:cNvCxnSpPr>
          <p:nvPr/>
        </p:nvCxnSpPr>
        <p:spPr>
          <a:xfrm flipV="1">
            <a:off x="9297880" y="2552737"/>
            <a:ext cx="990163" cy="983684"/>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E4E98F1-B9E1-483C-B15F-CEA8CAD49314}"/>
              </a:ext>
            </a:extLst>
          </p:cNvPr>
          <p:cNvCxnSpPr>
            <a:cxnSpLocks/>
            <a:endCxn id="3" idx="6"/>
          </p:cNvCxnSpPr>
          <p:nvPr/>
        </p:nvCxnSpPr>
        <p:spPr>
          <a:xfrm>
            <a:off x="9297880" y="3536420"/>
            <a:ext cx="1406773" cy="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454496E-4605-40A9-A02A-360CB735B489}"/>
                  </a:ext>
                </a:extLst>
              </p:cNvPr>
              <p:cNvSpPr txBox="1"/>
              <p:nvPr/>
            </p:nvSpPr>
            <p:spPr>
              <a:xfrm>
                <a:off x="9750250" y="3002370"/>
                <a:ext cx="656492" cy="461665"/>
              </a:xfrm>
              <a:prstGeom prst="rect">
                <a:avLst/>
              </a:prstGeom>
              <a:noFill/>
            </p:spPr>
            <p:txBody>
              <a:bodyPr wrap="square" rtlCol="0">
                <a:spAutoFit/>
              </a:bodyPr>
              <a:lstStyle/>
              <a:p>
                <a:pPr defTabSz="1219170">
                  <a:buClr>
                    <a:srgbClr val="000000"/>
                  </a:buClr>
                </a:pPr>
                <a14:m>
                  <m:oMathPara xmlns:m="http://schemas.openxmlformats.org/officeDocument/2006/math">
                    <m:oMathParaPr>
                      <m:jc m:val="centerGroup"/>
                    </m:oMathParaPr>
                    <m:oMath xmlns:m="http://schemas.openxmlformats.org/officeDocument/2006/math">
                      <m:r>
                        <a:rPr lang="en-US" sz="2400" i="1" kern="0">
                          <a:solidFill>
                            <a:srgbClr val="FFFFFF"/>
                          </a:solidFill>
                          <a:latin typeface="Cambria Math" panose="02040503050406030204" pitchFamily="18" charset="0"/>
                          <a:sym typeface="Arial"/>
                        </a:rPr>
                        <m:t>𝜃</m:t>
                      </m:r>
                    </m:oMath>
                  </m:oMathPara>
                </a14:m>
                <a:endParaRPr lang="en-US" sz="2400" kern="0" dirty="0">
                  <a:solidFill>
                    <a:srgbClr val="FFFFFF"/>
                  </a:solidFill>
                  <a:latin typeface="Arial"/>
                  <a:cs typeface="Arial"/>
                  <a:sym typeface="Arial"/>
                </a:endParaRPr>
              </a:p>
            </p:txBody>
          </p:sp>
        </mc:Choice>
        <mc:Fallback xmlns="">
          <p:sp>
            <p:nvSpPr>
              <p:cNvPr id="12" name="TextBox 11">
                <a:extLst>
                  <a:ext uri="{FF2B5EF4-FFF2-40B4-BE49-F238E27FC236}">
                    <a16:creationId xmlns:a16="http://schemas.microsoft.com/office/drawing/2014/main" id="{8454496E-4605-40A9-A02A-360CB735B489}"/>
                  </a:ext>
                </a:extLst>
              </p:cNvPr>
              <p:cNvSpPr txBox="1">
                <a:spLocks noRot="1" noChangeAspect="1" noMove="1" noResize="1" noEditPoints="1" noAdjustHandles="1" noChangeArrowheads="1" noChangeShapeType="1" noTextEdit="1"/>
              </p:cNvSpPr>
              <p:nvPr/>
            </p:nvSpPr>
            <p:spPr>
              <a:xfrm>
                <a:off x="9750250" y="3002370"/>
                <a:ext cx="656492"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8D3433F-99BF-4E68-A4D8-8E6E607286EF}"/>
                  </a:ext>
                </a:extLst>
              </p:cNvPr>
              <p:cNvSpPr txBox="1"/>
              <p:nvPr/>
            </p:nvSpPr>
            <p:spPr>
              <a:xfrm>
                <a:off x="10811716" y="2541862"/>
                <a:ext cx="510872" cy="461665"/>
              </a:xfrm>
              <a:prstGeom prst="rect">
                <a:avLst/>
              </a:prstGeom>
              <a:noFill/>
            </p:spPr>
            <p:txBody>
              <a:bodyPr wrap="square" rtlCol="0">
                <a:spAutoFit/>
              </a:bodyPr>
              <a:lstStyle/>
              <a:p>
                <a:pPr defTabSz="1219170">
                  <a:buClr>
                    <a:srgbClr val="000000"/>
                  </a:buClr>
                </a:pPr>
                <a14:m>
                  <m:oMathPara xmlns:m="http://schemas.openxmlformats.org/officeDocument/2006/math">
                    <m:oMathParaPr>
                      <m:jc m:val="centerGroup"/>
                    </m:oMathParaPr>
                    <m:oMath xmlns:m="http://schemas.openxmlformats.org/officeDocument/2006/math">
                      <m:r>
                        <a:rPr lang="en-US" sz="2400" i="1" kern="0">
                          <a:solidFill>
                            <a:srgbClr val="FFFFFF"/>
                          </a:solidFill>
                          <a:latin typeface="Cambria Math" panose="02040503050406030204" pitchFamily="18" charset="0"/>
                          <a:sym typeface="Arial"/>
                        </a:rPr>
                        <m:t>𝑠</m:t>
                      </m:r>
                    </m:oMath>
                  </m:oMathPara>
                </a14:m>
                <a:endParaRPr lang="en-US" sz="2400" kern="0" dirty="0">
                  <a:solidFill>
                    <a:srgbClr val="FFFFFF"/>
                  </a:solidFill>
                  <a:latin typeface="Arial"/>
                  <a:cs typeface="Arial"/>
                  <a:sym typeface="Arial"/>
                </a:endParaRPr>
              </a:p>
            </p:txBody>
          </p:sp>
        </mc:Choice>
        <mc:Fallback xmlns="">
          <p:sp>
            <p:nvSpPr>
              <p:cNvPr id="19" name="TextBox 18">
                <a:extLst>
                  <a:ext uri="{FF2B5EF4-FFF2-40B4-BE49-F238E27FC236}">
                    <a16:creationId xmlns:a16="http://schemas.microsoft.com/office/drawing/2014/main" id="{78D3433F-99BF-4E68-A4D8-8E6E607286EF}"/>
                  </a:ext>
                </a:extLst>
              </p:cNvPr>
              <p:cNvSpPr txBox="1">
                <a:spLocks noRot="1" noChangeAspect="1" noMove="1" noResize="1" noEditPoints="1" noAdjustHandles="1" noChangeArrowheads="1" noChangeShapeType="1" noTextEdit="1"/>
              </p:cNvSpPr>
              <p:nvPr/>
            </p:nvSpPr>
            <p:spPr>
              <a:xfrm>
                <a:off x="10811716" y="2541862"/>
                <a:ext cx="510872" cy="46166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42AEC8-706B-4688-AC01-E50A728CF75F}"/>
                  </a:ext>
                </a:extLst>
              </p:cNvPr>
              <p:cNvSpPr txBox="1"/>
              <p:nvPr/>
            </p:nvSpPr>
            <p:spPr>
              <a:xfrm>
                <a:off x="9792961" y="3490794"/>
                <a:ext cx="510872" cy="461665"/>
              </a:xfrm>
              <a:prstGeom prst="rect">
                <a:avLst/>
              </a:prstGeom>
              <a:noFill/>
            </p:spPr>
            <p:txBody>
              <a:bodyPr wrap="square" rtlCol="0">
                <a:spAutoFit/>
              </a:bodyPr>
              <a:lstStyle/>
              <a:p>
                <a:pPr defTabSz="1219170">
                  <a:buClr>
                    <a:srgbClr val="000000"/>
                  </a:buClr>
                </a:pPr>
                <a14:m>
                  <m:oMathPara xmlns:m="http://schemas.openxmlformats.org/officeDocument/2006/math">
                    <m:oMathParaPr>
                      <m:jc m:val="centerGroup"/>
                    </m:oMathParaPr>
                    <m:oMath xmlns:m="http://schemas.openxmlformats.org/officeDocument/2006/math">
                      <m:r>
                        <a:rPr lang="en-US" sz="2400" i="1" kern="0">
                          <a:solidFill>
                            <a:srgbClr val="FFFFFF"/>
                          </a:solidFill>
                          <a:latin typeface="Cambria Math" panose="02040503050406030204" pitchFamily="18" charset="0"/>
                          <a:sym typeface="Arial"/>
                        </a:rPr>
                        <m:t>𝑟</m:t>
                      </m:r>
                    </m:oMath>
                  </m:oMathPara>
                </a14:m>
                <a:endParaRPr lang="en-US" sz="2400" kern="0" dirty="0">
                  <a:solidFill>
                    <a:srgbClr val="FFFFFF"/>
                  </a:solidFill>
                  <a:latin typeface="Arial"/>
                  <a:cs typeface="Arial"/>
                  <a:sym typeface="Arial"/>
                </a:endParaRPr>
              </a:p>
            </p:txBody>
          </p:sp>
        </mc:Choice>
        <mc:Fallback xmlns="">
          <p:sp>
            <p:nvSpPr>
              <p:cNvPr id="20" name="TextBox 19">
                <a:extLst>
                  <a:ext uri="{FF2B5EF4-FFF2-40B4-BE49-F238E27FC236}">
                    <a16:creationId xmlns:a16="http://schemas.microsoft.com/office/drawing/2014/main" id="{8642AEC8-706B-4688-AC01-E50A728CF75F}"/>
                  </a:ext>
                </a:extLst>
              </p:cNvPr>
              <p:cNvSpPr txBox="1">
                <a:spLocks noRot="1" noChangeAspect="1" noMove="1" noResize="1" noEditPoints="1" noAdjustHandles="1" noChangeArrowheads="1" noChangeShapeType="1" noTextEdit="1"/>
              </p:cNvSpPr>
              <p:nvPr/>
            </p:nvSpPr>
            <p:spPr>
              <a:xfrm>
                <a:off x="9792961" y="3490794"/>
                <a:ext cx="510872" cy="461665"/>
              </a:xfrm>
              <a:prstGeom prst="rect">
                <a:avLst/>
              </a:prstGeom>
              <a:blipFill>
                <a:blip r:embed="rId6"/>
                <a:stretch>
                  <a:fillRect/>
                </a:stretch>
              </a:blipFill>
            </p:spPr>
            <p:txBody>
              <a:bodyPr/>
              <a:lstStyle/>
              <a:p>
                <a:r>
                  <a:rPr lang="en-IN">
                    <a:noFill/>
                  </a:rPr>
                  <a:t> </a:t>
                </a:r>
              </a:p>
            </p:txBody>
          </p:sp>
        </mc:Fallback>
      </mc:AlternateContent>
      <p:sp>
        <p:nvSpPr>
          <p:cNvPr id="14" name="Arc 13">
            <a:extLst>
              <a:ext uri="{FF2B5EF4-FFF2-40B4-BE49-F238E27FC236}">
                <a16:creationId xmlns:a16="http://schemas.microsoft.com/office/drawing/2014/main" id="{1F5D142F-4531-40B6-A5D9-A9CA3F1FD347}"/>
              </a:ext>
            </a:extLst>
          </p:cNvPr>
          <p:cNvSpPr/>
          <p:nvPr/>
        </p:nvSpPr>
        <p:spPr>
          <a:xfrm rot="803055">
            <a:off x="9510444" y="2425968"/>
            <a:ext cx="1347243" cy="2129651"/>
          </a:xfrm>
          <a:prstGeom prst="arc">
            <a:avLst/>
          </a:prstGeom>
          <a:ln w="28575">
            <a:solidFill>
              <a:schemeClr val="bg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1219170">
              <a:buClr>
                <a:srgbClr val="000000"/>
              </a:buClr>
            </a:pPr>
            <a:endParaRPr lang="en-US" sz="1867" kern="0">
              <a:solidFill>
                <a:srgbClr val="002C46"/>
              </a:solidFill>
              <a:latin typeface="Arial"/>
              <a:sym typeface="Arial"/>
            </a:endParaRPr>
          </a:p>
        </p:txBody>
      </p:sp>
    </p:spTree>
    <p:extLst>
      <p:ext uri="{BB962C8B-B14F-4D97-AF65-F5344CB8AC3E}">
        <p14:creationId xmlns:p14="http://schemas.microsoft.com/office/powerpoint/2010/main" val="140132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80"/>
          <p:cNvSpPr txBox="1">
            <a:spLocks noGrp="1"/>
          </p:cNvSpPr>
          <p:nvPr>
            <p:ph type="body" idx="1"/>
          </p:nvPr>
        </p:nvSpPr>
        <p:spPr>
          <a:xfrm>
            <a:off x="0" y="950400"/>
            <a:ext cx="12132800" cy="5907600"/>
          </a:xfrm>
          <a:prstGeom prst="rect">
            <a:avLst/>
          </a:prstGeom>
          <a:noFill/>
          <a:ln w="9525" cap="flat" cmpd="sng">
            <a:noFill/>
            <a:prstDash val="solid"/>
            <a:round/>
            <a:headEnd type="none" w="sm" len="sm"/>
            <a:tailEnd type="none" w="sm" len="sm"/>
          </a:ln>
        </p:spPr>
        <p:txBody>
          <a:bodyPr spcFirstLastPara="1" wrap="square" lIns="121900" tIns="121900" rIns="121900" bIns="121900" anchor="t" anchorCtr="0">
            <a:noAutofit/>
          </a:bodyPr>
          <a:lstStyle/>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b="1" dirty="0">
              <a:solidFill>
                <a:srgbClr val="00FF00"/>
              </a:solidFill>
              <a:latin typeface="Cambria Math"/>
              <a:ea typeface="Cambria Math"/>
              <a:cs typeface="Cambria Math"/>
              <a:sym typeface="Cambria Math"/>
            </a:endParaRPr>
          </a:p>
          <a:p>
            <a:pPr marL="0" indent="0">
              <a:lnSpc>
                <a:spcPct val="100000"/>
              </a:lnSpc>
              <a:buNone/>
            </a:pPr>
            <a:endParaRPr sz="2400" dirty="0">
              <a:latin typeface="Cambria Math"/>
              <a:ea typeface="Cambria Math"/>
              <a:cs typeface="Cambria Math"/>
              <a:sym typeface="Cambria Math"/>
            </a:endParaRPr>
          </a:p>
        </p:txBody>
      </p:sp>
      <p:sp>
        <p:nvSpPr>
          <p:cNvPr id="797" name="Google Shape;797;p8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44</a:t>
            </a:fld>
            <a:endParaRPr kern="0"/>
          </a:p>
        </p:txBody>
      </p:sp>
      <p:sp>
        <p:nvSpPr>
          <p:cNvPr id="798" name="Google Shape;798;p80"/>
          <p:cNvSpPr txBox="1">
            <a:spLocks noGrp="1"/>
          </p:cNvSpPr>
          <p:nvPr>
            <p:ph type="title"/>
          </p:nvPr>
        </p:nvSpPr>
        <p:spPr>
          <a:xfrm>
            <a:off x="1467"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11P02.1 Physical Quantities and Units </a:t>
            </a:r>
            <a:endParaRPr sz="2667" b="1">
              <a:solidFill>
                <a:srgbClr val="000000"/>
              </a:solidFill>
              <a:latin typeface="Cambria Math"/>
              <a:ea typeface="Cambria Math"/>
              <a:cs typeface="Cambria Math"/>
              <a:sym typeface="Cambria Math"/>
            </a:endParaRPr>
          </a:p>
        </p:txBody>
      </p:sp>
      <p:pic>
        <p:nvPicPr>
          <p:cNvPr id="1026" name="Picture 2">
            <a:extLst>
              <a:ext uri="{FF2B5EF4-FFF2-40B4-BE49-F238E27FC236}">
                <a16:creationId xmlns:a16="http://schemas.microsoft.com/office/drawing/2014/main" id="{377EE3DE-4694-4E00-87E7-C42486220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8894" y="1381210"/>
            <a:ext cx="4595447" cy="504598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0;p43">
            <a:extLst>
              <a:ext uri="{FF2B5EF4-FFF2-40B4-BE49-F238E27FC236}">
                <a16:creationId xmlns:a16="http://schemas.microsoft.com/office/drawing/2014/main" id="{E586BA2D-33CA-4F23-8EA5-28AE5CED40F6}"/>
              </a:ext>
            </a:extLst>
          </p:cNvPr>
          <p:cNvSpPr/>
          <p:nvPr/>
        </p:nvSpPr>
        <p:spPr>
          <a:xfrm>
            <a:off x="343876" y="1141871"/>
            <a:ext cx="2844800" cy="762800"/>
          </a:xfrm>
          <a:prstGeom prst="roundRect">
            <a:avLst>
              <a:gd name="adj" fmla="val 50000"/>
            </a:avLst>
          </a:prstGeom>
          <a:noFill/>
          <a:ln w="28575">
            <a:solidFill>
              <a:srgbClr val="00FF00"/>
            </a:solidFill>
          </a:ln>
        </p:spPr>
        <p:txBody>
          <a:bodyPr spcFirstLastPara="1" wrap="square" lIns="121900" tIns="121900" rIns="121900" bIns="121900" anchor="ctr" anchorCtr="0">
            <a:noAutofit/>
          </a:bodyPr>
          <a:lstStyle/>
          <a:p>
            <a:pPr algn="ctr" defTabSz="1219170">
              <a:buClr>
                <a:srgbClr val="000000"/>
              </a:buClr>
            </a:pPr>
            <a:r>
              <a:rPr lang="en-US" sz="2400" kern="0" dirty="0">
                <a:solidFill>
                  <a:srgbClr val="FFFFFF"/>
                </a:solidFill>
                <a:latin typeface="Cambria Math"/>
                <a:ea typeface="Cambria Math"/>
                <a:cs typeface="Cambria Math"/>
                <a:sym typeface="Cambria Math"/>
              </a:rPr>
              <a:t>Solid</a:t>
            </a:r>
            <a:r>
              <a:rPr lang="en" sz="2400" kern="0" dirty="0">
                <a:solidFill>
                  <a:srgbClr val="FFFFFF"/>
                </a:solidFill>
                <a:latin typeface="Cambria Math"/>
                <a:ea typeface="Cambria Math"/>
                <a:cs typeface="Cambria Math"/>
                <a:sym typeface="Cambria Math"/>
              </a:rPr>
              <a:t> angle</a:t>
            </a:r>
            <a:endParaRPr sz="1867" kern="0" dirty="0">
              <a:solidFill>
                <a:srgbClr val="FFFFFF"/>
              </a:solidFill>
              <a:latin typeface="Cambria Math"/>
              <a:ea typeface="Cambria Math"/>
              <a:cs typeface="Cambria Math"/>
              <a:sym typeface="Cambria Math"/>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8C12269-EE55-47A9-902D-29734F2B2C38}"/>
                  </a:ext>
                </a:extLst>
              </p:cNvPr>
              <p:cNvSpPr txBox="1"/>
              <p:nvPr/>
            </p:nvSpPr>
            <p:spPr>
              <a:xfrm>
                <a:off x="703389" y="3313723"/>
                <a:ext cx="3141784" cy="860300"/>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r>
                        <a:rPr lang="en-US" sz="2667" i="1" kern="0">
                          <a:solidFill>
                            <a:srgbClr val="FFFFFF"/>
                          </a:solidFill>
                          <a:latin typeface="Cambria Math" panose="02040503050406030204" pitchFamily="18" charset="0"/>
                          <a:sym typeface="Arial"/>
                        </a:rPr>
                        <m:t>𝛺</m:t>
                      </m:r>
                      <m:r>
                        <a:rPr lang="en-US" sz="2667" i="1" kern="0">
                          <a:solidFill>
                            <a:srgbClr val="FFFFFF"/>
                          </a:solidFill>
                          <a:latin typeface="Cambria Math" panose="02040503050406030204" pitchFamily="18" charset="0"/>
                          <a:sym typeface="Arial"/>
                        </a:rPr>
                        <m:t>=</m:t>
                      </m:r>
                      <m:f>
                        <m:fPr>
                          <m:ctrlPr>
                            <a:rPr lang="en-US" sz="2667" i="1" kern="0">
                              <a:solidFill>
                                <a:srgbClr val="FFFFFF"/>
                              </a:solidFill>
                              <a:latin typeface="Cambria Math" panose="02040503050406030204" pitchFamily="18" charset="0"/>
                              <a:sym typeface="Arial"/>
                            </a:rPr>
                          </m:ctrlPr>
                        </m:fPr>
                        <m:num>
                          <m:r>
                            <a:rPr lang="en-US" sz="2667" i="1" kern="0">
                              <a:solidFill>
                                <a:srgbClr val="FFFFFF"/>
                              </a:solidFill>
                              <a:latin typeface="Cambria Math" panose="02040503050406030204" pitchFamily="18" charset="0"/>
                              <a:sym typeface="Arial"/>
                            </a:rPr>
                            <m:t>𝐴</m:t>
                          </m:r>
                        </m:num>
                        <m:den>
                          <m:sSup>
                            <m:sSupPr>
                              <m:ctrlPr>
                                <a:rPr lang="en-US" sz="2667" i="1" kern="0">
                                  <a:solidFill>
                                    <a:srgbClr val="FFFFFF"/>
                                  </a:solidFill>
                                  <a:latin typeface="Cambria Math" panose="02040503050406030204" pitchFamily="18" charset="0"/>
                                  <a:sym typeface="Arial"/>
                                </a:rPr>
                              </m:ctrlPr>
                            </m:sSupPr>
                            <m:e>
                              <m:r>
                                <a:rPr lang="en-US" sz="2667" i="1" kern="0">
                                  <a:solidFill>
                                    <a:srgbClr val="FFFFFF"/>
                                  </a:solidFill>
                                  <a:latin typeface="Cambria Math" panose="02040503050406030204" pitchFamily="18" charset="0"/>
                                  <a:sym typeface="Arial"/>
                                </a:rPr>
                                <m:t>𝑟</m:t>
                              </m:r>
                            </m:e>
                            <m:sup>
                              <m:r>
                                <a:rPr lang="en-US" sz="2667" i="1" kern="0">
                                  <a:solidFill>
                                    <a:srgbClr val="FFFFFF"/>
                                  </a:solidFill>
                                  <a:latin typeface="Cambria Math" panose="02040503050406030204" pitchFamily="18" charset="0"/>
                                  <a:sym typeface="Arial"/>
                                </a:rPr>
                                <m:t>2</m:t>
                              </m:r>
                            </m:sup>
                          </m:sSup>
                        </m:den>
                      </m:f>
                      <m:r>
                        <a:rPr lang="en-US" sz="2667" i="1" kern="0">
                          <a:solidFill>
                            <a:srgbClr val="FFFFFF"/>
                          </a:solidFill>
                          <a:latin typeface="Cambria Math" panose="02040503050406030204" pitchFamily="18" charset="0"/>
                          <a:sym typeface="Arial"/>
                        </a:rPr>
                        <m:t> </m:t>
                      </m:r>
                      <m:r>
                        <a:rPr lang="en-US" sz="2667" i="1" kern="0">
                          <a:solidFill>
                            <a:srgbClr val="FFFFFF"/>
                          </a:solidFill>
                          <a:latin typeface="Cambria Math" panose="02040503050406030204" pitchFamily="18" charset="0"/>
                          <a:sym typeface="Arial"/>
                        </a:rPr>
                        <m:t>𝑠𝑟</m:t>
                      </m:r>
                    </m:oMath>
                  </m:oMathPara>
                </a14:m>
                <a:endParaRPr lang="en-US" sz="2667" i="1" kern="0" dirty="0">
                  <a:solidFill>
                    <a:srgbClr val="000000"/>
                  </a:solidFill>
                  <a:latin typeface="Arial"/>
                  <a:cs typeface="Arial"/>
                  <a:sym typeface="Arial"/>
                </a:endParaRPr>
              </a:p>
            </p:txBody>
          </p:sp>
        </mc:Choice>
        <mc:Fallback xmlns="">
          <p:sp>
            <p:nvSpPr>
              <p:cNvPr id="2" name="TextBox 1">
                <a:extLst>
                  <a:ext uri="{FF2B5EF4-FFF2-40B4-BE49-F238E27FC236}">
                    <a16:creationId xmlns:a16="http://schemas.microsoft.com/office/drawing/2014/main" id="{68C12269-EE55-47A9-902D-29734F2B2C38}"/>
                  </a:ext>
                </a:extLst>
              </p:cNvPr>
              <p:cNvSpPr txBox="1">
                <a:spLocks noRot="1" noChangeAspect="1" noMove="1" noResize="1" noEditPoints="1" noAdjustHandles="1" noChangeArrowheads="1" noChangeShapeType="1" noTextEdit="1"/>
              </p:cNvSpPr>
              <p:nvPr/>
            </p:nvSpPr>
            <p:spPr>
              <a:xfrm>
                <a:off x="703389" y="3313723"/>
                <a:ext cx="3141784" cy="860300"/>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806401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063751" y="449263"/>
          <a:ext cx="7993063" cy="6292848"/>
        </p:xfrm>
        <a:graphic>
          <a:graphicData uri="http://schemas.openxmlformats.org/drawingml/2006/table">
            <a:tbl>
              <a:tblPr firstRow="1" firstCol="1" bandRow="1">
                <a:tableStyleId>{5C22544A-7EE6-4342-B048-85BDC9FD1C3A}</a:tableStyleId>
              </a:tblPr>
              <a:tblGrid>
                <a:gridCol w="766252">
                  <a:extLst>
                    <a:ext uri="{9D8B030D-6E8A-4147-A177-3AD203B41FA5}">
                      <a16:colId xmlns:a16="http://schemas.microsoft.com/office/drawing/2014/main" val="20000"/>
                    </a:ext>
                  </a:extLst>
                </a:gridCol>
                <a:gridCol w="5442602">
                  <a:extLst>
                    <a:ext uri="{9D8B030D-6E8A-4147-A177-3AD203B41FA5}">
                      <a16:colId xmlns:a16="http://schemas.microsoft.com/office/drawing/2014/main" val="20001"/>
                    </a:ext>
                  </a:extLst>
                </a:gridCol>
                <a:gridCol w="1784209">
                  <a:extLst>
                    <a:ext uri="{9D8B030D-6E8A-4147-A177-3AD203B41FA5}">
                      <a16:colId xmlns:a16="http://schemas.microsoft.com/office/drawing/2014/main" val="20002"/>
                    </a:ext>
                  </a:extLst>
                </a:gridCol>
              </a:tblGrid>
              <a:tr h="393303">
                <a:tc>
                  <a:txBody>
                    <a:bodyPr/>
                    <a:lstStyle/>
                    <a:p>
                      <a:pPr algn="ctr">
                        <a:lnSpc>
                          <a:spcPct val="115000"/>
                        </a:lnSpc>
                        <a:spcAft>
                          <a:spcPts val="0"/>
                        </a:spcAft>
                      </a:pPr>
                      <a:r>
                        <a:rPr lang="en-US" sz="1800" dirty="0" err="1">
                          <a:solidFill>
                            <a:schemeClr val="accent6">
                              <a:lumMod val="60000"/>
                              <a:lumOff val="40000"/>
                            </a:schemeClr>
                          </a:solidFill>
                          <a:effectLst/>
                        </a:rPr>
                        <a:t>S.No</a:t>
                      </a:r>
                      <a:endParaRPr lang="en-IN" sz="1800" dirty="0">
                        <a:solidFill>
                          <a:schemeClr val="accent6">
                            <a:lumMod val="60000"/>
                            <a:lumOff val="40000"/>
                          </a:schemeClr>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dirty="0">
                          <a:solidFill>
                            <a:schemeClr val="accent6">
                              <a:lumMod val="60000"/>
                              <a:lumOff val="40000"/>
                            </a:schemeClr>
                          </a:solidFill>
                          <a:effectLst/>
                        </a:rPr>
                        <a:t>Size of the </a:t>
                      </a:r>
                      <a:r>
                        <a:rPr lang="en-US" sz="1800" dirty="0" smtClean="0">
                          <a:solidFill>
                            <a:schemeClr val="accent6">
                              <a:lumMod val="60000"/>
                              <a:lumOff val="40000"/>
                            </a:schemeClr>
                          </a:solidFill>
                          <a:effectLst/>
                        </a:rPr>
                        <a:t>object </a:t>
                      </a:r>
                      <a:r>
                        <a:rPr lang="en-US" sz="1800" dirty="0">
                          <a:solidFill>
                            <a:schemeClr val="accent6">
                              <a:lumMod val="60000"/>
                              <a:lumOff val="40000"/>
                            </a:schemeClr>
                          </a:solidFill>
                          <a:effectLst/>
                        </a:rPr>
                        <a:t>or distance</a:t>
                      </a:r>
                      <a:endParaRPr lang="en-IN" sz="1800" dirty="0">
                        <a:solidFill>
                          <a:schemeClr val="accent6">
                            <a:lumMod val="60000"/>
                            <a:lumOff val="40000"/>
                          </a:schemeClr>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dirty="0" smtClean="0">
                          <a:solidFill>
                            <a:schemeClr val="accent6">
                              <a:lumMod val="60000"/>
                              <a:lumOff val="40000"/>
                            </a:schemeClr>
                          </a:solidFill>
                          <a:effectLst/>
                        </a:rPr>
                        <a:t>Length (</a:t>
                      </a:r>
                      <a:r>
                        <a:rPr lang="en-US" sz="1800" dirty="0">
                          <a:solidFill>
                            <a:schemeClr val="accent6">
                              <a:lumMod val="60000"/>
                              <a:lumOff val="40000"/>
                            </a:schemeClr>
                          </a:solidFill>
                          <a:effectLst/>
                        </a:rPr>
                        <a:t>m)</a:t>
                      </a:r>
                      <a:endParaRPr lang="en-IN" sz="1800" dirty="0">
                        <a:solidFill>
                          <a:schemeClr val="accent6">
                            <a:lumMod val="60000"/>
                            <a:lumOff val="40000"/>
                          </a:schemeClr>
                        </a:solidFill>
                        <a:effectLst/>
                        <a:latin typeface="Calibri"/>
                        <a:ea typeface="Calibri"/>
                        <a:cs typeface="Times New Roman"/>
                      </a:endParaRPr>
                    </a:p>
                  </a:txBody>
                  <a:tcPr marL="68578" marR="68578" marT="0" marB="0"/>
                </a:tc>
                <a:extLst>
                  <a:ext uri="{0D108BD9-81ED-4DB2-BD59-A6C34878D82A}">
                    <a16:rowId xmlns:a16="http://schemas.microsoft.com/office/drawing/2014/main" val="10000"/>
                  </a:ext>
                </a:extLst>
              </a:tr>
              <a:tr h="393303">
                <a:tc>
                  <a:txBody>
                    <a:bodyPr/>
                    <a:lstStyle/>
                    <a:p>
                      <a:pPr algn="ctr">
                        <a:lnSpc>
                          <a:spcPct val="115000"/>
                        </a:lnSpc>
                        <a:spcAft>
                          <a:spcPts val="0"/>
                        </a:spcAft>
                      </a:pPr>
                      <a:r>
                        <a:rPr lang="en-US" sz="1800" dirty="0">
                          <a:solidFill>
                            <a:srgbClr val="006600"/>
                          </a:solidFill>
                          <a:effectLst/>
                        </a:rPr>
                        <a:t>1</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Size of proton</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-15</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1"/>
                  </a:ext>
                </a:extLst>
              </a:tr>
              <a:tr h="393303">
                <a:tc>
                  <a:txBody>
                    <a:bodyPr/>
                    <a:lstStyle/>
                    <a:p>
                      <a:pPr algn="ctr">
                        <a:lnSpc>
                          <a:spcPct val="115000"/>
                        </a:lnSpc>
                        <a:spcAft>
                          <a:spcPts val="0"/>
                        </a:spcAft>
                      </a:pPr>
                      <a:r>
                        <a:rPr lang="en-US" sz="1800" dirty="0">
                          <a:solidFill>
                            <a:srgbClr val="006600"/>
                          </a:solidFill>
                          <a:effectLst/>
                        </a:rPr>
                        <a:t>2</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Size of atomic nucleus</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-14</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2"/>
                  </a:ext>
                </a:extLst>
              </a:tr>
              <a:tr h="393303">
                <a:tc>
                  <a:txBody>
                    <a:bodyPr/>
                    <a:lstStyle/>
                    <a:p>
                      <a:pPr algn="ctr">
                        <a:lnSpc>
                          <a:spcPct val="115000"/>
                        </a:lnSpc>
                        <a:spcAft>
                          <a:spcPts val="0"/>
                        </a:spcAft>
                      </a:pPr>
                      <a:r>
                        <a:rPr lang="en-US" sz="1800" dirty="0">
                          <a:solidFill>
                            <a:srgbClr val="006600"/>
                          </a:solidFill>
                          <a:effectLst/>
                        </a:rPr>
                        <a:t>3</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Size of the Hydrogen atom</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-10</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3"/>
                  </a:ext>
                </a:extLst>
              </a:tr>
              <a:tr h="393303">
                <a:tc>
                  <a:txBody>
                    <a:bodyPr/>
                    <a:lstStyle/>
                    <a:p>
                      <a:pPr algn="ctr">
                        <a:lnSpc>
                          <a:spcPct val="115000"/>
                        </a:lnSpc>
                        <a:spcAft>
                          <a:spcPts val="0"/>
                        </a:spcAft>
                      </a:pPr>
                      <a:r>
                        <a:rPr lang="en-US" sz="1800" dirty="0">
                          <a:solidFill>
                            <a:srgbClr val="006600"/>
                          </a:solidFill>
                          <a:effectLst/>
                        </a:rPr>
                        <a:t>4</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Length of a typical virus</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-8</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4"/>
                  </a:ext>
                </a:extLst>
              </a:tr>
              <a:tr h="393303">
                <a:tc>
                  <a:txBody>
                    <a:bodyPr/>
                    <a:lstStyle/>
                    <a:p>
                      <a:pPr algn="ctr">
                        <a:lnSpc>
                          <a:spcPct val="115000"/>
                        </a:lnSpc>
                        <a:spcAft>
                          <a:spcPts val="0"/>
                        </a:spcAft>
                      </a:pPr>
                      <a:r>
                        <a:rPr lang="en-US" sz="1800" dirty="0">
                          <a:solidFill>
                            <a:srgbClr val="006600"/>
                          </a:solidFill>
                          <a:effectLst/>
                        </a:rPr>
                        <a:t>5</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Wavelength of a light</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-7</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5"/>
                  </a:ext>
                </a:extLst>
              </a:tr>
              <a:tr h="393303">
                <a:tc>
                  <a:txBody>
                    <a:bodyPr/>
                    <a:lstStyle/>
                    <a:p>
                      <a:pPr algn="ctr">
                        <a:lnSpc>
                          <a:spcPct val="115000"/>
                        </a:lnSpc>
                        <a:spcAft>
                          <a:spcPts val="0"/>
                        </a:spcAft>
                      </a:pPr>
                      <a:r>
                        <a:rPr lang="en-US" sz="1800" dirty="0">
                          <a:solidFill>
                            <a:srgbClr val="006600"/>
                          </a:solidFill>
                          <a:effectLst/>
                        </a:rPr>
                        <a:t>6</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Size of the red blood corpuscle</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-5</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6"/>
                  </a:ext>
                </a:extLst>
              </a:tr>
              <a:tr h="393303">
                <a:tc>
                  <a:txBody>
                    <a:bodyPr/>
                    <a:lstStyle/>
                    <a:p>
                      <a:pPr algn="ctr">
                        <a:lnSpc>
                          <a:spcPct val="115000"/>
                        </a:lnSpc>
                        <a:spcAft>
                          <a:spcPts val="0"/>
                        </a:spcAft>
                      </a:pPr>
                      <a:r>
                        <a:rPr lang="en-US" sz="1800" dirty="0">
                          <a:solidFill>
                            <a:srgbClr val="006600"/>
                          </a:solidFill>
                          <a:effectLst/>
                        </a:rPr>
                        <a:t>7</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Thickness of a paper</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-4</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7"/>
                  </a:ext>
                </a:extLst>
              </a:tr>
              <a:tr h="393303">
                <a:tc>
                  <a:txBody>
                    <a:bodyPr/>
                    <a:lstStyle/>
                    <a:p>
                      <a:pPr algn="ctr">
                        <a:lnSpc>
                          <a:spcPct val="115000"/>
                        </a:lnSpc>
                        <a:spcAft>
                          <a:spcPts val="0"/>
                        </a:spcAft>
                      </a:pPr>
                      <a:r>
                        <a:rPr lang="en-US" sz="1800" dirty="0">
                          <a:solidFill>
                            <a:srgbClr val="006600"/>
                          </a:solidFill>
                          <a:effectLst/>
                        </a:rPr>
                        <a:t>8</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Height of the Mount Everest from sea level</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4</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8"/>
                  </a:ext>
                </a:extLst>
              </a:tr>
              <a:tr h="393303">
                <a:tc>
                  <a:txBody>
                    <a:bodyPr/>
                    <a:lstStyle/>
                    <a:p>
                      <a:pPr algn="ctr">
                        <a:lnSpc>
                          <a:spcPct val="115000"/>
                        </a:lnSpc>
                        <a:spcAft>
                          <a:spcPts val="0"/>
                        </a:spcAft>
                      </a:pPr>
                      <a:r>
                        <a:rPr lang="en-US" sz="1800" dirty="0">
                          <a:solidFill>
                            <a:srgbClr val="006600"/>
                          </a:solidFill>
                          <a:effectLst/>
                        </a:rPr>
                        <a:t>9</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Radius of the Earth</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7</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09"/>
                  </a:ext>
                </a:extLst>
              </a:tr>
              <a:tr h="393303">
                <a:tc>
                  <a:txBody>
                    <a:bodyPr/>
                    <a:lstStyle/>
                    <a:p>
                      <a:pPr algn="ctr">
                        <a:lnSpc>
                          <a:spcPct val="115000"/>
                        </a:lnSpc>
                        <a:spcAft>
                          <a:spcPts val="0"/>
                        </a:spcAft>
                      </a:pPr>
                      <a:r>
                        <a:rPr lang="en-US" sz="1800" dirty="0">
                          <a:solidFill>
                            <a:srgbClr val="006600"/>
                          </a:solidFill>
                          <a:effectLst/>
                        </a:rPr>
                        <a:t>10</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Distance of the moon from the earth</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8</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0"/>
                  </a:ext>
                </a:extLst>
              </a:tr>
              <a:tr h="393303">
                <a:tc>
                  <a:txBody>
                    <a:bodyPr/>
                    <a:lstStyle/>
                    <a:p>
                      <a:pPr algn="ctr">
                        <a:lnSpc>
                          <a:spcPct val="115000"/>
                        </a:lnSpc>
                        <a:spcAft>
                          <a:spcPts val="0"/>
                        </a:spcAft>
                      </a:pPr>
                      <a:r>
                        <a:rPr lang="en-US" sz="1800" dirty="0">
                          <a:solidFill>
                            <a:srgbClr val="006600"/>
                          </a:solidFill>
                          <a:effectLst/>
                        </a:rPr>
                        <a:t>11</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Distance of the Sun from the earth</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11</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1"/>
                  </a:ext>
                </a:extLst>
              </a:tr>
              <a:tr h="393303">
                <a:tc>
                  <a:txBody>
                    <a:bodyPr/>
                    <a:lstStyle/>
                    <a:p>
                      <a:pPr algn="ctr">
                        <a:lnSpc>
                          <a:spcPct val="115000"/>
                        </a:lnSpc>
                        <a:spcAft>
                          <a:spcPts val="0"/>
                        </a:spcAft>
                      </a:pPr>
                      <a:r>
                        <a:rPr lang="en-US" sz="1800" dirty="0">
                          <a:solidFill>
                            <a:srgbClr val="006600"/>
                          </a:solidFill>
                          <a:effectLst/>
                        </a:rPr>
                        <a:t>12</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Distance of the Pluto from the Sun</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13</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2"/>
                  </a:ext>
                </a:extLst>
              </a:tr>
              <a:tr h="393303">
                <a:tc>
                  <a:txBody>
                    <a:bodyPr/>
                    <a:lstStyle/>
                    <a:p>
                      <a:pPr algn="ctr">
                        <a:lnSpc>
                          <a:spcPct val="115000"/>
                        </a:lnSpc>
                        <a:spcAft>
                          <a:spcPts val="0"/>
                        </a:spcAft>
                      </a:pPr>
                      <a:r>
                        <a:rPr lang="en-US" sz="1800" dirty="0">
                          <a:solidFill>
                            <a:srgbClr val="006600"/>
                          </a:solidFill>
                          <a:effectLst/>
                        </a:rPr>
                        <a:t>13</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Size of our Galaxy</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21</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3"/>
                  </a:ext>
                </a:extLst>
              </a:tr>
              <a:tr h="393303">
                <a:tc>
                  <a:txBody>
                    <a:bodyPr/>
                    <a:lstStyle/>
                    <a:p>
                      <a:pPr algn="ctr">
                        <a:lnSpc>
                          <a:spcPct val="115000"/>
                        </a:lnSpc>
                        <a:spcAft>
                          <a:spcPts val="0"/>
                        </a:spcAft>
                      </a:pPr>
                      <a:r>
                        <a:rPr lang="en-US" sz="1800" dirty="0">
                          <a:solidFill>
                            <a:srgbClr val="006600"/>
                          </a:solidFill>
                          <a:effectLst/>
                        </a:rPr>
                        <a:t>14</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Distance of the Andromeda galaxy</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22</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4"/>
                  </a:ext>
                </a:extLst>
              </a:tr>
              <a:tr h="393303">
                <a:tc>
                  <a:txBody>
                    <a:bodyPr/>
                    <a:lstStyle/>
                    <a:p>
                      <a:pPr algn="ctr">
                        <a:lnSpc>
                          <a:spcPct val="115000"/>
                        </a:lnSpc>
                        <a:spcAft>
                          <a:spcPts val="0"/>
                        </a:spcAft>
                      </a:pPr>
                      <a:r>
                        <a:rPr lang="en-US" sz="1800" dirty="0">
                          <a:solidFill>
                            <a:srgbClr val="006600"/>
                          </a:solidFill>
                          <a:effectLst/>
                        </a:rPr>
                        <a:t>15</a:t>
                      </a:r>
                      <a:endParaRPr lang="en-IN" sz="1800" dirty="0">
                        <a:solidFill>
                          <a:srgbClr val="006600"/>
                        </a:solidFill>
                        <a:effectLst/>
                        <a:latin typeface="Calibri"/>
                        <a:ea typeface="Calibri"/>
                        <a:cs typeface="Times New Roman"/>
                      </a:endParaRPr>
                    </a:p>
                  </a:txBody>
                  <a:tcPr marL="68578" marR="68578" marT="0" marB="0"/>
                </a:tc>
                <a:tc>
                  <a:txBody>
                    <a:bodyPr/>
                    <a:lstStyle/>
                    <a:p>
                      <a:pPr algn="just">
                        <a:lnSpc>
                          <a:spcPct val="115000"/>
                        </a:lnSpc>
                        <a:spcAft>
                          <a:spcPts val="0"/>
                        </a:spcAft>
                      </a:pPr>
                      <a:r>
                        <a:rPr lang="en-US" sz="1800" b="1" dirty="0">
                          <a:solidFill>
                            <a:srgbClr val="006600"/>
                          </a:solidFill>
                          <a:effectLst/>
                        </a:rPr>
                        <a:t>Distance of the boundary of observable universe</a:t>
                      </a:r>
                      <a:endParaRPr lang="en-IN" sz="1800" b="1" dirty="0">
                        <a:solidFill>
                          <a:srgbClr val="006600"/>
                        </a:solidFill>
                        <a:effectLst/>
                        <a:latin typeface="Calibri"/>
                        <a:ea typeface="Calibri"/>
                        <a:cs typeface="Times New Roman"/>
                      </a:endParaRPr>
                    </a:p>
                  </a:txBody>
                  <a:tcPr marL="68578" marR="68578" marT="0" marB="0"/>
                </a:tc>
                <a:tc>
                  <a:txBody>
                    <a:bodyPr/>
                    <a:lstStyle/>
                    <a:p>
                      <a:pPr algn="ctr">
                        <a:lnSpc>
                          <a:spcPct val="115000"/>
                        </a:lnSpc>
                        <a:spcAft>
                          <a:spcPts val="0"/>
                        </a:spcAft>
                      </a:pPr>
                      <a:r>
                        <a:rPr lang="en-US" sz="1800" b="1" dirty="0" smtClean="0">
                          <a:solidFill>
                            <a:srgbClr val="006600"/>
                          </a:solidFill>
                          <a:effectLst/>
                        </a:rPr>
                        <a:t>10</a:t>
                      </a:r>
                      <a:r>
                        <a:rPr lang="en-US" sz="1800" b="1" baseline="30000" dirty="0" smtClean="0">
                          <a:solidFill>
                            <a:srgbClr val="006600"/>
                          </a:solidFill>
                          <a:effectLst/>
                        </a:rPr>
                        <a:t>26</a:t>
                      </a:r>
                      <a:endParaRPr lang="en-IN" sz="1800" b="1" dirty="0">
                        <a:solidFill>
                          <a:srgbClr val="006600"/>
                        </a:solidFill>
                        <a:effectLst/>
                        <a:latin typeface="Calibri"/>
                        <a:ea typeface="Calibri"/>
                        <a:cs typeface="Times New Roman"/>
                      </a:endParaRPr>
                    </a:p>
                  </a:txBody>
                  <a:tcPr marL="68578" marR="68578" marT="0" marB="0"/>
                </a:tc>
                <a:extLst>
                  <a:ext uri="{0D108BD9-81ED-4DB2-BD59-A6C34878D82A}">
                    <a16:rowId xmlns:a16="http://schemas.microsoft.com/office/drawing/2014/main" val="10015"/>
                  </a:ext>
                </a:extLst>
              </a:tr>
            </a:tbl>
          </a:graphicData>
        </a:graphic>
      </p:graphicFrame>
      <p:sp>
        <p:nvSpPr>
          <p:cNvPr id="22600" name="Rectangle 16"/>
          <p:cNvSpPr>
            <a:spLocks noChangeArrowheads="1"/>
          </p:cNvSpPr>
          <p:nvPr/>
        </p:nvSpPr>
        <p:spPr bwMode="auto">
          <a:xfrm>
            <a:off x="1919289" y="4763"/>
            <a:ext cx="3648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FF00"/>
                </a:solidFill>
              </a:rPr>
              <a:t>Range and Order of Lengths</a:t>
            </a:r>
            <a:endParaRPr lang="en-IN" altLang="en-US" sz="2000" b="1">
              <a:solidFill>
                <a:srgbClr val="FFFF00"/>
              </a:solidFill>
            </a:endParaRPr>
          </a:p>
        </p:txBody>
      </p:sp>
      <p:sp>
        <p:nvSpPr>
          <p:cNvPr id="22601" name="Rectangle 17"/>
          <p:cNvSpPr>
            <a:spLocks noChangeArrowheads="1"/>
          </p:cNvSpPr>
          <p:nvPr/>
        </p:nvSpPr>
        <p:spPr bwMode="auto">
          <a:xfrm>
            <a:off x="5905500" y="0"/>
            <a:ext cx="3309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FFCC"/>
                </a:solidFill>
              </a:rPr>
              <a:t>(L</a:t>
            </a:r>
            <a:r>
              <a:rPr lang="en-US" altLang="en-US" sz="2000" b="1" baseline="-25000">
                <a:solidFill>
                  <a:srgbClr val="FFFFCC"/>
                </a:solidFill>
              </a:rPr>
              <a:t>longest</a:t>
            </a:r>
            <a:r>
              <a:rPr lang="en-US" altLang="en-US" sz="2000" b="1">
                <a:solidFill>
                  <a:srgbClr val="FFFFCC"/>
                </a:solidFill>
              </a:rPr>
              <a:t> : L</a:t>
            </a:r>
            <a:r>
              <a:rPr lang="en-US" altLang="en-US" sz="2000" b="1" baseline="-25000">
                <a:solidFill>
                  <a:srgbClr val="FFFFCC"/>
                </a:solidFill>
              </a:rPr>
              <a:t>shortest</a:t>
            </a:r>
            <a:r>
              <a:rPr lang="en-US" altLang="en-US" sz="2000" b="1">
                <a:solidFill>
                  <a:srgbClr val="FFFFCC"/>
                </a:solidFill>
              </a:rPr>
              <a:t> = 10</a:t>
            </a:r>
            <a:r>
              <a:rPr lang="en-US" altLang="en-US" sz="2000" b="1" baseline="30000">
                <a:solidFill>
                  <a:srgbClr val="FFFFCC"/>
                </a:solidFill>
              </a:rPr>
              <a:t>41</a:t>
            </a:r>
            <a:r>
              <a:rPr lang="en-US" altLang="en-US" sz="2000" b="1">
                <a:solidFill>
                  <a:srgbClr val="FFFFCC"/>
                </a:solidFill>
              </a:rPr>
              <a:t> : 1)</a:t>
            </a:r>
            <a:endParaRPr lang="en-IN" altLang="en-US" sz="2000" b="1">
              <a:solidFill>
                <a:srgbClr val="FFFFCC"/>
              </a:solidFill>
            </a:endParaRPr>
          </a:p>
        </p:txBody>
      </p:sp>
      <p:sp>
        <p:nvSpPr>
          <p:cNvPr id="22602" name="Rectangle 1">
            <a:hlinkClick r:id="rId2" action="ppaction://hlinksldjump"/>
          </p:cNvPr>
          <p:cNvSpPr>
            <a:spLocks noChangeArrowheads="1"/>
          </p:cNvSpPr>
          <p:nvPr/>
        </p:nvSpPr>
        <p:spPr bwMode="auto">
          <a:xfrm>
            <a:off x="8759825" y="6524626"/>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22603" name="Rectangle 10"/>
          <p:cNvSpPr>
            <a:spLocks noChangeArrowheads="1"/>
          </p:cNvSpPr>
          <p:nvPr/>
        </p:nvSpPr>
        <p:spPr bwMode="auto">
          <a:xfrm>
            <a:off x="9304339" y="6534151"/>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22604" name="Rectangle 10"/>
          <p:cNvSpPr>
            <a:spLocks noChangeArrowheads="1"/>
          </p:cNvSpPr>
          <p:nvPr/>
        </p:nvSpPr>
        <p:spPr bwMode="auto">
          <a:xfrm>
            <a:off x="9756775" y="6535738"/>
            <a:ext cx="8334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2491070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2600"/>
                                        </p:tgtEl>
                                        <p:attrNameLst>
                                          <p:attrName>style.visibility</p:attrName>
                                        </p:attrNameLst>
                                      </p:cBhvr>
                                      <p:to>
                                        <p:strVal val="visible"/>
                                      </p:to>
                                    </p:set>
                                    <p:anim calcmode="lin" valueType="num">
                                      <p:cBhvr additive="base">
                                        <p:cTn id="7" dur="500" fill="hold"/>
                                        <p:tgtEl>
                                          <p:spTgt spid="22600"/>
                                        </p:tgtEl>
                                        <p:attrNameLst>
                                          <p:attrName>ppt_x</p:attrName>
                                        </p:attrNameLst>
                                      </p:cBhvr>
                                      <p:tavLst>
                                        <p:tav tm="0">
                                          <p:val>
                                            <p:strVal val="0-#ppt_w/2"/>
                                          </p:val>
                                        </p:tav>
                                        <p:tav tm="100000">
                                          <p:val>
                                            <p:strVal val="#ppt_x"/>
                                          </p:val>
                                        </p:tav>
                                      </p:tavLst>
                                    </p:anim>
                                    <p:anim calcmode="lin" valueType="num">
                                      <p:cBhvr additive="base">
                                        <p:cTn id="8" dur="500" fill="hold"/>
                                        <p:tgtEl>
                                          <p:spTgt spid="22600"/>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22601"/>
                                        </p:tgtEl>
                                        <p:attrNameLst>
                                          <p:attrName>style.visibility</p:attrName>
                                        </p:attrNameLst>
                                      </p:cBhvr>
                                      <p:to>
                                        <p:strVal val="visible"/>
                                      </p:to>
                                    </p:set>
                                    <p:anim calcmode="lin" valueType="num">
                                      <p:cBhvr additive="base">
                                        <p:cTn id="11" dur="500" fill="hold"/>
                                        <p:tgtEl>
                                          <p:spTgt spid="22601"/>
                                        </p:tgtEl>
                                        <p:attrNameLst>
                                          <p:attrName>ppt_x</p:attrName>
                                        </p:attrNameLst>
                                      </p:cBhvr>
                                      <p:tavLst>
                                        <p:tav tm="0">
                                          <p:val>
                                            <p:strVal val="0-#ppt_w/2"/>
                                          </p:val>
                                        </p:tav>
                                        <p:tav tm="100000">
                                          <p:val>
                                            <p:strVal val="#ppt_x"/>
                                          </p:val>
                                        </p:tav>
                                      </p:tavLst>
                                    </p:anim>
                                    <p:anim calcmode="lin" valueType="num">
                                      <p:cBhvr additive="base">
                                        <p:cTn id="12" dur="500" fill="hold"/>
                                        <p:tgtEl>
                                          <p:spTgt spid="22601"/>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00" grpId="0"/>
      <p:bldP spid="2260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Prefixes | SPM Physics Form 4/Form 5 Revision N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861" y="982457"/>
            <a:ext cx="10372725" cy="539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059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1339" y="787400"/>
            <a:ext cx="8677275" cy="5632450"/>
          </a:xfrm>
          <a:prstGeom prst="rect">
            <a:avLst/>
          </a:prstGeom>
        </p:spPr>
        <p:txBody>
          <a:bodyPr>
            <a:spAutoFit/>
          </a:bodyPr>
          <a:lstStyle/>
          <a:p>
            <a:pPr fontAlgn="base">
              <a:spcBef>
                <a:spcPct val="0"/>
              </a:spcBef>
              <a:spcAft>
                <a:spcPct val="0"/>
              </a:spcAft>
              <a:defRPr/>
            </a:pPr>
            <a:r>
              <a:rPr lang="en-US" b="1" dirty="0">
                <a:solidFill>
                  <a:srgbClr val="FF9966"/>
                </a:solidFill>
                <a:latin typeface="Arial" panose="020B0604020202020204" pitchFamily="34" charset="0"/>
              </a:rPr>
              <a:t>The nature of a physical quantity is described by its dimensions.</a:t>
            </a:r>
          </a:p>
          <a:p>
            <a:pPr fontAlgn="base">
              <a:spcBef>
                <a:spcPct val="0"/>
              </a:spcBef>
              <a:spcAft>
                <a:spcPct val="0"/>
              </a:spcAft>
              <a:defRPr/>
            </a:pPr>
            <a:endParaRPr lang="en-US" b="1" dirty="0">
              <a:solidFill>
                <a:srgbClr val="FF9966"/>
              </a:solidFill>
              <a:latin typeface="Arial" panose="020B0604020202020204" pitchFamily="34" charset="0"/>
            </a:endParaRPr>
          </a:p>
          <a:p>
            <a:pPr fontAlgn="base">
              <a:spcBef>
                <a:spcPct val="0"/>
              </a:spcBef>
              <a:spcAft>
                <a:spcPct val="0"/>
              </a:spcAft>
              <a:defRPr/>
            </a:pPr>
            <a:r>
              <a:rPr lang="en-US" b="1" dirty="0">
                <a:solidFill>
                  <a:srgbClr val="FF9966"/>
                </a:solidFill>
                <a:latin typeface="Arial" panose="020B0604020202020204" pitchFamily="34" charset="0"/>
              </a:rPr>
              <a:t>All the physical quantities can be expressed in terms of the seven base or fundamental quantities viz. mass, length, time, electric current, thermodynamic temperature, intensity of light and amount of substance, raised to some power.</a:t>
            </a:r>
            <a:endParaRPr lang="en-IN" b="1" dirty="0">
              <a:solidFill>
                <a:srgbClr val="FF9966"/>
              </a:solidFill>
              <a:latin typeface="Arial" panose="020B0604020202020204" pitchFamily="34" charset="0"/>
            </a:endParaRPr>
          </a:p>
          <a:p>
            <a:pPr fontAlgn="base">
              <a:spcBef>
                <a:spcPct val="0"/>
              </a:spcBef>
              <a:spcAft>
                <a:spcPct val="0"/>
              </a:spcAft>
              <a:defRPr/>
            </a:pPr>
            <a:r>
              <a:rPr lang="en-US" b="1" dirty="0">
                <a:solidFill>
                  <a:srgbClr val="FF9966"/>
                </a:solidFill>
                <a:latin typeface="Arial" panose="020B0604020202020204" pitchFamily="34" charset="0"/>
              </a:rPr>
              <a:t> </a:t>
            </a:r>
            <a:endParaRPr lang="en-IN" b="1" dirty="0">
              <a:solidFill>
                <a:srgbClr val="FF9966"/>
              </a:solidFill>
              <a:latin typeface="Arial" panose="020B0604020202020204" pitchFamily="34" charset="0"/>
            </a:endParaRPr>
          </a:p>
          <a:p>
            <a:pPr fontAlgn="base">
              <a:spcBef>
                <a:spcPct val="0"/>
              </a:spcBef>
              <a:spcAft>
                <a:spcPct val="0"/>
              </a:spcAft>
              <a:defRPr/>
            </a:pPr>
            <a:r>
              <a:rPr lang="en-US" b="1" dirty="0">
                <a:solidFill>
                  <a:srgbClr val="00B0F0"/>
                </a:solidFill>
                <a:latin typeface="Arial" panose="020B0604020202020204" pitchFamily="34" charset="0"/>
              </a:rPr>
              <a:t>The dimensions of a physical quantity are the powers (or exponents) to which the fundamental or base quantities are raised to represent that quantity. </a:t>
            </a:r>
            <a:endParaRPr lang="en-IN" b="1" dirty="0">
              <a:solidFill>
                <a:srgbClr val="00B0F0"/>
              </a:solidFill>
              <a:latin typeface="Arial" panose="020B0604020202020204" pitchFamily="34" charset="0"/>
            </a:endParaRPr>
          </a:p>
          <a:p>
            <a:pPr fontAlgn="base">
              <a:spcBef>
                <a:spcPct val="0"/>
              </a:spcBef>
              <a:spcAft>
                <a:spcPct val="0"/>
              </a:spcAft>
              <a:defRPr/>
            </a:pPr>
            <a:r>
              <a:rPr lang="en-US" b="1" dirty="0">
                <a:solidFill>
                  <a:srgbClr val="FF9966"/>
                </a:solidFill>
                <a:latin typeface="Arial" panose="020B0604020202020204" pitchFamily="34" charset="0"/>
              </a:rPr>
              <a:t> </a:t>
            </a:r>
            <a:endParaRPr lang="en-IN" b="1" dirty="0">
              <a:solidFill>
                <a:srgbClr val="FF9966"/>
              </a:solidFill>
              <a:latin typeface="Arial" panose="020B0604020202020204" pitchFamily="34" charset="0"/>
            </a:endParaRPr>
          </a:p>
          <a:p>
            <a:pPr fontAlgn="base">
              <a:spcBef>
                <a:spcPct val="0"/>
              </a:spcBef>
              <a:spcAft>
                <a:spcPct val="0"/>
              </a:spcAft>
              <a:defRPr/>
            </a:pPr>
            <a:r>
              <a:rPr lang="en-US" b="1" dirty="0">
                <a:solidFill>
                  <a:srgbClr val="00FF00"/>
                </a:solidFill>
                <a:latin typeface="Arial" panose="020B0604020202020204" pitchFamily="34" charset="0"/>
              </a:rPr>
              <a:t>Note: </a:t>
            </a:r>
            <a:endParaRPr lang="en-IN" b="1" dirty="0">
              <a:solidFill>
                <a:srgbClr val="00FF00"/>
              </a:solidFill>
              <a:latin typeface="Arial" panose="020B0604020202020204" pitchFamily="34" charset="0"/>
            </a:endParaRPr>
          </a:p>
          <a:p>
            <a:pPr fontAlgn="base">
              <a:spcBef>
                <a:spcPct val="0"/>
              </a:spcBef>
              <a:spcAft>
                <a:spcPct val="0"/>
              </a:spcAft>
              <a:defRPr/>
            </a:pPr>
            <a:r>
              <a:rPr lang="en-US" b="1" dirty="0">
                <a:solidFill>
                  <a:srgbClr val="FF9966"/>
                </a:solidFill>
                <a:latin typeface="Arial" panose="020B0604020202020204" pitchFamily="34" charset="0"/>
              </a:rPr>
              <a:t>Using the square brackets [ ] around a quantity means that we are dealing with ‘the dimensions of</a:t>
            </a:r>
            <a:r>
              <a:rPr lang="en-US" b="1" i="1" dirty="0">
                <a:solidFill>
                  <a:srgbClr val="FF9966"/>
                </a:solidFill>
                <a:latin typeface="Arial" panose="020B0604020202020204" pitchFamily="34" charset="0"/>
              </a:rPr>
              <a:t>’ </a:t>
            </a:r>
            <a:r>
              <a:rPr lang="en-US" b="1" dirty="0">
                <a:solidFill>
                  <a:srgbClr val="FF9966"/>
                </a:solidFill>
                <a:latin typeface="Arial" panose="020B0604020202020204" pitchFamily="34" charset="0"/>
              </a:rPr>
              <a:t>the quantity. </a:t>
            </a:r>
          </a:p>
          <a:p>
            <a:pPr fontAlgn="base">
              <a:spcBef>
                <a:spcPct val="0"/>
              </a:spcBef>
              <a:spcAft>
                <a:spcPct val="0"/>
              </a:spcAft>
              <a:defRPr/>
            </a:pPr>
            <a:endParaRPr lang="en-US" b="1" dirty="0">
              <a:solidFill>
                <a:srgbClr val="FF9966"/>
              </a:solidFill>
              <a:latin typeface="Arial" panose="020B0604020202020204" pitchFamily="34" charset="0"/>
            </a:endParaRPr>
          </a:p>
          <a:p>
            <a:pPr fontAlgn="base">
              <a:spcBef>
                <a:spcPct val="0"/>
              </a:spcBef>
              <a:spcAft>
                <a:spcPct val="0"/>
              </a:spcAft>
              <a:defRPr/>
            </a:pPr>
            <a:r>
              <a:rPr lang="en-US" b="1" dirty="0">
                <a:solidFill>
                  <a:srgbClr val="00B050"/>
                </a:solidFill>
                <a:latin typeface="Arial" panose="020B0604020202020204" pitchFamily="34" charset="0"/>
              </a:rPr>
              <a:t>Example:</a:t>
            </a:r>
          </a:p>
          <a:p>
            <a:pPr fontAlgn="base">
              <a:spcBef>
                <a:spcPct val="0"/>
              </a:spcBef>
              <a:spcAft>
                <a:spcPct val="0"/>
              </a:spcAft>
              <a:defRPr/>
            </a:pPr>
            <a:endParaRPr lang="en-US" b="1" dirty="0">
              <a:solidFill>
                <a:srgbClr val="FF9966"/>
              </a:solidFill>
              <a:latin typeface="Arial" panose="020B0604020202020204" pitchFamily="34" charset="0"/>
            </a:endParaRPr>
          </a:p>
          <a:p>
            <a:pPr marL="400050" indent="-400050" fontAlgn="base">
              <a:spcBef>
                <a:spcPct val="0"/>
              </a:spcBef>
              <a:spcAft>
                <a:spcPct val="0"/>
              </a:spcAft>
              <a:buFontTx/>
              <a:buAutoNum type="romanLcParenR"/>
              <a:defRPr/>
            </a:pPr>
            <a:r>
              <a:rPr lang="en-US" b="1" dirty="0">
                <a:solidFill>
                  <a:srgbClr val="99FF66"/>
                </a:solidFill>
                <a:latin typeface="Arial" panose="020B0604020202020204" pitchFamily="34" charset="0"/>
              </a:rPr>
              <a:t>The dimensions of volume of an object are [L</a:t>
            </a:r>
            <a:r>
              <a:rPr lang="en-US" b="1" baseline="30000" dirty="0">
                <a:solidFill>
                  <a:srgbClr val="99FF66"/>
                </a:solidFill>
                <a:latin typeface="Arial" panose="020B0604020202020204" pitchFamily="34" charset="0"/>
              </a:rPr>
              <a:t>3</a:t>
            </a:r>
            <a:r>
              <a:rPr lang="en-US" b="1" dirty="0">
                <a:solidFill>
                  <a:srgbClr val="99FF66"/>
                </a:solidFill>
                <a:latin typeface="Arial" panose="020B0604020202020204" pitchFamily="34" charset="0"/>
              </a:rPr>
              <a:t>]</a:t>
            </a:r>
          </a:p>
          <a:p>
            <a:pPr marL="400050" indent="-400050" fontAlgn="base">
              <a:spcBef>
                <a:spcPct val="0"/>
              </a:spcBef>
              <a:spcAft>
                <a:spcPct val="0"/>
              </a:spcAft>
              <a:buFontTx/>
              <a:buAutoNum type="romanLcParenR"/>
              <a:defRPr/>
            </a:pPr>
            <a:r>
              <a:rPr lang="en-US" b="1" dirty="0">
                <a:solidFill>
                  <a:srgbClr val="99FF66"/>
                </a:solidFill>
                <a:latin typeface="Arial" panose="020B0604020202020204" pitchFamily="34" charset="0"/>
              </a:rPr>
              <a:t>The dimensions of force are [MLT</a:t>
            </a:r>
            <a:r>
              <a:rPr lang="en-US" b="1" baseline="30000" dirty="0">
                <a:solidFill>
                  <a:srgbClr val="99FF66"/>
                </a:solidFill>
                <a:latin typeface="Arial" panose="020B0604020202020204" pitchFamily="34" charset="0"/>
              </a:rPr>
              <a:t>-2</a:t>
            </a:r>
            <a:r>
              <a:rPr lang="en-US" b="1" dirty="0">
                <a:solidFill>
                  <a:srgbClr val="99FF66"/>
                </a:solidFill>
                <a:latin typeface="Arial" panose="020B0604020202020204" pitchFamily="34" charset="0"/>
              </a:rPr>
              <a:t>]</a:t>
            </a:r>
          </a:p>
          <a:p>
            <a:pPr marL="400050" indent="-400050" fontAlgn="base">
              <a:spcBef>
                <a:spcPct val="0"/>
              </a:spcBef>
              <a:spcAft>
                <a:spcPct val="0"/>
              </a:spcAft>
              <a:buFontTx/>
              <a:buAutoNum type="romanLcParenR"/>
              <a:defRPr/>
            </a:pPr>
            <a:r>
              <a:rPr lang="en-US" b="1" dirty="0">
                <a:solidFill>
                  <a:srgbClr val="99FF66"/>
                </a:solidFill>
                <a:latin typeface="Arial" panose="020B0604020202020204" pitchFamily="34" charset="0"/>
              </a:rPr>
              <a:t>The dimensions of energy are [ML</a:t>
            </a:r>
            <a:r>
              <a:rPr lang="en-US" b="1" baseline="30000" dirty="0">
                <a:solidFill>
                  <a:srgbClr val="99FF66"/>
                </a:solidFill>
                <a:latin typeface="Arial" panose="020B0604020202020204" pitchFamily="34" charset="0"/>
              </a:rPr>
              <a:t>2</a:t>
            </a:r>
            <a:r>
              <a:rPr lang="en-US" b="1" dirty="0">
                <a:solidFill>
                  <a:srgbClr val="99FF66"/>
                </a:solidFill>
                <a:latin typeface="Arial" panose="020B0604020202020204" pitchFamily="34" charset="0"/>
              </a:rPr>
              <a:t>T</a:t>
            </a:r>
            <a:r>
              <a:rPr lang="en-US" b="1" baseline="30000" dirty="0">
                <a:solidFill>
                  <a:srgbClr val="99FF66"/>
                </a:solidFill>
                <a:latin typeface="Arial" panose="020B0604020202020204" pitchFamily="34" charset="0"/>
              </a:rPr>
              <a:t>-2</a:t>
            </a:r>
            <a:r>
              <a:rPr lang="en-US" b="1" dirty="0">
                <a:solidFill>
                  <a:srgbClr val="99FF66"/>
                </a:solidFill>
                <a:latin typeface="Arial" panose="020B0604020202020204" pitchFamily="34" charset="0"/>
              </a:rPr>
              <a:t>]</a:t>
            </a:r>
          </a:p>
          <a:p>
            <a:pPr marL="400050" indent="-400050" fontAlgn="base">
              <a:spcBef>
                <a:spcPct val="0"/>
              </a:spcBef>
              <a:spcAft>
                <a:spcPct val="0"/>
              </a:spcAft>
              <a:buFontTx/>
              <a:buAutoNum type="romanLcParenR"/>
              <a:defRPr/>
            </a:pPr>
            <a:endParaRPr lang="en-IN" b="1" dirty="0">
              <a:solidFill>
                <a:srgbClr val="99FF66"/>
              </a:solidFill>
              <a:latin typeface="Arial" panose="020B0604020202020204" pitchFamily="34" charset="0"/>
            </a:endParaRPr>
          </a:p>
        </p:txBody>
      </p:sp>
      <p:sp>
        <p:nvSpPr>
          <p:cNvPr id="50179" name="Rectangle 2"/>
          <p:cNvSpPr>
            <a:spLocks noChangeArrowheads="1"/>
          </p:cNvSpPr>
          <p:nvPr/>
        </p:nvSpPr>
        <p:spPr bwMode="auto">
          <a:xfrm>
            <a:off x="1811339" y="225425"/>
            <a:ext cx="5221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FF00"/>
                </a:solidFill>
              </a:rPr>
              <a:t>DIMENSIONS OF PHYSICAL QUANTITIES</a:t>
            </a:r>
            <a:endParaRPr lang="en-IN" altLang="en-US" sz="2000" b="1">
              <a:solidFill>
                <a:srgbClr val="FFFF00"/>
              </a:solidFill>
            </a:endParaRPr>
          </a:p>
        </p:txBody>
      </p:sp>
      <p:sp>
        <p:nvSpPr>
          <p:cNvPr id="50180"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0181"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0182"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23029220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0179"/>
                                        </p:tgtEl>
                                        <p:attrNameLst>
                                          <p:attrName>style.visibility</p:attrName>
                                        </p:attrNameLst>
                                      </p:cBhvr>
                                      <p:to>
                                        <p:strVal val="visible"/>
                                      </p:to>
                                    </p:set>
                                    <p:anim calcmode="lin" valueType="num">
                                      <p:cBhvr>
                                        <p:cTn id="7" dur="500" fill="hold"/>
                                        <p:tgtEl>
                                          <p:spTgt spid="50179"/>
                                        </p:tgtEl>
                                        <p:attrNameLst>
                                          <p:attrName>ppt_w</p:attrName>
                                        </p:attrNameLst>
                                      </p:cBhvr>
                                      <p:tavLst>
                                        <p:tav tm="0">
                                          <p:val>
                                            <p:fltVal val="0"/>
                                          </p:val>
                                        </p:tav>
                                        <p:tav tm="100000">
                                          <p:val>
                                            <p:strVal val="#ppt_w"/>
                                          </p:val>
                                        </p:tav>
                                      </p:tavLst>
                                    </p:anim>
                                    <p:anim calcmode="lin" valueType="num">
                                      <p:cBhvr>
                                        <p:cTn id="8" dur="500" fill="hold"/>
                                        <p:tgtEl>
                                          <p:spTgt spid="50179"/>
                                        </p:tgtEl>
                                        <p:attrNameLst>
                                          <p:attrName>ppt_h</p:attrName>
                                        </p:attrNameLst>
                                      </p:cBhvr>
                                      <p:tavLst>
                                        <p:tav tm="0">
                                          <p:val>
                                            <p:fltVal val="0"/>
                                          </p:val>
                                        </p:tav>
                                        <p:tav tm="100000">
                                          <p:val>
                                            <p:strVal val="#ppt_h"/>
                                          </p:val>
                                        </p:tav>
                                      </p:tavLst>
                                    </p:anim>
                                    <p:animEffect transition="in" filter="fade">
                                      <p:cBhvr>
                                        <p:cTn id="9" dur="500"/>
                                        <p:tgtEl>
                                          <p:spTgt spid="5017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up)">
                                      <p:cBhvr>
                                        <p:cTn id="14" dur="500"/>
                                        <p:tgtEl>
                                          <p:spTgt spid="2">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up)">
                                      <p:cBhvr>
                                        <p:cTn id="19" dur="500"/>
                                        <p:tgtEl>
                                          <p:spTgt spid="2">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up)">
                                      <p:cBhvr>
                                        <p:cTn id="24" dur="500"/>
                                        <p:tgtEl>
                                          <p:spTgt spid="2">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up)">
                                      <p:cBhvr>
                                        <p:cTn id="34" dur="500"/>
                                        <p:tgtEl>
                                          <p:spTgt spid="2">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wipe(up)">
                                      <p:cBhvr>
                                        <p:cTn id="39" dur="500"/>
                                        <p:tgtEl>
                                          <p:spTgt spid="2">
                                            <p:txEl>
                                              <p:pRg st="9" end="9"/>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2">
                                            <p:txEl>
                                              <p:pRg st="11" end="11"/>
                                            </p:txEl>
                                          </p:spTgt>
                                        </p:tgtEl>
                                        <p:attrNameLst>
                                          <p:attrName>style.visibility</p:attrName>
                                        </p:attrNameLst>
                                      </p:cBhvr>
                                      <p:to>
                                        <p:strVal val="visible"/>
                                      </p:to>
                                    </p:set>
                                    <p:animEffect transition="in" filter="wipe(up)">
                                      <p:cBhvr>
                                        <p:cTn id="44" dur="500"/>
                                        <p:tgtEl>
                                          <p:spTgt spid="2">
                                            <p:txEl>
                                              <p:pRg st="11" end="11"/>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wipe(up)">
                                      <p:cBhvr>
                                        <p:cTn id="49" dur="500"/>
                                        <p:tgtEl>
                                          <p:spTgt spid="2">
                                            <p:txEl>
                                              <p:pRg st="12" end="1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2">
                                            <p:txEl>
                                              <p:pRg st="13" end="13"/>
                                            </p:txEl>
                                          </p:spTgt>
                                        </p:tgtEl>
                                        <p:attrNameLst>
                                          <p:attrName>style.visibility</p:attrName>
                                        </p:attrNameLst>
                                      </p:cBhvr>
                                      <p:to>
                                        <p:strVal val="visible"/>
                                      </p:to>
                                    </p:set>
                                    <p:animEffect transition="in" filter="wipe(up)">
                                      <p:cBhvr>
                                        <p:cTn id="54"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1955800" y="103188"/>
            <a:ext cx="284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9966FF"/>
                </a:solidFill>
              </a:rPr>
              <a:t>Dimensional Quantity</a:t>
            </a:r>
            <a:endParaRPr lang="en-IN" altLang="en-US" sz="2000" b="1">
              <a:solidFill>
                <a:srgbClr val="9966FF"/>
              </a:solidFill>
            </a:endParaRPr>
          </a:p>
        </p:txBody>
      </p:sp>
      <p:sp>
        <p:nvSpPr>
          <p:cNvPr id="51203" name="Rectangle 2"/>
          <p:cNvSpPr>
            <a:spLocks noChangeArrowheads="1"/>
          </p:cNvSpPr>
          <p:nvPr/>
        </p:nvSpPr>
        <p:spPr bwMode="auto">
          <a:xfrm>
            <a:off x="1992313" y="538164"/>
            <a:ext cx="8424862"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9966FF"/>
                </a:solidFill>
              </a:rPr>
              <a:t>Dimensional quantity is a physical quantity which has dimensions.</a:t>
            </a:r>
          </a:p>
          <a:p>
            <a:pPr eaLnBrk="1" fontAlgn="base" hangingPunct="1">
              <a:spcBef>
                <a:spcPct val="0"/>
              </a:spcBef>
              <a:spcAft>
                <a:spcPct val="0"/>
              </a:spcAft>
            </a:pPr>
            <a:endParaRPr lang="en-US" altLang="en-US" b="1">
              <a:solidFill>
                <a:srgbClr val="9966FF"/>
              </a:solidFill>
            </a:endParaRPr>
          </a:p>
          <a:p>
            <a:pPr eaLnBrk="1" fontAlgn="base" hangingPunct="1">
              <a:spcBef>
                <a:spcPct val="0"/>
              </a:spcBef>
              <a:spcAft>
                <a:spcPct val="0"/>
              </a:spcAft>
            </a:pPr>
            <a:r>
              <a:rPr lang="en-US" altLang="en-US" b="1">
                <a:solidFill>
                  <a:srgbClr val="9966FF"/>
                </a:solidFill>
              </a:rPr>
              <a:t>For example: Speed, acceleration, momentum, torque, etc.</a:t>
            </a:r>
            <a:endParaRPr lang="en-IN" altLang="en-US" b="1">
              <a:solidFill>
                <a:srgbClr val="9966FF"/>
              </a:solidFill>
            </a:endParaRPr>
          </a:p>
        </p:txBody>
      </p:sp>
      <p:sp>
        <p:nvSpPr>
          <p:cNvPr id="51204" name="Rectangle 3"/>
          <p:cNvSpPr>
            <a:spLocks noChangeArrowheads="1"/>
          </p:cNvSpPr>
          <p:nvPr/>
        </p:nvSpPr>
        <p:spPr bwMode="auto">
          <a:xfrm>
            <a:off x="1992313" y="2022476"/>
            <a:ext cx="84248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66"/>
                </a:solidFill>
              </a:rPr>
              <a:t>Dimensionless quantity is a physical quantity which has no dimensions.</a:t>
            </a:r>
          </a:p>
          <a:p>
            <a:pPr eaLnBrk="1" fontAlgn="base" hangingPunct="1">
              <a:spcBef>
                <a:spcPct val="0"/>
              </a:spcBef>
              <a:spcAft>
                <a:spcPct val="0"/>
              </a:spcAft>
            </a:pPr>
            <a:endParaRPr lang="en-US" altLang="en-US" b="1">
              <a:solidFill>
                <a:srgbClr val="FF9966"/>
              </a:solidFill>
            </a:endParaRPr>
          </a:p>
          <a:p>
            <a:pPr eaLnBrk="1" fontAlgn="base" hangingPunct="1">
              <a:spcBef>
                <a:spcPct val="0"/>
              </a:spcBef>
              <a:spcAft>
                <a:spcPct val="0"/>
              </a:spcAft>
            </a:pPr>
            <a:r>
              <a:rPr lang="en-US" altLang="en-US" b="1">
                <a:solidFill>
                  <a:srgbClr val="FF9966"/>
                </a:solidFill>
              </a:rPr>
              <a:t>For example: Relative density, refractive index, strain, etc.</a:t>
            </a:r>
            <a:endParaRPr lang="en-IN" altLang="en-US" b="1">
              <a:solidFill>
                <a:srgbClr val="FF9966"/>
              </a:solidFill>
            </a:endParaRPr>
          </a:p>
        </p:txBody>
      </p:sp>
      <p:sp>
        <p:nvSpPr>
          <p:cNvPr id="51205" name="Rectangle 2"/>
          <p:cNvSpPr>
            <a:spLocks noChangeArrowheads="1"/>
          </p:cNvSpPr>
          <p:nvPr/>
        </p:nvSpPr>
        <p:spPr bwMode="auto">
          <a:xfrm>
            <a:off x="1970089" y="1538288"/>
            <a:ext cx="3348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9966"/>
                </a:solidFill>
              </a:rPr>
              <a:t>Dimensionless Quantity</a:t>
            </a:r>
            <a:endParaRPr lang="en-IN" altLang="en-US" sz="2000" b="1">
              <a:solidFill>
                <a:srgbClr val="FF9966"/>
              </a:solidFill>
            </a:endParaRPr>
          </a:p>
        </p:txBody>
      </p:sp>
      <p:sp>
        <p:nvSpPr>
          <p:cNvPr id="51206" name="Rectangle 2"/>
          <p:cNvSpPr>
            <a:spLocks noChangeArrowheads="1"/>
          </p:cNvSpPr>
          <p:nvPr/>
        </p:nvSpPr>
        <p:spPr bwMode="auto">
          <a:xfrm>
            <a:off x="1947864" y="3100388"/>
            <a:ext cx="3068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00FF99"/>
                </a:solidFill>
              </a:rPr>
              <a:t>Dimensional Constant</a:t>
            </a:r>
            <a:endParaRPr lang="en-IN" altLang="en-US" sz="2000" b="1">
              <a:solidFill>
                <a:srgbClr val="00FF99"/>
              </a:solidFill>
            </a:endParaRPr>
          </a:p>
        </p:txBody>
      </p:sp>
      <p:sp>
        <p:nvSpPr>
          <p:cNvPr id="51207" name="Rectangle 8"/>
          <p:cNvSpPr>
            <a:spLocks noChangeArrowheads="1"/>
          </p:cNvSpPr>
          <p:nvPr/>
        </p:nvSpPr>
        <p:spPr bwMode="auto">
          <a:xfrm>
            <a:off x="1984376" y="3535363"/>
            <a:ext cx="842486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Dimensional constant is a constant which has dimensions.</a:t>
            </a:r>
          </a:p>
          <a:p>
            <a:pPr eaLnBrk="1" fontAlgn="base" hangingPunct="1">
              <a:spcBef>
                <a:spcPct val="0"/>
              </a:spcBef>
              <a:spcAft>
                <a:spcPct val="0"/>
              </a:spcAft>
            </a:pPr>
            <a:endParaRPr lang="en-US" altLang="en-US" b="1">
              <a:solidFill>
                <a:srgbClr val="00FF99"/>
              </a:solidFill>
            </a:endParaRPr>
          </a:p>
          <a:p>
            <a:pPr eaLnBrk="1" fontAlgn="base" hangingPunct="1">
              <a:spcBef>
                <a:spcPct val="0"/>
              </a:spcBef>
              <a:spcAft>
                <a:spcPct val="0"/>
              </a:spcAft>
            </a:pPr>
            <a:r>
              <a:rPr lang="en-US" altLang="en-US" b="1">
                <a:solidFill>
                  <a:srgbClr val="00FF99"/>
                </a:solidFill>
              </a:rPr>
              <a:t>For example: Universal Gravitational constant, Planck’s constant, Hubble constant, Stefan constant, Wien constant, Boltzmann constant, Universal Gas constant, Faraday constant, etc.</a:t>
            </a:r>
            <a:endParaRPr lang="en-IN" altLang="en-US" b="1">
              <a:solidFill>
                <a:srgbClr val="00FF99"/>
              </a:solidFill>
            </a:endParaRPr>
          </a:p>
        </p:txBody>
      </p:sp>
      <p:sp>
        <p:nvSpPr>
          <p:cNvPr id="51208" name="Rectangle 9"/>
          <p:cNvSpPr>
            <a:spLocks noChangeArrowheads="1"/>
          </p:cNvSpPr>
          <p:nvPr/>
        </p:nvSpPr>
        <p:spPr bwMode="auto">
          <a:xfrm>
            <a:off x="1985963" y="5529264"/>
            <a:ext cx="84248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b="1" dirty="0">
                <a:solidFill>
                  <a:srgbClr val="333399">
                    <a:lumMod val="40000"/>
                    <a:lumOff val="60000"/>
                  </a:srgbClr>
                </a:solidFill>
                <a:latin typeface="Arial" panose="020B0604020202020204" pitchFamily="34" charset="0"/>
              </a:rPr>
              <a:t>Dimensionless constant is a constant which has no dimensions.</a:t>
            </a:r>
          </a:p>
          <a:p>
            <a:pPr fontAlgn="base">
              <a:spcBef>
                <a:spcPct val="0"/>
              </a:spcBef>
              <a:spcAft>
                <a:spcPct val="0"/>
              </a:spcAft>
              <a:defRPr/>
            </a:pPr>
            <a:endParaRPr lang="en-US" b="1" dirty="0">
              <a:solidFill>
                <a:srgbClr val="333399">
                  <a:lumMod val="40000"/>
                  <a:lumOff val="60000"/>
                </a:srgbClr>
              </a:solidFill>
              <a:latin typeface="Arial" panose="020B0604020202020204" pitchFamily="34" charset="0"/>
            </a:endParaRPr>
          </a:p>
          <a:p>
            <a:pPr fontAlgn="base">
              <a:spcBef>
                <a:spcPct val="0"/>
              </a:spcBef>
              <a:spcAft>
                <a:spcPct val="0"/>
              </a:spcAft>
              <a:defRPr/>
            </a:pPr>
            <a:r>
              <a:rPr lang="en-US" b="1" dirty="0">
                <a:solidFill>
                  <a:srgbClr val="333399">
                    <a:lumMod val="40000"/>
                    <a:lumOff val="60000"/>
                  </a:srgbClr>
                </a:solidFill>
                <a:latin typeface="Arial" panose="020B0604020202020204" pitchFamily="34" charset="0"/>
              </a:rPr>
              <a:t>For example: 5, -.0.38, e, </a:t>
            </a:r>
            <a:r>
              <a:rPr lang="el-GR" b="1" dirty="0">
                <a:solidFill>
                  <a:srgbClr val="333399">
                    <a:lumMod val="40000"/>
                    <a:lumOff val="60000"/>
                  </a:srgbClr>
                </a:solidFill>
                <a:latin typeface="Arial" panose="020B0604020202020204" pitchFamily="34" charset="0"/>
                <a:ea typeface="Calibri" pitchFamily="34" charset="0"/>
                <a:cs typeface="Bookman-Light" charset="0"/>
              </a:rPr>
              <a:t>π</a:t>
            </a:r>
            <a:r>
              <a:rPr lang="en-US" b="1" dirty="0">
                <a:solidFill>
                  <a:srgbClr val="333399">
                    <a:lumMod val="40000"/>
                    <a:lumOff val="60000"/>
                  </a:srgbClr>
                </a:solidFill>
                <a:latin typeface="Arial" panose="020B0604020202020204" pitchFamily="34" charset="0"/>
                <a:ea typeface="Calibri" pitchFamily="34" charset="0"/>
                <a:cs typeface="Bookman-Light" charset="0"/>
              </a:rPr>
              <a:t>, etc.</a:t>
            </a:r>
            <a:endParaRPr lang="en-IN" b="1" dirty="0">
              <a:solidFill>
                <a:srgbClr val="333399">
                  <a:lumMod val="40000"/>
                  <a:lumOff val="60000"/>
                </a:srgbClr>
              </a:solidFill>
              <a:latin typeface="Arial" panose="020B0604020202020204" pitchFamily="34" charset="0"/>
            </a:endParaRPr>
          </a:p>
        </p:txBody>
      </p:sp>
      <p:sp>
        <p:nvSpPr>
          <p:cNvPr id="51209" name="Rectangle 2"/>
          <p:cNvSpPr>
            <a:spLocks noChangeArrowheads="1"/>
          </p:cNvSpPr>
          <p:nvPr/>
        </p:nvSpPr>
        <p:spPr bwMode="auto">
          <a:xfrm>
            <a:off x="1963739" y="5045075"/>
            <a:ext cx="3349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sz="2000" b="1" dirty="0">
                <a:solidFill>
                  <a:srgbClr val="333399">
                    <a:lumMod val="40000"/>
                    <a:lumOff val="60000"/>
                  </a:srgbClr>
                </a:solidFill>
                <a:latin typeface="Arial" panose="020B0604020202020204" pitchFamily="34" charset="0"/>
              </a:rPr>
              <a:t>Dimensionless Constant</a:t>
            </a:r>
            <a:endParaRPr lang="en-IN" sz="2000" b="1" dirty="0">
              <a:solidFill>
                <a:srgbClr val="333399">
                  <a:lumMod val="40000"/>
                  <a:lumOff val="60000"/>
                </a:srgbClr>
              </a:solidFill>
              <a:latin typeface="Arial" panose="020B0604020202020204" pitchFamily="34" charset="0"/>
            </a:endParaRPr>
          </a:p>
        </p:txBody>
      </p:sp>
      <p:sp>
        <p:nvSpPr>
          <p:cNvPr id="51210"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1211"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1212"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488826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203">
                                            <p:txEl>
                                              <p:pRg st="0" end="0"/>
                                            </p:txEl>
                                          </p:spTgt>
                                        </p:tgtEl>
                                        <p:attrNameLst>
                                          <p:attrName>style.visibility</p:attrName>
                                        </p:attrNameLst>
                                      </p:cBhvr>
                                      <p:to>
                                        <p:strVal val="visible"/>
                                      </p:to>
                                    </p:set>
                                    <p:animEffect transition="in" filter="wipe(left)">
                                      <p:cBhvr>
                                        <p:cTn id="12" dur="500"/>
                                        <p:tgtEl>
                                          <p:spTgt spid="512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Effect transition="in" filter="wipe(left)">
                                      <p:cBhvr>
                                        <p:cTn id="17" dur="500"/>
                                        <p:tgtEl>
                                          <p:spTgt spid="512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05"/>
                                        </p:tgtEl>
                                        <p:attrNameLst>
                                          <p:attrName>style.visibility</p:attrName>
                                        </p:attrNameLst>
                                      </p:cBhvr>
                                      <p:to>
                                        <p:strVal val="visible"/>
                                      </p:to>
                                    </p:set>
                                    <p:animEffect transition="in" filter="wipe(left)">
                                      <p:cBhvr>
                                        <p:cTn id="22" dur="500"/>
                                        <p:tgtEl>
                                          <p:spTgt spid="512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1204">
                                            <p:txEl>
                                              <p:pRg st="0" end="0"/>
                                            </p:txEl>
                                          </p:spTgt>
                                        </p:tgtEl>
                                        <p:attrNameLst>
                                          <p:attrName>style.visibility</p:attrName>
                                        </p:attrNameLst>
                                      </p:cBhvr>
                                      <p:to>
                                        <p:strVal val="visible"/>
                                      </p:to>
                                    </p:set>
                                    <p:animEffect transition="in" filter="wipe(left)">
                                      <p:cBhvr>
                                        <p:cTn id="27" dur="500"/>
                                        <p:tgtEl>
                                          <p:spTgt spid="5120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1204">
                                            <p:txEl>
                                              <p:pRg st="2" end="2"/>
                                            </p:txEl>
                                          </p:spTgt>
                                        </p:tgtEl>
                                        <p:attrNameLst>
                                          <p:attrName>style.visibility</p:attrName>
                                        </p:attrNameLst>
                                      </p:cBhvr>
                                      <p:to>
                                        <p:strVal val="visible"/>
                                      </p:to>
                                    </p:set>
                                    <p:animEffect transition="in" filter="wipe(left)">
                                      <p:cBhvr>
                                        <p:cTn id="32" dur="500"/>
                                        <p:tgtEl>
                                          <p:spTgt spid="51204">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206"/>
                                        </p:tgtEl>
                                        <p:attrNameLst>
                                          <p:attrName>style.visibility</p:attrName>
                                        </p:attrNameLst>
                                      </p:cBhvr>
                                      <p:to>
                                        <p:strVal val="visible"/>
                                      </p:to>
                                    </p:set>
                                    <p:animEffect transition="in" filter="wipe(left)">
                                      <p:cBhvr>
                                        <p:cTn id="37" dur="500"/>
                                        <p:tgtEl>
                                          <p:spTgt spid="5120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1207">
                                            <p:txEl>
                                              <p:pRg st="0" end="0"/>
                                            </p:txEl>
                                          </p:spTgt>
                                        </p:tgtEl>
                                        <p:attrNameLst>
                                          <p:attrName>style.visibility</p:attrName>
                                        </p:attrNameLst>
                                      </p:cBhvr>
                                      <p:to>
                                        <p:strVal val="visible"/>
                                      </p:to>
                                    </p:set>
                                    <p:animEffect transition="in" filter="wipe(left)">
                                      <p:cBhvr>
                                        <p:cTn id="42" dur="500"/>
                                        <p:tgtEl>
                                          <p:spTgt spid="51207">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1207">
                                            <p:txEl>
                                              <p:pRg st="2" end="2"/>
                                            </p:txEl>
                                          </p:spTgt>
                                        </p:tgtEl>
                                        <p:attrNameLst>
                                          <p:attrName>style.visibility</p:attrName>
                                        </p:attrNameLst>
                                      </p:cBhvr>
                                      <p:to>
                                        <p:strVal val="visible"/>
                                      </p:to>
                                    </p:set>
                                    <p:animEffect transition="in" filter="wipe(left)">
                                      <p:cBhvr>
                                        <p:cTn id="47" dur="500"/>
                                        <p:tgtEl>
                                          <p:spTgt spid="51207">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1209"/>
                                        </p:tgtEl>
                                        <p:attrNameLst>
                                          <p:attrName>style.visibility</p:attrName>
                                        </p:attrNameLst>
                                      </p:cBhvr>
                                      <p:to>
                                        <p:strVal val="visible"/>
                                      </p:to>
                                    </p:set>
                                    <p:animEffect transition="in" filter="wipe(left)">
                                      <p:cBhvr>
                                        <p:cTn id="52" dur="500"/>
                                        <p:tgtEl>
                                          <p:spTgt spid="5120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1208">
                                            <p:txEl>
                                              <p:pRg st="0" end="0"/>
                                            </p:txEl>
                                          </p:spTgt>
                                        </p:tgtEl>
                                        <p:attrNameLst>
                                          <p:attrName>style.visibility</p:attrName>
                                        </p:attrNameLst>
                                      </p:cBhvr>
                                      <p:to>
                                        <p:strVal val="visible"/>
                                      </p:to>
                                    </p:set>
                                    <p:animEffect transition="in" filter="wipe(left)">
                                      <p:cBhvr>
                                        <p:cTn id="57" dur="500"/>
                                        <p:tgtEl>
                                          <p:spTgt spid="51208">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1208">
                                            <p:txEl>
                                              <p:pRg st="2" end="2"/>
                                            </p:txEl>
                                          </p:spTgt>
                                        </p:tgtEl>
                                        <p:attrNameLst>
                                          <p:attrName>style.visibility</p:attrName>
                                        </p:attrNameLst>
                                      </p:cBhvr>
                                      <p:to>
                                        <p:strVal val="visible"/>
                                      </p:to>
                                    </p:set>
                                    <p:animEffect transition="in" filter="wipe(left)">
                                      <p:cBhvr>
                                        <p:cTn id="62" dur="500"/>
                                        <p:tgtEl>
                                          <p:spTgt spid="5120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5" grpId="0"/>
      <p:bldP spid="51206" grpId="0"/>
      <p:bldP spid="5120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166"/>
          <p:cNvSpPr txBox="1"/>
          <p:nvPr/>
        </p:nvSpPr>
        <p:spPr>
          <a:xfrm>
            <a:off x="304800" y="1080733"/>
            <a:ext cx="11582400" cy="56252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dirty="0">
                <a:solidFill>
                  <a:srgbClr val="00FF00"/>
                </a:solidFill>
                <a:latin typeface="Cambria Math"/>
                <a:ea typeface="Cambria Math"/>
                <a:cs typeface="Cambria Math"/>
                <a:sym typeface="Cambria Math"/>
              </a:rPr>
              <a:t>Symbolic Representation of Dimension:          </a:t>
            </a: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p:txBody>
      </p:sp>
      <p:sp>
        <p:nvSpPr>
          <p:cNvPr id="1919" name="Google Shape;1919;p16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49</a:t>
            </a:fld>
            <a:endParaRPr kern="0"/>
          </a:p>
        </p:txBody>
      </p:sp>
      <p:sp>
        <p:nvSpPr>
          <p:cNvPr id="1920" name="Google Shape;1920;p16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dirty="0">
                <a:solidFill>
                  <a:srgbClr val="000000"/>
                </a:solidFill>
                <a:latin typeface="Cambria Math"/>
                <a:ea typeface="Cambria Math"/>
                <a:cs typeface="Cambria Math"/>
                <a:sym typeface="Cambria Math"/>
              </a:rPr>
              <a:t>11P02.5 </a:t>
            </a:r>
            <a:r>
              <a:rPr lang="en" sz="2400" b="1" dirty="0">
                <a:solidFill>
                  <a:srgbClr val="000000"/>
                </a:solidFill>
                <a:latin typeface="Cambria Math"/>
                <a:ea typeface="Cambria Math"/>
                <a:cs typeface="Cambria Math"/>
                <a:sym typeface="Cambria Math"/>
              </a:rPr>
              <a:t>Dimensional Analysis and its Application</a:t>
            </a:r>
            <a:endParaRPr sz="2667" b="1" dirty="0">
              <a:solidFill>
                <a:srgbClr val="000000"/>
              </a:solidFill>
              <a:latin typeface="Cambria Math"/>
              <a:ea typeface="Cambria Math"/>
              <a:cs typeface="Cambria Math"/>
              <a:sym typeface="Cambria Math"/>
            </a:endParaRPr>
          </a:p>
        </p:txBody>
      </p:sp>
      <p:graphicFrame>
        <p:nvGraphicFramePr>
          <p:cNvPr id="1921" name="Google Shape;1921;p166"/>
          <p:cNvGraphicFramePr/>
          <p:nvPr/>
        </p:nvGraphicFramePr>
        <p:xfrm>
          <a:off x="2506500" y="1808800"/>
          <a:ext cx="7198866" cy="4876480"/>
        </p:xfrm>
        <a:graphic>
          <a:graphicData uri="http://schemas.openxmlformats.org/drawingml/2006/table">
            <a:tbl>
              <a:tblPr>
                <a:noFill/>
              </a:tblPr>
              <a:tblGrid>
                <a:gridCol w="3599433">
                  <a:extLst>
                    <a:ext uri="{9D8B030D-6E8A-4147-A177-3AD203B41FA5}">
                      <a16:colId xmlns:a16="http://schemas.microsoft.com/office/drawing/2014/main" val="20000"/>
                    </a:ext>
                  </a:extLst>
                </a:gridCol>
                <a:gridCol w="3599433">
                  <a:extLst>
                    <a:ext uri="{9D8B030D-6E8A-4147-A177-3AD203B41FA5}">
                      <a16:colId xmlns:a16="http://schemas.microsoft.com/office/drawing/2014/main" val="20001"/>
                    </a:ext>
                  </a:extLst>
                </a:gridCol>
              </a:tblGrid>
              <a:tr h="609560">
                <a:tc>
                  <a:txBody>
                    <a:bodyPr/>
                    <a:lstStyle/>
                    <a:p>
                      <a:pPr marL="0" marR="0" lvl="0" indent="0" algn="ctr" rtl="0">
                        <a:lnSpc>
                          <a:spcPct val="100000"/>
                        </a:lnSpc>
                        <a:spcBef>
                          <a:spcPts val="0"/>
                        </a:spcBef>
                        <a:spcAft>
                          <a:spcPts val="0"/>
                        </a:spcAft>
                        <a:buNone/>
                      </a:pPr>
                      <a:r>
                        <a:rPr lang="en" sz="2400" dirty="0">
                          <a:solidFill>
                            <a:srgbClr val="00FF00"/>
                          </a:solidFill>
                          <a:latin typeface="Cambria Math"/>
                          <a:ea typeface="Cambria Math"/>
                          <a:cs typeface="Cambria Math"/>
                          <a:sym typeface="Cambria Math"/>
                        </a:rPr>
                        <a:t>Fundamental Quantity</a:t>
                      </a:r>
                      <a:endParaRPr sz="2400" dirty="0">
                        <a:solidFill>
                          <a:srgbClr val="00FF00"/>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00FF00"/>
                          </a:solidFill>
                          <a:latin typeface="Cambria Math"/>
                          <a:ea typeface="Cambria Math"/>
                          <a:cs typeface="Cambria Math"/>
                          <a:sym typeface="Cambria Math"/>
                        </a:rPr>
                        <a:t>Dimension</a:t>
                      </a:r>
                      <a:endParaRPr sz="2400">
                        <a:solidFill>
                          <a:srgbClr val="00FF00"/>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0"/>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Mass</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[M]</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1"/>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Length</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[L]</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2"/>
                  </a:ext>
                </a:extLst>
              </a:tr>
              <a:tr h="609560">
                <a:tc>
                  <a:txBody>
                    <a:bodyPr/>
                    <a:lstStyle/>
                    <a:p>
                      <a:pPr marL="0" marR="0" lvl="0" indent="0" algn="ctr" rtl="0">
                        <a:lnSpc>
                          <a:spcPct val="100000"/>
                        </a:lnSpc>
                        <a:spcBef>
                          <a:spcPts val="0"/>
                        </a:spcBef>
                        <a:spcAft>
                          <a:spcPts val="0"/>
                        </a:spcAft>
                        <a:buNone/>
                      </a:pPr>
                      <a:r>
                        <a:rPr lang="en" sz="2400" dirty="0">
                          <a:solidFill>
                            <a:srgbClr val="FFFFFF"/>
                          </a:solidFill>
                          <a:latin typeface="Cambria Math"/>
                          <a:ea typeface="Cambria Math"/>
                          <a:cs typeface="Cambria Math"/>
                          <a:sym typeface="Cambria Math"/>
                        </a:rPr>
                        <a:t>Time</a:t>
                      </a:r>
                      <a:endParaRPr sz="2400" dirty="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[T]</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3"/>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Current</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[I]</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4"/>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Temperature</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[K]</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5"/>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Amount of Substance</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[mol]</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6"/>
                  </a:ext>
                </a:extLst>
              </a:tr>
              <a:tr h="609560">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Luminous Intensity</a:t>
                      </a:r>
                      <a:endParaRPr sz="2400">
                        <a:solidFill>
                          <a:srgbClr val="FFFFFF"/>
                        </a:solidFill>
                        <a:latin typeface="Cambria Math"/>
                        <a:ea typeface="Cambria Math"/>
                        <a:cs typeface="Cambria Math"/>
                        <a:sym typeface="Cambria Math"/>
                      </a:endParaRPr>
                    </a:p>
                  </a:txBody>
                  <a:tcPr marL="121900" marR="121900" marT="121900" marB="121900"/>
                </a:tc>
                <a:tc>
                  <a:txBody>
                    <a:bodyPr/>
                    <a:lstStyle/>
                    <a:p>
                      <a:pPr marL="0" marR="0" lvl="0" indent="0" algn="ctr" rtl="0">
                        <a:lnSpc>
                          <a:spcPct val="100000"/>
                        </a:lnSpc>
                        <a:spcBef>
                          <a:spcPts val="0"/>
                        </a:spcBef>
                        <a:spcAft>
                          <a:spcPts val="0"/>
                        </a:spcAft>
                        <a:buNone/>
                      </a:pPr>
                      <a:r>
                        <a:rPr lang="en" sz="2400">
                          <a:solidFill>
                            <a:srgbClr val="FFFFFF"/>
                          </a:solidFill>
                          <a:latin typeface="Cambria Math"/>
                          <a:ea typeface="Cambria Math"/>
                          <a:cs typeface="Cambria Math"/>
                          <a:sym typeface="Cambria Math"/>
                        </a:rPr>
                        <a:t>[cd]</a:t>
                      </a:r>
                      <a:endParaRPr sz="2400">
                        <a:solidFill>
                          <a:srgbClr val="FFFFFF"/>
                        </a:solidFill>
                        <a:latin typeface="Cambria Math"/>
                        <a:ea typeface="Cambria Math"/>
                        <a:cs typeface="Cambria Math"/>
                        <a:sym typeface="Cambria Math"/>
                      </a:endParaRPr>
                    </a:p>
                  </a:txBody>
                  <a:tcPr marL="121900" marR="121900" marT="121900" marB="12190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54961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711450" y="15875"/>
            <a:ext cx="6985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smtClean="0">
                <a:ln>
                  <a:noFill/>
                </a:ln>
                <a:solidFill>
                  <a:srgbClr val="00FF99"/>
                </a:solidFill>
                <a:effectLst/>
                <a:uLnTx/>
                <a:uFillTx/>
                <a:latin typeface="Arial" panose="020B0604020202020204" pitchFamily="34" charset="0"/>
                <a:ea typeface="+mn-ea"/>
                <a:cs typeface="+mn-cs"/>
              </a:rPr>
              <a:t>Dimensional formulae for some physical quantities</a:t>
            </a:r>
            <a:endParaRPr kumimoji="0" lang="en-IN" altLang="en-US" sz="2200" b="0" i="0" u="none" strike="noStrike" kern="1200" cap="none" spc="0" normalizeH="0" baseline="0" noProof="0" smtClean="0">
              <a:ln>
                <a:noFill/>
              </a:ln>
              <a:solidFill>
                <a:srgbClr val="00FF99"/>
              </a:solidFill>
              <a:effectLst/>
              <a:uLnTx/>
              <a:uFillTx/>
              <a:latin typeface="Arial" panose="020B0604020202020204" pitchFamily="34" charset="0"/>
              <a:ea typeface="+mn-ea"/>
              <a:cs typeface="+mn-cs"/>
            </a:endParaRPr>
          </a:p>
        </p:txBody>
      </p:sp>
      <p:graphicFrame>
        <p:nvGraphicFramePr>
          <p:cNvPr id="3" name="Table 2"/>
          <p:cNvGraphicFramePr>
            <a:graphicFrameLocks noGrp="1"/>
          </p:cNvGraphicFramePr>
          <p:nvPr/>
        </p:nvGraphicFramePr>
        <p:xfrm>
          <a:off x="1919534" y="476672"/>
          <a:ext cx="8352931" cy="6192003"/>
        </p:xfrm>
        <a:graphic>
          <a:graphicData uri="http://schemas.openxmlformats.org/drawingml/2006/table">
            <a:tbl>
              <a:tblPr>
                <a:tableStyleId>{21E4AEA4-8DFA-4A89-87EB-49C32662AFE0}</a:tableStyleId>
              </a:tblPr>
              <a:tblGrid>
                <a:gridCol w="278434">
                  <a:extLst>
                    <a:ext uri="{9D8B030D-6E8A-4147-A177-3AD203B41FA5}">
                      <a16:colId xmlns:a16="http://schemas.microsoft.com/office/drawing/2014/main" val="20000"/>
                    </a:ext>
                  </a:extLst>
                </a:gridCol>
                <a:gridCol w="1953817">
                  <a:extLst>
                    <a:ext uri="{9D8B030D-6E8A-4147-A177-3AD203B41FA5}">
                      <a16:colId xmlns:a16="http://schemas.microsoft.com/office/drawing/2014/main" val="20001"/>
                    </a:ext>
                  </a:extLst>
                </a:gridCol>
                <a:gridCol w="482454">
                  <a:extLst>
                    <a:ext uri="{9D8B030D-6E8A-4147-A177-3AD203B41FA5}">
                      <a16:colId xmlns:a16="http://schemas.microsoft.com/office/drawing/2014/main" val="20002"/>
                    </a:ext>
                  </a:extLst>
                </a:gridCol>
                <a:gridCol w="2993133">
                  <a:extLst>
                    <a:ext uri="{9D8B030D-6E8A-4147-A177-3AD203B41FA5}">
                      <a16:colId xmlns:a16="http://schemas.microsoft.com/office/drawing/2014/main" val="20003"/>
                    </a:ext>
                  </a:extLst>
                </a:gridCol>
                <a:gridCol w="1252939">
                  <a:extLst>
                    <a:ext uri="{9D8B030D-6E8A-4147-A177-3AD203B41FA5}">
                      <a16:colId xmlns:a16="http://schemas.microsoft.com/office/drawing/2014/main" val="20004"/>
                    </a:ext>
                  </a:extLst>
                </a:gridCol>
                <a:gridCol w="1392154">
                  <a:extLst>
                    <a:ext uri="{9D8B030D-6E8A-4147-A177-3AD203B41FA5}">
                      <a16:colId xmlns:a16="http://schemas.microsoft.com/office/drawing/2014/main" val="20005"/>
                    </a:ext>
                  </a:extLst>
                </a:gridCol>
              </a:tblGrid>
              <a:tr h="565393">
                <a:tc>
                  <a:txBody>
                    <a:bodyPr/>
                    <a:lstStyle/>
                    <a:p>
                      <a:pPr algn="ctr">
                        <a:lnSpc>
                          <a:spcPts val="1200"/>
                        </a:lnSpc>
                        <a:spcBef>
                          <a:spcPts val="200"/>
                        </a:spcBef>
                        <a:spcAft>
                          <a:spcPts val="200"/>
                        </a:spcAft>
                      </a:pPr>
                      <a:r>
                        <a:rPr lang="en-US" sz="1800" b="1" dirty="0">
                          <a:effectLst/>
                        </a:rPr>
                        <a:t> </a:t>
                      </a:r>
                      <a:endParaRPr lang="en-IN" sz="1800" b="1" dirty="0">
                        <a:effectLst/>
                        <a:latin typeface="Calibri"/>
                        <a:ea typeface="Calibri"/>
                        <a:cs typeface="Times New Roman"/>
                      </a:endParaRPr>
                    </a:p>
                  </a:txBody>
                  <a:tcPr marL="68580" marR="68580" marT="0" marB="0"/>
                </a:tc>
                <a:tc>
                  <a:txBody>
                    <a:bodyPr/>
                    <a:lstStyle/>
                    <a:p>
                      <a:pPr algn="l">
                        <a:lnSpc>
                          <a:spcPts val="1200"/>
                        </a:lnSpc>
                        <a:spcBef>
                          <a:spcPts val="200"/>
                        </a:spcBef>
                        <a:spcAft>
                          <a:spcPts val="200"/>
                        </a:spcAft>
                      </a:pPr>
                      <a:r>
                        <a:rPr lang="en-US" sz="1800" b="1" dirty="0" smtClean="0">
                          <a:solidFill>
                            <a:srgbClr val="0000FF"/>
                          </a:solidFill>
                          <a:effectLst/>
                        </a:rPr>
                        <a:t>Physical </a:t>
                      </a:r>
                    </a:p>
                    <a:p>
                      <a:pPr algn="l">
                        <a:lnSpc>
                          <a:spcPts val="1200"/>
                        </a:lnSpc>
                        <a:spcBef>
                          <a:spcPts val="200"/>
                        </a:spcBef>
                        <a:spcAft>
                          <a:spcPts val="200"/>
                        </a:spcAft>
                      </a:pPr>
                      <a:r>
                        <a:rPr lang="en-US" sz="1800" b="1" dirty="0" smtClean="0">
                          <a:solidFill>
                            <a:srgbClr val="0000FF"/>
                          </a:solidFill>
                          <a:effectLst/>
                        </a:rPr>
                        <a:t>quantity</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l">
                        <a:lnSpc>
                          <a:spcPts val="1200"/>
                        </a:lnSpc>
                        <a:spcBef>
                          <a:spcPts val="200"/>
                        </a:spcBef>
                        <a:spcAft>
                          <a:spcPts val="200"/>
                        </a:spcAft>
                      </a:pPr>
                      <a:endParaRPr lang="en-US" sz="1800" b="1" dirty="0" smtClean="0">
                        <a:solidFill>
                          <a:srgbClr val="0000FF"/>
                        </a:solidFill>
                        <a:effectLst/>
                      </a:endParaRPr>
                    </a:p>
                    <a:p>
                      <a:pPr algn="l">
                        <a:lnSpc>
                          <a:spcPts val="1200"/>
                        </a:lnSpc>
                        <a:spcBef>
                          <a:spcPts val="200"/>
                        </a:spcBef>
                        <a:spcAft>
                          <a:spcPts val="200"/>
                        </a:spcAft>
                      </a:pPr>
                      <a:r>
                        <a:rPr lang="en-US" sz="1100" b="1" dirty="0" smtClean="0">
                          <a:solidFill>
                            <a:srgbClr val="0000FF"/>
                          </a:solidFill>
                          <a:effectLst/>
                        </a:rPr>
                        <a:t>Symbol</a:t>
                      </a:r>
                      <a:endParaRPr lang="en-IN" sz="1100" b="1" dirty="0">
                        <a:solidFill>
                          <a:srgbClr val="0000FF"/>
                        </a:solidFill>
                        <a:effectLst/>
                        <a:latin typeface="Calibri"/>
                        <a:ea typeface="Calibri"/>
                        <a:cs typeface="Times New Roman"/>
                      </a:endParaRPr>
                    </a:p>
                  </a:txBody>
                  <a:tcPr marL="68580" marR="68580" marT="0" marB="0"/>
                </a:tc>
                <a:tc>
                  <a:txBody>
                    <a:bodyPr/>
                    <a:lstStyle/>
                    <a:p>
                      <a:pPr algn="l">
                        <a:lnSpc>
                          <a:spcPts val="1200"/>
                        </a:lnSpc>
                        <a:spcBef>
                          <a:spcPts val="200"/>
                        </a:spcBef>
                        <a:spcAft>
                          <a:spcPts val="200"/>
                        </a:spcAft>
                      </a:pPr>
                      <a:r>
                        <a:rPr lang="en-US" sz="1800" b="1" dirty="0">
                          <a:solidFill>
                            <a:srgbClr val="0000FF"/>
                          </a:solidFill>
                          <a:effectLst/>
                        </a:rPr>
                        <a:t>Formula</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l">
                        <a:lnSpc>
                          <a:spcPts val="1200"/>
                        </a:lnSpc>
                        <a:spcBef>
                          <a:spcPts val="200"/>
                        </a:spcBef>
                        <a:spcAft>
                          <a:spcPts val="200"/>
                        </a:spcAft>
                      </a:pPr>
                      <a:r>
                        <a:rPr lang="en-US" sz="1400" b="1" dirty="0" smtClean="0">
                          <a:solidFill>
                            <a:srgbClr val="0000FF"/>
                          </a:solidFill>
                          <a:effectLst/>
                        </a:rPr>
                        <a:t>Dimensional formula</a:t>
                      </a:r>
                      <a:endParaRPr lang="en-IN" sz="1400" b="1" dirty="0">
                        <a:solidFill>
                          <a:srgbClr val="0000FF"/>
                        </a:solidFill>
                        <a:effectLst/>
                        <a:latin typeface="Calibri"/>
                        <a:ea typeface="Calibri"/>
                        <a:cs typeface="Times New Roman"/>
                      </a:endParaRPr>
                    </a:p>
                  </a:txBody>
                  <a:tcPr marL="68580" marR="68580" marT="0" marB="0" anchor="ctr"/>
                </a:tc>
                <a:tc>
                  <a:txBody>
                    <a:bodyPr/>
                    <a:lstStyle/>
                    <a:p>
                      <a:pPr algn="l">
                        <a:lnSpc>
                          <a:spcPts val="1200"/>
                        </a:lnSpc>
                        <a:spcBef>
                          <a:spcPts val="200"/>
                        </a:spcBef>
                        <a:spcAft>
                          <a:spcPts val="200"/>
                        </a:spcAft>
                      </a:pPr>
                      <a:endParaRPr lang="en-US" sz="1800" b="1" dirty="0" smtClean="0">
                        <a:solidFill>
                          <a:srgbClr val="0000FF"/>
                        </a:solidFill>
                        <a:effectLst/>
                      </a:endParaRPr>
                    </a:p>
                    <a:p>
                      <a:pPr algn="l">
                        <a:lnSpc>
                          <a:spcPts val="1200"/>
                        </a:lnSpc>
                        <a:spcBef>
                          <a:spcPts val="200"/>
                        </a:spcBef>
                        <a:spcAft>
                          <a:spcPts val="200"/>
                        </a:spcAft>
                      </a:pPr>
                      <a:r>
                        <a:rPr lang="en-US" sz="1800" b="1" dirty="0" smtClean="0">
                          <a:solidFill>
                            <a:srgbClr val="0000FF"/>
                          </a:solidFill>
                          <a:effectLst/>
                        </a:rPr>
                        <a:t>Unit</a:t>
                      </a:r>
                      <a:endParaRPr lang="en-IN" sz="1800" b="1" dirty="0">
                        <a:solidFill>
                          <a:srgbClr val="0000FF"/>
                        </a:solidFill>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05074">
                <a:tc rowSpan="11">
                  <a:txBody>
                    <a:bodyPr/>
                    <a:lstStyle/>
                    <a:p>
                      <a:pPr marL="71755" marR="71755" algn="ctr">
                        <a:lnSpc>
                          <a:spcPts val="1200"/>
                        </a:lnSpc>
                        <a:spcBef>
                          <a:spcPts val="200"/>
                        </a:spcBef>
                        <a:spcAft>
                          <a:spcPts val="200"/>
                        </a:spcAft>
                      </a:pPr>
                      <a:r>
                        <a:rPr lang="en-US" sz="2000" b="1" dirty="0">
                          <a:solidFill>
                            <a:srgbClr val="7030A0"/>
                          </a:solidFill>
                          <a:effectLst/>
                        </a:rPr>
                        <a:t>General</a:t>
                      </a:r>
                      <a:endParaRPr lang="en-IN" sz="2000" b="1" dirty="0">
                        <a:solidFill>
                          <a:srgbClr val="7030A0"/>
                        </a:solidFill>
                        <a:effectLst/>
                      </a:endParaRPr>
                    </a:p>
                    <a:p>
                      <a:pPr marL="71755" marR="71755" algn="ctr">
                        <a:lnSpc>
                          <a:spcPts val="1200"/>
                        </a:lnSpc>
                        <a:spcBef>
                          <a:spcPts val="200"/>
                        </a:spcBef>
                        <a:spcAft>
                          <a:spcPts val="200"/>
                        </a:spcAft>
                      </a:pPr>
                      <a:r>
                        <a:rPr lang="en-US" sz="1800" b="1" dirty="0">
                          <a:effectLst/>
                        </a:rPr>
                        <a:t> </a:t>
                      </a:r>
                      <a:endParaRPr lang="en-IN" sz="1800" b="1" dirty="0">
                        <a:effectLst/>
                        <a:latin typeface="Calibri"/>
                        <a:ea typeface="Calibri"/>
                        <a:cs typeface="Times New Roman"/>
                      </a:endParaRPr>
                    </a:p>
                  </a:txBody>
                  <a:tcPr marL="68580" marR="68580" marT="0" marB="0" vert="vert270"/>
                </a:tc>
                <a:tc>
                  <a:txBody>
                    <a:bodyPr/>
                    <a:lstStyle/>
                    <a:p>
                      <a:pPr>
                        <a:lnSpc>
                          <a:spcPts val="1200"/>
                        </a:lnSpc>
                        <a:spcBef>
                          <a:spcPts val="200"/>
                        </a:spcBef>
                        <a:spcAft>
                          <a:spcPts val="200"/>
                        </a:spcAft>
                      </a:pPr>
                      <a:r>
                        <a:rPr lang="en-US" sz="1800" b="1" dirty="0" smtClean="0">
                          <a:solidFill>
                            <a:srgbClr val="C00000"/>
                          </a:solidFill>
                          <a:effectLst/>
                        </a:rPr>
                        <a:t>Length</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L</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C00000"/>
                          </a:solidFill>
                          <a:effectLst/>
                        </a:rPr>
                        <a:t>Fundamental</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r>
                        <a:rPr lang="en-US" sz="1800" b="1" baseline="30000" dirty="0">
                          <a:solidFill>
                            <a:srgbClr val="C00000"/>
                          </a:solidFill>
                          <a:effectLst/>
                        </a:rPr>
                        <a:t>0</a:t>
                      </a:r>
                      <a:r>
                        <a:rPr lang="en-US" sz="1800" b="1" dirty="0">
                          <a:solidFill>
                            <a:srgbClr val="C00000"/>
                          </a:solidFill>
                          <a:effectLst/>
                        </a:rPr>
                        <a:t>LT</a:t>
                      </a:r>
                      <a:r>
                        <a:rPr lang="en-US" sz="1800" b="1" baseline="30000" dirty="0">
                          <a:solidFill>
                            <a:srgbClr val="C00000"/>
                          </a:solidFill>
                          <a:effectLst/>
                        </a:rPr>
                        <a:t>0</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505074">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Mass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M</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C00000"/>
                          </a:solidFill>
                          <a:effectLst/>
                        </a:rPr>
                        <a:t>Fundamental</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[ML</a:t>
                      </a:r>
                      <a:r>
                        <a:rPr lang="en-US" sz="1800" b="1" baseline="30000" dirty="0">
                          <a:solidFill>
                            <a:srgbClr val="C00000"/>
                          </a:solidFill>
                          <a:effectLst/>
                        </a:rPr>
                        <a:t>0</a:t>
                      </a:r>
                      <a:r>
                        <a:rPr lang="en-US" sz="1800" b="1" dirty="0">
                          <a:solidFill>
                            <a:srgbClr val="C00000"/>
                          </a:solidFill>
                          <a:effectLst/>
                        </a:rPr>
                        <a:t>T</a:t>
                      </a:r>
                      <a:r>
                        <a:rPr lang="en-US" sz="1800" b="1" baseline="30000" dirty="0">
                          <a:solidFill>
                            <a:srgbClr val="C00000"/>
                          </a:solidFill>
                          <a:effectLst/>
                        </a:rPr>
                        <a:t>0</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kg</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505074">
                <a:tc vMerge="1">
                  <a:txBody>
                    <a:bodyPr/>
                    <a:lstStyle/>
                    <a:p>
                      <a:endParaRPr lang="en-IN"/>
                    </a:p>
                  </a:txBody>
                  <a:tcPr/>
                </a:tc>
                <a:tc>
                  <a:txBody>
                    <a:bodyPr/>
                    <a:lstStyle/>
                    <a:p>
                      <a:pPr>
                        <a:lnSpc>
                          <a:spcPts val="1200"/>
                        </a:lnSpc>
                        <a:spcBef>
                          <a:spcPts val="200"/>
                        </a:spcBef>
                        <a:spcAft>
                          <a:spcPts val="200"/>
                        </a:spcAft>
                      </a:pPr>
                      <a:r>
                        <a:rPr lang="en-US" sz="1800" b="1">
                          <a:solidFill>
                            <a:srgbClr val="C00000"/>
                          </a:solidFill>
                          <a:effectLst/>
                        </a:rPr>
                        <a:t>Time</a:t>
                      </a:r>
                      <a:endParaRPr lang="en-IN" sz="1800" b="1">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T</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Fundamental</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0</a:t>
                      </a:r>
                      <a:r>
                        <a:rPr lang="en-US" sz="1800" b="1">
                          <a:solidFill>
                            <a:srgbClr val="C00000"/>
                          </a:solidFill>
                          <a:effectLst/>
                        </a:rPr>
                        <a:t>L</a:t>
                      </a:r>
                      <a:r>
                        <a:rPr lang="en-US" sz="1800" b="1" baseline="30000">
                          <a:solidFill>
                            <a:srgbClr val="C00000"/>
                          </a:solidFill>
                          <a:effectLst/>
                        </a:rPr>
                        <a:t>0</a:t>
                      </a:r>
                      <a:r>
                        <a:rPr lang="en-US" sz="1800" b="1">
                          <a:solidFill>
                            <a:srgbClr val="C00000"/>
                          </a:solidFill>
                          <a:effectLst/>
                        </a:rPr>
                        <a:t>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s</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r h="505074">
                <a:tc vMerge="1">
                  <a:txBody>
                    <a:bodyPr/>
                    <a:lstStyle/>
                    <a:p>
                      <a:endParaRPr lang="en-IN"/>
                    </a:p>
                  </a:txBody>
                  <a:tcPr/>
                </a:tc>
                <a:tc>
                  <a:txBody>
                    <a:bodyPr/>
                    <a:lstStyle/>
                    <a:p>
                      <a:pPr>
                        <a:lnSpc>
                          <a:spcPts val="1200"/>
                        </a:lnSpc>
                        <a:spcBef>
                          <a:spcPts val="200"/>
                        </a:spcBef>
                        <a:spcAft>
                          <a:spcPts val="200"/>
                        </a:spcAft>
                      </a:pPr>
                      <a:r>
                        <a:rPr lang="en-US" sz="1800" b="1">
                          <a:solidFill>
                            <a:srgbClr val="C00000"/>
                          </a:solidFill>
                          <a:effectLst/>
                        </a:rPr>
                        <a:t>Area </a:t>
                      </a:r>
                      <a:endParaRPr lang="en-IN" sz="1800" b="1">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A</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Length x breadth</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0</a:t>
                      </a:r>
                      <a:r>
                        <a:rPr lang="en-US" sz="1800" b="1">
                          <a:solidFill>
                            <a:srgbClr val="C00000"/>
                          </a:solidFill>
                          <a:effectLst/>
                        </a:rPr>
                        <a:t>L</a:t>
                      </a:r>
                      <a:r>
                        <a:rPr lang="en-US" sz="1800" b="1" baseline="30000">
                          <a:solidFill>
                            <a:srgbClr val="C00000"/>
                          </a:solidFill>
                          <a:effectLst/>
                        </a:rPr>
                        <a:t>2</a:t>
                      </a:r>
                      <a:r>
                        <a:rPr lang="en-US" sz="1800" b="1">
                          <a:solidFill>
                            <a:srgbClr val="C00000"/>
                          </a:solidFill>
                          <a:effectLst/>
                        </a:rPr>
                        <a:t>T</a:t>
                      </a:r>
                      <a:r>
                        <a:rPr lang="en-US" sz="1800" b="1" baseline="30000">
                          <a:solidFill>
                            <a:srgbClr val="C00000"/>
                          </a:solidFill>
                          <a:effectLst/>
                        </a:rPr>
                        <a:t>0</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smtClean="0">
                          <a:solidFill>
                            <a:srgbClr val="C00000"/>
                          </a:solidFill>
                          <a:effectLst/>
                        </a:rPr>
                        <a:t>m</a:t>
                      </a:r>
                      <a:r>
                        <a:rPr lang="en-US" sz="1800" b="1" baseline="30000" dirty="0" smtClean="0">
                          <a:solidFill>
                            <a:srgbClr val="C00000"/>
                          </a:solidFill>
                          <a:effectLst/>
                        </a:rPr>
                        <a:t>2</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4"/>
                  </a:ext>
                </a:extLst>
              </a:tr>
              <a:tr h="505074">
                <a:tc vMerge="1">
                  <a:txBody>
                    <a:bodyPr/>
                    <a:lstStyle/>
                    <a:p>
                      <a:endParaRPr lang="en-IN"/>
                    </a:p>
                  </a:txBody>
                  <a:tcPr/>
                </a:tc>
                <a:tc>
                  <a:txBody>
                    <a:bodyPr/>
                    <a:lstStyle/>
                    <a:p>
                      <a:pPr>
                        <a:lnSpc>
                          <a:spcPts val="1200"/>
                        </a:lnSpc>
                        <a:spcBef>
                          <a:spcPts val="200"/>
                        </a:spcBef>
                        <a:spcAft>
                          <a:spcPts val="200"/>
                        </a:spcAft>
                      </a:pPr>
                      <a:r>
                        <a:rPr lang="en-US" sz="1800" b="1">
                          <a:solidFill>
                            <a:srgbClr val="C00000"/>
                          </a:solidFill>
                          <a:effectLst/>
                        </a:rPr>
                        <a:t>Volume </a:t>
                      </a:r>
                      <a:endParaRPr lang="en-IN" sz="1800" b="1">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V</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Length x breadth x height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0</a:t>
                      </a:r>
                      <a:r>
                        <a:rPr lang="en-US" sz="1800" b="1">
                          <a:solidFill>
                            <a:srgbClr val="C00000"/>
                          </a:solidFill>
                          <a:effectLst/>
                        </a:rPr>
                        <a:t>L</a:t>
                      </a:r>
                      <a:r>
                        <a:rPr lang="en-US" sz="1800" b="1" baseline="30000">
                          <a:solidFill>
                            <a:srgbClr val="C00000"/>
                          </a:solidFill>
                          <a:effectLst/>
                        </a:rPr>
                        <a:t>3</a:t>
                      </a:r>
                      <a:r>
                        <a:rPr lang="en-US" sz="1800" b="1">
                          <a:solidFill>
                            <a:srgbClr val="C00000"/>
                          </a:solidFill>
                          <a:effectLst/>
                        </a:rPr>
                        <a:t>T</a:t>
                      </a:r>
                      <a:r>
                        <a:rPr lang="en-US" sz="1800" b="1" baseline="30000">
                          <a:solidFill>
                            <a:srgbClr val="C00000"/>
                          </a:solidFill>
                          <a:effectLst/>
                        </a:rPr>
                        <a:t>0</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r>
                        <a:rPr lang="en-US" sz="1800" b="1" baseline="30000" dirty="0">
                          <a:solidFill>
                            <a:srgbClr val="C00000"/>
                          </a:solidFill>
                          <a:effectLst/>
                        </a:rPr>
                        <a:t>3</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5"/>
                  </a:ext>
                </a:extLst>
              </a:tr>
              <a:tr h="505074">
                <a:tc vMerge="1">
                  <a:txBody>
                    <a:bodyPr/>
                    <a:lstStyle/>
                    <a:p>
                      <a:endParaRPr lang="en-IN"/>
                    </a:p>
                  </a:txBody>
                  <a:tcPr/>
                </a:tc>
                <a:tc>
                  <a:txBody>
                    <a:bodyPr/>
                    <a:lstStyle/>
                    <a:p>
                      <a:pPr>
                        <a:lnSpc>
                          <a:spcPts val="1200"/>
                        </a:lnSpc>
                        <a:spcBef>
                          <a:spcPts val="200"/>
                        </a:spcBef>
                        <a:spcAft>
                          <a:spcPts val="200"/>
                        </a:spcAft>
                      </a:pPr>
                      <a:r>
                        <a:rPr lang="en-US" sz="1800" b="1">
                          <a:solidFill>
                            <a:srgbClr val="C00000"/>
                          </a:solidFill>
                          <a:effectLst/>
                        </a:rPr>
                        <a:t>Linear density </a:t>
                      </a:r>
                      <a:endParaRPr lang="en-IN" sz="1800" b="1">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C00000"/>
                          </a:solidFill>
                          <a:effectLst/>
                        </a:rPr>
                        <a:t> </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Mass / length</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[ML</a:t>
                      </a:r>
                      <a:r>
                        <a:rPr lang="en-US" sz="1800" b="1" baseline="30000">
                          <a:solidFill>
                            <a:srgbClr val="C00000"/>
                          </a:solidFill>
                          <a:effectLst/>
                        </a:rPr>
                        <a:t>–1</a:t>
                      </a:r>
                      <a:r>
                        <a:rPr lang="en-US" sz="1800" b="1">
                          <a:solidFill>
                            <a:srgbClr val="C00000"/>
                          </a:solidFill>
                          <a:effectLst/>
                        </a:rPr>
                        <a:t>T</a:t>
                      </a:r>
                      <a:r>
                        <a:rPr lang="en-US" sz="1800" b="1" baseline="30000">
                          <a:solidFill>
                            <a:srgbClr val="C00000"/>
                          </a:solidFill>
                          <a:effectLst/>
                        </a:rPr>
                        <a:t>0</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kg m</a:t>
                      </a:r>
                      <a:r>
                        <a:rPr lang="en-US" sz="1800" b="1" baseline="30000" dirty="0">
                          <a:solidFill>
                            <a:srgbClr val="C00000"/>
                          </a:solidFill>
                          <a:effectLst/>
                        </a:rPr>
                        <a:t>–1</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6"/>
                  </a:ext>
                </a:extLst>
              </a:tr>
              <a:tr h="505074">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Mass Density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l-GR" sz="1800" b="1" dirty="0" smtClean="0">
                          <a:solidFill>
                            <a:srgbClr val="C00000"/>
                          </a:solidFill>
                          <a:effectLst/>
                        </a:rPr>
                        <a:t>ρ</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Mass / volume</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[ML</a:t>
                      </a:r>
                      <a:r>
                        <a:rPr lang="en-US" sz="1800" b="1" baseline="30000">
                          <a:solidFill>
                            <a:srgbClr val="C00000"/>
                          </a:solidFill>
                          <a:effectLst/>
                        </a:rPr>
                        <a:t>–3</a:t>
                      </a:r>
                      <a:r>
                        <a:rPr lang="en-US" sz="1800" b="1">
                          <a:solidFill>
                            <a:srgbClr val="C00000"/>
                          </a:solidFill>
                          <a:effectLst/>
                        </a:rPr>
                        <a:t>T</a:t>
                      </a:r>
                      <a:r>
                        <a:rPr lang="en-US" sz="1800" b="1" baseline="30000">
                          <a:solidFill>
                            <a:srgbClr val="C00000"/>
                          </a:solidFill>
                          <a:effectLst/>
                        </a:rPr>
                        <a:t>0</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smtClean="0">
                          <a:solidFill>
                            <a:srgbClr val="C00000"/>
                          </a:solidFill>
                          <a:effectLst/>
                        </a:rPr>
                        <a:t>Kg m</a:t>
                      </a:r>
                      <a:r>
                        <a:rPr lang="en-US" sz="1800" b="1" baseline="30000" dirty="0" smtClean="0">
                          <a:solidFill>
                            <a:srgbClr val="C00000"/>
                          </a:solidFill>
                          <a:effectLst/>
                        </a:rPr>
                        <a:t>–3</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7"/>
                  </a:ext>
                </a:extLst>
              </a:tr>
              <a:tr h="575870">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Specific gravity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or</a:t>
                      </a:r>
                      <a:endParaRPr lang="en-IN" sz="1800" b="1" dirty="0">
                        <a:solidFill>
                          <a:srgbClr val="C00000"/>
                        </a:solidFill>
                        <a:effectLst/>
                      </a:endParaRPr>
                    </a:p>
                    <a:p>
                      <a:pPr>
                        <a:lnSpc>
                          <a:spcPts val="1200"/>
                        </a:lnSpc>
                        <a:spcBef>
                          <a:spcPts val="200"/>
                        </a:spcBef>
                        <a:spcAft>
                          <a:spcPts val="200"/>
                        </a:spcAft>
                      </a:pPr>
                      <a:r>
                        <a:rPr lang="en-US" sz="1800" b="1" dirty="0">
                          <a:solidFill>
                            <a:srgbClr val="C00000"/>
                          </a:solidFill>
                          <a:effectLst/>
                        </a:rPr>
                        <a:t>relative density</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RD</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C00000"/>
                          </a:solidFill>
                          <a:effectLst/>
                        </a:rPr>
                        <a:t>Density of the substance /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density </a:t>
                      </a:r>
                      <a:r>
                        <a:rPr lang="en-US" sz="1800" b="1" dirty="0">
                          <a:solidFill>
                            <a:srgbClr val="C00000"/>
                          </a:solidFill>
                          <a:effectLst/>
                        </a:rPr>
                        <a:t>of water</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o</a:t>
                      </a:r>
                      <a:r>
                        <a:rPr lang="en-US" sz="1800" b="1">
                          <a:solidFill>
                            <a:srgbClr val="C00000"/>
                          </a:solidFill>
                          <a:effectLst/>
                        </a:rPr>
                        <a:t>L</a:t>
                      </a:r>
                      <a:r>
                        <a:rPr lang="en-US" sz="1800" b="1" baseline="30000">
                          <a:solidFill>
                            <a:srgbClr val="C00000"/>
                          </a:solidFill>
                          <a:effectLst/>
                        </a:rPr>
                        <a:t>o</a:t>
                      </a:r>
                      <a:r>
                        <a:rPr lang="en-US" sz="1800" b="1">
                          <a:solidFill>
                            <a:srgbClr val="C00000"/>
                          </a:solidFill>
                          <a:effectLst/>
                        </a:rPr>
                        <a:t>T</a:t>
                      </a:r>
                      <a:r>
                        <a:rPr lang="en-US" sz="1800" b="1" baseline="30000">
                          <a:solidFill>
                            <a:srgbClr val="C00000"/>
                          </a:solidFill>
                          <a:effectLst/>
                        </a:rPr>
                        <a:t>o</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8"/>
                  </a:ext>
                </a:extLst>
              </a:tr>
              <a:tr h="505074">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Specific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volume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C00000"/>
                          </a:solidFill>
                          <a:effectLst/>
                        </a:rPr>
                        <a:t> </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1 / density</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–1</a:t>
                      </a:r>
                      <a:r>
                        <a:rPr lang="en-US" sz="1800" b="1">
                          <a:solidFill>
                            <a:srgbClr val="C00000"/>
                          </a:solidFill>
                          <a:effectLst/>
                        </a:rPr>
                        <a:t>L</a:t>
                      </a:r>
                      <a:r>
                        <a:rPr lang="en-US" sz="1800" b="1" baseline="30000">
                          <a:solidFill>
                            <a:srgbClr val="C00000"/>
                          </a:solidFill>
                          <a:effectLst/>
                        </a:rPr>
                        <a:t>3</a:t>
                      </a:r>
                      <a:r>
                        <a:rPr lang="en-US" sz="1800" b="1">
                          <a:solidFill>
                            <a:srgbClr val="C00000"/>
                          </a:solidFill>
                          <a:effectLst/>
                        </a:rPr>
                        <a:t>T</a:t>
                      </a:r>
                      <a:r>
                        <a:rPr lang="en-US" sz="1800" b="1" baseline="30000">
                          <a:solidFill>
                            <a:srgbClr val="C00000"/>
                          </a:solidFill>
                          <a:effectLst/>
                        </a:rPr>
                        <a:t>0</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kg</a:t>
                      </a:r>
                      <a:r>
                        <a:rPr lang="en-US" sz="1800" b="1" baseline="30000" dirty="0">
                          <a:solidFill>
                            <a:srgbClr val="C00000"/>
                          </a:solidFill>
                          <a:effectLst/>
                        </a:rPr>
                        <a:t>–1</a:t>
                      </a:r>
                      <a:r>
                        <a:rPr lang="en-US" sz="1800" b="1" dirty="0">
                          <a:solidFill>
                            <a:srgbClr val="C00000"/>
                          </a:solidFill>
                          <a:effectLst/>
                        </a:rPr>
                        <a:t> m</a:t>
                      </a:r>
                      <a:r>
                        <a:rPr lang="en-US" sz="1800" b="1" baseline="30000" dirty="0">
                          <a:solidFill>
                            <a:srgbClr val="C00000"/>
                          </a:solidFill>
                          <a:effectLst/>
                        </a:rPr>
                        <a:t>3</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9"/>
                  </a:ext>
                </a:extLst>
              </a:tr>
              <a:tr h="505074">
                <a:tc vMerge="1">
                  <a:txBody>
                    <a:bodyPr/>
                    <a:lstStyle/>
                    <a:p>
                      <a:endParaRPr lang="en-IN"/>
                    </a:p>
                  </a:txBody>
                  <a:tcPr/>
                </a:tc>
                <a:tc>
                  <a:txBody>
                    <a:bodyPr/>
                    <a:lstStyle/>
                    <a:p>
                      <a:pPr>
                        <a:lnSpc>
                          <a:spcPts val="1200"/>
                        </a:lnSpc>
                        <a:spcBef>
                          <a:spcPts val="200"/>
                        </a:spcBef>
                        <a:spcAft>
                          <a:spcPts val="200"/>
                        </a:spcAft>
                      </a:pPr>
                      <a:r>
                        <a:rPr lang="en-US" sz="1800" b="1">
                          <a:solidFill>
                            <a:srgbClr val="C00000"/>
                          </a:solidFill>
                          <a:effectLst/>
                        </a:rPr>
                        <a:t>Time period</a:t>
                      </a:r>
                      <a:endParaRPr lang="en-IN" sz="1800" b="1">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a:solidFill>
                            <a:srgbClr val="C00000"/>
                          </a:solidFill>
                          <a:effectLst/>
                        </a:rPr>
                        <a:t>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Time taken for 1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oscillation</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0</a:t>
                      </a:r>
                      <a:r>
                        <a:rPr lang="en-US" sz="1800" b="1">
                          <a:solidFill>
                            <a:srgbClr val="C00000"/>
                          </a:solidFill>
                          <a:effectLst/>
                        </a:rPr>
                        <a:t>L</a:t>
                      </a:r>
                      <a:r>
                        <a:rPr lang="en-US" sz="1800" b="1" baseline="30000">
                          <a:solidFill>
                            <a:srgbClr val="C00000"/>
                          </a:solidFill>
                          <a:effectLst/>
                        </a:rPr>
                        <a:t>0</a:t>
                      </a:r>
                      <a:r>
                        <a:rPr lang="en-US" sz="1800" b="1">
                          <a:solidFill>
                            <a:srgbClr val="C00000"/>
                          </a:solidFill>
                          <a:effectLst/>
                        </a:rPr>
                        <a:t>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s</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10"/>
                  </a:ext>
                </a:extLst>
              </a:tr>
              <a:tr h="505074">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Frequency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C00000"/>
                        </a:solidFill>
                        <a:effectLst/>
                      </a:endParaRPr>
                    </a:p>
                    <a:p>
                      <a:pPr algn="ctr">
                        <a:lnSpc>
                          <a:spcPts val="1200"/>
                        </a:lnSpc>
                        <a:spcBef>
                          <a:spcPts val="200"/>
                        </a:spcBef>
                        <a:spcAft>
                          <a:spcPts val="200"/>
                        </a:spcAft>
                      </a:pPr>
                      <a:r>
                        <a:rPr lang="en-US" sz="1800" b="1" dirty="0" smtClean="0">
                          <a:solidFill>
                            <a:srgbClr val="C00000"/>
                          </a:solidFill>
                          <a:effectLst/>
                        </a:rPr>
                        <a:t>ν</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C00000"/>
                          </a:solidFill>
                          <a:effectLst/>
                        </a:rPr>
                        <a:t>1 / time period</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r>
                        <a:rPr lang="en-US" sz="1800" b="1" baseline="30000" dirty="0">
                          <a:solidFill>
                            <a:srgbClr val="C00000"/>
                          </a:solidFill>
                          <a:effectLst/>
                        </a:rPr>
                        <a:t>0</a:t>
                      </a:r>
                      <a:r>
                        <a:rPr lang="en-US" sz="1800" b="1" dirty="0">
                          <a:solidFill>
                            <a:srgbClr val="C00000"/>
                          </a:solidFill>
                          <a:effectLst/>
                        </a:rPr>
                        <a:t>L</a:t>
                      </a:r>
                      <a:r>
                        <a:rPr lang="en-US" sz="1800" b="1" baseline="30000" dirty="0">
                          <a:solidFill>
                            <a:srgbClr val="C00000"/>
                          </a:solidFill>
                          <a:effectLst/>
                        </a:rPr>
                        <a:t>0</a:t>
                      </a:r>
                      <a:r>
                        <a:rPr lang="en-US" sz="1800" b="1" dirty="0">
                          <a:solidFill>
                            <a:srgbClr val="C00000"/>
                          </a:solidFill>
                          <a:effectLst/>
                        </a:rPr>
                        <a:t>T</a:t>
                      </a:r>
                      <a:r>
                        <a:rPr lang="en-US" sz="1800" b="1" baseline="30000" dirty="0">
                          <a:solidFill>
                            <a:srgbClr val="C00000"/>
                          </a:solidFill>
                          <a:effectLst/>
                        </a:rPr>
                        <a:t>–1</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Hz or s</a:t>
                      </a:r>
                      <a:r>
                        <a:rPr lang="en-US" sz="1800" b="1" baseline="30000" dirty="0">
                          <a:solidFill>
                            <a:srgbClr val="C00000"/>
                          </a:solidFill>
                          <a:effectLst/>
                        </a:rPr>
                        <a:t>-1</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11"/>
                  </a:ext>
                </a:extLst>
              </a:tr>
            </a:tbl>
          </a:graphicData>
        </a:graphic>
      </p:graphicFrame>
      <p:sp>
        <p:nvSpPr>
          <p:cNvPr id="65540" name="Rectangle 1">
            <a:hlinkClick r:id="rId2" action="ppaction://hlinksldjump"/>
          </p:cNvPr>
          <p:cNvSpPr>
            <a:spLocks noChangeArrowheads="1"/>
          </p:cNvSpPr>
          <p:nvPr/>
        </p:nvSpPr>
        <p:spPr bwMode="auto">
          <a:xfrm>
            <a:off x="8543925" y="6597651"/>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firstslide"/>
              </a:rPr>
              <a:t>Home</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5541" name="Rectangle 10"/>
          <p:cNvSpPr>
            <a:spLocks noChangeArrowheads="1"/>
          </p:cNvSpPr>
          <p:nvPr/>
        </p:nvSpPr>
        <p:spPr bwMode="auto">
          <a:xfrm>
            <a:off x="9088439" y="6607176"/>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nextslide"/>
              </a:rPr>
              <a:t>Next</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5542" name="Rectangle 10"/>
          <p:cNvSpPr>
            <a:spLocks noChangeArrowheads="1"/>
          </p:cNvSpPr>
          <p:nvPr/>
        </p:nvSpPr>
        <p:spPr bwMode="auto">
          <a:xfrm>
            <a:off x="9540875" y="6608764"/>
            <a:ext cx="8334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previousslide"/>
              </a:rPr>
              <a:t>Previous</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9595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03512" y="332656"/>
          <a:ext cx="8784977" cy="6044636"/>
        </p:xfrm>
        <a:graphic>
          <a:graphicData uri="http://schemas.openxmlformats.org/drawingml/2006/table">
            <a:tbl>
              <a:tblPr>
                <a:tableStyleId>{21E4AEA4-8DFA-4A89-87EB-49C32662AFE0}</a:tableStyleId>
              </a:tblPr>
              <a:tblGrid>
                <a:gridCol w="292833">
                  <a:extLst>
                    <a:ext uri="{9D8B030D-6E8A-4147-A177-3AD203B41FA5}">
                      <a16:colId xmlns:a16="http://schemas.microsoft.com/office/drawing/2014/main" val="20000"/>
                    </a:ext>
                  </a:extLst>
                </a:gridCol>
                <a:gridCol w="2855118">
                  <a:extLst>
                    <a:ext uri="{9D8B030D-6E8A-4147-A177-3AD203B41FA5}">
                      <a16:colId xmlns:a16="http://schemas.microsoft.com/office/drawing/2014/main" val="20001"/>
                    </a:ext>
                  </a:extLst>
                </a:gridCol>
                <a:gridCol w="658873">
                  <a:extLst>
                    <a:ext uri="{9D8B030D-6E8A-4147-A177-3AD203B41FA5}">
                      <a16:colId xmlns:a16="http://schemas.microsoft.com/office/drawing/2014/main" val="20002"/>
                    </a:ext>
                  </a:extLst>
                </a:gridCol>
                <a:gridCol w="2415869">
                  <a:extLst>
                    <a:ext uri="{9D8B030D-6E8A-4147-A177-3AD203B41FA5}">
                      <a16:colId xmlns:a16="http://schemas.microsoft.com/office/drawing/2014/main" val="20003"/>
                    </a:ext>
                  </a:extLst>
                </a:gridCol>
                <a:gridCol w="1171330">
                  <a:extLst>
                    <a:ext uri="{9D8B030D-6E8A-4147-A177-3AD203B41FA5}">
                      <a16:colId xmlns:a16="http://schemas.microsoft.com/office/drawing/2014/main" val="20004"/>
                    </a:ext>
                  </a:extLst>
                </a:gridCol>
                <a:gridCol w="1390954">
                  <a:extLst>
                    <a:ext uri="{9D8B030D-6E8A-4147-A177-3AD203B41FA5}">
                      <a16:colId xmlns:a16="http://schemas.microsoft.com/office/drawing/2014/main" val="20005"/>
                    </a:ext>
                  </a:extLst>
                </a:gridCol>
              </a:tblGrid>
              <a:tr h="602656">
                <a:tc rowSpan="9">
                  <a:txBody>
                    <a:bodyPr/>
                    <a:lstStyle/>
                    <a:p>
                      <a:pPr marL="71755" marR="71755" algn="ctr">
                        <a:lnSpc>
                          <a:spcPts val="1200"/>
                        </a:lnSpc>
                        <a:spcBef>
                          <a:spcPts val="200"/>
                        </a:spcBef>
                        <a:spcAft>
                          <a:spcPts val="200"/>
                        </a:spcAft>
                      </a:pPr>
                      <a:r>
                        <a:rPr lang="en-US" sz="2000" b="1" dirty="0">
                          <a:solidFill>
                            <a:srgbClr val="C00000"/>
                          </a:solidFill>
                          <a:effectLst/>
                        </a:rPr>
                        <a:t>Mechanics</a:t>
                      </a:r>
                      <a:endParaRPr lang="en-IN" sz="2000" b="1" dirty="0">
                        <a:solidFill>
                          <a:srgbClr val="C00000"/>
                        </a:solidFill>
                        <a:effectLst/>
                        <a:latin typeface="Calibri"/>
                        <a:ea typeface="Calibri"/>
                        <a:cs typeface="Times New Roman"/>
                      </a:endParaRPr>
                    </a:p>
                  </a:txBody>
                  <a:tcPr marL="67024" marR="67024" marT="0" marB="0" vert="vert270"/>
                </a:tc>
                <a:tc>
                  <a:txBody>
                    <a:bodyPr/>
                    <a:lstStyle/>
                    <a:p>
                      <a:pPr>
                        <a:lnSpc>
                          <a:spcPts val="1200"/>
                        </a:lnSpc>
                        <a:spcBef>
                          <a:spcPts val="200"/>
                        </a:spcBef>
                        <a:spcAft>
                          <a:spcPts val="200"/>
                        </a:spcAft>
                      </a:pPr>
                      <a:r>
                        <a:rPr lang="en-US" sz="1800" b="1" dirty="0" smtClean="0">
                          <a:solidFill>
                            <a:srgbClr val="0000FF"/>
                          </a:solidFill>
                          <a:effectLst/>
                        </a:rPr>
                        <a:t>Distance, displacement, </a:t>
                      </a:r>
                    </a:p>
                    <a:p>
                      <a:pPr>
                        <a:lnSpc>
                          <a:spcPts val="1200"/>
                        </a:lnSpc>
                        <a:spcBef>
                          <a:spcPts val="200"/>
                        </a:spcBef>
                        <a:spcAft>
                          <a:spcPts val="200"/>
                        </a:spcAft>
                      </a:pPr>
                      <a:r>
                        <a:rPr lang="en-US" sz="1800" b="1" dirty="0" smtClean="0">
                          <a:solidFill>
                            <a:srgbClr val="0000FF"/>
                          </a:solidFill>
                          <a:effectLst/>
                        </a:rPr>
                        <a:t>wavelength, focal length</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r>
                        <a:rPr lang="en-US" sz="1800" b="1" dirty="0">
                          <a:solidFill>
                            <a:srgbClr val="0000FF"/>
                          </a:solidFill>
                          <a:effectLst/>
                        </a:rPr>
                        <a:t>s, λ, </a:t>
                      </a: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f</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 </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[M</a:t>
                      </a:r>
                      <a:r>
                        <a:rPr lang="en-US" sz="1800" b="1" baseline="30000">
                          <a:solidFill>
                            <a:srgbClr val="0000FF"/>
                          </a:solidFill>
                          <a:effectLst/>
                        </a:rPr>
                        <a:t>0</a:t>
                      </a:r>
                      <a:r>
                        <a:rPr lang="en-US" sz="1800" b="1">
                          <a:solidFill>
                            <a:srgbClr val="0000FF"/>
                          </a:solidFill>
                          <a:effectLst/>
                        </a:rPr>
                        <a:t>LT</a:t>
                      </a:r>
                      <a:r>
                        <a:rPr lang="en-US" sz="1800" b="1" baseline="30000">
                          <a:solidFill>
                            <a:srgbClr val="0000FF"/>
                          </a:solidFill>
                          <a:effectLst/>
                        </a:rPr>
                        <a:t>0</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0"/>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Speed </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v</a:t>
                      </a:r>
                      <a:endParaRPr lang="en-IN" sz="1800" b="1" dirty="0">
                        <a:solidFill>
                          <a:srgbClr val="0000FF"/>
                        </a:solidFill>
                        <a:effectLst/>
                        <a:latin typeface="Calibri"/>
                        <a:ea typeface="Calibri"/>
                        <a:cs typeface="Times New Roman"/>
                      </a:endParaRPr>
                    </a:p>
                  </a:txBody>
                  <a:tcPr marL="67024" marR="67024" marT="0" marB="0"/>
                </a:tc>
                <a:tc>
                  <a:txBody>
                    <a:bodyPr/>
                    <a:lstStyle/>
                    <a:p>
                      <a:pPr>
                        <a:lnSpc>
                          <a:spcPts val="1200"/>
                        </a:lnSpc>
                        <a:spcBef>
                          <a:spcPts val="200"/>
                        </a:spcBef>
                        <a:spcAft>
                          <a:spcPts val="200"/>
                        </a:spcAft>
                      </a:pPr>
                      <a:r>
                        <a:rPr lang="en-US" sz="1800" b="1" dirty="0">
                          <a:solidFill>
                            <a:srgbClr val="0000FF"/>
                          </a:solidFill>
                          <a:effectLst/>
                        </a:rPr>
                        <a:t>Distance /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time</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a:t>
                      </a:r>
                      <a:r>
                        <a:rPr lang="en-US" sz="1800" b="1" baseline="30000" dirty="0">
                          <a:solidFill>
                            <a:srgbClr val="0000FF"/>
                          </a:solidFill>
                          <a:effectLst/>
                        </a:rPr>
                        <a:t>0</a:t>
                      </a:r>
                      <a:r>
                        <a:rPr lang="en-US" sz="1800" b="1" dirty="0">
                          <a:solidFill>
                            <a:srgbClr val="0000FF"/>
                          </a:solidFill>
                          <a:effectLst/>
                        </a:rPr>
                        <a:t>LT</a:t>
                      </a:r>
                      <a:r>
                        <a:rPr lang="en-US" sz="1800" b="1" baseline="30000" dirty="0">
                          <a:solidFill>
                            <a:srgbClr val="0000FF"/>
                          </a:solidFill>
                          <a:effectLst/>
                        </a:rPr>
                        <a:t>–1</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 s</a:t>
                      </a:r>
                      <a:r>
                        <a:rPr lang="en-US" sz="1800" b="1" baseline="30000" dirty="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1"/>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Velocity </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v</a:t>
                      </a:r>
                      <a:endParaRPr lang="en-IN" sz="1800" b="1" dirty="0">
                        <a:solidFill>
                          <a:srgbClr val="0000FF"/>
                        </a:solidFill>
                        <a:effectLst/>
                        <a:latin typeface="Calibri"/>
                        <a:ea typeface="Calibri"/>
                        <a:cs typeface="Times New Roman"/>
                      </a:endParaRPr>
                    </a:p>
                  </a:txBody>
                  <a:tcPr marL="67024" marR="67024" marT="0" marB="0"/>
                </a:tc>
                <a:tc>
                  <a:txBody>
                    <a:bodyPr/>
                    <a:lstStyle/>
                    <a:p>
                      <a:pPr>
                        <a:lnSpc>
                          <a:spcPts val="1200"/>
                        </a:lnSpc>
                        <a:spcBef>
                          <a:spcPts val="200"/>
                        </a:spcBef>
                        <a:spcAft>
                          <a:spcPts val="200"/>
                        </a:spcAft>
                      </a:pPr>
                      <a:r>
                        <a:rPr lang="en-US" sz="1800" b="1">
                          <a:solidFill>
                            <a:srgbClr val="0000FF"/>
                          </a:solidFill>
                          <a:effectLst/>
                        </a:rPr>
                        <a:t>Displacement / time</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[M</a:t>
                      </a:r>
                      <a:r>
                        <a:rPr lang="en-US" sz="1800" b="1" baseline="30000">
                          <a:solidFill>
                            <a:srgbClr val="0000FF"/>
                          </a:solidFill>
                          <a:effectLst/>
                        </a:rPr>
                        <a:t>0</a:t>
                      </a:r>
                      <a:r>
                        <a:rPr lang="en-US" sz="1800" b="1">
                          <a:solidFill>
                            <a:srgbClr val="0000FF"/>
                          </a:solidFill>
                          <a:effectLst/>
                        </a:rPr>
                        <a:t>LT</a:t>
                      </a:r>
                      <a:r>
                        <a:rPr lang="en-US" sz="1800" b="1" baseline="30000">
                          <a:solidFill>
                            <a:srgbClr val="0000FF"/>
                          </a:solidFill>
                          <a:effectLst/>
                        </a:rPr>
                        <a:t>–1</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smtClean="0">
                          <a:solidFill>
                            <a:srgbClr val="0000FF"/>
                          </a:solidFill>
                          <a:effectLst/>
                        </a:rPr>
                        <a:t>m s</a:t>
                      </a:r>
                      <a:r>
                        <a:rPr lang="en-US" sz="1800" b="1" baseline="30000" dirty="0" smtClean="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2"/>
                  </a:ext>
                </a:extLst>
              </a:tr>
              <a:tr h="602656">
                <a:tc vMerge="1">
                  <a:txBody>
                    <a:bodyPr/>
                    <a:lstStyle/>
                    <a:p>
                      <a:endParaRPr lang="en-IN"/>
                    </a:p>
                  </a:txBody>
                  <a:tcPr/>
                </a:tc>
                <a:tc>
                  <a:txBody>
                    <a:bodyPr/>
                    <a:lstStyle/>
                    <a:p>
                      <a:pPr>
                        <a:lnSpc>
                          <a:spcPts val="1200"/>
                        </a:lnSpc>
                        <a:spcBef>
                          <a:spcPts val="200"/>
                        </a:spcBef>
                        <a:spcAft>
                          <a:spcPts val="200"/>
                        </a:spcAft>
                      </a:pPr>
                      <a:r>
                        <a:rPr lang="en-US" sz="1800" b="1">
                          <a:solidFill>
                            <a:srgbClr val="0000FF"/>
                          </a:solidFill>
                          <a:effectLst/>
                        </a:rPr>
                        <a:t>Velocity gradient </a:t>
                      </a:r>
                      <a:endParaRPr lang="en-IN" sz="1800" b="1">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r>
                        <a:rPr lang="en-US" sz="1800" b="1" dirty="0">
                          <a:solidFill>
                            <a:srgbClr val="0000FF"/>
                          </a:solidFill>
                          <a:effectLst/>
                        </a:rPr>
                        <a:t> </a:t>
                      </a:r>
                      <a:endParaRPr lang="en-IN" sz="1800" b="1" dirty="0">
                        <a:solidFill>
                          <a:srgbClr val="0000FF"/>
                        </a:solidFill>
                        <a:effectLst/>
                        <a:latin typeface="Calibri"/>
                        <a:ea typeface="Calibri"/>
                        <a:cs typeface="Times New Roman"/>
                      </a:endParaRPr>
                    </a:p>
                  </a:txBody>
                  <a:tcPr marL="67024" marR="67024" marT="0" marB="0"/>
                </a:tc>
                <a:tc>
                  <a:txBody>
                    <a:bodyPr/>
                    <a:lstStyle/>
                    <a:p>
                      <a:pPr>
                        <a:lnSpc>
                          <a:spcPts val="1200"/>
                        </a:lnSpc>
                        <a:spcBef>
                          <a:spcPts val="200"/>
                        </a:spcBef>
                        <a:spcAft>
                          <a:spcPts val="200"/>
                        </a:spcAft>
                      </a:pPr>
                      <a:r>
                        <a:rPr lang="en-US" sz="1800" b="1" dirty="0" smtClean="0">
                          <a:solidFill>
                            <a:srgbClr val="0000FF"/>
                          </a:solidFill>
                          <a:effectLst/>
                          <a:latin typeface="Verdana"/>
                          <a:ea typeface="Calibri"/>
                          <a:cs typeface="Times New Roman"/>
                        </a:rPr>
                        <a:t>dv / dx</a:t>
                      </a:r>
                      <a:endParaRPr lang="en-US" sz="1800" b="1" dirty="0">
                        <a:solidFill>
                          <a:srgbClr val="0000FF"/>
                        </a:solidFill>
                        <a:effectLst/>
                        <a:latin typeface="Verdana"/>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[M</a:t>
                      </a:r>
                      <a:r>
                        <a:rPr lang="en-US" sz="1800" b="1" baseline="30000">
                          <a:solidFill>
                            <a:srgbClr val="0000FF"/>
                          </a:solidFill>
                          <a:effectLst/>
                        </a:rPr>
                        <a:t>0</a:t>
                      </a:r>
                      <a:r>
                        <a:rPr lang="en-US" sz="1800" b="1">
                          <a:solidFill>
                            <a:srgbClr val="0000FF"/>
                          </a:solidFill>
                          <a:effectLst/>
                        </a:rPr>
                        <a:t>L</a:t>
                      </a:r>
                      <a:r>
                        <a:rPr lang="en-US" sz="1800" b="1" baseline="30000">
                          <a:solidFill>
                            <a:srgbClr val="0000FF"/>
                          </a:solidFill>
                          <a:effectLst/>
                        </a:rPr>
                        <a:t>0</a:t>
                      </a:r>
                      <a:r>
                        <a:rPr lang="en-US" sz="1800" b="1">
                          <a:solidFill>
                            <a:srgbClr val="0000FF"/>
                          </a:solidFill>
                          <a:effectLst/>
                        </a:rPr>
                        <a:t>T</a:t>
                      </a:r>
                      <a:r>
                        <a:rPr lang="en-US" sz="1800" b="1" baseline="30000">
                          <a:solidFill>
                            <a:srgbClr val="0000FF"/>
                          </a:solidFill>
                          <a:effectLst/>
                        </a:rPr>
                        <a:t>–1</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s</a:t>
                      </a:r>
                      <a:r>
                        <a:rPr lang="en-US" sz="1800" b="1" baseline="30000" dirty="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3"/>
                  </a:ext>
                </a:extLst>
              </a:tr>
              <a:tr h="853508">
                <a:tc vMerge="1">
                  <a:txBody>
                    <a:bodyPr/>
                    <a:lstStyle/>
                    <a:p>
                      <a:endParaRPr lang="en-IN"/>
                    </a:p>
                  </a:txBody>
                  <a:tcPr/>
                </a:tc>
                <a:tc>
                  <a:txBody>
                    <a:bodyPr/>
                    <a:lstStyle/>
                    <a:p>
                      <a:pPr>
                        <a:lnSpc>
                          <a:spcPts val="1200"/>
                        </a:lnSpc>
                        <a:spcBef>
                          <a:spcPts val="200"/>
                        </a:spcBef>
                        <a:spcAft>
                          <a:spcPts val="200"/>
                        </a:spcAft>
                        <a:tabLst>
                          <a:tab pos="2743200" algn="ctr"/>
                          <a:tab pos="5486400" algn="r"/>
                          <a:tab pos="457200" algn="l"/>
                        </a:tabLst>
                      </a:pPr>
                      <a:endParaRPr lang="en-US" sz="1800" b="1" dirty="0" smtClean="0">
                        <a:solidFill>
                          <a:srgbClr val="0000FF"/>
                        </a:solidFill>
                        <a:effectLst/>
                      </a:endParaRPr>
                    </a:p>
                    <a:p>
                      <a:pPr>
                        <a:lnSpc>
                          <a:spcPts val="1200"/>
                        </a:lnSpc>
                        <a:spcBef>
                          <a:spcPts val="200"/>
                        </a:spcBef>
                        <a:spcAft>
                          <a:spcPts val="200"/>
                        </a:spcAft>
                        <a:tabLst>
                          <a:tab pos="2743200" algn="ctr"/>
                          <a:tab pos="5486400" algn="r"/>
                          <a:tab pos="457200" algn="l"/>
                        </a:tabLst>
                      </a:pPr>
                      <a:r>
                        <a:rPr lang="en-US" sz="1800" b="1" dirty="0" smtClean="0">
                          <a:solidFill>
                            <a:srgbClr val="0000FF"/>
                          </a:solidFill>
                          <a:effectLst/>
                        </a:rPr>
                        <a:t>Acceleration </a:t>
                      </a:r>
                      <a:r>
                        <a:rPr lang="en-US" sz="1800" b="1" dirty="0">
                          <a:solidFill>
                            <a:srgbClr val="0000FF"/>
                          </a:solidFill>
                          <a:effectLst/>
                        </a:rPr>
                        <a:t>or </a:t>
                      </a:r>
                      <a:endParaRPr lang="en-IN" sz="1800" b="1" dirty="0">
                        <a:solidFill>
                          <a:srgbClr val="0000FF"/>
                        </a:solidFill>
                        <a:effectLst/>
                      </a:endParaRPr>
                    </a:p>
                    <a:p>
                      <a:pPr>
                        <a:lnSpc>
                          <a:spcPts val="1200"/>
                        </a:lnSpc>
                        <a:spcBef>
                          <a:spcPts val="200"/>
                        </a:spcBef>
                        <a:spcAft>
                          <a:spcPts val="200"/>
                        </a:spcAft>
                        <a:tabLst>
                          <a:tab pos="2743200" algn="ctr"/>
                          <a:tab pos="5486400" algn="r"/>
                          <a:tab pos="457200" algn="l"/>
                        </a:tabLst>
                      </a:pPr>
                      <a:r>
                        <a:rPr lang="en-US" sz="1800" b="1" dirty="0">
                          <a:solidFill>
                            <a:srgbClr val="0000FF"/>
                          </a:solidFill>
                          <a:effectLst/>
                        </a:rPr>
                        <a:t>acceleration due to </a:t>
                      </a:r>
                      <a:endParaRPr lang="en-US" sz="1800" b="1" dirty="0" smtClean="0">
                        <a:solidFill>
                          <a:srgbClr val="0000FF"/>
                        </a:solidFill>
                        <a:effectLst/>
                      </a:endParaRPr>
                    </a:p>
                    <a:p>
                      <a:pPr>
                        <a:lnSpc>
                          <a:spcPts val="1200"/>
                        </a:lnSpc>
                        <a:spcBef>
                          <a:spcPts val="200"/>
                        </a:spcBef>
                        <a:spcAft>
                          <a:spcPts val="200"/>
                        </a:spcAft>
                        <a:tabLst>
                          <a:tab pos="2743200" algn="ctr"/>
                          <a:tab pos="5486400" algn="r"/>
                          <a:tab pos="457200" algn="l"/>
                        </a:tabLst>
                      </a:pPr>
                      <a:r>
                        <a:rPr lang="en-US" sz="1800" b="1" dirty="0" smtClean="0">
                          <a:solidFill>
                            <a:srgbClr val="0000FF"/>
                          </a:solidFill>
                          <a:effectLst/>
                        </a:rPr>
                        <a:t>gravity</a:t>
                      </a:r>
                      <a:endParaRPr lang="en-IN" sz="1800" b="1" dirty="0">
                        <a:solidFill>
                          <a:srgbClr val="0000FF"/>
                        </a:solidFill>
                        <a:effectLst/>
                        <a:latin typeface="Arial"/>
                        <a:ea typeface="Times New Roman"/>
                        <a:cs typeface="Times New Roman"/>
                      </a:endParaRPr>
                    </a:p>
                  </a:txBody>
                  <a:tcPr marL="67024" marR="67024" marT="0" marB="0" anchor="ctr"/>
                </a:tc>
                <a:tc>
                  <a:txBody>
                    <a:bodyPr/>
                    <a:lstStyle/>
                    <a:p>
                      <a:pPr algn="ctr">
                        <a:lnSpc>
                          <a:spcPts val="1200"/>
                        </a:lnSpc>
                        <a:spcBef>
                          <a:spcPts val="200"/>
                        </a:spcBef>
                        <a:spcAft>
                          <a:spcPts val="200"/>
                        </a:spcAft>
                      </a:pPr>
                      <a:r>
                        <a:rPr lang="en-US" sz="1800" b="1" dirty="0">
                          <a:solidFill>
                            <a:srgbClr val="0000FF"/>
                          </a:solidFill>
                          <a:effectLst/>
                        </a:rPr>
                        <a:t>a or </a:t>
                      </a: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g</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Velocity / time</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[M</a:t>
                      </a:r>
                      <a:r>
                        <a:rPr lang="en-US" sz="1800" b="1" baseline="30000">
                          <a:solidFill>
                            <a:srgbClr val="0000FF"/>
                          </a:solidFill>
                          <a:effectLst/>
                        </a:rPr>
                        <a:t>0</a:t>
                      </a:r>
                      <a:r>
                        <a:rPr lang="en-US" sz="1800" b="1">
                          <a:solidFill>
                            <a:srgbClr val="0000FF"/>
                          </a:solidFill>
                          <a:effectLst/>
                        </a:rPr>
                        <a:t>LT</a:t>
                      </a:r>
                      <a:r>
                        <a:rPr lang="en-US" sz="1800" b="1" baseline="30000">
                          <a:solidFill>
                            <a:srgbClr val="0000FF"/>
                          </a:solidFill>
                          <a:effectLst/>
                        </a:rPr>
                        <a:t>–2</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 s</a:t>
                      </a:r>
                      <a:r>
                        <a:rPr lang="en-US" sz="1800" b="1" baseline="30000" dirty="0">
                          <a:solidFill>
                            <a:srgbClr val="0000FF"/>
                          </a:solidFill>
                          <a:effectLst/>
                        </a:rPr>
                        <a:t>–2</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4"/>
                  </a:ext>
                </a:extLst>
              </a:tr>
              <a:tr h="602656">
                <a:tc vMerge="1">
                  <a:txBody>
                    <a:bodyPr/>
                    <a:lstStyle/>
                    <a:p>
                      <a:endParaRPr lang="en-IN"/>
                    </a:p>
                  </a:txBody>
                  <a:tcPr/>
                </a:tc>
                <a:tc>
                  <a:txBody>
                    <a:bodyPr/>
                    <a:lstStyle/>
                    <a:p>
                      <a:pPr>
                        <a:lnSpc>
                          <a:spcPts val="1200"/>
                        </a:lnSpc>
                        <a:spcBef>
                          <a:spcPts val="200"/>
                        </a:spcBef>
                        <a:spcAft>
                          <a:spcPts val="200"/>
                        </a:spcAft>
                      </a:pPr>
                      <a:r>
                        <a:rPr lang="en-US" sz="1800" b="1">
                          <a:solidFill>
                            <a:srgbClr val="0000FF"/>
                          </a:solidFill>
                          <a:effectLst/>
                        </a:rPr>
                        <a:t>Momentum </a:t>
                      </a:r>
                      <a:endParaRPr lang="en-IN" sz="1800" b="1">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p</a:t>
                      </a:r>
                      <a:endParaRPr lang="en-IN" sz="1800" b="1" dirty="0">
                        <a:solidFill>
                          <a:srgbClr val="0000FF"/>
                        </a:solidFill>
                        <a:effectLst/>
                        <a:latin typeface="Calibri"/>
                        <a:ea typeface="Calibri"/>
                        <a:cs typeface="Times New Roman"/>
                      </a:endParaRPr>
                    </a:p>
                  </a:txBody>
                  <a:tcPr marL="67024" marR="67024" marT="0" marB="0"/>
                </a:tc>
                <a:tc>
                  <a:txBody>
                    <a:bodyPr/>
                    <a:lstStyle/>
                    <a:p>
                      <a:pPr>
                        <a:lnSpc>
                          <a:spcPts val="1200"/>
                        </a:lnSpc>
                        <a:spcBef>
                          <a:spcPts val="200"/>
                        </a:spcBef>
                        <a:spcAft>
                          <a:spcPts val="200"/>
                        </a:spcAft>
                      </a:pPr>
                      <a:r>
                        <a:rPr lang="en-US" sz="1800" b="1" dirty="0">
                          <a:solidFill>
                            <a:srgbClr val="0000FF"/>
                          </a:solidFill>
                          <a:effectLst/>
                        </a:rPr>
                        <a:t>Mass x velocity</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[MLT</a:t>
                      </a:r>
                      <a:r>
                        <a:rPr lang="en-US" sz="1800" b="1" baseline="30000">
                          <a:solidFill>
                            <a:srgbClr val="0000FF"/>
                          </a:solidFill>
                          <a:effectLst/>
                        </a:rPr>
                        <a:t>–1</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kg m s</a:t>
                      </a:r>
                      <a:r>
                        <a:rPr lang="en-US" sz="1800" b="1" baseline="30000" dirty="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5"/>
                  </a:ext>
                </a:extLst>
              </a:tr>
              <a:tr h="972536">
                <a:tc vMerge="1">
                  <a:txBody>
                    <a:bodyPr/>
                    <a:lstStyle/>
                    <a:p>
                      <a:endParaRPr lang="en-IN"/>
                    </a:p>
                  </a:txBody>
                  <a:tcPr/>
                </a:tc>
                <a:tc>
                  <a:txBody>
                    <a:bodyPr/>
                    <a:lstStyle/>
                    <a:p>
                      <a:pPr>
                        <a:lnSpc>
                          <a:spcPts val="1200"/>
                        </a:lnSpc>
                        <a:spcBef>
                          <a:spcPts val="200"/>
                        </a:spcBef>
                        <a:spcAft>
                          <a:spcPts val="200"/>
                        </a:spcAft>
                      </a:pPr>
                      <a:r>
                        <a:rPr lang="en-US" sz="1800" b="1" dirty="0" smtClean="0">
                          <a:solidFill>
                            <a:srgbClr val="0000FF"/>
                          </a:solidFill>
                          <a:effectLst/>
                        </a:rPr>
                        <a:t>Force</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0"/>
                        </a:spcAft>
                      </a:pPr>
                      <a:r>
                        <a:rPr lang="en-US" sz="1800" b="1" dirty="0" smtClean="0">
                          <a:solidFill>
                            <a:srgbClr val="0000FF"/>
                          </a:solidFill>
                          <a:effectLst/>
                        </a:rPr>
                        <a:t>F</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Mass x acceleration</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[MLT</a:t>
                      </a:r>
                      <a:r>
                        <a:rPr lang="en-US" sz="1800" b="1" baseline="30000" dirty="0">
                          <a:solidFill>
                            <a:srgbClr val="0000FF"/>
                          </a:solidFill>
                          <a:effectLst/>
                        </a:rPr>
                        <a:t>–2</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kg m s</a:t>
                      </a:r>
                      <a:r>
                        <a:rPr lang="en-US" sz="1800" b="1" baseline="30000" dirty="0">
                          <a:solidFill>
                            <a:srgbClr val="0000FF"/>
                          </a:solidFill>
                          <a:effectLst/>
                        </a:rPr>
                        <a:t>–2</a:t>
                      </a:r>
                      <a:endParaRPr lang="en-IN" sz="1800" b="1" dirty="0">
                        <a:solidFill>
                          <a:srgbClr val="0000FF"/>
                        </a:solidFill>
                        <a:effectLst/>
                      </a:endParaRPr>
                    </a:p>
                    <a:p>
                      <a:pPr>
                        <a:lnSpc>
                          <a:spcPts val="1200"/>
                        </a:lnSpc>
                        <a:spcBef>
                          <a:spcPts val="200"/>
                        </a:spcBef>
                        <a:spcAft>
                          <a:spcPts val="200"/>
                        </a:spcAft>
                      </a:pPr>
                      <a:r>
                        <a:rPr lang="en-US" sz="1800" b="1" dirty="0">
                          <a:solidFill>
                            <a:srgbClr val="C00000"/>
                          </a:solidFill>
                          <a:effectLst/>
                        </a:rPr>
                        <a:t>or</a:t>
                      </a:r>
                      <a:r>
                        <a:rPr lang="en-US" sz="1800" b="1" dirty="0">
                          <a:solidFill>
                            <a:srgbClr val="0000FF"/>
                          </a:solidFill>
                          <a:effectLst/>
                        </a:rPr>
                        <a:t>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newton (</a:t>
                      </a:r>
                      <a:r>
                        <a:rPr lang="en-US" sz="1800" b="1" dirty="0">
                          <a:solidFill>
                            <a:srgbClr val="0000FF"/>
                          </a:solidFill>
                          <a:effectLst/>
                        </a:rPr>
                        <a:t>N)</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6"/>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Force constant or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spring </a:t>
                      </a:r>
                      <a:r>
                        <a:rPr lang="en-US" sz="1800" b="1" dirty="0">
                          <a:solidFill>
                            <a:srgbClr val="0000FF"/>
                          </a:solidFill>
                          <a:effectLst/>
                        </a:rPr>
                        <a:t>constant </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r>
                        <a:rPr lang="en-US" sz="1800" b="1">
                          <a:solidFill>
                            <a:srgbClr val="0000FF"/>
                          </a:solidFill>
                          <a:effectLst/>
                        </a:rPr>
                        <a:t>K</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a:solidFill>
                            <a:srgbClr val="0000FF"/>
                          </a:solidFill>
                          <a:effectLst/>
                        </a:rPr>
                        <a:t>Force / extension</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[ML</a:t>
                      </a:r>
                      <a:r>
                        <a:rPr lang="en-US" sz="1800" b="1" baseline="30000" dirty="0">
                          <a:solidFill>
                            <a:srgbClr val="0000FF"/>
                          </a:solidFill>
                          <a:effectLst/>
                        </a:rPr>
                        <a:t>0</a:t>
                      </a:r>
                      <a:r>
                        <a:rPr lang="en-US" sz="1800" b="1" dirty="0">
                          <a:solidFill>
                            <a:srgbClr val="0000FF"/>
                          </a:solidFill>
                          <a:effectLst/>
                        </a:rPr>
                        <a:t>T</a:t>
                      </a:r>
                      <a:r>
                        <a:rPr lang="en-US" sz="1800" b="1" baseline="30000" dirty="0">
                          <a:solidFill>
                            <a:srgbClr val="0000FF"/>
                          </a:solidFill>
                          <a:effectLst/>
                        </a:rPr>
                        <a:t>–2</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N m</a:t>
                      </a:r>
                      <a:r>
                        <a:rPr lang="en-US" sz="1800" b="1" baseline="30000" dirty="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7"/>
                  </a:ext>
                </a:extLst>
              </a:tr>
              <a:tr h="602656">
                <a:tc vMerge="1">
                  <a:txBody>
                    <a:bodyPr/>
                    <a:lstStyle/>
                    <a:p>
                      <a:endParaRPr lang="en-IN"/>
                    </a:p>
                  </a:txBody>
                  <a:tcPr/>
                </a:tc>
                <a:tc>
                  <a:txBody>
                    <a:bodyPr/>
                    <a:lstStyle/>
                    <a:p>
                      <a:pPr>
                        <a:lnSpc>
                          <a:spcPts val="1200"/>
                        </a:lnSpc>
                        <a:spcBef>
                          <a:spcPts val="200"/>
                        </a:spcBef>
                        <a:spcAft>
                          <a:spcPts val="200"/>
                        </a:spcAft>
                      </a:pPr>
                      <a:r>
                        <a:rPr lang="en-US" sz="1800" b="1">
                          <a:solidFill>
                            <a:srgbClr val="0000FF"/>
                          </a:solidFill>
                          <a:effectLst/>
                        </a:rPr>
                        <a:t>Impulse </a:t>
                      </a:r>
                      <a:endParaRPr lang="en-IN" sz="1800" b="1">
                        <a:solidFill>
                          <a:srgbClr val="0000FF"/>
                        </a:solidFill>
                        <a:effectLst/>
                        <a:latin typeface="Calibri"/>
                        <a:ea typeface="Calibri"/>
                        <a:cs typeface="Times New Roman"/>
                      </a:endParaRPr>
                    </a:p>
                  </a:txBody>
                  <a:tcPr marL="67024" marR="67024" marT="0" marB="0" anchor="ctr"/>
                </a:tc>
                <a:tc>
                  <a:txBody>
                    <a:bodyPr/>
                    <a:lstStyle/>
                    <a:p>
                      <a:pPr algn="ctr">
                        <a:lnSpc>
                          <a:spcPts val="1200"/>
                        </a:lnSpc>
                        <a:spcBef>
                          <a:spcPts val="200"/>
                        </a:spcBef>
                        <a:spcAft>
                          <a:spcPts val="200"/>
                        </a:spcAft>
                      </a:pPr>
                      <a:r>
                        <a:rPr lang="en-US" sz="1800" b="1">
                          <a:solidFill>
                            <a:srgbClr val="0000FF"/>
                          </a:solidFill>
                          <a:effectLst/>
                        </a:rPr>
                        <a:t>j</a:t>
                      </a:r>
                      <a:endParaRPr lang="en-IN" sz="1800" b="1">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Force x time</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[MLT</a:t>
                      </a:r>
                      <a:r>
                        <a:rPr lang="en-US" sz="1800" b="1" baseline="30000" dirty="0">
                          <a:solidFill>
                            <a:srgbClr val="0000FF"/>
                          </a:solidFill>
                          <a:effectLst/>
                        </a:rPr>
                        <a:t>–1</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7024" marR="67024" marT="0" marB="0" anchor="ctr"/>
                </a:tc>
                <a:tc>
                  <a:txBody>
                    <a:bodyPr/>
                    <a:lstStyle/>
                    <a:p>
                      <a:pPr>
                        <a:lnSpc>
                          <a:spcPts val="1200"/>
                        </a:lnSpc>
                        <a:spcBef>
                          <a:spcPts val="200"/>
                        </a:spcBef>
                        <a:spcAft>
                          <a:spcPts val="200"/>
                        </a:spcAft>
                      </a:pPr>
                      <a:r>
                        <a:rPr lang="en-US" sz="1800" b="1" dirty="0">
                          <a:solidFill>
                            <a:srgbClr val="0000FF"/>
                          </a:solidFill>
                          <a:effectLst/>
                        </a:rPr>
                        <a:t>N s </a:t>
                      </a:r>
                      <a:r>
                        <a:rPr lang="en-US" sz="1800" b="1" dirty="0" smtClean="0">
                          <a:solidFill>
                            <a:srgbClr val="0000FF"/>
                          </a:solidFill>
                          <a:effectLst/>
                        </a:rPr>
                        <a:t>    </a:t>
                      </a:r>
                      <a:r>
                        <a:rPr lang="en-US" sz="1800" b="1" dirty="0" smtClean="0">
                          <a:solidFill>
                            <a:srgbClr val="C00000"/>
                          </a:solidFill>
                          <a:effectLst/>
                        </a:rPr>
                        <a:t>or</a:t>
                      </a:r>
                      <a:r>
                        <a:rPr lang="en-US" sz="1800" b="1" dirty="0" smtClean="0">
                          <a:solidFill>
                            <a:srgbClr val="0000FF"/>
                          </a:solidFill>
                          <a:effectLst/>
                        </a:rPr>
                        <a:t> </a:t>
                      </a:r>
                    </a:p>
                    <a:p>
                      <a:pPr>
                        <a:lnSpc>
                          <a:spcPts val="1200"/>
                        </a:lnSpc>
                        <a:spcBef>
                          <a:spcPts val="200"/>
                        </a:spcBef>
                        <a:spcAft>
                          <a:spcPts val="200"/>
                        </a:spcAft>
                      </a:pPr>
                      <a:r>
                        <a:rPr lang="en-US" sz="1800" b="1" dirty="0" smtClean="0">
                          <a:solidFill>
                            <a:srgbClr val="0000FF"/>
                          </a:solidFill>
                          <a:effectLst/>
                        </a:rPr>
                        <a:t>kg </a:t>
                      </a:r>
                      <a:r>
                        <a:rPr lang="en-US" sz="1800" b="1" dirty="0">
                          <a:solidFill>
                            <a:srgbClr val="0000FF"/>
                          </a:solidFill>
                          <a:effectLst/>
                        </a:rPr>
                        <a:t>m s</a:t>
                      </a:r>
                      <a:r>
                        <a:rPr lang="en-US" sz="1800" b="1" baseline="30000" dirty="0">
                          <a:solidFill>
                            <a:srgbClr val="0000FF"/>
                          </a:solidFill>
                          <a:effectLst/>
                        </a:rPr>
                        <a:t>–1</a:t>
                      </a:r>
                      <a:endParaRPr lang="en-IN" sz="1800" b="1" dirty="0">
                        <a:solidFill>
                          <a:srgbClr val="0000FF"/>
                        </a:solidFill>
                        <a:effectLst/>
                        <a:latin typeface="Calibri"/>
                        <a:ea typeface="Calibri"/>
                        <a:cs typeface="Times New Roman"/>
                      </a:endParaRPr>
                    </a:p>
                  </a:txBody>
                  <a:tcPr marL="67024" marR="67024" marT="0" marB="0" anchor="ctr"/>
                </a:tc>
                <a:extLst>
                  <a:ext uri="{0D108BD9-81ED-4DB2-BD59-A6C34878D82A}">
                    <a16:rowId xmlns:a16="http://schemas.microsoft.com/office/drawing/2014/main" val="10008"/>
                  </a:ext>
                </a:extLst>
              </a:tr>
            </a:tbl>
          </a:graphicData>
        </a:graphic>
      </p:graphicFrame>
      <p:sp>
        <p:nvSpPr>
          <p:cNvPr id="66563"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firstslide"/>
              </a:rPr>
              <a:t>Home</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6564"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nextslide"/>
              </a:rPr>
              <a:t>Next</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6565"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previousslide"/>
              </a:rPr>
              <a:t>Previous</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51369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703514" y="4293098"/>
          <a:ext cx="8784977" cy="2016223"/>
        </p:xfrm>
        <a:graphic>
          <a:graphicData uri="http://schemas.openxmlformats.org/drawingml/2006/table">
            <a:tbl>
              <a:tblPr>
                <a:tableStyleId>{073A0DAA-6AF3-43AB-8588-CEC1D06C72B9}</a:tableStyleId>
              </a:tblPr>
              <a:tblGrid>
                <a:gridCol w="446694">
                  <a:extLst>
                    <a:ext uri="{9D8B030D-6E8A-4147-A177-3AD203B41FA5}">
                      <a16:colId xmlns:a16="http://schemas.microsoft.com/office/drawing/2014/main" val="20000"/>
                    </a:ext>
                  </a:extLst>
                </a:gridCol>
                <a:gridCol w="2695900">
                  <a:extLst>
                    <a:ext uri="{9D8B030D-6E8A-4147-A177-3AD203B41FA5}">
                      <a16:colId xmlns:a16="http://schemas.microsoft.com/office/drawing/2014/main" val="20001"/>
                    </a:ext>
                  </a:extLst>
                </a:gridCol>
                <a:gridCol w="642803">
                  <a:extLst>
                    <a:ext uri="{9D8B030D-6E8A-4147-A177-3AD203B41FA5}">
                      <a16:colId xmlns:a16="http://schemas.microsoft.com/office/drawing/2014/main" val="20002"/>
                    </a:ext>
                  </a:extLst>
                </a:gridCol>
                <a:gridCol w="2356945">
                  <a:extLst>
                    <a:ext uri="{9D8B030D-6E8A-4147-A177-3AD203B41FA5}">
                      <a16:colId xmlns:a16="http://schemas.microsoft.com/office/drawing/2014/main" val="20003"/>
                    </a:ext>
                  </a:extLst>
                </a:gridCol>
                <a:gridCol w="1214184">
                  <a:extLst>
                    <a:ext uri="{9D8B030D-6E8A-4147-A177-3AD203B41FA5}">
                      <a16:colId xmlns:a16="http://schemas.microsoft.com/office/drawing/2014/main" val="20004"/>
                    </a:ext>
                  </a:extLst>
                </a:gridCol>
                <a:gridCol w="1428451">
                  <a:extLst>
                    <a:ext uri="{9D8B030D-6E8A-4147-A177-3AD203B41FA5}">
                      <a16:colId xmlns:a16="http://schemas.microsoft.com/office/drawing/2014/main" val="20005"/>
                    </a:ext>
                  </a:extLst>
                </a:gridCol>
              </a:tblGrid>
              <a:tr h="512105">
                <a:tc rowSpan="3">
                  <a:txBody>
                    <a:bodyPr/>
                    <a:lstStyle/>
                    <a:p>
                      <a:pPr marL="71755" marR="71755" algn="ctr">
                        <a:lnSpc>
                          <a:spcPts val="1200"/>
                        </a:lnSpc>
                        <a:spcBef>
                          <a:spcPts val="200"/>
                        </a:spcBef>
                        <a:spcAft>
                          <a:spcPts val="200"/>
                        </a:spcAft>
                      </a:pPr>
                      <a:r>
                        <a:rPr lang="en-US" sz="2000" b="1" dirty="0">
                          <a:solidFill>
                            <a:srgbClr val="7030A0"/>
                          </a:solidFill>
                          <a:effectLst/>
                        </a:rPr>
                        <a:t>Gravitation</a:t>
                      </a:r>
                      <a:endParaRPr lang="en-IN" sz="2000" b="1" dirty="0">
                        <a:solidFill>
                          <a:srgbClr val="7030A0"/>
                        </a:solidFill>
                        <a:effectLst/>
                        <a:latin typeface="Calibri"/>
                        <a:ea typeface="Calibri"/>
                        <a:cs typeface="Times New Roman"/>
                      </a:endParaRPr>
                    </a:p>
                  </a:txBody>
                  <a:tcPr marL="68580" marR="68580" marT="0" marB="0" vert="vert270" anchor="ctr"/>
                </a:tc>
                <a:tc>
                  <a:txBody>
                    <a:bodyPr/>
                    <a:lstStyle/>
                    <a:p>
                      <a:pPr>
                        <a:lnSpc>
                          <a:spcPts val="1200"/>
                        </a:lnSpc>
                        <a:spcBef>
                          <a:spcPts val="200"/>
                        </a:spcBef>
                        <a:spcAft>
                          <a:spcPts val="200"/>
                        </a:spcAft>
                      </a:pPr>
                      <a:r>
                        <a:rPr lang="en-US" sz="1800" b="1" dirty="0">
                          <a:solidFill>
                            <a:srgbClr val="C00000"/>
                          </a:solidFill>
                          <a:effectLst/>
                        </a:rPr>
                        <a:t>Gravitational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potential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C00000"/>
                          </a:solidFill>
                          <a:effectLst/>
                        </a:rPr>
                        <a:t> </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C00000"/>
                          </a:solidFill>
                          <a:effectLst/>
                        </a:rPr>
                        <a:t>G P E / mass</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[M</a:t>
                      </a:r>
                      <a:r>
                        <a:rPr lang="en-US" sz="1800" b="1" baseline="30000">
                          <a:solidFill>
                            <a:srgbClr val="C00000"/>
                          </a:solidFill>
                          <a:effectLst/>
                        </a:rPr>
                        <a:t>0</a:t>
                      </a:r>
                      <a:r>
                        <a:rPr lang="en-US" sz="1800" b="1">
                          <a:solidFill>
                            <a:srgbClr val="C00000"/>
                          </a:solidFill>
                          <a:effectLst/>
                        </a:rPr>
                        <a:t>L</a:t>
                      </a:r>
                      <a:r>
                        <a:rPr lang="en-US" sz="1800" b="1" baseline="30000">
                          <a:solidFill>
                            <a:srgbClr val="C00000"/>
                          </a:solidFill>
                          <a:effectLst/>
                        </a:rPr>
                        <a:t>2</a:t>
                      </a:r>
                      <a:r>
                        <a:rPr lang="en-US" sz="1800" b="1">
                          <a:solidFill>
                            <a:srgbClr val="C00000"/>
                          </a:solidFill>
                          <a:effectLst/>
                        </a:rPr>
                        <a:t>T</a:t>
                      </a:r>
                      <a:r>
                        <a:rPr lang="en-US" sz="1800" b="1" baseline="30000">
                          <a:solidFill>
                            <a:srgbClr val="C00000"/>
                          </a:solidFill>
                          <a:effectLst/>
                        </a:rPr>
                        <a:t>–2</a:t>
                      </a:r>
                      <a:r>
                        <a:rPr lang="en-US" sz="1800" b="1">
                          <a:solidFill>
                            <a:srgbClr val="C00000"/>
                          </a:solidFill>
                          <a:effectLst/>
                        </a:rPr>
                        <a:t>]</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C00000"/>
                          </a:solidFill>
                          <a:effectLst/>
                        </a:rPr>
                        <a:t>J kg</a:t>
                      </a:r>
                      <a:r>
                        <a:rPr lang="en-US" sz="1800" b="1" baseline="30000">
                          <a:solidFill>
                            <a:srgbClr val="C00000"/>
                          </a:solidFill>
                          <a:effectLst/>
                        </a:rPr>
                        <a:t>–1</a:t>
                      </a:r>
                      <a:endParaRPr lang="en-IN" sz="1800" b="1">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752059">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Universal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gravitational </a:t>
                      </a:r>
                    </a:p>
                    <a:p>
                      <a:pPr>
                        <a:lnSpc>
                          <a:spcPts val="1200"/>
                        </a:lnSpc>
                        <a:spcBef>
                          <a:spcPts val="200"/>
                        </a:spcBef>
                        <a:spcAft>
                          <a:spcPts val="200"/>
                        </a:spcAft>
                      </a:pPr>
                      <a:r>
                        <a:rPr lang="en-US" sz="1800" b="1" dirty="0" smtClean="0">
                          <a:solidFill>
                            <a:srgbClr val="C00000"/>
                          </a:solidFill>
                          <a:effectLst/>
                        </a:rPr>
                        <a:t>constant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a:solidFill>
                            <a:srgbClr val="C00000"/>
                          </a:solidFill>
                          <a:effectLst/>
                        </a:rPr>
                        <a:t>G</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G = F d</a:t>
                      </a:r>
                      <a:r>
                        <a:rPr lang="en-US" sz="1800" b="1" baseline="30000" dirty="0">
                          <a:solidFill>
                            <a:srgbClr val="C00000"/>
                          </a:solidFill>
                          <a:effectLst/>
                        </a:rPr>
                        <a:t>2</a:t>
                      </a:r>
                      <a:r>
                        <a:rPr lang="en-US" sz="1800" b="1" dirty="0">
                          <a:solidFill>
                            <a:srgbClr val="C00000"/>
                          </a:solidFill>
                          <a:effectLst/>
                        </a:rPr>
                        <a:t>/(m</a:t>
                      </a:r>
                      <a:r>
                        <a:rPr lang="en-US" sz="1800" b="1" baseline="-25000" dirty="0">
                          <a:solidFill>
                            <a:srgbClr val="C00000"/>
                          </a:solidFill>
                          <a:effectLst/>
                        </a:rPr>
                        <a:t>1</a:t>
                      </a:r>
                      <a:r>
                        <a:rPr lang="en-US" sz="1800" b="1" dirty="0">
                          <a:solidFill>
                            <a:srgbClr val="C00000"/>
                          </a:solidFill>
                          <a:effectLst/>
                        </a:rPr>
                        <a:t>m</a:t>
                      </a:r>
                      <a:r>
                        <a:rPr lang="en-US" sz="1800" b="1" baseline="-25000" dirty="0">
                          <a:solidFill>
                            <a:srgbClr val="C00000"/>
                          </a:solidFill>
                          <a:effectLst/>
                        </a:rPr>
                        <a:t>2</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r>
                        <a:rPr lang="en-US" sz="1800" b="1" baseline="30000" dirty="0">
                          <a:solidFill>
                            <a:srgbClr val="C00000"/>
                          </a:solidFill>
                          <a:effectLst/>
                        </a:rPr>
                        <a:t>–1</a:t>
                      </a:r>
                      <a:r>
                        <a:rPr lang="en-US" sz="1800" b="1" dirty="0">
                          <a:solidFill>
                            <a:srgbClr val="C00000"/>
                          </a:solidFill>
                          <a:effectLst/>
                        </a:rPr>
                        <a:t>L</a:t>
                      </a:r>
                      <a:r>
                        <a:rPr lang="en-US" sz="1800" b="1" baseline="30000" dirty="0">
                          <a:solidFill>
                            <a:srgbClr val="C00000"/>
                          </a:solidFill>
                          <a:effectLst/>
                        </a:rPr>
                        <a:t>3</a:t>
                      </a:r>
                      <a:r>
                        <a:rPr lang="en-US" sz="1800" b="1" dirty="0">
                          <a:solidFill>
                            <a:srgbClr val="C00000"/>
                          </a:solidFill>
                          <a:effectLst/>
                        </a:rPr>
                        <a:t>T</a:t>
                      </a:r>
                      <a:r>
                        <a:rPr lang="en-US" sz="1800" b="1" baseline="30000" dirty="0">
                          <a:solidFill>
                            <a:srgbClr val="C00000"/>
                          </a:solidFill>
                          <a:effectLst/>
                        </a:rPr>
                        <a:t>–2</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N m</a:t>
                      </a:r>
                      <a:r>
                        <a:rPr lang="en-US" sz="1800" b="1" baseline="30000" dirty="0">
                          <a:solidFill>
                            <a:srgbClr val="C00000"/>
                          </a:solidFill>
                          <a:effectLst/>
                        </a:rPr>
                        <a:t>2 </a:t>
                      </a:r>
                      <a:r>
                        <a:rPr lang="en-US" sz="1800" b="1" dirty="0">
                          <a:solidFill>
                            <a:srgbClr val="C00000"/>
                          </a:solidFill>
                          <a:effectLst/>
                        </a:rPr>
                        <a:t>kg</a:t>
                      </a:r>
                      <a:r>
                        <a:rPr lang="en-US" sz="1800" b="1" baseline="30000" dirty="0">
                          <a:solidFill>
                            <a:srgbClr val="C00000"/>
                          </a:solidFill>
                          <a:effectLst/>
                        </a:rPr>
                        <a:t>–2</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752059">
                <a:tc vMerge="1">
                  <a:txBody>
                    <a:bodyPr/>
                    <a:lstStyle/>
                    <a:p>
                      <a:endParaRPr lang="en-IN"/>
                    </a:p>
                  </a:txBody>
                  <a:tcPr/>
                </a:tc>
                <a:tc>
                  <a:txBody>
                    <a:bodyPr/>
                    <a:lstStyle/>
                    <a:p>
                      <a:pPr>
                        <a:lnSpc>
                          <a:spcPts val="1200"/>
                        </a:lnSpc>
                        <a:spcBef>
                          <a:spcPts val="200"/>
                        </a:spcBef>
                        <a:spcAft>
                          <a:spcPts val="200"/>
                        </a:spcAft>
                      </a:pPr>
                      <a:r>
                        <a:rPr lang="en-US" sz="1800" b="1" dirty="0">
                          <a:solidFill>
                            <a:srgbClr val="C00000"/>
                          </a:solidFill>
                          <a:effectLst/>
                        </a:rPr>
                        <a:t>Intensity of </a:t>
                      </a:r>
                      <a:endParaRPr lang="en-US" sz="1800" b="1" dirty="0" smtClean="0">
                        <a:solidFill>
                          <a:srgbClr val="C00000"/>
                        </a:solidFill>
                        <a:effectLst/>
                      </a:endParaRPr>
                    </a:p>
                    <a:p>
                      <a:pPr>
                        <a:lnSpc>
                          <a:spcPts val="1200"/>
                        </a:lnSpc>
                        <a:spcBef>
                          <a:spcPts val="200"/>
                        </a:spcBef>
                        <a:spcAft>
                          <a:spcPts val="200"/>
                        </a:spcAft>
                      </a:pPr>
                      <a:r>
                        <a:rPr lang="en-US" sz="1800" b="1" dirty="0" smtClean="0">
                          <a:solidFill>
                            <a:srgbClr val="C00000"/>
                          </a:solidFill>
                          <a:effectLst/>
                        </a:rPr>
                        <a:t>gravitational </a:t>
                      </a:r>
                    </a:p>
                    <a:p>
                      <a:pPr>
                        <a:lnSpc>
                          <a:spcPts val="1200"/>
                        </a:lnSpc>
                        <a:spcBef>
                          <a:spcPts val="200"/>
                        </a:spcBef>
                        <a:spcAft>
                          <a:spcPts val="200"/>
                        </a:spcAft>
                      </a:pPr>
                      <a:r>
                        <a:rPr lang="en-US" sz="1800" b="1" dirty="0" smtClean="0">
                          <a:solidFill>
                            <a:srgbClr val="C00000"/>
                          </a:solidFill>
                          <a:effectLst/>
                        </a:rPr>
                        <a:t>field </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C00000"/>
                          </a:solidFill>
                          <a:effectLst/>
                        </a:rPr>
                        <a:t> </a:t>
                      </a:r>
                      <a:endParaRPr lang="en-IN" sz="1800" b="1" dirty="0">
                        <a:solidFill>
                          <a:srgbClr val="C00000"/>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C00000"/>
                          </a:solidFill>
                          <a:effectLst/>
                        </a:rPr>
                        <a:t>F / m</a:t>
                      </a:r>
                      <a:endParaRPr lang="en-IN" sz="1800" b="1">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[M</a:t>
                      </a:r>
                      <a:r>
                        <a:rPr lang="en-US" sz="1800" b="1" baseline="30000" dirty="0">
                          <a:solidFill>
                            <a:srgbClr val="C00000"/>
                          </a:solidFill>
                          <a:effectLst/>
                        </a:rPr>
                        <a:t>0</a:t>
                      </a:r>
                      <a:r>
                        <a:rPr lang="en-US" sz="1800" b="1" dirty="0">
                          <a:solidFill>
                            <a:srgbClr val="C00000"/>
                          </a:solidFill>
                          <a:effectLst/>
                        </a:rPr>
                        <a:t>L</a:t>
                      </a:r>
                      <a:r>
                        <a:rPr lang="en-US" sz="1800" b="1" baseline="30000" dirty="0">
                          <a:solidFill>
                            <a:srgbClr val="C00000"/>
                          </a:solidFill>
                          <a:effectLst/>
                        </a:rPr>
                        <a:t>1</a:t>
                      </a:r>
                      <a:r>
                        <a:rPr lang="en-US" sz="1800" b="1" dirty="0">
                          <a:solidFill>
                            <a:srgbClr val="C00000"/>
                          </a:solidFill>
                          <a:effectLst/>
                        </a:rPr>
                        <a:t>T</a:t>
                      </a:r>
                      <a:r>
                        <a:rPr lang="en-US" sz="1800" b="1" baseline="30000" dirty="0">
                          <a:solidFill>
                            <a:srgbClr val="C00000"/>
                          </a:solidFill>
                          <a:effectLst/>
                        </a:rPr>
                        <a:t>–2</a:t>
                      </a:r>
                      <a:r>
                        <a:rPr lang="en-US" sz="1800" b="1" dirty="0">
                          <a:solidFill>
                            <a:srgbClr val="C00000"/>
                          </a:solidFill>
                          <a:effectLst/>
                        </a:rPr>
                        <a:t>]</a:t>
                      </a:r>
                      <a:endParaRPr lang="en-IN" sz="1800" b="1" dirty="0">
                        <a:solidFill>
                          <a:srgbClr val="C00000"/>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C00000"/>
                          </a:solidFill>
                          <a:effectLst/>
                        </a:rPr>
                        <a:t>N kg</a:t>
                      </a:r>
                      <a:r>
                        <a:rPr lang="en-US" sz="1800" b="1" baseline="30000" dirty="0">
                          <a:solidFill>
                            <a:srgbClr val="C00000"/>
                          </a:solidFill>
                          <a:effectLst/>
                        </a:rPr>
                        <a:t>–1</a:t>
                      </a:r>
                      <a:endParaRPr lang="en-IN" sz="1800" b="1" dirty="0">
                        <a:solidFill>
                          <a:srgbClr val="C00000"/>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1703512" y="404665"/>
          <a:ext cx="8784977" cy="3866788"/>
        </p:xfrm>
        <a:graphic>
          <a:graphicData uri="http://schemas.openxmlformats.org/drawingml/2006/table">
            <a:tbl>
              <a:tblPr>
                <a:tableStyleId>{21E4AEA4-8DFA-4A89-87EB-49C32662AFE0}</a:tableStyleId>
              </a:tblPr>
              <a:tblGrid>
                <a:gridCol w="432049">
                  <a:extLst>
                    <a:ext uri="{9D8B030D-6E8A-4147-A177-3AD203B41FA5}">
                      <a16:colId xmlns:a16="http://schemas.microsoft.com/office/drawing/2014/main" val="20000"/>
                    </a:ext>
                  </a:extLst>
                </a:gridCol>
                <a:gridCol w="2715902">
                  <a:extLst>
                    <a:ext uri="{9D8B030D-6E8A-4147-A177-3AD203B41FA5}">
                      <a16:colId xmlns:a16="http://schemas.microsoft.com/office/drawing/2014/main" val="20001"/>
                    </a:ext>
                  </a:extLst>
                </a:gridCol>
                <a:gridCol w="658873">
                  <a:extLst>
                    <a:ext uri="{9D8B030D-6E8A-4147-A177-3AD203B41FA5}">
                      <a16:colId xmlns:a16="http://schemas.microsoft.com/office/drawing/2014/main" val="20002"/>
                    </a:ext>
                  </a:extLst>
                </a:gridCol>
                <a:gridCol w="2415869">
                  <a:extLst>
                    <a:ext uri="{9D8B030D-6E8A-4147-A177-3AD203B41FA5}">
                      <a16:colId xmlns:a16="http://schemas.microsoft.com/office/drawing/2014/main" val="20003"/>
                    </a:ext>
                  </a:extLst>
                </a:gridCol>
                <a:gridCol w="1171330">
                  <a:extLst>
                    <a:ext uri="{9D8B030D-6E8A-4147-A177-3AD203B41FA5}">
                      <a16:colId xmlns:a16="http://schemas.microsoft.com/office/drawing/2014/main" val="20004"/>
                    </a:ext>
                  </a:extLst>
                </a:gridCol>
                <a:gridCol w="1390954">
                  <a:extLst>
                    <a:ext uri="{9D8B030D-6E8A-4147-A177-3AD203B41FA5}">
                      <a16:colId xmlns:a16="http://schemas.microsoft.com/office/drawing/2014/main" val="20005"/>
                    </a:ext>
                  </a:extLst>
                </a:gridCol>
              </a:tblGrid>
              <a:tr h="602656">
                <a:tc rowSpan="6">
                  <a:txBody>
                    <a:bodyPr/>
                    <a:lstStyle/>
                    <a:p>
                      <a:pPr marL="71755" marR="71755" algn="ctr">
                        <a:lnSpc>
                          <a:spcPts val="1200"/>
                        </a:lnSpc>
                        <a:spcBef>
                          <a:spcPts val="200"/>
                        </a:spcBef>
                        <a:spcAft>
                          <a:spcPts val="200"/>
                        </a:spcAft>
                      </a:pPr>
                      <a:r>
                        <a:rPr lang="en-US" sz="2000" b="1" dirty="0">
                          <a:solidFill>
                            <a:srgbClr val="C00000"/>
                          </a:solidFill>
                          <a:effectLst/>
                        </a:rPr>
                        <a:t>Mechanics</a:t>
                      </a:r>
                      <a:endParaRPr lang="en-IN" sz="2000" b="1" dirty="0">
                        <a:solidFill>
                          <a:srgbClr val="C00000"/>
                        </a:solidFill>
                        <a:effectLst/>
                        <a:latin typeface="Calibri"/>
                        <a:ea typeface="Calibri"/>
                        <a:cs typeface="Times New Roman"/>
                      </a:endParaRPr>
                    </a:p>
                  </a:txBody>
                  <a:tcPr marL="67024" marR="67024" marT="0" marB="0" vert="vert270"/>
                </a:tc>
                <a:tc>
                  <a:txBody>
                    <a:bodyPr/>
                    <a:lstStyle/>
                    <a:p>
                      <a:pPr>
                        <a:lnSpc>
                          <a:spcPts val="1200"/>
                        </a:lnSpc>
                        <a:spcBef>
                          <a:spcPts val="200"/>
                        </a:spcBef>
                        <a:spcAft>
                          <a:spcPts val="200"/>
                        </a:spcAft>
                      </a:pPr>
                      <a:r>
                        <a:rPr lang="en-US" sz="1800" b="1" dirty="0" smtClean="0">
                          <a:solidFill>
                            <a:srgbClr val="0000FF"/>
                          </a:solidFill>
                          <a:effectLst/>
                        </a:rPr>
                        <a:t>Work </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0000FF"/>
                          </a:solidFill>
                          <a:effectLst/>
                        </a:rPr>
                        <a:t>W</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Force x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Displacement</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[ML</a:t>
                      </a:r>
                      <a:r>
                        <a:rPr lang="en-US" sz="1800" b="1" baseline="30000" dirty="0">
                          <a:solidFill>
                            <a:srgbClr val="0000FF"/>
                          </a:solidFill>
                          <a:effectLst/>
                        </a:rPr>
                        <a:t>2</a:t>
                      </a:r>
                      <a:r>
                        <a:rPr lang="en-US" sz="1800" b="1" dirty="0">
                          <a:solidFill>
                            <a:srgbClr val="0000FF"/>
                          </a:solidFill>
                          <a:effectLst/>
                        </a:rPr>
                        <a:t>T</a:t>
                      </a:r>
                      <a:r>
                        <a:rPr lang="en-US" sz="1800" b="1" baseline="30000" dirty="0">
                          <a:solidFill>
                            <a:srgbClr val="0000FF"/>
                          </a:solidFill>
                          <a:effectLst/>
                        </a:rPr>
                        <a:t>–2</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kg m</a:t>
                      </a:r>
                      <a:r>
                        <a:rPr lang="en-US" sz="1800" b="1" baseline="30000" dirty="0">
                          <a:solidFill>
                            <a:srgbClr val="0000FF"/>
                          </a:solidFill>
                          <a:effectLst/>
                        </a:rPr>
                        <a:t>2</a:t>
                      </a:r>
                      <a:r>
                        <a:rPr lang="en-US" sz="1800" b="1" dirty="0">
                          <a:solidFill>
                            <a:srgbClr val="0000FF"/>
                          </a:solidFill>
                          <a:effectLst/>
                        </a:rPr>
                        <a:t>s</a:t>
                      </a:r>
                      <a:r>
                        <a:rPr lang="en-US" sz="1800" b="1" baseline="30000" dirty="0">
                          <a:solidFill>
                            <a:srgbClr val="0000FF"/>
                          </a:solidFill>
                          <a:effectLst/>
                        </a:rPr>
                        <a:t>–2</a:t>
                      </a:r>
                      <a:endParaRPr lang="en-IN" sz="1800" b="1" dirty="0">
                        <a:solidFill>
                          <a:srgbClr val="0000FF"/>
                        </a:solidFill>
                        <a:effectLst/>
                      </a:endParaRPr>
                    </a:p>
                    <a:p>
                      <a:pPr>
                        <a:lnSpc>
                          <a:spcPts val="1200"/>
                        </a:lnSpc>
                        <a:spcBef>
                          <a:spcPts val="200"/>
                        </a:spcBef>
                        <a:spcAft>
                          <a:spcPts val="200"/>
                        </a:spcAft>
                      </a:pPr>
                      <a:r>
                        <a:rPr lang="en-US" sz="1800" b="1" dirty="0">
                          <a:solidFill>
                            <a:srgbClr val="C00000"/>
                          </a:solidFill>
                          <a:effectLst/>
                        </a:rPr>
                        <a:t>or</a:t>
                      </a:r>
                      <a:r>
                        <a:rPr lang="en-US" sz="1800" b="1" dirty="0">
                          <a:solidFill>
                            <a:srgbClr val="0000FF"/>
                          </a:solidFill>
                          <a:effectLst/>
                        </a:rPr>
                        <a:t>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joule </a:t>
                      </a:r>
                      <a:r>
                        <a:rPr lang="en-US" sz="1800" b="1" dirty="0">
                          <a:solidFill>
                            <a:srgbClr val="0000FF"/>
                          </a:solidFill>
                          <a:effectLst/>
                        </a:rPr>
                        <a:t>(J)</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Energy </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endParaRPr lang="en-US" sz="1800" b="1" dirty="0" smtClean="0">
                        <a:solidFill>
                          <a:srgbClr val="0000FF"/>
                        </a:solidFill>
                        <a:effectLst/>
                      </a:endParaRPr>
                    </a:p>
                    <a:p>
                      <a:pPr algn="ctr">
                        <a:lnSpc>
                          <a:spcPts val="1200"/>
                        </a:lnSpc>
                        <a:spcBef>
                          <a:spcPts val="200"/>
                        </a:spcBef>
                        <a:spcAft>
                          <a:spcPts val="200"/>
                        </a:spcAft>
                      </a:pPr>
                      <a:r>
                        <a:rPr lang="en-US" sz="1800" b="1" dirty="0" smtClean="0">
                          <a:solidFill>
                            <a:srgbClr val="0000FF"/>
                          </a:solidFill>
                          <a:effectLst/>
                        </a:rPr>
                        <a:t>E</a:t>
                      </a:r>
                      <a:endParaRPr lang="en-IN" sz="1800" b="1" dirty="0">
                        <a:solidFill>
                          <a:srgbClr val="0000FF"/>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a:solidFill>
                            <a:srgbClr val="0000FF"/>
                          </a:solidFill>
                          <a:effectLst/>
                        </a:rPr>
                        <a:t>Capacity to do work</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smtClean="0">
                          <a:solidFill>
                            <a:srgbClr val="0000FF"/>
                          </a:solidFill>
                          <a:effectLst/>
                        </a:rPr>
                        <a:t>[ML</a:t>
                      </a:r>
                      <a:r>
                        <a:rPr lang="en-US" sz="1800" b="1" baseline="30000" dirty="0" smtClean="0">
                          <a:solidFill>
                            <a:srgbClr val="0000FF"/>
                          </a:solidFill>
                          <a:effectLst/>
                        </a:rPr>
                        <a:t>2</a:t>
                      </a:r>
                      <a:r>
                        <a:rPr lang="en-US" sz="1800" b="1" dirty="0" smtClean="0">
                          <a:solidFill>
                            <a:srgbClr val="0000FF"/>
                          </a:solidFill>
                          <a:effectLst/>
                        </a:rPr>
                        <a:t>T</a:t>
                      </a:r>
                      <a:r>
                        <a:rPr lang="en-US" sz="1800" b="1" baseline="30000" dirty="0" smtClean="0">
                          <a:solidFill>
                            <a:srgbClr val="0000FF"/>
                          </a:solidFill>
                          <a:effectLst/>
                        </a:rPr>
                        <a:t>–2</a:t>
                      </a:r>
                      <a:r>
                        <a:rPr lang="en-US" sz="1800" b="1" dirty="0" smtClean="0">
                          <a:solidFill>
                            <a:srgbClr val="0000FF"/>
                          </a:solidFill>
                          <a:effectLst/>
                        </a:rPr>
                        <a:t>]</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joule (J)</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Energy density </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a:solidFill>
                            <a:srgbClr val="0000FF"/>
                          </a:solidFill>
                          <a:effectLst/>
                        </a:rPr>
                        <a:t> </a:t>
                      </a:r>
                      <a:endParaRPr lang="en-IN" sz="1800" b="1">
                        <a:solidFill>
                          <a:srgbClr val="0000FF"/>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dirty="0" smtClean="0">
                          <a:solidFill>
                            <a:srgbClr val="0000FF"/>
                          </a:solidFill>
                          <a:effectLst/>
                        </a:rPr>
                        <a:t>Energy / volume</a:t>
                      </a:r>
                      <a:endParaRPr lang="en-US" sz="1800" b="1" dirty="0">
                        <a:solidFill>
                          <a:srgbClr val="0000FF"/>
                        </a:solidFill>
                        <a:effectLst/>
                        <a:latin typeface="Verdana"/>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0000FF"/>
                          </a:solidFill>
                          <a:effectLst/>
                        </a:rPr>
                        <a:t>[ML</a:t>
                      </a:r>
                      <a:r>
                        <a:rPr lang="en-US" sz="1800" b="1" baseline="30000">
                          <a:solidFill>
                            <a:srgbClr val="0000FF"/>
                          </a:solidFill>
                          <a:effectLst/>
                        </a:rPr>
                        <a:t>–1</a:t>
                      </a:r>
                      <a:r>
                        <a:rPr lang="en-US" sz="1800" b="1">
                          <a:solidFill>
                            <a:srgbClr val="0000FF"/>
                          </a:solidFill>
                          <a:effectLst/>
                        </a:rPr>
                        <a:t>T</a:t>
                      </a:r>
                      <a:r>
                        <a:rPr lang="en-US" sz="1800" b="1" baseline="30000">
                          <a:solidFill>
                            <a:srgbClr val="0000FF"/>
                          </a:solidFill>
                          <a:effectLst/>
                        </a:rPr>
                        <a:t>–2</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J m</a:t>
                      </a:r>
                      <a:r>
                        <a:rPr lang="en-US" sz="1800" b="1" baseline="30000" dirty="0">
                          <a:solidFill>
                            <a:srgbClr val="0000FF"/>
                          </a:solidFill>
                          <a:effectLst/>
                        </a:rPr>
                        <a:t>–3</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Power </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dirty="0">
                          <a:solidFill>
                            <a:srgbClr val="0000FF"/>
                          </a:solidFill>
                          <a:effectLst/>
                        </a:rPr>
                        <a:t>P</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(Work or energy) /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0000FF"/>
                          </a:solidFill>
                          <a:effectLst/>
                        </a:rPr>
                        <a:t>time</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a:solidFill>
                            <a:srgbClr val="0000FF"/>
                          </a:solidFill>
                          <a:effectLst/>
                        </a:rPr>
                        <a:t>[ML</a:t>
                      </a:r>
                      <a:r>
                        <a:rPr lang="en-US" sz="1800" b="1" baseline="30000">
                          <a:solidFill>
                            <a:srgbClr val="0000FF"/>
                          </a:solidFill>
                          <a:effectLst/>
                        </a:rPr>
                        <a:t>2</a:t>
                      </a:r>
                      <a:r>
                        <a:rPr lang="en-US" sz="1800" b="1">
                          <a:solidFill>
                            <a:srgbClr val="0000FF"/>
                          </a:solidFill>
                          <a:effectLst/>
                        </a:rPr>
                        <a:t>T</a:t>
                      </a:r>
                      <a:r>
                        <a:rPr lang="en-US" sz="1800" b="1" baseline="30000">
                          <a:solidFill>
                            <a:srgbClr val="0000FF"/>
                          </a:solidFill>
                          <a:effectLst/>
                        </a:rPr>
                        <a:t>–3</a:t>
                      </a:r>
                      <a:r>
                        <a:rPr lang="en-US" sz="1800" b="1">
                          <a:solidFill>
                            <a:srgbClr val="0000FF"/>
                          </a:solidFill>
                          <a:effectLst/>
                        </a:rPr>
                        <a:t>]</a:t>
                      </a:r>
                      <a:endParaRPr lang="en-IN" sz="1800" b="1">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J s</a:t>
                      </a:r>
                      <a:r>
                        <a:rPr lang="en-US" sz="1800" b="1" baseline="30000" dirty="0">
                          <a:solidFill>
                            <a:srgbClr val="0000FF"/>
                          </a:solidFill>
                          <a:effectLst/>
                        </a:rPr>
                        <a:t>–1</a:t>
                      </a:r>
                      <a:r>
                        <a:rPr lang="en-US" sz="1800" b="1" dirty="0">
                          <a:solidFill>
                            <a:srgbClr val="0000FF"/>
                          </a:solidFill>
                          <a:effectLst/>
                        </a:rPr>
                        <a:t>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C00000"/>
                          </a:solidFill>
                          <a:effectLst/>
                        </a:rPr>
                        <a:t>or</a:t>
                      </a:r>
                      <a:r>
                        <a:rPr lang="en-US" sz="1800" b="1" dirty="0" smtClean="0">
                          <a:solidFill>
                            <a:srgbClr val="0000FF"/>
                          </a:solidFill>
                          <a:effectLst/>
                        </a:rPr>
                        <a:t> </a:t>
                      </a:r>
                    </a:p>
                    <a:p>
                      <a:pPr>
                        <a:lnSpc>
                          <a:spcPts val="1200"/>
                        </a:lnSpc>
                        <a:spcBef>
                          <a:spcPts val="200"/>
                        </a:spcBef>
                        <a:spcAft>
                          <a:spcPts val="200"/>
                        </a:spcAft>
                      </a:pPr>
                      <a:r>
                        <a:rPr lang="en-US" sz="1800" b="1" dirty="0" smtClean="0">
                          <a:solidFill>
                            <a:srgbClr val="0000FF"/>
                          </a:solidFill>
                          <a:effectLst/>
                        </a:rPr>
                        <a:t>Watt (W</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r h="853508">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Pressure </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a:solidFill>
                            <a:srgbClr val="0000FF"/>
                          </a:solidFill>
                          <a:effectLst/>
                        </a:rPr>
                        <a:t>P</a:t>
                      </a:r>
                      <a:endParaRPr lang="en-IN" sz="1800" b="1">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Force / area</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[ML</a:t>
                      </a:r>
                      <a:r>
                        <a:rPr lang="en-US" sz="1800" b="1" baseline="30000" dirty="0">
                          <a:solidFill>
                            <a:srgbClr val="0000FF"/>
                          </a:solidFill>
                          <a:effectLst/>
                        </a:rPr>
                        <a:t>–1</a:t>
                      </a:r>
                      <a:r>
                        <a:rPr lang="en-US" sz="1800" b="1" dirty="0">
                          <a:solidFill>
                            <a:srgbClr val="0000FF"/>
                          </a:solidFill>
                          <a:effectLst/>
                        </a:rPr>
                        <a:t>T</a:t>
                      </a:r>
                      <a:r>
                        <a:rPr lang="en-US" sz="1800" b="1" baseline="30000" dirty="0">
                          <a:solidFill>
                            <a:srgbClr val="0000FF"/>
                          </a:solidFill>
                          <a:effectLst/>
                        </a:rPr>
                        <a:t>–2</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N m</a:t>
                      </a:r>
                      <a:r>
                        <a:rPr lang="en-US" sz="1800" b="1" baseline="30000" dirty="0">
                          <a:solidFill>
                            <a:srgbClr val="0000FF"/>
                          </a:solidFill>
                          <a:effectLst/>
                        </a:rPr>
                        <a:t>–2</a:t>
                      </a:r>
                      <a:r>
                        <a:rPr lang="en-US" sz="1800" b="1" dirty="0">
                          <a:solidFill>
                            <a:srgbClr val="0000FF"/>
                          </a:solidFill>
                          <a:effectLst/>
                        </a:rPr>
                        <a:t> </a:t>
                      </a:r>
                      <a:endParaRPr lang="en-US" sz="1800" b="1" dirty="0" smtClean="0">
                        <a:solidFill>
                          <a:srgbClr val="0000FF"/>
                        </a:solidFill>
                        <a:effectLst/>
                      </a:endParaRPr>
                    </a:p>
                    <a:p>
                      <a:pPr>
                        <a:lnSpc>
                          <a:spcPts val="1200"/>
                        </a:lnSpc>
                        <a:spcBef>
                          <a:spcPts val="200"/>
                        </a:spcBef>
                        <a:spcAft>
                          <a:spcPts val="200"/>
                        </a:spcAft>
                      </a:pPr>
                      <a:r>
                        <a:rPr lang="en-US" sz="1800" b="1" dirty="0" smtClean="0">
                          <a:solidFill>
                            <a:srgbClr val="C00000"/>
                          </a:solidFill>
                          <a:effectLst/>
                        </a:rPr>
                        <a:t>or</a:t>
                      </a:r>
                      <a:r>
                        <a:rPr lang="en-US" sz="1800" b="1" dirty="0" smtClean="0">
                          <a:solidFill>
                            <a:srgbClr val="0000FF"/>
                          </a:solidFill>
                          <a:effectLst/>
                        </a:rPr>
                        <a:t> </a:t>
                      </a:r>
                    </a:p>
                    <a:p>
                      <a:pPr>
                        <a:lnSpc>
                          <a:spcPts val="1200"/>
                        </a:lnSpc>
                        <a:spcBef>
                          <a:spcPts val="200"/>
                        </a:spcBef>
                        <a:spcAft>
                          <a:spcPts val="200"/>
                        </a:spcAft>
                      </a:pPr>
                      <a:r>
                        <a:rPr lang="en-US" sz="1800" b="1" dirty="0" smtClean="0">
                          <a:solidFill>
                            <a:srgbClr val="0000FF"/>
                          </a:solidFill>
                          <a:effectLst/>
                        </a:rPr>
                        <a:t>Pascal </a:t>
                      </a:r>
                      <a:r>
                        <a:rPr lang="en-US" sz="1800" b="1" dirty="0">
                          <a:solidFill>
                            <a:srgbClr val="0000FF"/>
                          </a:solidFill>
                          <a:effectLst/>
                        </a:rPr>
                        <a:t>(Pa)</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4"/>
                  </a:ext>
                </a:extLst>
              </a:tr>
              <a:tr h="602656">
                <a:tc vMerge="1">
                  <a:txBody>
                    <a:bodyPr/>
                    <a:lstStyle/>
                    <a:p>
                      <a:endParaRPr lang="en-IN"/>
                    </a:p>
                  </a:txBody>
                  <a:tcPr/>
                </a:tc>
                <a:tc>
                  <a:txBody>
                    <a:bodyPr/>
                    <a:lstStyle/>
                    <a:p>
                      <a:pPr>
                        <a:lnSpc>
                          <a:spcPts val="1200"/>
                        </a:lnSpc>
                        <a:spcBef>
                          <a:spcPts val="200"/>
                        </a:spcBef>
                        <a:spcAft>
                          <a:spcPts val="200"/>
                        </a:spcAft>
                      </a:pPr>
                      <a:r>
                        <a:rPr lang="en-US" sz="1800" b="1" dirty="0">
                          <a:solidFill>
                            <a:srgbClr val="0000FF"/>
                          </a:solidFill>
                          <a:effectLst/>
                        </a:rPr>
                        <a:t>Pressure head</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gn="ctr">
                        <a:lnSpc>
                          <a:spcPts val="1200"/>
                        </a:lnSpc>
                        <a:spcBef>
                          <a:spcPts val="200"/>
                        </a:spcBef>
                        <a:spcAft>
                          <a:spcPts val="200"/>
                        </a:spcAft>
                      </a:pPr>
                      <a:r>
                        <a:rPr lang="en-US" sz="1800" b="1">
                          <a:solidFill>
                            <a:srgbClr val="0000FF"/>
                          </a:solidFill>
                          <a:effectLst/>
                        </a:rPr>
                        <a:t> </a:t>
                      </a:r>
                      <a:endParaRPr lang="en-IN" sz="1800" b="1">
                        <a:solidFill>
                          <a:srgbClr val="0000FF"/>
                        </a:solidFill>
                        <a:effectLst/>
                        <a:latin typeface="Calibri"/>
                        <a:ea typeface="Calibri"/>
                        <a:cs typeface="Times New Roman"/>
                      </a:endParaRPr>
                    </a:p>
                  </a:txBody>
                  <a:tcPr marL="68580" marR="68580" marT="0" marB="0"/>
                </a:tc>
                <a:tc>
                  <a:txBody>
                    <a:bodyPr/>
                    <a:lstStyle/>
                    <a:p>
                      <a:pPr>
                        <a:lnSpc>
                          <a:spcPts val="1200"/>
                        </a:lnSpc>
                        <a:spcBef>
                          <a:spcPts val="200"/>
                        </a:spcBef>
                        <a:spcAft>
                          <a:spcPts val="200"/>
                        </a:spcAft>
                      </a:pPr>
                      <a:r>
                        <a:rPr lang="en-US" sz="1800" b="1">
                          <a:solidFill>
                            <a:srgbClr val="0000FF"/>
                          </a:solidFill>
                          <a:effectLst/>
                        </a:rPr>
                        <a:t> </a:t>
                      </a:r>
                      <a:endParaRPr lang="en-IN" sz="1800" b="1">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a:solidFill>
                            <a:srgbClr val="0000FF"/>
                          </a:solidFill>
                          <a:effectLst/>
                        </a:rPr>
                        <a:t>[</a:t>
                      </a:r>
                      <a:r>
                        <a:rPr lang="en-US" sz="1800" b="1" dirty="0" err="1">
                          <a:solidFill>
                            <a:srgbClr val="0000FF"/>
                          </a:solidFill>
                          <a:effectLst/>
                        </a:rPr>
                        <a:t>M</a:t>
                      </a:r>
                      <a:r>
                        <a:rPr lang="en-US" sz="1800" b="1" baseline="30000" dirty="0" err="1">
                          <a:solidFill>
                            <a:srgbClr val="0000FF"/>
                          </a:solidFill>
                          <a:effectLst/>
                        </a:rPr>
                        <a:t>o</a:t>
                      </a:r>
                      <a:r>
                        <a:rPr lang="en-US" sz="1800" b="1" dirty="0" err="1">
                          <a:solidFill>
                            <a:srgbClr val="0000FF"/>
                          </a:solidFill>
                          <a:effectLst/>
                        </a:rPr>
                        <a:t>LT</a:t>
                      </a:r>
                      <a:r>
                        <a:rPr lang="en-US" sz="1800" b="1" baseline="30000" dirty="0" err="1">
                          <a:solidFill>
                            <a:srgbClr val="0000FF"/>
                          </a:solidFill>
                          <a:effectLst/>
                        </a:rPr>
                        <a:t>o</a:t>
                      </a:r>
                      <a:r>
                        <a:rPr lang="en-US" sz="1800" b="1" dirty="0">
                          <a:solidFill>
                            <a:srgbClr val="0000FF"/>
                          </a:solidFill>
                          <a:effectLst/>
                        </a:rPr>
                        <a:t>]</a:t>
                      </a:r>
                      <a:endParaRPr lang="en-IN" sz="1800" b="1" dirty="0">
                        <a:solidFill>
                          <a:srgbClr val="0000FF"/>
                        </a:solidFill>
                        <a:effectLst/>
                        <a:latin typeface="Calibri"/>
                        <a:ea typeface="Calibri"/>
                        <a:cs typeface="Times New Roman"/>
                      </a:endParaRPr>
                    </a:p>
                  </a:txBody>
                  <a:tcPr marL="68580" marR="68580" marT="0" marB="0" anchor="ctr"/>
                </a:tc>
                <a:tc>
                  <a:txBody>
                    <a:bodyPr/>
                    <a:lstStyle/>
                    <a:p>
                      <a:pPr>
                        <a:lnSpc>
                          <a:spcPts val="1200"/>
                        </a:lnSpc>
                        <a:spcBef>
                          <a:spcPts val="200"/>
                        </a:spcBef>
                        <a:spcAft>
                          <a:spcPts val="200"/>
                        </a:spcAft>
                      </a:pPr>
                      <a:r>
                        <a:rPr lang="en-US" sz="1800" b="1" dirty="0" smtClean="0">
                          <a:solidFill>
                            <a:srgbClr val="0000FF"/>
                          </a:solidFill>
                          <a:effectLst/>
                        </a:rPr>
                        <a:t>m</a:t>
                      </a:r>
                      <a:endParaRPr lang="en-IN" sz="1800" b="1" dirty="0">
                        <a:solidFill>
                          <a:srgbClr val="0000FF"/>
                        </a:solidFill>
                        <a:effectLst/>
                        <a:latin typeface="Calibri"/>
                        <a:ea typeface="Calibri"/>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sp>
        <p:nvSpPr>
          <p:cNvPr id="67588"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firstslide"/>
              </a:rPr>
              <a:t>Home</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7589"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nextslide"/>
              </a:rPr>
              <a:t>Next</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
        <p:nvSpPr>
          <p:cNvPr id="67590"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hlinkClick r:id="" action="ppaction://hlinkshowjump?jump=previousslide"/>
              </a:rPr>
              <a:t>Previous</a:t>
            </a:r>
            <a:endParaRPr kumimoji="0" lang="en-US" altLang="en-US" sz="12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53767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92314" y="620714"/>
            <a:ext cx="7920037" cy="3970337"/>
          </a:xfrm>
          <a:prstGeom prst="rect">
            <a:avLst/>
          </a:prstGeom>
        </p:spPr>
        <p:txBody>
          <a:bodyPr>
            <a:spAutoFit/>
          </a:bodyPr>
          <a:lstStyle/>
          <a:p>
            <a:pPr fontAlgn="base">
              <a:spcBef>
                <a:spcPct val="0"/>
              </a:spcBef>
              <a:spcAft>
                <a:spcPct val="0"/>
              </a:spcAft>
              <a:defRPr/>
            </a:pPr>
            <a:r>
              <a:rPr lang="en-US" b="1" dirty="0">
                <a:solidFill>
                  <a:srgbClr val="00FFFF"/>
                </a:solidFill>
                <a:latin typeface="Arial" panose="020B0604020202020204" pitchFamily="34" charset="0"/>
              </a:rPr>
              <a:t>The expression which shows how and which of the base quantities represent the dimensions of a physical quantity is called the </a:t>
            </a:r>
            <a:r>
              <a:rPr lang="en-US" b="1" i="1" dirty="0">
                <a:solidFill>
                  <a:srgbClr val="00FFFF"/>
                </a:solidFill>
                <a:latin typeface="Arial" panose="020B0604020202020204" pitchFamily="34" charset="0"/>
              </a:rPr>
              <a:t>dimensional formula </a:t>
            </a:r>
            <a:r>
              <a:rPr lang="en-US" b="1" dirty="0">
                <a:solidFill>
                  <a:srgbClr val="00FFFF"/>
                </a:solidFill>
                <a:latin typeface="Arial" panose="020B0604020202020204" pitchFamily="34" charset="0"/>
              </a:rPr>
              <a:t>of the given physical quantity. </a:t>
            </a:r>
          </a:p>
          <a:p>
            <a:pPr fontAlgn="base">
              <a:spcBef>
                <a:spcPct val="0"/>
              </a:spcBef>
              <a:spcAft>
                <a:spcPct val="0"/>
              </a:spcAft>
              <a:defRPr/>
            </a:pPr>
            <a:endParaRPr lang="en-IN" b="1" dirty="0">
              <a:solidFill>
                <a:srgbClr val="FF3399"/>
              </a:solidFill>
              <a:latin typeface="Arial" panose="020B0604020202020204" pitchFamily="34" charset="0"/>
            </a:endParaRPr>
          </a:p>
          <a:p>
            <a:pPr fontAlgn="base">
              <a:spcBef>
                <a:spcPct val="0"/>
              </a:spcBef>
              <a:spcAft>
                <a:spcPct val="0"/>
              </a:spcAft>
              <a:defRPr/>
            </a:pPr>
            <a:r>
              <a:rPr lang="en-US" b="1" dirty="0">
                <a:solidFill>
                  <a:srgbClr val="00FF00"/>
                </a:solidFill>
                <a:latin typeface="Arial" panose="020B0604020202020204" pitchFamily="34" charset="0"/>
              </a:rPr>
              <a:t>Example: </a:t>
            </a:r>
          </a:p>
          <a:p>
            <a:pPr fontAlgn="base">
              <a:spcBef>
                <a:spcPct val="0"/>
              </a:spcBef>
              <a:spcAft>
                <a:spcPct val="0"/>
              </a:spcAft>
              <a:defRPr/>
            </a:pPr>
            <a:endParaRPr lang="en-IN" b="1" dirty="0">
              <a:solidFill>
                <a:srgbClr val="FF3399"/>
              </a:solidFill>
              <a:latin typeface="Arial" panose="020B0604020202020204" pitchFamily="34" charset="0"/>
            </a:endParaRPr>
          </a:p>
          <a:p>
            <a:pPr marL="400050" indent="-400050" fontAlgn="base">
              <a:spcBef>
                <a:spcPct val="0"/>
              </a:spcBef>
              <a:spcAft>
                <a:spcPct val="0"/>
              </a:spcAft>
              <a:buFontTx/>
              <a:buAutoNum type="romanLcParenBoth"/>
              <a:defRPr/>
            </a:pPr>
            <a:r>
              <a:rPr lang="en-US" b="1" dirty="0">
                <a:solidFill>
                  <a:srgbClr val="00FFFF"/>
                </a:solidFill>
                <a:latin typeface="Arial" panose="020B0604020202020204" pitchFamily="34" charset="0"/>
              </a:rPr>
              <a:t>The dimensional formula of the volume is [M° L</a:t>
            </a:r>
            <a:r>
              <a:rPr lang="en-US" b="1" baseline="30000" dirty="0">
                <a:solidFill>
                  <a:srgbClr val="00FFFF"/>
                </a:solidFill>
                <a:latin typeface="Arial" panose="020B0604020202020204" pitchFamily="34" charset="0"/>
              </a:rPr>
              <a:t>3 </a:t>
            </a:r>
            <a:r>
              <a:rPr lang="en-US" b="1" dirty="0">
                <a:solidFill>
                  <a:srgbClr val="00FFFF"/>
                </a:solidFill>
                <a:latin typeface="Arial" panose="020B0604020202020204" pitchFamily="34" charset="0"/>
              </a:rPr>
              <a:t>T°],</a:t>
            </a:r>
          </a:p>
          <a:p>
            <a:pPr marL="400050" indent="-400050" fontAlgn="base">
              <a:spcBef>
                <a:spcPct val="0"/>
              </a:spcBef>
              <a:spcAft>
                <a:spcPct val="0"/>
              </a:spcAft>
              <a:buFontTx/>
              <a:buAutoNum type="romanLcParenBoth"/>
              <a:defRPr/>
            </a:pPr>
            <a:r>
              <a:rPr lang="en-US" b="1" dirty="0">
                <a:solidFill>
                  <a:srgbClr val="00FFFF"/>
                </a:solidFill>
                <a:latin typeface="Arial" panose="020B0604020202020204" pitchFamily="34" charset="0"/>
              </a:rPr>
              <a:t>The dimensional formula of speed or velocity is [M° L T</a:t>
            </a:r>
            <a:r>
              <a:rPr lang="en-US" b="1" baseline="30000" dirty="0">
                <a:solidFill>
                  <a:srgbClr val="00FFFF"/>
                </a:solidFill>
                <a:latin typeface="Arial" panose="020B0604020202020204" pitchFamily="34" charset="0"/>
              </a:rPr>
              <a:t>-1</a:t>
            </a:r>
            <a:r>
              <a:rPr lang="en-US" b="1" dirty="0">
                <a:solidFill>
                  <a:srgbClr val="00FFFF"/>
                </a:solidFill>
                <a:latin typeface="Arial" panose="020B0604020202020204" pitchFamily="34" charset="0"/>
              </a:rPr>
              <a:t>] </a:t>
            </a:r>
            <a:endParaRPr lang="en-IN" b="1" dirty="0">
              <a:solidFill>
                <a:srgbClr val="00FFFF"/>
              </a:solidFill>
              <a:latin typeface="Arial" panose="020B0604020202020204" pitchFamily="34" charset="0"/>
            </a:endParaRPr>
          </a:p>
          <a:p>
            <a:pPr fontAlgn="base">
              <a:spcBef>
                <a:spcPct val="0"/>
              </a:spcBef>
              <a:spcAft>
                <a:spcPct val="0"/>
              </a:spcAft>
              <a:defRPr/>
            </a:pPr>
            <a:r>
              <a:rPr lang="en-US" b="1" dirty="0">
                <a:solidFill>
                  <a:srgbClr val="00FFFF"/>
                </a:solidFill>
                <a:latin typeface="Arial" panose="020B0604020202020204" pitchFamily="34" charset="0"/>
              </a:rPr>
              <a:t>(iii) The dimensional formula of acceleration is [M° L T</a:t>
            </a:r>
            <a:r>
              <a:rPr lang="en-US" b="1" baseline="30000" dirty="0">
                <a:solidFill>
                  <a:srgbClr val="00FFFF"/>
                </a:solidFill>
                <a:latin typeface="Arial" panose="020B0604020202020204" pitchFamily="34" charset="0"/>
              </a:rPr>
              <a:t>–2</a:t>
            </a:r>
            <a:r>
              <a:rPr lang="en-US" b="1" dirty="0">
                <a:solidFill>
                  <a:srgbClr val="00FFFF"/>
                </a:solidFill>
                <a:latin typeface="Arial" panose="020B0604020202020204" pitchFamily="34" charset="0"/>
              </a:rPr>
              <a:t>]  </a:t>
            </a:r>
            <a:endParaRPr lang="en-IN" b="1" dirty="0">
              <a:solidFill>
                <a:srgbClr val="00FFFF"/>
              </a:solidFill>
              <a:latin typeface="Arial" panose="020B0604020202020204" pitchFamily="34" charset="0"/>
            </a:endParaRPr>
          </a:p>
          <a:p>
            <a:pPr fontAlgn="base">
              <a:spcBef>
                <a:spcPct val="0"/>
              </a:spcBef>
              <a:spcAft>
                <a:spcPct val="0"/>
              </a:spcAft>
              <a:defRPr/>
            </a:pPr>
            <a:r>
              <a:rPr lang="en-US" b="1" dirty="0">
                <a:solidFill>
                  <a:srgbClr val="FF3399"/>
                </a:solidFill>
                <a:latin typeface="Arial" panose="020B0604020202020204" pitchFamily="34" charset="0"/>
              </a:rPr>
              <a:t> </a:t>
            </a:r>
          </a:p>
          <a:p>
            <a:pPr fontAlgn="base">
              <a:spcBef>
                <a:spcPct val="0"/>
              </a:spcBef>
              <a:spcAft>
                <a:spcPct val="0"/>
              </a:spcAft>
              <a:defRPr/>
            </a:pPr>
            <a:endParaRPr lang="en-IN" b="1" dirty="0">
              <a:solidFill>
                <a:srgbClr val="FF3399"/>
              </a:solidFill>
              <a:latin typeface="Arial" panose="020B0604020202020204" pitchFamily="34" charset="0"/>
            </a:endParaRPr>
          </a:p>
          <a:p>
            <a:pPr fontAlgn="base">
              <a:spcBef>
                <a:spcPct val="0"/>
              </a:spcBef>
              <a:spcAft>
                <a:spcPct val="0"/>
              </a:spcAft>
              <a:defRPr/>
            </a:pPr>
            <a:r>
              <a:rPr lang="en-US" b="1" dirty="0">
                <a:solidFill>
                  <a:srgbClr val="FF3399"/>
                </a:solidFill>
                <a:latin typeface="Arial" panose="020B0604020202020204" pitchFamily="34" charset="0"/>
              </a:rPr>
              <a:t>An equation obtained by equating a physical quantity with its dimensional formula is called the dimensional equation of the physical quantity.   </a:t>
            </a:r>
            <a:endParaRPr lang="en-IN" b="1" dirty="0">
              <a:solidFill>
                <a:srgbClr val="FF3399"/>
              </a:solidFill>
              <a:latin typeface="Arial" panose="020B0604020202020204" pitchFamily="34" charset="0"/>
            </a:endParaRPr>
          </a:p>
        </p:txBody>
      </p:sp>
      <p:sp>
        <p:nvSpPr>
          <p:cNvPr id="52227" name="Rectangle 2"/>
          <p:cNvSpPr>
            <a:spLocks noChangeArrowheads="1"/>
          </p:cNvSpPr>
          <p:nvPr/>
        </p:nvSpPr>
        <p:spPr bwMode="auto">
          <a:xfrm>
            <a:off x="1992314" y="176213"/>
            <a:ext cx="7920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00B0F0"/>
                </a:solidFill>
              </a:rPr>
              <a:t>DIMENSIONAL FORMULAE AND DIMENSIONAL EQUATIONS</a:t>
            </a:r>
            <a:endParaRPr lang="en-IN" altLang="en-US" sz="2000" b="1">
              <a:solidFill>
                <a:srgbClr val="00B0F0"/>
              </a:solidFill>
            </a:endParaRPr>
          </a:p>
        </p:txBody>
      </p:sp>
      <p:sp>
        <p:nvSpPr>
          <p:cNvPr id="52228" name="Rectangle 3"/>
          <p:cNvSpPr>
            <a:spLocks noChangeArrowheads="1"/>
          </p:cNvSpPr>
          <p:nvPr/>
        </p:nvSpPr>
        <p:spPr bwMode="auto">
          <a:xfrm>
            <a:off x="1993900" y="4687888"/>
            <a:ext cx="2286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99FF66"/>
                </a:solidFill>
              </a:rPr>
              <a:t>Example: </a:t>
            </a:r>
          </a:p>
          <a:p>
            <a:pPr eaLnBrk="1" fontAlgn="base" hangingPunct="1">
              <a:spcBef>
                <a:spcPct val="0"/>
              </a:spcBef>
              <a:spcAft>
                <a:spcPct val="0"/>
              </a:spcAft>
            </a:pPr>
            <a:endParaRPr lang="en-IN" altLang="en-US" b="1">
              <a:solidFill>
                <a:srgbClr val="FF3399"/>
              </a:solidFill>
            </a:endParaRPr>
          </a:p>
          <a:p>
            <a:pPr eaLnBrk="1" fontAlgn="base" hangingPunct="1">
              <a:spcBef>
                <a:spcPct val="0"/>
              </a:spcBef>
              <a:spcAft>
                <a:spcPct val="0"/>
              </a:spcAft>
            </a:pPr>
            <a:r>
              <a:rPr lang="en-US" altLang="en-US" b="1">
                <a:solidFill>
                  <a:srgbClr val="FF3399"/>
                </a:solidFill>
              </a:rPr>
              <a:t>(i)   [V] = [M° L</a:t>
            </a:r>
            <a:r>
              <a:rPr lang="en-US" altLang="en-US" b="1" baseline="30000">
                <a:solidFill>
                  <a:srgbClr val="FF3399"/>
                </a:solidFill>
              </a:rPr>
              <a:t>3 </a:t>
            </a:r>
            <a:r>
              <a:rPr lang="en-US" altLang="en-US" b="1">
                <a:solidFill>
                  <a:srgbClr val="FF3399"/>
                </a:solidFill>
              </a:rPr>
              <a:t>T°]</a:t>
            </a:r>
            <a:endParaRPr lang="en-IN" altLang="en-US" b="1">
              <a:solidFill>
                <a:srgbClr val="FF3399"/>
              </a:solidFill>
            </a:endParaRPr>
          </a:p>
          <a:p>
            <a:pPr eaLnBrk="1" fontAlgn="base" hangingPunct="1">
              <a:spcBef>
                <a:spcPct val="0"/>
              </a:spcBef>
              <a:spcAft>
                <a:spcPct val="0"/>
              </a:spcAft>
            </a:pPr>
            <a:r>
              <a:rPr lang="en-US" altLang="en-US" b="1">
                <a:solidFill>
                  <a:srgbClr val="FF3399"/>
                </a:solidFill>
              </a:rPr>
              <a:t>(ii)  [v] = [M° L T</a:t>
            </a:r>
            <a:r>
              <a:rPr lang="en-US" altLang="en-US" b="1" baseline="30000">
                <a:solidFill>
                  <a:srgbClr val="FF3399"/>
                </a:solidFill>
              </a:rPr>
              <a:t>-1</a:t>
            </a:r>
            <a:r>
              <a:rPr lang="en-US" altLang="en-US" b="1">
                <a:solidFill>
                  <a:srgbClr val="FF3399"/>
                </a:solidFill>
              </a:rPr>
              <a:t>]</a:t>
            </a:r>
          </a:p>
          <a:p>
            <a:pPr eaLnBrk="1" fontAlgn="base" hangingPunct="1">
              <a:spcBef>
                <a:spcPct val="0"/>
              </a:spcBef>
              <a:spcAft>
                <a:spcPct val="0"/>
              </a:spcAft>
            </a:pPr>
            <a:r>
              <a:rPr lang="en-US" altLang="en-US" b="1">
                <a:solidFill>
                  <a:srgbClr val="FF3399"/>
                </a:solidFill>
              </a:rPr>
              <a:t>(iii) [a] = [M° L T</a:t>
            </a:r>
            <a:r>
              <a:rPr lang="en-US" altLang="en-US" b="1" baseline="30000">
                <a:solidFill>
                  <a:srgbClr val="FF3399"/>
                </a:solidFill>
              </a:rPr>
              <a:t>–2</a:t>
            </a:r>
            <a:r>
              <a:rPr lang="en-US" altLang="en-US" b="1">
                <a:solidFill>
                  <a:srgbClr val="FF3399"/>
                </a:solidFill>
              </a:rPr>
              <a:t>]  </a:t>
            </a:r>
            <a:endParaRPr lang="en-IN" altLang="en-US" b="1">
              <a:solidFill>
                <a:srgbClr val="FF3399"/>
              </a:solidFill>
            </a:endParaRPr>
          </a:p>
        </p:txBody>
      </p:sp>
      <p:sp>
        <p:nvSpPr>
          <p:cNvPr id="52229"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2230"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2231"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3930450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mph" presetSubtype="0" fill="remove" grpId="0" nodeType="afterEffect">
                                  <p:stCondLst>
                                    <p:cond delay="0"/>
                                  </p:stCondLst>
                                  <p:childTnLst>
                                    <p:animClr clrSpc="rgb" dir="cw">
                                      <p:cBhvr override="childStyle">
                                        <p:cTn id="6" dur="250" autoRev="1" fill="remove"/>
                                        <p:tgtEl>
                                          <p:spTgt spid="52227"/>
                                        </p:tgtEl>
                                        <p:attrNameLst>
                                          <p:attrName>style.color</p:attrName>
                                        </p:attrNameLst>
                                      </p:cBhvr>
                                      <p:to>
                                        <a:schemeClr val="bg1"/>
                                      </p:to>
                                    </p:animClr>
                                    <p:animClr clrSpc="rgb" dir="cw">
                                      <p:cBhvr>
                                        <p:cTn id="7" dur="250" autoRev="1" fill="remove"/>
                                        <p:tgtEl>
                                          <p:spTgt spid="52227"/>
                                        </p:tgtEl>
                                        <p:attrNameLst>
                                          <p:attrName>fillcolor</p:attrName>
                                        </p:attrNameLst>
                                      </p:cBhvr>
                                      <p:to>
                                        <a:schemeClr val="bg1"/>
                                      </p:to>
                                    </p:animClr>
                                    <p:set>
                                      <p:cBhvr>
                                        <p:cTn id="8" dur="250" autoRev="1" fill="remove"/>
                                        <p:tgtEl>
                                          <p:spTgt spid="52227"/>
                                        </p:tgtEl>
                                        <p:attrNameLst>
                                          <p:attrName>fill.type</p:attrName>
                                        </p:attrNameLst>
                                      </p:cBhvr>
                                      <p:to>
                                        <p:strVal val="solid"/>
                                      </p:to>
                                    </p:set>
                                    <p:set>
                                      <p:cBhvr>
                                        <p:cTn id="9" dur="250" autoRev="1" fill="remove"/>
                                        <p:tgtEl>
                                          <p:spTgt spid="52227"/>
                                        </p:tgtEl>
                                        <p:attrNameLst>
                                          <p:attrName>fill.on</p:attrName>
                                        </p:attrNameLst>
                                      </p:cBhvr>
                                      <p:to>
                                        <p:strVal val="tru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up)">
                                      <p:cBhvr>
                                        <p:cTn id="14" dur="500"/>
                                        <p:tgtEl>
                                          <p:spTgt spid="2">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up)">
                                      <p:cBhvr>
                                        <p:cTn id="19" dur="500"/>
                                        <p:tgtEl>
                                          <p:spTgt spid="2">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up)">
                                      <p:cBhvr>
                                        <p:cTn id="24" dur="500"/>
                                        <p:tgtEl>
                                          <p:spTgt spid="2">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wipe(up)">
                                      <p:cBhvr>
                                        <p:cTn id="29" dur="500"/>
                                        <p:tgtEl>
                                          <p:spTgt spid="2">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wipe(up)">
                                      <p:cBhvr>
                                        <p:cTn id="34" dur="500"/>
                                        <p:tgtEl>
                                          <p:spTgt spid="2">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wipe(up)">
                                      <p:cBhvr>
                                        <p:cTn id="39" dur="500"/>
                                        <p:tgtEl>
                                          <p:spTgt spid="2">
                                            <p:txEl>
                                              <p:pRg st="9" end="9"/>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2228">
                                            <p:txEl>
                                              <p:pRg st="0" end="0"/>
                                            </p:txEl>
                                          </p:spTgt>
                                        </p:tgtEl>
                                        <p:attrNameLst>
                                          <p:attrName>style.visibility</p:attrName>
                                        </p:attrNameLst>
                                      </p:cBhvr>
                                      <p:to>
                                        <p:strVal val="visible"/>
                                      </p:to>
                                    </p:set>
                                    <p:animEffect transition="in" filter="wipe(left)">
                                      <p:cBhvr>
                                        <p:cTn id="44" dur="500"/>
                                        <p:tgtEl>
                                          <p:spTgt spid="52228">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2228">
                                            <p:txEl>
                                              <p:pRg st="2" end="2"/>
                                            </p:txEl>
                                          </p:spTgt>
                                        </p:tgtEl>
                                        <p:attrNameLst>
                                          <p:attrName>style.visibility</p:attrName>
                                        </p:attrNameLst>
                                      </p:cBhvr>
                                      <p:to>
                                        <p:strVal val="visible"/>
                                      </p:to>
                                    </p:set>
                                    <p:animEffect transition="in" filter="wipe(left)">
                                      <p:cBhvr>
                                        <p:cTn id="49" dur="500"/>
                                        <p:tgtEl>
                                          <p:spTgt spid="52228">
                                            <p:txEl>
                                              <p:pRg st="2" end="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2228">
                                            <p:txEl>
                                              <p:pRg st="3" end="3"/>
                                            </p:txEl>
                                          </p:spTgt>
                                        </p:tgtEl>
                                        <p:attrNameLst>
                                          <p:attrName>style.visibility</p:attrName>
                                        </p:attrNameLst>
                                      </p:cBhvr>
                                      <p:to>
                                        <p:strVal val="visible"/>
                                      </p:to>
                                    </p:set>
                                    <p:animEffect transition="in" filter="wipe(left)">
                                      <p:cBhvr>
                                        <p:cTn id="54" dur="500"/>
                                        <p:tgtEl>
                                          <p:spTgt spid="52228">
                                            <p:txEl>
                                              <p:pRg st="3" end="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52228">
                                            <p:txEl>
                                              <p:pRg st="4" end="4"/>
                                            </p:txEl>
                                          </p:spTgt>
                                        </p:tgtEl>
                                        <p:attrNameLst>
                                          <p:attrName>style.visibility</p:attrName>
                                        </p:attrNameLst>
                                      </p:cBhvr>
                                      <p:to>
                                        <p:strVal val="visible"/>
                                      </p:to>
                                    </p:set>
                                    <p:animEffect transition="in" filter="wipe(left)">
                                      <p:cBhvr>
                                        <p:cTn id="59" dur="500"/>
                                        <p:tgtEl>
                                          <p:spTgt spid="522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ChangeArrowheads="1"/>
          </p:cNvSpPr>
          <p:nvPr/>
        </p:nvSpPr>
        <p:spPr bwMode="auto">
          <a:xfrm>
            <a:off x="1925639" y="765176"/>
            <a:ext cx="856297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Impulse and momentum</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Work, energy, torque, moment of force</a:t>
            </a: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Angular momentum, Planck’s constant, rotational impulse</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Stress, pressure, modulus of elasticity, energy density</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Force constant, surface tension, surface energy</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Angular velocity, frequency, velocity gradient</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Gravitational potential, latent heat</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Thermal capacity, entropy, universal gas constant and Boltzmann’s const.</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Force, thrust</a:t>
            </a:r>
            <a:endParaRPr lang="en-IN" altLang="en-US" b="1">
              <a:solidFill>
                <a:srgbClr val="D0BFF9"/>
              </a:solidFill>
            </a:endParaRPr>
          </a:p>
          <a:p>
            <a:pPr eaLnBrk="1" fontAlgn="base" hangingPunct="1">
              <a:lnSpc>
                <a:spcPct val="150000"/>
              </a:lnSpc>
              <a:spcBef>
                <a:spcPct val="0"/>
              </a:spcBef>
              <a:spcAft>
                <a:spcPct val="0"/>
              </a:spcAft>
              <a:buFont typeface="Arial" panose="020B0604020202020204" pitchFamily="34" charset="0"/>
              <a:buAutoNum type="arabicPeriod"/>
            </a:pPr>
            <a:r>
              <a:rPr lang="en-US" altLang="en-US" b="1">
                <a:solidFill>
                  <a:srgbClr val="D0BFF9"/>
                </a:solidFill>
              </a:rPr>
              <a:t>Power, luminous flux</a:t>
            </a:r>
            <a:endParaRPr lang="en-IN" altLang="en-US" b="1">
              <a:solidFill>
                <a:srgbClr val="D0BFF9"/>
              </a:solidFill>
            </a:endParaRPr>
          </a:p>
        </p:txBody>
      </p:sp>
      <p:sp>
        <p:nvSpPr>
          <p:cNvPr id="53251" name="Rectangle 2"/>
          <p:cNvSpPr>
            <a:spLocks noChangeArrowheads="1"/>
          </p:cNvSpPr>
          <p:nvPr/>
        </p:nvSpPr>
        <p:spPr bwMode="auto">
          <a:xfrm>
            <a:off x="1919289" y="238125"/>
            <a:ext cx="6264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C000"/>
                </a:solidFill>
              </a:rPr>
              <a:t>Quantities having the same dimensional formulae </a:t>
            </a:r>
            <a:endParaRPr lang="en-IN" altLang="en-US" sz="2000" b="1">
              <a:solidFill>
                <a:srgbClr val="FFC000"/>
              </a:solidFill>
            </a:endParaRPr>
          </a:p>
        </p:txBody>
      </p:sp>
      <p:sp>
        <p:nvSpPr>
          <p:cNvPr id="4" name="Rectangle 3"/>
          <p:cNvSpPr>
            <a:spLocks noChangeArrowheads="1"/>
          </p:cNvSpPr>
          <p:nvPr/>
        </p:nvSpPr>
        <p:spPr bwMode="auto">
          <a:xfrm>
            <a:off x="1992314" y="5230813"/>
            <a:ext cx="7920037" cy="64611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FF00"/>
                </a:solidFill>
              </a:rPr>
              <a:t>Dimensional formulae for physical quantities often used in Physics are given at the end. (</a:t>
            </a:r>
            <a:r>
              <a:rPr lang="en-US" altLang="en-US" b="1">
                <a:solidFill>
                  <a:srgbClr val="FFFF00"/>
                </a:solidFill>
                <a:hlinkClick r:id="rId2" action="ppaction://hlinksldjump"/>
              </a:rPr>
              <a:t>From Slide 63</a:t>
            </a:r>
            <a:r>
              <a:rPr lang="en-US" altLang="en-US" b="1">
                <a:solidFill>
                  <a:srgbClr val="FFFF00"/>
                </a:solidFill>
              </a:rPr>
              <a:t>)</a:t>
            </a:r>
          </a:p>
        </p:txBody>
      </p:sp>
      <p:sp>
        <p:nvSpPr>
          <p:cNvPr id="53253" name="Rectangle 1">
            <a:hlinkClick r:id="rId3"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3254"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3255"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3436559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53251"/>
                                        </p:tgtEl>
                                        <p:attrNameLst>
                                          <p:attrName>style.color</p:attrName>
                                        </p:attrNameLst>
                                      </p:cBhvr>
                                      <p:to>
                                        <p:clrVal>
                                          <a:srgbClr val="00FF00"/>
                                        </p:clrVal>
                                      </p:to>
                                    </p:set>
                                    <p:set>
                                      <p:cBhvr>
                                        <p:cTn id="7" dur="500" fill="hold"/>
                                        <p:tgtEl>
                                          <p:spTgt spid="53251"/>
                                        </p:tgtEl>
                                        <p:attrNameLst>
                                          <p:attrName>fillcolor</p:attrName>
                                        </p:attrNameLst>
                                      </p:cBhvr>
                                      <p:to>
                                        <p:clrVal>
                                          <a:srgbClr val="00FF00"/>
                                        </p:clrVal>
                                      </p:to>
                                    </p:set>
                                    <p:set>
                                      <p:cBhvr>
                                        <p:cTn id="8" dur="500" fill="hold"/>
                                        <p:tgtEl>
                                          <p:spTgt spid="53251"/>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53250">
                                            <p:txEl>
                                              <p:pRg st="0" end="0"/>
                                            </p:txEl>
                                          </p:spTgt>
                                        </p:tgtEl>
                                        <p:attrNameLst>
                                          <p:attrName>style.visibility</p:attrName>
                                        </p:attrNameLst>
                                      </p:cBhvr>
                                      <p:to>
                                        <p:strVal val="visible"/>
                                      </p:to>
                                    </p:set>
                                    <p:animEffect transition="in" filter="wipe(left)">
                                      <p:cBhvr>
                                        <p:cTn id="13" dur="500"/>
                                        <p:tgtEl>
                                          <p:spTgt spid="53250">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3250">
                                            <p:txEl>
                                              <p:pRg st="1" end="1"/>
                                            </p:txEl>
                                          </p:spTgt>
                                        </p:tgtEl>
                                        <p:attrNameLst>
                                          <p:attrName>style.visibility</p:attrName>
                                        </p:attrNameLst>
                                      </p:cBhvr>
                                      <p:to>
                                        <p:strVal val="visible"/>
                                      </p:to>
                                    </p:set>
                                    <p:animEffect transition="in" filter="wipe(left)">
                                      <p:cBhvr>
                                        <p:cTn id="18" dur="500"/>
                                        <p:tgtEl>
                                          <p:spTgt spid="53250">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3250">
                                            <p:txEl>
                                              <p:pRg st="2" end="2"/>
                                            </p:txEl>
                                          </p:spTgt>
                                        </p:tgtEl>
                                        <p:attrNameLst>
                                          <p:attrName>style.visibility</p:attrName>
                                        </p:attrNameLst>
                                      </p:cBhvr>
                                      <p:to>
                                        <p:strVal val="visible"/>
                                      </p:to>
                                    </p:set>
                                    <p:animEffect transition="in" filter="wipe(left)">
                                      <p:cBhvr>
                                        <p:cTn id="23" dur="500"/>
                                        <p:tgtEl>
                                          <p:spTgt spid="53250">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3250">
                                            <p:txEl>
                                              <p:pRg st="3" end="3"/>
                                            </p:txEl>
                                          </p:spTgt>
                                        </p:tgtEl>
                                        <p:attrNameLst>
                                          <p:attrName>style.visibility</p:attrName>
                                        </p:attrNameLst>
                                      </p:cBhvr>
                                      <p:to>
                                        <p:strVal val="visible"/>
                                      </p:to>
                                    </p:set>
                                    <p:animEffect transition="in" filter="wipe(left)">
                                      <p:cBhvr>
                                        <p:cTn id="28" dur="500"/>
                                        <p:tgtEl>
                                          <p:spTgt spid="53250">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3250">
                                            <p:txEl>
                                              <p:pRg st="4" end="4"/>
                                            </p:txEl>
                                          </p:spTgt>
                                        </p:tgtEl>
                                        <p:attrNameLst>
                                          <p:attrName>style.visibility</p:attrName>
                                        </p:attrNameLst>
                                      </p:cBhvr>
                                      <p:to>
                                        <p:strVal val="visible"/>
                                      </p:to>
                                    </p:set>
                                    <p:animEffect transition="in" filter="wipe(left)">
                                      <p:cBhvr>
                                        <p:cTn id="33" dur="500"/>
                                        <p:tgtEl>
                                          <p:spTgt spid="53250">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3250">
                                            <p:txEl>
                                              <p:pRg st="5" end="5"/>
                                            </p:txEl>
                                          </p:spTgt>
                                        </p:tgtEl>
                                        <p:attrNameLst>
                                          <p:attrName>style.visibility</p:attrName>
                                        </p:attrNameLst>
                                      </p:cBhvr>
                                      <p:to>
                                        <p:strVal val="visible"/>
                                      </p:to>
                                    </p:set>
                                    <p:animEffect transition="in" filter="wipe(left)">
                                      <p:cBhvr>
                                        <p:cTn id="38" dur="500"/>
                                        <p:tgtEl>
                                          <p:spTgt spid="53250">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3250">
                                            <p:txEl>
                                              <p:pRg st="6" end="6"/>
                                            </p:txEl>
                                          </p:spTgt>
                                        </p:tgtEl>
                                        <p:attrNameLst>
                                          <p:attrName>style.visibility</p:attrName>
                                        </p:attrNameLst>
                                      </p:cBhvr>
                                      <p:to>
                                        <p:strVal val="visible"/>
                                      </p:to>
                                    </p:set>
                                    <p:animEffect transition="in" filter="wipe(left)">
                                      <p:cBhvr>
                                        <p:cTn id="43" dur="500"/>
                                        <p:tgtEl>
                                          <p:spTgt spid="53250">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3250">
                                            <p:txEl>
                                              <p:pRg st="7" end="7"/>
                                            </p:txEl>
                                          </p:spTgt>
                                        </p:tgtEl>
                                        <p:attrNameLst>
                                          <p:attrName>style.visibility</p:attrName>
                                        </p:attrNameLst>
                                      </p:cBhvr>
                                      <p:to>
                                        <p:strVal val="visible"/>
                                      </p:to>
                                    </p:set>
                                    <p:animEffect transition="in" filter="wipe(left)">
                                      <p:cBhvr>
                                        <p:cTn id="48" dur="500"/>
                                        <p:tgtEl>
                                          <p:spTgt spid="53250">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53250">
                                            <p:txEl>
                                              <p:pRg st="8" end="8"/>
                                            </p:txEl>
                                          </p:spTgt>
                                        </p:tgtEl>
                                        <p:attrNameLst>
                                          <p:attrName>style.visibility</p:attrName>
                                        </p:attrNameLst>
                                      </p:cBhvr>
                                      <p:to>
                                        <p:strVal val="visible"/>
                                      </p:to>
                                    </p:set>
                                    <p:animEffect transition="in" filter="wipe(left)">
                                      <p:cBhvr>
                                        <p:cTn id="53" dur="500"/>
                                        <p:tgtEl>
                                          <p:spTgt spid="53250">
                                            <p:txEl>
                                              <p:pRg st="8" end="8"/>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3250">
                                            <p:txEl>
                                              <p:pRg st="9" end="9"/>
                                            </p:txEl>
                                          </p:spTgt>
                                        </p:tgtEl>
                                        <p:attrNameLst>
                                          <p:attrName>style.visibility</p:attrName>
                                        </p:attrNameLst>
                                      </p:cBhvr>
                                      <p:to>
                                        <p:strVal val="visible"/>
                                      </p:to>
                                    </p:set>
                                    <p:animEffect transition="in" filter="wipe(left)">
                                      <p:cBhvr>
                                        <p:cTn id="58" dur="500"/>
                                        <p:tgtEl>
                                          <p:spTgt spid="53250">
                                            <p:txEl>
                                              <p:pRg st="9" end="9"/>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1000"/>
                                        <p:tgtEl>
                                          <p:spTgt spid="4"/>
                                        </p:tgtEl>
                                      </p:cBhvr>
                                    </p:animEffect>
                                    <p:anim calcmode="lin" valueType="num">
                                      <p:cBhvr>
                                        <p:cTn id="64" dur="1000" fill="hold"/>
                                        <p:tgtEl>
                                          <p:spTgt spid="4"/>
                                        </p:tgtEl>
                                        <p:attrNameLst>
                                          <p:attrName>ppt_x</p:attrName>
                                        </p:attrNameLst>
                                      </p:cBhvr>
                                      <p:tavLst>
                                        <p:tav tm="0">
                                          <p:val>
                                            <p:strVal val="#ppt_x"/>
                                          </p:val>
                                        </p:tav>
                                        <p:tav tm="100000">
                                          <p:val>
                                            <p:strVal val="#ppt_x"/>
                                          </p:val>
                                        </p:tav>
                                      </p:tavLst>
                                    </p:anim>
                                    <p:anim calcmode="lin" valueType="num">
                                      <p:cBhvr>
                                        <p:cTn id="6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990726" y="1485900"/>
            <a:ext cx="8569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D0BFF9"/>
                </a:solidFill>
              </a:rPr>
              <a:t>When magnitudes of two or more physical quantities are multiplied, their units should be treated in the same manner as ordinary algebraic symbols. </a:t>
            </a:r>
          </a:p>
          <a:p>
            <a:pPr eaLnBrk="1" fontAlgn="base" hangingPunct="1">
              <a:spcBef>
                <a:spcPct val="0"/>
              </a:spcBef>
              <a:spcAft>
                <a:spcPct val="0"/>
              </a:spcAft>
            </a:pPr>
            <a:endParaRPr lang="en-US" altLang="en-US" b="1">
              <a:solidFill>
                <a:srgbClr val="D0BFF9"/>
              </a:solidFill>
            </a:endParaRPr>
          </a:p>
          <a:p>
            <a:pPr eaLnBrk="1" fontAlgn="base" hangingPunct="1">
              <a:spcBef>
                <a:spcPct val="0"/>
              </a:spcBef>
              <a:spcAft>
                <a:spcPct val="0"/>
              </a:spcAft>
            </a:pPr>
            <a:r>
              <a:rPr lang="en-US" altLang="en-US" b="1">
                <a:solidFill>
                  <a:srgbClr val="D0BFF9"/>
                </a:solidFill>
              </a:rPr>
              <a:t>We can cancel identical units in the numerator and denominator.</a:t>
            </a:r>
          </a:p>
          <a:p>
            <a:pPr eaLnBrk="1" fontAlgn="base" hangingPunct="1">
              <a:spcBef>
                <a:spcPct val="0"/>
              </a:spcBef>
              <a:spcAft>
                <a:spcPct val="0"/>
              </a:spcAft>
            </a:pPr>
            <a:endParaRPr lang="en-IN" altLang="en-US" b="1">
              <a:solidFill>
                <a:srgbClr val="D0BFF9"/>
              </a:solidFill>
            </a:endParaRPr>
          </a:p>
          <a:p>
            <a:pPr eaLnBrk="1" fontAlgn="base" hangingPunct="1">
              <a:spcBef>
                <a:spcPct val="0"/>
              </a:spcBef>
              <a:spcAft>
                <a:spcPct val="0"/>
              </a:spcAft>
            </a:pPr>
            <a:r>
              <a:rPr lang="en-US" altLang="en-US" b="1">
                <a:solidFill>
                  <a:srgbClr val="D0BFF9"/>
                </a:solidFill>
              </a:rPr>
              <a:t>Similarly, physical quantities represented by symbols on both sides of a mathematical equation must have the same dimensions.</a:t>
            </a:r>
            <a:endParaRPr lang="en-IN" altLang="en-US" b="1">
              <a:solidFill>
                <a:srgbClr val="D0BFF9"/>
              </a:solidFill>
            </a:endParaRPr>
          </a:p>
        </p:txBody>
      </p:sp>
      <p:sp>
        <p:nvSpPr>
          <p:cNvPr id="54275" name="Rectangle 2"/>
          <p:cNvSpPr>
            <a:spLocks noChangeArrowheads="1"/>
          </p:cNvSpPr>
          <p:nvPr/>
        </p:nvSpPr>
        <p:spPr bwMode="auto">
          <a:xfrm>
            <a:off x="1990725" y="188913"/>
            <a:ext cx="633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6600"/>
                </a:solidFill>
              </a:rPr>
              <a:t>DIMENSIONAL ANALYSIS AND ITS APPLICATIONS</a:t>
            </a:r>
            <a:endParaRPr lang="en-IN" altLang="en-US" sz="2000" b="1">
              <a:solidFill>
                <a:srgbClr val="FF6600"/>
              </a:solidFill>
            </a:endParaRPr>
          </a:p>
        </p:txBody>
      </p:sp>
      <p:sp>
        <p:nvSpPr>
          <p:cNvPr id="4" name="Rectangle 3"/>
          <p:cNvSpPr/>
          <p:nvPr/>
        </p:nvSpPr>
        <p:spPr>
          <a:xfrm>
            <a:off x="1990726" y="3644900"/>
            <a:ext cx="7921625" cy="2586038"/>
          </a:xfrm>
          <a:prstGeom prst="rect">
            <a:avLst/>
          </a:prstGeom>
        </p:spPr>
        <p:txBody>
          <a:bodyPr>
            <a:spAutoFit/>
          </a:bodyPr>
          <a:lstStyle/>
          <a:p>
            <a:pPr fontAlgn="base">
              <a:spcBef>
                <a:spcPct val="0"/>
              </a:spcBef>
              <a:spcAft>
                <a:spcPct val="0"/>
              </a:spcAft>
              <a:defRPr/>
            </a:pPr>
            <a:r>
              <a:rPr lang="en-US" b="1" dirty="0">
                <a:solidFill>
                  <a:srgbClr val="FF6600"/>
                </a:solidFill>
                <a:latin typeface="Arial" panose="020B0604020202020204" pitchFamily="34" charset="0"/>
              </a:rPr>
              <a:t>Dimensional Analysis can be used-</a:t>
            </a:r>
          </a:p>
          <a:p>
            <a:pPr fontAlgn="base">
              <a:spcBef>
                <a:spcPct val="0"/>
              </a:spcBef>
              <a:spcAft>
                <a:spcPct val="0"/>
              </a:spcAft>
              <a:defRPr/>
            </a:pPr>
            <a:endParaRPr lang="en-US" b="1" dirty="0">
              <a:solidFill>
                <a:srgbClr val="FF0000"/>
              </a:solidFill>
              <a:latin typeface="Arial" panose="020B0604020202020204" pitchFamily="34" charset="0"/>
            </a:endParaRPr>
          </a:p>
          <a:p>
            <a:pPr marL="342900" indent="-342900" fontAlgn="base">
              <a:spcBef>
                <a:spcPct val="0"/>
              </a:spcBef>
              <a:spcAft>
                <a:spcPct val="0"/>
              </a:spcAft>
              <a:buFontTx/>
              <a:buAutoNum type="arabicPeriod"/>
              <a:defRPr/>
            </a:pPr>
            <a:r>
              <a:rPr lang="en-US" b="1" dirty="0">
                <a:solidFill>
                  <a:srgbClr val="CCFF33"/>
                </a:solidFill>
                <a:latin typeface="Arial" panose="020B0604020202020204" pitchFamily="34" charset="0"/>
              </a:rPr>
              <a:t>To check the dimensional consistency of equations</a:t>
            </a:r>
          </a:p>
          <a:p>
            <a:pPr fontAlgn="base">
              <a:spcBef>
                <a:spcPct val="0"/>
              </a:spcBef>
              <a:spcAft>
                <a:spcPct val="0"/>
              </a:spcAft>
              <a:defRPr/>
            </a:pPr>
            <a:r>
              <a:rPr lang="en-US" b="1" dirty="0">
                <a:solidFill>
                  <a:srgbClr val="CCFF33"/>
                </a:solidFill>
                <a:latin typeface="Arial" panose="020B0604020202020204" pitchFamily="34" charset="0"/>
              </a:rPr>
              <a:t>      (Principle of homogeneity of dimensions).</a:t>
            </a:r>
          </a:p>
          <a:p>
            <a:pPr fontAlgn="base">
              <a:spcBef>
                <a:spcPct val="0"/>
              </a:spcBef>
              <a:spcAft>
                <a:spcPct val="0"/>
              </a:spcAft>
              <a:defRPr/>
            </a:pPr>
            <a:endParaRPr lang="en-US" b="1" dirty="0">
              <a:solidFill>
                <a:srgbClr val="CCFF33"/>
              </a:solidFill>
              <a:latin typeface="Arial" panose="020B0604020202020204" pitchFamily="34" charset="0"/>
            </a:endParaRPr>
          </a:p>
          <a:p>
            <a:pPr fontAlgn="base">
              <a:spcBef>
                <a:spcPct val="0"/>
              </a:spcBef>
              <a:spcAft>
                <a:spcPct val="0"/>
              </a:spcAft>
              <a:defRPr/>
            </a:pPr>
            <a:r>
              <a:rPr lang="en-US" b="1" dirty="0">
                <a:solidFill>
                  <a:srgbClr val="CCFF33"/>
                </a:solidFill>
                <a:latin typeface="Arial" panose="020B0604020202020204" pitchFamily="34" charset="0"/>
              </a:rPr>
              <a:t>2.   To convert units in one system into another system.</a:t>
            </a:r>
          </a:p>
          <a:p>
            <a:pPr marL="342900" indent="-342900" fontAlgn="base">
              <a:spcBef>
                <a:spcPct val="0"/>
              </a:spcBef>
              <a:spcAft>
                <a:spcPct val="0"/>
              </a:spcAft>
              <a:buFontTx/>
              <a:buAutoNum type="arabicPeriod"/>
              <a:defRPr/>
            </a:pPr>
            <a:endParaRPr lang="en-US" b="1" dirty="0">
              <a:solidFill>
                <a:srgbClr val="CCFF33"/>
              </a:solidFill>
              <a:latin typeface="Arial" panose="020B0604020202020204" pitchFamily="34" charset="0"/>
            </a:endParaRPr>
          </a:p>
          <a:p>
            <a:pPr fontAlgn="base">
              <a:spcBef>
                <a:spcPct val="0"/>
              </a:spcBef>
              <a:spcAft>
                <a:spcPct val="0"/>
              </a:spcAft>
              <a:defRPr/>
            </a:pPr>
            <a:r>
              <a:rPr lang="en-US" b="1" dirty="0">
                <a:solidFill>
                  <a:srgbClr val="CCFF33"/>
                </a:solidFill>
                <a:latin typeface="Arial" panose="020B0604020202020204" pitchFamily="34" charset="0"/>
              </a:rPr>
              <a:t>3.   To derive the relation between physical quantities based on certain </a:t>
            </a:r>
          </a:p>
          <a:p>
            <a:pPr fontAlgn="base">
              <a:spcBef>
                <a:spcPct val="0"/>
              </a:spcBef>
              <a:spcAft>
                <a:spcPct val="0"/>
              </a:spcAft>
              <a:defRPr/>
            </a:pPr>
            <a:r>
              <a:rPr lang="en-US" b="1" dirty="0">
                <a:solidFill>
                  <a:srgbClr val="CCFF33"/>
                </a:solidFill>
                <a:latin typeface="Arial" panose="020B0604020202020204" pitchFamily="34" charset="0"/>
              </a:rPr>
              <a:t>       reasonable assumptions.</a:t>
            </a:r>
            <a:endParaRPr lang="en-IN" b="1" dirty="0">
              <a:solidFill>
                <a:srgbClr val="CCFF33"/>
              </a:solidFill>
              <a:latin typeface="Arial" panose="020B0604020202020204" pitchFamily="34" charset="0"/>
            </a:endParaRPr>
          </a:p>
        </p:txBody>
      </p:sp>
      <p:sp>
        <p:nvSpPr>
          <p:cNvPr id="54277" name="Rectangle 4"/>
          <p:cNvSpPr>
            <a:spLocks noChangeArrowheads="1"/>
          </p:cNvSpPr>
          <p:nvPr/>
        </p:nvSpPr>
        <p:spPr bwMode="auto">
          <a:xfrm>
            <a:off x="1995489" y="731838"/>
            <a:ext cx="8347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IN" altLang="en-US" b="1">
                <a:solidFill>
                  <a:srgbClr val="FFC000"/>
                </a:solidFill>
              </a:rPr>
              <a:t>Dimensional analysis is a tool to find or check relations among physical quantities by using their dimensions.</a:t>
            </a:r>
          </a:p>
        </p:txBody>
      </p:sp>
      <p:sp>
        <p:nvSpPr>
          <p:cNvPr id="54278"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4279"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4280"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3344374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mph" presetSubtype="2" fill="hold" nodeType="afterEffect">
                                  <p:stCondLst>
                                    <p:cond delay="0"/>
                                  </p:stCondLst>
                                  <p:childTnLst>
                                    <p:animClr clrSpc="rgb" dir="cw">
                                      <p:cBhvr>
                                        <p:cTn id="6" dur="2000" fill="hold"/>
                                        <p:tgtEl>
                                          <p:spTgt spid="54275"/>
                                        </p:tgtEl>
                                        <p:attrNameLst>
                                          <p:attrName>fillcolor</p:attrName>
                                        </p:attrNameLst>
                                      </p:cBhvr>
                                      <p:to>
                                        <a:schemeClr val="accent2"/>
                                      </p:to>
                                    </p:animClr>
                                    <p:set>
                                      <p:cBhvr>
                                        <p:cTn id="7" dur="2000" fill="hold"/>
                                        <p:tgtEl>
                                          <p:spTgt spid="54275"/>
                                        </p:tgtEl>
                                        <p:attrNameLst>
                                          <p:attrName>fill.type</p:attrName>
                                        </p:attrNameLst>
                                      </p:cBhvr>
                                      <p:to>
                                        <p:strVal val="solid"/>
                                      </p:to>
                                    </p:set>
                                    <p:set>
                                      <p:cBhvr>
                                        <p:cTn id="8" dur="2000" fill="hold"/>
                                        <p:tgtEl>
                                          <p:spTgt spid="54275"/>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4277"/>
                                        </p:tgtEl>
                                        <p:attrNameLst>
                                          <p:attrName>style.visibility</p:attrName>
                                        </p:attrNameLst>
                                      </p:cBhvr>
                                      <p:to>
                                        <p:strVal val="visible"/>
                                      </p:to>
                                    </p:set>
                                    <p:animEffect transition="in" filter="wipe(up)">
                                      <p:cBhvr>
                                        <p:cTn id="13" dur="500"/>
                                        <p:tgtEl>
                                          <p:spTgt spid="5427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54274">
                                            <p:txEl>
                                              <p:pRg st="0" end="0"/>
                                            </p:txEl>
                                          </p:spTgt>
                                        </p:tgtEl>
                                        <p:attrNameLst>
                                          <p:attrName>style.visibility</p:attrName>
                                        </p:attrNameLst>
                                      </p:cBhvr>
                                      <p:to>
                                        <p:strVal val="visible"/>
                                      </p:to>
                                    </p:set>
                                    <p:animEffect transition="in" filter="wipe(up)">
                                      <p:cBhvr>
                                        <p:cTn id="18" dur="500"/>
                                        <p:tgtEl>
                                          <p:spTgt spid="54274">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54274">
                                            <p:txEl>
                                              <p:pRg st="2" end="2"/>
                                            </p:txEl>
                                          </p:spTgt>
                                        </p:tgtEl>
                                        <p:attrNameLst>
                                          <p:attrName>style.visibility</p:attrName>
                                        </p:attrNameLst>
                                      </p:cBhvr>
                                      <p:to>
                                        <p:strVal val="visible"/>
                                      </p:to>
                                    </p:set>
                                    <p:animEffect transition="in" filter="wipe(up)">
                                      <p:cBhvr>
                                        <p:cTn id="23" dur="500"/>
                                        <p:tgtEl>
                                          <p:spTgt spid="54274">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54274">
                                            <p:txEl>
                                              <p:pRg st="4" end="4"/>
                                            </p:txEl>
                                          </p:spTgt>
                                        </p:tgtEl>
                                        <p:attrNameLst>
                                          <p:attrName>style.visibility</p:attrName>
                                        </p:attrNameLst>
                                      </p:cBhvr>
                                      <p:to>
                                        <p:strVal val="visible"/>
                                      </p:to>
                                    </p:set>
                                    <p:animEffect transition="in" filter="wipe(up)">
                                      <p:cBhvr>
                                        <p:cTn id="28" dur="500"/>
                                        <p:tgtEl>
                                          <p:spTgt spid="54274">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wipe(left)">
                                      <p:cBhvr>
                                        <p:cTn id="33" dur="500"/>
                                        <p:tgtEl>
                                          <p:spTgt spid="4">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4">
                                            <p:txEl>
                                              <p:pRg st="2" end="2"/>
                                            </p:txEl>
                                          </p:spTgt>
                                        </p:tgtEl>
                                        <p:attrNameLst>
                                          <p:attrName>style.visibility</p:attrName>
                                        </p:attrNameLst>
                                      </p:cBhvr>
                                      <p:to>
                                        <p:strVal val="visible"/>
                                      </p:to>
                                    </p:set>
                                    <p:animEffect transition="in" filter="wipe(left)">
                                      <p:cBhvr>
                                        <p:cTn id="38" dur="500"/>
                                        <p:tgtEl>
                                          <p:spTgt spid="4">
                                            <p:txEl>
                                              <p:pRg st="2" end="2"/>
                                            </p:txEl>
                                          </p:spTgt>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wipe(left)">
                                      <p:cBhvr>
                                        <p:cTn id="42" dur="500"/>
                                        <p:tgtEl>
                                          <p:spTgt spid="4">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wipe(left)">
                                      <p:cBhvr>
                                        <p:cTn id="47" dur="500"/>
                                        <p:tgtEl>
                                          <p:spTgt spid="4">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Effect transition="in" filter="wipe(left)">
                                      <p:cBhvr>
                                        <p:cTn id="52" dur="500"/>
                                        <p:tgtEl>
                                          <p:spTgt spid="4">
                                            <p:txEl>
                                              <p:pRg st="7" end="7"/>
                                            </p:txEl>
                                          </p:spTgt>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Effect transition="in" filter="wipe(left)">
                                      <p:cBhvr>
                                        <p:cTn id="56"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2171700" y="1192214"/>
            <a:ext cx="80279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The magnitudes of physical quantities may be added together or subtracted from one another only if they have the same dimensions. </a:t>
            </a:r>
          </a:p>
          <a:p>
            <a:pPr eaLnBrk="1" fontAlgn="base" hangingPunct="1">
              <a:spcBef>
                <a:spcPct val="0"/>
              </a:spcBef>
              <a:spcAft>
                <a:spcPct val="0"/>
              </a:spcAft>
            </a:pPr>
            <a:endParaRPr lang="en-US" altLang="en-US" b="1">
              <a:solidFill>
                <a:srgbClr val="FF0000"/>
              </a:solidFill>
            </a:endParaRPr>
          </a:p>
          <a:p>
            <a:pPr eaLnBrk="1" fontAlgn="base" hangingPunct="1">
              <a:spcBef>
                <a:spcPct val="0"/>
              </a:spcBef>
              <a:spcAft>
                <a:spcPct val="0"/>
              </a:spcAft>
            </a:pPr>
            <a:r>
              <a:rPr lang="en-US" altLang="en-US" b="1">
                <a:solidFill>
                  <a:srgbClr val="92D050"/>
                </a:solidFill>
              </a:rPr>
              <a:t>For example, initial velocity can be added to or subtracted from final velocity because they have same dimensional formula [M</a:t>
            </a:r>
            <a:r>
              <a:rPr lang="en-US" altLang="en-US" b="1" baseline="30000">
                <a:solidFill>
                  <a:srgbClr val="92D050"/>
                </a:solidFill>
              </a:rPr>
              <a:t>0</a:t>
            </a:r>
            <a:r>
              <a:rPr lang="en-US" altLang="en-US" b="1">
                <a:solidFill>
                  <a:srgbClr val="92D050"/>
                </a:solidFill>
              </a:rPr>
              <a:t>LT</a:t>
            </a:r>
            <a:r>
              <a:rPr lang="en-US" altLang="en-US" b="1" baseline="30000">
                <a:solidFill>
                  <a:srgbClr val="92D050"/>
                </a:solidFill>
              </a:rPr>
              <a:t>-1</a:t>
            </a:r>
            <a:r>
              <a:rPr lang="en-US" altLang="en-US" b="1">
                <a:solidFill>
                  <a:srgbClr val="92D050"/>
                </a:solidFill>
              </a:rPr>
              <a:t>] .</a:t>
            </a:r>
          </a:p>
          <a:p>
            <a:pPr eaLnBrk="1" fontAlgn="base" hangingPunct="1">
              <a:spcBef>
                <a:spcPct val="0"/>
              </a:spcBef>
              <a:spcAft>
                <a:spcPct val="0"/>
              </a:spcAft>
            </a:pPr>
            <a:endParaRPr lang="en-US" altLang="en-US" b="1">
              <a:solidFill>
                <a:srgbClr val="FF0000"/>
              </a:solidFill>
            </a:endParaRPr>
          </a:p>
          <a:p>
            <a:pPr eaLnBrk="1" fontAlgn="base" hangingPunct="1">
              <a:spcBef>
                <a:spcPct val="0"/>
              </a:spcBef>
              <a:spcAft>
                <a:spcPct val="0"/>
              </a:spcAft>
            </a:pPr>
            <a:r>
              <a:rPr lang="en-US" altLang="en-US" b="1">
                <a:solidFill>
                  <a:srgbClr val="00B050"/>
                </a:solidFill>
              </a:rPr>
              <a:t>But, force and momentum can not be added because their dimensional formulae are different and are [MLT</a:t>
            </a:r>
            <a:r>
              <a:rPr lang="en-US" altLang="en-US" b="1" baseline="30000">
                <a:solidFill>
                  <a:srgbClr val="00B050"/>
                </a:solidFill>
              </a:rPr>
              <a:t>-2</a:t>
            </a:r>
            <a:r>
              <a:rPr lang="en-US" altLang="en-US" b="1">
                <a:solidFill>
                  <a:srgbClr val="00B050"/>
                </a:solidFill>
              </a:rPr>
              <a:t>]  and [MLT</a:t>
            </a:r>
            <a:r>
              <a:rPr lang="en-US" altLang="en-US" b="1" baseline="30000">
                <a:solidFill>
                  <a:srgbClr val="00B050"/>
                </a:solidFill>
              </a:rPr>
              <a:t>-1</a:t>
            </a:r>
            <a:r>
              <a:rPr lang="en-US" altLang="en-US" b="1">
                <a:solidFill>
                  <a:srgbClr val="00B050"/>
                </a:solidFill>
              </a:rPr>
              <a:t>]  respectively.</a:t>
            </a:r>
            <a:endParaRPr lang="en-IN" altLang="en-US" b="1">
              <a:solidFill>
                <a:srgbClr val="00B050"/>
              </a:solidFill>
            </a:endParaRPr>
          </a:p>
        </p:txBody>
      </p:sp>
      <p:sp>
        <p:nvSpPr>
          <p:cNvPr id="55299" name="Rectangle 2"/>
          <p:cNvSpPr>
            <a:spLocks noChangeArrowheads="1"/>
          </p:cNvSpPr>
          <p:nvPr/>
        </p:nvSpPr>
        <p:spPr bwMode="auto">
          <a:xfrm>
            <a:off x="1774825" y="260350"/>
            <a:ext cx="72009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CCFF33"/>
                </a:solidFill>
              </a:rPr>
              <a:t>  I.  Checking the Dimensional Consistency of Equations</a:t>
            </a:r>
            <a:endParaRPr lang="en-IN" altLang="en-US" sz="2000" b="1">
              <a:solidFill>
                <a:srgbClr val="CCFF33"/>
              </a:solidFill>
            </a:endParaRPr>
          </a:p>
        </p:txBody>
      </p:sp>
      <p:sp>
        <p:nvSpPr>
          <p:cNvPr id="55300" name="Rectangle 3"/>
          <p:cNvSpPr>
            <a:spLocks noChangeArrowheads="1"/>
          </p:cNvSpPr>
          <p:nvPr/>
        </p:nvSpPr>
        <p:spPr bwMode="auto">
          <a:xfrm>
            <a:off x="2206626" y="677863"/>
            <a:ext cx="5184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u="sng">
                <a:solidFill>
                  <a:srgbClr val="FF0066"/>
                </a:solidFill>
              </a:rPr>
              <a:t>The principle of homogeneity of dimensions: </a:t>
            </a:r>
            <a:endParaRPr lang="en-IN" altLang="en-US" b="1" u="sng">
              <a:solidFill>
                <a:srgbClr val="FF0066"/>
              </a:solidFill>
            </a:endParaRPr>
          </a:p>
        </p:txBody>
      </p:sp>
      <p:sp>
        <p:nvSpPr>
          <p:cNvPr id="55301"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5302"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5303"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563862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fade">
                                      <p:cBhvr>
                                        <p:cTn id="7" dur="1000"/>
                                        <p:tgtEl>
                                          <p:spTgt spid="55299"/>
                                        </p:tgtEl>
                                      </p:cBhvr>
                                    </p:animEffect>
                                    <p:anim calcmode="lin" valueType="num">
                                      <p:cBhvr>
                                        <p:cTn id="8" dur="1000" fill="hold"/>
                                        <p:tgtEl>
                                          <p:spTgt spid="55299"/>
                                        </p:tgtEl>
                                        <p:attrNameLst>
                                          <p:attrName>ppt_x</p:attrName>
                                        </p:attrNameLst>
                                      </p:cBhvr>
                                      <p:tavLst>
                                        <p:tav tm="0">
                                          <p:val>
                                            <p:strVal val="#ppt_x"/>
                                          </p:val>
                                        </p:tav>
                                        <p:tav tm="100000">
                                          <p:val>
                                            <p:strVal val="#ppt_x"/>
                                          </p:val>
                                        </p:tav>
                                      </p:tavLst>
                                    </p:anim>
                                    <p:anim calcmode="lin" valueType="num">
                                      <p:cBhvr>
                                        <p:cTn id="9" dur="1000" fill="hold"/>
                                        <p:tgtEl>
                                          <p:spTgt spid="5529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5300"/>
                                        </p:tgtEl>
                                        <p:attrNameLst>
                                          <p:attrName>style.visibility</p:attrName>
                                        </p:attrNameLst>
                                      </p:cBhvr>
                                      <p:to>
                                        <p:strVal val="visible"/>
                                      </p:to>
                                    </p:set>
                                    <p:animEffect transition="in" filter="wipe(left)">
                                      <p:cBhvr>
                                        <p:cTn id="14" dur="500"/>
                                        <p:tgtEl>
                                          <p:spTgt spid="5530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55298">
                                            <p:txEl>
                                              <p:pRg st="0" end="0"/>
                                            </p:txEl>
                                          </p:spTgt>
                                        </p:tgtEl>
                                        <p:attrNameLst>
                                          <p:attrName>style.visibility</p:attrName>
                                        </p:attrNameLst>
                                      </p:cBhvr>
                                      <p:to>
                                        <p:strVal val="visible"/>
                                      </p:to>
                                    </p:set>
                                    <p:animEffect transition="in" filter="wipe(up)">
                                      <p:cBhvr>
                                        <p:cTn id="19" dur="500"/>
                                        <p:tgtEl>
                                          <p:spTgt spid="55298">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55298">
                                            <p:txEl>
                                              <p:pRg st="2" end="2"/>
                                            </p:txEl>
                                          </p:spTgt>
                                        </p:tgtEl>
                                        <p:attrNameLst>
                                          <p:attrName>style.visibility</p:attrName>
                                        </p:attrNameLst>
                                      </p:cBhvr>
                                      <p:to>
                                        <p:strVal val="visible"/>
                                      </p:to>
                                    </p:set>
                                    <p:animEffect transition="in" filter="wipe(up)">
                                      <p:cBhvr>
                                        <p:cTn id="24" dur="500"/>
                                        <p:tgtEl>
                                          <p:spTgt spid="55298">
                                            <p:txEl>
                                              <p:pRg st="2" end="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55298">
                                            <p:txEl>
                                              <p:pRg st="4" end="4"/>
                                            </p:txEl>
                                          </p:spTgt>
                                        </p:tgtEl>
                                        <p:attrNameLst>
                                          <p:attrName>style.visibility</p:attrName>
                                        </p:attrNameLst>
                                      </p:cBhvr>
                                      <p:to>
                                        <p:strVal val="visible"/>
                                      </p:to>
                                    </p:set>
                                    <p:animEffect transition="in" filter="wipe(up)">
                                      <p:cBhvr>
                                        <p:cTn id="29" dur="500"/>
                                        <p:tgtEl>
                                          <p:spTgt spid="55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5530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1919288" y="279400"/>
            <a:ext cx="1211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B050"/>
                </a:solidFill>
              </a:rPr>
              <a:t>Example:</a:t>
            </a:r>
            <a:endParaRPr lang="en-IN" altLang="en-US">
              <a:solidFill>
                <a:srgbClr val="00B050"/>
              </a:solidFill>
            </a:endParaRPr>
          </a:p>
        </p:txBody>
      </p:sp>
      <p:sp>
        <p:nvSpPr>
          <p:cNvPr id="56323" name="Rectangle 3"/>
          <p:cNvSpPr>
            <a:spLocks noChangeArrowheads="1"/>
          </p:cNvSpPr>
          <p:nvPr/>
        </p:nvSpPr>
        <p:spPr bwMode="auto">
          <a:xfrm>
            <a:off x="1919288" y="733425"/>
            <a:ext cx="784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C000"/>
                </a:solidFill>
              </a:rPr>
              <a:t>1.  To check the dimensional consistency of v</a:t>
            </a:r>
            <a:r>
              <a:rPr lang="en-US" altLang="en-US" sz="2000" b="1" baseline="30000">
                <a:solidFill>
                  <a:srgbClr val="FFC000"/>
                </a:solidFill>
              </a:rPr>
              <a:t>2</a:t>
            </a:r>
            <a:r>
              <a:rPr lang="en-US" altLang="en-US" sz="2000" b="1">
                <a:solidFill>
                  <a:srgbClr val="FFC000"/>
                </a:solidFill>
              </a:rPr>
              <a:t> = u</a:t>
            </a:r>
            <a:r>
              <a:rPr lang="en-US" altLang="en-US" sz="2000" b="1" baseline="30000">
                <a:solidFill>
                  <a:srgbClr val="FFC000"/>
                </a:solidFill>
              </a:rPr>
              <a:t>2</a:t>
            </a:r>
            <a:r>
              <a:rPr lang="en-US" altLang="en-US" sz="2000" b="1">
                <a:solidFill>
                  <a:srgbClr val="FFC000"/>
                </a:solidFill>
              </a:rPr>
              <a:t> + 2as</a:t>
            </a:r>
            <a:endParaRPr lang="en-IN" altLang="en-US" sz="2000">
              <a:solidFill>
                <a:srgbClr val="FFC000"/>
              </a:solidFill>
            </a:endParaRPr>
          </a:p>
        </p:txBody>
      </p:sp>
      <p:sp>
        <p:nvSpPr>
          <p:cNvPr id="56324" name="Rectangle 4"/>
          <p:cNvSpPr>
            <a:spLocks noChangeArrowheads="1"/>
          </p:cNvSpPr>
          <p:nvPr/>
        </p:nvSpPr>
        <p:spPr bwMode="auto">
          <a:xfrm>
            <a:off x="2279651" y="1165225"/>
            <a:ext cx="7345363"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FFCC"/>
                </a:solidFill>
              </a:rPr>
              <a:t>The dimensions of the quantities involved in the equation are:</a:t>
            </a:r>
          </a:p>
          <a:p>
            <a:pPr eaLnBrk="1" fontAlgn="base" hangingPunct="1">
              <a:spcBef>
                <a:spcPct val="0"/>
              </a:spcBef>
              <a:spcAft>
                <a:spcPct val="0"/>
              </a:spcAft>
            </a:pPr>
            <a:endParaRPr lang="en-US" altLang="en-US" b="1">
              <a:solidFill>
                <a:srgbClr val="FFFFCC"/>
              </a:solidFill>
            </a:endParaRPr>
          </a:p>
          <a:p>
            <a:pPr eaLnBrk="1" fontAlgn="base" hangingPunct="1">
              <a:spcBef>
                <a:spcPct val="0"/>
              </a:spcBef>
              <a:spcAft>
                <a:spcPct val="0"/>
              </a:spcAft>
            </a:pPr>
            <a:r>
              <a:rPr lang="en-US" altLang="en-US" b="1">
                <a:solidFill>
                  <a:srgbClr val="FFFFCC"/>
                </a:solidFill>
              </a:rPr>
              <a:t>[u] =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-1</a:t>
            </a:r>
            <a:r>
              <a:rPr lang="en-US" altLang="en-US" b="1">
                <a:solidFill>
                  <a:srgbClr val="FFFFCC"/>
                </a:solidFill>
              </a:rPr>
              <a:t>] </a:t>
            </a:r>
          </a:p>
          <a:p>
            <a:pPr eaLnBrk="1" fontAlgn="base" hangingPunct="1">
              <a:spcBef>
                <a:spcPct val="0"/>
              </a:spcBef>
              <a:spcAft>
                <a:spcPct val="0"/>
              </a:spcAft>
            </a:pPr>
            <a:r>
              <a:rPr lang="en-US" altLang="en-US" b="1">
                <a:solidFill>
                  <a:srgbClr val="FFFFCC"/>
                </a:solidFill>
              </a:rPr>
              <a:t>[v] =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-1</a:t>
            </a:r>
            <a:r>
              <a:rPr lang="en-US" altLang="en-US" b="1">
                <a:solidFill>
                  <a:srgbClr val="FFFFCC"/>
                </a:solidFill>
              </a:rPr>
              <a:t>] </a:t>
            </a:r>
          </a:p>
          <a:p>
            <a:pPr eaLnBrk="1" fontAlgn="base" hangingPunct="1">
              <a:spcBef>
                <a:spcPct val="0"/>
              </a:spcBef>
              <a:spcAft>
                <a:spcPct val="0"/>
              </a:spcAft>
            </a:pPr>
            <a:r>
              <a:rPr lang="en-US" altLang="en-US" b="1">
                <a:solidFill>
                  <a:srgbClr val="FFFFCC"/>
                </a:solidFill>
              </a:rPr>
              <a:t>[a] =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-2</a:t>
            </a:r>
            <a:r>
              <a:rPr lang="en-US" altLang="en-US" b="1">
                <a:solidFill>
                  <a:srgbClr val="FFFFCC"/>
                </a:solidFill>
              </a:rPr>
              <a:t>] </a:t>
            </a:r>
          </a:p>
          <a:p>
            <a:pPr eaLnBrk="1" fontAlgn="base" hangingPunct="1">
              <a:spcBef>
                <a:spcPct val="0"/>
              </a:spcBef>
              <a:spcAft>
                <a:spcPct val="0"/>
              </a:spcAft>
            </a:pPr>
            <a:r>
              <a:rPr lang="en-US" altLang="en-US" b="1">
                <a:solidFill>
                  <a:srgbClr val="FFFFCC"/>
                </a:solidFill>
              </a:rPr>
              <a:t>[s] =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0</a:t>
            </a:r>
            <a:r>
              <a:rPr lang="en-US" altLang="en-US" b="1">
                <a:solidFill>
                  <a:srgbClr val="FFFFCC"/>
                </a:solidFill>
              </a:rPr>
              <a:t>] </a:t>
            </a:r>
            <a:endParaRPr lang="en-IN" altLang="en-US">
              <a:solidFill>
                <a:srgbClr val="FFFFCC"/>
              </a:solidFill>
            </a:endParaRPr>
          </a:p>
        </p:txBody>
      </p:sp>
      <p:sp>
        <p:nvSpPr>
          <p:cNvPr id="56326" name="Rectangle 1"/>
          <p:cNvSpPr>
            <a:spLocks noChangeArrowheads="1"/>
          </p:cNvSpPr>
          <p:nvPr/>
        </p:nvSpPr>
        <p:spPr bwMode="auto">
          <a:xfrm>
            <a:off x="2063751" y="3087688"/>
            <a:ext cx="84248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FFCC"/>
                </a:solidFill>
              </a:rPr>
              <a:t>Substituting the dimensions in the given equation,</a:t>
            </a:r>
          </a:p>
          <a:p>
            <a:pPr eaLnBrk="1" fontAlgn="base" hangingPunct="1">
              <a:spcBef>
                <a:spcPct val="0"/>
              </a:spcBef>
              <a:spcAft>
                <a:spcPct val="0"/>
              </a:spcAft>
            </a:pPr>
            <a:endParaRPr lang="en-US" altLang="en-US" b="1">
              <a:solidFill>
                <a:srgbClr val="FFFFCC"/>
              </a:solidFill>
            </a:endParaRPr>
          </a:p>
          <a:p>
            <a:pPr eaLnBrk="1" fontAlgn="base" hangingPunct="1">
              <a:spcBef>
                <a:spcPct val="0"/>
              </a:spcBef>
              <a:spcAft>
                <a:spcPct val="0"/>
              </a:spcAft>
            </a:pPr>
            <a:r>
              <a:rPr lang="en-US" altLang="en-US" b="1">
                <a:solidFill>
                  <a:srgbClr val="FFFFCC"/>
                </a:solidFill>
              </a:rPr>
              <a:t>[M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-1</a:t>
            </a:r>
            <a:r>
              <a:rPr lang="en-US" altLang="en-US" b="1">
                <a:solidFill>
                  <a:srgbClr val="FFFFCC"/>
                </a:solidFill>
              </a:rPr>
              <a:t>]</a:t>
            </a:r>
            <a:r>
              <a:rPr lang="en-US" altLang="en-US" b="1" baseline="30000">
                <a:solidFill>
                  <a:srgbClr val="FFFFCC"/>
                </a:solidFill>
              </a:rPr>
              <a:t>2</a:t>
            </a:r>
            <a:r>
              <a:rPr lang="en-US" altLang="en-US" b="1">
                <a:solidFill>
                  <a:srgbClr val="FFFFCC"/>
                </a:solidFill>
              </a:rPr>
              <a:t> =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-1</a:t>
            </a:r>
            <a:r>
              <a:rPr lang="en-US" altLang="en-US" b="1">
                <a:solidFill>
                  <a:srgbClr val="FFFFCC"/>
                </a:solidFill>
              </a:rPr>
              <a:t>]</a:t>
            </a:r>
            <a:r>
              <a:rPr lang="en-US" altLang="en-US" b="1" baseline="30000">
                <a:solidFill>
                  <a:srgbClr val="FFFFCC"/>
                </a:solidFill>
              </a:rPr>
              <a:t>2 </a:t>
            </a:r>
            <a:r>
              <a:rPr lang="en-US" altLang="en-US" b="1">
                <a:solidFill>
                  <a:srgbClr val="FFFFCC"/>
                </a:solidFill>
              </a:rPr>
              <a:t>+</a:t>
            </a:r>
            <a:r>
              <a:rPr lang="en-US" altLang="en-US" b="1" baseline="30000">
                <a:solidFill>
                  <a:srgbClr val="FFFFCC"/>
                </a:solidFill>
              </a:rPr>
              <a:t> </a:t>
            </a:r>
            <a:r>
              <a:rPr lang="en-US" altLang="en-US" b="1">
                <a:solidFill>
                  <a:srgbClr val="FFFFCC"/>
                </a:solidFill>
              </a:rPr>
              <a:t>[M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-2</a:t>
            </a:r>
            <a:r>
              <a:rPr lang="en-US" altLang="en-US" b="1">
                <a:solidFill>
                  <a:srgbClr val="FFFFCC"/>
                </a:solidFill>
              </a:rPr>
              <a:t>] [M</a:t>
            </a:r>
            <a:r>
              <a:rPr lang="en-US" altLang="en-US" b="1" baseline="30000">
                <a:solidFill>
                  <a:srgbClr val="FFFFCC"/>
                </a:solidFill>
              </a:rPr>
              <a:t>0</a:t>
            </a:r>
            <a:r>
              <a:rPr lang="en-US" altLang="en-US" b="1">
                <a:solidFill>
                  <a:srgbClr val="FFFFCC"/>
                </a:solidFill>
              </a:rPr>
              <a:t>LT</a:t>
            </a:r>
            <a:r>
              <a:rPr lang="en-US" altLang="en-US" b="1" baseline="30000">
                <a:solidFill>
                  <a:srgbClr val="FFFFCC"/>
                </a:solidFill>
              </a:rPr>
              <a:t>0</a:t>
            </a:r>
            <a:r>
              <a:rPr lang="en-US" altLang="en-US" b="1">
                <a:solidFill>
                  <a:srgbClr val="FFFFCC"/>
                </a:solidFill>
              </a:rPr>
              <a:t>] </a:t>
            </a:r>
          </a:p>
          <a:p>
            <a:pPr eaLnBrk="1" fontAlgn="base" hangingPunct="1">
              <a:spcBef>
                <a:spcPct val="0"/>
              </a:spcBef>
              <a:spcAft>
                <a:spcPct val="0"/>
              </a:spcAft>
            </a:pPr>
            <a:endParaRPr lang="en-US" altLang="en-US" b="1">
              <a:solidFill>
                <a:srgbClr val="FFFFCC"/>
              </a:solidFill>
            </a:endParaRPr>
          </a:p>
          <a:p>
            <a:pPr eaLnBrk="1" fontAlgn="base" hangingPunct="1">
              <a:spcBef>
                <a:spcPct val="0"/>
              </a:spcBef>
              <a:spcAft>
                <a:spcPct val="0"/>
              </a:spcAft>
            </a:pPr>
            <a:r>
              <a:rPr lang="en-US" altLang="en-US" b="1">
                <a:solidFill>
                  <a:srgbClr val="FFFFCC"/>
                </a:solidFill>
              </a:rPr>
              <a:t>[M</a:t>
            </a:r>
            <a:r>
              <a:rPr lang="en-US" altLang="en-US" b="1" baseline="30000">
                <a:solidFill>
                  <a:srgbClr val="FFFFCC"/>
                </a:solidFill>
              </a:rPr>
              <a:t>0</a:t>
            </a:r>
            <a:r>
              <a:rPr lang="en-US" altLang="en-US" b="1">
                <a:solidFill>
                  <a:srgbClr val="FFFFCC"/>
                </a:solidFill>
              </a:rPr>
              <a:t>L</a:t>
            </a:r>
            <a:r>
              <a:rPr lang="en-US" altLang="en-US" b="1" baseline="30000">
                <a:solidFill>
                  <a:srgbClr val="FFFFCC"/>
                </a:solidFill>
              </a:rPr>
              <a:t>2</a:t>
            </a:r>
            <a:r>
              <a:rPr lang="en-US" altLang="en-US" b="1">
                <a:solidFill>
                  <a:srgbClr val="FFFFCC"/>
                </a:solidFill>
              </a:rPr>
              <a:t>T</a:t>
            </a:r>
            <a:r>
              <a:rPr lang="en-US" altLang="en-US" b="1" baseline="30000">
                <a:solidFill>
                  <a:srgbClr val="FFFFCC"/>
                </a:solidFill>
              </a:rPr>
              <a:t>-2</a:t>
            </a:r>
            <a:r>
              <a:rPr lang="en-US" altLang="en-US" b="1">
                <a:solidFill>
                  <a:srgbClr val="FFFFCC"/>
                </a:solidFill>
              </a:rPr>
              <a:t>] = [M</a:t>
            </a:r>
            <a:r>
              <a:rPr lang="en-US" altLang="en-US" b="1" baseline="30000">
                <a:solidFill>
                  <a:srgbClr val="FFFFCC"/>
                </a:solidFill>
              </a:rPr>
              <a:t>0</a:t>
            </a:r>
            <a:r>
              <a:rPr lang="en-US" altLang="en-US" b="1">
                <a:solidFill>
                  <a:srgbClr val="FFFFCC"/>
                </a:solidFill>
              </a:rPr>
              <a:t>L</a:t>
            </a:r>
            <a:r>
              <a:rPr lang="en-US" altLang="en-US" b="1" baseline="30000">
                <a:solidFill>
                  <a:srgbClr val="FFFFCC"/>
                </a:solidFill>
              </a:rPr>
              <a:t>2</a:t>
            </a:r>
            <a:r>
              <a:rPr lang="en-US" altLang="en-US" b="1">
                <a:solidFill>
                  <a:srgbClr val="FFFFCC"/>
                </a:solidFill>
              </a:rPr>
              <a:t>T</a:t>
            </a:r>
            <a:r>
              <a:rPr lang="en-US" altLang="en-US" b="1" baseline="30000">
                <a:solidFill>
                  <a:srgbClr val="FFFFCC"/>
                </a:solidFill>
              </a:rPr>
              <a:t>-2</a:t>
            </a:r>
            <a:r>
              <a:rPr lang="en-US" altLang="en-US" b="1">
                <a:solidFill>
                  <a:srgbClr val="FFFFCC"/>
                </a:solidFill>
              </a:rPr>
              <a:t>] + [M</a:t>
            </a:r>
            <a:r>
              <a:rPr lang="en-US" altLang="en-US" b="1" baseline="30000">
                <a:solidFill>
                  <a:srgbClr val="FFFFCC"/>
                </a:solidFill>
              </a:rPr>
              <a:t>0</a:t>
            </a:r>
            <a:r>
              <a:rPr lang="en-US" altLang="en-US" b="1">
                <a:solidFill>
                  <a:srgbClr val="FFFFCC"/>
                </a:solidFill>
              </a:rPr>
              <a:t>L</a:t>
            </a:r>
            <a:r>
              <a:rPr lang="en-US" altLang="en-US" b="1" baseline="30000">
                <a:solidFill>
                  <a:srgbClr val="FFFFCC"/>
                </a:solidFill>
              </a:rPr>
              <a:t>2</a:t>
            </a:r>
            <a:r>
              <a:rPr lang="en-US" altLang="en-US" b="1">
                <a:solidFill>
                  <a:srgbClr val="FFFFCC"/>
                </a:solidFill>
              </a:rPr>
              <a:t>T</a:t>
            </a:r>
            <a:r>
              <a:rPr lang="en-US" altLang="en-US" b="1" baseline="30000">
                <a:solidFill>
                  <a:srgbClr val="FFFFCC"/>
                </a:solidFill>
              </a:rPr>
              <a:t>-2</a:t>
            </a:r>
            <a:r>
              <a:rPr lang="en-US" altLang="en-US" b="1">
                <a:solidFill>
                  <a:srgbClr val="FFFFCC"/>
                </a:solidFill>
              </a:rPr>
              <a:t>] </a:t>
            </a:r>
            <a:endParaRPr lang="en-IN" altLang="en-US">
              <a:solidFill>
                <a:srgbClr val="FFFFCC"/>
              </a:solidFill>
            </a:endParaRPr>
          </a:p>
          <a:p>
            <a:pPr eaLnBrk="1" fontAlgn="base" hangingPunct="1">
              <a:spcBef>
                <a:spcPct val="0"/>
              </a:spcBef>
              <a:spcAft>
                <a:spcPct val="0"/>
              </a:spcAft>
            </a:pPr>
            <a:endParaRPr lang="en-US" altLang="en-US" b="1">
              <a:solidFill>
                <a:srgbClr val="FFFFCC"/>
              </a:solidFill>
            </a:endParaRPr>
          </a:p>
          <a:p>
            <a:pPr eaLnBrk="1" fontAlgn="base" hangingPunct="1">
              <a:spcBef>
                <a:spcPct val="0"/>
              </a:spcBef>
              <a:spcAft>
                <a:spcPct val="0"/>
              </a:spcAft>
            </a:pPr>
            <a:r>
              <a:rPr lang="en-US" altLang="en-US" b="1">
                <a:solidFill>
                  <a:srgbClr val="FF6600"/>
                </a:solidFill>
              </a:rPr>
              <a:t>Each term of the above equation is having same dimensions.</a:t>
            </a:r>
          </a:p>
          <a:p>
            <a:pPr eaLnBrk="1" fontAlgn="base" hangingPunct="1">
              <a:spcBef>
                <a:spcPct val="0"/>
              </a:spcBef>
              <a:spcAft>
                <a:spcPct val="0"/>
              </a:spcAft>
            </a:pPr>
            <a:r>
              <a:rPr lang="en-US" altLang="en-US" b="1">
                <a:solidFill>
                  <a:srgbClr val="FF6600"/>
                </a:solidFill>
              </a:rPr>
              <a:t>Therefore, the given equation is dimensionally correct or dimensionally consistent.</a:t>
            </a:r>
          </a:p>
          <a:p>
            <a:pPr eaLnBrk="1" fontAlgn="base" hangingPunct="1">
              <a:spcBef>
                <a:spcPct val="0"/>
              </a:spcBef>
              <a:spcAft>
                <a:spcPct val="0"/>
              </a:spcAft>
            </a:pPr>
            <a:endParaRPr lang="en-US" altLang="en-US" b="1">
              <a:solidFill>
                <a:srgbClr val="FFFFCC"/>
              </a:solidFill>
            </a:endParaRPr>
          </a:p>
        </p:txBody>
      </p:sp>
      <p:sp>
        <p:nvSpPr>
          <p:cNvPr id="56327" name="Rectangle 5"/>
          <p:cNvSpPr>
            <a:spLocks noChangeArrowheads="1"/>
          </p:cNvSpPr>
          <p:nvPr/>
        </p:nvSpPr>
        <p:spPr bwMode="auto">
          <a:xfrm>
            <a:off x="6167439" y="3648076"/>
            <a:ext cx="432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66"/>
                </a:solidFill>
              </a:rPr>
              <a:t>(Note that the constant 2  in the term ‘2as’ does not have dimensions)</a:t>
            </a:r>
          </a:p>
        </p:txBody>
      </p:sp>
      <p:sp>
        <p:nvSpPr>
          <p:cNvPr id="2" name="Rectangle 1">
            <a:hlinkClick r:id="rId3"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6328"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6329"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409821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p:cTn id="7" dur="500" fill="hold"/>
                                        <p:tgtEl>
                                          <p:spTgt spid="56322"/>
                                        </p:tgtEl>
                                        <p:attrNameLst>
                                          <p:attrName>ppt_w</p:attrName>
                                        </p:attrNameLst>
                                      </p:cBhvr>
                                      <p:tavLst>
                                        <p:tav tm="0">
                                          <p:val>
                                            <p:fltVal val="0"/>
                                          </p:val>
                                        </p:tav>
                                        <p:tav tm="100000">
                                          <p:val>
                                            <p:strVal val="#ppt_w"/>
                                          </p:val>
                                        </p:tav>
                                      </p:tavLst>
                                    </p:anim>
                                    <p:anim calcmode="lin" valueType="num">
                                      <p:cBhvr>
                                        <p:cTn id="8" dur="500" fill="hold"/>
                                        <p:tgtEl>
                                          <p:spTgt spid="56322"/>
                                        </p:tgtEl>
                                        <p:attrNameLst>
                                          <p:attrName>ppt_h</p:attrName>
                                        </p:attrNameLst>
                                      </p:cBhvr>
                                      <p:tavLst>
                                        <p:tav tm="0">
                                          <p:val>
                                            <p:fltVal val="0"/>
                                          </p:val>
                                        </p:tav>
                                        <p:tav tm="100000">
                                          <p:val>
                                            <p:strVal val="#ppt_h"/>
                                          </p:val>
                                        </p:tav>
                                      </p:tavLst>
                                    </p:anim>
                                    <p:animEffect transition="in" filter="fade">
                                      <p:cBhvr>
                                        <p:cTn id="9" dur="500"/>
                                        <p:tgtEl>
                                          <p:spTgt spid="5632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6323"/>
                                        </p:tgtEl>
                                        <p:attrNameLst>
                                          <p:attrName>style.visibility</p:attrName>
                                        </p:attrNameLst>
                                      </p:cBhvr>
                                      <p:to>
                                        <p:strVal val="visible"/>
                                      </p:to>
                                    </p:set>
                                    <p:anim calcmode="lin" valueType="num">
                                      <p:cBhvr>
                                        <p:cTn id="14" dur="500" fill="hold"/>
                                        <p:tgtEl>
                                          <p:spTgt spid="56323"/>
                                        </p:tgtEl>
                                        <p:attrNameLst>
                                          <p:attrName>ppt_w</p:attrName>
                                        </p:attrNameLst>
                                      </p:cBhvr>
                                      <p:tavLst>
                                        <p:tav tm="0">
                                          <p:val>
                                            <p:fltVal val="0"/>
                                          </p:val>
                                        </p:tav>
                                        <p:tav tm="100000">
                                          <p:val>
                                            <p:strVal val="#ppt_w"/>
                                          </p:val>
                                        </p:tav>
                                      </p:tavLst>
                                    </p:anim>
                                    <p:anim calcmode="lin" valueType="num">
                                      <p:cBhvr>
                                        <p:cTn id="15" dur="500" fill="hold"/>
                                        <p:tgtEl>
                                          <p:spTgt spid="56323"/>
                                        </p:tgtEl>
                                        <p:attrNameLst>
                                          <p:attrName>ppt_h</p:attrName>
                                        </p:attrNameLst>
                                      </p:cBhvr>
                                      <p:tavLst>
                                        <p:tav tm="0">
                                          <p:val>
                                            <p:fltVal val="0"/>
                                          </p:val>
                                        </p:tav>
                                        <p:tav tm="100000">
                                          <p:val>
                                            <p:strVal val="#ppt_h"/>
                                          </p:val>
                                        </p:tav>
                                      </p:tavLst>
                                    </p:anim>
                                    <p:animEffect transition="in" filter="fade">
                                      <p:cBhvr>
                                        <p:cTn id="16" dur="500"/>
                                        <p:tgtEl>
                                          <p:spTgt spid="563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6324">
                                            <p:txEl>
                                              <p:pRg st="0" end="0"/>
                                            </p:txEl>
                                          </p:spTgt>
                                        </p:tgtEl>
                                        <p:attrNameLst>
                                          <p:attrName>style.visibility</p:attrName>
                                        </p:attrNameLst>
                                      </p:cBhvr>
                                      <p:to>
                                        <p:strVal val="visible"/>
                                      </p:to>
                                    </p:set>
                                    <p:animEffect transition="in" filter="wipe(left)">
                                      <p:cBhvr>
                                        <p:cTn id="21" dur="500"/>
                                        <p:tgtEl>
                                          <p:spTgt spid="5632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6324">
                                            <p:txEl>
                                              <p:pRg st="2" end="2"/>
                                            </p:txEl>
                                          </p:spTgt>
                                        </p:tgtEl>
                                        <p:attrNameLst>
                                          <p:attrName>style.visibility</p:attrName>
                                        </p:attrNameLst>
                                      </p:cBhvr>
                                      <p:to>
                                        <p:strVal val="visible"/>
                                      </p:to>
                                    </p:set>
                                    <p:animEffect transition="in" filter="wipe(left)">
                                      <p:cBhvr>
                                        <p:cTn id="26" dur="500"/>
                                        <p:tgtEl>
                                          <p:spTgt spid="56324">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56324">
                                            <p:txEl>
                                              <p:pRg st="3" end="3"/>
                                            </p:txEl>
                                          </p:spTgt>
                                        </p:tgtEl>
                                        <p:attrNameLst>
                                          <p:attrName>style.visibility</p:attrName>
                                        </p:attrNameLst>
                                      </p:cBhvr>
                                      <p:to>
                                        <p:strVal val="visible"/>
                                      </p:to>
                                    </p:set>
                                    <p:animEffect transition="in" filter="wipe(left)">
                                      <p:cBhvr>
                                        <p:cTn id="31" dur="500"/>
                                        <p:tgtEl>
                                          <p:spTgt spid="56324">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6324">
                                            <p:txEl>
                                              <p:pRg st="4" end="4"/>
                                            </p:txEl>
                                          </p:spTgt>
                                        </p:tgtEl>
                                        <p:attrNameLst>
                                          <p:attrName>style.visibility</p:attrName>
                                        </p:attrNameLst>
                                      </p:cBhvr>
                                      <p:to>
                                        <p:strVal val="visible"/>
                                      </p:to>
                                    </p:set>
                                    <p:animEffect transition="in" filter="wipe(left)">
                                      <p:cBhvr>
                                        <p:cTn id="36" dur="500"/>
                                        <p:tgtEl>
                                          <p:spTgt spid="56324">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6324">
                                            <p:txEl>
                                              <p:pRg st="5" end="5"/>
                                            </p:txEl>
                                          </p:spTgt>
                                        </p:tgtEl>
                                        <p:attrNameLst>
                                          <p:attrName>style.visibility</p:attrName>
                                        </p:attrNameLst>
                                      </p:cBhvr>
                                      <p:to>
                                        <p:strVal val="visible"/>
                                      </p:to>
                                    </p:set>
                                    <p:animEffect transition="in" filter="wipe(left)">
                                      <p:cBhvr>
                                        <p:cTn id="41" dur="500"/>
                                        <p:tgtEl>
                                          <p:spTgt spid="56324">
                                            <p:txEl>
                                              <p:pRg st="5" end="5"/>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6326">
                                            <p:txEl>
                                              <p:pRg st="0" end="0"/>
                                            </p:txEl>
                                          </p:spTgt>
                                        </p:tgtEl>
                                        <p:attrNameLst>
                                          <p:attrName>style.visibility</p:attrName>
                                        </p:attrNameLst>
                                      </p:cBhvr>
                                      <p:to>
                                        <p:strVal val="visible"/>
                                      </p:to>
                                    </p:set>
                                    <p:animEffect transition="in" filter="wipe(left)">
                                      <p:cBhvr>
                                        <p:cTn id="46" dur="500"/>
                                        <p:tgtEl>
                                          <p:spTgt spid="56326">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56326">
                                            <p:txEl>
                                              <p:pRg st="2" end="2"/>
                                            </p:txEl>
                                          </p:spTgt>
                                        </p:tgtEl>
                                        <p:attrNameLst>
                                          <p:attrName>style.visibility</p:attrName>
                                        </p:attrNameLst>
                                      </p:cBhvr>
                                      <p:to>
                                        <p:strVal val="visible"/>
                                      </p:to>
                                    </p:set>
                                    <p:animEffect transition="in" filter="wipe(left)">
                                      <p:cBhvr>
                                        <p:cTn id="51" dur="500"/>
                                        <p:tgtEl>
                                          <p:spTgt spid="56326">
                                            <p:txEl>
                                              <p:pRg st="2" end="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56327"/>
                                        </p:tgtEl>
                                        <p:attrNameLst>
                                          <p:attrName>style.visibility</p:attrName>
                                        </p:attrNameLst>
                                      </p:cBhvr>
                                      <p:to>
                                        <p:strVal val="visible"/>
                                      </p:to>
                                    </p:set>
                                    <p:animEffect transition="in" filter="wipe(up)">
                                      <p:cBhvr>
                                        <p:cTn id="56" dur="500"/>
                                        <p:tgtEl>
                                          <p:spTgt spid="5632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56326">
                                            <p:txEl>
                                              <p:pRg st="4" end="4"/>
                                            </p:txEl>
                                          </p:spTgt>
                                        </p:tgtEl>
                                        <p:attrNameLst>
                                          <p:attrName>style.visibility</p:attrName>
                                        </p:attrNameLst>
                                      </p:cBhvr>
                                      <p:to>
                                        <p:strVal val="visible"/>
                                      </p:to>
                                    </p:set>
                                    <p:animEffect transition="in" filter="wipe(left)">
                                      <p:cBhvr>
                                        <p:cTn id="61" dur="500"/>
                                        <p:tgtEl>
                                          <p:spTgt spid="56326">
                                            <p:txEl>
                                              <p:pRg st="4" end="4"/>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6326">
                                            <p:txEl>
                                              <p:pRg st="6" end="6"/>
                                            </p:txEl>
                                          </p:spTgt>
                                        </p:tgtEl>
                                        <p:attrNameLst>
                                          <p:attrName>style.visibility</p:attrName>
                                        </p:attrNameLst>
                                      </p:cBhvr>
                                      <p:to>
                                        <p:strVal val="visible"/>
                                      </p:to>
                                    </p:set>
                                    <p:animEffect transition="in" filter="wipe(left)">
                                      <p:cBhvr>
                                        <p:cTn id="66" dur="500"/>
                                        <p:tgtEl>
                                          <p:spTgt spid="56326">
                                            <p:txEl>
                                              <p:pRg st="6" end="6"/>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56326">
                                            <p:txEl>
                                              <p:pRg st="7" end="7"/>
                                            </p:txEl>
                                          </p:spTgt>
                                        </p:tgtEl>
                                        <p:attrNameLst>
                                          <p:attrName>style.visibility</p:attrName>
                                        </p:attrNameLst>
                                      </p:cBhvr>
                                      <p:to>
                                        <p:strVal val="visible"/>
                                      </p:to>
                                    </p:set>
                                    <p:animEffect transition="in" filter="wipe(left)">
                                      <p:cBhvr>
                                        <p:cTn id="71" dur="500"/>
                                        <p:tgtEl>
                                          <p:spTgt spid="5632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P spid="56323" grpId="0"/>
      <p:bldP spid="563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2351088" y="333375"/>
            <a:ext cx="76327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endParaRPr lang="en-US" b="1" dirty="0">
              <a:solidFill>
                <a:srgbClr val="FF0000"/>
              </a:solidFill>
              <a:latin typeface="Arial" panose="020B0604020202020204" pitchFamily="34" charset="0"/>
            </a:endParaRPr>
          </a:p>
          <a:p>
            <a:pPr fontAlgn="base">
              <a:spcBef>
                <a:spcPct val="0"/>
              </a:spcBef>
              <a:spcAft>
                <a:spcPct val="0"/>
              </a:spcAft>
              <a:defRPr/>
            </a:pPr>
            <a:r>
              <a:rPr lang="en-US" b="1" dirty="0">
                <a:solidFill>
                  <a:srgbClr val="FF6600"/>
                </a:solidFill>
                <a:latin typeface="Arial" panose="020B0604020202020204" pitchFamily="34" charset="0"/>
              </a:rPr>
              <a:t>Note:</a:t>
            </a:r>
          </a:p>
          <a:p>
            <a:pPr fontAlgn="base">
              <a:spcBef>
                <a:spcPct val="0"/>
              </a:spcBef>
              <a:spcAft>
                <a:spcPct val="0"/>
              </a:spcAft>
              <a:defRPr/>
            </a:pPr>
            <a:r>
              <a:rPr lang="en-US" b="1" dirty="0">
                <a:solidFill>
                  <a:srgbClr val="2D2D8A">
                    <a:lumMod val="40000"/>
                    <a:lumOff val="60000"/>
                  </a:srgbClr>
                </a:solidFill>
                <a:latin typeface="Arial" panose="020B0604020202020204" pitchFamily="34" charset="0"/>
              </a:rPr>
              <a:t>If an equation fails the consistency test, it is proved wrong;</a:t>
            </a:r>
          </a:p>
          <a:p>
            <a:pPr fontAlgn="base">
              <a:spcBef>
                <a:spcPct val="0"/>
              </a:spcBef>
              <a:spcAft>
                <a:spcPct val="0"/>
              </a:spcAft>
              <a:defRPr/>
            </a:pPr>
            <a:r>
              <a:rPr lang="en-US" b="1" dirty="0">
                <a:solidFill>
                  <a:srgbClr val="2D2D8A">
                    <a:lumMod val="40000"/>
                    <a:lumOff val="60000"/>
                  </a:srgbClr>
                </a:solidFill>
                <a:latin typeface="Arial" panose="020B0604020202020204" pitchFamily="34" charset="0"/>
              </a:rPr>
              <a:t>But if it passes, it is not proved right.</a:t>
            </a:r>
          </a:p>
          <a:p>
            <a:pPr fontAlgn="base">
              <a:spcBef>
                <a:spcPct val="0"/>
              </a:spcBef>
              <a:spcAft>
                <a:spcPct val="0"/>
              </a:spcAft>
              <a:defRPr/>
            </a:pPr>
            <a:endParaRPr lang="en-US" b="1" dirty="0">
              <a:solidFill>
                <a:srgbClr val="2D2D8A">
                  <a:lumMod val="40000"/>
                  <a:lumOff val="60000"/>
                </a:srgbClr>
              </a:solidFill>
              <a:latin typeface="Arial" panose="020B0604020202020204" pitchFamily="34" charset="0"/>
            </a:endParaRPr>
          </a:p>
          <a:p>
            <a:pPr fontAlgn="base">
              <a:spcBef>
                <a:spcPct val="0"/>
              </a:spcBef>
              <a:spcAft>
                <a:spcPct val="0"/>
              </a:spcAft>
              <a:defRPr/>
            </a:pPr>
            <a:r>
              <a:rPr lang="en-US" b="1" dirty="0">
                <a:solidFill>
                  <a:srgbClr val="2D2D8A">
                    <a:lumMod val="40000"/>
                    <a:lumOff val="60000"/>
                  </a:srgbClr>
                </a:solidFill>
                <a:latin typeface="Arial" panose="020B0604020202020204" pitchFamily="34" charset="0"/>
              </a:rPr>
              <a:t>Thus, a dimensionally correct equation need not be actually an exact (correct) equation, but a dimensionally wrong (incorrect) or inconsistent equation must be wrong.</a:t>
            </a:r>
          </a:p>
          <a:p>
            <a:pPr fontAlgn="base">
              <a:spcBef>
                <a:spcPct val="0"/>
              </a:spcBef>
              <a:spcAft>
                <a:spcPct val="0"/>
              </a:spcAft>
              <a:defRPr/>
            </a:pPr>
            <a:endParaRPr lang="en-US" b="1" dirty="0">
              <a:solidFill>
                <a:srgbClr val="FF0000"/>
              </a:solidFill>
              <a:latin typeface="Arial" panose="020B0604020202020204" pitchFamily="34" charset="0"/>
            </a:endParaRPr>
          </a:p>
          <a:p>
            <a:pPr fontAlgn="base">
              <a:spcBef>
                <a:spcPct val="0"/>
              </a:spcBef>
              <a:spcAft>
                <a:spcPct val="0"/>
              </a:spcAft>
              <a:defRPr/>
            </a:pPr>
            <a:r>
              <a:rPr lang="en-US" b="1" dirty="0">
                <a:solidFill>
                  <a:srgbClr val="FF0066"/>
                </a:solidFill>
                <a:latin typeface="Arial" panose="020B0604020202020204" pitchFamily="34" charset="0"/>
              </a:rPr>
              <a:t>Example: Equations </a:t>
            </a:r>
            <a:r>
              <a:rPr lang="en-US" b="1" dirty="0">
                <a:solidFill>
                  <a:srgbClr val="9966FF"/>
                </a:solidFill>
                <a:latin typeface="Arial" panose="020B0604020202020204" pitchFamily="34" charset="0"/>
              </a:rPr>
              <a:t>v</a:t>
            </a:r>
            <a:r>
              <a:rPr lang="en-US" b="1" baseline="30000" dirty="0">
                <a:solidFill>
                  <a:srgbClr val="9966FF"/>
                </a:solidFill>
                <a:latin typeface="Arial" panose="020B0604020202020204" pitchFamily="34" charset="0"/>
              </a:rPr>
              <a:t>2</a:t>
            </a:r>
            <a:r>
              <a:rPr lang="en-US" b="1" dirty="0">
                <a:solidFill>
                  <a:srgbClr val="9966FF"/>
                </a:solidFill>
                <a:latin typeface="Arial" panose="020B0604020202020204" pitchFamily="34" charset="0"/>
              </a:rPr>
              <a:t> = u</a:t>
            </a:r>
            <a:r>
              <a:rPr lang="en-US" b="1" baseline="30000" dirty="0">
                <a:solidFill>
                  <a:srgbClr val="9966FF"/>
                </a:solidFill>
                <a:latin typeface="Arial" panose="020B0604020202020204" pitchFamily="34" charset="0"/>
              </a:rPr>
              <a:t>2</a:t>
            </a:r>
            <a:r>
              <a:rPr lang="en-US" b="1" dirty="0">
                <a:solidFill>
                  <a:srgbClr val="9966FF"/>
                </a:solidFill>
                <a:latin typeface="Arial" panose="020B0604020202020204" pitchFamily="34" charset="0"/>
              </a:rPr>
              <a:t> - 2as </a:t>
            </a:r>
            <a:r>
              <a:rPr lang="en-US" b="1" dirty="0">
                <a:solidFill>
                  <a:srgbClr val="FF0066"/>
                </a:solidFill>
                <a:latin typeface="Arial" panose="020B0604020202020204" pitchFamily="34" charset="0"/>
              </a:rPr>
              <a:t>or</a:t>
            </a:r>
            <a:r>
              <a:rPr lang="en-US" b="1" dirty="0">
                <a:solidFill>
                  <a:srgbClr val="9966FF"/>
                </a:solidFill>
                <a:latin typeface="Arial" panose="020B0604020202020204" pitchFamily="34" charset="0"/>
              </a:rPr>
              <a:t> v</a:t>
            </a:r>
            <a:r>
              <a:rPr lang="en-US" b="1" baseline="30000" dirty="0">
                <a:solidFill>
                  <a:srgbClr val="9966FF"/>
                </a:solidFill>
                <a:latin typeface="Arial" panose="020B0604020202020204" pitchFamily="34" charset="0"/>
              </a:rPr>
              <a:t>2</a:t>
            </a:r>
            <a:r>
              <a:rPr lang="en-US" b="1" dirty="0">
                <a:solidFill>
                  <a:srgbClr val="9966FF"/>
                </a:solidFill>
                <a:latin typeface="Arial" panose="020B0604020202020204" pitchFamily="34" charset="0"/>
              </a:rPr>
              <a:t> = u</a:t>
            </a:r>
            <a:r>
              <a:rPr lang="en-US" b="1" baseline="30000" dirty="0">
                <a:solidFill>
                  <a:srgbClr val="9966FF"/>
                </a:solidFill>
                <a:latin typeface="Arial" panose="020B0604020202020204" pitchFamily="34" charset="0"/>
              </a:rPr>
              <a:t>2</a:t>
            </a:r>
            <a:r>
              <a:rPr lang="en-US" b="1" dirty="0">
                <a:solidFill>
                  <a:srgbClr val="9966FF"/>
                </a:solidFill>
                <a:latin typeface="Arial" panose="020B0604020202020204" pitchFamily="34" charset="0"/>
              </a:rPr>
              <a:t> + ½as </a:t>
            </a:r>
            <a:r>
              <a:rPr lang="en-US" b="1" dirty="0">
                <a:solidFill>
                  <a:srgbClr val="FF0066"/>
                </a:solidFill>
                <a:latin typeface="Arial" panose="020B0604020202020204" pitchFamily="34" charset="0"/>
              </a:rPr>
              <a:t>are dimensionally consistent but are incorrect equations in mechanics.</a:t>
            </a:r>
          </a:p>
          <a:p>
            <a:pPr fontAlgn="base">
              <a:spcBef>
                <a:spcPct val="0"/>
              </a:spcBef>
              <a:spcAft>
                <a:spcPct val="0"/>
              </a:spcAft>
              <a:defRPr/>
            </a:pPr>
            <a:endParaRPr lang="en-US" b="1" dirty="0">
              <a:solidFill>
                <a:srgbClr val="FF0000"/>
              </a:solidFill>
              <a:latin typeface="Arial" panose="020B0604020202020204" pitchFamily="34" charset="0"/>
            </a:endParaRPr>
          </a:p>
          <a:p>
            <a:pPr fontAlgn="base">
              <a:spcBef>
                <a:spcPct val="0"/>
              </a:spcBef>
              <a:spcAft>
                <a:spcPct val="0"/>
              </a:spcAft>
              <a:defRPr/>
            </a:pPr>
            <a:r>
              <a:rPr lang="en-US" b="1" dirty="0">
                <a:solidFill>
                  <a:srgbClr val="66FF33"/>
                </a:solidFill>
                <a:latin typeface="Arial" panose="020B0604020202020204" pitchFamily="34" charset="0"/>
              </a:rPr>
              <a:t>Albert Einstein tried his famous mass-energy equation as</a:t>
            </a:r>
          </a:p>
          <a:p>
            <a:pPr fontAlgn="base">
              <a:spcBef>
                <a:spcPct val="0"/>
              </a:spcBef>
              <a:spcAft>
                <a:spcPct val="0"/>
              </a:spcAft>
              <a:defRPr/>
            </a:pPr>
            <a:r>
              <a:rPr lang="en-US" b="1" dirty="0">
                <a:solidFill>
                  <a:srgbClr val="66FF33"/>
                </a:solidFill>
                <a:latin typeface="Arial" panose="020B0604020202020204" pitchFamily="34" charset="0"/>
              </a:rPr>
              <a:t>          </a:t>
            </a:r>
            <a:r>
              <a:rPr lang="en-US" b="1" dirty="0">
                <a:solidFill>
                  <a:srgbClr val="C00000"/>
                </a:solidFill>
                <a:latin typeface="Arial" panose="020B0604020202020204" pitchFamily="34" charset="0"/>
              </a:rPr>
              <a:t>E = m / c</a:t>
            </a:r>
            <a:r>
              <a:rPr lang="en-US" b="1" baseline="30000" dirty="0">
                <a:solidFill>
                  <a:srgbClr val="C00000"/>
                </a:solidFill>
                <a:latin typeface="Arial" panose="020B0604020202020204" pitchFamily="34" charset="0"/>
              </a:rPr>
              <a:t>2</a:t>
            </a:r>
            <a:r>
              <a:rPr lang="en-US" b="1" dirty="0">
                <a:solidFill>
                  <a:srgbClr val="C00000"/>
                </a:solidFill>
                <a:latin typeface="Arial" panose="020B0604020202020204" pitchFamily="34" charset="0"/>
              </a:rPr>
              <a:t>, E = m</a:t>
            </a:r>
            <a:r>
              <a:rPr lang="en-US" b="1" baseline="30000" dirty="0">
                <a:solidFill>
                  <a:srgbClr val="C00000"/>
                </a:solidFill>
                <a:latin typeface="Arial" panose="020B0604020202020204" pitchFamily="34" charset="0"/>
              </a:rPr>
              <a:t>2</a:t>
            </a:r>
            <a:r>
              <a:rPr lang="en-US" b="1" dirty="0">
                <a:solidFill>
                  <a:srgbClr val="C00000"/>
                </a:solidFill>
                <a:latin typeface="Arial" panose="020B0604020202020204" pitchFamily="34" charset="0"/>
              </a:rPr>
              <a:t> / c, E = m</a:t>
            </a:r>
            <a:r>
              <a:rPr lang="en-US" b="1" baseline="30000" dirty="0">
                <a:solidFill>
                  <a:srgbClr val="C00000"/>
                </a:solidFill>
                <a:latin typeface="Arial" panose="020B0604020202020204" pitchFamily="34" charset="0"/>
              </a:rPr>
              <a:t>2</a:t>
            </a:r>
            <a:r>
              <a:rPr lang="en-US" b="1" dirty="0">
                <a:solidFill>
                  <a:srgbClr val="C00000"/>
                </a:solidFill>
                <a:latin typeface="Arial" panose="020B0604020202020204" pitchFamily="34" charset="0"/>
              </a:rPr>
              <a:t> c, etc.  </a:t>
            </a:r>
          </a:p>
          <a:p>
            <a:pPr fontAlgn="base">
              <a:spcBef>
                <a:spcPct val="0"/>
              </a:spcBef>
              <a:spcAft>
                <a:spcPct val="0"/>
              </a:spcAft>
              <a:defRPr/>
            </a:pPr>
            <a:endParaRPr lang="en-US" b="1" dirty="0">
              <a:solidFill>
                <a:srgbClr val="66FF33"/>
              </a:solidFill>
              <a:latin typeface="Arial" panose="020B0604020202020204" pitchFamily="34" charset="0"/>
            </a:endParaRPr>
          </a:p>
          <a:p>
            <a:pPr fontAlgn="base">
              <a:spcBef>
                <a:spcPct val="0"/>
              </a:spcBef>
              <a:spcAft>
                <a:spcPct val="0"/>
              </a:spcAft>
              <a:defRPr/>
            </a:pPr>
            <a:r>
              <a:rPr lang="en-US" b="1" dirty="0">
                <a:solidFill>
                  <a:srgbClr val="66FF33"/>
                </a:solidFill>
                <a:latin typeface="Arial" panose="020B0604020202020204" pitchFamily="34" charset="0"/>
              </a:rPr>
              <a:t>Finally he settled with </a:t>
            </a:r>
            <a:r>
              <a:rPr lang="en-US" b="1" dirty="0">
                <a:solidFill>
                  <a:srgbClr val="FF99FF"/>
                </a:solidFill>
                <a:latin typeface="Arial" panose="020B0604020202020204" pitchFamily="34" charset="0"/>
              </a:rPr>
              <a:t>E = m c</a:t>
            </a:r>
            <a:r>
              <a:rPr lang="en-US" b="1" baseline="30000" dirty="0">
                <a:solidFill>
                  <a:srgbClr val="FF99FF"/>
                </a:solidFill>
                <a:latin typeface="Arial" panose="020B0604020202020204" pitchFamily="34" charset="0"/>
              </a:rPr>
              <a:t>2</a:t>
            </a:r>
            <a:r>
              <a:rPr lang="en-US" b="1" dirty="0">
                <a:solidFill>
                  <a:srgbClr val="FF99FF"/>
                </a:solidFill>
                <a:latin typeface="Arial" panose="020B0604020202020204" pitchFamily="34" charset="0"/>
              </a:rPr>
              <a:t> </a:t>
            </a:r>
            <a:r>
              <a:rPr lang="en-US" b="1" dirty="0">
                <a:solidFill>
                  <a:srgbClr val="66FF33"/>
                </a:solidFill>
                <a:latin typeface="Arial" panose="020B0604020202020204" pitchFamily="34" charset="0"/>
              </a:rPr>
              <a:t>using dimensions and then proved it with the help of Calculus.</a:t>
            </a:r>
          </a:p>
        </p:txBody>
      </p:sp>
      <p:sp>
        <p:nvSpPr>
          <p:cNvPr id="57347"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7348"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7349"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736712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57346">
                                            <p:txEl>
                                              <p:pRg st="1" end="1"/>
                                            </p:txEl>
                                          </p:spTgt>
                                        </p:tgtEl>
                                        <p:attrNameLst>
                                          <p:attrName>style.visibility</p:attrName>
                                        </p:attrNameLst>
                                      </p:cBhvr>
                                      <p:to>
                                        <p:strVal val="visible"/>
                                      </p:to>
                                    </p:set>
                                    <p:anim calcmode="lin" valueType="num">
                                      <p:cBhvr>
                                        <p:cTn id="7" dur="500" fill="hold"/>
                                        <p:tgtEl>
                                          <p:spTgt spid="57346">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7346">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7346">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57346">
                                            <p:txEl>
                                              <p:pRg st="2" end="2"/>
                                            </p:txEl>
                                          </p:spTgt>
                                        </p:tgtEl>
                                        <p:attrNameLst>
                                          <p:attrName>style.visibility</p:attrName>
                                        </p:attrNameLst>
                                      </p:cBhvr>
                                      <p:to>
                                        <p:strVal val="visible"/>
                                      </p:to>
                                    </p:set>
                                    <p:anim calcmode="lin" valueType="num">
                                      <p:cBhvr>
                                        <p:cTn id="14" dur="500" fill="hold"/>
                                        <p:tgtEl>
                                          <p:spTgt spid="5734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734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7346">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57346">
                                            <p:txEl>
                                              <p:pRg st="3" end="3"/>
                                            </p:txEl>
                                          </p:spTgt>
                                        </p:tgtEl>
                                        <p:attrNameLst>
                                          <p:attrName>style.visibility</p:attrName>
                                        </p:attrNameLst>
                                      </p:cBhvr>
                                      <p:to>
                                        <p:strVal val="visible"/>
                                      </p:to>
                                    </p:set>
                                    <p:anim calcmode="lin" valueType="num">
                                      <p:cBhvr>
                                        <p:cTn id="21" dur="500" fill="hold"/>
                                        <p:tgtEl>
                                          <p:spTgt spid="57346">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57346">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57346">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57346">
                                            <p:txEl>
                                              <p:pRg st="5" end="5"/>
                                            </p:txEl>
                                          </p:spTgt>
                                        </p:tgtEl>
                                        <p:attrNameLst>
                                          <p:attrName>style.visibility</p:attrName>
                                        </p:attrNameLst>
                                      </p:cBhvr>
                                      <p:to>
                                        <p:strVal val="visible"/>
                                      </p:to>
                                    </p:set>
                                    <p:anim calcmode="lin" valueType="num">
                                      <p:cBhvr>
                                        <p:cTn id="28" dur="500" fill="hold"/>
                                        <p:tgtEl>
                                          <p:spTgt spid="57346">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57346">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57346">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57346">
                                            <p:txEl>
                                              <p:pRg st="7" end="7"/>
                                            </p:txEl>
                                          </p:spTgt>
                                        </p:tgtEl>
                                        <p:attrNameLst>
                                          <p:attrName>style.visibility</p:attrName>
                                        </p:attrNameLst>
                                      </p:cBhvr>
                                      <p:to>
                                        <p:strVal val="visible"/>
                                      </p:to>
                                    </p:set>
                                    <p:anim calcmode="lin" valueType="num">
                                      <p:cBhvr>
                                        <p:cTn id="35" dur="500" fill="hold"/>
                                        <p:tgtEl>
                                          <p:spTgt spid="57346">
                                            <p:txEl>
                                              <p:pRg st="7" end="7"/>
                                            </p:txEl>
                                          </p:spTgt>
                                        </p:tgtEl>
                                        <p:attrNameLst>
                                          <p:attrName>ppt_w</p:attrName>
                                        </p:attrNameLst>
                                      </p:cBhvr>
                                      <p:tavLst>
                                        <p:tav tm="0">
                                          <p:val>
                                            <p:fltVal val="0"/>
                                          </p:val>
                                        </p:tav>
                                        <p:tav tm="100000">
                                          <p:val>
                                            <p:strVal val="#ppt_w"/>
                                          </p:val>
                                        </p:tav>
                                      </p:tavLst>
                                    </p:anim>
                                    <p:anim calcmode="lin" valueType="num">
                                      <p:cBhvr>
                                        <p:cTn id="36" dur="500" fill="hold"/>
                                        <p:tgtEl>
                                          <p:spTgt spid="57346">
                                            <p:txEl>
                                              <p:pRg st="7" end="7"/>
                                            </p:txEl>
                                          </p:spTgt>
                                        </p:tgtEl>
                                        <p:attrNameLst>
                                          <p:attrName>ppt_h</p:attrName>
                                        </p:attrNameLst>
                                      </p:cBhvr>
                                      <p:tavLst>
                                        <p:tav tm="0">
                                          <p:val>
                                            <p:fltVal val="0"/>
                                          </p:val>
                                        </p:tav>
                                        <p:tav tm="100000">
                                          <p:val>
                                            <p:strVal val="#ppt_h"/>
                                          </p:val>
                                        </p:tav>
                                      </p:tavLst>
                                    </p:anim>
                                    <p:animEffect transition="in" filter="fade">
                                      <p:cBhvr>
                                        <p:cTn id="37" dur="500"/>
                                        <p:tgtEl>
                                          <p:spTgt spid="57346">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57346">
                                            <p:txEl>
                                              <p:pRg st="9" end="9"/>
                                            </p:txEl>
                                          </p:spTgt>
                                        </p:tgtEl>
                                        <p:attrNameLst>
                                          <p:attrName>style.visibility</p:attrName>
                                        </p:attrNameLst>
                                      </p:cBhvr>
                                      <p:to>
                                        <p:strVal val="visible"/>
                                      </p:to>
                                    </p:set>
                                    <p:anim calcmode="lin" valueType="num">
                                      <p:cBhvr>
                                        <p:cTn id="42" dur="500" fill="hold"/>
                                        <p:tgtEl>
                                          <p:spTgt spid="57346">
                                            <p:txEl>
                                              <p:pRg st="9" end="9"/>
                                            </p:txEl>
                                          </p:spTgt>
                                        </p:tgtEl>
                                        <p:attrNameLst>
                                          <p:attrName>ppt_w</p:attrName>
                                        </p:attrNameLst>
                                      </p:cBhvr>
                                      <p:tavLst>
                                        <p:tav tm="0">
                                          <p:val>
                                            <p:fltVal val="0"/>
                                          </p:val>
                                        </p:tav>
                                        <p:tav tm="100000">
                                          <p:val>
                                            <p:strVal val="#ppt_w"/>
                                          </p:val>
                                        </p:tav>
                                      </p:tavLst>
                                    </p:anim>
                                    <p:anim calcmode="lin" valueType="num">
                                      <p:cBhvr>
                                        <p:cTn id="43" dur="500" fill="hold"/>
                                        <p:tgtEl>
                                          <p:spTgt spid="57346">
                                            <p:txEl>
                                              <p:pRg st="9" end="9"/>
                                            </p:txEl>
                                          </p:spTgt>
                                        </p:tgtEl>
                                        <p:attrNameLst>
                                          <p:attrName>ppt_h</p:attrName>
                                        </p:attrNameLst>
                                      </p:cBhvr>
                                      <p:tavLst>
                                        <p:tav tm="0">
                                          <p:val>
                                            <p:fltVal val="0"/>
                                          </p:val>
                                        </p:tav>
                                        <p:tav tm="100000">
                                          <p:val>
                                            <p:strVal val="#ppt_h"/>
                                          </p:val>
                                        </p:tav>
                                      </p:tavLst>
                                    </p:anim>
                                    <p:animEffect transition="in" filter="fade">
                                      <p:cBhvr>
                                        <p:cTn id="44" dur="500"/>
                                        <p:tgtEl>
                                          <p:spTgt spid="57346">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57346">
                                            <p:txEl>
                                              <p:pRg st="10" end="10"/>
                                            </p:txEl>
                                          </p:spTgt>
                                        </p:tgtEl>
                                        <p:attrNameLst>
                                          <p:attrName>style.visibility</p:attrName>
                                        </p:attrNameLst>
                                      </p:cBhvr>
                                      <p:to>
                                        <p:strVal val="visible"/>
                                      </p:to>
                                    </p:set>
                                    <p:anim calcmode="lin" valueType="num">
                                      <p:cBhvr>
                                        <p:cTn id="49" dur="500" fill="hold"/>
                                        <p:tgtEl>
                                          <p:spTgt spid="57346">
                                            <p:txEl>
                                              <p:pRg st="10" end="10"/>
                                            </p:txEl>
                                          </p:spTgt>
                                        </p:tgtEl>
                                        <p:attrNameLst>
                                          <p:attrName>ppt_w</p:attrName>
                                        </p:attrNameLst>
                                      </p:cBhvr>
                                      <p:tavLst>
                                        <p:tav tm="0">
                                          <p:val>
                                            <p:fltVal val="0"/>
                                          </p:val>
                                        </p:tav>
                                        <p:tav tm="100000">
                                          <p:val>
                                            <p:strVal val="#ppt_w"/>
                                          </p:val>
                                        </p:tav>
                                      </p:tavLst>
                                    </p:anim>
                                    <p:anim calcmode="lin" valueType="num">
                                      <p:cBhvr>
                                        <p:cTn id="50" dur="500" fill="hold"/>
                                        <p:tgtEl>
                                          <p:spTgt spid="57346">
                                            <p:txEl>
                                              <p:pRg st="10" end="10"/>
                                            </p:txEl>
                                          </p:spTgt>
                                        </p:tgtEl>
                                        <p:attrNameLst>
                                          <p:attrName>ppt_h</p:attrName>
                                        </p:attrNameLst>
                                      </p:cBhvr>
                                      <p:tavLst>
                                        <p:tav tm="0">
                                          <p:val>
                                            <p:fltVal val="0"/>
                                          </p:val>
                                        </p:tav>
                                        <p:tav tm="100000">
                                          <p:val>
                                            <p:strVal val="#ppt_h"/>
                                          </p:val>
                                        </p:tav>
                                      </p:tavLst>
                                    </p:anim>
                                    <p:animEffect transition="in" filter="fade">
                                      <p:cBhvr>
                                        <p:cTn id="51" dur="500"/>
                                        <p:tgtEl>
                                          <p:spTgt spid="57346">
                                            <p:txEl>
                                              <p:pRg st="10" end="1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57346">
                                            <p:txEl>
                                              <p:pRg st="12" end="12"/>
                                            </p:txEl>
                                          </p:spTgt>
                                        </p:tgtEl>
                                        <p:attrNameLst>
                                          <p:attrName>style.visibility</p:attrName>
                                        </p:attrNameLst>
                                      </p:cBhvr>
                                      <p:to>
                                        <p:strVal val="visible"/>
                                      </p:to>
                                    </p:set>
                                    <p:anim calcmode="lin" valueType="num">
                                      <p:cBhvr>
                                        <p:cTn id="56" dur="500" fill="hold"/>
                                        <p:tgtEl>
                                          <p:spTgt spid="57346">
                                            <p:txEl>
                                              <p:pRg st="12" end="12"/>
                                            </p:txEl>
                                          </p:spTgt>
                                        </p:tgtEl>
                                        <p:attrNameLst>
                                          <p:attrName>ppt_w</p:attrName>
                                        </p:attrNameLst>
                                      </p:cBhvr>
                                      <p:tavLst>
                                        <p:tav tm="0">
                                          <p:val>
                                            <p:fltVal val="0"/>
                                          </p:val>
                                        </p:tav>
                                        <p:tav tm="100000">
                                          <p:val>
                                            <p:strVal val="#ppt_w"/>
                                          </p:val>
                                        </p:tav>
                                      </p:tavLst>
                                    </p:anim>
                                    <p:anim calcmode="lin" valueType="num">
                                      <p:cBhvr>
                                        <p:cTn id="57" dur="500" fill="hold"/>
                                        <p:tgtEl>
                                          <p:spTgt spid="57346">
                                            <p:txEl>
                                              <p:pRg st="12" end="12"/>
                                            </p:txEl>
                                          </p:spTgt>
                                        </p:tgtEl>
                                        <p:attrNameLst>
                                          <p:attrName>ppt_h</p:attrName>
                                        </p:attrNameLst>
                                      </p:cBhvr>
                                      <p:tavLst>
                                        <p:tav tm="0">
                                          <p:val>
                                            <p:fltVal val="0"/>
                                          </p:val>
                                        </p:tav>
                                        <p:tav tm="100000">
                                          <p:val>
                                            <p:strVal val="#ppt_h"/>
                                          </p:val>
                                        </p:tav>
                                      </p:tavLst>
                                    </p:anim>
                                    <p:animEffect transition="in" filter="fade">
                                      <p:cBhvr>
                                        <p:cTn id="58" dur="500"/>
                                        <p:tgtEl>
                                          <p:spTgt spid="5734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919288" y="342900"/>
            <a:ext cx="72009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C000"/>
                </a:solidFill>
              </a:rPr>
              <a:t>2.  To check the dimensional consistency of ½ mv</a:t>
            </a:r>
            <a:r>
              <a:rPr lang="en-US" altLang="en-US" sz="2000" b="1" baseline="30000">
                <a:solidFill>
                  <a:srgbClr val="FFC000"/>
                </a:solidFill>
              </a:rPr>
              <a:t>2</a:t>
            </a:r>
            <a:r>
              <a:rPr lang="en-US" altLang="en-US" sz="2000" b="1">
                <a:solidFill>
                  <a:srgbClr val="FFC000"/>
                </a:solidFill>
              </a:rPr>
              <a:t> = mgh</a:t>
            </a:r>
            <a:endParaRPr lang="en-IN" altLang="en-US" sz="2000">
              <a:solidFill>
                <a:srgbClr val="FFC000"/>
              </a:solidFill>
            </a:endParaRPr>
          </a:p>
        </p:txBody>
      </p:sp>
      <p:sp>
        <p:nvSpPr>
          <p:cNvPr id="58371" name="Rectangle 2"/>
          <p:cNvSpPr>
            <a:spLocks noChangeArrowheads="1"/>
          </p:cNvSpPr>
          <p:nvPr/>
        </p:nvSpPr>
        <p:spPr bwMode="auto">
          <a:xfrm>
            <a:off x="2279651" y="776289"/>
            <a:ext cx="73453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B0F0"/>
                </a:solidFill>
              </a:rPr>
              <a:t>The dimensions of the quantities involved in the equation are:</a:t>
            </a:r>
          </a:p>
          <a:p>
            <a:pPr eaLnBrk="1" fontAlgn="base" hangingPunct="1">
              <a:spcBef>
                <a:spcPct val="0"/>
              </a:spcBef>
              <a:spcAft>
                <a:spcPct val="0"/>
              </a:spcAft>
            </a:pPr>
            <a:endParaRPr lang="en-US" altLang="en-US" b="1">
              <a:solidFill>
                <a:srgbClr val="00B0F0"/>
              </a:solidFill>
            </a:endParaRPr>
          </a:p>
          <a:p>
            <a:pPr eaLnBrk="1" fontAlgn="base" hangingPunct="1">
              <a:spcBef>
                <a:spcPct val="0"/>
              </a:spcBef>
              <a:spcAft>
                <a:spcPct val="0"/>
              </a:spcAft>
            </a:pPr>
            <a:r>
              <a:rPr lang="en-US" altLang="en-US" b="1">
                <a:solidFill>
                  <a:srgbClr val="00B0F0"/>
                </a:solidFill>
              </a:rPr>
              <a:t>[m] = [ML</a:t>
            </a:r>
            <a:r>
              <a:rPr lang="en-US" altLang="en-US" b="1" baseline="30000">
                <a:solidFill>
                  <a:srgbClr val="00B0F0"/>
                </a:solidFill>
              </a:rPr>
              <a:t>0</a:t>
            </a:r>
            <a:r>
              <a:rPr lang="en-US" altLang="en-US" b="1">
                <a:solidFill>
                  <a:srgbClr val="00B0F0"/>
                </a:solidFill>
              </a:rPr>
              <a:t>T</a:t>
            </a:r>
            <a:r>
              <a:rPr lang="en-US" altLang="en-US" b="1" baseline="30000">
                <a:solidFill>
                  <a:srgbClr val="00B0F0"/>
                </a:solidFill>
              </a:rPr>
              <a:t>0</a:t>
            </a:r>
            <a:r>
              <a:rPr lang="en-US" altLang="en-US" b="1">
                <a:solidFill>
                  <a:srgbClr val="00B0F0"/>
                </a:solidFill>
              </a:rPr>
              <a:t>] </a:t>
            </a:r>
          </a:p>
          <a:p>
            <a:pPr eaLnBrk="1" fontAlgn="base" hangingPunct="1">
              <a:spcBef>
                <a:spcPct val="0"/>
              </a:spcBef>
              <a:spcAft>
                <a:spcPct val="0"/>
              </a:spcAft>
            </a:pPr>
            <a:r>
              <a:rPr lang="en-US" altLang="en-US" b="1">
                <a:solidFill>
                  <a:srgbClr val="00B0F0"/>
                </a:solidFill>
              </a:rPr>
              <a:t>[v]  =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-1</a:t>
            </a:r>
            <a:r>
              <a:rPr lang="en-US" altLang="en-US" b="1">
                <a:solidFill>
                  <a:srgbClr val="00B0F0"/>
                </a:solidFill>
              </a:rPr>
              <a:t>] </a:t>
            </a:r>
          </a:p>
          <a:p>
            <a:pPr eaLnBrk="1" fontAlgn="base" hangingPunct="1">
              <a:spcBef>
                <a:spcPct val="0"/>
              </a:spcBef>
              <a:spcAft>
                <a:spcPct val="0"/>
              </a:spcAft>
            </a:pPr>
            <a:r>
              <a:rPr lang="en-US" altLang="en-US" b="1">
                <a:solidFill>
                  <a:srgbClr val="00B0F0"/>
                </a:solidFill>
              </a:rPr>
              <a:t>[g]  =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-2</a:t>
            </a:r>
            <a:r>
              <a:rPr lang="en-US" altLang="en-US" b="1">
                <a:solidFill>
                  <a:srgbClr val="00B0F0"/>
                </a:solidFill>
              </a:rPr>
              <a:t>] </a:t>
            </a:r>
          </a:p>
          <a:p>
            <a:pPr eaLnBrk="1" fontAlgn="base" hangingPunct="1">
              <a:spcBef>
                <a:spcPct val="0"/>
              </a:spcBef>
              <a:spcAft>
                <a:spcPct val="0"/>
              </a:spcAft>
            </a:pPr>
            <a:r>
              <a:rPr lang="en-US" altLang="en-US" b="1">
                <a:solidFill>
                  <a:srgbClr val="00B0F0"/>
                </a:solidFill>
              </a:rPr>
              <a:t>[h]  =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0</a:t>
            </a:r>
            <a:r>
              <a:rPr lang="en-US" altLang="en-US" b="1">
                <a:solidFill>
                  <a:srgbClr val="00B0F0"/>
                </a:solidFill>
              </a:rPr>
              <a:t>] </a:t>
            </a:r>
            <a:endParaRPr lang="en-IN" altLang="en-US">
              <a:solidFill>
                <a:srgbClr val="00B0F0"/>
              </a:solidFill>
            </a:endParaRPr>
          </a:p>
        </p:txBody>
      </p:sp>
      <p:sp>
        <p:nvSpPr>
          <p:cNvPr id="58372" name="Rectangle 3"/>
          <p:cNvSpPr>
            <a:spLocks noChangeArrowheads="1"/>
          </p:cNvSpPr>
          <p:nvPr/>
        </p:nvSpPr>
        <p:spPr bwMode="auto">
          <a:xfrm>
            <a:off x="1992313" y="2665414"/>
            <a:ext cx="842486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B0F0"/>
                </a:solidFill>
              </a:rPr>
              <a:t>Substituting the dimensions in the given equation,</a:t>
            </a:r>
          </a:p>
          <a:p>
            <a:pPr eaLnBrk="1" fontAlgn="base" hangingPunct="1">
              <a:spcBef>
                <a:spcPct val="0"/>
              </a:spcBef>
              <a:spcAft>
                <a:spcPct val="0"/>
              </a:spcAft>
            </a:pPr>
            <a:endParaRPr lang="en-US" altLang="en-US" b="1">
              <a:solidFill>
                <a:srgbClr val="00B0F0"/>
              </a:solidFill>
            </a:endParaRPr>
          </a:p>
          <a:p>
            <a:pPr eaLnBrk="1" fontAlgn="base" hangingPunct="1">
              <a:spcBef>
                <a:spcPct val="0"/>
              </a:spcBef>
              <a:spcAft>
                <a:spcPct val="0"/>
              </a:spcAft>
            </a:pPr>
            <a:r>
              <a:rPr lang="en-US" altLang="en-US" b="1">
                <a:solidFill>
                  <a:srgbClr val="00B0F0"/>
                </a:solidFill>
              </a:rPr>
              <a:t>[ML</a:t>
            </a:r>
            <a:r>
              <a:rPr lang="en-US" altLang="en-US" b="1" baseline="30000">
                <a:solidFill>
                  <a:srgbClr val="00B0F0"/>
                </a:solidFill>
              </a:rPr>
              <a:t>0</a:t>
            </a:r>
            <a:r>
              <a:rPr lang="en-US" altLang="en-US" b="1">
                <a:solidFill>
                  <a:srgbClr val="00B0F0"/>
                </a:solidFill>
              </a:rPr>
              <a:t>T</a:t>
            </a:r>
            <a:r>
              <a:rPr lang="en-US" altLang="en-US" b="1" baseline="30000">
                <a:solidFill>
                  <a:srgbClr val="00B0F0"/>
                </a:solidFill>
              </a:rPr>
              <a:t>0</a:t>
            </a:r>
            <a:r>
              <a:rPr lang="en-US" altLang="en-US" b="1">
                <a:solidFill>
                  <a:srgbClr val="00B0F0"/>
                </a:solidFill>
              </a:rPr>
              <a:t>]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-1</a:t>
            </a:r>
            <a:r>
              <a:rPr lang="en-US" altLang="en-US" b="1">
                <a:solidFill>
                  <a:srgbClr val="00B0F0"/>
                </a:solidFill>
              </a:rPr>
              <a:t>]</a:t>
            </a:r>
            <a:r>
              <a:rPr lang="en-US" altLang="en-US" b="1" baseline="30000">
                <a:solidFill>
                  <a:srgbClr val="00B0F0"/>
                </a:solidFill>
              </a:rPr>
              <a:t>2  = </a:t>
            </a:r>
            <a:r>
              <a:rPr lang="en-US" altLang="en-US" b="1">
                <a:solidFill>
                  <a:srgbClr val="00B0F0"/>
                </a:solidFill>
              </a:rPr>
              <a:t>[ML</a:t>
            </a:r>
            <a:r>
              <a:rPr lang="en-US" altLang="en-US" b="1" baseline="30000">
                <a:solidFill>
                  <a:srgbClr val="00B0F0"/>
                </a:solidFill>
              </a:rPr>
              <a:t>0</a:t>
            </a:r>
            <a:r>
              <a:rPr lang="en-US" altLang="en-US" b="1">
                <a:solidFill>
                  <a:srgbClr val="00B0F0"/>
                </a:solidFill>
              </a:rPr>
              <a:t>T</a:t>
            </a:r>
            <a:r>
              <a:rPr lang="en-US" altLang="en-US" b="1" baseline="30000">
                <a:solidFill>
                  <a:srgbClr val="00B0F0"/>
                </a:solidFill>
              </a:rPr>
              <a:t>0</a:t>
            </a:r>
            <a:r>
              <a:rPr lang="en-US" altLang="en-US" b="1">
                <a:solidFill>
                  <a:srgbClr val="00B0F0"/>
                </a:solidFill>
              </a:rPr>
              <a:t>]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-2</a:t>
            </a:r>
            <a:r>
              <a:rPr lang="en-US" altLang="en-US" b="1">
                <a:solidFill>
                  <a:srgbClr val="00B0F0"/>
                </a:solidFill>
              </a:rPr>
              <a:t>] [M</a:t>
            </a:r>
            <a:r>
              <a:rPr lang="en-US" altLang="en-US" b="1" baseline="30000">
                <a:solidFill>
                  <a:srgbClr val="00B0F0"/>
                </a:solidFill>
              </a:rPr>
              <a:t>0</a:t>
            </a:r>
            <a:r>
              <a:rPr lang="en-US" altLang="en-US" b="1">
                <a:solidFill>
                  <a:srgbClr val="00B0F0"/>
                </a:solidFill>
              </a:rPr>
              <a:t>LT</a:t>
            </a:r>
            <a:r>
              <a:rPr lang="en-US" altLang="en-US" b="1" baseline="30000">
                <a:solidFill>
                  <a:srgbClr val="00B0F0"/>
                </a:solidFill>
              </a:rPr>
              <a:t>0</a:t>
            </a:r>
            <a:r>
              <a:rPr lang="en-US" altLang="en-US" b="1">
                <a:solidFill>
                  <a:srgbClr val="00B0F0"/>
                </a:solidFill>
              </a:rPr>
              <a:t>]</a:t>
            </a:r>
          </a:p>
          <a:p>
            <a:pPr eaLnBrk="1" fontAlgn="base" hangingPunct="1">
              <a:spcBef>
                <a:spcPct val="0"/>
              </a:spcBef>
              <a:spcAft>
                <a:spcPct val="0"/>
              </a:spcAft>
            </a:pPr>
            <a:r>
              <a:rPr lang="en-US" altLang="en-US" b="1">
                <a:solidFill>
                  <a:srgbClr val="00B0F0"/>
                </a:solidFill>
              </a:rPr>
              <a:t> </a:t>
            </a:r>
          </a:p>
          <a:p>
            <a:pPr eaLnBrk="1" fontAlgn="base" hangingPunct="1">
              <a:spcBef>
                <a:spcPct val="0"/>
              </a:spcBef>
              <a:spcAft>
                <a:spcPct val="0"/>
              </a:spcAft>
            </a:pPr>
            <a:endParaRPr lang="en-US" altLang="en-US" b="1">
              <a:solidFill>
                <a:srgbClr val="00B0F0"/>
              </a:solidFill>
            </a:endParaRPr>
          </a:p>
          <a:p>
            <a:pPr eaLnBrk="1" fontAlgn="base" hangingPunct="1">
              <a:spcBef>
                <a:spcPct val="0"/>
              </a:spcBef>
              <a:spcAft>
                <a:spcPct val="0"/>
              </a:spcAft>
            </a:pPr>
            <a:endParaRPr lang="en-US" altLang="en-US" b="1">
              <a:solidFill>
                <a:srgbClr val="00B0F0"/>
              </a:solidFill>
            </a:endParaRPr>
          </a:p>
          <a:p>
            <a:pPr eaLnBrk="1" fontAlgn="base" hangingPunct="1">
              <a:spcBef>
                <a:spcPct val="0"/>
              </a:spcBef>
              <a:spcAft>
                <a:spcPct val="0"/>
              </a:spcAft>
            </a:pPr>
            <a:r>
              <a:rPr lang="en-US" altLang="en-US" b="1">
                <a:solidFill>
                  <a:srgbClr val="00B0F0"/>
                </a:solidFill>
              </a:rPr>
              <a:t>[ML</a:t>
            </a:r>
            <a:r>
              <a:rPr lang="en-US" altLang="en-US" b="1" baseline="30000">
                <a:solidFill>
                  <a:srgbClr val="00B0F0"/>
                </a:solidFill>
              </a:rPr>
              <a:t>2</a:t>
            </a:r>
            <a:r>
              <a:rPr lang="en-US" altLang="en-US" b="1">
                <a:solidFill>
                  <a:srgbClr val="00B0F0"/>
                </a:solidFill>
              </a:rPr>
              <a:t>T</a:t>
            </a:r>
            <a:r>
              <a:rPr lang="en-US" altLang="en-US" b="1" baseline="30000">
                <a:solidFill>
                  <a:srgbClr val="00B0F0"/>
                </a:solidFill>
              </a:rPr>
              <a:t>-2</a:t>
            </a:r>
            <a:r>
              <a:rPr lang="en-US" altLang="en-US" b="1">
                <a:solidFill>
                  <a:srgbClr val="00B0F0"/>
                </a:solidFill>
              </a:rPr>
              <a:t>] = [ML</a:t>
            </a:r>
            <a:r>
              <a:rPr lang="en-US" altLang="en-US" b="1" baseline="30000">
                <a:solidFill>
                  <a:srgbClr val="00B0F0"/>
                </a:solidFill>
              </a:rPr>
              <a:t>2</a:t>
            </a:r>
            <a:r>
              <a:rPr lang="en-US" altLang="en-US" b="1">
                <a:solidFill>
                  <a:srgbClr val="00B0F0"/>
                </a:solidFill>
              </a:rPr>
              <a:t>T</a:t>
            </a:r>
            <a:r>
              <a:rPr lang="en-US" altLang="en-US" b="1" baseline="30000">
                <a:solidFill>
                  <a:srgbClr val="00B0F0"/>
                </a:solidFill>
              </a:rPr>
              <a:t>-2</a:t>
            </a:r>
            <a:r>
              <a:rPr lang="en-US" altLang="en-US" b="1">
                <a:solidFill>
                  <a:srgbClr val="00B0F0"/>
                </a:solidFill>
              </a:rPr>
              <a:t>]</a:t>
            </a:r>
          </a:p>
          <a:p>
            <a:pPr eaLnBrk="1" fontAlgn="base" hangingPunct="1">
              <a:spcBef>
                <a:spcPct val="0"/>
              </a:spcBef>
              <a:spcAft>
                <a:spcPct val="0"/>
              </a:spcAft>
            </a:pPr>
            <a:endParaRPr lang="en-US" altLang="en-US" b="1">
              <a:solidFill>
                <a:srgbClr val="00B0F0"/>
              </a:solidFill>
            </a:endParaRPr>
          </a:p>
          <a:p>
            <a:pPr eaLnBrk="1" fontAlgn="base" hangingPunct="1">
              <a:spcBef>
                <a:spcPct val="0"/>
              </a:spcBef>
              <a:spcAft>
                <a:spcPct val="0"/>
              </a:spcAft>
            </a:pPr>
            <a:r>
              <a:rPr lang="en-US" altLang="en-US" b="1">
                <a:solidFill>
                  <a:srgbClr val="00FF99"/>
                </a:solidFill>
              </a:rPr>
              <a:t>Each term of the above equation is having same dimensions.</a:t>
            </a:r>
          </a:p>
          <a:p>
            <a:pPr eaLnBrk="1" fontAlgn="base" hangingPunct="1">
              <a:spcBef>
                <a:spcPct val="0"/>
              </a:spcBef>
              <a:spcAft>
                <a:spcPct val="0"/>
              </a:spcAft>
            </a:pPr>
            <a:r>
              <a:rPr lang="en-US" altLang="en-US" b="1">
                <a:solidFill>
                  <a:srgbClr val="00FF99"/>
                </a:solidFill>
              </a:rPr>
              <a:t>Therefore, the given equation is dimensionally correct or dimensionally consistent.</a:t>
            </a:r>
          </a:p>
        </p:txBody>
      </p:sp>
      <p:sp>
        <p:nvSpPr>
          <p:cNvPr id="58373" name="Rectangle 4"/>
          <p:cNvSpPr>
            <a:spLocks noChangeArrowheads="1"/>
          </p:cNvSpPr>
          <p:nvPr/>
        </p:nvSpPr>
        <p:spPr bwMode="auto">
          <a:xfrm>
            <a:off x="5951539" y="3657601"/>
            <a:ext cx="432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0066"/>
                </a:solidFill>
              </a:rPr>
              <a:t>(Note that the constant ½  in the term ‘½ mv</a:t>
            </a:r>
            <a:r>
              <a:rPr lang="en-US" altLang="en-US" b="1" baseline="30000">
                <a:solidFill>
                  <a:srgbClr val="FF0066"/>
                </a:solidFill>
              </a:rPr>
              <a:t>2</a:t>
            </a:r>
            <a:r>
              <a:rPr lang="en-US" altLang="en-US" b="1">
                <a:solidFill>
                  <a:srgbClr val="FF0066"/>
                </a:solidFill>
              </a:rPr>
              <a:t> ’ does not have dimensions)</a:t>
            </a:r>
          </a:p>
        </p:txBody>
      </p:sp>
      <p:sp>
        <p:nvSpPr>
          <p:cNvPr id="58374"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8375"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8376"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331210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p:cTn id="7" dur="500" fill="hold"/>
                                        <p:tgtEl>
                                          <p:spTgt spid="58370"/>
                                        </p:tgtEl>
                                        <p:attrNameLst>
                                          <p:attrName>ppt_w</p:attrName>
                                        </p:attrNameLst>
                                      </p:cBhvr>
                                      <p:tavLst>
                                        <p:tav tm="0">
                                          <p:val>
                                            <p:fltVal val="0"/>
                                          </p:val>
                                        </p:tav>
                                        <p:tav tm="100000">
                                          <p:val>
                                            <p:strVal val="#ppt_w"/>
                                          </p:val>
                                        </p:tav>
                                      </p:tavLst>
                                    </p:anim>
                                    <p:anim calcmode="lin" valueType="num">
                                      <p:cBhvr>
                                        <p:cTn id="8" dur="500" fill="hold"/>
                                        <p:tgtEl>
                                          <p:spTgt spid="58370"/>
                                        </p:tgtEl>
                                        <p:attrNameLst>
                                          <p:attrName>ppt_h</p:attrName>
                                        </p:attrNameLst>
                                      </p:cBhvr>
                                      <p:tavLst>
                                        <p:tav tm="0">
                                          <p:val>
                                            <p:fltVal val="0"/>
                                          </p:val>
                                        </p:tav>
                                        <p:tav tm="100000">
                                          <p:val>
                                            <p:strVal val="#ppt_h"/>
                                          </p:val>
                                        </p:tav>
                                      </p:tavLst>
                                    </p:anim>
                                    <p:animEffect transition="in" filter="fade">
                                      <p:cBhvr>
                                        <p:cTn id="9" dur="500"/>
                                        <p:tgtEl>
                                          <p:spTgt spid="5837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58371">
                                            <p:txEl>
                                              <p:pRg st="0" end="0"/>
                                            </p:txEl>
                                          </p:spTgt>
                                        </p:tgtEl>
                                        <p:attrNameLst>
                                          <p:attrName>style.visibility</p:attrName>
                                        </p:attrNameLst>
                                      </p:cBhvr>
                                      <p:to>
                                        <p:strVal val="visible"/>
                                      </p:to>
                                    </p:set>
                                    <p:animEffect transition="in" filter="wipe(left)">
                                      <p:cBhvr>
                                        <p:cTn id="14" dur="500"/>
                                        <p:tgtEl>
                                          <p:spTgt spid="58371">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58371">
                                            <p:txEl>
                                              <p:pRg st="2" end="2"/>
                                            </p:txEl>
                                          </p:spTgt>
                                        </p:tgtEl>
                                        <p:attrNameLst>
                                          <p:attrName>style.visibility</p:attrName>
                                        </p:attrNameLst>
                                      </p:cBhvr>
                                      <p:to>
                                        <p:strVal val="visible"/>
                                      </p:to>
                                    </p:set>
                                    <p:animEffect transition="in" filter="wipe(left)">
                                      <p:cBhvr>
                                        <p:cTn id="19" dur="500"/>
                                        <p:tgtEl>
                                          <p:spTgt spid="58371">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58371">
                                            <p:txEl>
                                              <p:pRg st="3" end="3"/>
                                            </p:txEl>
                                          </p:spTgt>
                                        </p:tgtEl>
                                        <p:attrNameLst>
                                          <p:attrName>style.visibility</p:attrName>
                                        </p:attrNameLst>
                                      </p:cBhvr>
                                      <p:to>
                                        <p:strVal val="visible"/>
                                      </p:to>
                                    </p:set>
                                    <p:animEffect transition="in" filter="wipe(left)">
                                      <p:cBhvr>
                                        <p:cTn id="24" dur="500"/>
                                        <p:tgtEl>
                                          <p:spTgt spid="58371">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8371">
                                            <p:txEl>
                                              <p:pRg st="4" end="4"/>
                                            </p:txEl>
                                          </p:spTgt>
                                        </p:tgtEl>
                                        <p:attrNameLst>
                                          <p:attrName>style.visibility</p:attrName>
                                        </p:attrNameLst>
                                      </p:cBhvr>
                                      <p:to>
                                        <p:strVal val="visible"/>
                                      </p:to>
                                    </p:set>
                                    <p:animEffect transition="in" filter="wipe(left)">
                                      <p:cBhvr>
                                        <p:cTn id="29" dur="500"/>
                                        <p:tgtEl>
                                          <p:spTgt spid="58371">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8371">
                                            <p:txEl>
                                              <p:pRg st="5" end="5"/>
                                            </p:txEl>
                                          </p:spTgt>
                                        </p:tgtEl>
                                        <p:attrNameLst>
                                          <p:attrName>style.visibility</p:attrName>
                                        </p:attrNameLst>
                                      </p:cBhvr>
                                      <p:to>
                                        <p:strVal val="visible"/>
                                      </p:to>
                                    </p:set>
                                    <p:animEffect transition="in" filter="wipe(left)">
                                      <p:cBhvr>
                                        <p:cTn id="34" dur="500"/>
                                        <p:tgtEl>
                                          <p:spTgt spid="58371">
                                            <p:txEl>
                                              <p:pRg st="5" end="5"/>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58372">
                                            <p:txEl>
                                              <p:pRg st="0" end="0"/>
                                            </p:txEl>
                                          </p:spTgt>
                                        </p:tgtEl>
                                        <p:attrNameLst>
                                          <p:attrName>style.visibility</p:attrName>
                                        </p:attrNameLst>
                                      </p:cBhvr>
                                      <p:to>
                                        <p:strVal val="visible"/>
                                      </p:to>
                                    </p:set>
                                    <p:animEffect transition="in" filter="wipe(left)">
                                      <p:cBhvr>
                                        <p:cTn id="39" dur="500"/>
                                        <p:tgtEl>
                                          <p:spTgt spid="58372">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8372">
                                            <p:txEl>
                                              <p:pRg st="2" end="2"/>
                                            </p:txEl>
                                          </p:spTgt>
                                        </p:tgtEl>
                                        <p:attrNameLst>
                                          <p:attrName>style.visibility</p:attrName>
                                        </p:attrNameLst>
                                      </p:cBhvr>
                                      <p:to>
                                        <p:strVal val="visible"/>
                                      </p:to>
                                    </p:set>
                                    <p:animEffect transition="in" filter="wipe(left)">
                                      <p:cBhvr>
                                        <p:cTn id="44" dur="500"/>
                                        <p:tgtEl>
                                          <p:spTgt spid="58372">
                                            <p:txEl>
                                              <p:pRg st="2" end="2"/>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58373"/>
                                        </p:tgtEl>
                                        <p:attrNameLst>
                                          <p:attrName>style.visibility</p:attrName>
                                        </p:attrNameLst>
                                      </p:cBhvr>
                                      <p:to>
                                        <p:strVal val="visible"/>
                                      </p:to>
                                    </p:set>
                                    <p:anim calcmode="lin" valueType="num">
                                      <p:cBhvr>
                                        <p:cTn id="49" dur="500" fill="hold"/>
                                        <p:tgtEl>
                                          <p:spTgt spid="58373"/>
                                        </p:tgtEl>
                                        <p:attrNameLst>
                                          <p:attrName>ppt_w</p:attrName>
                                        </p:attrNameLst>
                                      </p:cBhvr>
                                      <p:tavLst>
                                        <p:tav tm="0">
                                          <p:val>
                                            <p:fltVal val="0"/>
                                          </p:val>
                                        </p:tav>
                                        <p:tav tm="100000">
                                          <p:val>
                                            <p:strVal val="#ppt_w"/>
                                          </p:val>
                                        </p:tav>
                                      </p:tavLst>
                                    </p:anim>
                                    <p:anim calcmode="lin" valueType="num">
                                      <p:cBhvr>
                                        <p:cTn id="50" dur="500" fill="hold"/>
                                        <p:tgtEl>
                                          <p:spTgt spid="58373"/>
                                        </p:tgtEl>
                                        <p:attrNameLst>
                                          <p:attrName>ppt_h</p:attrName>
                                        </p:attrNameLst>
                                      </p:cBhvr>
                                      <p:tavLst>
                                        <p:tav tm="0">
                                          <p:val>
                                            <p:fltVal val="0"/>
                                          </p:val>
                                        </p:tav>
                                        <p:tav tm="100000">
                                          <p:val>
                                            <p:strVal val="#ppt_h"/>
                                          </p:val>
                                        </p:tav>
                                      </p:tavLst>
                                    </p:anim>
                                    <p:animEffect transition="in" filter="fade">
                                      <p:cBhvr>
                                        <p:cTn id="51" dur="500"/>
                                        <p:tgtEl>
                                          <p:spTgt spid="5837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58372">
                                            <p:txEl>
                                              <p:pRg st="6" end="6"/>
                                            </p:txEl>
                                          </p:spTgt>
                                        </p:tgtEl>
                                        <p:attrNameLst>
                                          <p:attrName>style.visibility</p:attrName>
                                        </p:attrNameLst>
                                      </p:cBhvr>
                                      <p:to>
                                        <p:strVal val="visible"/>
                                      </p:to>
                                    </p:set>
                                    <p:animEffect transition="in" filter="wipe(left)">
                                      <p:cBhvr>
                                        <p:cTn id="56" dur="500"/>
                                        <p:tgtEl>
                                          <p:spTgt spid="58372">
                                            <p:txEl>
                                              <p:pRg st="6" end="6"/>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58372">
                                            <p:txEl>
                                              <p:pRg st="8" end="8"/>
                                            </p:txEl>
                                          </p:spTgt>
                                        </p:tgtEl>
                                        <p:attrNameLst>
                                          <p:attrName>style.visibility</p:attrName>
                                        </p:attrNameLst>
                                      </p:cBhvr>
                                      <p:to>
                                        <p:strVal val="visible"/>
                                      </p:to>
                                    </p:set>
                                    <p:animEffect transition="in" filter="wipe(left)">
                                      <p:cBhvr>
                                        <p:cTn id="61" dur="500"/>
                                        <p:tgtEl>
                                          <p:spTgt spid="58372">
                                            <p:txEl>
                                              <p:pRg st="8" end="8"/>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8372">
                                            <p:txEl>
                                              <p:pRg st="9" end="9"/>
                                            </p:txEl>
                                          </p:spTgt>
                                        </p:tgtEl>
                                        <p:attrNameLst>
                                          <p:attrName>style.visibility</p:attrName>
                                        </p:attrNameLst>
                                      </p:cBhvr>
                                      <p:to>
                                        <p:strVal val="visible"/>
                                      </p:to>
                                    </p:set>
                                    <p:animEffect transition="in" filter="wipe(left)">
                                      <p:cBhvr>
                                        <p:cTn id="66" dur="500"/>
                                        <p:tgtEl>
                                          <p:spTgt spid="5837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P spid="5837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847851" y="115889"/>
            <a:ext cx="7777163"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CCFF33"/>
                </a:solidFill>
              </a:rPr>
              <a:t>  II. Conversion of units in one system into another system</a:t>
            </a:r>
            <a:endParaRPr lang="en-IN" altLang="en-US" sz="2000" b="1">
              <a:solidFill>
                <a:srgbClr val="CCFF33"/>
              </a:solidFill>
            </a:endParaRPr>
          </a:p>
        </p:txBody>
      </p:sp>
      <p:sp>
        <p:nvSpPr>
          <p:cNvPr id="59395" name="Rectangle 2"/>
          <p:cNvSpPr>
            <a:spLocks noChangeArrowheads="1"/>
          </p:cNvSpPr>
          <p:nvPr/>
        </p:nvSpPr>
        <p:spPr bwMode="auto">
          <a:xfrm>
            <a:off x="1992313" y="549276"/>
            <a:ext cx="84963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b="1" dirty="0">
                <a:solidFill>
                  <a:srgbClr val="00B050"/>
                </a:solidFill>
                <a:latin typeface="Arial" panose="020B0604020202020204" pitchFamily="34" charset="0"/>
              </a:rPr>
              <a:t>Units are derived from the dimensions and the dimensions are derived from the actual formulae of physical quantities.</a:t>
            </a:r>
          </a:p>
          <a:p>
            <a:pPr fontAlgn="base">
              <a:spcBef>
                <a:spcPct val="0"/>
              </a:spcBef>
              <a:spcAft>
                <a:spcPct val="0"/>
              </a:spcAft>
              <a:defRPr/>
            </a:pPr>
            <a:endParaRPr lang="en-US" b="1" dirty="0">
              <a:solidFill>
                <a:srgbClr val="FF0000"/>
              </a:solidFill>
              <a:latin typeface="Arial" panose="020B0604020202020204" pitchFamily="34" charset="0"/>
            </a:endParaRPr>
          </a:p>
          <a:p>
            <a:pPr fontAlgn="base">
              <a:spcBef>
                <a:spcPct val="0"/>
              </a:spcBef>
              <a:spcAft>
                <a:spcPct val="0"/>
              </a:spcAft>
              <a:defRPr/>
            </a:pPr>
            <a:r>
              <a:rPr lang="en-US" b="1" dirty="0">
                <a:solidFill>
                  <a:srgbClr val="CC9900"/>
                </a:solidFill>
                <a:latin typeface="Arial" panose="020B0604020202020204" pitchFamily="34" charset="0"/>
              </a:rPr>
              <a:t>If the dimensions are known for a physical quantity, then it is easy to express it in fps, </a:t>
            </a:r>
            <a:r>
              <a:rPr lang="en-US" b="1" dirty="0" err="1">
                <a:solidFill>
                  <a:srgbClr val="CC9900"/>
                </a:solidFill>
                <a:latin typeface="Arial" panose="020B0604020202020204" pitchFamily="34" charset="0"/>
              </a:rPr>
              <a:t>cgs</a:t>
            </a:r>
            <a:r>
              <a:rPr lang="en-US" b="1" dirty="0">
                <a:solidFill>
                  <a:srgbClr val="CC9900"/>
                </a:solidFill>
                <a:latin typeface="Arial" panose="020B0604020202020204" pitchFamily="34" charset="0"/>
              </a:rPr>
              <a:t>, </a:t>
            </a:r>
            <a:r>
              <a:rPr lang="en-US" b="1" dirty="0" err="1">
                <a:solidFill>
                  <a:srgbClr val="CC9900"/>
                </a:solidFill>
                <a:latin typeface="Arial" panose="020B0604020202020204" pitchFamily="34" charset="0"/>
              </a:rPr>
              <a:t>mks</a:t>
            </a:r>
            <a:r>
              <a:rPr lang="en-US" b="1" dirty="0">
                <a:solidFill>
                  <a:srgbClr val="CC9900"/>
                </a:solidFill>
                <a:latin typeface="Arial" panose="020B0604020202020204" pitchFamily="34" charset="0"/>
              </a:rPr>
              <a:t>, SI systems or any other arbitrary chosen system.</a:t>
            </a:r>
          </a:p>
          <a:p>
            <a:pPr fontAlgn="base">
              <a:spcBef>
                <a:spcPct val="0"/>
              </a:spcBef>
              <a:spcAft>
                <a:spcPct val="0"/>
              </a:spcAft>
              <a:defRPr/>
            </a:pPr>
            <a:endParaRPr lang="en-US" sz="2400" b="1" dirty="0">
              <a:solidFill>
                <a:srgbClr val="CC9900"/>
              </a:solidFill>
              <a:latin typeface="Arial" panose="020B0604020202020204" pitchFamily="34" charset="0"/>
            </a:endParaRPr>
          </a:p>
          <a:p>
            <a:pPr fontAlgn="base">
              <a:spcBef>
                <a:spcPct val="0"/>
              </a:spcBef>
              <a:spcAft>
                <a:spcPct val="0"/>
              </a:spcAft>
              <a:defRPr/>
            </a:pPr>
            <a:r>
              <a:rPr lang="en-US" sz="2400" b="1" dirty="0">
                <a:solidFill>
                  <a:srgbClr val="CC9900"/>
                </a:solidFill>
                <a:latin typeface="Arial" panose="020B0604020202020204" pitchFamily="34" charset="0"/>
              </a:rPr>
              <a:t>		</a:t>
            </a:r>
            <a:r>
              <a:rPr lang="en-US" sz="2400" b="1" dirty="0">
                <a:solidFill>
                  <a:srgbClr val="2D2D8A">
                    <a:lumMod val="40000"/>
                    <a:lumOff val="60000"/>
                  </a:srgbClr>
                </a:solidFill>
                <a:latin typeface="Arial" panose="020B0604020202020204" pitchFamily="34" charset="0"/>
              </a:rPr>
              <a:t>n</a:t>
            </a:r>
            <a:r>
              <a:rPr lang="en-US" sz="2400" b="1" baseline="-25000" dirty="0">
                <a:solidFill>
                  <a:srgbClr val="2D2D8A">
                    <a:lumMod val="40000"/>
                    <a:lumOff val="60000"/>
                  </a:srgbClr>
                </a:solidFill>
                <a:latin typeface="Arial" panose="020B0604020202020204" pitchFamily="34" charset="0"/>
              </a:rPr>
              <a:t>1</a:t>
            </a:r>
            <a:r>
              <a:rPr lang="en-US" sz="2400" b="1" dirty="0">
                <a:solidFill>
                  <a:srgbClr val="2D2D8A">
                    <a:lumMod val="40000"/>
                    <a:lumOff val="60000"/>
                  </a:srgbClr>
                </a:solidFill>
                <a:latin typeface="Arial" panose="020B0604020202020204" pitchFamily="34" charset="0"/>
              </a:rPr>
              <a:t>[M</a:t>
            </a:r>
            <a:r>
              <a:rPr lang="en-US" sz="2400" b="1" baseline="-25000" dirty="0">
                <a:solidFill>
                  <a:srgbClr val="2D2D8A">
                    <a:lumMod val="40000"/>
                    <a:lumOff val="60000"/>
                  </a:srgbClr>
                </a:solidFill>
                <a:latin typeface="Arial" panose="020B0604020202020204" pitchFamily="34" charset="0"/>
              </a:rPr>
              <a:t>1</a:t>
            </a:r>
            <a:r>
              <a:rPr lang="en-US" sz="2400" b="1" baseline="30000" dirty="0">
                <a:solidFill>
                  <a:srgbClr val="2D2D8A">
                    <a:lumMod val="40000"/>
                    <a:lumOff val="60000"/>
                  </a:srgbClr>
                </a:solidFill>
                <a:latin typeface="Arial" panose="020B0604020202020204" pitchFamily="34" charset="0"/>
              </a:rPr>
              <a:t>a</a:t>
            </a:r>
            <a:r>
              <a:rPr lang="en-US" sz="2400" b="1" dirty="0">
                <a:solidFill>
                  <a:srgbClr val="2D2D8A">
                    <a:lumMod val="40000"/>
                    <a:lumOff val="60000"/>
                  </a:srgbClr>
                </a:solidFill>
                <a:latin typeface="Arial" panose="020B0604020202020204" pitchFamily="34" charset="0"/>
              </a:rPr>
              <a:t>L</a:t>
            </a:r>
            <a:r>
              <a:rPr lang="en-US" sz="2400" b="1" baseline="-25000" dirty="0">
                <a:solidFill>
                  <a:srgbClr val="2D2D8A">
                    <a:lumMod val="40000"/>
                    <a:lumOff val="60000"/>
                  </a:srgbClr>
                </a:solidFill>
                <a:latin typeface="Arial" panose="020B0604020202020204" pitchFamily="34" charset="0"/>
              </a:rPr>
              <a:t>1</a:t>
            </a:r>
            <a:r>
              <a:rPr lang="en-US" sz="2400" b="1" baseline="30000" dirty="0">
                <a:solidFill>
                  <a:srgbClr val="2D2D8A">
                    <a:lumMod val="40000"/>
                    <a:lumOff val="60000"/>
                  </a:srgbClr>
                </a:solidFill>
                <a:latin typeface="Arial" panose="020B0604020202020204" pitchFamily="34" charset="0"/>
              </a:rPr>
              <a:t>b</a:t>
            </a:r>
            <a:r>
              <a:rPr lang="en-US" sz="2400" b="1" dirty="0">
                <a:solidFill>
                  <a:srgbClr val="2D2D8A">
                    <a:lumMod val="40000"/>
                    <a:lumOff val="60000"/>
                  </a:srgbClr>
                </a:solidFill>
                <a:latin typeface="Arial" panose="020B0604020202020204" pitchFamily="34" charset="0"/>
              </a:rPr>
              <a:t>T</a:t>
            </a:r>
            <a:r>
              <a:rPr lang="en-US" sz="2400" b="1" baseline="-25000" dirty="0">
                <a:solidFill>
                  <a:srgbClr val="2D2D8A">
                    <a:lumMod val="40000"/>
                    <a:lumOff val="60000"/>
                  </a:srgbClr>
                </a:solidFill>
                <a:latin typeface="Arial" panose="020B0604020202020204" pitchFamily="34" charset="0"/>
              </a:rPr>
              <a:t>1</a:t>
            </a:r>
            <a:r>
              <a:rPr lang="en-US" sz="2400" b="1" baseline="30000" dirty="0">
                <a:solidFill>
                  <a:srgbClr val="2D2D8A">
                    <a:lumMod val="40000"/>
                    <a:lumOff val="60000"/>
                  </a:srgbClr>
                </a:solidFill>
                <a:latin typeface="Arial" panose="020B0604020202020204" pitchFamily="34" charset="0"/>
              </a:rPr>
              <a:t>c</a:t>
            </a:r>
            <a:r>
              <a:rPr lang="en-US" sz="2400" b="1" dirty="0">
                <a:solidFill>
                  <a:srgbClr val="2D2D8A">
                    <a:lumMod val="40000"/>
                    <a:lumOff val="60000"/>
                  </a:srgbClr>
                </a:solidFill>
                <a:latin typeface="Arial" panose="020B0604020202020204" pitchFamily="34" charset="0"/>
              </a:rPr>
              <a:t>] = n</a:t>
            </a:r>
            <a:r>
              <a:rPr lang="en-US" sz="2400" b="1" baseline="-25000" dirty="0">
                <a:solidFill>
                  <a:srgbClr val="2D2D8A">
                    <a:lumMod val="40000"/>
                    <a:lumOff val="60000"/>
                  </a:srgbClr>
                </a:solidFill>
                <a:latin typeface="Arial" panose="020B0604020202020204" pitchFamily="34" charset="0"/>
              </a:rPr>
              <a:t>2</a:t>
            </a:r>
            <a:r>
              <a:rPr lang="en-US" sz="2400" b="1" dirty="0">
                <a:solidFill>
                  <a:srgbClr val="2D2D8A">
                    <a:lumMod val="40000"/>
                    <a:lumOff val="60000"/>
                  </a:srgbClr>
                </a:solidFill>
                <a:latin typeface="Arial" panose="020B0604020202020204" pitchFamily="34" charset="0"/>
              </a:rPr>
              <a:t>[M</a:t>
            </a:r>
            <a:r>
              <a:rPr lang="en-US" sz="2400" b="1" baseline="-25000" dirty="0">
                <a:solidFill>
                  <a:srgbClr val="2D2D8A">
                    <a:lumMod val="40000"/>
                    <a:lumOff val="60000"/>
                  </a:srgbClr>
                </a:solidFill>
                <a:latin typeface="Arial" panose="020B0604020202020204" pitchFamily="34" charset="0"/>
              </a:rPr>
              <a:t>2</a:t>
            </a:r>
            <a:r>
              <a:rPr lang="en-US" sz="2400" b="1" baseline="30000" dirty="0">
                <a:solidFill>
                  <a:srgbClr val="2D2D8A">
                    <a:lumMod val="40000"/>
                    <a:lumOff val="60000"/>
                  </a:srgbClr>
                </a:solidFill>
                <a:latin typeface="Arial" panose="020B0604020202020204" pitchFamily="34" charset="0"/>
              </a:rPr>
              <a:t>a</a:t>
            </a:r>
            <a:r>
              <a:rPr lang="en-US" sz="2400" b="1" dirty="0">
                <a:solidFill>
                  <a:srgbClr val="2D2D8A">
                    <a:lumMod val="40000"/>
                    <a:lumOff val="60000"/>
                  </a:srgbClr>
                </a:solidFill>
                <a:latin typeface="Arial" panose="020B0604020202020204" pitchFamily="34" charset="0"/>
              </a:rPr>
              <a:t>L</a:t>
            </a:r>
            <a:r>
              <a:rPr lang="en-US" sz="2400" b="1" baseline="-25000" dirty="0">
                <a:solidFill>
                  <a:srgbClr val="2D2D8A">
                    <a:lumMod val="40000"/>
                    <a:lumOff val="60000"/>
                  </a:srgbClr>
                </a:solidFill>
                <a:latin typeface="Arial" panose="020B0604020202020204" pitchFamily="34" charset="0"/>
              </a:rPr>
              <a:t>2</a:t>
            </a:r>
            <a:r>
              <a:rPr lang="en-US" sz="2400" b="1" baseline="30000" dirty="0">
                <a:solidFill>
                  <a:srgbClr val="2D2D8A">
                    <a:lumMod val="40000"/>
                    <a:lumOff val="60000"/>
                  </a:srgbClr>
                </a:solidFill>
                <a:latin typeface="Arial" panose="020B0604020202020204" pitchFamily="34" charset="0"/>
              </a:rPr>
              <a:t>b</a:t>
            </a:r>
            <a:r>
              <a:rPr lang="en-US" sz="2400" b="1" dirty="0">
                <a:solidFill>
                  <a:srgbClr val="2D2D8A">
                    <a:lumMod val="40000"/>
                    <a:lumOff val="60000"/>
                  </a:srgbClr>
                </a:solidFill>
                <a:latin typeface="Arial" panose="020B0604020202020204" pitchFamily="34" charset="0"/>
              </a:rPr>
              <a:t>T</a:t>
            </a:r>
            <a:r>
              <a:rPr lang="en-US" sz="2400" b="1" baseline="-25000" dirty="0">
                <a:solidFill>
                  <a:srgbClr val="2D2D8A">
                    <a:lumMod val="40000"/>
                    <a:lumOff val="60000"/>
                  </a:srgbClr>
                </a:solidFill>
                <a:latin typeface="Arial" panose="020B0604020202020204" pitchFamily="34" charset="0"/>
              </a:rPr>
              <a:t>2</a:t>
            </a:r>
            <a:r>
              <a:rPr lang="en-US" sz="2400" b="1" baseline="30000" dirty="0">
                <a:solidFill>
                  <a:srgbClr val="2D2D8A">
                    <a:lumMod val="40000"/>
                    <a:lumOff val="60000"/>
                  </a:srgbClr>
                </a:solidFill>
                <a:latin typeface="Arial" panose="020B0604020202020204" pitchFamily="34" charset="0"/>
              </a:rPr>
              <a:t>c</a:t>
            </a:r>
            <a:r>
              <a:rPr lang="en-US" sz="2400" b="1" dirty="0">
                <a:solidFill>
                  <a:srgbClr val="2D2D8A">
                    <a:lumMod val="40000"/>
                    <a:lumOff val="60000"/>
                  </a:srgbClr>
                </a:solidFill>
                <a:latin typeface="Arial" panose="020B0604020202020204" pitchFamily="34" charset="0"/>
              </a:rPr>
              <a:t>]</a:t>
            </a:r>
            <a:endParaRPr lang="en-US" b="1" dirty="0">
              <a:solidFill>
                <a:srgbClr val="2D2D8A">
                  <a:lumMod val="40000"/>
                  <a:lumOff val="60000"/>
                </a:srgbClr>
              </a:solidFill>
              <a:latin typeface="Arial" panose="020B0604020202020204" pitchFamily="34" charset="0"/>
            </a:endParaRPr>
          </a:p>
        </p:txBody>
      </p:sp>
      <p:grpSp>
        <p:nvGrpSpPr>
          <p:cNvPr id="59396" name="Group 28"/>
          <p:cNvGrpSpPr>
            <a:grpSpLocks/>
          </p:cNvGrpSpPr>
          <p:nvPr/>
        </p:nvGrpSpPr>
        <p:grpSpPr bwMode="auto">
          <a:xfrm>
            <a:off x="4105275" y="3195639"/>
            <a:ext cx="3646488" cy="954087"/>
            <a:chOff x="3347864" y="5719326"/>
            <a:chExt cx="3647381" cy="954202"/>
          </a:xfrm>
        </p:grpSpPr>
        <p:grpSp>
          <p:nvGrpSpPr>
            <p:cNvPr id="59401" name="Group 7"/>
            <p:cNvGrpSpPr>
              <a:grpSpLocks/>
            </p:cNvGrpSpPr>
            <p:nvPr/>
          </p:nvGrpSpPr>
          <p:grpSpPr bwMode="auto">
            <a:xfrm>
              <a:off x="4355976" y="5719326"/>
              <a:ext cx="2639269" cy="954202"/>
              <a:chOff x="1187624" y="4276508"/>
              <a:chExt cx="2639269" cy="954202"/>
            </a:xfrm>
          </p:grpSpPr>
          <p:grpSp>
            <p:nvGrpSpPr>
              <p:cNvPr id="59403" name="Group 8"/>
              <p:cNvGrpSpPr>
                <a:grpSpLocks/>
              </p:cNvGrpSpPr>
              <p:nvPr/>
            </p:nvGrpSpPr>
            <p:grpSpPr bwMode="auto">
              <a:xfrm>
                <a:off x="1187624" y="4475308"/>
                <a:ext cx="635794" cy="755402"/>
                <a:chOff x="1247776" y="4475308"/>
                <a:chExt cx="635794" cy="755402"/>
              </a:xfrm>
            </p:grpSpPr>
            <p:grpSp>
              <p:nvGrpSpPr>
                <p:cNvPr id="59417" name="Group 22"/>
                <p:cNvGrpSpPr>
                  <a:grpSpLocks/>
                </p:cNvGrpSpPr>
                <p:nvPr/>
              </p:nvGrpSpPr>
              <p:grpSpPr bwMode="auto">
                <a:xfrm>
                  <a:off x="1331640" y="4475308"/>
                  <a:ext cx="539483" cy="720170"/>
                  <a:chOff x="3186403" y="4581525"/>
                  <a:chExt cx="539483" cy="720170"/>
                </a:xfrm>
              </p:grpSpPr>
              <p:sp>
                <p:nvSpPr>
                  <p:cNvPr id="2" name="Rectangle 7"/>
                  <p:cNvSpPr>
                    <a:spLocks noChangeArrowheads="1"/>
                  </p:cNvSpPr>
                  <p:nvPr/>
                </p:nvSpPr>
                <p:spPr bwMode="auto">
                  <a:xfrm>
                    <a:off x="3259938" y="4581186"/>
                    <a:ext cx="460488" cy="369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M</a:t>
                    </a:r>
                    <a:r>
                      <a:rPr lang="en-US" b="1" baseline="-25000">
                        <a:solidFill>
                          <a:srgbClr val="2D2D8A">
                            <a:lumMod val="40000"/>
                            <a:lumOff val="60000"/>
                          </a:srgbClr>
                        </a:solidFill>
                        <a:latin typeface="Arial" panose="020B0604020202020204" pitchFamily="34" charset="0"/>
                      </a:rPr>
                      <a:t>1</a:t>
                    </a:r>
                  </a:p>
                </p:txBody>
              </p:sp>
              <p:sp>
                <p:nvSpPr>
                  <p:cNvPr id="7" name="Rectangle 8"/>
                  <p:cNvSpPr>
                    <a:spLocks noChangeArrowheads="1"/>
                  </p:cNvSpPr>
                  <p:nvPr/>
                </p:nvSpPr>
                <p:spPr bwMode="auto">
                  <a:xfrm>
                    <a:off x="3264702" y="4932066"/>
                    <a:ext cx="460488" cy="36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M</a:t>
                    </a:r>
                    <a:r>
                      <a:rPr lang="en-US" b="1" baseline="-25000">
                        <a:solidFill>
                          <a:srgbClr val="2D2D8A">
                            <a:lumMod val="40000"/>
                            <a:lumOff val="60000"/>
                          </a:srgbClr>
                        </a:solidFill>
                        <a:latin typeface="Arial" panose="020B0604020202020204" pitchFamily="34" charset="0"/>
                      </a:rPr>
                      <a:t>2</a:t>
                    </a:r>
                  </a:p>
                </p:txBody>
              </p:sp>
              <p:cxnSp>
                <p:nvCxnSpPr>
                  <p:cNvPr id="27" name="Straight Connector 26"/>
                  <p:cNvCxnSpPr/>
                  <p:nvPr/>
                </p:nvCxnSpPr>
                <p:spPr>
                  <a:xfrm>
                    <a:off x="3186895" y="4949530"/>
                    <a:ext cx="492245"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4" name="Double Bracket 23"/>
                <p:cNvSpPr/>
                <p:nvPr/>
              </p:nvSpPr>
              <p:spPr>
                <a:xfrm>
                  <a:off x="1247974" y="4481320"/>
                  <a:ext cx="635156"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2D2D8A">
                        <a:lumMod val="40000"/>
                        <a:lumOff val="60000"/>
                      </a:srgbClr>
                    </a:solidFill>
                    <a:latin typeface="Arial"/>
                  </a:endParaRPr>
                </a:p>
              </p:txBody>
            </p:sp>
          </p:grpSp>
          <p:grpSp>
            <p:nvGrpSpPr>
              <p:cNvPr id="59404" name="Group 9"/>
              <p:cNvGrpSpPr>
                <a:grpSpLocks/>
              </p:cNvGrpSpPr>
              <p:nvPr/>
            </p:nvGrpSpPr>
            <p:grpSpPr bwMode="auto">
              <a:xfrm>
                <a:off x="2944682" y="4467555"/>
                <a:ext cx="635794" cy="749300"/>
                <a:chOff x="2814521" y="4467555"/>
                <a:chExt cx="635794" cy="749300"/>
              </a:xfrm>
            </p:grpSpPr>
            <p:grpSp>
              <p:nvGrpSpPr>
                <p:cNvPr id="59412" name="Group 17"/>
                <p:cNvGrpSpPr>
                  <a:grpSpLocks/>
                </p:cNvGrpSpPr>
                <p:nvPr/>
              </p:nvGrpSpPr>
              <p:grpSpPr bwMode="auto">
                <a:xfrm>
                  <a:off x="2880389" y="4478677"/>
                  <a:ext cx="493712" cy="720170"/>
                  <a:chOff x="3186403" y="4581525"/>
                  <a:chExt cx="493712" cy="720170"/>
                </a:xfrm>
              </p:grpSpPr>
              <p:sp>
                <p:nvSpPr>
                  <p:cNvPr id="3" name="Rectangle 7"/>
                  <p:cNvSpPr>
                    <a:spLocks noChangeArrowheads="1"/>
                  </p:cNvSpPr>
                  <p:nvPr/>
                </p:nvSpPr>
                <p:spPr bwMode="auto">
                  <a:xfrm>
                    <a:off x="3259614" y="4580992"/>
                    <a:ext cx="409675" cy="369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T</a:t>
                    </a:r>
                    <a:r>
                      <a:rPr lang="en-US" b="1" baseline="-25000">
                        <a:solidFill>
                          <a:srgbClr val="2D2D8A">
                            <a:lumMod val="40000"/>
                            <a:lumOff val="60000"/>
                          </a:srgbClr>
                        </a:solidFill>
                        <a:latin typeface="Arial" panose="020B0604020202020204" pitchFamily="34" charset="0"/>
                      </a:rPr>
                      <a:t>1</a:t>
                    </a:r>
                  </a:p>
                </p:txBody>
              </p:sp>
              <p:sp>
                <p:nvSpPr>
                  <p:cNvPr id="8" name="Rectangle 8"/>
                  <p:cNvSpPr>
                    <a:spLocks noChangeArrowheads="1"/>
                  </p:cNvSpPr>
                  <p:nvPr/>
                </p:nvSpPr>
                <p:spPr bwMode="auto">
                  <a:xfrm>
                    <a:off x="3264377" y="4931872"/>
                    <a:ext cx="411264" cy="36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T</a:t>
                    </a:r>
                    <a:r>
                      <a:rPr lang="en-US" b="1" baseline="-25000">
                        <a:solidFill>
                          <a:srgbClr val="2D2D8A">
                            <a:lumMod val="40000"/>
                            <a:lumOff val="60000"/>
                          </a:srgbClr>
                        </a:solidFill>
                        <a:latin typeface="Arial" panose="020B0604020202020204" pitchFamily="34" charset="0"/>
                      </a:rPr>
                      <a:t>2</a:t>
                    </a:r>
                  </a:p>
                </p:txBody>
              </p:sp>
              <p:cxnSp>
                <p:nvCxnSpPr>
                  <p:cNvPr id="22" name="Straight Connector 21"/>
                  <p:cNvCxnSpPr/>
                  <p:nvPr/>
                </p:nvCxnSpPr>
                <p:spPr>
                  <a:xfrm>
                    <a:off x="3186571" y="4949336"/>
                    <a:ext cx="493833"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9" name="Double Bracket 18"/>
                <p:cNvSpPr/>
                <p:nvPr/>
              </p:nvSpPr>
              <p:spPr>
                <a:xfrm>
                  <a:off x="2813866" y="4467031"/>
                  <a:ext cx="636743"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2D2D8A">
                        <a:lumMod val="40000"/>
                        <a:lumOff val="60000"/>
                      </a:srgbClr>
                    </a:solidFill>
                    <a:latin typeface="Arial"/>
                  </a:endParaRPr>
                </a:p>
              </p:txBody>
            </p:sp>
          </p:grpSp>
          <p:grpSp>
            <p:nvGrpSpPr>
              <p:cNvPr id="59405" name="Group 10"/>
              <p:cNvGrpSpPr>
                <a:grpSpLocks/>
              </p:cNvGrpSpPr>
              <p:nvPr/>
            </p:nvGrpSpPr>
            <p:grpSpPr bwMode="auto">
              <a:xfrm>
                <a:off x="2050045" y="4467031"/>
                <a:ext cx="668502" cy="749390"/>
                <a:chOff x="2021179" y="4467031"/>
                <a:chExt cx="668502" cy="749390"/>
              </a:xfrm>
            </p:grpSpPr>
            <p:grpSp>
              <p:nvGrpSpPr>
                <p:cNvPr id="59407" name="Group 12"/>
                <p:cNvGrpSpPr>
                  <a:grpSpLocks/>
                </p:cNvGrpSpPr>
                <p:nvPr/>
              </p:nvGrpSpPr>
              <p:grpSpPr bwMode="auto">
                <a:xfrm>
                  <a:off x="2087870" y="4481320"/>
                  <a:ext cx="527179" cy="720256"/>
                  <a:chOff x="3185972" y="4581435"/>
                  <a:chExt cx="527179" cy="720256"/>
                </a:xfrm>
              </p:grpSpPr>
              <p:sp>
                <p:nvSpPr>
                  <p:cNvPr id="4" name="Rectangle 7"/>
                  <p:cNvSpPr>
                    <a:spLocks noChangeArrowheads="1"/>
                  </p:cNvSpPr>
                  <p:nvPr/>
                </p:nvSpPr>
                <p:spPr bwMode="auto">
                  <a:xfrm>
                    <a:off x="3259015" y="4581435"/>
                    <a:ext cx="410791" cy="36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L</a:t>
                    </a:r>
                    <a:r>
                      <a:rPr lang="en-US" b="1" baseline="-25000">
                        <a:solidFill>
                          <a:srgbClr val="2D2D8A">
                            <a:lumMod val="40000"/>
                            <a:lumOff val="60000"/>
                          </a:srgbClr>
                        </a:solidFill>
                        <a:latin typeface="Arial" panose="020B0604020202020204" pitchFamily="34" charset="0"/>
                      </a:rPr>
                      <a:t>1</a:t>
                    </a:r>
                  </a:p>
                </p:txBody>
              </p:sp>
              <p:sp>
                <p:nvSpPr>
                  <p:cNvPr id="9" name="Rectangle 8"/>
                  <p:cNvSpPr>
                    <a:spLocks noChangeArrowheads="1"/>
                  </p:cNvSpPr>
                  <p:nvPr/>
                </p:nvSpPr>
                <p:spPr bwMode="auto">
                  <a:xfrm>
                    <a:off x="3263779" y="4932315"/>
                    <a:ext cx="410791" cy="36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L</a:t>
                    </a:r>
                    <a:r>
                      <a:rPr lang="en-US" b="1" baseline="-25000">
                        <a:solidFill>
                          <a:srgbClr val="2D2D8A">
                            <a:lumMod val="40000"/>
                            <a:lumOff val="60000"/>
                          </a:srgbClr>
                        </a:solidFill>
                        <a:latin typeface="Arial" panose="020B0604020202020204" pitchFamily="34" charset="0"/>
                      </a:rPr>
                      <a:t>2</a:t>
                    </a:r>
                  </a:p>
                </p:txBody>
              </p:sp>
              <p:cxnSp>
                <p:nvCxnSpPr>
                  <p:cNvPr id="17" name="Straight Connector 16"/>
                  <p:cNvCxnSpPr/>
                  <p:nvPr/>
                </p:nvCxnSpPr>
                <p:spPr>
                  <a:xfrm>
                    <a:off x="3185972" y="4949779"/>
                    <a:ext cx="527179"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4" name="Double Bracket 13"/>
                <p:cNvSpPr/>
                <p:nvPr/>
              </p:nvSpPr>
              <p:spPr>
                <a:xfrm>
                  <a:off x="2021179" y="4467031"/>
                  <a:ext cx="668502"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2D2D8A">
                        <a:lumMod val="40000"/>
                        <a:lumOff val="60000"/>
                      </a:srgbClr>
                    </a:solidFill>
                    <a:latin typeface="Arial"/>
                  </a:endParaRPr>
                </a:p>
              </p:txBody>
            </p:sp>
          </p:grpSp>
          <p:sp>
            <p:nvSpPr>
              <p:cNvPr id="5" name="Rectangle 2"/>
              <p:cNvSpPr>
                <a:spLocks noChangeArrowheads="1"/>
              </p:cNvSpPr>
              <p:nvPr/>
            </p:nvSpPr>
            <p:spPr bwMode="auto">
              <a:xfrm>
                <a:off x="1770577" y="4276508"/>
                <a:ext cx="2056316" cy="36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2D2D8A">
                        <a:lumMod val="40000"/>
                        <a:lumOff val="60000"/>
                      </a:srgbClr>
                    </a:solidFill>
                    <a:latin typeface="Arial" panose="020B0604020202020204" pitchFamily="34" charset="0"/>
                  </a:rPr>
                  <a:t>a            b           c</a:t>
                </a:r>
                <a:endParaRPr lang="en-IN">
                  <a:solidFill>
                    <a:srgbClr val="2D2D8A">
                      <a:lumMod val="40000"/>
                      <a:lumOff val="60000"/>
                    </a:srgbClr>
                  </a:solidFill>
                  <a:latin typeface="Arial" panose="020B0604020202020204" pitchFamily="34" charset="0"/>
                </a:endParaRPr>
              </a:p>
            </p:txBody>
          </p:sp>
        </p:grpSp>
        <p:sp>
          <p:nvSpPr>
            <p:cNvPr id="6" name="Rectangle 27"/>
            <p:cNvSpPr>
              <a:spLocks noChangeArrowheads="1"/>
            </p:cNvSpPr>
            <p:nvPr/>
          </p:nvSpPr>
          <p:spPr bwMode="auto">
            <a:xfrm>
              <a:off x="3347864" y="6111485"/>
              <a:ext cx="1152807" cy="400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sz="2000" b="1" dirty="0">
                  <a:solidFill>
                    <a:srgbClr val="2D2D8A">
                      <a:lumMod val="40000"/>
                      <a:lumOff val="60000"/>
                    </a:srgbClr>
                  </a:solidFill>
                  <a:latin typeface="Arial" panose="020B0604020202020204" pitchFamily="34" charset="0"/>
                </a:rPr>
                <a:t> n</a:t>
              </a:r>
              <a:r>
                <a:rPr lang="en-US" sz="2000" b="1" baseline="-25000" dirty="0">
                  <a:solidFill>
                    <a:srgbClr val="2D2D8A">
                      <a:lumMod val="40000"/>
                      <a:lumOff val="60000"/>
                    </a:srgbClr>
                  </a:solidFill>
                  <a:latin typeface="Arial" panose="020B0604020202020204" pitchFamily="34" charset="0"/>
                </a:rPr>
                <a:t>2</a:t>
              </a:r>
              <a:r>
                <a:rPr lang="en-US" sz="2000" b="1" dirty="0">
                  <a:solidFill>
                    <a:srgbClr val="2D2D8A">
                      <a:lumMod val="40000"/>
                      <a:lumOff val="60000"/>
                    </a:srgbClr>
                  </a:solidFill>
                  <a:latin typeface="Arial" panose="020B0604020202020204" pitchFamily="34" charset="0"/>
                </a:rPr>
                <a:t> = n</a:t>
              </a:r>
              <a:r>
                <a:rPr lang="en-US" sz="2000" b="1" baseline="-25000" dirty="0">
                  <a:solidFill>
                    <a:srgbClr val="2D2D8A">
                      <a:lumMod val="40000"/>
                      <a:lumOff val="60000"/>
                    </a:srgbClr>
                  </a:solidFill>
                  <a:latin typeface="Arial" panose="020B0604020202020204" pitchFamily="34" charset="0"/>
                </a:rPr>
                <a:t>1    </a:t>
              </a:r>
              <a:endParaRPr lang="en-US" sz="2000" b="1" dirty="0">
                <a:solidFill>
                  <a:srgbClr val="2D2D8A">
                    <a:lumMod val="40000"/>
                    <a:lumOff val="60000"/>
                  </a:srgbClr>
                </a:solidFill>
                <a:latin typeface="Arial" panose="020B0604020202020204" pitchFamily="34" charset="0"/>
              </a:endParaRPr>
            </a:p>
          </p:txBody>
        </p:sp>
      </p:grpSp>
      <p:sp>
        <p:nvSpPr>
          <p:cNvPr id="59397" name="Rectangle 29"/>
          <p:cNvSpPr>
            <a:spLocks noChangeArrowheads="1"/>
          </p:cNvSpPr>
          <p:nvPr/>
        </p:nvSpPr>
        <p:spPr bwMode="auto">
          <a:xfrm>
            <a:off x="1982789" y="4365625"/>
            <a:ext cx="85058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CC9900"/>
                </a:solidFill>
              </a:rPr>
              <a:t>n</a:t>
            </a:r>
            <a:r>
              <a:rPr lang="en-US" altLang="en-US" b="1" baseline="-25000">
                <a:solidFill>
                  <a:srgbClr val="CC9900"/>
                </a:solidFill>
              </a:rPr>
              <a:t>1  </a:t>
            </a:r>
            <a:r>
              <a:rPr lang="en-US" altLang="en-US" b="1">
                <a:solidFill>
                  <a:srgbClr val="CC9900"/>
                </a:solidFill>
              </a:rPr>
              <a:t>and</a:t>
            </a:r>
            <a:r>
              <a:rPr lang="en-US" altLang="en-US" b="1" baseline="-25000">
                <a:solidFill>
                  <a:srgbClr val="CC9900"/>
                </a:solidFill>
              </a:rPr>
              <a:t> </a:t>
            </a:r>
            <a:r>
              <a:rPr lang="en-US" altLang="en-US" b="1">
                <a:solidFill>
                  <a:srgbClr val="CC9900"/>
                </a:solidFill>
              </a:rPr>
              <a:t>n</a:t>
            </a:r>
            <a:r>
              <a:rPr lang="en-US" altLang="en-US" b="1" baseline="-25000">
                <a:solidFill>
                  <a:srgbClr val="CC9900"/>
                </a:solidFill>
              </a:rPr>
              <a:t>2 </a:t>
            </a:r>
            <a:r>
              <a:rPr lang="en-US" altLang="en-US" b="1">
                <a:solidFill>
                  <a:srgbClr val="CC9900"/>
                </a:solidFill>
              </a:rPr>
              <a:t>are the magnitudes in the respective systems of units.</a:t>
            </a:r>
          </a:p>
          <a:p>
            <a:pPr eaLnBrk="1" fontAlgn="base" hangingPunct="1">
              <a:spcBef>
                <a:spcPct val="0"/>
              </a:spcBef>
              <a:spcAft>
                <a:spcPct val="0"/>
              </a:spcAft>
            </a:pPr>
            <a:endParaRPr lang="en-US" altLang="en-US" b="1">
              <a:solidFill>
                <a:srgbClr val="FF0000"/>
              </a:solidFill>
            </a:endParaRPr>
          </a:p>
          <a:p>
            <a:pPr eaLnBrk="1" fontAlgn="base" hangingPunct="1">
              <a:spcBef>
                <a:spcPct val="0"/>
              </a:spcBef>
              <a:spcAft>
                <a:spcPct val="0"/>
              </a:spcAft>
            </a:pPr>
            <a:r>
              <a:rPr lang="en-US" altLang="en-US" b="1">
                <a:solidFill>
                  <a:srgbClr val="FF0000"/>
                </a:solidFill>
              </a:rPr>
              <a:t>Smaller the unit bigger the magnitude of a physical quantity and vice versa.</a:t>
            </a:r>
          </a:p>
          <a:p>
            <a:pPr eaLnBrk="1" fontAlgn="base" hangingPunct="1">
              <a:spcBef>
                <a:spcPct val="0"/>
              </a:spcBef>
              <a:spcAft>
                <a:spcPct val="0"/>
              </a:spcAft>
            </a:pPr>
            <a:endParaRPr lang="en-US" altLang="en-US" b="1">
              <a:solidFill>
                <a:srgbClr val="FF0000"/>
              </a:solidFill>
            </a:endParaRPr>
          </a:p>
          <a:p>
            <a:pPr eaLnBrk="1" fontAlgn="base" hangingPunct="1">
              <a:spcBef>
                <a:spcPct val="0"/>
              </a:spcBef>
              <a:spcAft>
                <a:spcPct val="0"/>
              </a:spcAft>
            </a:pPr>
            <a:r>
              <a:rPr lang="en-US" altLang="en-US" b="1">
                <a:solidFill>
                  <a:srgbClr val="00B0F0"/>
                </a:solidFill>
              </a:rPr>
              <a:t>For example, 1 m = 100 cm    (m is the bigger unit and cm is the smaller one)</a:t>
            </a:r>
          </a:p>
          <a:p>
            <a:pPr eaLnBrk="1" fontAlgn="base" hangingPunct="1">
              <a:spcBef>
                <a:spcPct val="0"/>
              </a:spcBef>
              <a:spcAft>
                <a:spcPct val="0"/>
              </a:spcAft>
            </a:pPr>
            <a:r>
              <a:rPr lang="en-US" altLang="en-US" b="1">
                <a:solidFill>
                  <a:srgbClr val="00B0F0"/>
                </a:solidFill>
              </a:rPr>
              <a:t>                        1 N =  10</a:t>
            </a:r>
            <a:r>
              <a:rPr lang="en-US" altLang="en-US" b="1" baseline="30000">
                <a:solidFill>
                  <a:srgbClr val="00B0F0"/>
                </a:solidFill>
              </a:rPr>
              <a:t>5</a:t>
            </a:r>
            <a:r>
              <a:rPr lang="en-US" altLang="en-US" b="1">
                <a:solidFill>
                  <a:srgbClr val="00B0F0"/>
                </a:solidFill>
              </a:rPr>
              <a:t> dynes  (Newton is bigger and dyne is smaller)</a:t>
            </a:r>
            <a:endParaRPr lang="en-IN" altLang="en-US">
              <a:solidFill>
                <a:srgbClr val="00B0F0"/>
              </a:solidFill>
            </a:endParaRPr>
          </a:p>
        </p:txBody>
      </p:sp>
      <p:sp>
        <p:nvSpPr>
          <p:cNvPr id="59398"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59399"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59400"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42011475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2" presetClass="emph" presetSubtype="0" fill="hold" grpId="0" nodeType="afterEffect">
                                  <p:stCondLst>
                                    <p:cond delay="0"/>
                                  </p:stCondLst>
                                  <p:childTnLst>
                                    <p:animRot by="120000">
                                      <p:cBhvr>
                                        <p:cTn id="6" dur="100" fill="hold">
                                          <p:stCondLst>
                                            <p:cond delay="0"/>
                                          </p:stCondLst>
                                        </p:cTn>
                                        <p:tgtEl>
                                          <p:spTgt spid="59394"/>
                                        </p:tgtEl>
                                        <p:attrNameLst>
                                          <p:attrName>r</p:attrName>
                                        </p:attrNameLst>
                                      </p:cBhvr>
                                    </p:animRot>
                                    <p:animRot by="-240000">
                                      <p:cBhvr>
                                        <p:cTn id="7" dur="200" fill="hold">
                                          <p:stCondLst>
                                            <p:cond delay="200"/>
                                          </p:stCondLst>
                                        </p:cTn>
                                        <p:tgtEl>
                                          <p:spTgt spid="59394"/>
                                        </p:tgtEl>
                                        <p:attrNameLst>
                                          <p:attrName>r</p:attrName>
                                        </p:attrNameLst>
                                      </p:cBhvr>
                                    </p:animRot>
                                    <p:animRot by="240000">
                                      <p:cBhvr>
                                        <p:cTn id="8" dur="200" fill="hold">
                                          <p:stCondLst>
                                            <p:cond delay="400"/>
                                          </p:stCondLst>
                                        </p:cTn>
                                        <p:tgtEl>
                                          <p:spTgt spid="59394"/>
                                        </p:tgtEl>
                                        <p:attrNameLst>
                                          <p:attrName>r</p:attrName>
                                        </p:attrNameLst>
                                      </p:cBhvr>
                                    </p:animRot>
                                    <p:animRot by="-240000">
                                      <p:cBhvr>
                                        <p:cTn id="9" dur="200" fill="hold">
                                          <p:stCondLst>
                                            <p:cond delay="600"/>
                                          </p:stCondLst>
                                        </p:cTn>
                                        <p:tgtEl>
                                          <p:spTgt spid="59394"/>
                                        </p:tgtEl>
                                        <p:attrNameLst>
                                          <p:attrName>r</p:attrName>
                                        </p:attrNameLst>
                                      </p:cBhvr>
                                    </p:animRot>
                                    <p:animRot by="120000">
                                      <p:cBhvr>
                                        <p:cTn id="10" dur="200" fill="hold">
                                          <p:stCondLst>
                                            <p:cond delay="800"/>
                                          </p:stCondLst>
                                        </p:cTn>
                                        <p:tgtEl>
                                          <p:spTgt spid="59394"/>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9395">
                                            <p:txEl>
                                              <p:pRg st="0" end="0"/>
                                            </p:txEl>
                                          </p:spTgt>
                                        </p:tgtEl>
                                        <p:attrNameLst>
                                          <p:attrName>style.visibility</p:attrName>
                                        </p:attrNameLst>
                                      </p:cBhvr>
                                      <p:to>
                                        <p:strVal val="visible"/>
                                      </p:to>
                                    </p:set>
                                    <p:animEffect transition="in" filter="wipe(left)">
                                      <p:cBhvr>
                                        <p:cTn id="15" dur="500"/>
                                        <p:tgtEl>
                                          <p:spTgt spid="59395">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9395">
                                            <p:txEl>
                                              <p:pRg st="2" end="2"/>
                                            </p:txEl>
                                          </p:spTgt>
                                        </p:tgtEl>
                                        <p:attrNameLst>
                                          <p:attrName>style.visibility</p:attrName>
                                        </p:attrNameLst>
                                      </p:cBhvr>
                                      <p:to>
                                        <p:strVal val="visible"/>
                                      </p:to>
                                    </p:set>
                                    <p:animEffect transition="in" filter="wipe(left)">
                                      <p:cBhvr>
                                        <p:cTn id="20" dur="500"/>
                                        <p:tgtEl>
                                          <p:spTgt spid="5939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9395">
                                            <p:txEl>
                                              <p:pRg st="4" end="4"/>
                                            </p:txEl>
                                          </p:spTgt>
                                        </p:tgtEl>
                                        <p:attrNameLst>
                                          <p:attrName>style.visibility</p:attrName>
                                        </p:attrNameLst>
                                      </p:cBhvr>
                                      <p:to>
                                        <p:strVal val="visible"/>
                                      </p:to>
                                    </p:set>
                                    <p:animEffect transition="in" filter="wipe(left)">
                                      <p:cBhvr>
                                        <p:cTn id="25" dur="500"/>
                                        <p:tgtEl>
                                          <p:spTgt spid="59395">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3" presetClass="entr" presetSubtype="16" fill="hold" nodeType="clickEffect">
                                  <p:stCondLst>
                                    <p:cond delay="0"/>
                                  </p:stCondLst>
                                  <p:childTnLst>
                                    <p:set>
                                      <p:cBhvr>
                                        <p:cTn id="29" dur="1" fill="hold">
                                          <p:stCondLst>
                                            <p:cond delay="0"/>
                                          </p:stCondLst>
                                        </p:cTn>
                                        <p:tgtEl>
                                          <p:spTgt spid="59396"/>
                                        </p:tgtEl>
                                        <p:attrNameLst>
                                          <p:attrName>style.visibility</p:attrName>
                                        </p:attrNameLst>
                                      </p:cBhvr>
                                      <p:to>
                                        <p:strVal val="visible"/>
                                      </p:to>
                                    </p:set>
                                    <p:anim calcmode="lin" valueType="num">
                                      <p:cBhvr>
                                        <p:cTn id="30" dur="500" fill="hold"/>
                                        <p:tgtEl>
                                          <p:spTgt spid="59396"/>
                                        </p:tgtEl>
                                        <p:attrNameLst>
                                          <p:attrName>ppt_w</p:attrName>
                                        </p:attrNameLst>
                                      </p:cBhvr>
                                      <p:tavLst>
                                        <p:tav tm="0">
                                          <p:val>
                                            <p:fltVal val="0"/>
                                          </p:val>
                                        </p:tav>
                                        <p:tav tm="100000">
                                          <p:val>
                                            <p:strVal val="#ppt_w"/>
                                          </p:val>
                                        </p:tav>
                                      </p:tavLst>
                                    </p:anim>
                                    <p:anim calcmode="lin" valueType="num">
                                      <p:cBhvr>
                                        <p:cTn id="31" dur="500" fill="hold"/>
                                        <p:tgtEl>
                                          <p:spTgt spid="59396"/>
                                        </p:tgtEl>
                                        <p:attrNameLst>
                                          <p:attrName>ppt_h</p:attrName>
                                        </p:attrNameLst>
                                      </p:cBhvr>
                                      <p:tavLst>
                                        <p:tav tm="0">
                                          <p:val>
                                            <p:fltVal val="0"/>
                                          </p:val>
                                        </p:tav>
                                        <p:tav tm="100000">
                                          <p:val>
                                            <p:strVal val="#ppt_h"/>
                                          </p:val>
                                        </p:tav>
                                      </p:tavLst>
                                    </p:anim>
                                    <p:animEffect transition="in" filter="fade">
                                      <p:cBhvr>
                                        <p:cTn id="32" dur="500"/>
                                        <p:tgtEl>
                                          <p:spTgt spid="593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9397">
                                            <p:txEl>
                                              <p:pRg st="0" end="0"/>
                                            </p:txEl>
                                          </p:spTgt>
                                        </p:tgtEl>
                                        <p:attrNameLst>
                                          <p:attrName>style.visibility</p:attrName>
                                        </p:attrNameLst>
                                      </p:cBhvr>
                                      <p:to>
                                        <p:strVal val="visible"/>
                                      </p:to>
                                    </p:set>
                                    <p:animEffect transition="in" filter="wipe(left)">
                                      <p:cBhvr>
                                        <p:cTn id="37" dur="500"/>
                                        <p:tgtEl>
                                          <p:spTgt spid="5939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9397">
                                            <p:txEl>
                                              <p:pRg st="2" end="2"/>
                                            </p:txEl>
                                          </p:spTgt>
                                        </p:tgtEl>
                                        <p:attrNameLst>
                                          <p:attrName>style.visibility</p:attrName>
                                        </p:attrNameLst>
                                      </p:cBhvr>
                                      <p:to>
                                        <p:strVal val="visible"/>
                                      </p:to>
                                    </p:set>
                                    <p:animEffect transition="in" filter="wipe(left)">
                                      <p:cBhvr>
                                        <p:cTn id="42" dur="500"/>
                                        <p:tgtEl>
                                          <p:spTgt spid="59397">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9397">
                                            <p:txEl>
                                              <p:pRg st="4" end="4"/>
                                            </p:txEl>
                                          </p:spTgt>
                                        </p:tgtEl>
                                        <p:attrNameLst>
                                          <p:attrName>style.visibility</p:attrName>
                                        </p:attrNameLst>
                                      </p:cBhvr>
                                      <p:to>
                                        <p:strVal val="visible"/>
                                      </p:to>
                                    </p:set>
                                    <p:animEffect transition="in" filter="wipe(left)">
                                      <p:cBhvr>
                                        <p:cTn id="47" dur="500"/>
                                        <p:tgtEl>
                                          <p:spTgt spid="59397">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9397">
                                            <p:txEl>
                                              <p:pRg st="5" end="5"/>
                                            </p:txEl>
                                          </p:spTgt>
                                        </p:tgtEl>
                                        <p:attrNameLst>
                                          <p:attrName>style.visibility</p:attrName>
                                        </p:attrNameLst>
                                      </p:cBhvr>
                                      <p:to>
                                        <p:strVal val="visible"/>
                                      </p:to>
                                    </p:set>
                                    <p:animEffect transition="in" filter="wipe(left)">
                                      <p:cBhvr>
                                        <p:cTn id="52" dur="500"/>
                                        <p:tgtEl>
                                          <p:spTgt spid="5939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1"/>
          <p:cNvSpPr>
            <a:spLocks noChangeArrowheads="1"/>
          </p:cNvSpPr>
          <p:nvPr/>
        </p:nvSpPr>
        <p:spPr bwMode="auto">
          <a:xfrm>
            <a:off x="1774826" y="44450"/>
            <a:ext cx="1211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B050"/>
                </a:solidFill>
              </a:rPr>
              <a:t>Example:</a:t>
            </a:r>
            <a:endParaRPr lang="en-IN" altLang="en-US">
              <a:solidFill>
                <a:srgbClr val="00B050"/>
              </a:solidFill>
            </a:endParaRPr>
          </a:p>
        </p:txBody>
      </p:sp>
      <p:sp>
        <p:nvSpPr>
          <p:cNvPr id="60420" name="Rectangle 2"/>
          <p:cNvSpPr>
            <a:spLocks noChangeArrowheads="1"/>
          </p:cNvSpPr>
          <p:nvPr/>
        </p:nvSpPr>
        <p:spPr bwMode="auto">
          <a:xfrm>
            <a:off x="1774825" y="498475"/>
            <a:ext cx="785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00B0F0"/>
                </a:solidFill>
              </a:rPr>
              <a:t>1.  To convert 1 joule in erg.</a:t>
            </a:r>
            <a:endParaRPr lang="en-IN" altLang="en-US" sz="2000">
              <a:solidFill>
                <a:srgbClr val="00B0F0"/>
              </a:solidFill>
            </a:endParaRPr>
          </a:p>
        </p:txBody>
      </p:sp>
      <p:sp>
        <p:nvSpPr>
          <p:cNvPr id="60421" name="Rectangle 3"/>
          <p:cNvSpPr>
            <a:spLocks noChangeArrowheads="1"/>
          </p:cNvSpPr>
          <p:nvPr/>
        </p:nvSpPr>
        <p:spPr bwMode="auto">
          <a:xfrm>
            <a:off x="1774826" y="930275"/>
            <a:ext cx="8893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CCFF66"/>
                </a:solidFill>
              </a:rPr>
              <a:t>‘joule’ is unit of energy or work in SI system and ‘erg’  is the unit in cgs system.</a:t>
            </a:r>
          </a:p>
          <a:p>
            <a:pPr eaLnBrk="1" fontAlgn="base" hangingPunct="1">
              <a:spcBef>
                <a:spcPct val="0"/>
              </a:spcBef>
              <a:spcAft>
                <a:spcPct val="0"/>
              </a:spcAft>
            </a:pPr>
            <a:r>
              <a:rPr lang="en-US" altLang="en-US" b="1">
                <a:solidFill>
                  <a:srgbClr val="00B0F0"/>
                </a:solidFill>
              </a:rPr>
              <a:t>The dimensional formula of energy or work is [ML</a:t>
            </a:r>
            <a:r>
              <a:rPr lang="en-US" altLang="en-US" b="1" baseline="30000">
                <a:solidFill>
                  <a:srgbClr val="00B0F0"/>
                </a:solidFill>
              </a:rPr>
              <a:t>2</a:t>
            </a:r>
            <a:r>
              <a:rPr lang="en-US" altLang="en-US" b="1">
                <a:solidFill>
                  <a:srgbClr val="00B0F0"/>
                </a:solidFill>
              </a:rPr>
              <a:t>T</a:t>
            </a:r>
            <a:r>
              <a:rPr lang="en-US" altLang="en-US" b="1" baseline="30000">
                <a:solidFill>
                  <a:srgbClr val="00B0F0"/>
                </a:solidFill>
              </a:rPr>
              <a:t>-2</a:t>
            </a:r>
            <a:r>
              <a:rPr lang="en-US" altLang="en-US" b="1">
                <a:solidFill>
                  <a:srgbClr val="00B0F0"/>
                </a:solidFill>
              </a:rPr>
              <a:t>].</a:t>
            </a:r>
          </a:p>
          <a:p>
            <a:pPr eaLnBrk="1" fontAlgn="base" hangingPunct="1">
              <a:spcBef>
                <a:spcPct val="0"/>
              </a:spcBef>
              <a:spcAft>
                <a:spcPct val="0"/>
              </a:spcAft>
            </a:pPr>
            <a:r>
              <a:rPr lang="en-US" altLang="en-US" b="1">
                <a:solidFill>
                  <a:srgbClr val="CCFF66"/>
                </a:solidFill>
              </a:rPr>
              <a:t>The units from dimensions in SI and cgs systems are kg m</a:t>
            </a:r>
            <a:r>
              <a:rPr lang="en-US" altLang="en-US" b="1" baseline="30000">
                <a:solidFill>
                  <a:srgbClr val="CCFF66"/>
                </a:solidFill>
              </a:rPr>
              <a:t>2 </a:t>
            </a:r>
            <a:r>
              <a:rPr lang="en-US" altLang="en-US" b="1">
                <a:solidFill>
                  <a:srgbClr val="CCFF66"/>
                </a:solidFill>
              </a:rPr>
              <a:t>s</a:t>
            </a:r>
            <a:r>
              <a:rPr lang="en-US" altLang="en-US" b="1" baseline="30000">
                <a:solidFill>
                  <a:srgbClr val="CCFF66"/>
                </a:solidFill>
              </a:rPr>
              <a:t>-2</a:t>
            </a:r>
            <a:r>
              <a:rPr lang="en-US" altLang="en-US" b="1">
                <a:solidFill>
                  <a:srgbClr val="CCFF66"/>
                </a:solidFill>
              </a:rPr>
              <a:t> and g cm</a:t>
            </a:r>
            <a:r>
              <a:rPr lang="en-US" altLang="en-US" b="1" baseline="30000">
                <a:solidFill>
                  <a:srgbClr val="CCFF66"/>
                </a:solidFill>
              </a:rPr>
              <a:t>2 </a:t>
            </a:r>
            <a:r>
              <a:rPr lang="en-US" altLang="en-US" b="1">
                <a:solidFill>
                  <a:srgbClr val="CCFF66"/>
                </a:solidFill>
              </a:rPr>
              <a:t>s</a:t>
            </a:r>
            <a:r>
              <a:rPr lang="en-US" altLang="en-US" b="1" baseline="30000">
                <a:solidFill>
                  <a:srgbClr val="CCFF66"/>
                </a:solidFill>
              </a:rPr>
              <a:t>-2  </a:t>
            </a:r>
            <a:r>
              <a:rPr lang="en-US" altLang="en-US" b="1">
                <a:solidFill>
                  <a:srgbClr val="CCFF66"/>
                </a:solidFill>
              </a:rPr>
              <a:t>respectively.</a:t>
            </a:r>
          </a:p>
        </p:txBody>
      </p:sp>
      <p:graphicFrame>
        <p:nvGraphicFramePr>
          <p:cNvPr id="5" name="Table 4"/>
          <p:cNvGraphicFramePr>
            <a:graphicFrameLocks noGrp="1"/>
          </p:cNvGraphicFramePr>
          <p:nvPr/>
        </p:nvGraphicFramePr>
        <p:xfrm>
          <a:off x="3143250" y="2428875"/>
          <a:ext cx="6096000" cy="222409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65684">
                <a:tc>
                  <a:txBody>
                    <a:bodyPr/>
                    <a:lstStyle/>
                    <a:p>
                      <a:endParaRPr lang="en-IN" sz="1800" dirty="0"/>
                    </a:p>
                  </a:txBody>
                  <a:tcPr marT="45682" marB="45682"/>
                </a:tc>
                <a:tc>
                  <a:txBody>
                    <a:bodyPr/>
                    <a:lstStyle/>
                    <a:p>
                      <a:r>
                        <a:rPr lang="en-US" sz="1800" dirty="0" smtClean="0">
                          <a:solidFill>
                            <a:srgbClr val="7030A0"/>
                          </a:solidFill>
                        </a:rPr>
                        <a:t>SI System</a:t>
                      </a:r>
                      <a:endParaRPr lang="en-IN" sz="1800" dirty="0">
                        <a:solidFill>
                          <a:srgbClr val="7030A0"/>
                        </a:solidFill>
                      </a:endParaRPr>
                    </a:p>
                  </a:txBody>
                  <a:tcPr marT="45682" marB="45682"/>
                </a:tc>
                <a:tc>
                  <a:txBody>
                    <a:bodyPr/>
                    <a:lstStyle/>
                    <a:p>
                      <a:r>
                        <a:rPr lang="en-US" sz="1800" dirty="0" err="1" smtClean="0">
                          <a:solidFill>
                            <a:srgbClr val="7030A0"/>
                          </a:solidFill>
                        </a:rPr>
                        <a:t>cgs</a:t>
                      </a:r>
                      <a:r>
                        <a:rPr lang="en-US" sz="1800" dirty="0" smtClean="0">
                          <a:solidFill>
                            <a:srgbClr val="7030A0"/>
                          </a:solidFill>
                        </a:rPr>
                        <a:t> System</a:t>
                      </a:r>
                      <a:endParaRPr lang="en-IN" sz="1800" dirty="0">
                        <a:solidFill>
                          <a:srgbClr val="7030A0"/>
                        </a:solidFill>
                      </a:endParaRPr>
                    </a:p>
                  </a:txBody>
                  <a:tcPr marT="45682" marB="45682"/>
                </a:tc>
                <a:extLst>
                  <a:ext uri="{0D108BD9-81ED-4DB2-BD59-A6C34878D82A}">
                    <a16:rowId xmlns:a16="http://schemas.microsoft.com/office/drawing/2014/main" val="10000"/>
                  </a:ext>
                </a:extLst>
              </a:tr>
              <a:tr h="365684">
                <a:tc>
                  <a:txBody>
                    <a:bodyPr/>
                    <a:lstStyle/>
                    <a:p>
                      <a:r>
                        <a:rPr lang="en-US" sz="1800" b="1" dirty="0" smtClean="0">
                          <a:solidFill>
                            <a:srgbClr val="C00000"/>
                          </a:solidFill>
                        </a:rPr>
                        <a:t>Magnitude</a:t>
                      </a:r>
                      <a:endParaRPr lang="en-IN" sz="1800" b="1" dirty="0">
                        <a:solidFill>
                          <a:srgbClr val="C00000"/>
                        </a:solidFill>
                      </a:endParaRPr>
                    </a:p>
                  </a:txBody>
                  <a:tcPr marT="45682" marB="45682"/>
                </a:tc>
                <a:tc>
                  <a:txBody>
                    <a:bodyPr/>
                    <a:lstStyle/>
                    <a:p>
                      <a:r>
                        <a:rPr lang="en-US" sz="1800" b="1" dirty="0" smtClean="0">
                          <a:solidFill>
                            <a:srgbClr val="0000FF"/>
                          </a:solidFill>
                        </a:rPr>
                        <a:t>n</a:t>
                      </a:r>
                      <a:r>
                        <a:rPr lang="en-US" sz="1800" b="1" baseline="-25000" dirty="0" smtClean="0">
                          <a:solidFill>
                            <a:srgbClr val="0000FF"/>
                          </a:solidFill>
                        </a:rPr>
                        <a:t>1</a:t>
                      </a:r>
                      <a:r>
                        <a:rPr lang="en-US" sz="1800" b="1" baseline="0" dirty="0" smtClean="0">
                          <a:solidFill>
                            <a:srgbClr val="0000FF"/>
                          </a:solidFill>
                        </a:rPr>
                        <a:t> = 1</a:t>
                      </a:r>
                      <a:endParaRPr lang="en-IN" sz="1800" b="1" dirty="0">
                        <a:solidFill>
                          <a:srgbClr val="0000FF"/>
                        </a:solidFill>
                      </a:endParaRPr>
                    </a:p>
                  </a:txBody>
                  <a:tcPr marT="45682" marB="45682"/>
                </a:tc>
                <a:tc>
                  <a:txBody>
                    <a:bodyPr/>
                    <a:lstStyle/>
                    <a:p>
                      <a:r>
                        <a:rPr lang="en-US" sz="1800" b="1" dirty="0" smtClean="0">
                          <a:solidFill>
                            <a:srgbClr val="0000FF"/>
                          </a:solidFill>
                        </a:rPr>
                        <a:t>n</a:t>
                      </a:r>
                      <a:r>
                        <a:rPr lang="en-US" sz="1800" b="1" baseline="-25000" dirty="0" smtClean="0">
                          <a:solidFill>
                            <a:srgbClr val="0000FF"/>
                          </a:solidFill>
                        </a:rPr>
                        <a:t>2</a:t>
                      </a:r>
                      <a:r>
                        <a:rPr lang="en-US" sz="1800" b="1" dirty="0" smtClean="0">
                          <a:solidFill>
                            <a:srgbClr val="0000FF"/>
                          </a:solidFill>
                        </a:rPr>
                        <a:t> = ?</a:t>
                      </a:r>
                      <a:endParaRPr lang="en-IN" sz="1800" b="1" dirty="0">
                        <a:solidFill>
                          <a:srgbClr val="0000FF"/>
                        </a:solidFill>
                      </a:endParaRPr>
                    </a:p>
                  </a:txBody>
                  <a:tcPr marT="45682" marB="45682"/>
                </a:tc>
                <a:extLst>
                  <a:ext uri="{0D108BD9-81ED-4DB2-BD59-A6C34878D82A}">
                    <a16:rowId xmlns:a16="http://schemas.microsoft.com/office/drawing/2014/main" val="10001"/>
                  </a:ext>
                </a:extLst>
              </a:tr>
              <a:tr h="365684">
                <a:tc>
                  <a:txBody>
                    <a:bodyPr/>
                    <a:lstStyle/>
                    <a:p>
                      <a:r>
                        <a:rPr lang="en-US" sz="1800" b="1" dirty="0" smtClean="0">
                          <a:solidFill>
                            <a:srgbClr val="0000FF"/>
                          </a:solidFill>
                        </a:rPr>
                        <a:t>Mass (M)</a:t>
                      </a:r>
                      <a:endParaRPr lang="en-IN" sz="1800" b="1" dirty="0">
                        <a:solidFill>
                          <a:srgbClr val="0000FF"/>
                        </a:solidFill>
                      </a:endParaRPr>
                    </a:p>
                  </a:txBody>
                  <a:tcPr marT="45682" marB="45682"/>
                </a:tc>
                <a:tc>
                  <a:txBody>
                    <a:bodyPr/>
                    <a:lstStyle/>
                    <a:p>
                      <a:r>
                        <a:rPr lang="en-US" sz="1800" b="1" dirty="0" smtClean="0">
                          <a:solidFill>
                            <a:srgbClr val="0000FF"/>
                          </a:solidFill>
                        </a:rPr>
                        <a:t>1 kg (=1000 g)</a:t>
                      </a:r>
                      <a:endParaRPr lang="en-IN" sz="1800" b="1" dirty="0">
                        <a:solidFill>
                          <a:srgbClr val="0000FF"/>
                        </a:solidFill>
                      </a:endParaRPr>
                    </a:p>
                  </a:txBody>
                  <a:tcPr marT="45682" marB="45682"/>
                </a:tc>
                <a:tc>
                  <a:txBody>
                    <a:bodyPr/>
                    <a:lstStyle/>
                    <a:p>
                      <a:r>
                        <a:rPr lang="en-US" sz="1800" b="1" dirty="0" smtClean="0">
                          <a:solidFill>
                            <a:srgbClr val="0000FF"/>
                          </a:solidFill>
                        </a:rPr>
                        <a:t>1 g</a:t>
                      </a:r>
                    </a:p>
                  </a:txBody>
                  <a:tcPr marT="45682" marB="45682"/>
                </a:tc>
                <a:extLst>
                  <a:ext uri="{0D108BD9-81ED-4DB2-BD59-A6C34878D82A}">
                    <a16:rowId xmlns:a16="http://schemas.microsoft.com/office/drawing/2014/main" val="10002"/>
                  </a:ext>
                </a:extLst>
              </a:tr>
              <a:tr h="365684">
                <a:tc>
                  <a:txBody>
                    <a:bodyPr/>
                    <a:lstStyle/>
                    <a:p>
                      <a:r>
                        <a:rPr lang="en-US" sz="1800" b="1" dirty="0" smtClean="0">
                          <a:solidFill>
                            <a:srgbClr val="0000FF"/>
                          </a:solidFill>
                        </a:rPr>
                        <a:t>Length (L)</a:t>
                      </a:r>
                      <a:endParaRPr lang="en-IN" sz="1800" b="1" dirty="0">
                        <a:solidFill>
                          <a:srgbClr val="0000FF"/>
                        </a:solidFill>
                      </a:endParaRPr>
                    </a:p>
                  </a:txBody>
                  <a:tcPr marT="45682" marB="45682"/>
                </a:tc>
                <a:tc>
                  <a:txBody>
                    <a:bodyPr/>
                    <a:lstStyle/>
                    <a:p>
                      <a:r>
                        <a:rPr lang="en-US" sz="1800" b="1" dirty="0" smtClean="0">
                          <a:solidFill>
                            <a:srgbClr val="0000FF"/>
                          </a:solidFill>
                        </a:rPr>
                        <a:t>1 m (= 100 cm)</a:t>
                      </a:r>
                      <a:endParaRPr lang="en-IN" sz="1800" b="1" dirty="0">
                        <a:solidFill>
                          <a:srgbClr val="0000FF"/>
                        </a:solidFill>
                      </a:endParaRPr>
                    </a:p>
                  </a:txBody>
                  <a:tcPr marT="45682" marB="45682"/>
                </a:tc>
                <a:tc>
                  <a:txBody>
                    <a:bodyPr/>
                    <a:lstStyle/>
                    <a:p>
                      <a:r>
                        <a:rPr lang="en-US" sz="1800" b="1" dirty="0" smtClean="0">
                          <a:solidFill>
                            <a:srgbClr val="0000FF"/>
                          </a:solidFill>
                        </a:rPr>
                        <a:t>1</a:t>
                      </a:r>
                      <a:r>
                        <a:rPr lang="en-US" sz="1800" b="1" baseline="0" dirty="0" smtClean="0">
                          <a:solidFill>
                            <a:srgbClr val="0000FF"/>
                          </a:solidFill>
                        </a:rPr>
                        <a:t> </a:t>
                      </a:r>
                      <a:r>
                        <a:rPr lang="en-US" sz="1800" b="1" dirty="0" smtClean="0">
                          <a:solidFill>
                            <a:srgbClr val="0000FF"/>
                          </a:solidFill>
                        </a:rPr>
                        <a:t>cm</a:t>
                      </a:r>
                      <a:endParaRPr lang="en-IN" sz="1800" b="1" dirty="0">
                        <a:solidFill>
                          <a:srgbClr val="0000FF"/>
                        </a:solidFill>
                      </a:endParaRPr>
                    </a:p>
                  </a:txBody>
                  <a:tcPr marT="45682" marB="45682"/>
                </a:tc>
                <a:extLst>
                  <a:ext uri="{0D108BD9-81ED-4DB2-BD59-A6C34878D82A}">
                    <a16:rowId xmlns:a16="http://schemas.microsoft.com/office/drawing/2014/main" val="10003"/>
                  </a:ext>
                </a:extLst>
              </a:tr>
              <a:tr h="365684">
                <a:tc>
                  <a:txBody>
                    <a:bodyPr/>
                    <a:lstStyle/>
                    <a:p>
                      <a:r>
                        <a:rPr lang="en-US" sz="1800" b="1" dirty="0" smtClean="0">
                          <a:solidFill>
                            <a:srgbClr val="0000FF"/>
                          </a:solidFill>
                        </a:rPr>
                        <a:t>Time (T)</a:t>
                      </a:r>
                      <a:endParaRPr lang="en-IN" sz="1800" b="1" dirty="0">
                        <a:solidFill>
                          <a:srgbClr val="0000FF"/>
                        </a:solidFill>
                      </a:endParaRPr>
                    </a:p>
                  </a:txBody>
                  <a:tcPr marT="45682" marB="45682"/>
                </a:tc>
                <a:tc>
                  <a:txBody>
                    <a:bodyPr/>
                    <a:lstStyle/>
                    <a:p>
                      <a:r>
                        <a:rPr lang="en-US" sz="1800" b="1" dirty="0" smtClean="0">
                          <a:solidFill>
                            <a:srgbClr val="0000FF"/>
                          </a:solidFill>
                        </a:rPr>
                        <a:t>1 s</a:t>
                      </a:r>
                      <a:endParaRPr lang="en-IN" sz="1800" b="1" dirty="0">
                        <a:solidFill>
                          <a:srgbClr val="0000FF"/>
                        </a:solidFill>
                      </a:endParaRPr>
                    </a:p>
                  </a:txBody>
                  <a:tcPr marT="45682" marB="45682"/>
                </a:tc>
                <a:tc>
                  <a:txBody>
                    <a:bodyPr/>
                    <a:lstStyle/>
                    <a:p>
                      <a:r>
                        <a:rPr lang="en-US" sz="1800" b="1" dirty="0" smtClean="0">
                          <a:solidFill>
                            <a:srgbClr val="0000FF"/>
                          </a:solidFill>
                        </a:rPr>
                        <a:t>1 s</a:t>
                      </a:r>
                    </a:p>
                  </a:txBody>
                  <a:tcPr marT="45682" marB="45682"/>
                </a:tc>
                <a:extLst>
                  <a:ext uri="{0D108BD9-81ED-4DB2-BD59-A6C34878D82A}">
                    <a16:rowId xmlns:a16="http://schemas.microsoft.com/office/drawing/2014/main" val="10004"/>
                  </a:ext>
                </a:extLst>
              </a:tr>
              <a:tr h="395670">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solidFill>
                            <a:srgbClr val="FF0000"/>
                          </a:solidFill>
                        </a:rPr>
                        <a:t>[</a:t>
                      </a:r>
                      <a:r>
                        <a:rPr lang="en-US" sz="1800" b="1" dirty="0" err="1" smtClean="0">
                          <a:solidFill>
                            <a:srgbClr val="FF0000"/>
                          </a:solidFill>
                        </a:rPr>
                        <a:t>M</a:t>
                      </a:r>
                      <a:r>
                        <a:rPr lang="en-US" sz="1800" b="1" baseline="30000" dirty="0" err="1" smtClean="0">
                          <a:solidFill>
                            <a:srgbClr val="FF0000"/>
                          </a:solidFill>
                        </a:rPr>
                        <a:t>a</a:t>
                      </a:r>
                      <a:r>
                        <a:rPr lang="en-US" sz="1800" b="1" dirty="0" err="1" smtClean="0">
                          <a:solidFill>
                            <a:srgbClr val="FF0000"/>
                          </a:solidFill>
                        </a:rPr>
                        <a:t>L</a:t>
                      </a:r>
                      <a:r>
                        <a:rPr lang="en-US" sz="1800" b="1" baseline="30000" dirty="0" err="1" smtClean="0">
                          <a:solidFill>
                            <a:srgbClr val="FF0000"/>
                          </a:solidFill>
                        </a:rPr>
                        <a:t>b</a:t>
                      </a:r>
                      <a:r>
                        <a:rPr lang="en-US" sz="1800" b="1" dirty="0" err="1" smtClean="0">
                          <a:solidFill>
                            <a:srgbClr val="FF0000"/>
                          </a:solidFill>
                        </a:rPr>
                        <a:t>T</a:t>
                      </a:r>
                      <a:r>
                        <a:rPr lang="en-US" sz="1800" b="1" baseline="30000" dirty="0" err="1" smtClean="0">
                          <a:solidFill>
                            <a:srgbClr val="FF0000"/>
                          </a:solidFill>
                        </a:rPr>
                        <a:t>c</a:t>
                      </a:r>
                      <a:r>
                        <a:rPr lang="en-US" sz="1800" b="1" dirty="0" smtClean="0">
                          <a:solidFill>
                            <a:srgbClr val="FF0000"/>
                          </a:solidFill>
                        </a:rPr>
                        <a:t>] = [ML</a:t>
                      </a:r>
                      <a:r>
                        <a:rPr lang="en-US" sz="1800" b="1" baseline="30000" dirty="0" smtClean="0">
                          <a:solidFill>
                            <a:srgbClr val="FF0000"/>
                          </a:solidFill>
                        </a:rPr>
                        <a:t>2</a:t>
                      </a:r>
                      <a:r>
                        <a:rPr lang="en-US" sz="1800" b="1" dirty="0" smtClean="0">
                          <a:solidFill>
                            <a:srgbClr val="FF0000"/>
                          </a:solidFill>
                        </a:rPr>
                        <a:t>T</a:t>
                      </a:r>
                      <a:r>
                        <a:rPr lang="en-US" sz="1800" b="1" baseline="30000" dirty="0" smtClean="0">
                          <a:solidFill>
                            <a:srgbClr val="FF0000"/>
                          </a:solidFill>
                        </a:rPr>
                        <a:t>-2</a:t>
                      </a:r>
                      <a:r>
                        <a:rPr lang="en-US" sz="1800" b="1" dirty="0" smtClean="0">
                          <a:solidFill>
                            <a:srgbClr val="FF0000"/>
                          </a:solidFill>
                        </a:rPr>
                        <a:t>]    Therefore, </a:t>
                      </a:r>
                      <a:r>
                        <a:rPr lang="en-US" sz="1800" b="1" baseline="0" dirty="0" smtClean="0">
                          <a:solidFill>
                            <a:srgbClr val="FF0000"/>
                          </a:solidFill>
                        </a:rPr>
                        <a:t> a=1, b=2, c=-2</a:t>
                      </a:r>
                      <a:r>
                        <a:rPr lang="en-US" sz="1800" b="1" dirty="0" smtClean="0">
                          <a:solidFill>
                            <a:srgbClr val="FF0000"/>
                          </a:solidFill>
                        </a:rPr>
                        <a:t> </a:t>
                      </a:r>
                      <a:endParaRPr lang="en-IN" sz="1800" dirty="0"/>
                    </a:p>
                  </a:txBody>
                  <a:tcPr marT="45682" marB="45682"/>
                </a:tc>
                <a:tc hMerge="1">
                  <a:txBody>
                    <a:bodyPr/>
                    <a:lstStyle/>
                    <a:p>
                      <a:endParaRPr lang="en-IN" dirty="0"/>
                    </a:p>
                  </a:txBody>
                  <a:tcPr/>
                </a:tc>
                <a:tc hMerge="1">
                  <a:txBody>
                    <a:bodyPr/>
                    <a:lstStyle/>
                    <a:p>
                      <a:endParaRPr lang="en-US" dirty="0" smtClean="0"/>
                    </a:p>
                  </a:txBody>
                  <a:tcPr/>
                </a:tc>
                <a:extLst>
                  <a:ext uri="{0D108BD9-81ED-4DB2-BD59-A6C34878D82A}">
                    <a16:rowId xmlns:a16="http://schemas.microsoft.com/office/drawing/2014/main" val="10005"/>
                  </a:ext>
                </a:extLst>
              </a:tr>
            </a:tbl>
          </a:graphicData>
        </a:graphic>
      </p:graphicFrame>
      <p:grpSp>
        <p:nvGrpSpPr>
          <p:cNvPr id="60450" name="Group 53"/>
          <p:cNvGrpSpPr>
            <a:grpSpLocks/>
          </p:cNvGrpSpPr>
          <p:nvPr/>
        </p:nvGrpSpPr>
        <p:grpSpPr bwMode="auto">
          <a:xfrm>
            <a:off x="1633539" y="4778375"/>
            <a:ext cx="3648075" cy="954088"/>
            <a:chOff x="3347864" y="5719326"/>
            <a:chExt cx="3647381" cy="954202"/>
          </a:xfrm>
        </p:grpSpPr>
        <p:grpSp>
          <p:nvGrpSpPr>
            <p:cNvPr id="60479" name="Group 54"/>
            <p:cNvGrpSpPr>
              <a:grpSpLocks/>
            </p:cNvGrpSpPr>
            <p:nvPr/>
          </p:nvGrpSpPr>
          <p:grpSpPr bwMode="auto">
            <a:xfrm>
              <a:off x="4355976" y="5719326"/>
              <a:ext cx="2639269" cy="954202"/>
              <a:chOff x="1187624" y="4276508"/>
              <a:chExt cx="2639269" cy="954202"/>
            </a:xfrm>
          </p:grpSpPr>
          <p:grpSp>
            <p:nvGrpSpPr>
              <p:cNvPr id="60481" name="Group 56"/>
              <p:cNvGrpSpPr>
                <a:grpSpLocks/>
              </p:cNvGrpSpPr>
              <p:nvPr/>
            </p:nvGrpSpPr>
            <p:grpSpPr bwMode="auto">
              <a:xfrm>
                <a:off x="1187624" y="4475308"/>
                <a:ext cx="635794" cy="755402"/>
                <a:chOff x="1247776" y="4475308"/>
                <a:chExt cx="635794" cy="755402"/>
              </a:xfrm>
            </p:grpSpPr>
            <p:grpSp>
              <p:nvGrpSpPr>
                <p:cNvPr id="60495" name="Group 70"/>
                <p:cNvGrpSpPr>
                  <a:grpSpLocks/>
                </p:cNvGrpSpPr>
                <p:nvPr/>
              </p:nvGrpSpPr>
              <p:grpSpPr bwMode="auto">
                <a:xfrm>
                  <a:off x="1331640" y="4475308"/>
                  <a:ext cx="539483" cy="720170"/>
                  <a:chOff x="3186403" y="4581525"/>
                  <a:chExt cx="539483" cy="720170"/>
                </a:xfrm>
              </p:grpSpPr>
              <p:sp>
                <p:nvSpPr>
                  <p:cNvPr id="60497" name="Rectangle 7"/>
                  <p:cNvSpPr>
                    <a:spLocks noChangeArrowheads="1"/>
                  </p:cNvSpPr>
                  <p:nvPr/>
                </p:nvSpPr>
                <p:spPr bwMode="auto">
                  <a:xfrm>
                    <a:off x="3258870" y="4581525"/>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M</a:t>
                    </a:r>
                    <a:r>
                      <a:rPr lang="en-US" altLang="en-US" b="1" baseline="-25000">
                        <a:solidFill>
                          <a:srgbClr val="FF99FF"/>
                        </a:solidFill>
                      </a:rPr>
                      <a:t>1</a:t>
                    </a:r>
                  </a:p>
                </p:txBody>
              </p:sp>
              <p:sp>
                <p:nvSpPr>
                  <p:cNvPr id="60498" name="Rectangle 8"/>
                  <p:cNvSpPr>
                    <a:spLocks noChangeArrowheads="1"/>
                  </p:cNvSpPr>
                  <p:nvPr/>
                </p:nvSpPr>
                <p:spPr bwMode="auto">
                  <a:xfrm>
                    <a:off x="3263900" y="4932363"/>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M</a:t>
                    </a:r>
                    <a:r>
                      <a:rPr lang="en-US" altLang="en-US" b="1" baseline="-25000">
                        <a:solidFill>
                          <a:srgbClr val="FF99FF"/>
                        </a:solidFill>
                      </a:rPr>
                      <a:t>2</a:t>
                    </a:r>
                  </a:p>
                </p:txBody>
              </p:sp>
              <p:cxnSp>
                <p:nvCxnSpPr>
                  <p:cNvPr id="75" name="Straight Connector 74"/>
                  <p:cNvCxnSpPr/>
                  <p:nvPr/>
                </p:nvCxnSpPr>
                <p:spPr>
                  <a:xfrm>
                    <a:off x="3186419" y="4949531"/>
                    <a:ext cx="493618"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72" name="Double Bracket 71"/>
                <p:cNvSpPr/>
                <p:nvPr/>
              </p:nvSpPr>
              <p:spPr>
                <a:xfrm>
                  <a:off x="1247534" y="4481321"/>
                  <a:ext cx="636467" cy="749389"/>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nvGrpSpPr>
              <p:cNvPr id="60482" name="Group 57"/>
              <p:cNvGrpSpPr>
                <a:grpSpLocks/>
              </p:cNvGrpSpPr>
              <p:nvPr/>
            </p:nvGrpSpPr>
            <p:grpSpPr bwMode="auto">
              <a:xfrm>
                <a:off x="2944682" y="4467555"/>
                <a:ext cx="635794" cy="749300"/>
                <a:chOff x="2814521" y="4467555"/>
                <a:chExt cx="635794" cy="749300"/>
              </a:xfrm>
            </p:grpSpPr>
            <p:grpSp>
              <p:nvGrpSpPr>
                <p:cNvPr id="60490" name="Group 65"/>
                <p:cNvGrpSpPr>
                  <a:grpSpLocks/>
                </p:cNvGrpSpPr>
                <p:nvPr/>
              </p:nvGrpSpPr>
              <p:grpSpPr bwMode="auto">
                <a:xfrm>
                  <a:off x="2880389" y="4478677"/>
                  <a:ext cx="493712" cy="720170"/>
                  <a:chOff x="3186403" y="4581525"/>
                  <a:chExt cx="493712" cy="720170"/>
                </a:xfrm>
              </p:grpSpPr>
              <p:sp>
                <p:nvSpPr>
                  <p:cNvPr id="60492" name="Rectangle 7"/>
                  <p:cNvSpPr>
                    <a:spLocks noChangeArrowheads="1"/>
                  </p:cNvSpPr>
                  <p:nvPr/>
                </p:nvSpPr>
                <p:spPr bwMode="auto">
                  <a:xfrm>
                    <a:off x="3258870" y="4581525"/>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T</a:t>
                    </a:r>
                    <a:r>
                      <a:rPr lang="en-US" altLang="en-US" b="1" baseline="-25000">
                        <a:solidFill>
                          <a:srgbClr val="FF99FF"/>
                        </a:solidFill>
                      </a:rPr>
                      <a:t>1</a:t>
                    </a:r>
                  </a:p>
                </p:txBody>
              </p:sp>
              <p:sp>
                <p:nvSpPr>
                  <p:cNvPr id="60493" name="Rectangle 8"/>
                  <p:cNvSpPr>
                    <a:spLocks noChangeArrowheads="1"/>
                  </p:cNvSpPr>
                  <p:nvPr/>
                </p:nvSpPr>
                <p:spPr bwMode="auto">
                  <a:xfrm>
                    <a:off x="3263900" y="493236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T</a:t>
                    </a:r>
                    <a:r>
                      <a:rPr lang="en-US" altLang="en-US" b="1" baseline="-25000">
                        <a:solidFill>
                          <a:srgbClr val="FF99FF"/>
                        </a:solidFill>
                      </a:rPr>
                      <a:t>2</a:t>
                    </a:r>
                  </a:p>
                </p:txBody>
              </p:sp>
              <p:cxnSp>
                <p:nvCxnSpPr>
                  <p:cNvPr id="70" name="Straight Connector 69"/>
                  <p:cNvCxnSpPr/>
                  <p:nvPr/>
                </p:nvCxnSpPr>
                <p:spPr>
                  <a:xfrm>
                    <a:off x="3186926" y="4949337"/>
                    <a:ext cx="493618"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7" name="Double Bracket 66"/>
                <p:cNvSpPr/>
                <p:nvPr/>
              </p:nvSpPr>
              <p:spPr>
                <a:xfrm>
                  <a:off x="2814250" y="4467031"/>
                  <a:ext cx="636466"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nvGrpSpPr>
              <p:cNvPr id="60483" name="Group 58"/>
              <p:cNvGrpSpPr>
                <a:grpSpLocks/>
              </p:cNvGrpSpPr>
              <p:nvPr/>
            </p:nvGrpSpPr>
            <p:grpSpPr bwMode="auto">
              <a:xfrm>
                <a:off x="2050143" y="4467555"/>
                <a:ext cx="635794" cy="749300"/>
                <a:chOff x="2021277" y="4467555"/>
                <a:chExt cx="635794" cy="749300"/>
              </a:xfrm>
            </p:grpSpPr>
            <p:grpSp>
              <p:nvGrpSpPr>
                <p:cNvPr id="60485" name="Group 60"/>
                <p:cNvGrpSpPr>
                  <a:grpSpLocks/>
                </p:cNvGrpSpPr>
                <p:nvPr/>
              </p:nvGrpSpPr>
              <p:grpSpPr bwMode="auto">
                <a:xfrm>
                  <a:off x="2088301" y="4481410"/>
                  <a:ext cx="493712" cy="720170"/>
                  <a:chOff x="3186403" y="4581525"/>
                  <a:chExt cx="493712" cy="720170"/>
                </a:xfrm>
              </p:grpSpPr>
              <p:sp>
                <p:nvSpPr>
                  <p:cNvPr id="60487" name="Rectangle 7"/>
                  <p:cNvSpPr>
                    <a:spLocks noChangeArrowheads="1"/>
                  </p:cNvSpPr>
                  <p:nvPr/>
                </p:nvSpPr>
                <p:spPr bwMode="auto">
                  <a:xfrm>
                    <a:off x="3258870" y="4581525"/>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L</a:t>
                    </a:r>
                    <a:r>
                      <a:rPr lang="en-US" altLang="en-US" b="1" baseline="-25000">
                        <a:solidFill>
                          <a:srgbClr val="FF99FF"/>
                        </a:solidFill>
                      </a:rPr>
                      <a:t>1</a:t>
                    </a:r>
                  </a:p>
                </p:txBody>
              </p:sp>
              <p:sp>
                <p:nvSpPr>
                  <p:cNvPr id="60488" name="Rectangle 8"/>
                  <p:cNvSpPr>
                    <a:spLocks noChangeArrowheads="1"/>
                  </p:cNvSpPr>
                  <p:nvPr/>
                </p:nvSpPr>
                <p:spPr bwMode="auto">
                  <a:xfrm>
                    <a:off x="3263900" y="493236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L</a:t>
                    </a:r>
                    <a:r>
                      <a:rPr lang="en-US" altLang="en-US" b="1" baseline="-25000">
                        <a:solidFill>
                          <a:srgbClr val="FF99FF"/>
                        </a:solidFill>
                      </a:rPr>
                      <a:t>2</a:t>
                    </a:r>
                  </a:p>
                </p:txBody>
              </p:sp>
              <p:cxnSp>
                <p:nvCxnSpPr>
                  <p:cNvPr id="65" name="Straight Connector 64"/>
                  <p:cNvCxnSpPr/>
                  <p:nvPr/>
                </p:nvCxnSpPr>
                <p:spPr>
                  <a:xfrm>
                    <a:off x="3153385" y="4949780"/>
                    <a:ext cx="526950"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2" name="Double Bracket 61"/>
                <p:cNvSpPr/>
                <p:nvPr/>
              </p:nvSpPr>
              <p:spPr>
                <a:xfrm>
                  <a:off x="1988621" y="4467031"/>
                  <a:ext cx="668210"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sp>
            <p:nvSpPr>
              <p:cNvPr id="60484" name="Rectangle 2"/>
              <p:cNvSpPr>
                <a:spLocks noChangeArrowheads="1"/>
              </p:cNvSpPr>
              <p:nvPr/>
            </p:nvSpPr>
            <p:spPr bwMode="auto">
              <a:xfrm>
                <a:off x="1769920" y="4276508"/>
                <a:ext cx="2056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a            b           c</a:t>
                </a:r>
                <a:endParaRPr lang="en-IN" altLang="en-US">
                  <a:solidFill>
                    <a:srgbClr val="FF99FF"/>
                  </a:solidFill>
                </a:endParaRPr>
              </a:p>
            </p:txBody>
          </p:sp>
        </p:grpSp>
        <p:sp>
          <p:nvSpPr>
            <p:cNvPr id="60480" name="Rectangle 55"/>
            <p:cNvSpPr>
              <a:spLocks noChangeArrowheads="1"/>
            </p:cNvSpPr>
            <p:nvPr/>
          </p:nvSpPr>
          <p:spPr bwMode="auto">
            <a:xfrm>
              <a:off x="3347864" y="6111265"/>
              <a:ext cx="1152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99FF"/>
                  </a:solidFill>
                </a:rPr>
                <a:t> n</a:t>
              </a:r>
              <a:r>
                <a:rPr lang="en-US" altLang="en-US" sz="2000" b="1" baseline="-25000">
                  <a:solidFill>
                    <a:srgbClr val="FF99FF"/>
                  </a:solidFill>
                </a:rPr>
                <a:t>2</a:t>
              </a:r>
              <a:r>
                <a:rPr lang="en-US" altLang="en-US" sz="2000" b="1">
                  <a:solidFill>
                    <a:srgbClr val="FF99FF"/>
                  </a:solidFill>
                </a:rPr>
                <a:t> = n</a:t>
              </a:r>
              <a:r>
                <a:rPr lang="en-US" altLang="en-US" sz="2000" b="1" baseline="-25000">
                  <a:solidFill>
                    <a:srgbClr val="FF99FF"/>
                  </a:solidFill>
                </a:rPr>
                <a:t>1    </a:t>
              </a:r>
              <a:endParaRPr lang="en-US" altLang="en-US" sz="2000" b="1">
                <a:solidFill>
                  <a:srgbClr val="FF99FF"/>
                </a:solidFill>
              </a:endParaRPr>
            </a:p>
          </p:txBody>
        </p:sp>
      </p:grpSp>
      <p:grpSp>
        <p:nvGrpSpPr>
          <p:cNvPr id="60451" name="Group 89"/>
          <p:cNvGrpSpPr>
            <a:grpSpLocks/>
          </p:cNvGrpSpPr>
          <p:nvPr/>
        </p:nvGrpSpPr>
        <p:grpSpPr bwMode="auto">
          <a:xfrm>
            <a:off x="1631951" y="5773738"/>
            <a:ext cx="4938713" cy="895350"/>
            <a:chOff x="420563" y="5579948"/>
            <a:chExt cx="4938896" cy="894855"/>
          </a:xfrm>
        </p:grpSpPr>
        <p:grpSp>
          <p:nvGrpSpPr>
            <p:cNvPr id="60462" name="Group 78"/>
            <p:cNvGrpSpPr>
              <a:grpSpLocks/>
            </p:cNvGrpSpPr>
            <p:nvPr/>
          </p:nvGrpSpPr>
          <p:grpSpPr bwMode="auto">
            <a:xfrm>
              <a:off x="1428674" y="5716032"/>
              <a:ext cx="949793" cy="755402"/>
              <a:chOff x="1428674" y="5716032"/>
              <a:chExt cx="949793" cy="755402"/>
            </a:xfrm>
          </p:grpSpPr>
          <p:sp>
            <p:nvSpPr>
              <p:cNvPr id="60475" name="Rectangle 7"/>
              <p:cNvSpPr>
                <a:spLocks noChangeArrowheads="1"/>
              </p:cNvSpPr>
              <p:nvPr/>
            </p:nvSpPr>
            <p:spPr bwMode="auto">
              <a:xfrm>
                <a:off x="1475656" y="5716032"/>
                <a:ext cx="9028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1000 g</a:t>
                </a:r>
                <a:endParaRPr lang="en-US" altLang="en-US" b="1" baseline="-25000">
                  <a:solidFill>
                    <a:srgbClr val="FF99FF"/>
                  </a:solidFill>
                </a:endParaRPr>
              </a:p>
            </p:txBody>
          </p:sp>
          <p:sp>
            <p:nvSpPr>
              <p:cNvPr id="60476" name="Rectangle 8"/>
              <p:cNvSpPr>
                <a:spLocks noChangeArrowheads="1"/>
              </p:cNvSpPr>
              <p:nvPr/>
            </p:nvSpPr>
            <p:spPr bwMode="auto">
              <a:xfrm>
                <a:off x="1640303" y="6066870"/>
                <a:ext cx="5180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g</a:t>
                </a:r>
                <a:endParaRPr lang="en-US" altLang="en-US" b="1" baseline="-25000">
                  <a:solidFill>
                    <a:srgbClr val="FF99FF"/>
                  </a:solidFill>
                </a:endParaRPr>
              </a:p>
            </p:txBody>
          </p:sp>
          <p:cxnSp>
            <p:nvCxnSpPr>
              <p:cNvPr id="53" name="Straight Connector 52"/>
              <p:cNvCxnSpPr/>
              <p:nvPr/>
            </p:nvCxnSpPr>
            <p:spPr>
              <a:xfrm flipV="1">
                <a:off x="1565193" y="6082907"/>
                <a:ext cx="708051" cy="15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0" name="Double Bracket 49"/>
              <p:cNvSpPr/>
              <p:nvPr/>
            </p:nvSpPr>
            <p:spPr>
              <a:xfrm>
                <a:off x="1428663" y="5722744"/>
                <a:ext cx="949360" cy="748886"/>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sp>
          <p:nvSpPr>
            <p:cNvPr id="60463" name="Rectangle 2"/>
            <p:cNvSpPr>
              <a:spLocks noChangeArrowheads="1"/>
            </p:cNvSpPr>
            <p:nvPr/>
          </p:nvSpPr>
          <p:spPr bwMode="auto">
            <a:xfrm>
              <a:off x="2340684" y="5579948"/>
              <a:ext cx="30187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2                  -2</a:t>
              </a:r>
              <a:endParaRPr lang="en-IN" altLang="en-US">
                <a:solidFill>
                  <a:srgbClr val="FF99FF"/>
                </a:solidFill>
              </a:endParaRPr>
            </a:p>
          </p:txBody>
        </p:sp>
        <p:sp>
          <p:nvSpPr>
            <p:cNvPr id="60464" name="Rectangle 33"/>
            <p:cNvSpPr>
              <a:spLocks noChangeArrowheads="1"/>
            </p:cNvSpPr>
            <p:nvPr/>
          </p:nvSpPr>
          <p:spPr bwMode="auto">
            <a:xfrm>
              <a:off x="420563" y="5909171"/>
              <a:ext cx="1152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99FF"/>
                  </a:solidFill>
                </a:rPr>
                <a:t> n</a:t>
              </a:r>
              <a:r>
                <a:rPr lang="en-US" altLang="en-US" sz="2000" b="1" baseline="-25000">
                  <a:solidFill>
                    <a:srgbClr val="FF99FF"/>
                  </a:solidFill>
                </a:rPr>
                <a:t>2</a:t>
              </a:r>
              <a:r>
                <a:rPr lang="en-US" altLang="en-US" sz="2000" b="1">
                  <a:solidFill>
                    <a:srgbClr val="FF99FF"/>
                  </a:solidFill>
                </a:rPr>
                <a:t> = 1</a:t>
              </a:r>
              <a:r>
                <a:rPr lang="en-US" altLang="en-US" sz="2000" b="1" baseline="-25000">
                  <a:solidFill>
                    <a:srgbClr val="FF99FF"/>
                  </a:solidFill>
                </a:rPr>
                <a:t>    </a:t>
              </a:r>
              <a:endParaRPr lang="en-US" altLang="en-US" sz="2000" b="1">
                <a:solidFill>
                  <a:srgbClr val="FF99FF"/>
                </a:solidFill>
              </a:endParaRPr>
            </a:p>
          </p:txBody>
        </p:sp>
        <p:grpSp>
          <p:nvGrpSpPr>
            <p:cNvPr id="60465" name="Group 79"/>
            <p:cNvGrpSpPr>
              <a:grpSpLocks/>
            </p:cNvGrpSpPr>
            <p:nvPr/>
          </p:nvGrpSpPr>
          <p:grpSpPr bwMode="auto">
            <a:xfrm>
              <a:off x="2693991" y="5719401"/>
              <a:ext cx="1013913" cy="755402"/>
              <a:chOff x="1428674" y="5716032"/>
              <a:chExt cx="1013913" cy="755402"/>
            </a:xfrm>
          </p:grpSpPr>
          <p:sp>
            <p:nvSpPr>
              <p:cNvPr id="60471" name="Rectangle 7"/>
              <p:cNvSpPr>
                <a:spLocks noChangeArrowheads="1"/>
              </p:cNvSpPr>
              <p:nvPr/>
            </p:nvSpPr>
            <p:spPr bwMode="auto">
              <a:xfrm>
                <a:off x="1475656" y="5716032"/>
                <a:ext cx="966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100 cm</a:t>
                </a:r>
                <a:endParaRPr lang="en-US" altLang="en-US" b="1" baseline="-25000">
                  <a:solidFill>
                    <a:srgbClr val="FF99FF"/>
                  </a:solidFill>
                </a:endParaRPr>
              </a:p>
            </p:txBody>
          </p:sp>
          <p:sp>
            <p:nvSpPr>
              <p:cNvPr id="60472" name="Rectangle 8"/>
              <p:cNvSpPr>
                <a:spLocks noChangeArrowheads="1"/>
              </p:cNvSpPr>
              <p:nvPr/>
            </p:nvSpPr>
            <p:spPr bwMode="auto">
              <a:xfrm>
                <a:off x="1640303" y="606687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cm</a:t>
                </a:r>
                <a:endParaRPr lang="en-US" altLang="en-US" b="1" baseline="-25000">
                  <a:solidFill>
                    <a:srgbClr val="FF99FF"/>
                  </a:solidFill>
                </a:endParaRPr>
              </a:p>
            </p:txBody>
          </p:sp>
          <p:cxnSp>
            <p:nvCxnSpPr>
              <p:cNvPr id="83" name="Straight Connector 82"/>
              <p:cNvCxnSpPr/>
              <p:nvPr/>
            </p:nvCxnSpPr>
            <p:spPr>
              <a:xfrm flipV="1">
                <a:off x="1565160" y="6082711"/>
                <a:ext cx="709640" cy="15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4" name="Double Bracket 83"/>
              <p:cNvSpPr/>
              <p:nvPr/>
            </p:nvSpPr>
            <p:spPr>
              <a:xfrm>
                <a:off x="1428630" y="5722548"/>
                <a:ext cx="950949" cy="748886"/>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nvGrpSpPr>
            <p:cNvPr id="60466" name="Group 84"/>
            <p:cNvGrpSpPr>
              <a:grpSpLocks/>
            </p:cNvGrpSpPr>
            <p:nvPr/>
          </p:nvGrpSpPr>
          <p:grpSpPr bwMode="auto">
            <a:xfrm>
              <a:off x="3982247" y="5719401"/>
              <a:ext cx="949793" cy="755402"/>
              <a:chOff x="1428674" y="5716032"/>
              <a:chExt cx="949793" cy="755402"/>
            </a:xfrm>
          </p:grpSpPr>
          <p:sp>
            <p:nvSpPr>
              <p:cNvPr id="60467" name="Rectangle 7"/>
              <p:cNvSpPr>
                <a:spLocks noChangeArrowheads="1"/>
              </p:cNvSpPr>
              <p:nvPr/>
            </p:nvSpPr>
            <p:spPr bwMode="auto">
              <a:xfrm>
                <a:off x="1475656" y="5716032"/>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   1 s</a:t>
                </a:r>
                <a:endParaRPr lang="en-US" altLang="en-US" b="1" baseline="-25000">
                  <a:solidFill>
                    <a:srgbClr val="FF99FF"/>
                  </a:solidFill>
                </a:endParaRPr>
              </a:p>
            </p:txBody>
          </p:sp>
          <p:sp>
            <p:nvSpPr>
              <p:cNvPr id="60468" name="Rectangle 8"/>
              <p:cNvSpPr>
                <a:spLocks noChangeArrowheads="1"/>
              </p:cNvSpPr>
              <p:nvPr/>
            </p:nvSpPr>
            <p:spPr bwMode="auto">
              <a:xfrm>
                <a:off x="1475657" y="6066870"/>
                <a:ext cx="697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   1 s</a:t>
                </a:r>
                <a:endParaRPr lang="en-US" altLang="en-US" b="1" baseline="-25000">
                  <a:solidFill>
                    <a:srgbClr val="FF99FF"/>
                  </a:solidFill>
                </a:endParaRPr>
              </a:p>
            </p:txBody>
          </p:sp>
          <p:cxnSp>
            <p:nvCxnSpPr>
              <p:cNvPr id="88" name="Straight Connector 87"/>
              <p:cNvCxnSpPr/>
              <p:nvPr/>
            </p:nvCxnSpPr>
            <p:spPr>
              <a:xfrm flipV="1">
                <a:off x="1564415" y="6082711"/>
                <a:ext cx="709638" cy="15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9" name="Double Bracket 88"/>
              <p:cNvSpPr/>
              <p:nvPr/>
            </p:nvSpPr>
            <p:spPr>
              <a:xfrm>
                <a:off x="1427885" y="5722548"/>
                <a:ext cx="950947" cy="748886"/>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cxnSp>
        <p:nvCxnSpPr>
          <p:cNvPr id="92" name="Straight Connector 91"/>
          <p:cNvCxnSpPr/>
          <p:nvPr/>
        </p:nvCxnSpPr>
        <p:spPr>
          <a:xfrm>
            <a:off x="6570663" y="4733926"/>
            <a:ext cx="0" cy="2079625"/>
          </a:xfrm>
          <a:prstGeom prst="line">
            <a:avLst/>
          </a:prstGeom>
          <a:ln w="28575">
            <a:solidFill>
              <a:srgbClr val="FF99FF"/>
            </a:solidFill>
          </a:ln>
        </p:spPr>
        <p:style>
          <a:lnRef idx="1">
            <a:schemeClr val="accent1"/>
          </a:lnRef>
          <a:fillRef idx="0">
            <a:schemeClr val="accent1"/>
          </a:fillRef>
          <a:effectRef idx="0">
            <a:schemeClr val="accent1"/>
          </a:effectRef>
          <a:fontRef idx="minor">
            <a:schemeClr val="tx1"/>
          </a:fontRef>
        </p:style>
      </p:cxnSp>
      <p:sp>
        <p:nvSpPr>
          <p:cNvPr id="60453" name="Rectangle 92"/>
          <p:cNvSpPr>
            <a:spLocks noChangeArrowheads="1"/>
          </p:cNvSpPr>
          <p:nvPr/>
        </p:nvSpPr>
        <p:spPr bwMode="auto">
          <a:xfrm>
            <a:off x="6743700" y="4889500"/>
            <a:ext cx="285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n</a:t>
            </a:r>
            <a:r>
              <a:rPr lang="en-US" altLang="en-US" b="1" baseline="-25000">
                <a:solidFill>
                  <a:srgbClr val="FF99FF"/>
                </a:solidFill>
              </a:rPr>
              <a:t>2</a:t>
            </a:r>
            <a:r>
              <a:rPr lang="en-US" altLang="en-US" b="1">
                <a:solidFill>
                  <a:srgbClr val="FF99FF"/>
                </a:solidFill>
              </a:rPr>
              <a:t> = 1 (1000)</a:t>
            </a:r>
            <a:r>
              <a:rPr lang="en-US" altLang="en-US" b="1" baseline="30000">
                <a:solidFill>
                  <a:srgbClr val="FF99FF"/>
                </a:solidFill>
              </a:rPr>
              <a:t>1</a:t>
            </a:r>
            <a:r>
              <a:rPr lang="en-US" altLang="en-US" b="1">
                <a:solidFill>
                  <a:srgbClr val="FF99FF"/>
                </a:solidFill>
              </a:rPr>
              <a:t> (100)</a:t>
            </a:r>
            <a:r>
              <a:rPr lang="en-US" altLang="en-US" b="1" baseline="30000">
                <a:solidFill>
                  <a:srgbClr val="FF99FF"/>
                </a:solidFill>
              </a:rPr>
              <a:t>2</a:t>
            </a:r>
            <a:r>
              <a:rPr lang="en-US" altLang="en-US" b="1">
                <a:solidFill>
                  <a:srgbClr val="FF99FF"/>
                </a:solidFill>
              </a:rPr>
              <a:t> (1)</a:t>
            </a:r>
            <a:r>
              <a:rPr lang="en-US" altLang="en-US" b="1" baseline="30000">
                <a:solidFill>
                  <a:srgbClr val="FF99FF"/>
                </a:solidFill>
              </a:rPr>
              <a:t>-2</a:t>
            </a:r>
            <a:endParaRPr lang="en-IN" altLang="en-US" baseline="30000">
              <a:solidFill>
                <a:srgbClr val="FF99FF"/>
              </a:solidFill>
            </a:endParaRPr>
          </a:p>
        </p:txBody>
      </p:sp>
      <p:sp>
        <p:nvSpPr>
          <p:cNvPr id="60454" name="Rectangle 93"/>
          <p:cNvSpPr>
            <a:spLocks noChangeArrowheads="1"/>
          </p:cNvSpPr>
          <p:nvPr/>
        </p:nvSpPr>
        <p:spPr bwMode="auto">
          <a:xfrm>
            <a:off x="6743701" y="5340350"/>
            <a:ext cx="1058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n</a:t>
            </a:r>
            <a:r>
              <a:rPr lang="en-US" altLang="en-US" b="1" baseline="-25000">
                <a:solidFill>
                  <a:srgbClr val="FF99FF"/>
                </a:solidFill>
              </a:rPr>
              <a:t>2</a:t>
            </a:r>
            <a:r>
              <a:rPr lang="en-US" altLang="en-US" b="1">
                <a:solidFill>
                  <a:srgbClr val="FF99FF"/>
                </a:solidFill>
              </a:rPr>
              <a:t> = 10</a:t>
            </a:r>
            <a:r>
              <a:rPr lang="en-US" altLang="en-US" b="1" baseline="30000">
                <a:solidFill>
                  <a:srgbClr val="FF99FF"/>
                </a:solidFill>
              </a:rPr>
              <a:t>7 </a:t>
            </a:r>
            <a:endParaRPr lang="en-IN" altLang="en-US" baseline="30000">
              <a:solidFill>
                <a:srgbClr val="FF99FF"/>
              </a:solidFill>
            </a:endParaRPr>
          </a:p>
        </p:txBody>
      </p:sp>
      <p:grpSp>
        <p:nvGrpSpPr>
          <p:cNvPr id="95" name="Group 159"/>
          <p:cNvGrpSpPr>
            <a:grpSpLocks/>
          </p:cNvGrpSpPr>
          <p:nvPr/>
        </p:nvGrpSpPr>
        <p:grpSpPr bwMode="auto">
          <a:xfrm>
            <a:off x="6807696" y="6141878"/>
            <a:ext cx="152400" cy="152400"/>
            <a:chOff x="3168" y="1392"/>
            <a:chExt cx="144" cy="144"/>
          </a:xfrm>
          <a:solidFill>
            <a:srgbClr val="0099FF"/>
          </a:solidFill>
        </p:grpSpPr>
        <p:sp>
          <p:nvSpPr>
            <p:cNvPr id="96" name="Oval 160"/>
            <p:cNvSpPr>
              <a:spLocks noChangeArrowheads="1"/>
            </p:cNvSpPr>
            <p:nvPr/>
          </p:nvSpPr>
          <p:spPr bwMode="auto">
            <a:xfrm>
              <a:off x="3168"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sp>
          <p:nvSpPr>
            <p:cNvPr id="97" name="Oval 161"/>
            <p:cNvSpPr>
              <a:spLocks noChangeArrowheads="1"/>
            </p:cNvSpPr>
            <p:nvPr/>
          </p:nvSpPr>
          <p:spPr bwMode="auto">
            <a:xfrm>
              <a:off x="3264"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sp>
          <p:nvSpPr>
            <p:cNvPr id="98" name="Oval 162"/>
            <p:cNvSpPr>
              <a:spLocks noChangeArrowheads="1"/>
            </p:cNvSpPr>
            <p:nvPr/>
          </p:nvSpPr>
          <p:spPr bwMode="auto">
            <a:xfrm>
              <a:off x="3216" y="1392"/>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grpSp>
      <p:grpSp>
        <p:nvGrpSpPr>
          <p:cNvPr id="2" name="Group 1"/>
          <p:cNvGrpSpPr>
            <a:grpSpLocks/>
          </p:cNvGrpSpPr>
          <p:nvPr/>
        </p:nvGrpSpPr>
        <p:grpSpPr bwMode="auto">
          <a:xfrm>
            <a:off x="7126289" y="5988050"/>
            <a:ext cx="1965325" cy="393700"/>
            <a:chOff x="5602288" y="5988050"/>
            <a:chExt cx="1965325" cy="393700"/>
          </a:xfrm>
        </p:grpSpPr>
        <p:sp>
          <p:nvSpPr>
            <p:cNvPr id="100" name="Rounded Rectangle 99"/>
            <p:cNvSpPr/>
            <p:nvPr/>
          </p:nvSpPr>
          <p:spPr>
            <a:xfrm>
              <a:off x="5602288" y="5988050"/>
              <a:ext cx="1965325" cy="393700"/>
            </a:xfrm>
            <a:prstGeom prst="roundRect">
              <a:avLst/>
            </a:prstGeom>
            <a:solidFill>
              <a:srgbClr val="0099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sp>
          <p:nvSpPr>
            <p:cNvPr id="60461" name="Rectangle 98"/>
            <p:cNvSpPr>
              <a:spLocks noChangeArrowheads="1"/>
            </p:cNvSpPr>
            <p:nvPr/>
          </p:nvSpPr>
          <p:spPr bwMode="auto">
            <a:xfrm>
              <a:off x="5602288" y="5988050"/>
              <a:ext cx="1965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FFFF"/>
                  </a:solidFill>
                </a:rPr>
                <a:t>1 joule = 10</a:t>
              </a:r>
              <a:r>
                <a:rPr lang="en-US" altLang="en-US" b="1" baseline="30000">
                  <a:solidFill>
                    <a:srgbClr val="FFFFFF"/>
                  </a:solidFill>
                </a:rPr>
                <a:t>7 </a:t>
              </a:r>
              <a:r>
                <a:rPr lang="en-US" altLang="en-US" b="1">
                  <a:solidFill>
                    <a:srgbClr val="FFFFFF"/>
                  </a:solidFill>
                </a:rPr>
                <a:t>erg</a:t>
              </a:r>
              <a:r>
                <a:rPr lang="en-US" altLang="en-US" b="1" baseline="30000">
                  <a:solidFill>
                    <a:srgbClr val="FFFFFF"/>
                  </a:solidFill>
                </a:rPr>
                <a:t> </a:t>
              </a:r>
              <a:endParaRPr lang="en-IN" altLang="en-US" baseline="30000">
                <a:solidFill>
                  <a:srgbClr val="FFFFFF"/>
                </a:solidFill>
              </a:endParaRPr>
            </a:p>
          </p:txBody>
        </p:sp>
      </p:grpSp>
      <p:sp>
        <p:nvSpPr>
          <p:cNvPr id="60457" name="Rectangle 100"/>
          <p:cNvSpPr>
            <a:spLocks noChangeArrowheads="1"/>
          </p:cNvSpPr>
          <p:nvPr/>
        </p:nvSpPr>
        <p:spPr bwMode="auto">
          <a:xfrm>
            <a:off x="4841876" y="1946275"/>
            <a:ext cx="2487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0066"/>
                </a:solidFill>
              </a:rPr>
              <a:t>Let  n</a:t>
            </a:r>
            <a:r>
              <a:rPr lang="en-US" altLang="en-US" b="1" baseline="-25000">
                <a:solidFill>
                  <a:srgbClr val="FF0066"/>
                </a:solidFill>
              </a:rPr>
              <a:t>1</a:t>
            </a:r>
            <a:r>
              <a:rPr lang="en-US" altLang="en-US" b="1">
                <a:solidFill>
                  <a:srgbClr val="FF0066"/>
                </a:solidFill>
              </a:rPr>
              <a:t> joule = n</a:t>
            </a:r>
            <a:r>
              <a:rPr lang="en-US" altLang="en-US" b="1" baseline="-25000">
                <a:solidFill>
                  <a:srgbClr val="FF0066"/>
                </a:solidFill>
              </a:rPr>
              <a:t>2</a:t>
            </a:r>
            <a:r>
              <a:rPr lang="en-US" altLang="en-US" b="1">
                <a:solidFill>
                  <a:srgbClr val="FF0066"/>
                </a:solidFill>
              </a:rPr>
              <a:t> erg</a:t>
            </a:r>
            <a:endParaRPr lang="en-IN" altLang="en-US" baseline="30000">
              <a:solidFill>
                <a:srgbClr val="FF0066"/>
              </a:solidFill>
            </a:endParaRPr>
          </a:p>
        </p:txBody>
      </p:sp>
      <p:sp>
        <p:nvSpPr>
          <p:cNvPr id="3" name="Rectangle 1">
            <a:hlinkClick r:id="rId3"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60458"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60459"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232243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0419"/>
                                        </p:tgtEl>
                                        <p:attrNameLst>
                                          <p:attrName>style.visibility</p:attrName>
                                        </p:attrNameLst>
                                      </p:cBhvr>
                                      <p:to>
                                        <p:strVal val="visible"/>
                                      </p:to>
                                    </p:set>
                                    <p:anim calcmode="lin" valueType="num">
                                      <p:cBhvr>
                                        <p:cTn id="7" dur="500" fill="hold"/>
                                        <p:tgtEl>
                                          <p:spTgt spid="60419"/>
                                        </p:tgtEl>
                                        <p:attrNameLst>
                                          <p:attrName>ppt_w</p:attrName>
                                        </p:attrNameLst>
                                      </p:cBhvr>
                                      <p:tavLst>
                                        <p:tav tm="0">
                                          <p:val>
                                            <p:fltVal val="0"/>
                                          </p:val>
                                        </p:tav>
                                        <p:tav tm="100000">
                                          <p:val>
                                            <p:strVal val="#ppt_w"/>
                                          </p:val>
                                        </p:tav>
                                      </p:tavLst>
                                    </p:anim>
                                    <p:anim calcmode="lin" valueType="num">
                                      <p:cBhvr>
                                        <p:cTn id="8" dur="500" fill="hold"/>
                                        <p:tgtEl>
                                          <p:spTgt spid="60419"/>
                                        </p:tgtEl>
                                        <p:attrNameLst>
                                          <p:attrName>ppt_h</p:attrName>
                                        </p:attrNameLst>
                                      </p:cBhvr>
                                      <p:tavLst>
                                        <p:tav tm="0">
                                          <p:val>
                                            <p:fltVal val="0"/>
                                          </p:val>
                                        </p:tav>
                                        <p:tav tm="100000">
                                          <p:val>
                                            <p:strVal val="#ppt_h"/>
                                          </p:val>
                                        </p:tav>
                                      </p:tavLst>
                                    </p:anim>
                                    <p:animEffect transition="in" filter="fade">
                                      <p:cBhvr>
                                        <p:cTn id="9" dur="500"/>
                                        <p:tgtEl>
                                          <p:spTgt spid="6041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0420"/>
                                        </p:tgtEl>
                                        <p:attrNameLst>
                                          <p:attrName>style.visibility</p:attrName>
                                        </p:attrNameLst>
                                      </p:cBhvr>
                                      <p:to>
                                        <p:strVal val="visible"/>
                                      </p:to>
                                    </p:set>
                                    <p:animEffect transition="in" filter="wipe(left)">
                                      <p:cBhvr>
                                        <p:cTn id="14" dur="500"/>
                                        <p:tgtEl>
                                          <p:spTgt spid="6042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60421">
                                            <p:txEl>
                                              <p:pRg st="0" end="0"/>
                                            </p:txEl>
                                          </p:spTgt>
                                        </p:tgtEl>
                                        <p:attrNameLst>
                                          <p:attrName>style.visibility</p:attrName>
                                        </p:attrNameLst>
                                      </p:cBhvr>
                                      <p:to>
                                        <p:strVal val="visible"/>
                                      </p:to>
                                    </p:set>
                                    <p:animEffect transition="in" filter="wipe(left)">
                                      <p:cBhvr>
                                        <p:cTn id="19" dur="500"/>
                                        <p:tgtEl>
                                          <p:spTgt spid="60421">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0421">
                                            <p:txEl>
                                              <p:pRg st="1" end="1"/>
                                            </p:txEl>
                                          </p:spTgt>
                                        </p:tgtEl>
                                        <p:attrNameLst>
                                          <p:attrName>style.visibility</p:attrName>
                                        </p:attrNameLst>
                                      </p:cBhvr>
                                      <p:to>
                                        <p:strVal val="visible"/>
                                      </p:to>
                                    </p:set>
                                    <p:animEffect transition="in" filter="wipe(left)">
                                      <p:cBhvr>
                                        <p:cTn id="24" dur="500"/>
                                        <p:tgtEl>
                                          <p:spTgt spid="60421">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0421">
                                            <p:txEl>
                                              <p:pRg st="2" end="2"/>
                                            </p:txEl>
                                          </p:spTgt>
                                        </p:tgtEl>
                                        <p:attrNameLst>
                                          <p:attrName>style.visibility</p:attrName>
                                        </p:attrNameLst>
                                      </p:cBhvr>
                                      <p:to>
                                        <p:strVal val="visible"/>
                                      </p:to>
                                    </p:set>
                                    <p:animEffect transition="in" filter="wipe(left)">
                                      <p:cBhvr>
                                        <p:cTn id="29" dur="500"/>
                                        <p:tgtEl>
                                          <p:spTgt spid="60421">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60457"/>
                                        </p:tgtEl>
                                        <p:attrNameLst>
                                          <p:attrName>style.visibility</p:attrName>
                                        </p:attrNameLst>
                                      </p:cBhvr>
                                      <p:to>
                                        <p:strVal val="visible"/>
                                      </p:to>
                                    </p:set>
                                    <p:anim calcmode="lin" valueType="num">
                                      <p:cBhvr>
                                        <p:cTn id="34" dur="500" fill="hold"/>
                                        <p:tgtEl>
                                          <p:spTgt spid="60457"/>
                                        </p:tgtEl>
                                        <p:attrNameLst>
                                          <p:attrName>ppt_w</p:attrName>
                                        </p:attrNameLst>
                                      </p:cBhvr>
                                      <p:tavLst>
                                        <p:tav tm="0">
                                          <p:val>
                                            <p:fltVal val="0"/>
                                          </p:val>
                                        </p:tav>
                                        <p:tav tm="100000">
                                          <p:val>
                                            <p:strVal val="#ppt_w"/>
                                          </p:val>
                                        </p:tav>
                                      </p:tavLst>
                                    </p:anim>
                                    <p:anim calcmode="lin" valueType="num">
                                      <p:cBhvr>
                                        <p:cTn id="35" dur="500" fill="hold"/>
                                        <p:tgtEl>
                                          <p:spTgt spid="60457"/>
                                        </p:tgtEl>
                                        <p:attrNameLst>
                                          <p:attrName>ppt_h</p:attrName>
                                        </p:attrNameLst>
                                      </p:cBhvr>
                                      <p:tavLst>
                                        <p:tav tm="0">
                                          <p:val>
                                            <p:fltVal val="0"/>
                                          </p:val>
                                        </p:tav>
                                        <p:tav tm="100000">
                                          <p:val>
                                            <p:strVal val="#ppt_h"/>
                                          </p:val>
                                        </p:tav>
                                      </p:tavLst>
                                    </p:anim>
                                    <p:animEffect transition="in" filter="fade">
                                      <p:cBhvr>
                                        <p:cTn id="36" dur="500"/>
                                        <p:tgtEl>
                                          <p:spTgt spid="6045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up)">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0450"/>
                                        </p:tgtEl>
                                        <p:attrNameLst>
                                          <p:attrName>style.visibility</p:attrName>
                                        </p:attrNameLst>
                                      </p:cBhvr>
                                      <p:to>
                                        <p:strVal val="visible"/>
                                      </p:to>
                                    </p:set>
                                    <p:animEffect transition="in" filter="wipe(left)">
                                      <p:cBhvr>
                                        <p:cTn id="46" dur="500"/>
                                        <p:tgtEl>
                                          <p:spTgt spid="6045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60451"/>
                                        </p:tgtEl>
                                        <p:attrNameLst>
                                          <p:attrName>style.visibility</p:attrName>
                                        </p:attrNameLst>
                                      </p:cBhvr>
                                      <p:to>
                                        <p:strVal val="visible"/>
                                      </p:to>
                                    </p:set>
                                    <p:animEffect transition="in" filter="wipe(left)">
                                      <p:cBhvr>
                                        <p:cTn id="51" dur="500"/>
                                        <p:tgtEl>
                                          <p:spTgt spid="6045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92"/>
                                        </p:tgtEl>
                                        <p:attrNameLst>
                                          <p:attrName>style.visibility</p:attrName>
                                        </p:attrNameLst>
                                      </p:cBhvr>
                                      <p:to>
                                        <p:strVal val="visible"/>
                                      </p:to>
                                    </p:set>
                                    <p:animEffect transition="in" filter="wipe(up)">
                                      <p:cBhvr>
                                        <p:cTn id="56" dur="500"/>
                                        <p:tgtEl>
                                          <p:spTgt spid="9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60453"/>
                                        </p:tgtEl>
                                        <p:attrNameLst>
                                          <p:attrName>style.visibility</p:attrName>
                                        </p:attrNameLst>
                                      </p:cBhvr>
                                      <p:to>
                                        <p:strVal val="visible"/>
                                      </p:to>
                                    </p:set>
                                    <p:animEffect transition="in" filter="wipe(left)">
                                      <p:cBhvr>
                                        <p:cTn id="61" dur="500"/>
                                        <p:tgtEl>
                                          <p:spTgt spid="604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60454"/>
                                        </p:tgtEl>
                                        <p:attrNameLst>
                                          <p:attrName>style.visibility</p:attrName>
                                        </p:attrNameLst>
                                      </p:cBhvr>
                                      <p:to>
                                        <p:strVal val="visible"/>
                                      </p:to>
                                    </p:set>
                                    <p:animEffect transition="in" filter="wipe(left)">
                                      <p:cBhvr>
                                        <p:cTn id="66" dur="500"/>
                                        <p:tgtEl>
                                          <p:spTgt spid="604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95"/>
                                        </p:tgtEl>
                                        <p:attrNameLst>
                                          <p:attrName>style.visibility</p:attrName>
                                        </p:attrNameLst>
                                      </p:cBhvr>
                                      <p:to>
                                        <p:strVal val="visible"/>
                                      </p:to>
                                    </p:set>
                                    <p:animEffect transition="in" filter="wipe(left)">
                                      <p:cBhvr>
                                        <p:cTn id="71" dur="500"/>
                                        <p:tgtEl>
                                          <p:spTgt spid="95"/>
                                        </p:tgtEl>
                                      </p:cBhvr>
                                    </p:animEffect>
                                  </p:childTnLst>
                                </p:cTn>
                              </p:par>
                            </p:childTnLst>
                          </p:cTn>
                        </p:par>
                        <p:par>
                          <p:cTn id="72" fill="hold" nodeType="afterGroup">
                            <p:stCondLst>
                              <p:cond delay="500"/>
                            </p:stCondLst>
                            <p:childTnLst>
                              <p:par>
                                <p:cTn id="73" presetID="53" presetClass="entr" presetSubtype="16" fill="hold" nodeType="afterEffect">
                                  <p:stCondLst>
                                    <p:cond delay="0"/>
                                  </p:stCondLst>
                                  <p:childTnLst>
                                    <p:set>
                                      <p:cBhvr>
                                        <p:cTn id="74" dur="1" fill="hold">
                                          <p:stCondLst>
                                            <p:cond delay="0"/>
                                          </p:stCondLst>
                                        </p:cTn>
                                        <p:tgtEl>
                                          <p:spTgt spid="2"/>
                                        </p:tgtEl>
                                        <p:attrNameLst>
                                          <p:attrName>style.visibility</p:attrName>
                                        </p:attrNameLst>
                                      </p:cBhvr>
                                      <p:to>
                                        <p:strVal val="visible"/>
                                      </p:to>
                                    </p:set>
                                    <p:anim calcmode="lin" valueType="num">
                                      <p:cBhvr>
                                        <p:cTn id="75" dur="500" fill="hold"/>
                                        <p:tgtEl>
                                          <p:spTgt spid="2"/>
                                        </p:tgtEl>
                                        <p:attrNameLst>
                                          <p:attrName>ppt_w</p:attrName>
                                        </p:attrNameLst>
                                      </p:cBhvr>
                                      <p:tavLst>
                                        <p:tav tm="0">
                                          <p:val>
                                            <p:fltVal val="0"/>
                                          </p:val>
                                        </p:tav>
                                        <p:tav tm="100000">
                                          <p:val>
                                            <p:strVal val="#ppt_w"/>
                                          </p:val>
                                        </p:tav>
                                      </p:tavLst>
                                    </p:anim>
                                    <p:anim calcmode="lin" valueType="num">
                                      <p:cBhvr>
                                        <p:cTn id="76" dur="500" fill="hold"/>
                                        <p:tgtEl>
                                          <p:spTgt spid="2"/>
                                        </p:tgtEl>
                                        <p:attrNameLst>
                                          <p:attrName>ppt_h</p:attrName>
                                        </p:attrNameLst>
                                      </p:cBhvr>
                                      <p:tavLst>
                                        <p:tav tm="0">
                                          <p:val>
                                            <p:fltVal val="0"/>
                                          </p:val>
                                        </p:tav>
                                        <p:tav tm="100000">
                                          <p:val>
                                            <p:strVal val="#ppt_h"/>
                                          </p:val>
                                        </p:tav>
                                      </p:tavLst>
                                    </p:anim>
                                    <p:animEffect transition="in" filter="fade">
                                      <p:cBhvr>
                                        <p:cTn id="7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p:bldP spid="60420" grpId="0"/>
      <p:bldP spid="60453" grpId="0"/>
      <p:bldP spid="60454" grpId="0"/>
      <p:bldP spid="6045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ChangeArrowheads="1"/>
          </p:cNvSpPr>
          <p:nvPr/>
        </p:nvSpPr>
        <p:spPr bwMode="auto">
          <a:xfrm>
            <a:off x="1774825" y="44451"/>
            <a:ext cx="8497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00B0F0"/>
                </a:solidFill>
              </a:rPr>
              <a:t>2.  To convert 1 newton into a system where mass is measured in </a:t>
            </a:r>
          </a:p>
          <a:p>
            <a:pPr eaLnBrk="1" fontAlgn="base" hangingPunct="1">
              <a:spcBef>
                <a:spcPct val="0"/>
              </a:spcBef>
              <a:spcAft>
                <a:spcPct val="0"/>
              </a:spcAft>
            </a:pPr>
            <a:r>
              <a:rPr lang="en-US" altLang="en-US" sz="2000" b="1">
                <a:solidFill>
                  <a:srgbClr val="00B0F0"/>
                </a:solidFill>
              </a:rPr>
              <a:t>      mg, length in km and time in minute</a:t>
            </a:r>
            <a:endParaRPr lang="en-IN" altLang="en-US" sz="2000">
              <a:solidFill>
                <a:srgbClr val="00B0F0"/>
              </a:solidFill>
            </a:endParaRPr>
          </a:p>
        </p:txBody>
      </p:sp>
      <p:sp>
        <p:nvSpPr>
          <p:cNvPr id="61444" name="Rectangle 3"/>
          <p:cNvSpPr>
            <a:spLocks noChangeArrowheads="1"/>
          </p:cNvSpPr>
          <p:nvPr/>
        </p:nvSpPr>
        <p:spPr bwMode="auto">
          <a:xfrm>
            <a:off x="1774826" y="836614"/>
            <a:ext cx="8785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‘newton or kg m s</a:t>
            </a:r>
            <a:r>
              <a:rPr lang="en-US" altLang="en-US" b="1" baseline="30000">
                <a:solidFill>
                  <a:srgbClr val="00FF99"/>
                </a:solidFill>
              </a:rPr>
              <a:t>-2</a:t>
            </a:r>
            <a:r>
              <a:rPr lang="en-US" altLang="en-US" b="1">
                <a:solidFill>
                  <a:srgbClr val="00FF99"/>
                </a:solidFill>
              </a:rPr>
              <a:t>’ is unit of force in SI system and ‘mg km min</a:t>
            </a:r>
            <a:r>
              <a:rPr lang="en-US" altLang="en-US" b="1" baseline="30000">
                <a:solidFill>
                  <a:srgbClr val="00FF99"/>
                </a:solidFill>
              </a:rPr>
              <a:t>-2</a:t>
            </a:r>
            <a:r>
              <a:rPr lang="en-US" altLang="en-US" b="1">
                <a:solidFill>
                  <a:srgbClr val="00FF99"/>
                </a:solidFill>
              </a:rPr>
              <a:t>’  is the unit  in the new system.</a:t>
            </a:r>
          </a:p>
          <a:p>
            <a:pPr eaLnBrk="1" fontAlgn="base" hangingPunct="1">
              <a:spcBef>
                <a:spcPct val="0"/>
              </a:spcBef>
              <a:spcAft>
                <a:spcPct val="0"/>
              </a:spcAft>
            </a:pPr>
            <a:r>
              <a:rPr lang="en-US" altLang="en-US" b="1">
                <a:solidFill>
                  <a:srgbClr val="00B0F0"/>
                </a:solidFill>
              </a:rPr>
              <a:t>The dimensional formula of force is [MLT</a:t>
            </a:r>
            <a:r>
              <a:rPr lang="en-US" altLang="en-US" b="1" baseline="30000">
                <a:solidFill>
                  <a:srgbClr val="00B0F0"/>
                </a:solidFill>
              </a:rPr>
              <a:t>-2</a:t>
            </a:r>
            <a:r>
              <a:rPr lang="en-US" altLang="en-US" b="1">
                <a:solidFill>
                  <a:srgbClr val="00B0F0"/>
                </a:solidFill>
              </a:rPr>
              <a:t>].</a:t>
            </a:r>
          </a:p>
        </p:txBody>
      </p:sp>
      <p:graphicFrame>
        <p:nvGraphicFramePr>
          <p:cNvPr id="5" name="Table 4"/>
          <p:cNvGraphicFramePr>
            <a:graphicFrameLocks noGrp="1"/>
          </p:cNvGraphicFramePr>
          <p:nvPr/>
        </p:nvGraphicFramePr>
        <p:xfrm>
          <a:off x="3216275" y="2068513"/>
          <a:ext cx="6096000" cy="2224086"/>
        </p:xfrm>
        <a:graphic>
          <a:graphicData uri="http://schemas.openxmlformats.org/drawingml/2006/table">
            <a:tbl>
              <a:tblPr firstRow="1" bandRow="1">
                <a:tableStyleId>{5C22544A-7EE6-4342-B048-85BDC9FD1C3A}</a:tableStyleId>
              </a:tblPr>
              <a:tblGrid>
                <a:gridCol w="1415480">
                  <a:extLst>
                    <a:ext uri="{9D8B030D-6E8A-4147-A177-3AD203B41FA5}">
                      <a16:colId xmlns:a16="http://schemas.microsoft.com/office/drawing/2014/main" val="20000"/>
                    </a:ext>
                  </a:extLst>
                </a:gridCol>
                <a:gridCol w="264852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681">
                <a:tc>
                  <a:txBody>
                    <a:bodyPr/>
                    <a:lstStyle/>
                    <a:p>
                      <a:endParaRPr lang="en-IN" sz="1800" dirty="0"/>
                    </a:p>
                  </a:txBody>
                  <a:tcPr marT="45700" marB="45700"/>
                </a:tc>
                <a:tc>
                  <a:txBody>
                    <a:bodyPr/>
                    <a:lstStyle/>
                    <a:p>
                      <a:r>
                        <a:rPr lang="en-US" sz="1800" dirty="0" smtClean="0">
                          <a:solidFill>
                            <a:srgbClr val="7030A0"/>
                          </a:solidFill>
                        </a:rPr>
                        <a:t>SI System</a:t>
                      </a:r>
                      <a:endParaRPr lang="en-IN" sz="1800" dirty="0">
                        <a:solidFill>
                          <a:srgbClr val="7030A0"/>
                        </a:solidFill>
                      </a:endParaRPr>
                    </a:p>
                  </a:txBody>
                  <a:tcPr marT="45700" marB="45700"/>
                </a:tc>
                <a:tc>
                  <a:txBody>
                    <a:bodyPr/>
                    <a:lstStyle/>
                    <a:p>
                      <a:r>
                        <a:rPr lang="en-US" sz="1800" dirty="0" smtClean="0">
                          <a:solidFill>
                            <a:srgbClr val="7030A0"/>
                          </a:solidFill>
                        </a:rPr>
                        <a:t>New System</a:t>
                      </a:r>
                      <a:endParaRPr lang="en-IN" sz="1800" dirty="0">
                        <a:solidFill>
                          <a:srgbClr val="7030A0"/>
                        </a:solidFill>
                      </a:endParaRPr>
                    </a:p>
                  </a:txBody>
                  <a:tcPr marT="45700" marB="45700"/>
                </a:tc>
                <a:extLst>
                  <a:ext uri="{0D108BD9-81ED-4DB2-BD59-A6C34878D82A}">
                    <a16:rowId xmlns:a16="http://schemas.microsoft.com/office/drawing/2014/main" val="10000"/>
                  </a:ext>
                </a:extLst>
              </a:tr>
              <a:tr h="370681">
                <a:tc>
                  <a:txBody>
                    <a:bodyPr/>
                    <a:lstStyle/>
                    <a:p>
                      <a:r>
                        <a:rPr lang="en-US" sz="1800" b="1" dirty="0" smtClean="0">
                          <a:solidFill>
                            <a:srgbClr val="C00000"/>
                          </a:solidFill>
                        </a:rPr>
                        <a:t>Magnitude</a:t>
                      </a:r>
                      <a:endParaRPr lang="en-IN" sz="1800" b="1" dirty="0">
                        <a:solidFill>
                          <a:srgbClr val="C00000"/>
                        </a:solidFill>
                      </a:endParaRPr>
                    </a:p>
                  </a:txBody>
                  <a:tcPr marT="45700" marB="45700"/>
                </a:tc>
                <a:tc>
                  <a:txBody>
                    <a:bodyPr/>
                    <a:lstStyle/>
                    <a:p>
                      <a:r>
                        <a:rPr lang="en-US" sz="1800" b="1" dirty="0" smtClean="0">
                          <a:solidFill>
                            <a:srgbClr val="0000FF"/>
                          </a:solidFill>
                        </a:rPr>
                        <a:t>n</a:t>
                      </a:r>
                      <a:r>
                        <a:rPr lang="en-US" sz="1800" b="1" baseline="-25000" dirty="0" smtClean="0">
                          <a:solidFill>
                            <a:srgbClr val="0000FF"/>
                          </a:solidFill>
                        </a:rPr>
                        <a:t>1</a:t>
                      </a:r>
                      <a:r>
                        <a:rPr lang="en-US" sz="1800" b="1" baseline="0" dirty="0" smtClean="0">
                          <a:solidFill>
                            <a:srgbClr val="0000FF"/>
                          </a:solidFill>
                        </a:rPr>
                        <a:t> = 1</a:t>
                      </a:r>
                      <a:endParaRPr lang="en-IN" sz="1800" b="1" dirty="0">
                        <a:solidFill>
                          <a:srgbClr val="0000FF"/>
                        </a:solidFill>
                      </a:endParaRPr>
                    </a:p>
                  </a:txBody>
                  <a:tcPr marT="45700" marB="45700"/>
                </a:tc>
                <a:tc>
                  <a:txBody>
                    <a:bodyPr/>
                    <a:lstStyle/>
                    <a:p>
                      <a:r>
                        <a:rPr lang="en-US" sz="1800" b="1" dirty="0" smtClean="0">
                          <a:solidFill>
                            <a:srgbClr val="0000FF"/>
                          </a:solidFill>
                        </a:rPr>
                        <a:t>n</a:t>
                      </a:r>
                      <a:r>
                        <a:rPr lang="en-US" sz="1800" b="1" baseline="-25000" dirty="0" smtClean="0">
                          <a:solidFill>
                            <a:srgbClr val="0000FF"/>
                          </a:solidFill>
                        </a:rPr>
                        <a:t>2</a:t>
                      </a:r>
                      <a:r>
                        <a:rPr lang="en-US" sz="1800" b="1" dirty="0" smtClean="0">
                          <a:solidFill>
                            <a:srgbClr val="0000FF"/>
                          </a:solidFill>
                        </a:rPr>
                        <a:t> = ?</a:t>
                      </a:r>
                      <a:endParaRPr lang="en-IN" sz="1800" b="1" dirty="0">
                        <a:solidFill>
                          <a:srgbClr val="0000FF"/>
                        </a:solidFill>
                      </a:endParaRPr>
                    </a:p>
                  </a:txBody>
                  <a:tcPr marT="45700" marB="45700"/>
                </a:tc>
                <a:extLst>
                  <a:ext uri="{0D108BD9-81ED-4DB2-BD59-A6C34878D82A}">
                    <a16:rowId xmlns:a16="http://schemas.microsoft.com/office/drawing/2014/main" val="10001"/>
                  </a:ext>
                </a:extLst>
              </a:tr>
              <a:tr h="370681">
                <a:tc>
                  <a:txBody>
                    <a:bodyPr/>
                    <a:lstStyle/>
                    <a:p>
                      <a:r>
                        <a:rPr lang="en-US" sz="1800" b="1" dirty="0" smtClean="0">
                          <a:solidFill>
                            <a:srgbClr val="0000FF"/>
                          </a:solidFill>
                        </a:rPr>
                        <a:t>Mass (M)</a:t>
                      </a:r>
                      <a:endParaRPr lang="en-IN" sz="1800" b="1" dirty="0">
                        <a:solidFill>
                          <a:srgbClr val="0000FF"/>
                        </a:solidFill>
                      </a:endParaRPr>
                    </a:p>
                  </a:txBody>
                  <a:tcPr marT="45700" marB="45700"/>
                </a:tc>
                <a:tc>
                  <a:txBody>
                    <a:bodyPr/>
                    <a:lstStyle/>
                    <a:p>
                      <a:r>
                        <a:rPr lang="en-US" sz="1800" b="1" dirty="0" smtClean="0">
                          <a:solidFill>
                            <a:srgbClr val="0000FF"/>
                          </a:solidFill>
                        </a:rPr>
                        <a:t>1 kg (=10</a:t>
                      </a:r>
                      <a:r>
                        <a:rPr lang="en-US" sz="1800" b="1" baseline="30000" dirty="0" smtClean="0">
                          <a:solidFill>
                            <a:srgbClr val="0000FF"/>
                          </a:solidFill>
                        </a:rPr>
                        <a:t>6</a:t>
                      </a:r>
                      <a:r>
                        <a:rPr lang="en-US" sz="1800" b="1" dirty="0" smtClean="0">
                          <a:solidFill>
                            <a:srgbClr val="0000FF"/>
                          </a:solidFill>
                        </a:rPr>
                        <a:t> mg)</a:t>
                      </a:r>
                      <a:endParaRPr lang="en-IN" sz="1800" b="1" dirty="0">
                        <a:solidFill>
                          <a:srgbClr val="0000FF"/>
                        </a:solidFill>
                      </a:endParaRPr>
                    </a:p>
                  </a:txBody>
                  <a:tcPr marT="45700" marB="45700"/>
                </a:tc>
                <a:tc>
                  <a:txBody>
                    <a:bodyPr/>
                    <a:lstStyle/>
                    <a:p>
                      <a:r>
                        <a:rPr lang="en-US" sz="1800" b="1" dirty="0" smtClean="0">
                          <a:solidFill>
                            <a:srgbClr val="0000FF"/>
                          </a:solidFill>
                        </a:rPr>
                        <a:t>1 mg</a:t>
                      </a:r>
                    </a:p>
                  </a:txBody>
                  <a:tcPr marT="45700" marB="45700"/>
                </a:tc>
                <a:extLst>
                  <a:ext uri="{0D108BD9-81ED-4DB2-BD59-A6C34878D82A}">
                    <a16:rowId xmlns:a16="http://schemas.microsoft.com/office/drawing/2014/main" val="10002"/>
                  </a:ext>
                </a:extLst>
              </a:tr>
              <a:tr h="370681">
                <a:tc>
                  <a:txBody>
                    <a:bodyPr/>
                    <a:lstStyle/>
                    <a:p>
                      <a:r>
                        <a:rPr lang="en-US" sz="1800" b="1" dirty="0" smtClean="0">
                          <a:solidFill>
                            <a:srgbClr val="0000FF"/>
                          </a:solidFill>
                        </a:rPr>
                        <a:t>Length (L)</a:t>
                      </a:r>
                      <a:endParaRPr lang="en-IN" sz="1800" b="1" dirty="0">
                        <a:solidFill>
                          <a:srgbClr val="0000FF"/>
                        </a:solidFill>
                      </a:endParaRPr>
                    </a:p>
                  </a:txBody>
                  <a:tcPr marT="45700" marB="45700"/>
                </a:tc>
                <a:tc>
                  <a:txBody>
                    <a:bodyPr/>
                    <a:lstStyle/>
                    <a:p>
                      <a:r>
                        <a:rPr lang="en-US" sz="1800" b="1" dirty="0" smtClean="0">
                          <a:solidFill>
                            <a:srgbClr val="0000FF"/>
                          </a:solidFill>
                        </a:rPr>
                        <a:t>1 m (= 1/1000 km)</a:t>
                      </a:r>
                      <a:endParaRPr lang="en-IN" sz="1800" b="1" dirty="0">
                        <a:solidFill>
                          <a:srgbClr val="0000FF"/>
                        </a:solidFill>
                      </a:endParaRPr>
                    </a:p>
                  </a:txBody>
                  <a:tcPr marT="45700" marB="45700"/>
                </a:tc>
                <a:tc>
                  <a:txBody>
                    <a:bodyPr/>
                    <a:lstStyle/>
                    <a:p>
                      <a:r>
                        <a:rPr lang="en-US" sz="1800" b="1" dirty="0" smtClean="0">
                          <a:solidFill>
                            <a:srgbClr val="0000FF"/>
                          </a:solidFill>
                        </a:rPr>
                        <a:t>1</a:t>
                      </a:r>
                      <a:r>
                        <a:rPr lang="en-US" sz="1800" b="1" baseline="0" dirty="0" smtClean="0">
                          <a:solidFill>
                            <a:srgbClr val="0000FF"/>
                          </a:solidFill>
                        </a:rPr>
                        <a:t> </a:t>
                      </a:r>
                      <a:r>
                        <a:rPr lang="en-US" sz="1800" b="1" dirty="0" smtClean="0">
                          <a:solidFill>
                            <a:srgbClr val="0000FF"/>
                          </a:solidFill>
                        </a:rPr>
                        <a:t>km</a:t>
                      </a:r>
                      <a:endParaRPr lang="en-IN" sz="1800" b="1" dirty="0">
                        <a:solidFill>
                          <a:srgbClr val="0000FF"/>
                        </a:solidFill>
                      </a:endParaRPr>
                    </a:p>
                  </a:txBody>
                  <a:tcPr marT="45700" marB="45700"/>
                </a:tc>
                <a:extLst>
                  <a:ext uri="{0D108BD9-81ED-4DB2-BD59-A6C34878D82A}">
                    <a16:rowId xmlns:a16="http://schemas.microsoft.com/office/drawing/2014/main" val="10003"/>
                  </a:ext>
                </a:extLst>
              </a:tr>
              <a:tr h="370681">
                <a:tc>
                  <a:txBody>
                    <a:bodyPr/>
                    <a:lstStyle/>
                    <a:p>
                      <a:r>
                        <a:rPr lang="en-US" sz="1800" b="1" dirty="0" smtClean="0">
                          <a:solidFill>
                            <a:srgbClr val="0000FF"/>
                          </a:solidFill>
                        </a:rPr>
                        <a:t>Time (T)</a:t>
                      </a:r>
                      <a:endParaRPr lang="en-IN" sz="1800" b="1" dirty="0">
                        <a:solidFill>
                          <a:srgbClr val="0000FF"/>
                        </a:solidFill>
                      </a:endParaRPr>
                    </a:p>
                  </a:txBody>
                  <a:tcPr marT="45700" marB="45700"/>
                </a:tc>
                <a:tc>
                  <a:txBody>
                    <a:bodyPr/>
                    <a:lstStyle/>
                    <a:p>
                      <a:r>
                        <a:rPr lang="en-US" sz="1800" b="1" dirty="0" smtClean="0">
                          <a:solidFill>
                            <a:srgbClr val="0000FF"/>
                          </a:solidFill>
                        </a:rPr>
                        <a:t>1 s (= 1/60)</a:t>
                      </a:r>
                      <a:endParaRPr lang="en-IN" sz="1800" b="1" dirty="0">
                        <a:solidFill>
                          <a:srgbClr val="0000FF"/>
                        </a:solidFill>
                      </a:endParaRPr>
                    </a:p>
                  </a:txBody>
                  <a:tcPr marT="45700" marB="45700"/>
                </a:tc>
                <a:tc>
                  <a:txBody>
                    <a:bodyPr/>
                    <a:lstStyle/>
                    <a:p>
                      <a:r>
                        <a:rPr lang="en-US" sz="1800" b="1" dirty="0" smtClean="0">
                          <a:solidFill>
                            <a:srgbClr val="0000FF"/>
                          </a:solidFill>
                        </a:rPr>
                        <a:t>1 s</a:t>
                      </a:r>
                    </a:p>
                  </a:txBody>
                  <a:tcPr marT="45700" marB="45700"/>
                </a:tc>
                <a:extLst>
                  <a:ext uri="{0D108BD9-81ED-4DB2-BD59-A6C34878D82A}">
                    <a16:rowId xmlns:a16="http://schemas.microsoft.com/office/drawing/2014/main" val="10004"/>
                  </a:ext>
                </a:extLst>
              </a:tr>
              <a:tr h="370681">
                <a:tc gridSpan="3">
                  <a:txBody>
                    <a:bodyPr/>
                    <a:lstStyle/>
                    <a:p>
                      <a:pPr algn="ctr"/>
                      <a:r>
                        <a:rPr lang="en-US" sz="1800" b="1" dirty="0" smtClean="0">
                          <a:solidFill>
                            <a:srgbClr val="FF0000"/>
                          </a:solidFill>
                        </a:rPr>
                        <a:t>[</a:t>
                      </a:r>
                      <a:r>
                        <a:rPr lang="en-US" sz="1800" b="1" dirty="0" err="1" smtClean="0">
                          <a:solidFill>
                            <a:srgbClr val="FF0000"/>
                          </a:solidFill>
                        </a:rPr>
                        <a:t>M</a:t>
                      </a:r>
                      <a:r>
                        <a:rPr lang="en-US" sz="1800" b="1" baseline="30000" dirty="0" err="1" smtClean="0">
                          <a:solidFill>
                            <a:srgbClr val="FF0000"/>
                          </a:solidFill>
                        </a:rPr>
                        <a:t>a</a:t>
                      </a:r>
                      <a:r>
                        <a:rPr lang="en-US" sz="1800" b="1" dirty="0" err="1" smtClean="0">
                          <a:solidFill>
                            <a:srgbClr val="FF0000"/>
                          </a:solidFill>
                        </a:rPr>
                        <a:t>L</a:t>
                      </a:r>
                      <a:r>
                        <a:rPr lang="en-US" sz="1800" b="1" baseline="30000" dirty="0" err="1" smtClean="0">
                          <a:solidFill>
                            <a:srgbClr val="FF0000"/>
                          </a:solidFill>
                        </a:rPr>
                        <a:t>b</a:t>
                      </a:r>
                      <a:r>
                        <a:rPr lang="en-US" sz="1800" b="1" dirty="0" err="1" smtClean="0">
                          <a:solidFill>
                            <a:srgbClr val="FF0000"/>
                          </a:solidFill>
                        </a:rPr>
                        <a:t>T</a:t>
                      </a:r>
                      <a:r>
                        <a:rPr lang="en-US" sz="1800" b="1" baseline="30000" dirty="0" err="1" smtClean="0">
                          <a:solidFill>
                            <a:srgbClr val="FF0000"/>
                          </a:solidFill>
                        </a:rPr>
                        <a:t>c</a:t>
                      </a:r>
                      <a:r>
                        <a:rPr lang="en-US" sz="1800" b="1" dirty="0" smtClean="0">
                          <a:solidFill>
                            <a:srgbClr val="FF0000"/>
                          </a:solidFill>
                        </a:rPr>
                        <a:t>] = [MLT</a:t>
                      </a:r>
                      <a:r>
                        <a:rPr lang="en-US" sz="1800" b="1" baseline="30000" dirty="0" smtClean="0">
                          <a:solidFill>
                            <a:srgbClr val="FF0000"/>
                          </a:solidFill>
                        </a:rPr>
                        <a:t>-2</a:t>
                      </a:r>
                      <a:r>
                        <a:rPr lang="en-US" sz="1800" b="1" dirty="0" smtClean="0">
                          <a:solidFill>
                            <a:srgbClr val="FF0000"/>
                          </a:solidFill>
                        </a:rPr>
                        <a:t>]    Therefore, </a:t>
                      </a:r>
                      <a:r>
                        <a:rPr lang="en-US" sz="1800" b="1" baseline="0" dirty="0" smtClean="0">
                          <a:solidFill>
                            <a:srgbClr val="FF0000"/>
                          </a:solidFill>
                        </a:rPr>
                        <a:t> a=1, b=1, c=-2</a:t>
                      </a:r>
                      <a:r>
                        <a:rPr lang="en-US" sz="1800" b="1" dirty="0" smtClean="0">
                          <a:solidFill>
                            <a:srgbClr val="FF0000"/>
                          </a:solidFill>
                        </a:rPr>
                        <a:t>    </a:t>
                      </a:r>
                      <a:endParaRPr lang="en-IN" sz="1800" dirty="0"/>
                    </a:p>
                  </a:txBody>
                  <a:tcPr marT="45700" marB="45700"/>
                </a:tc>
                <a:tc hMerge="1">
                  <a:txBody>
                    <a:bodyPr/>
                    <a:lstStyle/>
                    <a:p>
                      <a:endParaRPr lang="en-IN" dirty="0"/>
                    </a:p>
                  </a:txBody>
                  <a:tcPr/>
                </a:tc>
                <a:tc hMerge="1">
                  <a:txBody>
                    <a:bodyPr/>
                    <a:lstStyle/>
                    <a:p>
                      <a:endParaRPr lang="en-US" dirty="0" smtClean="0"/>
                    </a:p>
                  </a:txBody>
                  <a:tcPr/>
                </a:tc>
                <a:extLst>
                  <a:ext uri="{0D108BD9-81ED-4DB2-BD59-A6C34878D82A}">
                    <a16:rowId xmlns:a16="http://schemas.microsoft.com/office/drawing/2014/main" val="10005"/>
                  </a:ext>
                </a:extLst>
              </a:tr>
            </a:tbl>
          </a:graphicData>
        </a:graphic>
      </p:graphicFrame>
      <p:grpSp>
        <p:nvGrpSpPr>
          <p:cNvPr id="61473" name="Group 5"/>
          <p:cNvGrpSpPr>
            <a:grpSpLocks/>
          </p:cNvGrpSpPr>
          <p:nvPr/>
        </p:nvGrpSpPr>
        <p:grpSpPr bwMode="auto">
          <a:xfrm>
            <a:off x="1633539" y="4324350"/>
            <a:ext cx="3648075" cy="954088"/>
            <a:chOff x="3347864" y="5719326"/>
            <a:chExt cx="3647381" cy="954202"/>
          </a:xfrm>
        </p:grpSpPr>
        <p:grpSp>
          <p:nvGrpSpPr>
            <p:cNvPr id="61500" name="Group 6"/>
            <p:cNvGrpSpPr>
              <a:grpSpLocks/>
            </p:cNvGrpSpPr>
            <p:nvPr/>
          </p:nvGrpSpPr>
          <p:grpSpPr bwMode="auto">
            <a:xfrm>
              <a:off x="4355976" y="5719326"/>
              <a:ext cx="2639269" cy="954202"/>
              <a:chOff x="1187624" y="4276508"/>
              <a:chExt cx="2639269" cy="954202"/>
            </a:xfrm>
          </p:grpSpPr>
          <p:grpSp>
            <p:nvGrpSpPr>
              <p:cNvPr id="61502" name="Group 8"/>
              <p:cNvGrpSpPr>
                <a:grpSpLocks/>
              </p:cNvGrpSpPr>
              <p:nvPr/>
            </p:nvGrpSpPr>
            <p:grpSpPr bwMode="auto">
              <a:xfrm>
                <a:off x="1187624" y="4475308"/>
                <a:ext cx="635794" cy="755402"/>
                <a:chOff x="1247776" y="4475308"/>
                <a:chExt cx="635794" cy="755402"/>
              </a:xfrm>
            </p:grpSpPr>
            <p:grpSp>
              <p:nvGrpSpPr>
                <p:cNvPr id="61516" name="Group 22"/>
                <p:cNvGrpSpPr>
                  <a:grpSpLocks/>
                </p:cNvGrpSpPr>
                <p:nvPr/>
              </p:nvGrpSpPr>
              <p:grpSpPr bwMode="auto">
                <a:xfrm>
                  <a:off x="1331640" y="4475308"/>
                  <a:ext cx="539483" cy="720170"/>
                  <a:chOff x="3186403" y="4581525"/>
                  <a:chExt cx="539483" cy="720170"/>
                </a:xfrm>
              </p:grpSpPr>
              <p:sp>
                <p:nvSpPr>
                  <p:cNvPr id="61518" name="Rectangle 7"/>
                  <p:cNvSpPr>
                    <a:spLocks noChangeArrowheads="1"/>
                  </p:cNvSpPr>
                  <p:nvPr/>
                </p:nvSpPr>
                <p:spPr bwMode="auto">
                  <a:xfrm>
                    <a:off x="3258870" y="4581525"/>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M</a:t>
                    </a:r>
                    <a:r>
                      <a:rPr lang="en-US" altLang="en-US" b="1" baseline="-25000">
                        <a:solidFill>
                          <a:srgbClr val="FF99FF"/>
                        </a:solidFill>
                      </a:rPr>
                      <a:t>1</a:t>
                    </a:r>
                  </a:p>
                </p:txBody>
              </p:sp>
              <p:sp>
                <p:nvSpPr>
                  <p:cNvPr id="61519" name="Rectangle 8"/>
                  <p:cNvSpPr>
                    <a:spLocks noChangeArrowheads="1"/>
                  </p:cNvSpPr>
                  <p:nvPr/>
                </p:nvSpPr>
                <p:spPr bwMode="auto">
                  <a:xfrm>
                    <a:off x="3263900" y="4932363"/>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M</a:t>
                    </a:r>
                    <a:r>
                      <a:rPr lang="en-US" altLang="en-US" b="1" baseline="-25000">
                        <a:solidFill>
                          <a:srgbClr val="FF99FF"/>
                        </a:solidFill>
                      </a:rPr>
                      <a:t>2</a:t>
                    </a:r>
                  </a:p>
                </p:txBody>
              </p:sp>
              <p:cxnSp>
                <p:nvCxnSpPr>
                  <p:cNvPr id="27" name="Straight Connector 26"/>
                  <p:cNvCxnSpPr/>
                  <p:nvPr/>
                </p:nvCxnSpPr>
                <p:spPr>
                  <a:xfrm>
                    <a:off x="3186419" y="4949531"/>
                    <a:ext cx="493618"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4" name="Double Bracket 23"/>
                <p:cNvSpPr/>
                <p:nvPr/>
              </p:nvSpPr>
              <p:spPr>
                <a:xfrm>
                  <a:off x="1247534" y="4481321"/>
                  <a:ext cx="636467" cy="749389"/>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nvGrpSpPr>
              <p:cNvPr id="61503" name="Group 9"/>
              <p:cNvGrpSpPr>
                <a:grpSpLocks/>
              </p:cNvGrpSpPr>
              <p:nvPr/>
            </p:nvGrpSpPr>
            <p:grpSpPr bwMode="auto">
              <a:xfrm>
                <a:off x="2944682" y="4467555"/>
                <a:ext cx="635794" cy="749300"/>
                <a:chOff x="2814521" y="4467555"/>
                <a:chExt cx="635794" cy="749300"/>
              </a:xfrm>
            </p:grpSpPr>
            <p:grpSp>
              <p:nvGrpSpPr>
                <p:cNvPr id="61511" name="Group 17"/>
                <p:cNvGrpSpPr>
                  <a:grpSpLocks/>
                </p:cNvGrpSpPr>
                <p:nvPr/>
              </p:nvGrpSpPr>
              <p:grpSpPr bwMode="auto">
                <a:xfrm>
                  <a:off x="2880389" y="4478677"/>
                  <a:ext cx="493712" cy="720170"/>
                  <a:chOff x="3186403" y="4581525"/>
                  <a:chExt cx="493712" cy="720170"/>
                </a:xfrm>
              </p:grpSpPr>
              <p:sp>
                <p:nvSpPr>
                  <p:cNvPr id="61513" name="Rectangle 7"/>
                  <p:cNvSpPr>
                    <a:spLocks noChangeArrowheads="1"/>
                  </p:cNvSpPr>
                  <p:nvPr/>
                </p:nvSpPr>
                <p:spPr bwMode="auto">
                  <a:xfrm>
                    <a:off x="3258870" y="4581525"/>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T</a:t>
                    </a:r>
                    <a:r>
                      <a:rPr lang="en-US" altLang="en-US" b="1" baseline="-25000">
                        <a:solidFill>
                          <a:srgbClr val="FF99FF"/>
                        </a:solidFill>
                      </a:rPr>
                      <a:t>1</a:t>
                    </a:r>
                  </a:p>
                </p:txBody>
              </p:sp>
              <p:sp>
                <p:nvSpPr>
                  <p:cNvPr id="61514" name="Rectangle 8"/>
                  <p:cNvSpPr>
                    <a:spLocks noChangeArrowheads="1"/>
                  </p:cNvSpPr>
                  <p:nvPr/>
                </p:nvSpPr>
                <p:spPr bwMode="auto">
                  <a:xfrm>
                    <a:off x="3263900" y="493236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T</a:t>
                    </a:r>
                    <a:r>
                      <a:rPr lang="en-US" altLang="en-US" b="1" baseline="-25000">
                        <a:solidFill>
                          <a:srgbClr val="FF99FF"/>
                        </a:solidFill>
                      </a:rPr>
                      <a:t>2</a:t>
                    </a:r>
                  </a:p>
                </p:txBody>
              </p:sp>
              <p:cxnSp>
                <p:nvCxnSpPr>
                  <p:cNvPr id="22" name="Straight Connector 21"/>
                  <p:cNvCxnSpPr/>
                  <p:nvPr/>
                </p:nvCxnSpPr>
                <p:spPr>
                  <a:xfrm>
                    <a:off x="3186926" y="4949337"/>
                    <a:ext cx="493618"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9" name="Double Bracket 18"/>
                <p:cNvSpPr/>
                <p:nvPr/>
              </p:nvSpPr>
              <p:spPr>
                <a:xfrm>
                  <a:off x="2814250" y="4467031"/>
                  <a:ext cx="636466"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nvGrpSpPr>
              <p:cNvPr id="61504" name="Group 10"/>
              <p:cNvGrpSpPr>
                <a:grpSpLocks/>
              </p:cNvGrpSpPr>
              <p:nvPr/>
            </p:nvGrpSpPr>
            <p:grpSpPr bwMode="auto">
              <a:xfrm>
                <a:off x="2050143" y="4467555"/>
                <a:ext cx="635794" cy="749300"/>
                <a:chOff x="2021277" y="4467555"/>
                <a:chExt cx="635794" cy="749300"/>
              </a:xfrm>
            </p:grpSpPr>
            <p:grpSp>
              <p:nvGrpSpPr>
                <p:cNvPr id="61506" name="Group 12"/>
                <p:cNvGrpSpPr>
                  <a:grpSpLocks/>
                </p:cNvGrpSpPr>
                <p:nvPr/>
              </p:nvGrpSpPr>
              <p:grpSpPr bwMode="auto">
                <a:xfrm>
                  <a:off x="2088301" y="4481410"/>
                  <a:ext cx="493712" cy="720170"/>
                  <a:chOff x="3186403" y="4581525"/>
                  <a:chExt cx="493712" cy="720170"/>
                </a:xfrm>
              </p:grpSpPr>
              <p:sp>
                <p:nvSpPr>
                  <p:cNvPr id="61508" name="Rectangle 7"/>
                  <p:cNvSpPr>
                    <a:spLocks noChangeArrowheads="1"/>
                  </p:cNvSpPr>
                  <p:nvPr/>
                </p:nvSpPr>
                <p:spPr bwMode="auto">
                  <a:xfrm>
                    <a:off x="3258870" y="4581525"/>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L</a:t>
                    </a:r>
                    <a:r>
                      <a:rPr lang="en-US" altLang="en-US" b="1" baseline="-25000">
                        <a:solidFill>
                          <a:srgbClr val="FF99FF"/>
                        </a:solidFill>
                      </a:rPr>
                      <a:t>1</a:t>
                    </a:r>
                  </a:p>
                </p:txBody>
              </p:sp>
              <p:sp>
                <p:nvSpPr>
                  <p:cNvPr id="61509" name="Rectangle 8"/>
                  <p:cNvSpPr>
                    <a:spLocks noChangeArrowheads="1"/>
                  </p:cNvSpPr>
                  <p:nvPr/>
                </p:nvSpPr>
                <p:spPr bwMode="auto">
                  <a:xfrm>
                    <a:off x="3263900" y="493236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L</a:t>
                    </a:r>
                    <a:r>
                      <a:rPr lang="en-US" altLang="en-US" b="1" baseline="-25000">
                        <a:solidFill>
                          <a:srgbClr val="FF99FF"/>
                        </a:solidFill>
                      </a:rPr>
                      <a:t>2</a:t>
                    </a:r>
                  </a:p>
                </p:txBody>
              </p:sp>
              <p:cxnSp>
                <p:nvCxnSpPr>
                  <p:cNvPr id="17" name="Straight Connector 16"/>
                  <p:cNvCxnSpPr/>
                  <p:nvPr/>
                </p:nvCxnSpPr>
                <p:spPr>
                  <a:xfrm>
                    <a:off x="3153385" y="4949780"/>
                    <a:ext cx="526950"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4" name="Double Bracket 13"/>
                <p:cNvSpPr/>
                <p:nvPr/>
              </p:nvSpPr>
              <p:spPr>
                <a:xfrm>
                  <a:off x="1988621" y="4467031"/>
                  <a:ext cx="668210" cy="74939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sp>
            <p:nvSpPr>
              <p:cNvPr id="61505" name="Rectangle 2"/>
              <p:cNvSpPr>
                <a:spLocks noChangeArrowheads="1"/>
              </p:cNvSpPr>
              <p:nvPr/>
            </p:nvSpPr>
            <p:spPr bwMode="auto">
              <a:xfrm>
                <a:off x="1769920" y="4276508"/>
                <a:ext cx="2056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a            b           c</a:t>
                </a:r>
                <a:endParaRPr lang="en-IN" altLang="en-US">
                  <a:solidFill>
                    <a:srgbClr val="FF99FF"/>
                  </a:solidFill>
                </a:endParaRPr>
              </a:p>
            </p:txBody>
          </p:sp>
        </p:grpSp>
        <p:sp>
          <p:nvSpPr>
            <p:cNvPr id="61501" name="Rectangle 7"/>
            <p:cNvSpPr>
              <a:spLocks noChangeArrowheads="1"/>
            </p:cNvSpPr>
            <p:nvPr/>
          </p:nvSpPr>
          <p:spPr bwMode="auto">
            <a:xfrm>
              <a:off x="3347864" y="6111265"/>
              <a:ext cx="1152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99FF"/>
                  </a:solidFill>
                </a:rPr>
                <a:t> n</a:t>
              </a:r>
              <a:r>
                <a:rPr lang="en-US" altLang="en-US" sz="2000" b="1" baseline="-25000">
                  <a:solidFill>
                    <a:srgbClr val="FF99FF"/>
                  </a:solidFill>
                </a:rPr>
                <a:t>2</a:t>
              </a:r>
              <a:r>
                <a:rPr lang="en-US" altLang="en-US" sz="2000" b="1">
                  <a:solidFill>
                    <a:srgbClr val="FF99FF"/>
                  </a:solidFill>
                </a:rPr>
                <a:t> = n</a:t>
              </a:r>
              <a:r>
                <a:rPr lang="en-US" altLang="en-US" sz="2000" b="1" baseline="-25000">
                  <a:solidFill>
                    <a:srgbClr val="FF99FF"/>
                  </a:solidFill>
                </a:rPr>
                <a:t>1    </a:t>
              </a:r>
              <a:endParaRPr lang="en-US" altLang="en-US" sz="2000" b="1">
                <a:solidFill>
                  <a:srgbClr val="FF99FF"/>
                </a:solidFill>
              </a:endParaRPr>
            </a:p>
          </p:txBody>
        </p:sp>
      </p:grpSp>
      <p:grpSp>
        <p:nvGrpSpPr>
          <p:cNvPr id="4" name="Group 3"/>
          <p:cNvGrpSpPr>
            <a:grpSpLocks/>
          </p:cNvGrpSpPr>
          <p:nvPr/>
        </p:nvGrpSpPr>
        <p:grpSpPr bwMode="auto">
          <a:xfrm>
            <a:off x="1631950" y="5310189"/>
            <a:ext cx="5157788" cy="904875"/>
            <a:chOff x="107950" y="5310188"/>
            <a:chExt cx="5157788" cy="904875"/>
          </a:xfrm>
        </p:grpSpPr>
        <p:sp>
          <p:nvSpPr>
            <p:cNvPr id="61485" name="Rectangle 7"/>
            <p:cNvSpPr>
              <a:spLocks noChangeArrowheads="1"/>
            </p:cNvSpPr>
            <p:nvPr/>
          </p:nvSpPr>
          <p:spPr bwMode="auto">
            <a:xfrm>
              <a:off x="1162050" y="5456238"/>
              <a:ext cx="936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10</a:t>
              </a:r>
              <a:r>
                <a:rPr lang="en-US" altLang="en-US" b="1" baseline="30000">
                  <a:solidFill>
                    <a:srgbClr val="FF99FF"/>
                  </a:solidFill>
                </a:rPr>
                <a:t>6</a:t>
              </a:r>
              <a:r>
                <a:rPr lang="en-US" altLang="en-US" b="1">
                  <a:solidFill>
                    <a:srgbClr val="FF99FF"/>
                  </a:solidFill>
                </a:rPr>
                <a:t> mg</a:t>
              </a:r>
              <a:endParaRPr lang="en-US" altLang="en-US" b="1" baseline="-25000">
                <a:solidFill>
                  <a:srgbClr val="FF99FF"/>
                </a:solidFill>
              </a:endParaRPr>
            </a:p>
          </p:txBody>
        </p:sp>
        <p:sp>
          <p:nvSpPr>
            <p:cNvPr id="3" name="Rectangle 8"/>
            <p:cNvSpPr>
              <a:spLocks noChangeArrowheads="1"/>
            </p:cNvSpPr>
            <p:nvPr/>
          </p:nvSpPr>
          <p:spPr bwMode="auto">
            <a:xfrm>
              <a:off x="1327150" y="580707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mg</a:t>
              </a:r>
              <a:endParaRPr lang="en-US" altLang="en-US" b="1" baseline="-25000">
                <a:solidFill>
                  <a:srgbClr val="FF99FF"/>
                </a:solidFill>
              </a:endParaRPr>
            </a:p>
          </p:txBody>
        </p:sp>
        <p:cxnSp>
          <p:nvCxnSpPr>
            <p:cNvPr id="44" name="Straight Connector 43"/>
            <p:cNvCxnSpPr/>
            <p:nvPr/>
          </p:nvCxnSpPr>
          <p:spPr>
            <a:xfrm flipV="1">
              <a:off x="1177925" y="5822950"/>
              <a:ext cx="857250" cy="15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5" name="Double Bracket 44"/>
            <p:cNvSpPr/>
            <p:nvPr/>
          </p:nvSpPr>
          <p:spPr>
            <a:xfrm>
              <a:off x="1098550" y="5462588"/>
              <a:ext cx="1038225" cy="74930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sp>
          <p:nvSpPr>
            <p:cNvPr id="61489" name="Rectangle 2"/>
            <p:cNvSpPr>
              <a:spLocks noChangeArrowheads="1"/>
            </p:cNvSpPr>
            <p:nvPr/>
          </p:nvSpPr>
          <p:spPr bwMode="auto">
            <a:xfrm>
              <a:off x="2055813" y="5310188"/>
              <a:ext cx="3209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1                 -2</a:t>
              </a:r>
              <a:endParaRPr lang="en-IN" altLang="en-US">
                <a:solidFill>
                  <a:srgbClr val="FF99FF"/>
                </a:solidFill>
              </a:endParaRPr>
            </a:p>
          </p:txBody>
        </p:sp>
        <p:sp>
          <p:nvSpPr>
            <p:cNvPr id="6" name="Rectangle 30"/>
            <p:cNvSpPr>
              <a:spLocks noChangeArrowheads="1"/>
            </p:cNvSpPr>
            <p:nvPr/>
          </p:nvSpPr>
          <p:spPr bwMode="auto">
            <a:xfrm>
              <a:off x="107950" y="5649913"/>
              <a:ext cx="1150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FF99FF"/>
                  </a:solidFill>
                </a:rPr>
                <a:t> n</a:t>
              </a:r>
              <a:r>
                <a:rPr lang="en-US" altLang="en-US" sz="2000" b="1" baseline="-25000">
                  <a:solidFill>
                    <a:srgbClr val="FF99FF"/>
                  </a:solidFill>
                </a:rPr>
                <a:t>2</a:t>
              </a:r>
              <a:r>
                <a:rPr lang="en-US" altLang="en-US" sz="2000" b="1">
                  <a:solidFill>
                    <a:srgbClr val="FF99FF"/>
                  </a:solidFill>
                </a:rPr>
                <a:t> = 1</a:t>
              </a:r>
              <a:r>
                <a:rPr lang="en-US" altLang="en-US" sz="2000" b="1" baseline="-25000">
                  <a:solidFill>
                    <a:srgbClr val="FF99FF"/>
                  </a:solidFill>
                </a:rPr>
                <a:t>    </a:t>
              </a:r>
              <a:endParaRPr lang="en-US" altLang="en-US" sz="2000" b="1">
                <a:solidFill>
                  <a:srgbClr val="FF99FF"/>
                </a:solidFill>
              </a:endParaRPr>
            </a:p>
          </p:txBody>
        </p:sp>
        <p:sp>
          <p:nvSpPr>
            <p:cNvPr id="61491" name="Rectangle 7"/>
            <p:cNvSpPr>
              <a:spLocks noChangeArrowheads="1"/>
            </p:cNvSpPr>
            <p:nvPr/>
          </p:nvSpPr>
          <p:spPr bwMode="auto">
            <a:xfrm>
              <a:off x="2427288" y="5459413"/>
              <a:ext cx="1287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1/1000 km</a:t>
              </a:r>
              <a:endParaRPr lang="en-US" altLang="en-US" b="1" baseline="-25000">
                <a:solidFill>
                  <a:srgbClr val="FF99FF"/>
                </a:solidFill>
              </a:endParaRPr>
            </a:p>
          </p:txBody>
        </p:sp>
        <p:sp>
          <p:nvSpPr>
            <p:cNvPr id="61492" name="Rectangle 8"/>
            <p:cNvSpPr>
              <a:spLocks noChangeArrowheads="1"/>
            </p:cNvSpPr>
            <p:nvPr/>
          </p:nvSpPr>
          <p:spPr bwMode="auto">
            <a:xfrm>
              <a:off x="2592388" y="5810250"/>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1 km</a:t>
              </a:r>
              <a:endParaRPr lang="en-US" altLang="en-US" b="1" baseline="-25000">
                <a:solidFill>
                  <a:srgbClr val="FF99FF"/>
                </a:solidFill>
              </a:endParaRPr>
            </a:p>
          </p:txBody>
        </p:sp>
        <p:cxnSp>
          <p:nvCxnSpPr>
            <p:cNvPr id="40" name="Straight Connector 39"/>
            <p:cNvCxnSpPr/>
            <p:nvPr/>
          </p:nvCxnSpPr>
          <p:spPr>
            <a:xfrm flipV="1">
              <a:off x="2493963" y="5826125"/>
              <a:ext cx="1141412" cy="15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1" name="Double Bracket 40"/>
            <p:cNvSpPr/>
            <p:nvPr/>
          </p:nvSpPr>
          <p:spPr>
            <a:xfrm>
              <a:off x="2425700" y="5465763"/>
              <a:ext cx="1263650" cy="749300"/>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nvGrpSpPr>
            <p:cNvPr id="61495" name="Group 32"/>
            <p:cNvGrpSpPr>
              <a:grpSpLocks/>
            </p:cNvGrpSpPr>
            <p:nvPr/>
          </p:nvGrpSpPr>
          <p:grpSpPr bwMode="auto">
            <a:xfrm>
              <a:off x="3915415" y="5459413"/>
              <a:ext cx="1018226" cy="755650"/>
              <a:chOff x="1361021" y="5716032"/>
              <a:chExt cx="1018729" cy="755402"/>
            </a:xfrm>
          </p:grpSpPr>
          <p:sp>
            <p:nvSpPr>
              <p:cNvPr id="61496" name="Rectangle 7"/>
              <p:cNvSpPr>
                <a:spLocks noChangeArrowheads="1"/>
              </p:cNvSpPr>
              <p:nvPr/>
            </p:nvSpPr>
            <p:spPr bwMode="auto">
              <a:xfrm>
                <a:off x="1361021" y="5716032"/>
                <a:ext cx="1018729" cy="36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   1/60 s</a:t>
                </a:r>
                <a:endParaRPr lang="en-US" altLang="en-US" b="1" baseline="-25000">
                  <a:solidFill>
                    <a:srgbClr val="FF99FF"/>
                  </a:solidFill>
                </a:endParaRPr>
              </a:p>
            </p:txBody>
          </p:sp>
          <p:sp>
            <p:nvSpPr>
              <p:cNvPr id="61497" name="Rectangle 8"/>
              <p:cNvSpPr>
                <a:spLocks noChangeArrowheads="1"/>
              </p:cNvSpPr>
              <p:nvPr/>
            </p:nvSpPr>
            <p:spPr bwMode="auto">
              <a:xfrm>
                <a:off x="1475657" y="6066870"/>
                <a:ext cx="697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   1 s</a:t>
                </a:r>
                <a:endParaRPr lang="en-US" altLang="en-US" b="1" baseline="-25000">
                  <a:solidFill>
                    <a:srgbClr val="FF99FF"/>
                  </a:solidFill>
                </a:endParaRPr>
              </a:p>
            </p:txBody>
          </p:sp>
          <p:cxnSp>
            <p:nvCxnSpPr>
              <p:cNvPr id="36" name="Straight Connector 35"/>
              <p:cNvCxnSpPr/>
              <p:nvPr/>
            </p:nvCxnSpPr>
            <p:spPr>
              <a:xfrm flipV="1">
                <a:off x="1565270" y="6082624"/>
                <a:ext cx="708375" cy="15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Double Bracket 36"/>
              <p:cNvSpPr/>
              <p:nvPr/>
            </p:nvSpPr>
            <p:spPr>
              <a:xfrm>
                <a:off x="1428677" y="5722380"/>
                <a:ext cx="949794" cy="749054"/>
              </a:xfrm>
              <a:prstGeom prst="bracket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FF99FF"/>
                  </a:solidFill>
                  <a:latin typeface="Arial"/>
                </a:endParaRPr>
              </a:p>
            </p:txBody>
          </p:sp>
        </p:grpSp>
      </p:grpSp>
      <p:cxnSp>
        <p:nvCxnSpPr>
          <p:cNvPr id="46" name="Straight Connector 45"/>
          <p:cNvCxnSpPr/>
          <p:nvPr/>
        </p:nvCxnSpPr>
        <p:spPr>
          <a:xfrm>
            <a:off x="6743700" y="4375150"/>
            <a:ext cx="0" cy="2078038"/>
          </a:xfrm>
          <a:prstGeom prst="line">
            <a:avLst/>
          </a:prstGeom>
          <a:ln w="28575">
            <a:solidFill>
              <a:srgbClr val="FF99FF"/>
            </a:solidFill>
          </a:ln>
        </p:spPr>
        <p:style>
          <a:lnRef idx="1">
            <a:schemeClr val="accent1"/>
          </a:lnRef>
          <a:fillRef idx="0">
            <a:schemeClr val="accent1"/>
          </a:fillRef>
          <a:effectRef idx="0">
            <a:schemeClr val="accent1"/>
          </a:effectRef>
          <a:fontRef idx="minor">
            <a:schemeClr val="tx1"/>
          </a:fontRef>
        </p:style>
      </p:cxnSp>
      <p:sp>
        <p:nvSpPr>
          <p:cNvPr id="61486" name="Rectangle 46"/>
          <p:cNvSpPr>
            <a:spLocks noChangeArrowheads="1"/>
          </p:cNvSpPr>
          <p:nvPr/>
        </p:nvSpPr>
        <p:spPr bwMode="auto">
          <a:xfrm>
            <a:off x="6816725" y="4529139"/>
            <a:ext cx="2795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n</a:t>
            </a:r>
            <a:r>
              <a:rPr lang="en-US" altLang="en-US" b="1" baseline="-25000">
                <a:solidFill>
                  <a:srgbClr val="FF99FF"/>
                </a:solidFill>
              </a:rPr>
              <a:t>2</a:t>
            </a:r>
            <a:r>
              <a:rPr lang="en-US" altLang="en-US" b="1">
                <a:solidFill>
                  <a:srgbClr val="FF99FF"/>
                </a:solidFill>
              </a:rPr>
              <a:t> = 1 (10</a:t>
            </a:r>
            <a:r>
              <a:rPr lang="en-US" altLang="en-US" b="1" baseline="30000">
                <a:solidFill>
                  <a:srgbClr val="FF99FF"/>
                </a:solidFill>
              </a:rPr>
              <a:t>6 </a:t>
            </a:r>
            <a:r>
              <a:rPr lang="en-US" altLang="en-US" b="1">
                <a:solidFill>
                  <a:srgbClr val="FF99FF"/>
                </a:solidFill>
              </a:rPr>
              <a:t>)</a:t>
            </a:r>
            <a:r>
              <a:rPr lang="en-US" altLang="en-US" b="1" baseline="30000">
                <a:solidFill>
                  <a:srgbClr val="FF99FF"/>
                </a:solidFill>
              </a:rPr>
              <a:t>1</a:t>
            </a:r>
            <a:r>
              <a:rPr lang="en-US" altLang="en-US" b="1">
                <a:solidFill>
                  <a:srgbClr val="FF99FF"/>
                </a:solidFill>
              </a:rPr>
              <a:t> (10</a:t>
            </a:r>
            <a:r>
              <a:rPr lang="en-US" altLang="en-US" b="1" baseline="30000">
                <a:solidFill>
                  <a:srgbClr val="FF99FF"/>
                </a:solidFill>
              </a:rPr>
              <a:t>-3</a:t>
            </a:r>
            <a:r>
              <a:rPr lang="en-US" altLang="en-US" b="1">
                <a:solidFill>
                  <a:srgbClr val="FF99FF"/>
                </a:solidFill>
              </a:rPr>
              <a:t>)</a:t>
            </a:r>
            <a:r>
              <a:rPr lang="en-US" altLang="en-US" b="1" baseline="30000">
                <a:solidFill>
                  <a:srgbClr val="FF99FF"/>
                </a:solidFill>
              </a:rPr>
              <a:t>1</a:t>
            </a:r>
            <a:r>
              <a:rPr lang="en-US" altLang="en-US" b="1">
                <a:solidFill>
                  <a:srgbClr val="FF99FF"/>
                </a:solidFill>
              </a:rPr>
              <a:t> (60)</a:t>
            </a:r>
            <a:r>
              <a:rPr lang="en-US" altLang="en-US" b="1" baseline="30000">
                <a:solidFill>
                  <a:srgbClr val="FF99FF"/>
                </a:solidFill>
              </a:rPr>
              <a:t>2</a:t>
            </a:r>
            <a:endParaRPr lang="en-IN" altLang="en-US" baseline="30000">
              <a:solidFill>
                <a:srgbClr val="FF99FF"/>
              </a:solidFill>
            </a:endParaRPr>
          </a:p>
        </p:txBody>
      </p:sp>
      <p:sp>
        <p:nvSpPr>
          <p:cNvPr id="61487" name="Rectangle 47"/>
          <p:cNvSpPr>
            <a:spLocks noChangeArrowheads="1"/>
          </p:cNvSpPr>
          <p:nvPr/>
        </p:nvSpPr>
        <p:spPr bwMode="auto">
          <a:xfrm>
            <a:off x="6816726" y="4979989"/>
            <a:ext cx="1590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n</a:t>
            </a:r>
            <a:r>
              <a:rPr lang="en-US" altLang="en-US" b="1" baseline="-25000">
                <a:solidFill>
                  <a:srgbClr val="FF99FF"/>
                </a:solidFill>
              </a:rPr>
              <a:t>2</a:t>
            </a:r>
            <a:r>
              <a:rPr lang="en-US" altLang="en-US" b="1">
                <a:solidFill>
                  <a:srgbClr val="FF99FF"/>
                </a:solidFill>
              </a:rPr>
              <a:t> = 3.6 x 10</a:t>
            </a:r>
            <a:r>
              <a:rPr lang="en-US" altLang="en-US" b="1" baseline="30000">
                <a:solidFill>
                  <a:srgbClr val="FF99FF"/>
                </a:solidFill>
              </a:rPr>
              <a:t>6</a:t>
            </a:r>
            <a:endParaRPr lang="en-IN" altLang="en-US">
              <a:solidFill>
                <a:srgbClr val="FF99FF"/>
              </a:solidFill>
            </a:endParaRPr>
          </a:p>
        </p:txBody>
      </p:sp>
      <p:grpSp>
        <p:nvGrpSpPr>
          <p:cNvPr id="61477" name="Group 7"/>
          <p:cNvGrpSpPr>
            <a:grpSpLocks/>
          </p:cNvGrpSpPr>
          <p:nvPr/>
        </p:nvGrpSpPr>
        <p:grpSpPr bwMode="auto">
          <a:xfrm>
            <a:off x="6816726" y="5629276"/>
            <a:ext cx="3743325" cy="392113"/>
            <a:chOff x="5292080" y="5629175"/>
            <a:chExt cx="3743970" cy="392113"/>
          </a:xfrm>
        </p:grpSpPr>
        <p:grpSp>
          <p:nvGrpSpPr>
            <p:cNvPr id="49" name="Group 159"/>
            <p:cNvGrpSpPr>
              <a:grpSpLocks/>
            </p:cNvGrpSpPr>
            <p:nvPr/>
          </p:nvGrpSpPr>
          <p:grpSpPr bwMode="auto">
            <a:xfrm>
              <a:off x="5292080" y="5781838"/>
              <a:ext cx="152400" cy="152400"/>
              <a:chOff x="3168" y="1392"/>
              <a:chExt cx="144" cy="144"/>
            </a:xfrm>
            <a:solidFill>
              <a:srgbClr val="0099FF"/>
            </a:solidFill>
          </p:grpSpPr>
          <p:sp>
            <p:nvSpPr>
              <p:cNvPr id="50" name="Oval 160"/>
              <p:cNvSpPr>
                <a:spLocks noChangeArrowheads="1"/>
              </p:cNvSpPr>
              <p:nvPr/>
            </p:nvSpPr>
            <p:spPr bwMode="auto">
              <a:xfrm>
                <a:off x="3168"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sp>
            <p:nvSpPr>
              <p:cNvPr id="51" name="Oval 161"/>
              <p:cNvSpPr>
                <a:spLocks noChangeArrowheads="1"/>
              </p:cNvSpPr>
              <p:nvPr/>
            </p:nvSpPr>
            <p:spPr bwMode="auto">
              <a:xfrm>
                <a:off x="3264"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sp>
            <p:nvSpPr>
              <p:cNvPr id="52" name="Oval 162"/>
              <p:cNvSpPr>
                <a:spLocks noChangeArrowheads="1"/>
              </p:cNvSpPr>
              <p:nvPr/>
            </p:nvSpPr>
            <p:spPr bwMode="auto">
              <a:xfrm>
                <a:off x="3216" y="1392"/>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000000"/>
                  </a:solidFill>
                  <a:latin typeface="Arial" panose="020B0604020202020204" pitchFamily="34" charset="0"/>
                </a:endParaRPr>
              </a:p>
            </p:txBody>
          </p:sp>
        </p:grpSp>
        <p:sp>
          <p:nvSpPr>
            <p:cNvPr id="2" name="Rounded Rectangle 1"/>
            <p:cNvSpPr/>
            <p:nvPr/>
          </p:nvSpPr>
          <p:spPr bwMode="auto">
            <a:xfrm>
              <a:off x="5508017" y="5629175"/>
              <a:ext cx="3456583" cy="392113"/>
            </a:xfrm>
            <a:prstGeom prst="roundRect">
              <a:avLst/>
            </a:prstGeom>
            <a:solidFill>
              <a:srgbClr val="0099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sp>
          <p:nvSpPr>
            <p:cNvPr id="61484" name="Rectangle 52"/>
            <p:cNvSpPr>
              <a:spLocks noChangeArrowheads="1"/>
            </p:cNvSpPr>
            <p:nvPr/>
          </p:nvSpPr>
          <p:spPr bwMode="auto">
            <a:xfrm>
              <a:off x="5508104" y="5629175"/>
              <a:ext cx="35279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FFFF"/>
                  </a:solidFill>
                </a:rPr>
                <a:t>1 newton =</a:t>
              </a:r>
              <a:r>
                <a:rPr lang="en-US" altLang="en-US" b="1">
                  <a:solidFill>
                    <a:srgbClr val="FF99FF"/>
                  </a:solidFill>
                </a:rPr>
                <a:t>3.6x10</a:t>
              </a:r>
              <a:r>
                <a:rPr lang="en-US" altLang="en-US" b="1" baseline="30000">
                  <a:solidFill>
                    <a:srgbClr val="FF99FF"/>
                  </a:solidFill>
                </a:rPr>
                <a:t>6</a:t>
              </a:r>
              <a:r>
                <a:rPr lang="en-US" altLang="en-US" b="1">
                  <a:solidFill>
                    <a:srgbClr val="FFFFFF"/>
                  </a:solidFill>
                </a:rPr>
                <a:t>mg km min</a:t>
              </a:r>
              <a:r>
                <a:rPr lang="en-US" altLang="en-US" b="1" baseline="30000">
                  <a:solidFill>
                    <a:srgbClr val="FFFFFF"/>
                  </a:solidFill>
                </a:rPr>
                <a:t>-2</a:t>
              </a:r>
              <a:endParaRPr lang="en-IN" altLang="en-US" baseline="30000">
                <a:solidFill>
                  <a:srgbClr val="FFFFFF"/>
                </a:solidFill>
              </a:endParaRPr>
            </a:p>
          </p:txBody>
        </p:sp>
      </p:grpSp>
      <p:sp>
        <p:nvSpPr>
          <p:cNvPr id="61490" name="Rectangle 53"/>
          <p:cNvSpPr>
            <a:spLocks noChangeArrowheads="1"/>
          </p:cNvSpPr>
          <p:nvPr/>
        </p:nvSpPr>
        <p:spPr bwMode="auto">
          <a:xfrm>
            <a:off x="1774825" y="1692275"/>
            <a:ext cx="3665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6600"/>
                </a:solidFill>
              </a:rPr>
              <a:t>Let  n</a:t>
            </a:r>
            <a:r>
              <a:rPr lang="en-US" altLang="en-US" b="1" baseline="-25000">
                <a:solidFill>
                  <a:srgbClr val="FF6600"/>
                </a:solidFill>
              </a:rPr>
              <a:t>1</a:t>
            </a:r>
            <a:r>
              <a:rPr lang="en-US" altLang="en-US" b="1">
                <a:solidFill>
                  <a:srgbClr val="FF6600"/>
                </a:solidFill>
              </a:rPr>
              <a:t> newton = n</a:t>
            </a:r>
            <a:r>
              <a:rPr lang="en-US" altLang="en-US" b="1" baseline="-25000">
                <a:solidFill>
                  <a:srgbClr val="FF6600"/>
                </a:solidFill>
              </a:rPr>
              <a:t>2</a:t>
            </a:r>
            <a:r>
              <a:rPr lang="en-US" altLang="en-US" b="1">
                <a:solidFill>
                  <a:srgbClr val="FF6600"/>
                </a:solidFill>
              </a:rPr>
              <a:t> mg km min</a:t>
            </a:r>
            <a:r>
              <a:rPr lang="en-US" altLang="en-US" b="1" baseline="30000">
                <a:solidFill>
                  <a:srgbClr val="FF6600"/>
                </a:solidFill>
              </a:rPr>
              <a:t>-2</a:t>
            </a:r>
            <a:endParaRPr lang="en-IN" altLang="en-US" baseline="30000">
              <a:solidFill>
                <a:srgbClr val="FF6600"/>
              </a:solidFill>
            </a:endParaRPr>
          </a:p>
        </p:txBody>
      </p:sp>
      <p:sp>
        <p:nvSpPr>
          <p:cNvPr id="61479" name="Rectangle 1">
            <a:hlinkClick r:id="rId2"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61480"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61481"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2293194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fade">
                                      <p:cBhvr>
                                        <p:cTn id="7" dur="1000"/>
                                        <p:tgtEl>
                                          <p:spTgt spid="61443"/>
                                        </p:tgtEl>
                                      </p:cBhvr>
                                    </p:animEffect>
                                    <p:anim calcmode="lin" valueType="num">
                                      <p:cBhvr>
                                        <p:cTn id="8" dur="1000" fill="hold"/>
                                        <p:tgtEl>
                                          <p:spTgt spid="61443"/>
                                        </p:tgtEl>
                                        <p:attrNameLst>
                                          <p:attrName>ppt_x</p:attrName>
                                        </p:attrNameLst>
                                      </p:cBhvr>
                                      <p:tavLst>
                                        <p:tav tm="0">
                                          <p:val>
                                            <p:strVal val="#ppt_x"/>
                                          </p:val>
                                        </p:tav>
                                        <p:tav tm="100000">
                                          <p:val>
                                            <p:strVal val="#ppt_x"/>
                                          </p:val>
                                        </p:tav>
                                      </p:tavLst>
                                    </p:anim>
                                    <p:anim calcmode="lin" valueType="num">
                                      <p:cBhvr>
                                        <p:cTn id="9" dur="1000" fill="hold"/>
                                        <p:tgtEl>
                                          <p:spTgt spid="6144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61444">
                                            <p:txEl>
                                              <p:pRg st="0" end="0"/>
                                            </p:txEl>
                                          </p:spTgt>
                                        </p:tgtEl>
                                        <p:attrNameLst>
                                          <p:attrName>style.visibility</p:attrName>
                                        </p:attrNameLst>
                                      </p:cBhvr>
                                      <p:to>
                                        <p:strVal val="visible"/>
                                      </p:to>
                                    </p:set>
                                    <p:animEffect transition="in" filter="wipe(up)">
                                      <p:cBhvr>
                                        <p:cTn id="14" dur="500"/>
                                        <p:tgtEl>
                                          <p:spTgt spid="61444">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61444">
                                            <p:txEl>
                                              <p:pRg st="1" end="1"/>
                                            </p:txEl>
                                          </p:spTgt>
                                        </p:tgtEl>
                                        <p:attrNameLst>
                                          <p:attrName>style.visibility</p:attrName>
                                        </p:attrNameLst>
                                      </p:cBhvr>
                                      <p:to>
                                        <p:strVal val="visible"/>
                                      </p:to>
                                    </p:set>
                                    <p:animEffect transition="in" filter="wipe(up)">
                                      <p:cBhvr>
                                        <p:cTn id="19" dur="500"/>
                                        <p:tgtEl>
                                          <p:spTgt spid="61444">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1490"/>
                                        </p:tgtEl>
                                        <p:attrNameLst>
                                          <p:attrName>style.visibility</p:attrName>
                                        </p:attrNameLst>
                                      </p:cBhvr>
                                      <p:to>
                                        <p:strVal val="visible"/>
                                      </p:to>
                                    </p:set>
                                    <p:animEffect transition="in" filter="wipe(left)">
                                      <p:cBhvr>
                                        <p:cTn id="24" dur="500"/>
                                        <p:tgtEl>
                                          <p:spTgt spid="6149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up)">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1473"/>
                                        </p:tgtEl>
                                        <p:attrNameLst>
                                          <p:attrName>style.visibility</p:attrName>
                                        </p:attrNameLst>
                                      </p:cBhvr>
                                      <p:to>
                                        <p:strVal val="visible"/>
                                      </p:to>
                                    </p:set>
                                    <p:animEffect transition="in" filter="wipe(left)">
                                      <p:cBhvr>
                                        <p:cTn id="34" dur="500"/>
                                        <p:tgtEl>
                                          <p:spTgt spid="6147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up)">
                                      <p:cBhvr>
                                        <p:cTn id="44" dur="500"/>
                                        <p:tgtEl>
                                          <p:spTgt spid="4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1486"/>
                                        </p:tgtEl>
                                        <p:attrNameLst>
                                          <p:attrName>style.visibility</p:attrName>
                                        </p:attrNameLst>
                                      </p:cBhvr>
                                      <p:to>
                                        <p:strVal val="visible"/>
                                      </p:to>
                                    </p:set>
                                    <p:animEffect transition="in" filter="wipe(left)">
                                      <p:cBhvr>
                                        <p:cTn id="49" dur="500"/>
                                        <p:tgtEl>
                                          <p:spTgt spid="6148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1487"/>
                                        </p:tgtEl>
                                        <p:attrNameLst>
                                          <p:attrName>style.visibility</p:attrName>
                                        </p:attrNameLst>
                                      </p:cBhvr>
                                      <p:to>
                                        <p:strVal val="visible"/>
                                      </p:to>
                                    </p:set>
                                    <p:animEffect transition="in" filter="wipe(left)">
                                      <p:cBhvr>
                                        <p:cTn id="54" dur="500"/>
                                        <p:tgtEl>
                                          <p:spTgt spid="61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p:bldP spid="61486" grpId="0"/>
      <p:bldP spid="61487" grpId="0"/>
      <p:bldP spid="6149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847850" y="115889"/>
            <a:ext cx="67691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sz="2000" b="1">
                <a:solidFill>
                  <a:srgbClr val="CCFF33"/>
                </a:solidFill>
              </a:rPr>
              <a:t>  III. Deducing Relation among the Physical Quantities</a:t>
            </a:r>
            <a:endParaRPr lang="en-IN" altLang="en-US" sz="2000" b="1">
              <a:solidFill>
                <a:srgbClr val="CCFF33"/>
              </a:solidFill>
            </a:endParaRPr>
          </a:p>
        </p:txBody>
      </p:sp>
      <p:sp>
        <p:nvSpPr>
          <p:cNvPr id="62467" name="Rectangle 2"/>
          <p:cNvSpPr>
            <a:spLocks noChangeArrowheads="1"/>
          </p:cNvSpPr>
          <p:nvPr/>
        </p:nvSpPr>
        <p:spPr bwMode="auto">
          <a:xfrm>
            <a:off x="2019300" y="2676525"/>
            <a:ext cx="83693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fontAlgn="base">
              <a:spcBef>
                <a:spcPct val="0"/>
              </a:spcBef>
              <a:spcAft>
                <a:spcPct val="0"/>
              </a:spcAft>
            </a:pPr>
            <a:r>
              <a:rPr lang="en-US" altLang="en-US" b="1">
                <a:solidFill>
                  <a:srgbClr val="CCFF66"/>
                </a:solidFill>
                <a:ea typeface="Calibri" panose="020F0502020204030204" pitchFamily="34" charset="0"/>
                <a:cs typeface="Bookman-Light" charset="0"/>
              </a:rPr>
              <a:t>1. Consider a simple pendulum, having a bob attached to a string that oscillates under the action of the force of gravity. Suppose that the period of oscillation of the simple pendulum depends on its length (</a:t>
            </a:r>
            <a:r>
              <a:rPr lang="en-US" altLang="en-US" b="1">
                <a:solidFill>
                  <a:srgbClr val="CCFF66"/>
                </a:solidFill>
                <a:ea typeface="Calibri" panose="020F0502020204030204" pitchFamily="34" charset="0"/>
                <a:cs typeface="Bookman-LightItalic" charset="0"/>
              </a:rPr>
              <a:t>l</a:t>
            </a:r>
            <a:r>
              <a:rPr lang="en-US" altLang="en-US" b="1">
                <a:solidFill>
                  <a:srgbClr val="CCFF66"/>
                </a:solidFill>
                <a:ea typeface="Calibri" panose="020F0502020204030204" pitchFamily="34" charset="0"/>
                <a:cs typeface="Bookman-Light" charset="0"/>
              </a:rPr>
              <a:t>), mass of the bob (</a:t>
            </a:r>
            <a:r>
              <a:rPr lang="en-US" altLang="en-US" b="1">
                <a:solidFill>
                  <a:srgbClr val="CCFF66"/>
                </a:solidFill>
                <a:ea typeface="Calibri" panose="020F0502020204030204" pitchFamily="34" charset="0"/>
                <a:cs typeface="Bookman-LightItalic" charset="0"/>
              </a:rPr>
              <a:t>m</a:t>
            </a:r>
            <a:r>
              <a:rPr lang="en-US" altLang="en-US" b="1">
                <a:solidFill>
                  <a:srgbClr val="CCFF66"/>
                </a:solidFill>
                <a:ea typeface="Calibri" panose="020F0502020204030204" pitchFamily="34" charset="0"/>
                <a:cs typeface="Bookman-Light" charset="0"/>
              </a:rPr>
              <a:t>) and acceleration due to gravity (</a:t>
            </a:r>
            <a:r>
              <a:rPr lang="en-US" altLang="en-US" b="1">
                <a:solidFill>
                  <a:srgbClr val="CCFF66"/>
                </a:solidFill>
                <a:ea typeface="Calibri" panose="020F0502020204030204" pitchFamily="34" charset="0"/>
                <a:cs typeface="Bookman-LightItalic" charset="0"/>
              </a:rPr>
              <a:t>g</a:t>
            </a:r>
            <a:r>
              <a:rPr lang="en-US" altLang="en-US" b="1">
                <a:solidFill>
                  <a:srgbClr val="CCFF66"/>
                </a:solidFill>
                <a:ea typeface="Calibri" panose="020F0502020204030204" pitchFamily="34" charset="0"/>
                <a:cs typeface="Bookman-Light" charset="0"/>
              </a:rPr>
              <a:t>).  Derive the expression for its time period using method of dimensions.</a:t>
            </a:r>
            <a:endParaRPr lang="en-US" altLang="en-US" b="1">
              <a:solidFill>
                <a:srgbClr val="CCFF66"/>
              </a:solidFill>
              <a:ea typeface="Calibri" panose="020F0502020204030204" pitchFamily="34" charset="0"/>
              <a:cs typeface="Bookman-LightItalic" charset="0"/>
            </a:endParaRPr>
          </a:p>
          <a:p>
            <a:pPr algn="just" fontAlgn="base">
              <a:spcBef>
                <a:spcPct val="0"/>
              </a:spcBef>
              <a:spcAft>
                <a:spcPct val="0"/>
              </a:spcAft>
            </a:pPr>
            <a:r>
              <a:rPr lang="en-US" altLang="en-US" b="1">
                <a:solidFill>
                  <a:srgbClr val="CCFF66"/>
                </a:solidFill>
                <a:ea typeface="Calibri" panose="020F0502020204030204" pitchFamily="34" charset="0"/>
                <a:cs typeface="Bookman-LightItalic" charset="0"/>
              </a:rPr>
              <a:t>	</a:t>
            </a:r>
            <a:endParaRPr lang="en-US" altLang="en-US" b="1">
              <a:solidFill>
                <a:srgbClr val="CCFF66"/>
              </a:solidFill>
            </a:endParaRPr>
          </a:p>
          <a:p>
            <a:pPr algn="just" fontAlgn="base">
              <a:spcBef>
                <a:spcPct val="0"/>
              </a:spcBef>
              <a:spcAft>
                <a:spcPct val="0"/>
              </a:spcAft>
            </a:pPr>
            <a:r>
              <a:rPr lang="en-US" altLang="en-US" b="1">
                <a:solidFill>
                  <a:srgbClr val="FF0000"/>
                </a:solidFill>
                <a:cs typeface="Calibri" panose="020F0502020204030204" pitchFamily="34" charset="0"/>
              </a:rPr>
              <a:t>	</a:t>
            </a:r>
            <a:r>
              <a:rPr lang="en-US" altLang="en-US" b="1">
                <a:solidFill>
                  <a:srgbClr val="00B0F0"/>
                </a:solidFill>
                <a:cs typeface="Calibri" panose="020F0502020204030204" pitchFamily="34" charset="0"/>
              </a:rPr>
              <a:t>The dependence of time period T on the quantities l, g and m as a product may be written as:</a:t>
            </a:r>
          </a:p>
          <a:p>
            <a:pPr algn="just" fontAlgn="base">
              <a:spcBef>
                <a:spcPct val="0"/>
              </a:spcBef>
              <a:spcAft>
                <a:spcPct val="0"/>
              </a:spcAft>
            </a:pPr>
            <a:endParaRPr lang="en-US" altLang="en-US" b="1">
              <a:solidFill>
                <a:srgbClr val="00B0F0"/>
              </a:solidFill>
            </a:endParaRPr>
          </a:p>
          <a:p>
            <a:pPr algn="just" fontAlgn="base">
              <a:spcBef>
                <a:spcPct val="0"/>
              </a:spcBef>
              <a:spcAft>
                <a:spcPct val="0"/>
              </a:spcAft>
            </a:pPr>
            <a:r>
              <a:rPr lang="en-US" altLang="en-US" b="1">
                <a:solidFill>
                  <a:srgbClr val="00B0F0"/>
                </a:solidFill>
                <a:cs typeface="Calibri" panose="020F0502020204030204" pitchFamily="34" charset="0"/>
              </a:rPr>
              <a:t>		</a:t>
            </a:r>
            <a:r>
              <a:rPr lang="en-US" altLang="en-US" b="1">
                <a:solidFill>
                  <a:srgbClr val="FF9900"/>
                </a:solidFill>
                <a:cs typeface="Calibri" panose="020F0502020204030204" pitchFamily="34" charset="0"/>
              </a:rPr>
              <a:t>T = k l</a:t>
            </a:r>
            <a:r>
              <a:rPr lang="en-US" altLang="en-US" b="1" baseline="30000">
                <a:solidFill>
                  <a:srgbClr val="FF9900"/>
                </a:solidFill>
                <a:cs typeface="Calibri" panose="020F0502020204030204" pitchFamily="34" charset="0"/>
              </a:rPr>
              <a:t>x</a:t>
            </a:r>
            <a:r>
              <a:rPr lang="en-US" altLang="en-US" b="1">
                <a:solidFill>
                  <a:srgbClr val="FF9900"/>
                </a:solidFill>
                <a:cs typeface="Calibri" panose="020F0502020204030204" pitchFamily="34" charset="0"/>
              </a:rPr>
              <a:t> m</a:t>
            </a:r>
            <a:r>
              <a:rPr lang="en-US" altLang="en-US" b="1" baseline="30000">
                <a:solidFill>
                  <a:srgbClr val="FF9900"/>
                </a:solidFill>
                <a:cs typeface="Calibri" panose="020F0502020204030204" pitchFamily="34" charset="0"/>
              </a:rPr>
              <a:t>y </a:t>
            </a:r>
            <a:r>
              <a:rPr lang="en-US" altLang="en-US" b="1">
                <a:solidFill>
                  <a:srgbClr val="FF9900"/>
                </a:solidFill>
                <a:cs typeface="Calibri" panose="020F0502020204030204" pitchFamily="34" charset="0"/>
              </a:rPr>
              <a:t>g</a:t>
            </a:r>
            <a:r>
              <a:rPr lang="en-US" altLang="en-US" b="1" baseline="30000">
                <a:solidFill>
                  <a:srgbClr val="FF9900"/>
                </a:solidFill>
                <a:cs typeface="Calibri" panose="020F0502020204030204" pitchFamily="34" charset="0"/>
              </a:rPr>
              <a:t>z</a:t>
            </a:r>
          </a:p>
          <a:p>
            <a:pPr algn="just" fontAlgn="base">
              <a:spcBef>
                <a:spcPct val="0"/>
              </a:spcBef>
              <a:spcAft>
                <a:spcPct val="0"/>
              </a:spcAft>
            </a:pPr>
            <a:endParaRPr lang="en-US" altLang="en-US" b="1">
              <a:solidFill>
                <a:srgbClr val="00B0F0"/>
              </a:solidFill>
            </a:endParaRPr>
          </a:p>
          <a:p>
            <a:pPr algn="just" fontAlgn="base">
              <a:spcBef>
                <a:spcPct val="0"/>
              </a:spcBef>
              <a:spcAft>
                <a:spcPct val="0"/>
              </a:spcAft>
            </a:pPr>
            <a:r>
              <a:rPr lang="en-US" altLang="en-US" b="1">
                <a:solidFill>
                  <a:srgbClr val="00B0F0"/>
                </a:solidFill>
                <a:cs typeface="Calibri" panose="020F0502020204030204" pitchFamily="34" charset="0"/>
              </a:rPr>
              <a:t>where k is dimensionless constant and x, y and z are the exponents.</a:t>
            </a:r>
            <a:endParaRPr lang="en-US" altLang="en-US" b="1">
              <a:solidFill>
                <a:srgbClr val="00B0F0"/>
              </a:solidFill>
            </a:endParaRPr>
          </a:p>
        </p:txBody>
      </p:sp>
      <p:graphicFrame>
        <p:nvGraphicFramePr>
          <p:cNvPr id="62468" name="Object 3"/>
          <p:cNvGraphicFramePr>
            <a:graphicFrameLocks noChangeAspect="1"/>
          </p:cNvGraphicFramePr>
          <p:nvPr/>
        </p:nvGraphicFramePr>
        <p:xfrm>
          <a:off x="1524000" y="457201"/>
          <a:ext cx="609600" cy="466725"/>
        </p:xfrm>
        <a:graphic>
          <a:graphicData uri="http://schemas.openxmlformats.org/presentationml/2006/ole">
            <mc:AlternateContent xmlns:mc="http://schemas.openxmlformats.org/markup-compatibility/2006">
              <mc:Choice xmlns:v="urn:schemas-microsoft-com:vml" Requires="v">
                <p:oleObj spid="_x0000_s1039" r:id="rId3" imgW="609600" imgH="469900" progId="Equation.DSMT4">
                  <p:embed/>
                </p:oleObj>
              </mc:Choice>
              <mc:Fallback>
                <p:oleObj r:id="rId3" imgW="609600" imgH="469900" progId="Equation.DSMT4">
                  <p:embed/>
                  <p:pic>
                    <p:nvPicPr>
                      <p:cNvPr id="6246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57201"/>
                        <a:ext cx="6096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9" name="Rectangle 3"/>
          <p:cNvSpPr>
            <a:spLocks noChangeArrowheads="1"/>
          </p:cNvSpPr>
          <p:nvPr/>
        </p:nvSpPr>
        <p:spPr bwMode="auto">
          <a:xfrm>
            <a:off x="5753599" y="793120"/>
            <a:ext cx="68480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fontAlgn="base">
              <a:spcBef>
                <a:spcPct val="0"/>
              </a:spcBef>
              <a:spcAft>
                <a:spcPct val="0"/>
              </a:spcAft>
            </a:pPr>
            <a:r>
              <a:rPr lang="en-US" altLang="en-US" sz="1100">
                <a:solidFill>
                  <a:srgbClr val="000000"/>
                </a:solidFill>
                <a:ea typeface="Calibri" panose="020F0502020204030204" pitchFamily="34" charset="0"/>
                <a:cs typeface="Times New Roman" panose="02020603050405020304" pitchFamily="18" charset="0"/>
              </a:rPr>
              <a:t> </a:t>
            </a:r>
            <a:endParaRPr lang="en-US" altLang="en-US">
              <a:solidFill>
                <a:srgbClr val="000000"/>
              </a:solidFill>
              <a:ea typeface="Calibri" panose="020F0502020204030204" pitchFamily="34" charset="0"/>
              <a:cs typeface="Times New Roman" panose="02020603050405020304" pitchFamily="18" charset="0"/>
            </a:endParaRPr>
          </a:p>
        </p:txBody>
      </p:sp>
      <p:sp>
        <p:nvSpPr>
          <p:cNvPr id="62470" name="Rectangle 5"/>
          <p:cNvSpPr>
            <a:spLocks noChangeArrowheads="1"/>
          </p:cNvSpPr>
          <p:nvPr/>
        </p:nvSpPr>
        <p:spPr bwMode="auto">
          <a:xfrm>
            <a:off x="2028826" y="549275"/>
            <a:ext cx="83597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b="1">
                <a:solidFill>
                  <a:srgbClr val="FF99FF"/>
                </a:solidFill>
                <a:ea typeface="Calibri" panose="020F0502020204030204" pitchFamily="34" charset="0"/>
                <a:cs typeface="Bookman-Light" charset="0"/>
              </a:rPr>
              <a:t>The method of dimensions can sometimes be used to deduce relation among the physical quantities.</a:t>
            </a:r>
          </a:p>
          <a:p>
            <a:pPr fontAlgn="base">
              <a:spcBef>
                <a:spcPct val="0"/>
              </a:spcBef>
              <a:spcAft>
                <a:spcPct val="0"/>
              </a:spcAft>
            </a:pPr>
            <a:endParaRPr lang="en-US" altLang="en-US" b="1">
              <a:solidFill>
                <a:srgbClr val="FF99FF"/>
              </a:solidFill>
              <a:ea typeface="Calibri" panose="020F0502020204030204" pitchFamily="34" charset="0"/>
              <a:cs typeface="Bookman-Light" charset="0"/>
            </a:endParaRPr>
          </a:p>
          <a:p>
            <a:pPr fontAlgn="base">
              <a:spcBef>
                <a:spcPct val="0"/>
              </a:spcBef>
              <a:spcAft>
                <a:spcPct val="0"/>
              </a:spcAft>
            </a:pPr>
            <a:r>
              <a:rPr lang="en-US" altLang="en-US" b="1">
                <a:solidFill>
                  <a:srgbClr val="FF99FF"/>
                </a:solidFill>
                <a:ea typeface="Calibri" panose="020F0502020204030204" pitchFamily="34" charset="0"/>
                <a:cs typeface="Bookman-Light" charset="0"/>
              </a:rPr>
              <a:t> For this we should know the dependence of the physical quantity on other quantities (upto three physical quantities or linearly independent variables) and consider it as a product type of the dependence.</a:t>
            </a:r>
          </a:p>
        </p:txBody>
      </p:sp>
      <p:sp>
        <p:nvSpPr>
          <p:cNvPr id="62471" name="Rectangle 8"/>
          <p:cNvSpPr>
            <a:spLocks noChangeArrowheads="1"/>
          </p:cNvSpPr>
          <p:nvPr/>
        </p:nvSpPr>
        <p:spPr bwMode="auto">
          <a:xfrm>
            <a:off x="2005013" y="2339975"/>
            <a:ext cx="1211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B050"/>
                </a:solidFill>
              </a:rPr>
              <a:t>Example:</a:t>
            </a:r>
            <a:endParaRPr lang="en-IN" altLang="en-US" b="1">
              <a:solidFill>
                <a:srgbClr val="00B050"/>
              </a:solidFill>
            </a:endParaRPr>
          </a:p>
        </p:txBody>
      </p:sp>
      <p:sp>
        <p:nvSpPr>
          <p:cNvPr id="62472" name="Rectangle 1">
            <a:hlinkClick r:id="rId5"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62473"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62474"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1262345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mph" presetSubtype="2" fill="hold" grpId="0" nodeType="afterEffect">
                                  <p:stCondLst>
                                    <p:cond delay="0"/>
                                  </p:stCondLst>
                                  <p:childTnLst>
                                    <p:animClr clrSpc="rgb" dir="cw">
                                      <p:cBhvr>
                                        <p:cTn id="6" dur="2000" fill="hold"/>
                                        <p:tgtEl>
                                          <p:spTgt spid="62466"/>
                                        </p:tgtEl>
                                        <p:attrNameLst>
                                          <p:attrName>fillcolor</p:attrName>
                                        </p:attrNameLst>
                                      </p:cBhvr>
                                      <p:to>
                                        <a:schemeClr val="accent2"/>
                                      </p:to>
                                    </p:animClr>
                                    <p:set>
                                      <p:cBhvr>
                                        <p:cTn id="7" dur="2000" fill="hold"/>
                                        <p:tgtEl>
                                          <p:spTgt spid="62466"/>
                                        </p:tgtEl>
                                        <p:attrNameLst>
                                          <p:attrName>fill.type</p:attrName>
                                        </p:attrNameLst>
                                      </p:cBhvr>
                                      <p:to>
                                        <p:strVal val="solid"/>
                                      </p:to>
                                    </p:set>
                                    <p:set>
                                      <p:cBhvr>
                                        <p:cTn id="8" dur="2000" fill="hold"/>
                                        <p:tgtEl>
                                          <p:spTgt spid="62466"/>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62470">
                                            <p:txEl>
                                              <p:pRg st="0" end="0"/>
                                            </p:txEl>
                                          </p:spTgt>
                                        </p:tgtEl>
                                        <p:attrNameLst>
                                          <p:attrName>style.visibility</p:attrName>
                                        </p:attrNameLst>
                                      </p:cBhvr>
                                      <p:to>
                                        <p:strVal val="visible"/>
                                      </p:to>
                                    </p:set>
                                    <p:animEffect transition="in" filter="wipe(up)">
                                      <p:cBhvr>
                                        <p:cTn id="13" dur="500"/>
                                        <p:tgtEl>
                                          <p:spTgt spid="62470">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62470">
                                            <p:txEl>
                                              <p:pRg st="2" end="2"/>
                                            </p:txEl>
                                          </p:spTgt>
                                        </p:tgtEl>
                                        <p:attrNameLst>
                                          <p:attrName>style.visibility</p:attrName>
                                        </p:attrNameLst>
                                      </p:cBhvr>
                                      <p:to>
                                        <p:strVal val="visible"/>
                                      </p:to>
                                    </p:set>
                                    <p:animEffect transition="in" filter="wipe(up)">
                                      <p:cBhvr>
                                        <p:cTn id="18" dur="500"/>
                                        <p:tgtEl>
                                          <p:spTgt spid="62470">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62471"/>
                                        </p:tgtEl>
                                        <p:attrNameLst>
                                          <p:attrName>style.visibility</p:attrName>
                                        </p:attrNameLst>
                                      </p:cBhvr>
                                      <p:to>
                                        <p:strVal val="visible"/>
                                      </p:to>
                                    </p:set>
                                    <p:anim calcmode="lin" valueType="num">
                                      <p:cBhvr>
                                        <p:cTn id="23" dur="500" fill="hold"/>
                                        <p:tgtEl>
                                          <p:spTgt spid="62471"/>
                                        </p:tgtEl>
                                        <p:attrNameLst>
                                          <p:attrName>ppt_w</p:attrName>
                                        </p:attrNameLst>
                                      </p:cBhvr>
                                      <p:tavLst>
                                        <p:tav tm="0">
                                          <p:val>
                                            <p:fltVal val="0"/>
                                          </p:val>
                                        </p:tav>
                                        <p:tav tm="100000">
                                          <p:val>
                                            <p:strVal val="#ppt_w"/>
                                          </p:val>
                                        </p:tav>
                                      </p:tavLst>
                                    </p:anim>
                                    <p:anim calcmode="lin" valueType="num">
                                      <p:cBhvr>
                                        <p:cTn id="24" dur="500" fill="hold"/>
                                        <p:tgtEl>
                                          <p:spTgt spid="62471"/>
                                        </p:tgtEl>
                                        <p:attrNameLst>
                                          <p:attrName>ppt_h</p:attrName>
                                        </p:attrNameLst>
                                      </p:cBhvr>
                                      <p:tavLst>
                                        <p:tav tm="0">
                                          <p:val>
                                            <p:fltVal val="0"/>
                                          </p:val>
                                        </p:tav>
                                        <p:tav tm="100000">
                                          <p:val>
                                            <p:strVal val="#ppt_h"/>
                                          </p:val>
                                        </p:tav>
                                      </p:tavLst>
                                    </p:anim>
                                    <p:animEffect transition="in" filter="fade">
                                      <p:cBhvr>
                                        <p:cTn id="25" dur="500"/>
                                        <p:tgtEl>
                                          <p:spTgt spid="6247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62467">
                                            <p:txEl>
                                              <p:pRg st="0" end="0"/>
                                            </p:txEl>
                                          </p:spTgt>
                                        </p:tgtEl>
                                        <p:attrNameLst>
                                          <p:attrName>style.visibility</p:attrName>
                                        </p:attrNameLst>
                                      </p:cBhvr>
                                      <p:to>
                                        <p:strVal val="visible"/>
                                      </p:to>
                                    </p:set>
                                    <p:animEffect transition="in" filter="wipe(up)">
                                      <p:cBhvr>
                                        <p:cTn id="30" dur="500"/>
                                        <p:tgtEl>
                                          <p:spTgt spid="62467">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62467">
                                            <p:txEl>
                                              <p:pRg st="2" end="2"/>
                                            </p:txEl>
                                          </p:spTgt>
                                        </p:tgtEl>
                                        <p:attrNameLst>
                                          <p:attrName>style.visibility</p:attrName>
                                        </p:attrNameLst>
                                      </p:cBhvr>
                                      <p:to>
                                        <p:strVal val="visible"/>
                                      </p:to>
                                    </p:set>
                                    <p:animEffect transition="in" filter="wipe(up)">
                                      <p:cBhvr>
                                        <p:cTn id="35" dur="500"/>
                                        <p:tgtEl>
                                          <p:spTgt spid="62467">
                                            <p:txEl>
                                              <p:pRg st="2" end="2"/>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62467">
                                            <p:txEl>
                                              <p:pRg st="4" end="4"/>
                                            </p:txEl>
                                          </p:spTgt>
                                        </p:tgtEl>
                                        <p:attrNameLst>
                                          <p:attrName>style.visibility</p:attrName>
                                        </p:attrNameLst>
                                      </p:cBhvr>
                                      <p:to>
                                        <p:strVal val="visible"/>
                                      </p:to>
                                    </p:set>
                                    <p:animEffect transition="in" filter="wipe(up)">
                                      <p:cBhvr>
                                        <p:cTn id="40" dur="500"/>
                                        <p:tgtEl>
                                          <p:spTgt spid="62467">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62467">
                                            <p:txEl>
                                              <p:pRg st="6" end="6"/>
                                            </p:txEl>
                                          </p:spTgt>
                                        </p:tgtEl>
                                        <p:attrNameLst>
                                          <p:attrName>style.visibility</p:attrName>
                                        </p:attrNameLst>
                                      </p:cBhvr>
                                      <p:to>
                                        <p:strVal val="visible"/>
                                      </p:to>
                                    </p:set>
                                    <p:animEffect transition="in" filter="wipe(up)">
                                      <p:cBhvr>
                                        <p:cTn id="45" dur="500"/>
                                        <p:tgtEl>
                                          <p:spTgt spid="624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7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631951" y="1957388"/>
            <a:ext cx="8785225" cy="406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fontAlgn="base">
              <a:spcBef>
                <a:spcPct val="0"/>
              </a:spcBef>
              <a:spcAft>
                <a:spcPct val="0"/>
              </a:spcAft>
            </a:pPr>
            <a:r>
              <a:rPr lang="en-US" altLang="en-US" b="1">
                <a:solidFill>
                  <a:srgbClr val="00FF99"/>
                </a:solidFill>
                <a:ea typeface="Calibri" panose="020F0502020204030204" pitchFamily="34" charset="0"/>
                <a:cs typeface="Bookman-Light" charset="0"/>
              </a:rPr>
              <a:t>By substituting dimensions on both sides of </a:t>
            </a:r>
            <a:r>
              <a:rPr lang="en-US" altLang="en-US" b="1">
                <a:solidFill>
                  <a:srgbClr val="00FF99"/>
                </a:solidFill>
                <a:ea typeface="Calibri" panose="020F0502020204030204" pitchFamily="34" charset="0"/>
                <a:cs typeface="Bookman-LightItalic" charset="0"/>
              </a:rPr>
              <a:t> T = k l</a:t>
            </a:r>
            <a:r>
              <a:rPr lang="en-US" altLang="en-US" b="1" baseline="30000">
                <a:solidFill>
                  <a:srgbClr val="00FF99"/>
                </a:solidFill>
                <a:ea typeface="Calibri" panose="020F0502020204030204" pitchFamily="34" charset="0"/>
                <a:cs typeface="Bookman-LightItalic" charset="0"/>
              </a:rPr>
              <a:t>x</a:t>
            </a:r>
            <a:r>
              <a:rPr lang="en-US" altLang="en-US" b="1">
                <a:solidFill>
                  <a:srgbClr val="00FF99"/>
                </a:solidFill>
                <a:ea typeface="Calibri" panose="020F0502020204030204" pitchFamily="34" charset="0"/>
                <a:cs typeface="Bookman-LightItalic" charset="0"/>
              </a:rPr>
              <a:t> m</a:t>
            </a:r>
            <a:r>
              <a:rPr lang="en-US" altLang="en-US" b="1" baseline="30000">
                <a:solidFill>
                  <a:srgbClr val="00FF99"/>
                </a:solidFill>
                <a:ea typeface="Calibri" panose="020F0502020204030204" pitchFamily="34" charset="0"/>
                <a:cs typeface="Bookman-LightItalic" charset="0"/>
              </a:rPr>
              <a:t>y </a:t>
            </a:r>
            <a:r>
              <a:rPr lang="en-US" altLang="en-US" b="1">
                <a:solidFill>
                  <a:srgbClr val="00FF99"/>
                </a:solidFill>
                <a:ea typeface="Calibri" panose="020F0502020204030204" pitchFamily="34" charset="0"/>
                <a:cs typeface="Bookman-LightItalic" charset="0"/>
              </a:rPr>
              <a:t>g</a:t>
            </a:r>
            <a:r>
              <a:rPr lang="en-US" altLang="en-US" b="1" baseline="30000">
                <a:solidFill>
                  <a:srgbClr val="00FF99"/>
                </a:solidFill>
                <a:ea typeface="Calibri" panose="020F0502020204030204" pitchFamily="34" charset="0"/>
                <a:cs typeface="Bookman-LightItalic" charset="0"/>
              </a:rPr>
              <a:t>z</a:t>
            </a:r>
            <a:r>
              <a:rPr lang="en-US" altLang="en-US" b="1">
                <a:solidFill>
                  <a:srgbClr val="00FF99"/>
                </a:solidFill>
                <a:ea typeface="Calibri" panose="020F0502020204030204" pitchFamily="34" charset="0"/>
                <a:cs typeface="Bookman-Light" charset="0"/>
              </a:rPr>
              <a:t>,      we have</a:t>
            </a:r>
            <a:endParaRPr lang="en-US" altLang="en-US" b="1">
              <a:solidFill>
                <a:srgbClr val="00FF99"/>
              </a:solidFill>
            </a:endParaRPr>
          </a:p>
          <a:p>
            <a:pPr algn="just" fontAlgn="base">
              <a:spcBef>
                <a:spcPct val="0"/>
              </a:spcBef>
              <a:spcAft>
                <a:spcPct val="0"/>
              </a:spcAft>
            </a:pPr>
            <a:endParaRPr lang="en-US" altLang="en-US" b="1">
              <a:solidFill>
                <a:srgbClr val="FF99FF"/>
              </a:solidFill>
              <a:cs typeface="Calibri" panose="020F0502020204030204" pitchFamily="34" charset="0"/>
            </a:endParaRPr>
          </a:p>
          <a:p>
            <a:pPr algn="just" fontAlgn="base">
              <a:spcBef>
                <a:spcPct val="0"/>
              </a:spcBef>
              <a:spcAft>
                <a:spcPct val="0"/>
              </a:spcAft>
            </a:pPr>
            <a:r>
              <a:rPr lang="en-US" altLang="en-US" b="1">
                <a:solidFill>
                  <a:srgbClr val="FF99FF"/>
                </a:solidFill>
                <a:cs typeface="Calibri" panose="020F0502020204030204" pitchFamily="34" charset="0"/>
              </a:rPr>
              <a:t>[M</a:t>
            </a:r>
            <a:r>
              <a:rPr lang="en-US" altLang="en-US" b="1" baseline="30000">
                <a:solidFill>
                  <a:srgbClr val="FF99FF"/>
                </a:solidFill>
                <a:cs typeface="Calibri" panose="020F0502020204030204" pitchFamily="34" charset="0"/>
              </a:rPr>
              <a:t>0</a:t>
            </a:r>
            <a:r>
              <a:rPr lang="en-US" altLang="en-US" b="1">
                <a:solidFill>
                  <a:srgbClr val="FF99FF"/>
                </a:solidFill>
                <a:cs typeface="Calibri" panose="020F0502020204030204" pitchFamily="34" charset="0"/>
              </a:rPr>
              <a:t>L</a:t>
            </a:r>
            <a:r>
              <a:rPr lang="en-US" altLang="en-US" b="1" baseline="30000">
                <a:solidFill>
                  <a:srgbClr val="FF99FF"/>
                </a:solidFill>
                <a:cs typeface="Calibri" panose="020F0502020204030204" pitchFamily="34" charset="0"/>
              </a:rPr>
              <a:t>0</a:t>
            </a:r>
            <a:r>
              <a:rPr lang="en-US" altLang="en-US" b="1">
                <a:solidFill>
                  <a:srgbClr val="FF99FF"/>
                </a:solidFill>
                <a:cs typeface="Calibri" panose="020F0502020204030204" pitchFamily="34" charset="0"/>
              </a:rPr>
              <a:t>T] = </a:t>
            </a:r>
            <a:r>
              <a:rPr lang="en-US" altLang="en-US" b="1">
                <a:solidFill>
                  <a:srgbClr val="FF99FF"/>
                </a:solidFill>
              </a:rPr>
              <a:t>[M</a:t>
            </a:r>
            <a:r>
              <a:rPr lang="en-US" altLang="en-US" b="1" baseline="30000">
                <a:solidFill>
                  <a:srgbClr val="FF99FF"/>
                </a:solidFill>
              </a:rPr>
              <a:t>0</a:t>
            </a:r>
            <a:r>
              <a:rPr lang="en-US" altLang="en-US" b="1">
                <a:solidFill>
                  <a:srgbClr val="FF99FF"/>
                </a:solidFill>
              </a:rPr>
              <a:t>LT</a:t>
            </a:r>
            <a:r>
              <a:rPr lang="en-US" altLang="en-US" b="1" baseline="30000">
                <a:solidFill>
                  <a:srgbClr val="FF99FF"/>
                </a:solidFill>
              </a:rPr>
              <a:t>0</a:t>
            </a:r>
            <a:r>
              <a:rPr lang="en-US" altLang="en-US" b="1">
                <a:solidFill>
                  <a:srgbClr val="FF99FF"/>
                </a:solidFill>
              </a:rPr>
              <a:t>]</a:t>
            </a:r>
            <a:r>
              <a:rPr lang="en-US" altLang="en-US" b="1" baseline="30000">
                <a:solidFill>
                  <a:srgbClr val="FF99FF"/>
                </a:solidFill>
              </a:rPr>
              <a:t>x</a:t>
            </a:r>
            <a:r>
              <a:rPr lang="en-US" altLang="en-US" b="1">
                <a:solidFill>
                  <a:srgbClr val="FF99FF"/>
                </a:solidFill>
              </a:rPr>
              <a:t> [ML</a:t>
            </a:r>
            <a:r>
              <a:rPr lang="en-US" altLang="en-US" b="1" baseline="30000">
                <a:solidFill>
                  <a:srgbClr val="FF99FF"/>
                </a:solidFill>
              </a:rPr>
              <a:t>0</a:t>
            </a:r>
            <a:r>
              <a:rPr lang="en-US" altLang="en-US" b="1">
                <a:solidFill>
                  <a:srgbClr val="FF99FF"/>
                </a:solidFill>
              </a:rPr>
              <a:t>T</a:t>
            </a:r>
            <a:r>
              <a:rPr lang="en-US" altLang="en-US" b="1" baseline="30000">
                <a:solidFill>
                  <a:srgbClr val="FF99FF"/>
                </a:solidFill>
              </a:rPr>
              <a:t>0</a:t>
            </a:r>
            <a:r>
              <a:rPr lang="en-US" altLang="en-US" b="1">
                <a:solidFill>
                  <a:srgbClr val="FF99FF"/>
                </a:solidFill>
              </a:rPr>
              <a:t>]</a:t>
            </a:r>
            <a:r>
              <a:rPr lang="en-US" altLang="en-US" b="1" baseline="30000">
                <a:solidFill>
                  <a:srgbClr val="FF99FF"/>
                </a:solidFill>
              </a:rPr>
              <a:t>y</a:t>
            </a:r>
            <a:r>
              <a:rPr lang="en-US" altLang="en-US" b="1">
                <a:solidFill>
                  <a:srgbClr val="FF99FF"/>
                </a:solidFill>
              </a:rPr>
              <a:t> [M</a:t>
            </a:r>
            <a:r>
              <a:rPr lang="en-US" altLang="en-US" b="1" baseline="30000">
                <a:solidFill>
                  <a:srgbClr val="FF99FF"/>
                </a:solidFill>
              </a:rPr>
              <a:t>0</a:t>
            </a:r>
            <a:r>
              <a:rPr lang="en-US" altLang="en-US" b="1">
                <a:solidFill>
                  <a:srgbClr val="FF99FF"/>
                </a:solidFill>
              </a:rPr>
              <a:t>LT</a:t>
            </a:r>
            <a:r>
              <a:rPr lang="en-US" altLang="en-US" b="1" baseline="30000">
                <a:solidFill>
                  <a:srgbClr val="FF99FF"/>
                </a:solidFill>
              </a:rPr>
              <a:t>-2</a:t>
            </a:r>
            <a:r>
              <a:rPr lang="en-US" altLang="en-US" b="1">
                <a:solidFill>
                  <a:srgbClr val="FF99FF"/>
                </a:solidFill>
              </a:rPr>
              <a:t>]</a:t>
            </a:r>
            <a:r>
              <a:rPr lang="en-US" altLang="en-US" b="1" baseline="30000">
                <a:solidFill>
                  <a:srgbClr val="FF99FF"/>
                </a:solidFill>
              </a:rPr>
              <a:t>z</a:t>
            </a:r>
            <a:r>
              <a:rPr lang="en-US" altLang="en-US" b="1">
                <a:solidFill>
                  <a:srgbClr val="FF99FF"/>
                </a:solidFill>
              </a:rPr>
              <a:t> </a:t>
            </a:r>
          </a:p>
          <a:p>
            <a:pPr algn="just" fontAlgn="base">
              <a:spcBef>
                <a:spcPct val="0"/>
              </a:spcBef>
              <a:spcAft>
                <a:spcPct val="0"/>
              </a:spcAft>
            </a:pPr>
            <a:r>
              <a:rPr lang="en-US" altLang="en-US" b="1">
                <a:solidFill>
                  <a:srgbClr val="FF99FF"/>
                </a:solidFill>
              </a:rPr>
              <a:t> </a:t>
            </a:r>
          </a:p>
          <a:p>
            <a:pPr algn="just" fontAlgn="base">
              <a:spcBef>
                <a:spcPct val="0"/>
              </a:spcBef>
              <a:spcAft>
                <a:spcPct val="0"/>
              </a:spcAft>
            </a:pPr>
            <a:r>
              <a:rPr lang="en-US" altLang="en-US" b="1">
                <a:solidFill>
                  <a:srgbClr val="FF99FF"/>
                </a:solidFill>
                <a:cs typeface="Calibri" panose="020F0502020204030204" pitchFamily="34" charset="0"/>
              </a:rPr>
              <a:t>[M</a:t>
            </a:r>
            <a:r>
              <a:rPr lang="en-US" altLang="en-US" b="1" baseline="30000">
                <a:solidFill>
                  <a:srgbClr val="FF99FF"/>
                </a:solidFill>
                <a:cs typeface="Calibri" panose="020F0502020204030204" pitchFamily="34" charset="0"/>
              </a:rPr>
              <a:t>0</a:t>
            </a:r>
            <a:r>
              <a:rPr lang="en-US" altLang="en-US" b="1">
                <a:solidFill>
                  <a:srgbClr val="FF99FF"/>
                </a:solidFill>
                <a:cs typeface="Calibri" panose="020F0502020204030204" pitchFamily="34" charset="0"/>
              </a:rPr>
              <a:t>L</a:t>
            </a:r>
            <a:r>
              <a:rPr lang="en-US" altLang="en-US" b="1" baseline="30000">
                <a:solidFill>
                  <a:srgbClr val="FF99FF"/>
                </a:solidFill>
                <a:cs typeface="Calibri" panose="020F0502020204030204" pitchFamily="34" charset="0"/>
              </a:rPr>
              <a:t>0</a:t>
            </a:r>
            <a:r>
              <a:rPr lang="en-US" altLang="en-US" b="1">
                <a:solidFill>
                  <a:srgbClr val="FF99FF"/>
                </a:solidFill>
                <a:cs typeface="Calibri" panose="020F0502020204030204" pitchFamily="34" charset="0"/>
              </a:rPr>
              <a:t>T] = </a:t>
            </a:r>
            <a:r>
              <a:rPr lang="en-US" altLang="en-US" b="1">
                <a:solidFill>
                  <a:srgbClr val="FF99FF"/>
                </a:solidFill>
              </a:rPr>
              <a:t>[M]</a:t>
            </a:r>
            <a:r>
              <a:rPr lang="en-US" altLang="en-US" b="1" baseline="30000">
                <a:solidFill>
                  <a:srgbClr val="FF99FF"/>
                </a:solidFill>
              </a:rPr>
              <a:t>y</a:t>
            </a:r>
            <a:r>
              <a:rPr lang="en-US" altLang="en-US" b="1">
                <a:solidFill>
                  <a:srgbClr val="FF99FF"/>
                </a:solidFill>
              </a:rPr>
              <a:t> [L]</a:t>
            </a:r>
            <a:r>
              <a:rPr lang="en-US" altLang="en-US" b="1" baseline="30000">
                <a:solidFill>
                  <a:srgbClr val="FF99FF"/>
                </a:solidFill>
              </a:rPr>
              <a:t>x+z </a:t>
            </a:r>
            <a:r>
              <a:rPr lang="en-US" altLang="en-US" b="1">
                <a:solidFill>
                  <a:srgbClr val="FF99FF"/>
                </a:solidFill>
              </a:rPr>
              <a:t>[T]</a:t>
            </a:r>
            <a:r>
              <a:rPr lang="en-US" altLang="en-US" b="1" baseline="30000">
                <a:solidFill>
                  <a:srgbClr val="FF99FF"/>
                </a:solidFill>
              </a:rPr>
              <a:t>-2z</a:t>
            </a:r>
          </a:p>
          <a:p>
            <a:pPr algn="just" fontAlgn="base">
              <a:spcBef>
                <a:spcPct val="0"/>
              </a:spcBef>
              <a:spcAft>
                <a:spcPct val="0"/>
              </a:spcAft>
            </a:pPr>
            <a:endParaRPr lang="en-US" altLang="en-US" b="1" baseline="30000">
              <a:solidFill>
                <a:srgbClr val="FF99FF"/>
              </a:solidFill>
            </a:endParaRPr>
          </a:p>
          <a:p>
            <a:pPr algn="just" fontAlgn="base">
              <a:spcBef>
                <a:spcPct val="0"/>
              </a:spcBef>
              <a:spcAft>
                <a:spcPct val="0"/>
              </a:spcAft>
            </a:pPr>
            <a:r>
              <a:rPr lang="en-US" altLang="en-US" b="1">
                <a:solidFill>
                  <a:srgbClr val="00FF99"/>
                </a:solidFill>
                <a:cs typeface="Calibri" panose="020F0502020204030204" pitchFamily="34" charset="0"/>
              </a:rPr>
              <a:t>On equating the dimensions on both sides, we have</a:t>
            </a:r>
            <a:endParaRPr lang="en-US" altLang="en-US" b="1">
              <a:solidFill>
                <a:srgbClr val="00FF99"/>
              </a:solidFill>
            </a:endParaRPr>
          </a:p>
          <a:p>
            <a:pPr algn="just" fontAlgn="base">
              <a:spcBef>
                <a:spcPct val="0"/>
              </a:spcBef>
              <a:spcAft>
                <a:spcPct val="0"/>
              </a:spcAft>
            </a:pPr>
            <a:r>
              <a:rPr lang="en-US" altLang="en-US" b="1">
                <a:solidFill>
                  <a:srgbClr val="FF99FF"/>
                </a:solidFill>
                <a:cs typeface="Calibri" panose="020F0502020204030204" pitchFamily="34" charset="0"/>
              </a:rPr>
              <a:t>	y = 0</a:t>
            </a:r>
          </a:p>
          <a:p>
            <a:pPr algn="just" fontAlgn="base">
              <a:spcBef>
                <a:spcPct val="0"/>
              </a:spcBef>
              <a:spcAft>
                <a:spcPct val="0"/>
              </a:spcAft>
            </a:pPr>
            <a:r>
              <a:rPr lang="en-US" altLang="en-US" b="1">
                <a:solidFill>
                  <a:srgbClr val="FF99FF"/>
                </a:solidFill>
                <a:cs typeface="Calibri" panose="020F0502020204030204" pitchFamily="34" charset="0"/>
              </a:rPr>
              <a:t>	x + z = 0</a:t>
            </a:r>
          </a:p>
          <a:p>
            <a:pPr algn="just" fontAlgn="base">
              <a:spcBef>
                <a:spcPct val="0"/>
              </a:spcBef>
              <a:spcAft>
                <a:spcPct val="0"/>
              </a:spcAft>
            </a:pPr>
            <a:r>
              <a:rPr lang="en-US" altLang="en-US" b="1">
                <a:solidFill>
                  <a:srgbClr val="FF99FF"/>
                </a:solidFill>
                <a:cs typeface="Calibri" panose="020F0502020204030204" pitchFamily="34" charset="0"/>
              </a:rPr>
              <a:t>	–2z = 1</a:t>
            </a:r>
          </a:p>
          <a:p>
            <a:pPr algn="just" fontAlgn="base">
              <a:spcBef>
                <a:spcPct val="0"/>
              </a:spcBef>
              <a:spcAft>
                <a:spcPct val="0"/>
              </a:spcAft>
            </a:pPr>
            <a:endParaRPr lang="en-US" altLang="en-US" b="1">
              <a:solidFill>
                <a:srgbClr val="FF99FF"/>
              </a:solidFill>
              <a:cs typeface="Calibri" panose="020F0502020204030204" pitchFamily="34" charset="0"/>
            </a:endParaRPr>
          </a:p>
          <a:p>
            <a:pPr algn="just" fontAlgn="base">
              <a:spcBef>
                <a:spcPct val="0"/>
              </a:spcBef>
              <a:spcAft>
                <a:spcPct val="0"/>
              </a:spcAft>
            </a:pPr>
            <a:r>
              <a:rPr lang="en-US" altLang="en-US" b="1">
                <a:solidFill>
                  <a:srgbClr val="FF99FF"/>
                </a:solidFill>
                <a:cs typeface="Calibri" panose="020F0502020204030204" pitchFamily="34" charset="0"/>
              </a:rPr>
              <a:t>So that  </a:t>
            </a:r>
            <a:r>
              <a:rPr lang="en-US" altLang="en-US" b="1">
                <a:solidFill>
                  <a:srgbClr val="00FF99"/>
                </a:solidFill>
                <a:cs typeface="Calibri" panose="020F0502020204030204" pitchFamily="34" charset="0"/>
              </a:rPr>
              <a:t>x = ½ , y = 0,  z = -½</a:t>
            </a:r>
          </a:p>
          <a:p>
            <a:pPr algn="just" fontAlgn="base">
              <a:spcBef>
                <a:spcPct val="0"/>
              </a:spcBef>
              <a:spcAft>
                <a:spcPct val="0"/>
              </a:spcAft>
            </a:pPr>
            <a:r>
              <a:rPr lang="en-US" altLang="en-US" b="1">
                <a:solidFill>
                  <a:srgbClr val="FF99FF"/>
                </a:solidFill>
                <a:cs typeface="Calibri" panose="020F0502020204030204" pitchFamily="34" charset="0"/>
              </a:rPr>
              <a:t>Then,   T = k l</a:t>
            </a:r>
            <a:r>
              <a:rPr lang="en-US" altLang="en-US" b="1" baseline="30000">
                <a:solidFill>
                  <a:srgbClr val="FF99FF"/>
                </a:solidFill>
                <a:cs typeface="Calibri" panose="020F0502020204030204" pitchFamily="34" charset="0"/>
              </a:rPr>
              <a:t>½</a:t>
            </a:r>
            <a:r>
              <a:rPr lang="en-US" altLang="en-US" b="1">
                <a:solidFill>
                  <a:srgbClr val="FF99FF"/>
                </a:solidFill>
                <a:cs typeface="Calibri" panose="020F0502020204030204" pitchFamily="34" charset="0"/>
              </a:rPr>
              <a:t> g</a:t>
            </a:r>
            <a:r>
              <a:rPr lang="en-US" altLang="en-US" b="1" baseline="30000">
                <a:solidFill>
                  <a:srgbClr val="FF99FF"/>
                </a:solidFill>
                <a:cs typeface="Calibri" panose="020F0502020204030204" pitchFamily="34" charset="0"/>
              </a:rPr>
              <a:t>–½</a:t>
            </a:r>
          </a:p>
          <a:p>
            <a:pPr algn="just" fontAlgn="base">
              <a:spcBef>
                <a:spcPct val="0"/>
              </a:spcBef>
              <a:spcAft>
                <a:spcPct val="0"/>
              </a:spcAft>
            </a:pPr>
            <a:endParaRPr lang="en-US" altLang="en-US" b="1" baseline="30000">
              <a:solidFill>
                <a:srgbClr val="FF99FF"/>
              </a:solidFill>
              <a:cs typeface="Calibri" panose="020F0502020204030204" pitchFamily="34" charset="0"/>
            </a:endParaRPr>
          </a:p>
          <a:p>
            <a:pPr algn="just" fontAlgn="base">
              <a:spcBef>
                <a:spcPct val="0"/>
              </a:spcBef>
              <a:spcAft>
                <a:spcPct val="0"/>
              </a:spcAft>
            </a:pPr>
            <a:r>
              <a:rPr lang="en-US" altLang="en-US" b="1">
                <a:solidFill>
                  <a:srgbClr val="FF99FF"/>
                </a:solidFill>
                <a:cs typeface="Calibri" panose="020F0502020204030204" pitchFamily="34" charset="0"/>
              </a:rPr>
              <a:t>Or </a:t>
            </a:r>
            <a:endParaRPr lang="en-US" altLang="en-US" b="1">
              <a:solidFill>
                <a:srgbClr val="FF99FF"/>
              </a:solidFill>
            </a:endParaRPr>
          </a:p>
        </p:txBody>
      </p:sp>
      <p:sp>
        <p:nvSpPr>
          <p:cNvPr id="63491" name="Rectangle 2"/>
          <p:cNvSpPr>
            <a:spLocks noChangeArrowheads="1"/>
          </p:cNvSpPr>
          <p:nvPr/>
        </p:nvSpPr>
        <p:spPr bwMode="auto">
          <a:xfrm>
            <a:off x="2063751" y="115889"/>
            <a:ext cx="7345363"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FF99FF"/>
                </a:solidFill>
              </a:rPr>
              <a:t>The dimensions of the quantities involved in the equation are:</a:t>
            </a:r>
          </a:p>
          <a:p>
            <a:pPr eaLnBrk="1" fontAlgn="base" hangingPunct="1">
              <a:spcBef>
                <a:spcPct val="0"/>
              </a:spcBef>
              <a:spcAft>
                <a:spcPct val="0"/>
              </a:spcAft>
            </a:pPr>
            <a:endParaRPr lang="en-US" altLang="en-US" b="1">
              <a:solidFill>
                <a:srgbClr val="FF99FF"/>
              </a:solidFill>
            </a:endParaRPr>
          </a:p>
          <a:p>
            <a:pPr eaLnBrk="1" fontAlgn="base" hangingPunct="1">
              <a:spcBef>
                <a:spcPct val="0"/>
              </a:spcBef>
              <a:spcAft>
                <a:spcPct val="0"/>
              </a:spcAft>
            </a:pPr>
            <a:r>
              <a:rPr lang="en-US" altLang="en-US" b="1">
                <a:solidFill>
                  <a:srgbClr val="FF99FF"/>
                </a:solidFill>
              </a:rPr>
              <a:t>[m] = [ML</a:t>
            </a:r>
            <a:r>
              <a:rPr lang="en-US" altLang="en-US" b="1" baseline="30000">
                <a:solidFill>
                  <a:srgbClr val="FF99FF"/>
                </a:solidFill>
              </a:rPr>
              <a:t>0</a:t>
            </a:r>
            <a:r>
              <a:rPr lang="en-US" altLang="en-US" b="1">
                <a:solidFill>
                  <a:srgbClr val="FF99FF"/>
                </a:solidFill>
              </a:rPr>
              <a:t>T</a:t>
            </a:r>
            <a:r>
              <a:rPr lang="en-US" altLang="en-US" b="1" baseline="30000">
                <a:solidFill>
                  <a:srgbClr val="FF99FF"/>
                </a:solidFill>
              </a:rPr>
              <a:t>0</a:t>
            </a:r>
            <a:r>
              <a:rPr lang="en-US" altLang="en-US" b="1">
                <a:solidFill>
                  <a:srgbClr val="FF99FF"/>
                </a:solidFill>
              </a:rPr>
              <a:t>] </a:t>
            </a:r>
          </a:p>
          <a:p>
            <a:pPr eaLnBrk="1" fontAlgn="base" hangingPunct="1">
              <a:spcBef>
                <a:spcPct val="0"/>
              </a:spcBef>
              <a:spcAft>
                <a:spcPct val="0"/>
              </a:spcAft>
            </a:pPr>
            <a:r>
              <a:rPr lang="en-US" altLang="en-US" b="1">
                <a:solidFill>
                  <a:srgbClr val="FF99FF"/>
                </a:solidFill>
              </a:rPr>
              <a:t>[l]   = [M</a:t>
            </a:r>
            <a:r>
              <a:rPr lang="en-US" altLang="en-US" b="1" baseline="30000">
                <a:solidFill>
                  <a:srgbClr val="FF99FF"/>
                </a:solidFill>
              </a:rPr>
              <a:t>0</a:t>
            </a:r>
            <a:r>
              <a:rPr lang="en-US" altLang="en-US" b="1">
                <a:solidFill>
                  <a:srgbClr val="FF99FF"/>
                </a:solidFill>
              </a:rPr>
              <a:t>LT</a:t>
            </a:r>
            <a:r>
              <a:rPr lang="en-US" altLang="en-US" b="1" baseline="30000">
                <a:solidFill>
                  <a:srgbClr val="FF99FF"/>
                </a:solidFill>
              </a:rPr>
              <a:t>0</a:t>
            </a:r>
            <a:r>
              <a:rPr lang="en-US" altLang="en-US" b="1">
                <a:solidFill>
                  <a:srgbClr val="FF99FF"/>
                </a:solidFill>
              </a:rPr>
              <a:t>] </a:t>
            </a:r>
          </a:p>
          <a:p>
            <a:pPr eaLnBrk="1" fontAlgn="base" hangingPunct="1">
              <a:spcBef>
                <a:spcPct val="0"/>
              </a:spcBef>
              <a:spcAft>
                <a:spcPct val="0"/>
              </a:spcAft>
            </a:pPr>
            <a:r>
              <a:rPr lang="en-US" altLang="en-US" b="1">
                <a:solidFill>
                  <a:srgbClr val="FF99FF"/>
                </a:solidFill>
              </a:rPr>
              <a:t>[g]  = [M</a:t>
            </a:r>
            <a:r>
              <a:rPr lang="en-US" altLang="en-US" b="1" baseline="30000">
                <a:solidFill>
                  <a:srgbClr val="FF99FF"/>
                </a:solidFill>
              </a:rPr>
              <a:t>0</a:t>
            </a:r>
            <a:r>
              <a:rPr lang="en-US" altLang="en-US" b="1">
                <a:solidFill>
                  <a:srgbClr val="FF99FF"/>
                </a:solidFill>
              </a:rPr>
              <a:t>LT</a:t>
            </a:r>
            <a:r>
              <a:rPr lang="en-US" altLang="en-US" b="1" baseline="30000">
                <a:solidFill>
                  <a:srgbClr val="FF99FF"/>
                </a:solidFill>
              </a:rPr>
              <a:t>-2</a:t>
            </a:r>
            <a:r>
              <a:rPr lang="en-US" altLang="en-US" b="1">
                <a:solidFill>
                  <a:srgbClr val="FF99FF"/>
                </a:solidFill>
              </a:rPr>
              <a:t>] </a:t>
            </a:r>
          </a:p>
          <a:p>
            <a:pPr eaLnBrk="1" fontAlgn="base" hangingPunct="1">
              <a:spcBef>
                <a:spcPct val="0"/>
              </a:spcBef>
              <a:spcAft>
                <a:spcPct val="0"/>
              </a:spcAft>
            </a:pPr>
            <a:r>
              <a:rPr lang="en-US" altLang="en-US" b="1">
                <a:solidFill>
                  <a:srgbClr val="FF99FF"/>
                </a:solidFill>
              </a:rPr>
              <a:t>[T]  = </a:t>
            </a:r>
            <a:r>
              <a:rPr lang="en-US" altLang="en-US" b="1">
                <a:solidFill>
                  <a:srgbClr val="FF99FF"/>
                </a:solidFill>
                <a:ea typeface="Calibri" panose="020F0502020204030204" pitchFamily="34" charset="0"/>
                <a:cs typeface="Bookman-Light" charset="0"/>
              </a:rPr>
              <a:t>[M</a:t>
            </a:r>
            <a:r>
              <a:rPr lang="en-US" altLang="en-US" b="1" baseline="30000">
                <a:solidFill>
                  <a:srgbClr val="FF99FF"/>
                </a:solidFill>
                <a:ea typeface="Calibri" panose="020F0502020204030204" pitchFamily="34" charset="0"/>
                <a:cs typeface="Bookman-Light" charset="0"/>
              </a:rPr>
              <a:t>0</a:t>
            </a:r>
            <a:r>
              <a:rPr lang="en-US" altLang="en-US" b="1">
                <a:solidFill>
                  <a:srgbClr val="FF99FF"/>
                </a:solidFill>
                <a:ea typeface="Calibri" panose="020F0502020204030204" pitchFamily="34" charset="0"/>
                <a:cs typeface="Bookman-Light" charset="0"/>
              </a:rPr>
              <a:t>L</a:t>
            </a:r>
            <a:r>
              <a:rPr lang="en-US" altLang="en-US" b="1" baseline="30000">
                <a:solidFill>
                  <a:srgbClr val="FF99FF"/>
                </a:solidFill>
                <a:ea typeface="Calibri" panose="020F0502020204030204" pitchFamily="34" charset="0"/>
                <a:cs typeface="Bookman-Light" charset="0"/>
              </a:rPr>
              <a:t>0</a:t>
            </a:r>
            <a:r>
              <a:rPr lang="en-US" altLang="en-US" b="1">
                <a:solidFill>
                  <a:srgbClr val="FF99FF"/>
                </a:solidFill>
                <a:ea typeface="Calibri" panose="020F0502020204030204" pitchFamily="34" charset="0"/>
                <a:cs typeface="Bookman-Light" charset="0"/>
              </a:rPr>
              <a:t>T] </a:t>
            </a:r>
            <a:endParaRPr lang="en-US" altLang="en-US" b="1">
              <a:solidFill>
                <a:srgbClr val="FF99FF"/>
              </a:solidFill>
            </a:endParaRPr>
          </a:p>
        </p:txBody>
      </p:sp>
      <p:grpSp>
        <p:nvGrpSpPr>
          <p:cNvPr id="63492" name="Group 1"/>
          <p:cNvGrpSpPr>
            <a:grpSpLocks/>
          </p:cNvGrpSpPr>
          <p:nvPr/>
        </p:nvGrpSpPr>
        <p:grpSpPr bwMode="auto">
          <a:xfrm>
            <a:off x="2643188" y="5594351"/>
            <a:ext cx="1416050" cy="719137"/>
            <a:chOff x="1119188" y="5849938"/>
            <a:chExt cx="1416050" cy="719137"/>
          </a:xfrm>
        </p:grpSpPr>
        <p:sp>
          <p:nvSpPr>
            <p:cNvPr id="63507" name="Rectangle 4"/>
            <p:cNvSpPr>
              <a:spLocks noChangeArrowheads="1"/>
            </p:cNvSpPr>
            <p:nvPr/>
          </p:nvSpPr>
          <p:spPr bwMode="auto">
            <a:xfrm>
              <a:off x="1119188" y="6052731"/>
              <a:ext cx="716648" cy="36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T = k</a:t>
              </a:r>
              <a:endParaRPr lang="en-IN" altLang="en-US">
                <a:solidFill>
                  <a:srgbClr val="00FF99"/>
                </a:solidFill>
              </a:endParaRPr>
            </a:p>
          </p:txBody>
        </p:sp>
        <p:grpSp>
          <p:nvGrpSpPr>
            <p:cNvPr id="63508" name="Group 6"/>
            <p:cNvGrpSpPr>
              <a:grpSpLocks/>
            </p:cNvGrpSpPr>
            <p:nvPr/>
          </p:nvGrpSpPr>
          <p:grpSpPr bwMode="auto">
            <a:xfrm>
              <a:off x="2060437" y="5849938"/>
              <a:ext cx="351323" cy="719137"/>
              <a:chOff x="2115840" y="2852738"/>
              <a:chExt cx="351428" cy="720169"/>
            </a:xfrm>
          </p:grpSpPr>
          <p:sp>
            <p:nvSpPr>
              <p:cNvPr id="63510" name="Rectangle 90"/>
              <p:cNvSpPr>
                <a:spLocks noChangeArrowheads="1"/>
              </p:cNvSpPr>
              <p:nvPr/>
            </p:nvSpPr>
            <p:spPr bwMode="auto">
              <a:xfrm>
                <a:off x="2175165" y="2852738"/>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l</a:t>
                </a:r>
              </a:p>
            </p:txBody>
          </p:sp>
          <p:sp>
            <p:nvSpPr>
              <p:cNvPr id="63511" name="Rectangle 91"/>
              <p:cNvSpPr>
                <a:spLocks noChangeArrowheads="1"/>
              </p:cNvSpPr>
              <p:nvPr/>
            </p:nvSpPr>
            <p:spPr bwMode="auto">
              <a:xfrm>
                <a:off x="2141538" y="3203575"/>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g</a:t>
                </a:r>
              </a:p>
            </p:txBody>
          </p:sp>
          <p:cxnSp>
            <p:nvCxnSpPr>
              <p:cNvPr id="11" name="Straight Connector 10"/>
              <p:cNvCxnSpPr/>
              <p:nvPr/>
            </p:nvCxnSpPr>
            <p:spPr>
              <a:xfrm>
                <a:off x="2115978" y="3221567"/>
                <a:ext cx="336651"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3509" name="Freeform 64"/>
            <p:cNvSpPr>
              <a:spLocks/>
            </p:cNvSpPr>
            <p:nvPr/>
          </p:nvSpPr>
          <p:spPr bwMode="auto">
            <a:xfrm>
              <a:off x="1747248" y="5877608"/>
              <a:ext cx="787990" cy="369332"/>
            </a:xfrm>
            <a:custGeom>
              <a:avLst/>
              <a:gdLst>
                <a:gd name="T0" fmla="*/ 0 w 720"/>
                <a:gd name="T1" fmla="*/ 2147483647 h 336"/>
                <a:gd name="T2" fmla="*/ 2147483647 w 720"/>
                <a:gd name="T3" fmla="*/ 2147483647 h 336"/>
                <a:gd name="T4" fmla="*/ 2147483647 w 720"/>
                <a:gd name="T5" fmla="*/ 2147483647 h 336"/>
                <a:gd name="T6" fmla="*/ 2147483647 w 720"/>
                <a:gd name="T7" fmla="*/ 0 h 336"/>
                <a:gd name="T8" fmla="*/ 2147483647 w 720"/>
                <a:gd name="T9" fmla="*/ 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336">
                  <a:moveTo>
                    <a:pt x="0" y="240"/>
                  </a:moveTo>
                  <a:lnTo>
                    <a:pt x="48" y="192"/>
                  </a:lnTo>
                  <a:lnTo>
                    <a:pt x="96" y="336"/>
                  </a:lnTo>
                  <a:lnTo>
                    <a:pt x="192" y="0"/>
                  </a:lnTo>
                  <a:lnTo>
                    <a:pt x="720" y="0"/>
                  </a:lnTo>
                </a:path>
              </a:pathLst>
            </a:custGeom>
            <a:noFill/>
            <a:ln w="19050" cap="flat" cmpd="sng">
              <a:solidFill>
                <a:srgbClr val="00FF99"/>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en-IN">
                <a:solidFill>
                  <a:srgbClr val="000000"/>
                </a:solidFill>
                <a:latin typeface="Arial" panose="020B0604020202020204" pitchFamily="34" charset="0"/>
              </a:endParaRPr>
            </a:p>
          </p:txBody>
        </p:sp>
      </p:grpSp>
      <p:sp>
        <p:nvSpPr>
          <p:cNvPr id="63493" name="Rectangle 12"/>
          <p:cNvSpPr>
            <a:spLocks noChangeArrowheads="1"/>
          </p:cNvSpPr>
          <p:nvPr/>
        </p:nvSpPr>
        <p:spPr bwMode="auto">
          <a:xfrm>
            <a:off x="4059239" y="5549900"/>
            <a:ext cx="32845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fontAlgn="base">
              <a:spcBef>
                <a:spcPct val="0"/>
              </a:spcBef>
              <a:spcAft>
                <a:spcPct val="0"/>
              </a:spcAft>
            </a:pPr>
            <a:r>
              <a:rPr lang="en-US" altLang="en-US" b="1">
                <a:solidFill>
                  <a:srgbClr val="FF6600"/>
                </a:solidFill>
                <a:ea typeface="Calibri" panose="020F0502020204030204" pitchFamily="34" charset="0"/>
                <a:cs typeface="Bookman-Light" charset="0"/>
              </a:rPr>
              <a:t>The value of k is 2</a:t>
            </a:r>
            <a:r>
              <a:rPr lang="el-GR" altLang="en-US" b="1">
                <a:solidFill>
                  <a:srgbClr val="FF6600"/>
                </a:solidFill>
                <a:ea typeface="Calibri" panose="020F0502020204030204" pitchFamily="34" charset="0"/>
                <a:cs typeface="Bookman-Light" charset="0"/>
              </a:rPr>
              <a:t>π</a:t>
            </a:r>
            <a:r>
              <a:rPr lang="en-US" altLang="en-US" b="1">
                <a:solidFill>
                  <a:srgbClr val="FF6600"/>
                </a:solidFill>
                <a:ea typeface="Calibri" panose="020F0502020204030204" pitchFamily="34" charset="0"/>
                <a:cs typeface="Bookman-Light" charset="0"/>
              </a:rPr>
              <a:t> and</a:t>
            </a:r>
          </a:p>
          <a:p>
            <a:pPr algn="just" fontAlgn="base">
              <a:spcBef>
                <a:spcPct val="0"/>
              </a:spcBef>
              <a:spcAft>
                <a:spcPct val="0"/>
              </a:spcAft>
            </a:pPr>
            <a:r>
              <a:rPr lang="en-US" altLang="en-US" b="1">
                <a:solidFill>
                  <a:srgbClr val="FF6600"/>
                </a:solidFill>
                <a:ea typeface="Calibri" panose="020F0502020204030204" pitchFamily="34" charset="0"/>
                <a:cs typeface="Bookman-Light" charset="0"/>
              </a:rPr>
              <a:t>determined from other </a:t>
            </a:r>
          </a:p>
          <a:p>
            <a:pPr algn="just" fontAlgn="base">
              <a:spcBef>
                <a:spcPct val="0"/>
              </a:spcBef>
              <a:spcAft>
                <a:spcPct val="0"/>
              </a:spcAft>
            </a:pPr>
            <a:r>
              <a:rPr lang="en-US" altLang="en-US" b="1">
                <a:solidFill>
                  <a:srgbClr val="FF6600"/>
                </a:solidFill>
                <a:ea typeface="Calibri" panose="020F0502020204030204" pitchFamily="34" charset="0"/>
                <a:cs typeface="Bookman-Light" charset="0"/>
              </a:rPr>
              <a:t>methods.</a:t>
            </a:r>
          </a:p>
        </p:txBody>
      </p:sp>
      <p:grpSp>
        <p:nvGrpSpPr>
          <p:cNvPr id="63494" name="Group 3"/>
          <p:cNvGrpSpPr>
            <a:grpSpLocks/>
          </p:cNvGrpSpPr>
          <p:nvPr/>
        </p:nvGrpSpPr>
        <p:grpSpPr bwMode="auto">
          <a:xfrm>
            <a:off x="7815264" y="5445126"/>
            <a:ext cx="1952625" cy="923925"/>
            <a:chOff x="6291263" y="5701137"/>
            <a:chExt cx="1953145" cy="923925"/>
          </a:xfrm>
        </p:grpSpPr>
        <p:sp>
          <p:nvSpPr>
            <p:cNvPr id="28" name="Rounded Rectangle 27"/>
            <p:cNvSpPr/>
            <p:nvPr/>
          </p:nvSpPr>
          <p:spPr>
            <a:xfrm>
              <a:off x="6516748" y="5701137"/>
              <a:ext cx="1727660" cy="923925"/>
            </a:xfrm>
            <a:prstGeom prst="roundRect">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99FF"/>
                </a:solidFill>
                <a:latin typeface="Arial"/>
              </a:endParaRPr>
            </a:p>
          </p:txBody>
        </p:sp>
        <p:grpSp>
          <p:nvGrpSpPr>
            <p:cNvPr id="63499" name="Group 2"/>
            <p:cNvGrpSpPr>
              <a:grpSpLocks/>
            </p:cNvGrpSpPr>
            <p:nvPr/>
          </p:nvGrpSpPr>
          <p:grpSpPr bwMode="auto">
            <a:xfrm>
              <a:off x="6291263" y="5832934"/>
              <a:ext cx="1809129" cy="719177"/>
              <a:chOff x="6291263" y="5832934"/>
              <a:chExt cx="1809129" cy="719177"/>
            </a:xfrm>
          </p:grpSpPr>
          <p:grpSp>
            <p:nvGrpSpPr>
              <p:cNvPr id="14" name="Group 159"/>
              <p:cNvGrpSpPr>
                <a:grpSpLocks/>
              </p:cNvGrpSpPr>
              <p:nvPr/>
            </p:nvGrpSpPr>
            <p:grpSpPr bwMode="auto">
              <a:xfrm>
                <a:off x="6291263" y="6129684"/>
                <a:ext cx="152523" cy="152518"/>
                <a:chOff x="3168" y="1392"/>
                <a:chExt cx="144" cy="144"/>
              </a:xfrm>
              <a:solidFill>
                <a:srgbClr val="0099FF"/>
              </a:solidFill>
            </p:grpSpPr>
            <p:sp>
              <p:nvSpPr>
                <p:cNvPr id="15" name="Oval 160"/>
                <p:cNvSpPr>
                  <a:spLocks noChangeArrowheads="1"/>
                </p:cNvSpPr>
                <p:nvPr/>
              </p:nvSpPr>
              <p:spPr bwMode="auto">
                <a:xfrm>
                  <a:off x="3168"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99FF"/>
                    </a:solidFill>
                    <a:latin typeface="Arial" panose="020B0604020202020204" pitchFamily="34" charset="0"/>
                  </a:endParaRPr>
                </a:p>
              </p:txBody>
            </p:sp>
            <p:sp>
              <p:nvSpPr>
                <p:cNvPr id="16" name="Oval 161"/>
                <p:cNvSpPr>
                  <a:spLocks noChangeArrowheads="1"/>
                </p:cNvSpPr>
                <p:nvPr/>
              </p:nvSpPr>
              <p:spPr bwMode="auto">
                <a:xfrm>
                  <a:off x="3264" y="1488"/>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99FF"/>
                    </a:solidFill>
                    <a:latin typeface="Arial" panose="020B0604020202020204" pitchFamily="34" charset="0"/>
                  </a:endParaRPr>
                </a:p>
              </p:txBody>
            </p:sp>
            <p:sp>
              <p:nvSpPr>
                <p:cNvPr id="17" name="Oval 162"/>
                <p:cNvSpPr>
                  <a:spLocks noChangeArrowheads="1"/>
                </p:cNvSpPr>
                <p:nvPr/>
              </p:nvSpPr>
              <p:spPr bwMode="auto">
                <a:xfrm>
                  <a:off x="3216" y="1392"/>
                  <a:ext cx="48" cy="48"/>
                </a:xfrm>
                <a:prstGeom prst="ellipse">
                  <a:avLst/>
                </a:prstGeom>
                <a:grpFill/>
                <a:ln w="9525">
                  <a:solidFill>
                    <a:srgbClr val="00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99FF"/>
                    </a:solidFill>
                    <a:latin typeface="Arial" panose="020B0604020202020204" pitchFamily="34" charset="0"/>
                  </a:endParaRPr>
                </a:p>
              </p:txBody>
            </p:sp>
          </p:grpSp>
          <p:sp>
            <p:nvSpPr>
              <p:cNvPr id="63501" name="Rectangle 4"/>
              <p:cNvSpPr>
                <a:spLocks noChangeArrowheads="1"/>
              </p:cNvSpPr>
              <p:nvPr/>
            </p:nvSpPr>
            <p:spPr bwMode="auto">
              <a:xfrm>
                <a:off x="6468318" y="6008057"/>
                <a:ext cx="893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T = 2</a:t>
                </a:r>
                <a:r>
                  <a:rPr lang="el-GR" altLang="en-US" b="1">
                    <a:solidFill>
                      <a:srgbClr val="00FF99"/>
                    </a:solidFill>
                  </a:rPr>
                  <a:t>π</a:t>
                </a:r>
                <a:endParaRPr lang="en-IN" altLang="en-US">
                  <a:solidFill>
                    <a:srgbClr val="00FF99"/>
                  </a:solidFill>
                </a:endParaRPr>
              </a:p>
            </p:txBody>
          </p:sp>
          <p:grpSp>
            <p:nvGrpSpPr>
              <p:cNvPr id="63502" name="Group 6"/>
              <p:cNvGrpSpPr>
                <a:grpSpLocks/>
              </p:cNvGrpSpPr>
              <p:nvPr/>
            </p:nvGrpSpPr>
            <p:grpSpPr bwMode="auto">
              <a:xfrm>
                <a:off x="7625591" y="5832974"/>
                <a:ext cx="351323" cy="719137"/>
                <a:chOff x="2115840" y="2852738"/>
                <a:chExt cx="351428" cy="720169"/>
              </a:xfrm>
            </p:grpSpPr>
            <p:sp>
              <p:nvSpPr>
                <p:cNvPr id="63504" name="Rectangle 90"/>
                <p:cNvSpPr>
                  <a:spLocks noChangeArrowheads="1"/>
                </p:cNvSpPr>
                <p:nvPr/>
              </p:nvSpPr>
              <p:spPr bwMode="auto">
                <a:xfrm>
                  <a:off x="2175165" y="2852738"/>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l</a:t>
                  </a:r>
                </a:p>
              </p:txBody>
            </p:sp>
            <p:sp>
              <p:nvSpPr>
                <p:cNvPr id="63505" name="Rectangle 91"/>
                <p:cNvSpPr>
                  <a:spLocks noChangeArrowheads="1"/>
                </p:cNvSpPr>
                <p:nvPr/>
              </p:nvSpPr>
              <p:spPr bwMode="auto">
                <a:xfrm>
                  <a:off x="2141538" y="3203575"/>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en-US" b="1">
                      <a:solidFill>
                        <a:srgbClr val="00FF99"/>
                      </a:solidFill>
                    </a:rPr>
                    <a:t>g</a:t>
                  </a:r>
                </a:p>
              </p:txBody>
            </p:sp>
            <p:cxnSp>
              <p:nvCxnSpPr>
                <p:cNvPr id="33" name="Straight Connector 32"/>
                <p:cNvCxnSpPr/>
                <p:nvPr/>
              </p:nvCxnSpPr>
              <p:spPr>
                <a:xfrm>
                  <a:off x="2115368" y="3221492"/>
                  <a:ext cx="311326" cy="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3503" name="Freeform 64"/>
              <p:cNvSpPr>
                <a:spLocks/>
              </p:cNvSpPr>
              <p:nvPr/>
            </p:nvSpPr>
            <p:spPr bwMode="auto">
              <a:xfrm>
                <a:off x="7312402" y="5832934"/>
                <a:ext cx="787990" cy="369332"/>
              </a:xfrm>
              <a:custGeom>
                <a:avLst/>
                <a:gdLst>
                  <a:gd name="T0" fmla="*/ 0 w 720"/>
                  <a:gd name="T1" fmla="*/ 2147483647 h 336"/>
                  <a:gd name="T2" fmla="*/ 2147483647 w 720"/>
                  <a:gd name="T3" fmla="*/ 2147483647 h 336"/>
                  <a:gd name="T4" fmla="*/ 2147483647 w 720"/>
                  <a:gd name="T5" fmla="*/ 2147483647 h 336"/>
                  <a:gd name="T6" fmla="*/ 2147483647 w 720"/>
                  <a:gd name="T7" fmla="*/ 0 h 336"/>
                  <a:gd name="T8" fmla="*/ 2147483647 w 720"/>
                  <a:gd name="T9" fmla="*/ 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336">
                    <a:moveTo>
                      <a:pt x="0" y="240"/>
                    </a:moveTo>
                    <a:lnTo>
                      <a:pt x="48" y="192"/>
                    </a:lnTo>
                    <a:lnTo>
                      <a:pt x="96" y="336"/>
                    </a:lnTo>
                    <a:lnTo>
                      <a:pt x="192" y="0"/>
                    </a:lnTo>
                    <a:lnTo>
                      <a:pt x="720" y="0"/>
                    </a:lnTo>
                  </a:path>
                </a:pathLst>
              </a:custGeom>
              <a:noFill/>
              <a:ln w="19050" cap="flat" cmpd="sng">
                <a:solidFill>
                  <a:srgbClr val="00FF99"/>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en-IN">
                  <a:solidFill>
                    <a:srgbClr val="000000"/>
                  </a:solidFill>
                  <a:latin typeface="Arial" panose="020B0604020202020204" pitchFamily="34" charset="0"/>
                </a:endParaRPr>
              </a:p>
            </p:txBody>
          </p:sp>
        </p:grpSp>
      </p:grpSp>
      <p:sp>
        <p:nvSpPr>
          <p:cNvPr id="63495" name="Rectangle 1">
            <a:hlinkClick r:id="rId3" action="ppaction://hlinksldjump"/>
          </p:cNvPr>
          <p:cNvSpPr>
            <a:spLocks noChangeArrowheads="1"/>
          </p:cNvSpPr>
          <p:nvPr/>
        </p:nvSpPr>
        <p:spPr bwMode="auto">
          <a:xfrm>
            <a:off x="8759825" y="6453189"/>
            <a:ext cx="6111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firstslide"/>
              </a:rPr>
              <a:t>Home</a:t>
            </a:r>
            <a:endParaRPr lang="en-US" altLang="en-US" sz="1200" b="1">
              <a:solidFill>
                <a:srgbClr val="0000FF"/>
              </a:solidFill>
            </a:endParaRPr>
          </a:p>
        </p:txBody>
      </p:sp>
      <p:sp>
        <p:nvSpPr>
          <p:cNvPr id="63496" name="Rectangle 10"/>
          <p:cNvSpPr>
            <a:spLocks noChangeArrowheads="1"/>
          </p:cNvSpPr>
          <p:nvPr/>
        </p:nvSpPr>
        <p:spPr bwMode="auto">
          <a:xfrm>
            <a:off x="9304339" y="6462714"/>
            <a:ext cx="515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nextslide"/>
              </a:rPr>
              <a:t>Next</a:t>
            </a:r>
            <a:endParaRPr lang="en-US" altLang="en-US" sz="1200" b="1">
              <a:solidFill>
                <a:srgbClr val="0000FF"/>
              </a:solidFill>
            </a:endParaRPr>
          </a:p>
        </p:txBody>
      </p:sp>
      <p:sp>
        <p:nvSpPr>
          <p:cNvPr id="63497" name="Rectangle 10"/>
          <p:cNvSpPr>
            <a:spLocks noChangeArrowheads="1"/>
          </p:cNvSpPr>
          <p:nvPr/>
        </p:nvSpPr>
        <p:spPr bwMode="auto">
          <a:xfrm>
            <a:off x="9756775" y="6464301"/>
            <a:ext cx="8334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b="1">
                <a:solidFill>
                  <a:srgbClr val="0000FF"/>
                </a:solidFill>
                <a:hlinkClick r:id="" action="ppaction://hlinkshowjump?jump=previousslide"/>
              </a:rPr>
              <a:t>Previous</a:t>
            </a:r>
            <a:endParaRPr lang="en-US" altLang="en-US" sz="1200" b="1">
              <a:solidFill>
                <a:srgbClr val="0000FF"/>
              </a:solidFill>
            </a:endParaRPr>
          </a:p>
        </p:txBody>
      </p:sp>
    </p:spTree>
    <p:extLst>
      <p:ext uri="{BB962C8B-B14F-4D97-AF65-F5344CB8AC3E}">
        <p14:creationId xmlns:p14="http://schemas.microsoft.com/office/powerpoint/2010/main" val="462245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3491">
                                            <p:txEl>
                                              <p:pRg st="2" end="2"/>
                                            </p:txEl>
                                          </p:spTgt>
                                        </p:tgtEl>
                                        <p:attrNameLst>
                                          <p:attrName>style.visibility</p:attrName>
                                        </p:attrNameLst>
                                      </p:cBhvr>
                                      <p:to>
                                        <p:strVal val="visible"/>
                                      </p:to>
                                    </p:set>
                                    <p:animEffect transition="in" filter="wipe(left)">
                                      <p:cBhvr>
                                        <p:cTn id="12" dur="500"/>
                                        <p:tgtEl>
                                          <p:spTgt spid="634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3491">
                                            <p:txEl>
                                              <p:pRg st="3" end="3"/>
                                            </p:txEl>
                                          </p:spTgt>
                                        </p:tgtEl>
                                        <p:attrNameLst>
                                          <p:attrName>style.visibility</p:attrName>
                                        </p:attrNameLst>
                                      </p:cBhvr>
                                      <p:to>
                                        <p:strVal val="visible"/>
                                      </p:to>
                                    </p:set>
                                    <p:animEffect transition="in" filter="wipe(left)">
                                      <p:cBhvr>
                                        <p:cTn id="17" dur="500"/>
                                        <p:tgtEl>
                                          <p:spTgt spid="634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3491">
                                            <p:txEl>
                                              <p:pRg st="4" end="4"/>
                                            </p:txEl>
                                          </p:spTgt>
                                        </p:tgtEl>
                                        <p:attrNameLst>
                                          <p:attrName>style.visibility</p:attrName>
                                        </p:attrNameLst>
                                      </p:cBhvr>
                                      <p:to>
                                        <p:strVal val="visible"/>
                                      </p:to>
                                    </p:set>
                                    <p:animEffect transition="in" filter="wipe(left)">
                                      <p:cBhvr>
                                        <p:cTn id="22" dur="500"/>
                                        <p:tgtEl>
                                          <p:spTgt spid="634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3491">
                                            <p:txEl>
                                              <p:pRg st="5" end="5"/>
                                            </p:txEl>
                                          </p:spTgt>
                                        </p:tgtEl>
                                        <p:attrNameLst>
                                          <p:attrName>style.visibility</p:attrName>
                                        </p:attrNameLst>
                                      </p:cBhvr>
                                      <p:to>
                                        <p:strVal val="visible"/>
                                      </p:to>
                                    </p:set>
                                    <p:animEffect transition="in" filter="wipe(left)">
                                      <p:cBhvr>
                                        <p:cTn id="27" dur="500"/>
                                        <p:tgtEl>
                                          <p:spTgt spid="6349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3490">
                                            <p:txEl>
                                              <p:pRg st="0" end="0"/>
                                            </p:txEl>
                                          </p:spTgt>
                                        </p:tgtEl>
                                        <p:attrNameLst>
                                          <p:attrName>style.visibility</p:attrName>
                                        </p:attrNameLst>
                                      </p:cBhvr>
                                      <p:to>
                                        <p:strVal val="visible"/>
                                      </p:to>
                                    </p:set>
                                    <p:animEffect transition="in" filter="wipe(left)">
                                      <p:cBhvr>
                                        <p:cTn id="32" dur="500"/>
                                        <p:tgtEl>
                                          <p:spTgt spid="63490">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3490">
                                            <p:txEl>
                                              <p:pRg st="2" end="2"/>
                                            </p:txEl>
                                          </p:spTgt>
                                        </p:tgtEl>
                                        <p:attrNameLst>
                                          <p:attrName>style.visibility</p:attrName>
                                        </p:attrNameLst>
                                      </p:cBhvr>
                                      <p:to>
                                        <p:strVal val="visible"/>
                                      </p:to>
                                    </p:set>
                                    <p:animEffect transition="in" filter="wipe(left)">
                                      <p:cBhvr>
                                        <p:cTn id="37" dur="500"/>
                                        <p:tgtEl>
                                          <p:spTgt spid="63490">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3490">
                                            <p:txEl>
                                              <p:pRg st="4" end="4"/>
                                            </p:txEl>
                                          </p:spTgt>
                                        </p:tgtEl>
                                        <p:attrNameLst>
                                          <p:attrName>style.visibility</p:attrName>
                                        </p:attrNameLst>
                                      </p:cBhvr>
                                      <p:to>
                                        <p:strVal val="visible"/>
                                      </p:to>
                                    </p:set>
                                    <p:animEffect transition="in" filter="wipe(left)">
                                      <p:cBhvr>
                                        <p:cTn id="42" dur="500"/>
                                        <p:tgtEl>
                                          <p:spTgt spid="63490">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3490">
                                            <p:txEl>
                                              <p:pRg st="6" end="6"/>
                                            </p:txEl>
                                          </p:spTgt>
                                        </p:tgtEl>
                                        <p:attrNameLst>
                                          <p:attrName>style.visibility</p:attrName>
                                        </p:attrNameLst>
                                      </p:cBhvr>
                                      <p:to>
                                        <p:strVal val="visible"/>
                                      </p:to>
                                    </p:set>
                                    <p:animEffect transition="in" filter="wipe(left)">
                                      <p:cBhvr>
                                        <p:cTn id="47" dur="500"/>
                                        <p:tgtEl>
                                          <p:spTgt spid="63490">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3490">
                                            <p:txEl>
                                              <p:pRg st="7" end="7"/>
                                            </p:txEl>
                                          </p:spTgt>
                                        </p:tgtEl>
                                        <p:attrNameLst>
                                          <p:attrName>style.visibility</p:attrName>
                                        </p:attrNameLst>
                                      </p:cBhvr>
                                      <p:to>
                                        <p:strVal val="visible"/>
                                      </p:to>
                                    </p:set>
                                    <p:animEffect transition="in" filter="wipe(left)">
                                      <p:cBhvr>
                                        <p:cTn id="52" dur="500"/>
                                        <p:tgtEl>
                                          <p:spTgt spid="63490">
                                            <p:txEl>
                                              <p:pRg st="7" end="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3490">
                                            <p:txEl>
                                              <p:pRg st="8" end="8"/>
                                            </p:txEl>
                                          </p:spTgt>
                                        </p:tgtEl>
                                        <p:attrNameLst>
                                          <p:attrName>style.visibility</p:attrName>
                                        </p:attrNameLst>
                                      </p:cBhvr>
                                      <p:to>
                                        <p:strVal val="visible"/>
                                      </p:to>
                                    </p:set>
                                    <p:animEffect transition="in" filter="wipe(left)">
                                      <p:cBhvr>
                                        <p:cTn id="57" dur="500"/>
                                        <p:tgtEl>
                                          <p:spTgt spid="63490">
                                            <p:txEl>
                                              <p:pRg st="8" end="8"/>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3490">
                                            <p:txEl>
                                              <p:pRg st="9" end="9"/>
                                            </p:txEl>
                                          </p:spTgt>
                                        </p:tgtEl>
                                        <p:attrNameLst>
                                          <p:attrName>style.visibility</p:attrName>
                                        </p:attrNameLst>
                                      </p:cBhvr>
                                      <p:to>
                                        <p:strVal val="visible"/>
                                      </p:to>
                                    </p:set>
                                    <p:animEffect transition="in" filter="wipe(left)">
                                      <p:cBhvr>
                                        <p:cTn id="62" dur="500"/>
                                        <p:tgtEl>
                                          <p:spTgt spid="63490">
                                            <p:txEl>
                                              <p:pRg st="9" end="9"/>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3490">
                                            <p:txEl>
                                              <p:pRg st="11" end="11"/>
                                            </p:txEl>
                                          </p:spTgt>
                                        </p:tgtEl>
                                        <p:attrNameLst>
                                          <p:attrName>style.visibility</p:attrName>
                                        </p:attrNameLst>
                                      </p:cBhvr>
                                      <p:to>
                                        <p:strVal val="visible"/>
                                      </p:to>
                                    </p:set>
                                    <p:animEffect transition="in" filter="wipe(left)">
                                      <p:cBhvr>
                                        <p:cTn id="67" dur="500"/>
                                        <p:tgtEl>
                                          <p:spTgt spid="63490">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63490">
                                            <p:txEl>
                                              <p:pRg st="12" end="12"/>
                                            </p:txEl>
                                          </p:spTgt>
                                        </p:tgtEl>
                                        <p:attrNameLst>
                                          <p:attrName>style.visibility</p:attrName>
                                        </p:attrNameLst>
                                      </p:cBhvr>
                                      <p:to>
                                        <p:strVal val="visible"/>
                                      </p:to>
                                    </p:set>
                                    <p:animEffect transition="in" filter="wipe(left)">
                                      <p:cBhvr>
                                        <p:cTn id="72" dur="500"/>
                                        <p:tgtEl>
                                          <p:spTgt spid="63490">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3490">
                                            <p:txEl>
                                              <p:pRg st="14" end="14"/>
                                            </p:txEl>
                                          </p:spTgt>
                                        </p:tgtEl>
                                        <p:attrNameLst>
                                          <p:attrName>style.visibility</p:attrName>
                                        </p:attrNameLst>
                                      </p:cBhvr>
                                      <p:to>
                                        <p:strVal val="visible"/>
                                      </p:to>
                                    </p:set>
                                    <p:animEffect transition="in" filter="wipe(left)">
                                      <p:cBhvr>
                                        <p:cTn id="77" dur="500"/>
                                        <p:tgtEl>
                                          <p:spTgt spid="63490">
                                            <p:txEl>
                                              <p:pRg st="14" end="14"/>
                                            </p:txEl>
                                          </p:spTgt>
                                        </p:tgtEl>
                                      </p:cBhvr>
                                    </p:animEffect>
                                  </p:childTnLst>
                                </p:cTn>
                              </p:par>
                            </p:childTnLst>
                          </p:cTn>
                        </p:par>
                        <p:par>
                          <p:cTn id="78" fill="hold" nodeType="afterGroup">
                            <p:stCondLst>
                              <p:cond delay="500"/>
                            </p:stCondLst>
                            <p:childTnLst>
                              <p:par>
                                <p:cTn id="79" presetID="53" presetClass="entr" presetSubtype="16" fill="hold" nodeType="afterEffect">
                                  <p:stCondLst>
                                    <p:cond delay="0"/>
                                  </p:stCondLst>
                                  <p:childTnLst>
                                    <p:set>
                                      <p:cBhvr>
                                        <p:cTn id="80" dur="1" fill="hold">
                                          <p:stCondLst>
                                            <p:cond delay="0"/>
                                          </p:stCondLst>
                                        </p:cTn>
                                        <p:tgtEl>
                                          <p:spTgt spid="63492"/>
                                        </p:tgtEl>
                                        <p:attrNameLst>
                                          <p:attrName>style.visibility</p:attrName>
                                        </p:attrNameLst>
                                      </p:cBhvr>
                                      <p:to>
                                        <p:strVal val="visible"/>
                                      </p:to>
                                    </p:set>
                                    <p:anim calcmode="lin" valueType="num">
                                      <p:cBhvr>
                                        <p:cTn id="81" dur="500" fill="hold"/>
                                        <p:tgtEl>
                                          <p:spTgt spid="63492"/>
                                        </p:tgtEl>
                                        <p:attrNameLst>
                                          <p:attrName>ppt_w</p:attrName>
                                        </p:attrNameLst>
                                      </p:cBhvr>
                                      <p:tavLst>
                                        <p:tav tm="0">
                                          <p:val>
                                            <p:fltVal val="0"/>
                                          </p:val>
                                        </p:tav>
                                        <p:tav tm="100000">
                                          <p:val>
                                            <p:strVal val="#ppt_w"/>
                                          </p:val>
                                        </p:tav>
                                      </p:tavLst>
                                    </p:anim>
                                    <p:anim calcmode="lin" valueType="num">
                                      <p:cBhvr>
                                        <p:cTn id="82" dur="500" fill="hold"/>
                                        <p:tgtEl>
                                          <p:spTgt spid="63492"/>
                                        </p:tgtEl>
                                        <p:attrNameLst>
                                          <p:attrName>ppt_h</p:attrName>
                                        </p:attrNameLst>
                                      </p:cBhvr>
                                      <p:tavLst>
                                        <p:tav tm="0">
                                          <p:val>
                                            <p:fltVal val="0"/>
                                          </p:val>
                                        </p:tav>
                                        <p:tav tm="100000">
                                          <p:val>
                                            <p:strVal val="#ppt_h"/>
                                          </p:val>
                                        </p:tav>
                                      </p:tavLst>
                                    </p:anim>
                                    <p:animEffect transition="in" filter="fade">
                                      <p:cBhvr>
                                        <p:cTn id="83" dur="500"/>
                                        <p:tgtEl>
                                          <p:spTgt spid="6349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63493"/>
                                        </p:tgtEl>
                                        <p:attrNameLst>
                                          <p:attrName>style.visibility</p:attrName>
                                        </p:attrNameLst>
                                      </p:cBhvr>
                                      <p:to>
                                        <p:strVal val="visible"/>
                                      </p:to>
                                    </p:set>
                                    <p:animEffect transition="in" filter="wipe(up)">
                                      <p:cBhvr>
                                        <p:cTn id="88" dur="500"/>
                                        <p:tgtEl>
                                          <p:spTgt spid="6349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16" fill="hold" nodeType="clickEffect">
                                  <p:stCondLst>
                                    <p:cond delay="0"/>
                                  </p:stCondLst>
                                  <p:childTnLst>
                                    <p:set>
                                      <p:cBhvr>
                                        <p:cTn id="92" dur="1" fill="hold">
                                          <p:stCondLst>
                                            <p:cond delay="0"/>
                                          </p:stCondLst>
                                        </p:cTn>
                                        <p:tgtEl>
                                          <p:spTgt spid="63494"/>
                                        </p:tgtEl>
                                        <p:attrNameLst>
                                          <p:attrName>style.visibility</p:attrName>
                                        </p:attrNameLst>
                                      </p:cBhvr>
                                      <p:to>
                                        <p:strVal val="visible"/>
                                      </p:to>
                                    </p:set>
                                    <p:anim calcmode="lin" valueType="num">
                                      <p:cBhvr>
                                        <p:cTn id="93" dur="500" fill="hold"/>
                                        <p:tgtEl>
                                          <p:spTgt spid="63494"/>
                                        </p:tgtEl>
                                        <p:attrNameLst>
                                          <p:attrName>ppt_w</p:attrName>
                                        </p:attrNameLst>
                                      </p:cBhvr>
                                      <p:tavLst>
                                        <p:tav tm="0">
                                          <p:val>
                                            <p:fltVal val="0"/>
                                          </p:val>
                                        </p:tav>
                                        <p:tav tm="100000">
                                          <p:val>
                                            <p:strVal val="#ppt_w"/>
                                          </p:val>
                                        </p:tav>
                                      </p:tavLst>
                                    </p:anim>
                                    <p:anim calcmode="lin" valueType="num">
                                      <p:cBhvr>
                                        <p:cTn id="94" dur="500" fill="hold"/>
                                        <p:tgtEl>
                                          <p:spTgt spid="63494"/>
                                        </p:tgtEl>
                                        <p:attrNameLst>
                                          <p:attrName>ppt_h</p:attrName>
                                        </p:attrNameLst>
                                      </p:cBhvr>
                                      <p:tavLst>
                                        <p:tav tm="0">
                                          <p:val>
                                            <p:fltVal val="0"/>
                                          </p:val>
                                        </p:tav>
                                        <p:tav tm="100000">
                                          <p:val>
                                            <p:strVal val="#ppt_h"/>
                                          </p:val>
                                        </p:tav>
                                      </p:tavLst>
                                    </p:anim>
                                    <p:animEffect transition="in" filter="fade">
                                      <p:cBhvr>
                                        <p:cTn id="95" dur="500"/>
                                        <p:tgtEl>
                                          <p:spTgt spid="63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12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65</a:t>
            </a:fld>
            <a:endParaRPr kern="0"/>
          </a:p>
        </p:txBody>
      </p:sp>
      <p:sp>
        <p:nvSpPr>
          <p:cNvPr id="1424" name="Google Shape;1424;p12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dirty="0" smtClean="0">
                <a:solidFill>
                  <a:srgbClr val="000000"/>
                </a:solidFill>
                <a:latin typeface="Cambria Math"/>
                <a:ea typeface="Cambria Math"/>
                <a:cs typeface="Cambria Math"/>
                <a:sym typeface="Cambria Math"/>
              </a:rPr>
              <a:t>Errors </a:t>
            </a:r>
            <a:r>
              <a:rPr lang="en" sz="2667" b="1" dirty="0">
                <a:solidFill>
                  <a:srgbClr val="000000"/>
                </a:solidFill>
                <a:latin typeface="Cambria Math"/>
                <a:ea typeface="Cambria Math"/>
                <a:cs typeface="Cambria Math"/>
                <a:sym typeface="Cambria Math"/>
              </a:rPr>
              <a:t>in Measurements</a:t>
            </a:r>
            <a:endParaRPr sz="2667" b="1" dirty="0">
              <a:solidFill>
                <a:srgbClr val="000000"/>
              </a:solidFill>
              <a:latin typeface="Cambria Math"/>
              <a:ea typeface="Cambria Math"/>
              <a:cs typeface="Cambria Math"/>
              <a:sym typeface="Cambria Math"/>
            </a:endParaRPr>
          </a:p>
        </p:txBody>
      </p:sp>
      <p:sp>
        <p:nvSpPr>
          <p:cNvPr id="1425" name="Google Shape;1425;p126"/>
          <p:cNvSpPr txBox="1"/>
          <p:nvPr/>
        </p:nvSpPr>
        <p:spPr>
          <a:xfrm>
            <a:off x="304800" y="1080733"/>
            <a:ext cx="11582400" cy="56252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a:solidFill>
                  <a:srgbClr val="00FF00"/>
                </a:solidFill>
                <a:latin typeface="Cambria Math"/>
                <a:ea typeface="Cambria Math"/>
                <a:cs typeface="Cambria Math"/>
                <a:sym typeface="Cambria Math"/>
              </a:rPr>
              <a:t>Theory of Errors</a:t>
            </a:r>
            <a:endParaRPr sz="2400" kern="0">
              <a:solidFill>
                <a:srgbClr val="00FF00"/>
              </a:solidFill>
              <a:latin typeface="Cambria Math"/>
              <a:ea typeface="Cambria Math"/>
              <a:cs typeface="Cambria Math"/>
              <a:sym typeface="Cambria Math"/>
            </a:endParaRPr>
          </a:p>
        </p:txBody>
      </p:sp>
      <p:sp>
        <p:nvSpPr>
          <p:cNvPr id="1426" name="Google Shape;1426;p126"/>
          <p:cNvSpPr/>
          <p:nvPr/>
        </p:nvSpPr>
        <p:spPr>
          <a:xfrm>
            <a:off x="5472200" y="2082200"/>
            <a:ext cx="12476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Errors</a:t>
            </a:r>
            <a:endParaRPr sz="2400" kern="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2548025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31"/>
        <p:cNvGrpSpPr/>
        <p:nvPr/>
      </p:nvGrpSpPr>
      <p:grpSpPr>
        <a:xfrm>
          <a:off x="0" y="0"/>
          <a:ext cx="0" cy="0"/>
          <a:chOff x="0" y="0"/>
          <a:chExt cx="0" cy="0"/>
        </a:xfrm>
      </p:grpSpPr>
      <p:sp>
        <p:nvSpPr>
          <p:cNvPr id="1432" name="Google Shape;1432;p127"/>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66</a:t>
            </a:fld>
            <a:endParaRPr kern="0"/>
          </a:p>
        </p:txBody>
      </p:sp>
      <p:sp>
        <p:nvSpPr>
          <p:cNvPr id="1433" name="Google Shape;1433;p127"/>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34" name="Google Shape;1434;p127"/>
          <p:cNvSpPr txBox="1"/>
          <p:nvPr/>
        </p:nvSpPr>
        <p:spPr>
          <a:xfrm>
            <a:off x="304800" y="1080733"/>
            <a:ext cx="11582400" cy="56252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a:solidFill>
                  <a:srgbClr val="00FF00"/>
                </a:solidFill>
                <a:latin typeface="Cambria Math"/>
                <a:ea typeface="Cambria Math"/>
                <a:cs typeface="Cambria Math"/>
                <a:sym typeface="Cambria Math"/>
              </a:rPr>
              <a:t>Theory of Errors</a:t>
            </a:r>
            <a:endParaRPr sz="2400" kern="0">
              <a:solidFill>
                <a:srgbClr val="00FF00"/>
              </a:solidFill>
              <a:latin typeface="Cambria Math"/>
              <a:ea typeface="Cambria Math"/>
              <a:cs typeface="Cambria Math"/>
              <a:sym typeface="Cambria Math"/>
            </a:endParaRPr>
          </a:p>
        </p:txBody>
      </p:sp>
      <p:sp>
        <p:nvSpPr>
          <p:cNvPr id="1435" name="Google Shape;1435;p127"/>
          <p:cNvSpPr/>
          <p:nvPr/>
        </p:nvSpPr>
        <p:spPr>
          <a:xfrm>
            <a:off x="5472200" y="2082200"/>
            <a:ext cx="12476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Errors</a:t>
            </a:r>
            <a:endParaRPr sz="2400" kern="0">
              <a:solidFill>
                <a:srgbClr val="FFFFFF"/>
              </a:solidFill>
              <a:latin typeface="Cambria Math"/>
              <a:ea typeface="Cambria Math"/>
              <a:cs typeface="Cambria Math"/>
              <a:sym typeface="Cambria Math"/>
            </a:endParaRPr>
          </a:p>
        </p:txBody>
      </p:sp>
      <p:sp>
        <p:nvSpPr>
          <p:cNvPr id="1436" name="Google Shape;1436;p127"/>
          <p:cNvSpPr/>
          <p:nvPr/>
        </p:nvSpPr>
        <p:spPr>
          <a:xfrm>
            <a:off x="2280367" y="3571133"/>
            <a:ext cx="28448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a:t>
            </a:r>
            <a:endParaRPr sz="2400" kern="0">
              <a:solidFill>
                <a:srgbClr val="FFFFFF"/>
              </a:solidFill>
              <a:latin typeface="Cambria Math"/>
              <a:ea typeface="Cambria Math"/>
              <a:cs typeface="Cambria Math"/>
              <a:sym typeface="Cambria Math"/>
            </a:endParaRPr>
          </a:p>
        </p:txBody>
      </p:sp>
      <p:cxnSp>
        <p:nvCxnSpPr>
          <p:cNvPr id="1437" name="Google Shape;1437;p127"/>
          <p:cNvCxnSpPr>
            <a:stCxn id="1435" idx="2"/>
            <a:endCxn id="1436" idx="0"/>
          </p:cNvCxnSpPr>
          <p:nvPr/>
        </p:nvCxnSpPr>
        <p:spPr>
          <a:xfrm rot="5400000">
            <a:off x="4477200" y="1952200"/>
            <a:ext cx="844400" cy="2393200"/>
          </a:xfrm>
          <a:prstGeom prst="bentConnector3">
            <a:avLst>
              <a:gd name="adj1" fmla="val 50008"/>
            </a:avLst>
          </a:prstGeom>
          <a:noFill/>
          <a:ln w="38100" cap="flat" cmpd="sng">
            <a:solidFill>
              <a:srgbClr val="00FF00"/>
            </a:solidFill>
            <a:prstDash val="solid"/>
            <a:round/>
            <a:headEnd type="none" w="sm" len="sm"/>
            <a:tailEnd type="none" w="sm" len="sm"/>
          </a:ln>
        </p:spPr>
      </p:cxnSp>
    </p:spTree>
    <p:extLst>
      <p:ext uri="{BB962C8B-B14F-4D97-AF65-F5344CB8AC3E}">
        <p14:creationId xmlns:p14="http://schemas.microsoft.com/office/powerpoint/2010/main" val="30331193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128"/>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67</a:t>
            </a:fld>
            <a:endParaRPr kern="0"/>
          </a:p>
        </p:txBody>
      </p:sp>
      <p:sp>
        <p:nvSpPr>
          <p:cNvPr id="1444" name="Google Shape;1444;p128"/>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45" name="Google Shape;1445;p128"/>
          <p:cNvSpPr txBox="1"/>
          <p:nvPr/>
        </p:nvSpPr>
        <p:spPr>
          <a:xfrm>
            <a:off x="304800" y="1080733"/>
            <a:ext cx="11582400" cy="56252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a:solidFill>
                  <a:srgbClr val="00FF00"/>
                </a:solidFill>
                <a:latin typeface="Cambria Math"/>
                <a:ea typeface="Cambria Math"/>
                <a:cs typeface="Cambria Math"/>
                <a:sym typeface="Cambria Math"/>
              </a:rPr>
              <a:t>Theory of Errors</a:t>
            </a:r>
            <a:endParaRPr sz="2400" kern="0">
              <a:solidFill>
                <a:srgbClr val="00FF00"/>
              </a:solidFill>
              <a:latin typeface="Cambria Math"/>
              <a:ea typeface="Cambria Math"/>
              <a:cs typeface="Cambria Math"/>
              <a:sym typeface="Cambria Math"/>
            </a:endParaRPr>
          </a:p>
        </p:txBody>
      </p:sp>
      <p:sp>
        <p:nvSpPr>
          <p:cNvPr id="1446" name="Google Shape;1446;p128"/>
          <p:cNvSpPr/>
          <p:nvPr/>
        </p:nvSpPr>
        <p:spPr>
          <a:xfrm>
            <a:off x="5472200" y="2082200"/>
            <a:ext cx="12476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Errors</a:t>
            </a:r>
            <a:endParaRPr sz="2400" kern="0">
              <a:solidFill>
                <a:srgbClr val="FFFFFF"/>
              </a:solidFill>
              <a:latin typeface="Cambria Math"/>
              <a:ea typeface="Cambria Math"/>
              <a:cs typeface="Cambria Math"/>
              <a:sym typeface="Cambria Math"/>
            </a:endParaRPr>
          </a:p>
        </p:txBody>
      </p:sp>
      <p:sp>
        <p:nvSpPr>
          <p:cNvPr id="1447" name="Google Shape;1447;p128"/>
          <p:cNvSpPr/>
          <p:nvPr/>
        </p:nvSpPr>
        <p:spPr>
          <a:xfrm>
            <a:off x="2280367" y="3571133"/>
            <a:ext cx="28448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a:t>
            </a:r>
            <a:endParaRPr sz="2400" kern="0">
              <a:solidFill>
                <a:srgbClr val="FFFFFF"/>
              </a:solidFill>
              <a:latin typeface="Cambria Math"/>
              <a:ea typeface="Cambria Math"/>
              <a:cs typeface="Cambria Math"/>
              <a:sym typeface="Cambria Math"/>
            </a:endParaRPr>
          </a:p>
        </p:txBody>
      </p:sp>
      <p:sp>
        <p:nvSpPr>
          <p:cNvPr id="1448" name="Google Shape;1448;p128"/>
          <p:cNvSpPr/>
          <p:nvPr/>
        </p:nvSpPr>
        <p:spPr>
          <a:xfrm>
            <a:off x="7398967" y="3571133"/>
            <a:ext cx="2632000" cy="644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Random Errors</a:t>
            </a:r>
            <a:endParaRPr sz="2400" kern="0">
              <a:solidFill>
                <a:srgbClr val="FFFFFF"/>
              </a:solidFill>
              <a:latin typeface="Cambria Math"/>
              <a:ea typeface="Cambria Math"/>
              <a:cs typeface="Cambria Math"/>
              <a:sym typeface="Cambria Math"/>
            </a:endParaRPr>
          </a:p>
        </p:txBody>
      </p:sp>
      <p:cxnSp>
        <p:nvCxnSpPr>
          <p:cNvPr id="1449" name="Google Shape;1449;p128"/>
          <p:cNvCxnSpPr>
            <a:stCxn id="1446" idx="2"/>
            <a:endCxn id="1447" idx="0"/>
          </p:cNvCxnSpPr>
          <p:nvPr/>
        </p:nvCxnSpPr>
        <p:spPr>
          <a:xfrm rot="5400000">
            <a:off x="4477200" y="1952200"/>
            <a:ext cx="844400" cy="2393200"/>
          </a:xfrm>
          <a:prstGeom prst="bentConnector3">
            <a:avLst>
              <a:gd name="adj1" fmla="val 50008"/>
            </a:avLst>
          </a:prstGeom>
          <a:noFill/>
          <a:ln w="38100" cap="flat" cmpd="sng">
            <a:solidFill>
              <a:srgbClr val="00FF00"/>
            </a:solidFill>
            <a:prstDash val="solid"/>
            <a:round/>
            <a:headEnd type="none" w="sm" len="sm"/>
            <a:tailEnd type="none" w="sm" len="sm"/>
          </a:ln>
        </p:spPr>
      </p:cxnSp>
      <p:cxnSp>
        <p:nvCxnSpPr>
          <p:cNvPr id="1450" name="Google Shape;1450;p128"/>
          <p:cNvCxnSpPr>
            <a:stCxn id="1446" idx="2"/>
            <a:endCxn id="1448" idx="0"/>
          </p:cNvCxnSpPr>
          <p:nvPr/>
        </p:nvCxnSpPr>
        <p:spPr>
          <a:xfrm rot="-5400000" flipH="1">
            <a:off x="6983200" y="1839400"/>
            <a:ext cx="844400" cy="2618800"/>
          </a:xfrm>
          <a:prstGeom prst="bentConnector3">
            <a:avLst>
              <a:gd name="adj1" fmla="val 50008"/>
            </a:avLst>
          </a:prstGeom>
          <a:noFill/>
          <a:ln w="38100" cap="flat" cmpd="sng">
            <a:solidFill>
              <a:srgbClr val="00FF00"/>
            </a:solidFill>
            <a:prstDash val="solid"/>
            <a:round/>
            <a:headEnd type="none" w="sm" len="sm"/>
            <a:tailEnd type="none" w="sm" len="sm"/>
          </a:ln>
        </p:spPr>
      </p:cxnSp>
    </p:spTree>
    <p:extLst>
      <p:ext uri="{BB962C8B-B14F-4D97-AF65-F5344CB8AC3E}">
        <p14:creationId xmlns:p14="http://schemas.microsoft.com/office/powerpoint/2010/main" val="15729873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12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68</a:t>
            </a:fld>
            <a:endParaRPr kern="0"/>
          </a:p>
        </p:txBody>
      </p:sp>
      <p:sp>
        <p:nvSpPr>
          <p:cNvPr id="1457" name="Google Shape;1457;p129"/>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58" name="Google Shape;1458;p129"/>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21910364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13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69</a:t>
            </a:fld>
            <a:endParaRPr kern="0"/>
          </a:p>
        </p:txBody>
      </p:sp>
      <p:sp>
        <p:nvSpPr>
          <p:cNvPr id="1465" name="Google Shape;1465;p130"/>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66" name="Google Shape;1466;p130"/>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
        <p:nvSpPr>
          <p:cNvPr id="1467" name="Google Shape;1467;p130"/>
          <p:cNvSpPr/>
          <p:nvPr/>
        </p:nvSpPr>
        <p:spPr>
          <a:xfrm>
            <a:off x="1098717" y="1506728"/>
            <a:ext cx="4864800" cy="9504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Errors tend to be in one direction, either positive or negative  </a:t>
            </a:r>
            <a:endParaRPr sz="2400" kern="0">
              <a:solidFill>
                <a:srgbClr val="FFFF00"/>
              </a:solidFill>
              <a:latin typeface="Cambria Math"/>
              <a:ea typeface="Cambria Math"/>
              <a:cs typeface="Cambria Math"/>
              <a:sym typeface="Cambria Math"/>
            </a:endParaRPr>
          </a:p>
        </p:txBody>
      </p:sp>
      <p:cxnSp>
        <p:nvCxnSpPr>
          <p:cNvPr id="1468" name="Google Shape;1468;p130"/>
          <p:cNvCxnSpPr>
            <a:stCxn id="1466" idx="0"/>
            <a:endCxn id="1467" idx="2"/>
          </p:cNvCxnSpPr>
          <p:nvPr/>
        </p:nvCxnSpPr>
        <p:spPr>
          <a:xfrm rot="-5400000">
            <a:off x="3127316" y="2860363"/>
            <a:ext cx="807600" cy="800"/>
          </a:xfrm>
          <a:prstGeom prst="bentConnector3">
            <a:avLst>
              <a:gd name="adj1" fmla="val 49990"/>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40503343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73"/>
        <p:cNvGrpSpPr/>
        <p:nvPr/>
      </p:nvGrpSpPr>
      <p:grpSpPr>
        <a:xfrm>
          <a:off x="0" y="0"/>
          <a:ext cx="0" cy="0"/>
          <a:chOff x="0" y="0"/>
          <a:chExt cx="0" cy="0"/>
        </a:xfrm>
      </p:grpSpPr>
      <p:sp>
        <p:nvSpPr>
          <p:cNvPr id="1474" name="Google Shape;1474;p131"/>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70</a:t>
            </a:fld>
            <a:endParaRPr kern="0"/>
          </a:p>
        </p:txBody>
      </p:sp>
      <p:sp>
        <p:nvSpPr>
          <p:cNvPr id="1475" name="Google Shape;1475;p131"/>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76" name="Google Shape;1476;p131"/>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
        <p:nvSpPr>
          <p:cNvPr id="1477" name="Google Shape;1477;p131"/>
          <p:cNvSpPr/>
          <p:nvPr/>
        </p:nvSpPr>
        <p:spPr>
          <a:xfrm flipH="1">
            <a:off x="8090083" y="1692329"/>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Instrumental errors</a:t>
            </a:r>
            <a:endParaRPr sz="2400" kern="0">
              <a:solidFill>
                <a:srgbClr val="FFFFFF"/>
              </a:solidFill>
              <a:latin typeface="Cambria Math"/>
              <a:ea typeface="Cambria Math"/>
              <a:cs typeface="Cambria Math"/>
              <a:sym typeface="Cambria Math"/>
            </a:endParaRPr>
          </a:p>
        </p:txBody>
      </p:sp>
      <p:cxnSp>
        <p:nvCxnSpPr>
          <p:cNvPr id="1478" name="Google Shape;1478;p131"/>
          <p:cNvCxnSpPr>
            <a:stCxn id="1479" idx="3"/>
            <a:endCxn id="1477" idx="3"/>
          </p:cNvCxnSpPr>
          <p:nvPr/>
        </p:nvCxnSpPr>
        <p:spPr>
          <a:xfrm rot="10800000" flipH="1">
            <a:off x="6977733" y="20745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sp>
        <p:nvSpPr>
          <p:cNvPr id="1479" name="Google Shape;1479;p131"/>
          <p:cNvSpPr/>
          <p:nvPr/>
        </p:nvSpPr>
        <p:spPr>
          <a:xfrm>
            <a:off x="5234133" y="3464383"/>
            <a:ext cx="1743600" cy="365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80" name="Google Shape;1480;p131"/>
          <p:cNvSpPr txBox="1"/>
          <p:nvPr/>
        </p:nvSpPr>
        <p:spPr>
          <a:xfrm>
            <a:off x="5438217" y="3013465"/>
            <a:ext cx="1133600" cy="3652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Source</a:t>
            </a:r>
            <a:endParaRPr sz="2400" kern="0">
              <a:solidFill>
                <a:srgbClr val="FFFFFF"/>
              </a:solidFill>
              <a:latin typeface="Cambria Math"/>
              <a:ea typeface="Cambria Math"/>
              <a:cs typeface="Cambria Math"/>
              <a:sym typeface="Cambria Math"/>
            </a:endParaRPr>
          </a:p>
        </p:txBody>
      </p:sp>
      <p:sp>
        <p:nvSpPr>
          <p:cNvPr id="1481" name="Google Shape;1481;p131"/>
          <p:cNvSpPr/>
          <p:nvPr/>
        </p:nvSpPr>
        <p:spPr>
          <a:xfrm>
            <a:off x="1098717" y="1506728"/>
            <a:ext cx="4864800" cy="9504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Errors tend to be in one direction, either positive or negative  </a:t>
            </a:r>
            <a:endParaRPr sz="2400" kern="0">
              <a:solidFill>
                <a:srgbClr val="FFFF00"/>
              </a:solidFill>
              <a:latin typeface="Cambria Math"/>
              <a:ea typeface="Cambria Math"/>
              <a:cs typeface="Cambria Math"/>
              <a:sym typeface="Cambria Math"/>
            </a:endParaRPr>
          </a:p>
        </p:txBody>
      </p:sp>
      <p:cxnSp>
        <p:nvCxnSpPr>
          <p:cNvPr id="1482" name="Google Shape;1482;p131"/>
          <p:cNvCxnSpPr>
            <a:stCxn id="1476" idx="0"/>
            <a:endCxn id="1481" idx="2"/>
          </p:cNvCxnSpPr>
          <p:nvPr/>
        </p:nvCxnSpPr>
        <p:spPr>
          <a:xfrm rot="-5400000">
            <a:off x="3127316" y="2860363"/>
            <a:ext cx="807600" cy="800"/>
          </a:xfrm>
          <a:prstGeom prst="bentConnector3">
            <a:avLst>
              <a:gd name="adj1" fmla="val 49990"/>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3903281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1488" name="Google Shape;1488;p132"/>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71</a:t>
            </a:fld>
            <a:endParaRPr kern="0"/>
          </a:p>
        </p:txBody>
      </p:sp>
      <p:sp>
        <p:nvSpPr>
          <p:cNvPr id="1489" name="Google Shape;1489;p132"/>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490" name="Google Shape;1490;p132"/>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
        <p:nvSpPr>
          <p:cNvPr id="1491" name="Google Shape;1491;p132"/>
          <p:cNvSpPr/>
          <p:nvPr/>
        </p:nvSpPr>
        <p:spPr>
          <a:xfrm flipH="1">
            <a:off x="8090083" y="1692329"/>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Instrumental errors</a:t>
            </a:r>
            <a:endParaRPr sz="2400" kern="0">
              <a:solidFill>
                <a:srgbClr val="FFFFFF"/>
              </a:solidFill>
              <a:latin typeface="Cambria Math"/>
              <a:ea typeface="Cambria Math"/>
              <a:cs typeface="Cambria Math"/>
              <a:sym typeface="Cambria Math"/>
            </a:endParaRPr>
          </a:p>
        </p:txBody>
      </p:sp>
      <p:sp>
        <p:nvSpPr>
          <p:cNvPr id="1492" name="Google Shape;1492;p132"/>
          <p:cNvSpPr/>
          <p:nvPr/>
        </p:nvSpPr>
        <p:spPr>
          <a:xfrm flipH="1">
            <a:off x="8089884" y="2860165"/>
            <a:ext cx="3003200" cy="157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 due to Imperfection in experimental technique</a:t>
            </a:r>
            <a:endParaRPr sz="2400" kern="0">
              <a:solidFill>
                <a:srgbClr val="FFFFFF"/>
              </a:solidFill>
              <a:latin typeface="Cambria Math"/>
              <a:ea typeface="Cambria Math"/>
              <a:cs typeface="Cambria Math"/>
              <a:sym typeface="Cambria Math"/>
            </a:endParaRPr>
          </a:p>
        </p:txBody>
      </p:sp>
      <p:cxnSp>
        <p:nvCxnSpPr>
          <p:cNvPr id="1493" name="Google Shape;1493;p132"/>
          <p:cNvCxnSpPr>
            <a:stCxn id="1494" idx="3"/>
            <a:endCxn id="1491" idx="3"/>
          </p:cNvCxnSpPr>
          <p:nvPr/>
        </p:nvCxnSpPr>
        <p:spPr>
          <a:xfrm rot="10800000" flipH="1">
            <a:off x="6977733" y="20745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cxnSp>
        <p:nvCxnSpPr>
          <p:cNvPr id="1495" name="Google Shape;1495;p132"/>
          <p:cNvCxnSpPr>
            <a:stCxn id="1494" idx="3"/>
            <a:endCxn id="1492" idx="3"/>
          </p:cNvCxnSpPr>
          <p:nvPr/>
        </p:nvCxnSpPr>
        <p:spPr>
          <a:xfrm>
            <a:off x="6977733" y="3646983"/>
            <a:ext cx="1112000" cy="800"/>
          </a:xfrm>
          <a:prstGeom prst="bentConnector3">
            <a:avLst>
              <a:gd name="adj1" fmla="val 50007"/>
            </a:avLst>
          </a:prstGeom>
          <a:noFill/>
          <a:ln w="28575" cap="flat" cmpd="sng">
            <a:solidFill>
              <a:srgbClr val="00FF00"/>
            </a:solidFill>
            <a:prstDash val="solid"/>
            <a:round/>
            <a:headEnd type="none" w="med" len="med"/>
            <a:tailEnd type="triangle" w="med" len="med"/>
          </a:ln>
        </p:spPr>
      </p:cxnSp>
      <p:sp>
        <p:nvSpPr>
          <p:cNvPr id="1494" name="Google Shape;1494;p132"/>
          <p:cNvSpPr/>
          <p:nvPr/>
        </p:nvSpPr>
        <p:spPr>
          <a:xfrm>
            <a:off x="5234133" y="3464383"/>
            <a:ext cx="1743600" cy="365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96" name="Google Shape;1496;p132"/>
          <p:cNvSpPr txBox="1"/>
          <p:nvPr/>
        </p:nvSpPr>
        <p:spPr>
          <a:xfrm>
            <a:off x="5438217" y="3013465"/>
            <a:ext cx="1133600" cy="3652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Source</a:t>
            </a:r>
            <a:endParaRPr sz="2400" kern="0">
              <a:solidFill>
                <a:srgbClr val="FFFFFF"/>
              </a:solidFill>
              <a:latin typeface="Cambria Math"/>
              <a:ea typeface="Cambria Math"/>
              <a:cs typeface="Cambria Math"/>
              <a:sym typeface="Cambria Math"/>
            </a:endParaRPr>
          </a:p>
        </p:txBody>
      </p:sp>
      <p:sp>
        <p:nvSpPr>
          <p:cNvPr id="1497" name="Google Shape;1497;p132"/>
          <p:cNvSpPr/>
          <p:nvPr/>
        </p:nvSpPr>
        <p:spPr>
          <a:xfrm>
            <a:off x="1098717" y="1506728"/>
            <a:ext cx="4864800" cy="9504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Errors tend to be in one direction, either positive or negative  </a:t>
            </a:r>
            <a:endParaRPr sz="2400" kern="0">
              <a:solidFill>
                <a:srgbClr val="FFFF00"/>
              </a:solidFill>
              <a:latin typeface="Cambria Math"/>
              <a:ea typeface="Cambria Math"/>
              <a:cs typeface="Cambria Math"/>
              <a:sym typeface="Cambria Math"/>
            </a:endParaRPr>
          </a:p>
        </p:txBody>
      </p:sp>
      <p:cxnSp>
        <p:nvCxnSpPr>
          <p:cNvPr id="1498" name="Google Shape;1498;p132"/>
          <p:cNvCxnSpPr>
            <a:stCxn id="1490" idx="0"/>
            <a:endCxn id="1497" idx="2"/>
          </p:cNvCxnSpPr>
          <p:nvPr/>
        </p:nvCxnSpPr>
        <p:spPr>
          <a:xfrm rot="-5400000">
            <a:off x="3127316" y="2860363"/>
            <a:ext cx="807600" cy="800"/>
          </a:xfrm>
          <a:prstGeom prst="bentConnector3">
            <a:avLst>
              <a:gd name="adj1" fmla="val 49990"/>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21771288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133"/>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72</a:t>
            </a:fld>
            <a:endParaRPr kern="0"/>
          </a:p>
        </p:txBody>
      </p:sp>
      <p:sp>
        <p:nvSpPr>
          <p:cNvPr id="1505" name="Google Shape;1505;p13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06" name="Google Shape;1506;p133"/>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
        <p:nvSpPr>
          <p:cNvPr id="1507" name="Google Shape;1507;p133"/>
          <p:cNvSpPr/>
          <p:nvPr/>
        </p:nvSpPr>
        <p:spPr>
          <a:xfrm flipH="1">
            <a:off x="8090083" y="1692329"/>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Instrumental errors</a:t>
            </a:r>
            <a:endParaRPr sz="2400" kern="0">
              <a:solidFill>
                <a:srgbClr val="FFFFFF"/>
              </a:solidFill>
              <a:latin typeface="Cambria Math"/>
              <a:ea typeface="Cambria Math"/>
              <a:cs typeface="Cambria Math"/>
              <a:sym typeface="Cambria Math"/>
            </a:endParaRPr>
          </a:p>
        </p:txBody>
      </p:sp>
      <p:sp>
        <p:nvSpPr>
          <p:cNvPr id="1508" name="Google Shape;1508;p133"/>
          <p:cNvSpPr/>
          <p:nvPr/>
        </p:nvSpPr>
        <p:spPr>
          <a:xfrm flipH="1">
            <a:off x="8089884" y="2860165"/>
            <a:ext cx="3003200" cy="157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 due to Imperfection in experimental technique</a:t>
            </a:r>
            <a:endParaRPr sz="2400" kern="0">
              <a:solidFill>
                <a:srgbClr val="FFFFFF"/>
              </a:solidFill>
              <a:latin typeface="Cambria Math"/>
              <a:ea typeface="Cambria Math"/>
              <a:cs typeface="Cambria Math"/>
              <a:sym typeface="Cambria Math"/>
            </a:endParaRPr>
          </a:p>
        </p:txBody>
      </p:sp>
      <p:sp>
        <p:nvSpPr>
          <p:cNvPr id="1509" name="Google Shape;1509;p133"/>
          <p:cNvSpPr/>
          <p:nvPr/>
        </p:nvSpPr>
        <p:spPr>
          <a:xfrm flipH="1">
            <a:off x="8090083" y="4836796"/>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Personal errors</a:t>
            </a:r>
            <a:endParaRPr sz="2400" kern="0">
              <a:solidFill>
                <a:srgbClr val="FFFFFF"/>
              </a:solidFill>
              <a:latin typeface="Cambria Math"/>
              <a:ea typeface="Cambria Math"/>
              <a:cs typeface="Cambria Math"/>
              <a:sym typeface="Cambria Math"/>
            </a:endParaRPr>
          </a:p>
        </p:txBody>
      </p:sp>
      <p:cxnSp>
        <p:nvCxnSpPr>
          <p:cNvPr id="1510" name="Google Shape;1510;p133"/>
          <p:cNvCxnSpPr>
            <a:stCxn id="1511" idx="3"/>
            <a:endCxn id="1507" idx="3"/>
          </p:cNvCxnSpPr>
          <p:nvPr/>
        </p:nvCxnSpPr>
        <p:spPr>
          <a:xfrm rot="10800000" flipH="1">
            <a:off x="6977733" y="20745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cxnSp>
        <p:nvCxnSpPr>
          <p:cNvPr id="1512" name="Google Shape;1512;p133"/>
          <p:cNvCxnSpPr>
            <a:stCxn id="1511" idx="3"/>
            <a:endCxn id="1509" idx="3"/>
          </p:cNvCxnSpPr>
          <p:nvPr/>
        </p:nvCxnSpPr>
        <p:spPr>
          <a:xfrm>
            <a:off x="6977733" y="36469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cxnSp>
        <p:nvCxnSpPr>
          <p:cNvPr id="1513" name="Google Shape;1513;p133"/>
          <p:cNvCxnSpPr>
            <a:stCxn id="1511" idx="3"/>
            <a:endCxn id="1508" idx="3"/>
          </p:cNvCxnSpPr>
          <p:nvPr/>
        </p:nvCxnSpPr>
        <p:spPr>
          <a:xfrm>
            <a:off x="6977733" y="3646983"/>
            <a:ext cx="1112000" cy="800"/>
          </a:xfrm>
          <a:prstGeom prst="bentConnector3">
            <a:avLst>
              <a:gd name="adj1" fmla="val 50007"/>
            </a:avLst>
          </a:prstGeom>
          <a:noFill/>
          <a:ln w="28575" cap="flat" cmpd="sng">
            <a:solidFill>
              <a:srgbClr val="00FF00"/>
            </a:solidFill>
            <a:prstDash val="solid"/>
            <a:round/>
            <a:headEnd type="none" w="med" len="med"/>
            <a:tailEnd type="triangle" w="med" len="med"/>
          </a:ln>
        </p:spPr>
      </p:cxnSp>
      <p:sp>
        <p:nvSpPr>
          <p:cNvPr id="1511" name="Google Shape;1511;p133"/>
          <p:cNvSpPr/>
          <p:nvPr/>
        </p:nvSpPr>
        <p:spPr>
          <a:xfrm>
            <a:off x="5234133" y="3464383"/>
            <a:ext cx="1743600" cy="365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14" name="Google Shape;1514;p133"/>
          <p:cNvSpPr txBox="1"/>
          <p:nvPr/>
        </p:nvSpPr>
        <p:spPr>
          <a:xfrm>
            <a:off x="5438217" y="3013465"/>
            <a:ext cx="1133600" cy="3652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Source</a:t>
            </a:r>
            <a:endParaRPr sz="2400" kern="0">
              <a:solidFill>
                <a:srgbClr val="FFFFFF"/>
              </a:solidFill>
              <a:latin typeface="Cambria Math"/>
              <a:ea typeface="Cambria Math"/>
              <a:cs typeface="Cambria Math"/>
              <a:sym typeface="Cambria Math"/>
            </a:endParaRPr>
          </a:p>
        </p:txBody>
      </p:sp>
      <p:sp>
        <p:nvSpPr>
          <p:cNvPr id="1515" name="Google Shape;1515;p133"/>
          <p:cNvSpPr/>
          <p:nvPr/>
        </p:nvSpPr>
        <p:spPr>
          <a:xfrm>
            <a:off x="1098717" y="1506728"/>
            <a:ext cx="4864800" cy="9504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Errors tend to be in one direction, either positive or negative  </a:t>
            </a:r>
            <a:endParaRPr sz="2400" kern="0">
              <a:solidFill>
                <a:srgbClr val="FFFF00"/>
              </a:solidFill>
              <a:latin typeface="Cambria Math"/>
              <a:ea typeface="Cambria Math"/>
              <a:cs typeface="Cambria Math"/>
              <a:sym typeface="Cambria Math"/>
            </a:endParaRPr>
          </a:p>
        </p:txBody>
      </p:sp>
      <p:cxnSp>
        <p:nvCxnSpPr>
          <p:cNvPr id="1516" name="Google Shape;1516;p133"/>
          <p:cNvCxnSpPr>
            <a:stCxn id="1506" idx="0"/>
            <a:endCxn id="1515" idx="2"/>
          </p:cNvCxnSpPr>
          <p:nvPr/>
        </p:nvCxnSpPr>
        <p:spPr>
          <a:xfrm rot="-5400000">
            <a:off x="3127316" y="2860363"/>
            <a:ext cx="807600" cy="800"/>
          </a:xfrm>
          <a:prstGeom prst="bentConnector3">
            <a:avLst>
              <a:gd name="adj1" fmla="val 49990"/>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20529817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sp>
        <p:nvSpPr>
          <p:cNvPr id="1522" name="Google Shape;1522;p13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73</a:t>
            </a:fld>
            <a:endParaRPr kern="0"/>
          </a:p>
        </p:txBody>
      </p:sp>
      <p:sp>
        <p:nvSpPr>
          <p:cNvPr id="1523" name="Google Shape;1523;p134"/>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24" name="Google Shape;1524;p134"/>
          <p:cNvSpPr/>
          <p:nvPr/>
        </p:nvSpPr>
        <p:spPr>
          <a:xfrm flipH="1">
            <a:off x="2029116" y="3264563"/>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Systematic Errors </a:t>
            </a:r>
            <a:endParaRPr sz="2400" kern="0">
              <a:solidFill>
                <a:srgbClr val="FFFFFF"/>
              </a:solidFill>
              <a:latin typeface="Cambria Math"/>
              <a:ea typeface="Cambria Math"/>
              <a:cs typeface="Cambria Math"/>
              <a:sym typeface="Cambria Math"/>
            </a:endParaRPr>
          </a:p>
        </p:txBody>
      </p:sp>
      <p:sp>
        <p:nvSpPr>
          <p:cNvPr id="1525" name="Google Shape;1525;p134"/>
          <p:cNvSpPr/>
          <p:nvPr/>
        </p:nvSpPr>
        <p:spPr>
          <a:xfrm flipH="1">
            <a:off x="8090083" y="1692329"/>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Instrumental errors</a:t>
            </a:r>
            <a:endParaRPr sz="2400" kern="0">
              <a:solidFill>
                <a:srgbClr val="FFFFFF"/>
              </a:solidFill>
              <a:latin typeface="Cambria Math"/>
              <a:ea typeface="Cambria Math"/>
              <a:cs typeface="Cambria Math"/>
              <a:sym typeface="Cambria Math"/>
            </a:endParaRPr>
          </a:p>
        </p:txBody>
      </p:sp>
      <p:sp>
        <p:nvSpPr>
          <p:cNvPr id="1526" name="Google Shape;1526;p134"/>
          <p:cNvSpPr/>
          <p:nvPr/>
        </p:nvSpPr>
        <p:spPr>
          <a:xfrm flipH="1">
            <a:off x="8089884" y="2860165"/>
            <a:ext cx="3003200" cy="157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Error due to Imperfection in experimental technique</a:t>
            </a:r>
            <a:endParaRPr sz="2400" kern="0">
              <a:solidFill>
                <a:srgbClr val="FFFFFF"/>
              </a:solidFill>
              <a:latin typeface="Cambria Math"/>
              <a:ea typeface="Cambria Math"/>
              <a:cs typeface="Cambria Math"/>
              <a:sym typeface="Cambria Math"/>
            </a:endParaRPr>
          </a:p>
        </p:txBody>
      </p:sp>
      <p:sp>
        <p:nvSpPr>
          <p:cNvPr id="1527" name="Google Shape;1527;p134"/>
          <p:cNvSpPr/>
          <p:nvPr/>
        </p:nvSpPr>
        <p:spPr>
          <a:xfrm flipH="1">
            <a:off x="8090083" y="4836796"/>
            <a:ext cx="3003200" cy="764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Personal errors</a:t>
            </a:r>
            <a:endParaRPr sz="2400" kern="0">
              <a:solidFill>
                <a:srgbClr val="FFFFFF"/>
              </a:solidFill>
              <a:latin typeface="Cambria Math"/>
              <a:ea typeface="Cambria Math"/>
              <a:cs typeface="Cambria Math"/>
              <a:sym typeface="Cambria Math"/>
            </a:endParaRPr>
          </a:p>
        </p:txBody>
      </p:sp>
      <p:cxnSp>
        <p:nvCxnSpPr>
          <p:cNvPr id="1528" name="Google Shape;1528;p134"/>
          <p:cNvCxnSpPr>
            <a:stCxn id="1529" idx="3"/>
            <a:endCxn id="1525" idx="3"/>
          </p:cNvCxnSpPr>
          <p:nvPr/>
        </p:nvCxnSpPr>
        <p:spPr>
          <a:xfrm rot="10800000" flipH="1">
            <a:off x="6977733" y="20745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cxnSp>
        <p:nvCxnSpPr>
          <p:cNvPr id="1530" name="Google Shape;1530;p134"/>
          <p:cNvCxnSpPr>
            <a:stCxn id="1529" idx="3"/>
            <a:endCxn id="1527" idx="3"/>
          </p:cNvCxnSpPr>
          <p:nvPr/>
        </p:nvCxnSpPr>
        <p:spPr>
          <a:xfrm>
            <a:off x="6977733" y="3646983"/>
            <a:ext cx="1112400" cy="1572400"/>
          </a:xfrm>
          <a:prstGeom prst="bentConnector3">
            <a:avLst>
              <a:gd name="adj1" fmla="val 49998"/>
            </a:avLst>
          </a:prstGeom>
          <a:noFill/>
          <a:ln w="28575" cap="flat" cmpd="sng">
            <a:solidFill>
              <a:srgbClr val="00FF00"/>
            </a:solidFill>
            <a:prstDash val="solid"/>
            <a:round/>
            <a:headEnd type="none" w="med" len="med"/>
            <a:tailEnd type="triangle" w="med" len="med"/>
          </a:ln>
        </p:spPr>
      </p:cxnSp>
      <p:cxnSp>
        <p:nvCxnSpPr>
          <p:cNvPr id="1531" name="Google Shape;1531;p134"/>
          <p:cNvCxnSpPr>
            <a:stCxn id="1529" idx="3"/>
            <a:endCxn id="1526" idx="3"/>
          </p:cNvCxnSpPr>
          <p:nvPr/>
        </p:nvCxnSpPr>
        <p:spPr>
          <a:xfrm>
            <a:off x="6977733" y="3646983"/>
            <a:ext cx="1112000" cy="800"/>
          </a:xfrm>
          <a:prstGeom prst="bentConnector3">
            <a:avLst>
              <a:gd name="adj1" fmla="val 50007"/>
            </a:avLst>
          </a:prstGeom>
          <a:noFill/>
          <a:ln w="28575" cap="flat" cmpd="sng">
            <a:solidFill>
              <a:srgbClr val="00FF00"/>
            </a:solidFill>
            <a:prstDash val="solid"/>
            <a:round/>
            <a:headEnd type="none" w="med" len="med"/>
            <a:tailEnd type="triangle" w="med" len="med"/>
          </a:ln>
        </p:spPr>
      </p:cxnSp>
      <p:sp>
        <p:nvSpPr>
          <p:cNvPr id="1529" name="Google Shape;1529;p134"/>
          <p:cNvSpPr/>
          <p:nvPr/>
        </p:nvSpPr>
        <p:spPr>
          <a:xfrm>
            <a:off x="5234133" y="3464383"/>
            <a:ext cx="1743600" cy="365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32" name="Google Shape;1532;p134"/>
          <p:cNvSpPr txBox="1"/>
          <p:nvPr/>
        </p:nvSpPr>
        <p:spPr>
          <a:xfrm>
            <a:off x="5438217" y="3013465"/>
            <a:ext cx="1133600" cy="3652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2400" kern="0">
                <a:solidFill>
                  <a:srgbClr val="FFFFFF"/>
                </a:solidFill>
                <a:latin typeface="Cambria Math"/>
                <a:ea typeface="Cambria Math"/>
                <a:cs typeface="Cambria Math"/>
                <a:sym typeface="Cambria Math"/>
              </a:rPr>
              <a:t>Source</a:t>
            </a:r>
            <a:endParaRPr sz="2400" kern="0">
              <a:solidFill>
                <a:srgbClr val="FFFFFF"/>
              </a:solidFill>
              <a:latin typeface="Cambria Math"/>
              <a:ea typeface="Cambria Math"/>
              <a:cs typeface="Cambria Math"/>
              <a:sym typeface="Cambria Math"/>
            </a:endParaRPr>
          </a:p>
        </p:txBody>
      </p:sp>
      <p:sp>
        <p:nvSpPr>
          <p:cNvPr id="1533" name="Google Shape;1533;p134"/>
          <p:cNvSpPr/>
          <p:nvPr/>
        </p:nvSpPr>
        <p:spPr>
          <a:xfrm>
            <a:off x="1100717" y="4767032"/>
            <a:ext cx="4860000" cy="15596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Can be minimised by improving experimental techniques, selecting better instruments </a:t>
            </a:r>
            <a:endParaRPr sz="2400" kern="0">
              <a:solidFill>
                <a:srgbClr val="FFFF00"/>
              </a:solidFill>
              <a:latin typeface="Cambria Math"/>
              <a:ea typeface="Cambria Math"/>
              <a:cs typeface="Cambria Math"/>
              <a:sym typeface="Cambria Math"/>
            </a:endParaRPr>
          </a:p>
        </p:txBody>
      </p:sp>
      <p:sp>
        <p:nvSpPr>
          <p:cNvPr id="1534" name="Google Shape;1534;p134"/>
          <p:cNvSpPr/>
          <p:nvPr/>
        </p:nvSpPr>
        <p:spPr>
          <a:xfrm>
            <a:off x="1098717" y="1506728"/>
            <a:ext cx="4864800" cy="9504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Errors tend to be in one direction, either positive or negative  </a:t>
            </a:r>
            <a:endParaRPr sz="2400" kern="0">
              <a:solidFill>
                <a:srgbClr val="FFFF00"/>
              </a:solidFill>
              <a:latin typeface="Cambria Math"/>
              <a:ea typeface="Cambria Math"/>
              <a:cs typeface="Cambria Math"/>
              <a:sym typeface="Cambria Math"/>
            </a:endParaRPr>
          </a:p>
        </p:txBody>
      </p:sp>
      <p:cxnSp>
        <p:nvCxnSpPr>
          <p:cNvPr id="1535" name="Google Shape;1535;p134"/>
          <p:cNvCxnSpPr>
            <a:stCxn id="1524" idx="0"/>
            <a:endCxn id="1534" idx="2"/>
          </p:cNvCxnSpPr>
          <p:nvPr/>
        </p:nvCxnSpPr>
        <p:spPr>
          <a:xfrm rot="-5400000">
            <a:off x="3127316" y="2860363"/>
            <a:ext cx="807600" cy="800"/>
          </a:xfrm>
          <a:prstGeom prst="bentConnector3">
            <a:avLst>
              <a:gd name="adj1" fmla="val 49990"/>
            </a:avLst>
          </a:prstGeom>
          <a:noFill/>
          <a:ln w="38100" cap="flat" cmpd="sng">
            <a:solidFill>
              <a:srgbClr val="FFFF00"/>
            </a:solidFill>
            <a:prstDash val="solid"/>
            <a:round/>
            <a:headEnd type="none" w="med" len="med"/>
            <a:tailEnd type="triangle" w="med" len="med"/>
          </a:ln>
        </p:spPr>
      </p:cxnSp>
      <p:cxnSp>
        <p:nvCxnSpPr>
          <p:cNvPr id="1536" name="Google Shape;1536;p134"/>
          <p:cNvCxnSpPr>
            <a:stCxn id="1524" idx="2"/>
            <a:endCxn id="1533" idx="0"/>
          </p:cNvCxnSpPr>
          <p:nvPr/>
        </p:nvCxnSpPr>
        <p:spPr>
          <a:xfrm rot="-5400000" flipH="1">
            <a:off x="3162316" y="4397763"/>
            <a:ext cx="737600" cy="800"/>
          </a:xfrm>
          <a:prstGeom prst="bentConnector3">
            <a:avLst>
              <a:gd name="adj1" fmla="val 50005"/>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30413498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135"/>
          <p:cNvSpPr/>
          <p:nvPr/>
        </p:nvSpPr>
        <p:spPr>
          <a:xfrm flipH="1">
            <a:off x="1719633" y="2953800"/>
            <a:ext cx="20748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Random errors</a:t>
            </a:r>
            <a:endParaRPr sz="2667" kern="0">
              <a:solidFill>
                <a:srgbClr val="FFFFFF"/>
              </a:solidFill>
              <a:latin typeface="Cambria Math"/>
              <a:ea typeface="Cambria Math"/>
              <a:cs typeface="Cambria Math"/>
              <a:sym typeface="Cambria Math"/>
            </a:endParaRPr>
          </a:p>
        </p:txBody>
      </p:sp>
      <p:sp>
        <p:nvSpPr>
          <p:cNvPr id="1543" name="Google Shape;1543;p135"/>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74</a:t>
            </a:fld>
            <a:endParaRPr kern="0"/>
          </a:p>
        </p:txBody>
      </p:sp>
      <p:sp>
        <p:nvSpPr>
          <p:cNvPr id="1544" name="Google Shape;1544;p135"/>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Tree>
    <p:extLst>
      <p:ext uri="{BB962C8B-B14F-4D97-AF65-F5344CB8AC3E}">
        <p14:creationId xmlns:p14="http://schemas.microsoft.com/office/powerpoint/2010/main" val="3095392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49"/>
        <p:cNvGrpSpPr/>
        <p:nvPr/>
      </p:nvGrpSpPr>
      <p:grpSpPr>
        <a:xfrm>
          <a:off x="0" y="0"/>
          <a:ext cx="0" cy="0"/>
          <a:chOff x="0" y="0"/>
          <a:chExt cx="0" cy="0"/>
        </a:xfrm>
      </p:grpSpPr>
      <p:sp>
        <p:nvSpPr>
          <p:cNvPr id="1550" name="Google Shape;1550;p136"/>
          <p:cNvSpPr/>
          <p:nvPr/>
        </p:nvSpPr>
        <p:spPr>
          <a:xfrm flipH="1">
            <a:off x="1719633" y="2953800"/>
            <a:ext cx="2074800" cy="950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FFFFF"/>
                </a:solidFill>
                <a:latin typeface="Cambria Math"/>
                <a:ea typeface="Cambria Math"/>
                <a:cs typeface="Cambria Math"/>
                <a:sym typeface="Cambria Math"/>
              </a:rPr>
              <a:t>Random errors</a:t>
            </a:r>
            <a:endParaRPr sz="2667" kern="0">
              <a:solidFill>
                <a:srgbClr val="FFFFFF"/>
              </a:solidFill>
              <a:latin typeface="Cambria Math"/>
              <a:ea typeface="Cambria Math"/>
              <a:cs typeface="Cambria Math"/>
              <a:sym typeface="Cambria Math"/>
            </a:endParaRPr>
          </a:p>
        </p:txBody>
      </p:sp>
      <p:sp>
        <p:nvSpPr>
          <p:cNvPr id="1551" name="Google Shape;1551;p136"/>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75</a:t>
            </a:fld>
            <a:endParaRPr kern="0"/>
          </a:p>
        </p:txBody>
      </p:sp>
      <p:sp>
        <p:nvSpPr>
          <p:cNvPr id="1552" name="Google Shape;1552;p136"/>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53" name="Google Shape;1553;p136"/>
          <p:cNvSpPr/>
          <p:nvPr/>
        </p:nvSpPr>
        <p:spPr>
          <a:xfrm flipH="1">
            <a:off x="5491133" y="2737400"/>
            <a:ext cx="3972000" cy="1383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Due to random and unpredictable fluctuations in experimental conditions  </a:t>
            </a:r>
            <a:endParaRPr sz="2400" kern="0">
              <a:solidFill>
                <a:srgbClr val="FFFFFF"/>
              </a:solidFill>
              <a:latin typeface="Cambria Math"/>
              <a:ea typeface="Cambria Math"/>
              <a:cs typeface="Cambria Math"/>
              <a:sym typeface="Cambria Math"/>
            </a:endParaRPr>
          </a:p>
        </p:txBody>
      </p:sp>
      <p:cxnSp>
        <p:nvCxnSpPr>
          <p:cNvPr id="1554" name="Google Shape;1554;p136"/>
          <p:cNvCxnSpPr>
            <a:stCxn id="1550" idx="1"/>
            <a:endCxn id="1553" idx="3"/>
          </p:cNvCxnSpPr>
          <p:nvPr/>
        </p:nvCxnSpPr>
        <p:spPr>
          <a:xfrm>
            <a:off x="3794433" y="3429000"/>
            <a:ext cx="1696800" cy="800"/>
          </a:xfrm>
          <a:prstGeom prst="bentConnector3">
            <a:avLst>
              <a:gd name="adj1" fmla="val 49997"/>
            </a:avLst>
          </a:prstGeom>
          <a:noFill/>
          <a:ln w="38100" cap="flat" cmpd="sng">
            <a:solidFill>
              <a:srgbClr val="00FF00"/>
            </a:solidFill>
            <a:prstDash val="solid"/>
            <a:round/>
            <a:headEnd type="none" w="med" len="med"/>
            <a:tailEnd type="triangle" w="med" len="med"/>
          </a:ln>
        </p:spPr>
      </p:cxnSp>
      <p:sp>
        <p:nvSpPr>
          <p:cNvPr id="1555" name="Google Shape;1555;p136"/>
          <p:cNvSpPr/>
          <p:nvPr/>
        </p:nvSpPr>
        <p:spPr>
          <a:xfrm>
            <a:off x="1151033" y="1321067"/>
            <a:ext cx="3212000" cy="10336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Random with respect</a:t>
            </a:r>
            <a:endParaRPr sz="2400" kern="0">
              <a:solidFill>
                <a:srgbClr val="FFFF00"/>
              </a:solidFill>
              <a:latin typeface="Cambria Math"/>
              <a:ea typeface="Cambria Math"/>
              <a:cs typeface="Cambria Math"/>
              <a:sym typeface="Cambria Math"/>
            </a:endParaRPr>
          </a:p>
          <a:p>
            <a:pPr algn="ctr" defTabSz="1219170">
              <a:buClr>
                <a:srgbClr val="000000"/>
              </a:buClr>
            </a:pPr>
            <a:r>
              <a:rPr lang="en" sz="2400" kern="0">
                <a:solidFill>
                  <a:srgbClr val="FFFF00"/>
                </a:solidFill>
                <a:latin typeface="Cambria Math"/>
                <a:ea typeface="Cambria Math"/>
                <a:cs typeface="Cambria Math"/>
                <a:sym typeface="Cambria Math"/>
              </a:rPr>
              <a:t>to sign and size  </a:t>
            </a:r>
            <a:endParaRPr sz="2400" kern="0">
              <a:solidFill>
                <a:srgbClr val="FFFF00"/>
              </a:solidFill>
              <a:latin typeface="Cambria Math"/>
              <a:ea typeface="Cambria Math"/>
              <a:cs typeface="Cambria Math"/>
              <a:sym typeface="Cambria Math"/>
            </a:endParaRPr>
          </a:p>
        </p:txBody>
      </p:sp>
      <p:cxnSp>
        <p:nvCxnSpPr>
          <p:cNvPr id="1556" name="Google Shape;1556;p136"/>
          <p:cNvCxnSpPr>
            <a:stCxn id="1550" idx="0"/>
            <a:endCxn id="1555" idx="2"/>
          </p:cNvCxnSpPr>
          <p:nvPr/>
        </p:nvCxnSpPr>
        <p:spPr>
          <a:xfrm rot="-5400000">
            <a:off x="2457833" y="2653800"/>
            <a:ext cx="599200" cy="800"/>
          </a:xfrm>
          <a:prstGeom prst="bentConnector3">
            <a:avLst>
              <a:gd name="adj1" fmla="val 49994"/>
            </a:avLst>
          </a:prstGeom>
          <a:noFill/>
          <a:ln w="38100" cap="flat" cmpd="sng">
            <a:solidFill>
              <a:srgbClr val="FFFF00"/>
            </a:solidFill>
            <a:prstDash val="solid"/>
            <a:round/>
            <a:headEnd type="none" w="med" len="med"/>
            <a:tailEnd type="triangle" w="med" len="med"/>
          </a:ln>
        </p:spPr>
      </p:cxnSp>
      <p:sp>
        <p:nvSpPr>
          <p:cNvPr id="1557" name="Google Shape;1557;p136"/>
          <p:cNvSpPr/>
          <p:nvPr/>
        </p:nvSpPr>
        <p:spPr>
          <a:xfrm>
            <a:off x="1151433" y="4597933"/>
            <a:ext cx="3212000" cy="12188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00"/>
                </a:solidFill>
                <a:latin typeface="Cambria Math"/>
                <a:ea typeface="Cambria Math"/>
                <a:cs typeface="Cambria Math"/>
                <a:sym typeface="Cambria Math"/>
              </a:rPr>
              <a:t>Can be minimized by repeatedly taking readings  </a:t>
            </a:r>
            <a:endParaRPr sz="2400" kern="0">
              <a:solidFill>
                <a:srgbClr val="FFFF00"/>
              </a:solidFill>
              <a:latin typeface="Cambria Math"/>
              <a:ea typeface="Cambria Math"/>
              <a:cs typeface="Cambria Math"/>
              <a:sym typeface="Cambria Math"/>
            </a:endParaRPr>
          </a:p>
        </p:txBody>
      </p:sp>
      <p:cxnSp>
        <p:nvCxnSpPr>
          <p:cNvPr id="1558" name="Google Shape;1558;p136"/>
          <p:cNvCxnSpPr>
            <a:stCxn id="1550" idx="2"/>
            <a:endCxn id="1557" idx="0"/>
          </p:cNvCxnSpPr>
          <p:nvPr/>
        </p:nvCxnSpPr>
        <p:spPr>
          <a:xfrm rot="-5400000" flipH="1">
            <a:off x="2410633" y="4250600"/>
            <a:ext cx="693600" cy="800"/>
          </a:xfrm>
          <a:prstGeom prst="bentConnector3">
            <a:avLst>
              <a:gd name="adj1" fmla="val 50010"/>
            </a:avLst>
          </a:prstGeom>
          <a:noFill/>
          <a:ln w="38100" cap="flat" cmpd="sng">
            <a:solidFill>
              <a:srgbClr val="FFFF00"/>
            </a:solidFill>
            <a:prstDash val="solid"/>
            <a:round/>
            <a:headEnd type="none" w="med" len="med"/>
            <a:tailEnd type="triangle" w="med" len="med"/>
          </a:ln>
        </p:spPr>
      </p:cxnSp>
    </p:spTree>
    <p:extLst>
      <p:ext uri="{BB962C8B-B14F-4D97-AF65-F5344CB8AC3E}">
        <p14:creationId xmlns:p14="http://schemas.microsoft.com/office/powerpoint/2010/main" val="302482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56"/>
                                        </p:tgtEl>
                                        <p:attrNameLst>
                                          <p:attrName>style.visibility</p:attrName>
                                        </p:attrNameLst>
                                      </p:cBhvr>
                                      <p:to>
                                        <p:strVal val="visible"/>
                                      </p:to>
                                    </p:set>
                                    <p:animEffect transition="in" filter="wipe(down)">
                                      <p:cBhvr>
                                        <p:cTn id="7" dur="500"/>
                                        <p:tgtEl>
                                          <p:spTgt spid="155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55"/>
                                        </p:tgtEl>
                                        <p:attrNameLst>
                                          <p:attrName>style.visibility</p:attrName>
                                        </p:attrNameLst>
                                      </p:cBhvr>
                                      <p:to>
                                        <p:strVal val="visible"/>
                                      </p:to>
                                    </p:set>
                                    <p:animEffect transition="in" filter="wipe(down)">
                                      <p:cBhvr>
                                        <p:cTn id="10" dur="500"/>
                                        <p:tgtEl>
                                          <p:spTgt spid="155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554"/>
                                        </p:tgtEl>
                                        <p:attrNameLst>
                                          <p:attrName>style.visibility</p:attrName>
                                        </p:attrNameLst>
                                      </p:cBhvr>
                                      <p:to>
                                        <p:strVal val="visible"/>
                                      </p:to>
                                    </p:set>
                                    <p:animEffect transition="in" filter="wipe(left)">
                                      <p:cBhvr>
                                        <p:cTn id="15" dur="500"/>
                                        <p:tgtEl>
                                          <p:spTgt spid="155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53"/>
                                        </p:tgtEl>
                                        <p:attrNameLst>
                                          <p:attrName>style.visibility</p:attrName>
                                        </p:attrNameLst>
                                      </p:cBhvr>
                                      <p:to>
                                        <p:strVal val="visible"/>
                                      </p:to>
                                    </p:set>
                                    <p:animEffect transition="in" filter="wipe(left)">
                                      <p:cBhvr>
                                        <p:cTn id="18" dur="500"/>
                                        <p:tgtEl>
                                          <p:spTgt spid="155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558"/>
                                        </p:tgtEl>
                                        <p:attrNameLst>
                                          <p:attrName>style.visibility</p:attrName>
                                        </p:attrNameLst>
                                      </p:cBhvr>
                                      <p:to>
                                        <p:strVal val="visible"/>
                                      </p:to>
                                    </p:set>
                                    <p:animEffect transition="in" filter="wipe(up)">
                                      <p:cBhvr>
                                        <p:cTn id="23" dur="500"/>
                                        <p:tgtEl>
                                          <p:spTgt spid="1558"/>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557"/>
                                        </p:tgtEl>
                                        <p:attrNameLst>
                                          <p:attrName>style.visibility</p:attrName>
                                        </p:attrNameLst>
                                      </p:cBhvr>
                                      <p:to>
                                        <p:strVal val="visible"/>
                                      </p:to>
                                    </p:set>
                                    <p:animEffect transition="in" filter="wipe(up)">
                                      <p:cBhvr>
                                        <p:cTn id="26" dur="500"/>
                                        <p:tgtEl>
                                          <p:spTgt spid="1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3" grpId="0" animBg="1"/>
      <p:bldP spid="1555" grpId="0" animBg="1"/>
      <p:bldP spid="155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13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76</a:t>
            </a:fld>
            <a:endParaRPr kern="0"/>
          </a:p>
        </p:txBody>
      </p:sp>
      <p:sp>
        <p:nvSpPr>
          <p:cNvPr id="1583" name="Google Shape;1583;p139"/>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85" name="Google Shape;1585;p139"/>
          <p:cNvSpPr/>
          <p:nvPr/>
        </p:nvSpPr>
        <p:spPr>
          <a:xfrm>
            <a:off x="1427500" y="3149767"/>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Least Count</a:t>
            </a:r>
            <a:endParaRPr sz="2400" kern="0">
              <a:solidFill>
                <a:srgbClr val="FFFFFF"/>
              </a:solidFill>
              <a:latin typeface="Cambria Math"/>
              <a:ea typeface="Cambria Math"/>
              <a:cs typeface="Cambria Math"/>
              <a:sym typeface="Cambria Math"/>
            </a:endParaRPr>
          </a:p>
        </p:txBody>
      </p:sp>
    </p:spTree>
    <p:extLst>
      <p:ext uri="{BB962C8B-B14F-4D97-AF65-F5344CB8AC3E}">
        <p14:creationId xmlns:p14="http://schemas.microsoft.com/office/powerpoint/2010/main" val="5220907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13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77</a:t>
            </a:fld>
            <a:endParaRPr kern="0"/>
          </a:p>
        </p:txBody>
      </p:sp>
      <p:sp>
        <p:nvSpPr>
          <p:cNvPr id="1583" name="Google Shape;1583;p139"/>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84" name="Google Shape;1584;p139"/>
          <p:cNvSpPr/>
          <p:nvPr/>
        </p:nvSpPr>
        <p:spPr>
          <a:xfrm flipH="1">
            <a:off x="897700" y="1153611"/>
            <a:ext cx="3529600" cy="113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Smallest value which can be measure by the Instrument</a:t>
            </a:r>
            <a:endParaRPr sz="2400" kern="0">
              <a:solidFill>
                <a:srgbClr val="FFFFFF"/>
              </a:solidFill>
              <a:latin typeface="Cambria Math"/>
              <a:ea typeface="Cambria Math"/>
              <a:cs typeface="Cambria Math"/>
              <a:sym typeface="Cambria Math"/>
            </a:endParaRPr>
          </a:p>
        </p:txBody>
      </p:sp>
      <p:sp>
        <p:nvSpPr>
          <p:cNvPr id="1585" name="Google Shape;1585;p139"/>
          <p:cNvSpPr/>
          <p:nvPr/>
        </p:nvSpPr>
        <p:spPr>
          <a:xfrm>
            <a:off x="1427500" y="3149767"/>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Least Count</a:t>
            </a:r>
            <a:endParaRPr sz="2400" kern="0">
              <a:solidFill>
                <a:srgbClr val="FFFFFF"/>
              </a:solidFill>
              <a:latin typeface="Cambria Math"/>
              <a:ea typeface="Cambria Math"/>
              <a:cs typeface="Cambria Math"/>
              <a:sym typeface="Cambria Math"/>
            </a:endParaRPr>
          </a:p>
        </p:txBody>
      </p:sp>
      <p:cxnSp>
        <p:nvCxnSpPr>
          <p:cNvPr id="1586" name="Google Shape;1586;p139"/>
          <p:cNvCxnSpPr>
            <a:stCxn id="1585" idx="0"/>
            <a:endCxn id="1584" idx="2"/>
          </p:cNvCxnSpPr>
          <p:nvPr/>
        </p:nvCxnSpPr>
        <p:spPr>
          <a:xfrm rot="10800000">
            <a:off x="2662500" y="2286567"/>
            <a:ext cx="0" cy="863200"/>
          </a:xfrm>
          <a:prstGeom prst="straightConnector1">
            <a:avLst/>
          </a:prstGeom>
          <a:noFill/>
          <a:ln w="38100" cap="flat" cmpd="sng">
            <a:solidFill>
              <a:srgbClr val="00FF00"/>
            </a:solidFill>
            <a:prstDash val="solid"/>
            <a:round/>
            <a:headEnd type="none" w="med" len="med"/>
            <a:tailEnd type="triangle" w="med" len="med"/>
          </a:ln>
        </p:spPr>
      </p:cxnSp>
    </p:spTree>
    <p:extLst>
      <p:ext uri="{BB962C8B-B14F-4D97-AF65-F5344CB8AC3E}">
        <p14:creationId xmlns:p14="http://schemas.microsoft.com/office/powerpoint/2010/main" val="7364496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139"/>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78</a:t>
            </a:fld>
            <a:endParaRPr kern="0"/>
          </a:p>
        </p:txBody>
      </p:sp>
      <p:sp>
        <p:nvSpPr>
          <p:cNvPr id="1583" name="Google Shape;1583;p139"/>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84" name="Google Shape;1584;p139"/>
          <p:cNvSpPr/>
          <p:nvPr/>
        </p:nvSpPr>
        <p:spPr>
          <a:xfrm flipH="1">
            <a:off x="897700" y="1153611"/>
            <a:ext cx="3529600" cy="113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Smallest value which can be measure by the Instrument</a:t>
            </a:r>
            <a:endParaRPr sz="2400" kern="0">
              <a:solidFill>
                <a:srgbClr val="FFFFFF"/>
              </a:solidFill>
              <a:latin typeface="Cambria Math"/>
              <a:ea typeface="Cambria Math"/>
              <a:cs typeface="Cambria Math"/>
              <a:sym typeface="Cambria Math"/>
            </a:endParaRPr>
          </a:p>
        </p:txBody>
      </p:sp>
      <p:sp>
        <p:nvSpPr>
          <p:cNvPr id="1585" name="Google Shape;1585;p139"/>
          <p:cNvSpPr/>
          <p:nvPr/>
        </p:nvSpPr>
        <p:spPr>
          <a:xfrm>
            <a:off x="1427500" y="3149767"/>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Least Count</a:t>
            </a:r>
            <a:endParaRPr sz="2400" kern="0">
              <a:solidFill>
                <a:srgbClr val="FFFFFF"/>
              </a:solidFill>
              <a:latin typeface="Cambria Math"/>
              <a:ea typeface="Cambria Math"/>
              <a:cs typeface="Cambria Math"/>
              <a:sym typeface="Cambria Math"/>
            </a:endParaRPr>
          </a:p>
        </p:txBody>
      </p:sp>
      <p:cxnSp>
        <p:nvCxnSpPr>
          <p:cNvPr id="1586" name="Google Shape;1586;p139"/>
          <p:cNvCxnSpPr>
            <a:stCxn id="1585" idx="0"/>
            <a:endCxn id="1584" idx="2"/>
          </p:cNvCxnSpPr>
          <p:nvPr/>
        </p:nvCxnSpPr>
        <p:spPr>
          <a:xfrm rot="10800000">
            <a:off x="2662500" y="2286567"/>
            <a:ext cx="0" cy="863200"/>
          </a:xfrm>
          <a:prstGeom prst="straightConnector1">
            <a:avLst/>
          </a:prstGeom>
          <a:noFill/>
          <a:ln w="38100" cap="flat" cmpd="sng">
            <a:solidFill>
              <a:srgbClr val="00FF00"/>
            </a:solidFill>
            <a:prstDash val="solid"/>
            <a:round/>
            <a:headEnd type="none" w="med" len="med"/>
            <a:tailEnd type="triangle" w="med" len="med"/>
          </a:ln>
        </p:spPr>
      </p:cxnSp>
      <p:pic>
        <p:nvPicPr>
          <p:cNvPr id="1587" name="Google Shape;1587;p139"/>
          <p:cNvPicPr preferRelativeResize="0"/>
          <p:nvPr/>
        </p:nvPicPr>
        <p:blipFill rotWithShape="1">
          <a:blip r:embed="rId3">
            <a:alphaModFix/>
          </a:blip>
          <a:srcRect t="32691"/>
          <a:stretch/>
        </p:blipFill>
        <p:spPr>
          <a:xfrm>
            <a:off x="5573500" y="3470301"/>
            <a:ext cx="5481933" cy="1269033"/>
          </a:xfrm>
          <a:prstGeom prst="rect">
            <a:avLst/>
          </a:prstGeom>
          <a:noFill/>
          <a:ln>
            <a:noFill/>
          </a:ln>
        </p:spPr>
      </p:pic>
    </p:spTree>
    <p:extLst>
      <p:ext uri="{BB962C8B-B14F-4D97-AF65-F5344CB8AC3E}">
        <p14:creationId xmlns:p14="http://schemas.microsoft.com/office/powerpoint/2010/main" val="3961229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sp>
        <p:nvSpPr>
          <p:cNvPr id="1593" name="Google Shape;1593;p140"/>
          <p:cNvSpPr/>
          <p:nvPr/>
        </p:nvSpPr>
        <p:spPr>
          <a:xfrm flipH="1">
            <a:off x="5432400" y="1153600"/>
            <a:ext cx="5698000" cy="1573600"/>
          </a:xfrm>
          <a:prstGeom prst="roundRect">
            <a:avLst>
              <a:gd name="adj" fmla="val 16667"/>
            </a:avLst>
          </a:prstGeom>
          <a:noFill/>
          <a:ln w="38100" cap="flat" cmpd="sng">
            <a:solidFill>
              <a:srgbClr val="00FF00"/>
            </a:solidFill>
            <a:prstDash val="solid"/>
            <a:round/>
            <a:headEnd type="none" w="med" len="med"/>
            <a:tailEnd type="none" w="med" len="med"/>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In  the measurement of the object, it is shown between two division lines, so then the observer needs to take the approximation for the measurement.</a:t>
            </a:r>
            <a:endParaRPr sz="2400" kern="0">
              <a:solidFill>
                <a:srgbClr val="FFFFFF"/>
              </a:solidFill>
              <a:latin typeface="Cambria Math"/>
              <a:ea typeface="Cambria Math"/>
              <a:cs typeface="Cambria Math"/>
              <a:sym typeface="Cambria Math"/>
            </a:endParaRPr>
          </a:p>
        </p:txBody>
      </p:sp>
      <p:sp>
        <p:nvSpPr>
          <p:cNvPr id="1594" name="Google Shape;1594;p140"/>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79</a:t>
            </a:fld>
            <a:endParaRPr kern="0"/>
          </a:p>
        </p:txBody>
      </p:sp>
      <p:sp>
        <p:nvSpPr>
          <p:cNvPr id="1595" name="Google Shape;1595;p140"/>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596" name="Google Shape;1596;p140"/>
          <p:cNvSpPr/>
          <p:nvPr/>
        </p:nvSpPr>
        <p:spPr>
          <a:xfrm flipH="1">
            <a:off x="5302667" y="5208400"/>
            <a:ext cx="6023600" cy="14972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When a measurement falls between two divisions, then errors due to approximate measurement made by the observer</a:t>
            </a:r>
            <a:endParaRPr sz="2400" kern="0">
              <a:solidFill>
                <a:srgbClr val="FFFFFF"/>
              </a:solidFill>
              <a:latin typeface="Cambria Math"/>
              <a:ea typeface="Cambria Math"/>
              <a:cs typeface="Cambria Math"/>
              <a:sym typeface="Cambria Math"/>
            </a:endParaRPr>
          </a:p>
        </p:txBody>
      </p:sp>
      <p:sp>
        <p:nvSpPr>
          <p:cNvPr id="1597" name="Google Shape;1597;p140"/>
          <p:cNvSpPr/>
          <p:nvPr/>
        </p:nvSpPr>
        <p:spPr>
          <a:xfrm flipH="1">
            <a:off x="897700" y="1153611"/>
            <a:ext cx="3529600" cy="1132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Smallest value which can be measure by the Instrument</a:t>
            </a:r>
            <a:endParaRPr sz="2400" kern="0">
              <a:solidFill>
                <a:srgbClr val="FFFFFF"/>
              </a:solidFill>
              <a:latin typeface="Cambria Math"/>
              <a:ea typeface="Cambria Math"/>
              <a:cs typeface="Cambria Math"/>
              <a:sym typeface="Cambria Math"/>
            </a:endParaRPr>
          </a:p>
        </p:txBody>
      </p:sp>
      <p:sp>
        <p:nvSpPr>
          <p:cNvPr id="1598" name="Google Shape;1598;p140"/>
          <p:cNvSpPr/>
          <p:nvPr/>
        </p:nvSpPr>
        <p:spPr>
          <a:xfrm>
            <a:off x="1427500" y="3145536"/>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Least Count </a:t>
            </a:r>
            <a:endParaRPr sz="2400" kern="0">
              <a:solidFill>
                <a:srgbClr val="FFFFFF"/>
              </a:solidFill>
              <a:latin typeface="Cambria Math"/>
              <a:ea typeface="Cambria Math"/>
              <a:cs typeface="Cambria Math"/>
              <a:sym typeface="Cambria Math"/>
            </a:endParaRPr>
          </a:p>
        </p:txBody>
      </p:sp>
      <p:cxnSp>
        <p:nvCxnSpPr>
          <p:cNvPr id="1599" name="Google Shape;1599;p140"/>
          <p:cNvCxnSpPr>
            <a:stCxn id="1598" idx="0"/>
            <a:endCxn id="1597" idx="2"/>
          </p:cNvCxnSpPr>
          <p:nvPr/>
        </p:nvCxnSpPr>
        <p:spPr>
          <a:xfrm rot="10800000">
            <a:off x="2662500" y="2286336"/>
            <a:ext cx="0" cy="859200"/>
          </a:xfrm>
          <a:prstGeom prst="straightConnector1">
            <a:avLst/>
          </a:prstGeom>
          <a:noFill/>
          <a:ln w="38100" cap="flat" cmpd="sng">
            <a:solidFill>
              <a:srgbClr val="00FF00"/>
            </a:solidFill>
            <a:prstDash val="solid"/>
            <a:round/>
            <a:headEnd type="none" w="med" len="med"/>
            <a:tailEnd type="triangle" w="med" len="med"/>
          </a:ln>
        </p:spPr>
      </p:cxnSp>
      <p:pic>
        <p:nvPicPr>
          <p:cNvPr id="1600" name="Google Shape;1600;p140"/>
          <p:cNvPicPr preferRelativeResize="0"/>
          <p:nvPr/>
        </p:nvPicPr>
        <p:blipFill>
          <a:blip r:embed="rId3">
            <a:alphaModFix/>
          </a:blip>
          <a:stretch>
            <a:fillRect/>
          </a:stretch>
        </p:blipFill>
        <p:spPr>
          <a:xfrm>
            <a:off x="5540450" y="3134931"/>
            <a:ext cx="5481933" cy="1885333"/>
          </a:xfrm>
          <a:prstGeom prst="rect">
            <a:avLst/>
          </a:prstGeom>
          <a:noFill/>
          <a:ln>
            <a:noFill/>
          </a:ln>
        </p:spPr>
      </p:pic>
      <p:cxnSp>
        <p:nvCxnSpPr>
          <p:cNvPr id="1601" name="Google Shape;1601;p140"/>
          <p:cNvCxnSpPr/>
          <p:nvPr/>
        </p:nvCxnSpPr>
        <p:spPr>
          <a:xfrm rot="10800000" flipH="1">
            <a:off x="9188083" y="3899864"/>
            <a:ext cx="363600" cy="512400"/>
          </a:xfrm>
          <a:prstGeom prst="straightConnector1">
            <a:avLst/>
          </a:prstGeom>
          <a:noFill/>
          <a:ln w="19050" cap="flat" cmpd="sng">
            <a:solidFill>
              <a:srgbClr val="FF0000"/>
            </a:solidFill>
            <a:prstDash val="solid"/>
            <a:round/>
            <a:headEnd type="none" w="med" len="med"/>
            <a:tailEnd type="triangle" w="med" len="med"/>
          </a:ln>
        </p:spPr>
      </p:cxnSp>
      <p:cxnSp>
        <p:nvCxnSpPr>
          <p:cNvPr id="1602" name="Google Shape;1602;p140"/>
          <p:cNvCxnSpPr/>
          <p:nvPr/>
        </p:nvCxnSpPr>
        <p:spPr>
          <a:xfrm rot="10800000">
            <a:off x="9721783" y="3921481"/>
            <a:ext cx="363600" cy="512400"/>
          </a:xfrm>
          <a:prstGeom prst="straightConnector1">
            <a:avLst/>
          </a:prstGeom>
          <a:noFill/>
          <a:ln w="19050" cap="flat" cmpd="sng">
            <a:solidFill>
              <a:srgbClr val="FF0000"/>
            </a:solidFill>
            <a:prstDash val="solid"/>
            <a:round/>
            <a:headEnd type="none" w="med" len="med"/>
            <a:tailEnd type="triangle" w="med" len="med"/>
          </a:ln>
        </p:spPr>
      </p:cxnSp>
      <p:sp>
        <p:nvSpPr>
          <p:cNvPr id="1603" name="Google Shape;1603;p140"/>
          <p:cNvSpPr txBox="1"/>
          <p:nvPr/>
        </p:nvSpPr>
        <p:spPr>
          <a:xfrm>
            <a:off x="8874083" y="4247031"/>
            <a:ext cx="1504000" cy="5948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1867" kern="0">
                <a:solidFill>
                  <a:srgbClr val="000000"/>
                </a:solidFill>
                <a:latin typeface="Cambria Math"/>
                <a:ea typeface="Cambria Math"/>
                <a:cs typeface="Cambria Math"/>
                <a:sym typeface="Cambria Math"/>
              </a:rPr>
              <a:t>2.6            2.7</a:t>
            </a:r>
            <a:endParaRPr sz="1867" kern="0">
              <a:solidFill>
                <a:srgbClr val="000000"/>
              </a:solidFill>
              <a:latin typeface="Cambria Math"/>
              <a:ea typeface="Cambria Math"/>
              <a:cs typeface="Cambria Math"/>
              <a:sym typeface="Cambria Math"/>
            </a:endParaRPr>
          </a:p>
        </p:txBody>
      </p:sp>
      <p:sp>
        <p:nvSpPr>
          <p:cNvPr id="1604" name="Google Shape;1604;p140"/>
          <p:cNvSpPr/>
          <p:nvPr/>
        </p:nvSpPr>
        <p:spPr>
          <a:xfrm>
            <a:off x="1427500" y="5505803"/>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Least Count Error </a:t>
            </a:r>
            <a:endParaRPr sz="2400" kern="0">
              <a:solidFill>
                <a:srgbClr val="FFFFFF"/>
              </a:solidFill>
              <a:latin typeface="Cambria Math"/>
              <a:ea typeface="Cambria Math"/>
              <a:cs typeface="Cambria Math"/>
              <a:sym typeface="Cambria Math"/>
            </a:endParaRPr>
          </a:p>
        </p:txBody>
      </p:sp>
      <p:cxnSp>
        <p:nvCxnSpPr>
          <p:cNvPr id="1605" name="Google Shape;1605;p140"/>
          <p:cNvCxnSpPr>
            <a:stCxn id="1604" idx="3"/>
            <a:endCxn id="1596" idx="3"/>
          </p:cNvCxnSpPr>
          <p:nvPr/>
        </p:nvCxnSpPr>
        <p:spPr>
          <a:xfrm>
            <a:off x="3897500" y="5957003"/>
            <a:ext cx="1405200" cy="0"/>
          </a:xfrm>
          <a:prstGeom prst="straightConnector1">
            <a:avLst/>
          </a:prstGeom>
          <a:noFill/>
          <a:ln w="38100" cap="flat" cmpd="sng">
            <a:solidFill>
              <a:srgbClr val="00FF00"/>
            </a:solidFill>
            <a:prstDash val="solid"/>
            <a:round/>
            <a:headEnd type="none" w="med" len="med"/>
            <a:tailEnd type="triangle" w="med" len="med"/>
          </a:ln>
        </p:spPr>
      </p:cxnSp>
      <p:cxnSp>
        <p:nvCxnSpPr>
          <p:cNvPr id="1606" name="Google Shape;1606;p140"/>
          <p:cNvCxnSpPr>
            <a:stCxn id="1593" idx="2"/>
            <a:endCxn id="1600" idx="0"/>
          </p:cNvCxnSpPr>
          <p:nvPr/>
        </p:nvCxnSpPr>
        <p:spPr>
          <a:xfrm>
            <a:off x="8281400" y="2727200"/>
            <a:ext cx="0" cy="407600"/>
          </a:xfrm>
          <a:prstGeom prst="straightConnector1">
            <a:avLst/>
          </a:prstGeom>
          <a:noFill/>
          <a:ln w="19050" cap="flat" cmpd="sng">
            <a:solidFill>
              <a:srgbClr val="00FF00"/>
            </a:solidFill>
            <a:prstDash val="solid"/>
            <a:round/>
            <a:headEnd type="none" w="med" len="med"/>
            <a:tailEnd type="triangle" w="med" len="med"/>
          </a:ln>
        </p:spPr>
      </p:cxnSp>
    </p:spTree>
    <p:extLst>
      <p:ext uri="{BB962C8B-B14F-4D97-AF65-F5344CB8AC3E}">
        <p14:creationId xmlns:p14="http://schemas.microsoft.com/office/powerpoint/2010/main" val="277791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01"/>
                                        </p:tgtEl>
                                        <p:attrNameLst>
                                          <p:attrName>style.visibility</p:attrName>
                                        </p:attrNameLst>
                                      </p:cBhvr>
                                      <p:to>
                                        <p:strVal val="visible"/>
                                      </p:to>
                                    </p:set>
                                    <p:animEffect transition="in" filter="wipe(down)">
                                      <p:cBhvr>
                                        <p:cTn id="7" dur="500"/>
                                        <p:tgtEl>
                                          <p:spTgt spid="160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03"/>
                                        </p:tgtEl>
                                        <p:attrNameLst>
                                          <p:attrName>style.visibility</p:attrName>
                                        </p:attrNameLst>
                                      </p:cBhvr>
                                      <p:to>
                                        <p:strVal val="visible"/>
                                      </p:to>
                                    </p:set>
                                    <p:animEffect transition="in" filter="wipe(down)">
                                      <p:cBhvr>
                                        <p:cTn id="10" dur="500"/>
                                        <p:tgtEl>
                                          <p:spTgt spid="1603"/>
                                        </p:tgtEl>
                                      </p:cBhvr>
                                    </p:animEffect>
                                  </p:childTnLst>
                                </p:cTn>
                              </p:par>
                              <p:par>
                                <p:cTn id="11" presetID="22" presetClass="entr" presetSubtype="4" fill="hold" nodeType="withEffect">
                                  <p:stCondLst>
                                    <p:cond delay="0"/>
                                  </p:stCondLst>
                                  <p:childTnLst>
                                    <p:set>
                                      <p:cBhvr>
                                        <p:cTn id="12" dur="1" fill="hold">
                                          <p:stCondLst>
                                            <p:cond delay="0"/>
                                          </p:stCondLst>
                                        </p:cTn>
                                        <p:tgtEl>
                                          <p:spTgt spid="1602"/>
                                        </p:tgtEl>
                                        <p:attrNameLst>
                                          <p:attrName>style.visibility</p:attrName>
                                        </p:attrNameLst>
                                      </p:cBhvr>
                                      <p:to>
                                        <p:strVal val="visible"/>
                                      </p:to>
                                    </p:set>
                                    <p:animEffect transition="in" filter="wipe(down)">
                                      <p:cBhvr>
                                        <p:cTn id="13" dur="500"/>
                                        <p:tgtEl>
                                          <p:spTgt spid="160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606"/>
                                        </p:tgtEl>
                                        <p:attrNameLst>
                                          <p:attrName>style.visibility</p:attrName>
                                        </p:attrNameLst>
                                      </p:cBhvr>
                                      <p:to>
                                        <p:strVal val="visible"/>
                                      </p:to>
                                    </p:set>
                                    <p:animEffect transition="in" filter="wipe(down)">
                                      <p:cBhvr>
                                        <p:cTn id="18" dur="500"/>
                                        <p:tgtEl>
                                          <p:spTgt spid="160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593"/>
                                        </p:tgtEl>
                                        <p:attrNameLst>
                                          <p:attrName>style.visibility</p:attrName>
                                        </p:attrNameLst>
                                      </p:cBhvr>
                                      <p:to>
                                        <p:strVal val="visible"/>
                                      </p:to>
                                    </p:set>
                                    <p:animEffect transition="in" filter="wipe(down)">
                                      <p:cBhvr>
                                        <p:cTn id="21" dur="500"/>
                                        <p:tgtEl>
                                          <p:spTgt spid="15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04"/>
                                        </p:tgtEl>
                                        <p:attrNameLst>
                                          <p:attrName>style.visibility</p:attrName>
                                        </p:attrNameLst>
                                      </p:cBhvr>
                                      <p:to>
                                        <p:strVal val="visible"/>
                                      </p:to>
                                    </p:set>
                                    <p:animEffect transition="in" filter="wipe(left)">
                                      <p:cBhvr>
                                        <p:cTn id="26" dur="500"/>
                                        <p:tgtEl>
                                          <p:spTgt spid="160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605"/>
                                        </p:tgtEl>
                                        <p:attrNameLst>
                                          <p:attrName>style.visibility</p:attrName>
                                        </p:attrNameLst>
                                      </p:cBhvr>
                                      <p:to>
                                        <p:strVal val="visible"/>
                                      </p:to>
                                    </p:set>
                                    <p:animEffect transition="in" filter="wipe(left)">
                                      <p:cBhvr>
                                        <p:cTn id="31" dur="500"/>
                                        <p:tgtEl>
                                          <p:spTgt spid="160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596"/>
                                        </p:tgtEl>
                                        <p:attrNameLst>
                                          <p:attrName>style.visibility</p:attrName>
                                        </p:attrNameLst>
                                      </p:cBhvr>
                                      <p:to>
                                        <p:strVal val="visible"/>
                                      </p:to>
                                    </p:set>
                                    <p:animEffect transition="in" filter="wipe(left)">
                                      <p:cBhvr>
                                        <p:cTn id="34" dur="500"/>
                                        <p:tgtEl>
                                          <p:spTgt spid="1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3" grpId="0" animBg="1"/>
      <p:bldP spid="1596" grpId="0" animBg="1"/>
      <p:bldP spid="1603" grpId="0"/>
      <p:bldP spid="160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10"/>
        <p:cNvGrpSpPr/>
        <p:nvPr/>
      </p:nvGrpSpPr>
      <p:grpSpPr>
        <a:xfrm>
          <a:off x="0" y="0"/>
          <a:ext cx="0" cy="0"/>
          <a:chOff x="0" y="0"/>
          <a:chExt cx="0" cy="0"/>
        </a:xfrm>
      </p:grpSpPr>
      <p:sp>
        <p:nvSpPr>
          <p:cNvPr id="1611" name="Google Shape;1611;p141"/>
          <p:cNvSpPr txBox="1">
            <a:spLocks noGrp="1"/>
          </p:cNvSpPr>
          <p:nvPr>
            <p:ph type="body" idx="1"/>
          </p:nvPr>
        </p:nvSpPr>
        <p:spPr>
          <a:xfrm>
            <a:off x="0" y="0"/>
            <a:ext cx="12192000" cy="6858000"/>
          </a:xfrm>
          <a:prstGeom prst="rect">
            <a:avLst/>
          </a:prstGeom>
        </p:spPr>
        <p:txBody>
          <a:bodyPr spcFirstLastPara="1" wrap="square" lIns="121900" tIns="121900" rIns="121900" bIns="121900" anchor="ctr" anchorCtr="0">
            <a:noAutofit/>
          </a:bodyPr>
          <a:lstStyle/>
          <a:p>
            <a:pPr marL="0" indent="0" algn="ctr">
              <a:lnSpc>
                <a:spcPct val="150000"/>
              </a:lnSpc>
              <a:buNone/>
            </a:pPr>
            <a:endParaRPr sz="4667" dirty="0">
              <a:solidFill>
                <a:schemeClr val="lt1"/>
              </a:solidFill>
              <a:latin typeface="Cambria Math"/>
              <a:ea typeface="Cambria Math"/>
              <a:cs typeface="Cambria Math"/>
              <a:sym typeface="Cambria Math"/>
            </a:endParaRPr>
          </a:p>
          <a:p>
            <a:pPr marL="0" indent="0" algn="ctr">
              <a:lnSpc>
                <a:spcPct val="150000"/>
              </a:lnSpc>
              <a:buNone/>
            </a:pPr>
            <a:r>
              <a:rPr lang="en" sz="3333" dirty="0">
                <a:solidFill>
                  <a:srgbClr val="FFFF00"/>
                </a:solidFill>
                <a:latin typeface="Cambria Math"/>
                <a:ea typeface="Cambria Math"/>
                <a:cs typeface="Cambria Math"/>
                <a:sym typeface="Cambria Math"/>
              </a:rPr>
              <a:t>Calculation of Errors</a:t>
            </a:r>
            <a:endParaRPr sz="3333" dirty="0"/>
          </a:p>
        </p:txBody>
      </p:sp>
    </p:spTree>
    <p:extLst>
      <p:ext uri="{BB962C8B-B14F-4D97-AF65-F5344CB8AC3E}">
        <p14:creationId xmlns:p14="http://schemas.microsoft.com/office/powerpoint/2010/main" val="3570241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32"/>
        <p:cNvGrpSpPr/>
        <p:nvPr/>
      </p:nvGrpSpPr>
      <p:grpSpPr>
        <a:xfrm>
          <a:off x="0" y="0"/>
          <a:ext cx="0" cy="0"/>
          <a:chOff x="0" y="0"/>
          <a:chExt cx="0" cy="0"/>
        </a:xfrm>
      </p:grpSpPr>
      <p:sp>
        <p:nvSpPr>
          <p:cNvPr id="1633" name="Google Shape;1633;p143"/>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81</a:t>
            </a:fld>
            <a:endParaRPr kern="0"/>
          </a:p>
        </p:txBody>
      </p:sp>
      <p:sp>
        <p:nvSpPr>
          <p:cNvPr id="1634" name="Google Shape;1634;p143"/>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635" name="Google Shape;1635;p143"/>
          <p:cNvSpPr txBox="1"/>
          <p:nvPr/>
        </p:nvSpPr>
        <p:spPr>
          <a:xfrm>
            <a:off x="313831" y="1093892"/>
            <a:ext cx="11582400" cy="56388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dirty="0">
                <a:solidFill>
                  <a:srgbClr val="00FF00"/>
                </a:solidFill>
                <a:latin typeface="Cambria Math"/>
                <a:ea typeface="Cambria Math"/>
                <a:cs typeface="Cambria Math"/>
                <a:sym typeface="Cambria Math"/>
              </a:rPr>
              <a:t>MEASUREMENT OF ERRORS</a:t>
            </a: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1600" kern="0" dirty="0">
              <a:solidFill>
                <a:srgbClr val="00FF00"/>
              </a:solidFill>
              <a:latin typeface="Cambria Math"/>
              <a:ea typeface="Cambria Math"/>
              <a:cs typeface="Cambria Math"/>
              <a:sym typeface="Cambria Math"/>
            </a:endParaRPr>
          </a:p>
          <a:p>
            <a:pPr defTabSz="1219170">
              <a:buClr>
                <a:srgbClr val="000000"/>
              </a:buClr>
            </a:pPr>
            <a:r>
              <a:rPr lang="en" sz="2400" kern="0" dirty="0">
                <a:solidFill>
                  <a:srgbClr val="FFFFFF"/>
                </a:solidFill>
                <a:latin typeface="Cambria Math"/>
                <a:ea typeface="Cambria Math"/>
                <a:cs typeface="Cambria Math"/>
                <a:sym typeface="Cambria Math"/>
              </a:rPr>
              <a:t>Values obtained in several measurements are  </a:t>
            </a:r>
            <a:endParaRPr sz="2400" kern="0" dirty="0">
              <a:solidFill>
                <a:srgbClr val="00FF00"/>
              </a:solidFill>
              <a:latin typeface="Cambria Math"/>
              <a:ea typeface="Cambria Math"/>
              <a:cs typeface="Cambria Math"/>
              <a:sym typeface="Cambria Math"/>
            </a:endParaRPr>
          </a:p>
        </p:txBody>
      </p:sp>
      <p:sp>
        <p:nvSpPr>
          <p:cNvPr id="1636" name="Google Shape;1636;p143"/>
          <p:cNvSpPr/>
          <p:nvPr/>
        </p:nvSpPr>
        <p:spPr>
          <a:xfrm>
            <a:off x="827333" y="1906333"/>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Absolute Error </a:t>
            </a:r>
            <a:endParaRPr sz="2400" kern="0">
              <a:solidFill>
                <a:srgbClr val="FFFFFF"/>
              </a:solidFill>
              <a:latin typeface="Cambria Math"/>
              <a:ea typeface="Cambria Math"/>
              <a:cs typeface="Cambria Math"/>
              <a:sym typeface="Cambria Math"/>
            </a:endParaRPr>
          </a:p>
        </p:txBody>
      </p:sp>
      <p:sp>
        <p:nvSpPr>
          <p:cNvPr id="1637" name="Google Shape;1637;p143"/>
          <p:cNvSpPr/>
          <p:nvPr/>
        </p:nvSpPr>
        <p:spPr>
          <a:xfrm>
            <a:off x="4652167" y="1320533"/>
            <a:ext cx="6922800" cy="16836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The magnitude of the difference between the individual measurement and the true value of the quantity is called the absolute error of the measurement </a:t>
            </a:r>
            <a:endParaRPr sz="2400" kern="0">
              <a:solidFill>
                <a:srgbClr val="FFFFFF"/>
              </a:solidFill>
              <a:latin typeface="Cambria Math"/>
              <a:ea typeface="Cambria Math"/>
              <a:cs typeface="Cambria Math"/>
              <a:sym typeface="Cambria Math"/>
            </a:endParaRPr>
          </a:p>
        </p:txBody>
      </p:sp>
      <p:cxnSp>
        <p:nvCxnSpPr>
          <p:cNvPr id="1639" name="Google Shape;1639;p143"/>
          <p:cNvCxnSpPr>
            <a:stCxn id="1636" idx="3"/>
            <a:endCxn id="1637" idx="1"/>
          </p:cNvCxnSpPr>
          <p:nvPr/>
        </p:nvCxnSpPr>
        <p:spPr>
          <a:xfrm rot="10800000" flipH="1">
            <a:off x="3297333" y="2162333"/>
            <a:ext cx="1354800" cy="195200"/>
          </a:xfrm>
          <a:prstGeom prst="curvedConnector3">
            <a:avLst>
              <a:gd name="adj1" fmla="val 50001"/>
            </a:avLst>
          </a:prstGeom>
          <a:noFill/>
          <a:ln w="38100" cap="flat" cmpd="sng">
            <a:solidFill>
              <a:srgbClr val="00FF00"/>
            </a:solidFill>
            <a:prstDash val="solid"/>
            <a:round/>
            <a:headEnd type="none" w="sm" len="sm"/>
            <a:tailEnd type="triangle" w="sm" len="sm"/>
          </a:ln>
        </p:spPr>
      </p:cxnSp>
      <mc:AlternateContent xmlns:mc="http://schemas.openxmlformats.org/markup-compatibility/2006" xmlns:a14="http://schemas.microsoft.com/office/drawing/2010/main">
        <mc:Choice Requires="a14">
          <p:sp>
            <p:nvSpPr>
              <p:cNvPr id="2" name="TextBox 1"/>
              <p:cNvSpPr txBox="1"/>
              <p:nvPr/>
            </p:nvSpPr>
            <p:spPr>
              <a:xfrm>
                <a:off x="6303717" y="3202222"/>
                <a:ext cx="2185529" cy="461665"/>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1</m:t>
                          </m:r>
                        </m:sub>
                      </m:sSub>
                      <m:r>
                        <a:rPr lang="en-IN" sz="2400" i="1" kern="0">
                          <a:solidFill>
                            <a:srgbClr val="FFFFFF"/>
                          </a:solidFill>
                          <a:latin typeface="Cambria Math" panose="02040503050406030204" pitchFamily="18" charset="0"/>
                          <a:sym typeface="Arial"/>
                        </a:rPr>
                        <m:t>, </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2</m:t>
                          </m:r>
                        </m:sub>
                      </m:sSub>
                      <m:r>
                        <a:rPr lang="en-IN" sz="2400" i="1" kern="0">
                          <a:solidFill>
                            <a:srgbClr val="FFFFFF"/>
                          </a:solidFill>
                          <a:latin typeface="Cambria Math" panose="02040503050406030204" pitchFamily="18" charset="0"/>
                          <a:sym typeface="Arial"/>
                        </a:rPr>
                        <m:t>, </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3</m:t>
                          </m:r>
                        </m:sub>
                      </m:sSub>
                      <m:r>
                        <a:rPr lang="en-IN" sz="2400" i="1" kern="0">
                          <a:solidFill>
                            <a:srgbClr val="FFFFFF"/>
                          </a:solidFill>
                          <a:latin typeface="Cambria Math" panose="02040503050406030204" pitchFamily="18" charset="0"/>
                          <a:sym typeface="Arial"/>
                        </a:rPr>
                        <m:t>, …,</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𝑛</m:t>
                          </m:r>
                        </m:sub>
                      </m:sSub>
                    </m:oMath>
                  </m:oMathPara>
                </a14:m>
                <a:endParaRPr lang="en-IN" sz="2400" kern="0" dirty="0">
                  <a:solidFill>
                    <a:srgbClr val="FFFFFF"/>
                  </a:solidFill>
                  <a:latin typeface="Arial"/>
                  <a:cs typeface="Arial"/>
                  <a:sym typeface="Aria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303717" y="3202222"/>
                <a:ext cx="2185529" cy="461665"/>
              </a:xfrm>
              <a:prstGeom prst="rect">
                <a:avLst/>
              </a:prstGeom>
              <a:blipFill>
                <a:blip r:embed="rId3"/>
                <a:stretch>
                  <a:fillRect b="-3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04429" y="3684250"/>
                <a:ext cx="4722433" cy="763222"/>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r>
                        <a:rPr lang="en-IN" sz="2400" i="1" kern="0">
                          <a:solidFill>
                            <a:srgbClr val="FFFFFF"/>
                          </a:solidFill>
                          <a:latin typeface="Cambria Math" panose="02040503050406030204" pitchFamily="18" charset="0"/>
                          <a:sym typeface="Arial"/>
                        </a:rPr>
                        <m:t>=</m:t>
                      </m:r>
                      <m:f>
                        <m:fPr>
                          <m:ctrlPr>
                            <a:rPr lang="en-IN" sz="2400" i="1" kern="0">
                              <a:solidFill>
                                <a:srgbClr val="FFFFFF"/>
                              </a:solidFill>
                              <a:latin typeface="Cambria Math" panose="02040503050406030204" pitchFamily="18" charset="0"/>
                              <a:sym typeface="Arial"/>
                            </a:rPr>
                          </m:ctrlPr>
                        </m:fPr>
                        <m:num>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1</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2</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3</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𝑛</m:t>
                              </m:r>
                            </m:sub>
                          </m:sSub>
                        </m:num>
                        <m:den>
                          <m:r>
                            <a:rPr lang="en-IN" sz="2400" i="1" kern="0">
                              <a:solidFill>
                                <a:srgbClr val="FFFFFF"/>
                              </a:solidFill>
                              <a:latin typeface="Cambria Math" panose="02040503050406030204" pitchFamily="18" charset="0"/>
                              <a:sym typeface="Arial"/>
                            </a:rPr>
                            <m:t>𝑛</m:t>
                          </m:r>
                        </m:den>
                      </m:f>
                    </m:oMath>
                  </m:oMathPara>
                </a14:m>
                <a:endParaRPr lang="en-IN" sz="2400" kern="0" dirty="0">
                  <a:solidFill>
                    <a:srgbClr val="FFFFFF"/>
                  </a:solidFill>
                  <a:latin typeface="Arial"/>
                  <a:cs typeface="Arial"/>
                  <a:sym typeface="Aria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704429" y="3684250"/>
                <a:ext cx="4722433" cy="76322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26515" y="4554136"/>
                <a:ext cx="2691269" cy="1938992"/>
              </a:xfrm>
              <a:prstGeom prst="rect">
                <a:avLst/>
              </a:prstGeom>
              <a:noFill/>
              <a:ln w="19050">
                <a:solidFill>
                  <a:srgbClr val="00FF00"/>
                </a:solidFill>
              </a:ln>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1</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1</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r>
                        <a:rPr lang="en-IN" sz="2400" i="1" kern="0">
                          <a:solidFill>
                            <a:srgbClr val="FFFFFF"/>
                          </a:solidFill>
                          <a:latin typeface="Cambria Math" panose="02040503050406030204" pitchFamily="18" charset="0"/>
                          <a:sym typeface="Arial"/>
                        </a:rPr>
                        <m:t>,</m:t>
                      </m:r>
                    </m:oMath>
                  </m:oMathPara>
                </a14:m>
                <a:endParaRPr lang="en-IN" sz="2400" kern="0" dirty="0">
                  <a:solidFill>
                    <a:srgbClr val="FFFFFF"/>
                  </a:solidFill>
                  <a:latin typeface="Arial"/>
                  <a:cs typeface="Arial"/>
                  <a:sym typeface="Arial"/>
                </a:endParaRPr>
              </a:p>
              <a:p>
                <a:pPr defTabSz="1219170">
                  <a:buClr>
                    <a:srgbClr val="000000"/>
                  </a:buClr>
                </a:pPr>
                <a14:m>
                  <m:oMathPara xmlns:m="http://schemas.openxmlformats.org/officeDocument/2006/math">
                    <m:oMathParaPr>
                      <m:jc m:val="left"/>
                    </m:oMathParaPr>
                    <m:oMath xmlns:m="http://schemas.openxmlformats.org/officeDocument/2006/math">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2</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2</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r>
                        <a:rPr lang="en-IN" sz="2400" i="1" kern="0">
                          <a:solidFill>
                            <a:srgbClr val="FFFFFF"/>
                          </a:solidFill>
                          <a:latin typeface="Cambria Math" panose="02040503050406030204" pitchFamily="18" charset="0"/>
                          <a:sym typeface="Arial"/>
                        </a:rPr>
                        <m:t>,</m:t>
                      </m:r>
                    </m:oMath>
                  </m:oMathPara>
                </a14:m>
                <a:endParaRPr lang="en-IN" sz="2400" kern="0" dirty="0">
                  <a:solidFill>
                    <a:srgbClr val="FFFFFF"/>
                  </a:solidFill>
                  <a:latin typeface="Arial"/>
                  <a:cs typeface="Arial"/>
                  <a:sym typeface="Arial"/>
                </a:endParaRPr>
              </a:p>
              <a:p>
                <a:pPr defTabSz="1219170">
                  <a:buClr>
                    <a:srgbClr val="000000"/>
                  </a:buClr>
                </a:pPr>
                <a:r>
                  <a:rPr lang="en-IN" sz="2400" kern="0" dirty="0">
                    <a:solidFill>
                      <a:srgbClr val="FFFFFF"/>
                    </a:solidFill>
                    <a:latin typeface="Arial"/>
                    <a:cs typeface="Arial"/>
                    <a:sym typeface="Arial"/>
                  </a:rPr>
                  <a:t>….     .…     ….</a:t>
                </a:r>
              </a:p>
              <a:p>
                <a:pPr defTabSz="1219170">
                  <a:buClr>
                    <a:srgbClr val="000000"/>
                  </a:buClr>
                </a:pPr>
                <a:r>
                  <a:rPr lang="en-IN" sz="2400" kern="0" dirty="0">
                    <a:solidFill>
                      <a:srgbClr val="FFFFFF"/>
                    </a:solidFill>
                    <a:latin typeface="Arial"/>
                    <a:cs typeface="Arial"/>
                    <a:sym typeface="Arial"/>
                  </a:rPr>
                  <a:t>….     .…     ….</a:t>
                </a:r>
              </a:p>
              <a:p>
                <a:pPr defTabSz="1219170">
                  <a:buClr>
                    <a:srgbClr val="000000"/>
                  </a:buClr>
                </a:pPr>
                <a14:m>
                  <m:oMathPara xmlns:m="http://schemas.openxmlformats.org/officeDocument/2006/math">
                    <m:oMathParaPr>
                      <m:jc m:val="left"/>
                    </m:oMathParaPr>
                    <m:oMath xmlns:m="http://schemas.openxmlformats.org/officeDocument/2006/math">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𝑛</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𝑛</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oMath>
                  </m:oMathPara>
                </a14:m>
                <a:endParaRPr lang="en-IN" sz="2400" kern="0" dirty="0">
                  <a:solidFill>
                    <a:srgbClr val="FFFFFF"/>
                  </a:solidFill>
                  <a:latin typeface="Arial"/>
                  <a:cs typeface="Arial"/>
                  <a:sym typeface="Aria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26515" y="4554136"/>
                <a:ext cx="2691269" cy="1938992"/>
              </a:xfrm>
              <a:prstGeom prst="rect">
                <a:avLst/>
              </a:prstGeom>
              <a:blipFill>
                <a:blip r:embed="rId5"/>
                <a:stretch>
                  <a:fillRect l="-3378"/>
                </a:stretch>
              </a:blipFill>
              <a:ln w="19050">
                <a:solidFill>
                  <a:srgbClr val="00FF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708382" y="4554137"/>
                <a:ext cx="6511431" cy="806439"/>
              </a:xfrm>
              <a:prstGeom prst="rect">
                <a:avLst/>
              </a:prstGeom>
              <a:noFill/>
              <a:ln w="19050">
                <a:solidFill>
                  <a:srgbClr val="00FF00"/>
                </a:solidFill>
              </a:ln>
            </p:spPr>
            <p:txBody>
              <a:bodyPr wrap="square" rtlCol="0">
                <a:spAutoFit/>
              </a:bodyPr>
              <a:lstStyle>
                <a:defPPr marR="0" lvl="0" algn="l" rtl="0">
                  <a:lnSpc>
                    <a:spcPct val="100000"/>
                  </a:lnSpc>
                  <a:spcBef>
                    <a:spcPts val="0"/>
                  </a:spcBef>
                  <a:spcAft>
                    <a:spcPts val="0"/>
                  </a:spcAft>
                </a:defPPr>
                <a:lvl1pPr>
                  <a:defRPr sz="1800" i="1">
                    <a:solidFill>
                      <a:schemeClr val="bg1"/>
                    </a:solidFill>
                    <a:latin typeface="Cambria Math" panose="02040503050406030204" pitchFamily="18" charset="0"/>
                  </a:defRPr>
                </a:lvl1pPr>
              </a:lstStyle>
              <a:p>
                <a:pPr defTabSz="1219170">
                  <a:buClr>
                    <a:srgbClr val="000000"/>
                  </a:buClr>
                </a:pPr>
                <a14:m>
                  <m:oMathPara xmlns:m="http://schemas.openxmlformats.org/officeDocument/2006/math">
                    <m:oMathParaPr>
                      <m:jc m:val="centerGroup"/>
                    </m:oMathParaPr>
                    <m:oMath xmlns:m="http://schemas.openxmlformats.org/officeDocument/2006/math">
                      <m:sSub>
                        <m:sSubPr>
                          <m:ctrlPr>
                            <a:rPr lang="en-IN" sz="2400" i="1" kern="0">
                              <a:solidFill>
                                <a:srgbClr val="FFFFFF"/>
                              </a:solidFill>
                              <a:latin typeface="Cambria Math" panose="02040503050406030204" pitchFamily="18" charset="0"/>
                              <a:sym typeface="Arial"/>
                            </a:rPr>
                          </m:ctrlPr>
                        </m:sSubPr>
                        <m:e>
                          <m:r>
                            <a:rPr lang="en-IN" sz="2400" kern="0">
                              <a:solidFill>
                                <a:srgbClr val="FFFFFF"/>
                              </a:solidFill>
                              <a:latin typeface="Cambria Math" panose="02040503050406030204" pitchFamily="18" charset="0"/>
                              <a:sym typeface="Arial"/>
                            </a:rPr>
                            <m:t>|∆</m:t>
                          </m:r>
                          <m:r>
                            <a:rPr lang="en-IN" sz="2400" kern="0">
                              <a:solidFill>
                                <a:srgbClr val="FFFFFF"/>
                              </a:solidFill>
                              <a:latin typeface="Cambria Math" panose="02040503050406030204" pitchFamily="18" charset="0"/>
                              <a:sym typeface="Arial"/>
                            </a:rPr>
                            <m:t>𝑎</m:t>
                          </m:r>
                        </m:e>
                        <m:sub>
                          <m:r>
                            <a:rPr lang="en-IN" sz="2400" kern="0">
                              <a:solidFill>
                                <a:srgbClr val="FFFFFF"/>
                              </a:solidFill>
                              <a:latin typeface="Cambria Math" panose="02040503050406030204" pitchFamily="18" charset="0"/>
                              <a:sym typeface="Arial"/>
                            </a:rPr>
                            <m:t>𝑚𝑒𝑎𝑛</m:t>
                          </m:r>
                        </m:sub>
                      </m:sSub>
                      <m:r>
                        <a:rPr lang="en-IN" sz="2400" kern="0">
                          <a:solidFill>
                            <a:srgbClr val="FFFFFF"/>
                          </a:solidFill>
                          <a:latin typeface="Cambria Math" panose="02040503050406030204" pitchFamily="18" charset="0"/>
                          <a:sym typeface="Arial"/>
                        </a:rPr>
                        <m:t>|=</m:t>
                      </m:r>
                      <m:f>
                        <m:fPr>
                          <m:ctrlPr>
                            <a:rPr lang="en-IN" sz="2400" i="1" kern="0">
                              <a:solidFill>
                                <a:srgbClr val="FFFFFF"/>
                              </a:solidFill>
                              <a:latin typeface="Cambria Math" panose="02040503050406030204" pitchFamily="18" charset="0"/>
                              <a:sym typeface="Arial"/>
                            </a:rPr>
                          </m:ctrlPr>
                        </m:fPr>
                        <m:num>
                          <m:d>
                            <m:dPr>
                              <m:begChr m:val="|"/>
                              <m:endChr m:val="|"/>
                              <m:ctrlPr>
                                <a:rPr lang="en-IN" sz="2400" i="1" kern="0">
                                  <a:solidFill>
                                    <a:srgbClr val="FFFFFF"/>
                                  </a:solidFill>
                                  <a:latin typeface="Cambria Math" panose="02040503050406030204" pitchFamily="18" charset="0"/>
                                  <a:sym typeface="Arial"/>
                                </a:rPr>
                              </m:ctrlPr>
                            </m:dPr>
                            <m:e>
                              <m:r>
                                <a:rPr lang="en-IN" sz="2400"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kern="0">
                                      <a:solidFill>
                                        <a:srgbClr val="FFFFFF"/>
                                      </a:solidFill>
                                      <a:latin typeface="Cambria Math" panose="02040503050406030204" pitchFamily="18" charset="0"/>
                                      <a:sym typeface="Arial"/>
                                    </a:rPr>
                                    <m:t>𝑎</m:t>
                                  </m:r>
                                </m:e>
                                <m:sub>
                                  <m:r>
                                    <a:rPr lang="en-IN" sz="2400" kern="0">
                                      <a:solidFill>
                                        <a:srgbClr val="FFFFFF"/>
                                      </a:solidFill>
                                      <a:latin typeface="Cambria Math" panose="02040503050406030204" pitchFamily="18" charset="0"/>
                                      <a:sym typeface="Arial"/>
                                    </a:rPr>
                                    <m:t>1</m:t>
                                  </m:r>
                                </m:sub>
                              </m:sSub>
                            </m:e>
                          </m:d>
                          <m:r>
                            <a:rPr lang="en-IN" sz="2400"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kern="0">
                                  <a:solidFill>
                                    <a:srgbClr val="FFFFFF"/>
                                  </a:solidFill>
                                  <a:latin typeface="Cambria Math" panose="02040503050406030204" pitchFamily="18" charset="0"/>
                                  <a:sym typeface="Arial"/>
                                </a:rPr>
                                <m:t>𝑎</m:t>
                              </m:r>
                            </m:e>
                            <m:sub>
                              <m:r>
                                <a:rPr lang="en-IN" sz="2400" kern="0">
                                  <a:solidFill>
                                    <a:srgbClr val="FFFFFF"/>
                                  </a:solidFill>
                                  <a:latin typeface="Cambria Math" panose="02040503050406030204" pitchFamily="18" charset="0"/>
                                  <a:sym typeface="Arial"/>
                                </a:rPr>
                                <m:t>2</m:t>
                              </m:r>
                            </m:sub>
                          </m:sSub>
                          <m:r>
                            <a:rPr lang="en-IN" sz="2400"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kern="0">
                                  <a:solidFill>
                                    <a:srgbClr val="FFFFFF"/>
                                  </a:solidFill>
                                  <a:latin typeface="Cambria Math" panose="02040503050406030204" pitchFamily="18" charset="0"/>
                                  <a:sym typeface="Arial"/>
                                </a:rPr>
                                <m:t>𝑎</m:t>
                              </m:r>
                            </m:e>
                            <m:sub>
                              <m:r>
                                <a:rPr lang="en-IN" sz="2400" kern="0">
                                  <a:solidFill>
                                    <a:srgbClr val="FFFFFF"/>
                                  </a:solidFill>
                                  <a:latin typeface="Cambria Math" panose="02040503050406030204" pitchFamily="18" charset="0"/>
                                  <a:sym typeface="Arial"/>
                                </a:rPr>
                                <m:t>3</m:t>
                              </m:r>
                            </m:sub>
                          </m:sSub>
                          <m:r>
                            <a:rPr lang="en-IN" sz="2400"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kern="0">
                                  <a:solidFill>
                                    <a:srgbClr val="FFFFFF"/>
                                  </a:solidFill>
                                  <a:latin typeface="Cambria Math" panose="02040503050406030204" pitchFamily="18" charset="0"/>
                                  <a:sym typeface="Arial"/>
                                </a:rPr>
                                <m:t>𝑎</m:t>
                              </m:r>
                            </m:e>
                            <m:sub>
                              <m:r>
                                <a:rPr lang="en-IN" sz="2400" kern="0">
                                  <a:solidFill>
                                    <a:srgbClr val="FFFFFF"/>
                                  </a:solidFill>
                                  <a:latin typeface="Cambria Math" panose="02040503050406030204" pitchFamily="18" charset="0"/>
                                  <a:sym typeface="Arial"/>
                                </a:rPr>
                                <m:t>𝑛</m:t>
                              </m:r>
                            </m:sub>
                          </m:sSub>
                          <m:r>
                            <a:rPr lang="en-IN" sz="2400" kern="0">
                              <a:solidFill>
                                <a:srgbClr val="FFFFFF"/>
                              </a:solidFill>
                              <a:latin typeface="Cambria Math" panose="02040503050406030204" pitchFamily="18" charset="0"/>
                              <a:sym typeface="Arial"/>
                            </a:rPr>
                            <m:t>|</m:t>
                          </m:r>
                        </m:num>
                        <m:den>
                          <m:r>
                            <a:rPr lang="en-IN" sz="2400" kern="0">
                              <a:solidFill>
                                <a:srgbClr val="FFFFFF"/>
                              </a:solidFill>
                              <a:latin typeface="Cambria Math" panose="02040503050406030204" pitchFamily="18" charset="0"/>
                              <a:sym typeface="Arial"/>
                            </a:rPr>
                            <m:t>𝑛</m:t>
                          </m:r>
                        </m:den>
                      </m:f>
                    </m:oMath>
                  </m:oMathPara>
                </a14:m>
                <a:endParaRPr lang="en-IN" sz="2400" kern="0" dirty="0">
                  <a:solidFill>
                    <a:srgbClr val="FFFFFF"/>
                  </a:solidFill>
                  <a:cs typeface="Arial"/>
                  <a:sym typeface="Aria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3708382" y="4554137"/>
                <a:ext cx="6511431" cy="806439"/>
              </a:xfrm>
              <a:prstGeom prst="rect">
                <a:avLst/>
              </a:prstGeom>
              <a:blipFill>
                <a:blip r:embed="rId6"/>
                <a:stretch>
                  <a:fillRect/>
                </a:stretch>
              </a:blipFill>
              <a:ln w="19050">
                <a:solidFill>
                  <a:srgbClr val="00FF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708382" y="5863007"/>
                <a:ext cx="3001735" cy="584775"/>
              </a:xfrm>
              <a:prstGeom prst="rect">
                <a:avLst/>
              </a:prstGeom>
              <a:noFill/>
              <a:ln w="19050">
                <a:solidFill>
                  <a:srgbClr val="00FF00"/>
                </a:solidFill>
              </a:ln>
            </p:spPr>
            <p:txBody>
              <a:bodyPr wrap="square" rtlCol="0">
                <a:spAutoFit/>
              </a:bodyPr>
              <a:lstStyle/>
              <a:p>
                <a:pPr defTabSz="1219170">
                  <a:buClr>
                    <a:srgbClr val="000000"/>
                  </a:buClr>
                </a:pPr>
                <a:endParaRPr lang="en-IN" sz="267" i="1" kern="0" dirty="0">
                  <a:solidFill>
                    <a:srgbClr val="FFFFFF"/>
                  </a:solidFill>
                  <a:latin typeface="Cambria Math" panose="02040503050406030204" pitchFamily="18" charset="0"/>
                  <a:cs typeface="Arial"/>
                  <a:sym typeface="Arial"/>
                </a:endParaRPr>
              </a:p>
              <a:p>
                <a:pPr defTabSz="1219170">
                  <a:buClr>
                    <a:srgbClr val="000000"/>
                  </a:buClr>
                </a:pPr>
                <a14:m>
                  <m:oMathPara xmlns:m="http://schemas.openxmlformats.org/officeDocument/2006/math">
                    <m:oMathParaPr>
                      <m:jc m:val="left"/>
                    </m:oMathParaPr>
                    <m:oMath xmlns:m="http://schemas.openxmlformats.org/officeDocument/2006/math">
                      <m:r>
                        <a:rPr lang="en-IN" sz="2400" i="1" kern="0">
                          <a:solidFill>
                            <a:srgbClr val="FFFFFF"/>
                          </a:solidFill>
                          <a:latin typeface="Cambria Math" panose="02040503050406030204" pitchFamily="18" charset="0"/>
                          <a:sym typeface="Arial"/>
                        </a:rPr>
                        <m:t>𝑎</m:t>
                      </m:r>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oMath>
                  </m:oMathPara>
                </a14:m>
                <a:endParaRPr lang="en-IN" sz="2400" i="1" kern="0" dirty="0">
                  <a:solidFill>
                    <a:srgbClr val="FFFFFF"/>
                  </a:solidFill>
                  <a:latin typeface="Cambria Math" panose="02040503050406030204" pitchFamily="18" charset="0"/>
                  <a:cs typeface="Arial"/>
                  <a:sym typeface="Arial"/>
                </a:endParaRPr>
              </a:p>
              <a:p>
                <a:pPr defTabSz="1219170">
                  <a:buClr>
                    <a:srgbClr val="000000"/>
                  </a:buClr>
                </a:pPr>
                <a:endParaRPr lang="en-IN" sz="533" kern="0" dirty="0">
                  <a:solidFill>
                    <a:srgbClr val="FFFFFF"/>
                  </a:solidFill>
                  <a:latin typeface="Arial"/>
                  <a:cs typeface="Arial"/>
                  <a:sym typeface="Aria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708382" y="5863007"/>
                <a:ext cx="3001735" cy="584775"/>
              </a:xfrm>
              <a:prstGeom prst="rect">
                <a:avLst/>
              </a:prstGeom>
              <a:blipFill>
                <a:blip r:embed="rId7"/>
                <a:stretch>
                  <a:fillRect/>
                </a:stretch>
              </a:blipFill>
              <a:ln w="19050">
                <a:solidFill>
                  <a:srgbClr val="00FF00"/>
                </a:solidFill>
              </a:ln>
            </p:spPr>
            <p:txBody>
              <a:bodyPr/>
              <a:lstStyle/>
              <a:p>
                <a:r>
                  <a:rPr lang="en-IN">
                    <a:noFill/>
                  </a:rPr>
                  <a:t> </a:t>
                </a:r>
              </a:p>
            </p:txBody>
          </p:sp>
        </mc:Fallback>
      </mc:AlternateContent>
    </p:spTree>
    <p:extLst>
      <p:ext uri="{BB962C8B-B14F-4D97-AF65-F5344CB8AC3E}">
        <p14:creationId xmlns:p14="http://schemas.microsoft.com/office/powerpoint/2010/main" val="343900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5">
                                            <p:txEl>
                                              <p:pRg st="0" end="0"/>
                                            </p:txEl>
                                          </p:spTgt>
                                        </p:tgtEl>
                                        <p:attrNameLst>
                                          <p:attrName>style.visibility</p:attrName>
                                        </p:attrNameLst>
                                      </p:cBhvr>
                                      <p:to>
                                        <p:strVal val="visible"/>
                                      </p:to>
                                    </p:set>
                                    <p:animEffect transition="in" filter="wipe(left)">
                                      <p:cBhvr>
                                        <p:cTn id="7" dur="500"/>
                                        <p:tgtEl>
                                          <p:spTgt spid="1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39"/>
                                        </p:tgtEl>
                                        <p:attrNameLst>
                                          <p:attrName>style.visibility</p:attrName>
                                        </p:attrNameLst>
                                      </p:cBhvr>
                                      <p:to>
                                        <p:strVal val="visible"/>
                                      </p:to>
                                    </p:set>
                                    <p:animEffect transition="in" filter="wipe(left)">
                                      <p:cBhvr>
                                        <p:cTn id="12" dur="500"/>
                                        <p:tgtEl>
                                          <p:spTgt spid="163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637"/>
                                        </p:tgtEl>
                                        <p:attrNameLst>
                                          <p:attrName>style.visibility</p:attrName>
                                        </p:attrNameLst>
                                      </p:cBhvr>
                                      <p:to>
                                        <p:strVal val="visible"/>
                                      </p:to>
                                    </p:set>
                                    <p:animEffect transition="in" filter="wipe(left)">
                                      <p:cBhvr>
                                        <p:cTn id="15" dur="500"/>
                                        <p:tgtEl>
                                          <p:spTgt spid="163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35">
                                            <p:txEl>
                                              <p:pRg st="6" end="6"/>
                                            </p:txEl>
                                          </p:spTgt>
                                        </p:tgtEl>
                                        <p:attrNameLst>
                                          <p:attrName>style.visibility</p:attrName>
                                        </p:attrNameLst>
                                      </p:cBhvr>
                                      <p:to>
                                        <p:strVal val="visible"/>
                                      </p:to>
                                    </p:set>
                                    <p:animEffect transition="in" filter="wipe(left)">
                                      <p:cBhvr>
                                        <p:cTn id="20" dur="500"/>
                                        <p:tgtEl>
                                          <p:spTgt spid="1635">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left)">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
                                            <p:bg/>
                                          </p:spTgt>
                                        </p:tgtEl>
                                        <p:attrNameLst>
                                          <p:attrName>style.visibility</p:attrName>
                                        </p:attrNameLst>
                                      </p:cBhvr>
                                      <p:to>
                                        <p:strVal val="visible"/>
                                      </p:to>
                                    </p:set>
                                    <p:animEffect transition="in" filter="wipe(left)">
                                      <p:cBhvr>
                                        <p:cTn id="35" dur="500"/>
                                        <p:tgtEl>
                                          <p:spTgt spid="19">
                                            <p:bg/>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wipe(left)">
                                      <p:cBhvr>
                                        <p:cTn id="40" dur="500"/>
                                        <p:tgtEl>
                                          <p:spTgt spid="1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
                                            <p:txEl>
                                              <p:pRg st="1" end="1"/>
                                            </p:txEl>
                                          </p:spTgt>
                                        </p:tgtEl>
                                        <p:attrNameLst>
                                          <p:attrName>style.visibility</p:attrName>
                                        </p:attrNameLst>
                                      </p:cBhvr>
                                      <p:to>
                                        <p:strVal val="visible"/>
                                      </p:to>
                                    </p:set>
                                    <p:animEffect transition="in" filter="wipe(left)">
                                      <p:cBhvr>
                                        <p:cTn id="45" dur="500"/>
                                        <p:tgtEl>
                                          <p:spTgt spid="19">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
                                            <p:txEl>
                                              <p:pRg st="2" end="2"/>
                                            </p:txEl>
                                          </p:spTgt>
                                        </p:tgtEl>
                                        <p:attrNameLst>
                                          <p:attrName>style.visibility</p:attrName>
                                        </p:attrNameLst>
                                      </p:cBhvr>
                                      <p:to>
                                        <p:strVal val="visible"/>
                                      </p:to>
                                    </p:set>
                                    <p:animEffect transition="in" filter="wipe(left)">
                                      <p:cBhvr>
                                        <p:cTn id="50" dur="500"/>
                                        <p:tgtEl>
                                          <p:spTgt spid="19">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9">
                                            <p:txEl>
                                              <p:pRg st="3" end="3"/>
                                            </p:txEl>
                                          </p:spTgt>
                                        </p:tgtEl>
                                        <p:attrNameLst>
                                          <p:attrName>style.visibility</p:attrName>
                                        </p:attrNameLst>
                                      </p:cBhvr>
                                      <p:to>
                                        <p:strVal val="visible"/>
                                      </p:to>
                                    </p:set>
                                    <p:animEffect transition="in" filter="wipe(left)">
                                      <p:cBhvr>
                                        <p:cTn id="55" dur="500"/>
                                        <p:tgtEl>
                                          <p:spTgt spid="19">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
                                            <p:txEl>
                                              <p:pRg st="4" end="4"/>
                                            </p:txEl>
                                          </p:spTgt>
                                        </p:tgtEl>
                                        <p:attrNameLst>
                                          <p:attrName>style.visibility</p:attrName>
                                        </p:attrNameLst>
                                      </p:cBhvr>
                                      <p:to>
                                        <p:strVal val="visible"/>
                                      </p:to>
                                    </p:set>
                                    <p:animEffect transition="in" filter="wipe(left)">
                                      <p:cBhvr>
                                        <p:cTn id="60" dur="500"/>
                                        <p:tgtEl>
                                          <p:spTgt spid="19">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5" grpId="0" uiExpand="1" build="p"/>
      <p:bldP spid="1637" grpId="0" animBg="1"/>
      <p:bldP spid="2" grpId="0" build="p"/>
      <p:bldP spid="18" grpId="0"/>
      <p:bldP spid="19" grpId="0" uiExpand="1" build="p" animBg="1"/>
      <p:bldP spid="20" grpId="0" animBg="1"/>
      <p:bldP spid="2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sp>
        <p:nvSpPr>
          <p:cNvPr id="1649" name="Google Shape;1649;p14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82</a:t>
            </a:fld>
            <a:endParaRPr kern="0"/>
          </a:p>
        </p:txBody>
      </p:sp>
      <p:sp>
        <p:nvSpPr>
          <p:cNvPr id="1650" name="Google Shape;1650;p144"/>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651" name="Google Shape;1651;p144"/>
          <p:cNvSpPr txBox="1"/>
          <p:nvPr/>
        </p:nvSpPr>
        <p:spPr>
          <a:xfrm>
            <a:off x="313831" y="1093892"/>
            <a:ext cx="11582400" cy="56388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dirty="0">
                <a:solidFill>
                  <a:srgbClr val="00FF00"/>
                </a:solidFill>
                <a:latin typeface="Cambria Math"/>
                <a:ea typeface="Cambria Math"/>
                <a:cs typeface="Cambria Math"/>
                <a:sym typeface="Cambria Math"/>
              </a:rPr>
              <a:t>MEASUREMENT OF ERRORS</a:t>
            </a: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p:txBody>
      </p:sp>
      <p:sp>
        <p:nvSpPr>
          <p:cNvPr id="1652" name="Google Shape;1652;p144"/>
          <p:cNvSpPr/>
          <p:nvPr/>
        </p:nvSpPr>
        <p:spPr>
          <a:xfrm>
            <a:off x="827333" y="1906333"/>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Relative error</a:t>
            </a:r>
            <a:endParaRPr sz="2400" kern="0">
              <a:solidFill>
                <a:srgbClr val="FFFFFF"/>
              </a:solidFill>
              <a:latin typeface="Cambria Math"/>
              <a:ea typeface="Cambria Math"/>
              <a:cs typeface="Cambria Math"/>
              <a:sym typeface="Cambria Math"/>
            </a:endParaRPr>
          </a:p>
        </p:txBody>
      </p:sp>
      <p:sp>
        <p:nvSpPr>
          <p:cNvPr id="1653" name="Google Shape;1653;p144"/>
          <p:cNvSpPr/>
          <p:nvPr/>
        </p:nvSpPr>
        <p:spPr>
          <a:xfrm>
            <a:off x="4652167" y="1449467"/>
            <a:ext cx="6922800" cy="1438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FFFFF"/>
                </a:solidFill>
                <a:latin typeface="Cambria Math"/>
                <a:ea typeface="Cambria Math"/>
                <a:cs typeface="Cambria Math"/>
                <a:sym typeface="Cambria Math"/>
              </a:rPr>
              <a:t>The relative error is the ratio of the mean absolute error ∆a</a:t>
            </a:r>
            <a:r>
              <a:rPr lang="en" sz="2400" kern="0" baseline="-25000">
                <a:solidFill>
                  <a:srgbClr val="FFFFFF"/>
                </a:solidFill>
                <a:latin typeface="Cambria Math"/>
                <a:ea typeface="Cambria Math"/>
                <a:cs typeface="Cambria Math"/>
                <a:sym typeface="Cambria Math"/>
              </a:rPr>
              <a:t>mean </a:t>
            </a:r>
            <a:r>
              <a:rPr lang="en" sz="2400" kern="0">
                <a:solidFill>
                  <a:srgbClr val="FFFFFF"/>
                </a:solidFill>
                <a:latin typeface="Cambria Math"/>
                <a:ea typeface="Cambria Math"/>
                <a:cs typeface="Cambria Math"/>
                <a:sym typeface="Cambria Math"/>
              </a:rPr>
              <a:t>to the mean value a</a:t>
            </a:r>
            <a:r>
              <a:rPr lang="en" sz="2400" kern="0" baseline="-25000">
                <a:solidFill>
                  <a:srgbClr val="FFFFFF"/>
                </a:solidFill>
                <a:latin typeface="Cambria Math"/>
                <a:ea typeface="Cambria Math"/>
                <a:cs typeface="Cambria Math"/>
                <a:sym typeface="Cambria Math"/>
              </a:rPr>
              <a:t>mean  </a:t>
            </a:r>
            <a:r>
              <a:rPr lang="en" sz="2400" kern="0">
                <a:solidFill>
                  <a:srgbClr val="FFFFFF"/>
                </a:solidFill>
                <a:latin typeface="Cambria Math"/>
                <a:ea typeface="Cambria Math"/>
                <a:cs typeface="Cambria Math"/>
                <a:sym typeface="Cambria Math"/>
              </a:rPr>
              <a:t>of the quantity measured   </a:t>
            </a:r>
            <a:endParaRPr sz="2400" kern="0">
              <a:solidFill>
                <a:srgbClr val="FFFFFF"/>
              </a:solidFill>
              <a:latin typeface="Cambria Math"/>
              <a:ea typeface="Cambria Math"/>
              <a:cs typeface="Cambria Math"/>
              <a:sym typeface="Cambria Math"/>
            </a:endParaRPr>
          </a:p>
        </p:txBody>
      </p:sp>
      <p:cxnSp>
        <p:nvCxnSpPr>
          <p:cNvPr id="1654" name="Google Shape;1654;p144"/>
          <p:cNvCxnSpPr>
            <a:stCxn id="1652" idx="3"/>
            <a:endCxn id="1653" idx="1"/>
          </p:cNvCxnSpPr>
          <p:nvPr/>
        </p:nvCxnSpPr>
        <p:spPr>
          <a:xfrm rot="10800000" flipH="1">
            <a:off x="3297333" y="2168733"/>
            <a:ext cx="1354800" cy="188800"/>
          </a:xfrm>
          <a:prstGeom prst="curvedConnector3">
            <a:avLst>
              <a:gd name="adj1" fmla="val 50001"/>
            </a:avLst>
          </a:prstGeom>
          <a:noFill/>
          <a:ln w="38100" cap="flat" cmpd="sng">
            <a:solidFill>
              <a:srgbClr val="00FF00"/>
            </a:solidFill>
            <a:prstDash val="solid"/>
            <a:round/>
            <a:headEnd type="none" w="sm" len="sm"/>
            <a:tailEnd type="triangle" w="sm" len="sm"/>
          </a:ln>
        </p:spPr>
      </p:cxnSp>
      <mc:AlternateContent xmlns:mc="http://schemas.openxmlformats.org/markup-compatibility/2006" xmlns:a14="http://schemas.microsoft.com/office/drawing/2010/main">
        <mc:Choice Requires="a14">
          <p:sp>
            <p:nvSpPr>
              <p:cNvPr id="9" name="TextBox 8"/>
              <p:cNvSpPr txBox="1"/>
              <p:nvPr/>
            </p:nvSpPr>
            <p:spPr>
              <a:xfrm>
                <a:off x="3612447" y="3607532"/>
                <a:ext cx="3621475" cy="848630"/>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Relative</m:t>
                      </m:r>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 </m:t>
                      </m:r>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Error</m:t>
                      </m:r>
                      <m:r>
                        <a:rPr lang="en-IN" sz="2400" i="1" kern="0">
                          <a:solidFill>
                            <a:srgbClr val="FFFFFF"/>
                          </a:solidFill>
                          <a:latin typeface="Cambria Math" panose="02040503050406030204" pitchFamily="18" charset="0"/>
                          <a:sym typeface="Arial"/>
                        </a:rPr>
                        <m:t>=</m:t>
                      </m:r>
                      <m:f>
                        <m:fPr>
                          <m:ctrlPr>
                            <a:rPr lang="en-IN" sz="2400" i="1" kern="0">
                              <a:solidFill>
                                <a:srgbClr val="FFFFFF"/>
                              </a:solidFill>
                              <a:latin typeface="Cambria Math" panose="02040503050406030204" pitchFamily="18" charset="0"/>
                              <a:sym typeface="Arial"/>
                            </a:rPr>
                          </m:ctrlPr>
                        </m:fPr>
                        <m:num>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num>
                        <m:den>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den>
                      </m:f>
                    </m:oMath>
                  </m:oMathPara>
                </a14:m>
                <a:endParaRPr lang="en-IN" sz="2400" kern="0" dirty="0">
                  <a:solidFill>
                    <a:srgbClr val="FFFFFF"/>
                  </a:solidFill>
                  <a:latin typeface="Arial"/>
                  <a:cs typeface="Arial"/>
                  <a:sym typeface="Aria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612447" y="3607532"/>
                <a:ext cx="3621475" cy="848630"/>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16851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2"/>
                                        </p:tgtEl>
                                        <p:attrNameLst>
                                          <p:attrName>style.visibility</p:attrName>
                                        </p:attrNameLst>
                                      </p:cBhvr>
                                      <p:to>
                                        <p:strVal val="visible"/>
                                      </p:to>
                                    </p:set>
                                    <p:animEffect transition="in" filter="wipe(left)">
                                      <p:cBhvr>
                                        <p:cTn id="7" dur="500"/>
                                        <p:tgtEl>
                                          <p:spTgt spid="16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54"/>
                                        </p:tgtEl>
                                        <p:attrNameLst>
                                          <p:attrName>style.visibility</p:attrName>
                                        </p:attrNameLst>
                                      </p:cBhvr>
                                      <p:to>
                                        <p:strVal val="visible"/>
                                      </p:to>
                                    </p:set>
                                    <p:animEffect transition="in" filter="wipe(left)">
                                      <p:cBhvr>
                                        <p:cTn id="12" dur="500"/>
                                        <p:tgtEl>
                                          <p:spTgt spid="165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653"/>
                                        </p:tgtEl>
                                        <p:attrNameLst>
                                          <p:attrName>style.visibility</p:attrName>
                                        </p:attrNameLst>
                                      </p:cBhvr>
                                      <p:to>
                                        <p:strVal val="visible"/>
                                      </p:to>
                                    </p:set>
                                    <p:animEffect transition="in" filter="wipe(left)">
                                      <p:cBhvr>
                                        <p:cTn id="15" dur="500"/>
                                        <p:tgtEl>
                                          <p:spTgt spid="165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2" grpId="0" animBg="1"/>
      <p:bldP spid="1653" grpId="0" animBg="1"/>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sp>
        <p:nvSpPr>
          <p:cNvPr id="1649" name="Google Shape;1649;p144"/>
          <p:cNvSpPr txBox="1">
            <a:spLocks noGrp="1"/>
          </p:cNvSpPr>
          <p:nvPr>
            <p:ph type="sldNum" idx="12"/>
          </p:nvPr>
        </p:nvSpPr>
        <p:spPr>
          <a:xfrm>
            <a:off x="9297880" y="12329"/>
            <a:ext cx="2844800" cy="365200"/>
          </a:xfrm>
          <a:prstGeom prst="rect">
            <a:avLst/>
          </a:prstGeom>
          <a:noFill/>
          <a:ln>
            <a:noFill/>
          </a:ln>
        </p:spPr>
        <p:txBody>
          <a:bodyPr spcFirstLastPara="1" wrap="square" lIns="121900" tIns="60933" rIns="121900" bIns="60933" anchor="ctr" anchorCtr="0">
            <a:noAutofit/>
          </a:bodyPr>
          <a:lstStyle/>
          <a:p>
            <a:pPr defTabSz="1219170"/>
            <a:fld id="{00000000-1234-1234-1234-123412341234}" type="slidenum">
              <a:rPr lang="en" kern="0"/>
              <a:pPr defTabSz="1219170"/>
              <a:t>83</a:t>
            </a:fld>
            <a:endParaRPr kern="0"/>
          </a:p>
        </p:txBody>
      </p:sp>
      <p:sp>
        <p:nvSpPr>
          <p:cNvPr id="1650" name="Google Shape;1650;p144"/>
          <p:cNvSpPr txBox="1">
            <a:spLocks noGrp="1"/>
          </p:cNvSpPr>
          <p:nvPr>
            <p:ph type="title"/>
          </p:nvPr>
        </p:nvSpPr>
        <p:spPr>
          <a:xfrm>
            <a:off x="903" y="0"/>
            <a:ext cx="12192000" cy="950400"/>
          </a:xfrm>
          <a:prstGeom prst="rect">
            <a:avLst/>
          </a:prstGeom>
          <a:solidFill>
            <a:srgbClr val="F3F3F3"/>
          </a:solidFill>
          <a:ln>
            <a:noFill/>
          </a:ln>
        </p:spPr>
        <p:txBody>
          <a:bodyPr spcFirstLastPara="1" wrap="square" lIns="121900" tIns="121900" rIns="121900" bIns="121900" anchor="ctr" anchorCtr="0">
            <a:noAutofit/>
          </a:bodyPr>
          <a:lstStyle/>
          <a:p>
            <a:r>
              <a:rPr lang="en" sz="2667" b="1">
                <a:solidFill>
                  <a:srgbClr val="000000"/>
                </a:solidFill>
                <a:latin typeface="Cambria Math"/>
                <a:ea typeface="Cambria Math"/>
                <a:cs typeface="Cambria Math"/>
                <a:sym typeface="Cambria Math"/>
              </a:rPr>
              <a:t>11P02.3 Errors in Measurements</a:t>
            </a:r>
            <a:endParaRPr sz="2667" b="1">
              <a:solidFill>
                <a:srgbClr val="000000"/>
              </a:solidFill>
              <a:latin typeface="Cambria Math"/>
              <a:ea typeface="Cambria Math"/>
              <a:cs typeface="Cambria Math"/>
              <a:sym typeface="Cambria Math"/>
            </a:endParaRPr>
          </a:p>
        </p:txBody>
      </p:sp>
      <p:sp>
        <p:nvSpPr>
          <p:cNvPr id="1651" name="Google Shape;1651;p144"/>
          <p:cNvSpPr txBox="1"/>
          <p:nvPr/>
        </p:nvSpPr>
        <p:spPr>
          <a:xfrm>
            <a:off x="313831" y="1093892"/>
            <a:ext cx="11582400" cy="56388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400" kern="0" dirty="0">
                <a:solidFill>
                  <a:srgbClr val="00FF00"/>
                </a:solidFill>
                <a:latin typeface="Cambria Math"/>
                <a:ea typeface="Cambria Math"/>
                <a:cs typeface="Cambria Math"/>
                <a:sym typeface="Cambria Math"/>
              </a:rPr>
              <a:t>MEASUREMENT OF ERRORS</a:t>
            </a: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a:p>
            <a:pPr defTabSz="1219170">
              <a:buClr>
                <a:srgbClr val="000000"/>
              </a:buClr>
            </a:pPr>
            <a:endParaRPr sz="2400" kern="0" dirty="0">
              <a:solidFill>
                <a:srgbClr val="00FF00"/>
              </a:solidFill>
              <a:latin typeface="Cambria Math"/>
              <a:ea typeface="Cambria Math"/>
              <a:cs typeface="Cambria Math"/>
              <a:sym typeface="Cambria Math"/>
            </a:endParaRPr>
          </a:p>
        </p:txBody>
      </p:sp>
      <p:sp>
        <p:nvSpPr>
          <p:cNvPr id="1652" name="Google Shape;1652;p144"/>
          <p:cNvSpPr/>
          <p:nvPr/>
        </p:nvSpPr>
        <p:spPr>
          <a:xfrm>
            <a:off x="827333" y="1906333"/>
            <a:ext cx="2470000" cy="9024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IN" sz="2400" kern="0" dirty="0">
                <a:solidFill>
                  <a:srgbClr val="FFFFFF"/>
                </a:solidFill>
                <a:latin typeface="Cambria Math"/>
                <a:ea typeface="Cambria Math"/>
                <a:cs typeface="Cambria Math"/>
                <a:sym typeface="Cambria Math"/>
              </a:rPr>
              <a:t>Percentage error</a:t>
            </a:r>
          </a:p>
        </p:txBody>
      </p:sp>
      <p:sp>
        <p:nvSpPr>
          <p:cNvPr id="1653" name="Google Shape;1653;p144"/>
          <p:cNvSpPr/>
          <p:nvPr/>
        </p:nvSpPr>
        <p:spPr>
          <a:xfrm>
            <a:off x="4652167" y="1449467"/>
            <a:ext cx="6922800" cy="1438800"/>
          </a:xfrm>
          <a:prstGeom prst="roundRect">
            <a:avLst>
              <a:gd name="adj" fmla="val 16667"/>
            </a:avLst>
          </a:prstGeom>
          <a:noFill/>
          <a:ln w="3810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US" sz="2400" kern="0" dirty="0">
                <a:solidFill>
                  <a:srgbClr val="FFFFFF"/>
                </a:solidFill>
                <a:latin typeface="Cambria Math"/>
                <a:ea typeface="Cambria Math"/>
                <a:cs typeface="Cambria Math"/>
                <a:sym typeface="Cambria Math"/>
              </a:rPr>
              <a:t>When the relative error is expressed in percent, it is called the percentage error (δa)  </a:t>
            </a:r>
          </a:p>
        </p:txBody>
      </p:sp>
      <p:cxnSp>
        <p:nvCxnSpPr>
          <p:cNvPr id="1654" name="Google Shape;1654;p144"/>
          <p:cNvCxnSpPr>
            <a:stCxn id="1652" idx="3"/>
            <a:endCxn id="1653" idx="1"/>
          </p:cNvCxnSpPr>
          <p:nvPr/>
        </p:nvCxnSpPr>
        <p:spPr>
          <a:xfrm rot="10800000" flipH="1">
            <a:off x="3297333" y="2168733"/>
            <a:ext cx="1354800" cy="188800"/>
          </a:xfrm>
          <a:prstGeom prst="curvedConnector3">
            <a:avLst>
              <a:gd name="adj1" fmla="val 50001"/>
            </a:avLst>
          </a:prstGeom>
          <a:noFill/>
          <a:ln w="38100" cap="flat" cmpd="sng">
            <a:solidFill>
              <a:srgbClr val="00FF00"/>
            </a:solidFill>
            <a:prstDash val="solid"/>
            <a:round/>
            <a:headEnd type="none" w="sm" len="sm"/>
            <a:tailEnd type="triangle" w="sm" len="sm"/>
          </a:ln>
        </p:spPr>
      </p:cxnSp>
      <mc:AlternateContent xmlns:mc="http://schemas.openxmlformats.org/markup-compatibility/2006" xmlns:a14="http://schemas.microsoft.com/office/drawing/2010/main">
        <mc:Choice Requires="a14">
          <p:sp>
            <p:nvSpPr>
              <p:cNvPr id="10" name="TextBox 9"/>
              <p:cNvSpPr txBox="1"/>
              <p:nvPr/>
            </p:nvSpPr>
            <p:spPr>
              <a:xfrm>
                <a:off x="3422009" y="3523413"/>
                <a:ext cx="5349788" cy="848630"/>
              </a:xfrm>
              <a:prstGeom prst="rect">
                <a:avLst/>
              </a:prstGeom>
              <a:noFill/>
            </p:spPr>
            <p:txBody>
              <a:bodyPr wrap="square" rtlCol="0">
                <a:spAutoFit/>
              </a:bodyPr>
              <a:lstStyle/>
              <a:p>
                <a:pPr defTabSz="1219170">
                  <a:buClr>
                    <a:srgbClr val="000000"/>
                  </a:buClr>
                </a:pPr>
                <a14:m>
                  <m:oMathPara xmlns:m="http://schemas.openxmlformats.org/officeDocument/2006/math">
                    <m:oMathParaPr>
                      <m:jc m:val="left"/>
                    </m:oMathParaPr>
                    <m:oMath xmlns:m="http://schemas.openxmlformats.org/officeDocument/2006/math">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Percentage</m:t>
                      </m:r>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 </m:t>
                      </m:r>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Error</m:t>
                      </m:r>
                      <m:r>
                        <m:rPr>
                          <m:nor/>
                        </m:rPr>
                        <a:rPr lang="en-IN" sz="2400" kern="0" dirty="0">
                          <a:solidFill>
                            <a:srgbClr val="FFFFFF"/>
                          </a:solidFill>
                          <a:latin typeface="Cambria Math" panose="02040503050406030204" pitchFamily="18" charset="0"/>
                          <a:ea typeface="Cambria Math" panose="02040503050406030204" pitchFamily="18" charset="0"/>
                          <a:cs typeface="Arial"/>
                          <a:sym typeface="Arial"/>
                        </a:rPr>
                        <m:t> </m:t>
                      </m:r>
                      <m:r>
                        <m:rPr>
                          <m:sty m:val="p"/>
                        </m:rPr>
                        <a:rPr lang="en-IN" sz="2400" i="1" kern="0" dirty="0">
                          <a:solidFill>
                            <a:srgbClr val="FFFFFF"/>
                          </a:solidFill>
                          <a:latin typeface="Cambria Math" panose="02040503050406030204" pitchFamily="18" charset="0"/>
                          <a:ea typeface="Cambria Math" panose="02040503050406030204" pitchFamily="18" charset="0"/>
                          <a:sym typeface="Arial"/>
                        </a:rPr>
                        <m:t>δ</m:t>
                      </m:r>
                      <m:r>
                        <a:rPr lang="en-IN" sz="2400" i="1" kern="0">
                          <a:solidFill>
                            <a:srgbClr val="FFFFFF"/>
                          </a:solidFill>
                          <a:latin typeface="Cambria Math" panose="02040503050406030204" pitchFamily="18" charset="0"/>
                          <a:sym typeface="Arial"/>
                        </a:rPr>
                        <m:t>=</m:t>
                      </m:r>
                      <m:f>
                        <m:fPr>
                          <m:ctrlPr>
                            <a:rPr lang="en-IN" sz="2400" i="1" kern="0">
                              <a:solidFill>
                                <a:srgbClr val="FFFFFF"/>
                              </a:solidFill>
                              <a:latin typeface="Cambria Math" panose="02040503050406030204" pitchFamily="18" charset="0"/>
                              <a:sym typeface="Arial"/>
                            </a:rPr>
                          </m:ctrlPr>
                        </m:fPr>
                        <m:num>
                          <m:r>
                            <a:rPr lang="en-IN" sz="2400" i="1" kern="0">
                              <a:solidFill>
                                <a:srgbClr val="FFFFFF"/>
                              </a:solidFill>
                              <a:latin typeface="Cambria Math" panose="02040503050406030204" pitchFamily="18" charset="0"/>
                              <a:sym typeface="Arial"/>
                            </a:rPr>
                            <m:t>∆</m:t>
                          </m:r>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num>
                        <m:den>
                          <m:sSub>
                            <m:sSubPr>
                              <m:ctrlPr>
                                <a:rPr lang="en-IN" sz="2400" i="1" kern="0">
                                  <a:solidFill>
                                    <a:srgbClr val="FFFFFF"/>
                                  </a:solidFill>
                                  <a:latin typeface="Cambria Math" panose="02040503050406030204" pitchFamily="18" charset="0"/>
                                  <a:sym typeface="Arial"/>
                                </a:rPr>
                              </m:ctrlPr>
                            </m:sSubPr>
                            <m:e>
                              <m:r>
                                <a:rPr lang="en-IN" sz="2400" i="1" kern="0">
                                  <a:solidFill>
                                    <a:srgbClr val="FFFFFF"/>
                                  </a:solidFill>
                                  <a:latin typeface="Cambria Math" panose="02040503050406030204" pitchFamily="18" charset="0"/>
                                  <a:sym typeface="Arial"/>
                                </a:rPr>
                                <m:t>𝑎</m:t>
                              </m:r>
                            </m:e>
                            <m:sub>
                              <m:r>
                                <a:rPr lang="en-IN" sz="2400" i="1" kern="0">
                                  <a:solidFill>
                                    <a:srgbClr val="FFFFFF"/>
                                  </a:solidFill>
                                  <a:latin typeface="Cambria Math" panose="02040503050406030204" pitchFamily="18" charset="0"/>
                                  <a:sym typeface="Arial"/>
                                </a:rPr>
                                <m:t>𝑚𝑒𝑎𝑛</m:t>
                              </m:r>
                            </m:sub>
                          </m:sSub>
                        </m:den>
                      </m:f>
                      <m:r>
                        <a:rPr lang="en-IN" sz="2400" i="1" kern="0">
                          <a:solidFill>
                            <a:srgbClr val="FFFFFF"/>
                          </a:solidFill>
                          <a:latin typeface="Cambria Math" panose="02040503050406030204" pitchFamily="18" charset="0"/>
                          <a:sym typeface="Arial"/>
                        </a:rPr>
                        <m:t>×100%</m:t>
                      </m:r>
                    </m:oMath>
                  </m:oMathPara>
                </a14:m>
                <a:endParaRPr lang="en-IN" sz="2400" kern="0" dirty="0">
                  <a:solidFill>
                    <a:srgbClr val="FFFFFF"/>
                  </a:solidFill>
                  <a:latin typeface="Arial"/>
                  <a:cs typeface="Arial"/>
                  <a:sym typeface="Aria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422009" y="3523413"/>
                <a:ext cx="5349788" cy="848630"/>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4092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3"/>
                                        </p:tgtEl>
                                        <p:attrNameLst>
                                          <p:attrName>style.visibility</p:attrName>
                                        </p:attrNameLst>
                                      </p:cBhvr>
                                      <p:to>
                                        <p:strVal val="visible"/>
                                      </p:to>
                                    </p:set>
                                    <p:animEffect transition="in" filter="wipe(left)">
                                      <p:cBhvr>
                                        <p:cTn id="7" dur="500"/>
                                        <p:tgtEl>
                                          <p:spTgt spid="1653"/>
                                        </p:tgtEl>
                                      </p:cBhvr>
                                    </p:animEffect>
                                  </p:childTnLst>
                                </p:cTn>
                              </p:par>
                              <p:par>
                                <p:cTn id="8" presetID="22" presetClass="entr" presetSubtype="8" fill="hold" nodeType="withEffect">
                                  <p:stCondLst>
                                    <p:cond delay="0"/>
                                  </p:stCondLst>
                                  <p:childTnLst>
                                    <p:set>
                                      <p:cBhvr>
                                        <p:cTn id="9" dur="1" fill="hold">
                                          <p:stCondLst>
                                            <p:cond delay="0"/>
                                          </p:stCondLst>
                                        </p:cTn>
                                        <p:tgtEl>
                                          <p:spTgt spid="1654"/>
                                        </p:tgtEl>
                                        <p:attrNameLst>
                                          <p:attrName>style.visibility</p:attrName>
                                        </p:attrNameLst>
                                      </p:cBhvr>
                                      <p:to>
                                        <p:strVal val="visible"/>
                                      </p:to>
                                    </p:set>
                                    <p:animEffect transition="in" filter="wipe(left)">
                                      <p:cBhvr>
                                        <p:cTn id="10" dur="500"/>
                                        <p:tgtEl>
                                          <p:spTgt spid="165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3" grpId="0" animBg="1"/>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87" name="Google Shape;1687;p147"/>
              <p:cNvSpPr txBox="1"/>
              <p:nvPr/>
            </p:nvSpPr>
            <p:spPr>
              <a:xfrm>
                <a:off x="313831" y="136031"/>
                <a:ext cx="11582400" cy="1479469"/>
              </a:xfrm>
              <a:prstGeom prst="rect">
                <a:avLst/>
              </a:prstGeom>
              <a:noFill/>
              <a:ln>
                <a:noFill/>
              </a:ln>
            </p:spPr>
            <p:txBody>
              <a:bodyPr spcFirstLastPara="1" wrap="square" lIns="121900" tIns="121900" rIns="121900" bIns="121900" anchor="t" anchorCtr="0">
                <a:noAutofit/>
              </a:bodyPr>
              <a:lstStyle/>
              <a:p>
                <a:pPr marL="865610" indent="-865610" algn="just" defTabSz="1219170">
                  <a:buClr>
                    <a:srgbClr val="000000"/>
                  </a:buClr>
                </a:pPr>
                <a:r>
                  <a:rPr lang="en-US" sz="2667" b="1" kern="0" dirty="0">
                    <a:solidFill>
                      <a:srgbClr val="00FF00"/>
                    </a:solidFill>
                    <a:latin typeface="Cambria Math"/>
                    <a:ea typeface="Cambria Math"/>
                    <a:cs typeface="Cambria Math"/>
                    <a:sym typeface="Cambria Math"/>
                  </a:rPr>
                  <a:t>Q.</a:t>
                </a:r>
                <a:r>
                  <a:rPr lang="en-US" sz="2400" kern="0" dirty="0">
                    <a:solidFill>
                      <a:srgbClr val="FFFF00"/>
                    </a:solidFill>
                    <a:latin typeface="Cambria Math"/>
                    <a:ea typeface="Cambria Math"/>
                    <a:cs typeface="Cambria Math"/>
                    <a:sym typeface="Cambria Math"/>
                  </a:rPr>
                  <a:t> 	</a:t>
                </a:r>
                <a:r>
                  <a:rPr lang="en-US" sz="2400" kern="0" dirty="0">
                    <a:solidFill>
                      <a:srgbClr val="FFFFFF"/>
                    </a:solidFill>
                    <a:latin typeface="Cambria Math"/>
                    <a:ea typeface="Cambria Math"/>
                    <a:cs typeface="Cambria Math"/>
                    <a:sym typeface="Cambria Math"/>
                  </a:rPr>
                  <a:t>We measure the period of oscillation of a simple pendulum. In successive measurements, the readings turn out to be </a:t>
                </a:r>
                <a14:m>
                  <m:oMath xmlns:m="http://schemas.openxmlformats.org/officeDocument/2006/math">
                    <m:r>
                      <a:rPr lang="en-US" sz="2400" i="1" kern="0" dirty="0">
                        <a:solidFill>
                          <a:srgbClr val="FFFFFF"/>
                        </a:solidFill>
                        <a:latin typeface="Cambria Math" panose="02040503050406030204" pitchFamily="18" charset="0"/>
                        <a:ea typeface="Cambria Math"/>
                        <a:cs typeface="Cambria Math"/>
                        <a:sym typeface="Cambria Math"/>
                      </a:rPr>
                      <m:t>2.63 </m:t>
                    </m:r>
                    <m:r>
                      <a:rPr lang="en-US" sz="2400" i="1" kern="0" dirty="0">
                        <a:solidFill>
                          <a:srgbClr val="FFFFFF"/>
                        </a:solidFill>
                        <a:latin typeface="Cambria Math" panose="02040503050406030204" pitchFamily="18" charset="0"/>
                        <a:ea typeface="Cambria Math"/>
                        <a:cs typeface="Cambria Math"/>
                        <a:sym typeface="Cambria Math"/>
                      </a:rPr>
                      <m:t>𝑠</m:t>
                    </m:r>
                    <m:r>
                      <a:rPr lang="en-US" sz="2400" i="1" kern="0" dirty="0">
                        <a:solidFill>
                          <a:srgbClr val="FFFFFF"/>
                        </a:solidFill>
                        <a:latin typeface="Cambria Math" panose="02040503050406030204" pitchFamily="18" charset="0"/>
                        <a:ea typeface="Cambria Math"/>
                        <a:cs typeface="Cambria Math"/>
                        <a:sym typeface="Cambria Math"/>
                      </a:rPr>
                      <m:t>,</m:t>
                    </m:r>
                  </m:oMath>
                </a14:m>
                <a:r>
                  <a:rPr lang="en-US" sz="2400" kern="0" dirty="0">
                    <a:solidFill>
                      <a:srgbClr val="FFFFFF"/>
                    </a:solidFill>
                    <a:latin typeface="Cambria Math"/>
                    <a:ea typeface="Cambria Math"/>
                    <a:cs typeface="Cambria Math"/>
                    <a:sym typeface="Cambria Math"/>
                  </a:rPr>
                  <a:t> </a:t>
                </a:r>
                <a14:m>
                  <m:oMath xmlns:m="http://schemas.openxmlformats.org/officeDocument/2006/math">
                    <m:r>
                      <a:rPr lang="en-US" sz="2400" i="1" kern="0" dirty="0">
                        <a:solidFill>
                          <a:srgbClr val="FFFFFF"/>
                        </a:solidFill>
                        <a:latin typeface="Cambria Math" panose="02040503050406030204" pitchFamily="18" charset="0"/>
                        <a:ea typeface="Cambria Math"/>
                        <a:cs typeface="Cambria Math"/>
                        <a:sym typeface="Cambria Math"/>
                      </a:rPr>
                      <m:t>2.56 </m:t>
                    </m:r>
                    <m:r>
                      <a:rPr lang="en-US" sz="2400" i="1" kern="0" dirty="0">
                        <a:solidFill>
                          <a:srgbClr val="FFFFFF"/>
                        </a:solidFill>
                        <a:latin typeface="Cambria Math" panose="02040503050406030204" pitchFamily="18" charset="0"/>
                        <a:ea typeface="Cambria Math"/>
                        <a:cs typeface="Cambria Math"/>
                        <a:sym typeface="Cambria Math"/>
                      </a:rPr>
                      <m:t>𝑠</m:t>
                    </m:r>
                    <m:r>
                      <a:rPr lang="en-US" sz="2400" i="1" kern="0" dirty="0">
                        <a:solidFill>
                          <a:srgbClr val="FFFFFF"/>
                        </a:solidFill>
                        <a:latin typeface="Cambria Math" panose="02040503050406030204" pitchFamily="18" charset="0"/>
                        <a:ea typeface="Cambria Math"/>
                        <a:cs typeface="Cambria Math"/>
                        <a:sym typeface="Cambria Math"/>
                      </a:rPr>
                      <m:t>, 2.42 </m:t>
                    </m:r>
                    <m:r>
                      <a:rPr lang="en-US" sz="2400" i="1" kern="0" dirty="0">
                        <a:solidFill>
                          <a:srgbClr val="FFFFFF"/>
                        </a:solidFill>
                        <a:latin typeface="Cambria Math" panose="02040503050406030204" pitchFamily="18" charset="0"/>
                        <a:ea typeface="Cambria Math"/>
                        <a:cs typeface="Cambria Math"/>
                        <a:sym typeface="Cambria Math"/>
                      </a:rPr>
                      <m:t>𝑠</m:t>
                    </m:r>
                    <m:r>
                      <a:rPr lang="en-US" sz="2400" i="1" kern="0" dirty="0">
                        <a:solidFill>
                          <a:srgbClr val="FFFFFF"/>
                        </a:solidFill>
                        <a:latin typeface="Cambria Math" panose="02040503050406030204" pitchFamily="18" charset="0"/>
                        <a:ea typeface="Cambria Math"/>
                        <a:cs typeface="Cambria Math"/>
                        <a:sym typeface="Cambria Math"/>
                      </a:rPr>
                      <m:t>, 2.71 </m:t>
                    </m:r>
                    <m:r>
                      <a:rPr lang="en-US" sz="2400" i="1" kern="0" dirty="0">
                        <a:solidFill>
                          <a:srgbClr val="FFFFFF"/>
                        </a:solidFill>
                        <a:latin typeface="Cambria Math" panose="02040503050406030204" pitchFamily="18" charset="0"/>
                        <a:ea typeface="Cambria Math"/>
                        <a:cs typeface="Cambria Math"/>
                        <a:sym typeface="Cambria Math"/>
                      </a:rPr>
                      <m:t>𝑠</m:t>
                    </m:r>
                    <m:r>
                      <a:rPr lang="en-US" sz="2400" i="1" kern="0" dirty="0">
                        <a:solidFill>
                          <a:srgbClr val="FFFFFF"/>
                        </a:solidFill>
                        <a:latin typeface="Cambria Math" panose="02040503050406030204" pitchFamily="18" charset="0"/>
                        <a:ea typeface="Cambria Math"/>
                        <a:cs typeface="Cambria Math"/>
                        <a:sym typeface="Cambria Math"/>
                      </a:rPr>
                      <m:t> </m:t>
                    </m:r>
                  </m:oMath>
                </a14:m>
                <a:r>
                  <a:rPr lang="en-US" sz="2400" kern="0" dirty="0">
                    <a:solidFill>
                      <a:srgbClr val="FFFFFF"/>
                    </a:solidFill>
                    <a:latin typeface="Cambria Math"/>
                    <a:ea typeface="Cambria Math"/>
                    <a:cs typeface="Cambria Math"/>
                    <a:sym typeface="Cambria Math"/>
                  </a:rPr>
                  <a:t>and </a:t>
                </a:r>
                <a14:m>
                  <m:oMath xmlns:m="http://schemas.openxmlformats.org/officeDocument/2006/math">
                    <m:r>
                      <a:rPr lang="en-US" sz="2400" i="1" kern="0" dirty="0">
                        <a:solidFill>
                          <a:srgbClr val="FFFFFF"/>
                        </a:solidFill>
                        <a:latin typeface="Cambria Math" panose="02040503050406030204" pitchFamily="18" charset="0"/>
                        <a:ea typeface="Cambria Math"/>
                        <a:cs typeface="Cambria Math"/>
                        <a:sym typeface="Cambria Math"/>
                      </a:rPr>
                      <m:t>2.80 </m:t>
                    </m:r>
                    <m:r>
                      <a:rPr lang="en-US" sz="2400" i="1" kern="0" dirty="0">
                        <a:solidFill>
                          <a:srgbClr val="FFFFFF"/>
                        </a:solidFill>
                        <a:latin typeface="Cambria Math" panose="02040503050406030204" pitchFamily="18" charset="0"/>
                        <a:ea typeface="Cambria Math"/>
                        <a:cs typeface="Cambria Math"/>
                        <a:sym typeface="Cambria Math"/>
                      </a:rPr>
                      <m:t>𝑠</m:t>
                    </m:r>
                    <m:r>
                      <a:rPr lang="en-US" sz="2400" i="1" kern="0" dirty="0">
                        <a:solidFill>
                          <a:srgbClr val="FFFFFF"/>
                        </a:solidFill>
                        <a:latin typeface="Cambria Math" panose="02040503050406030204" pitchFamily="18" charset="0"/>
                        <a:ea typeface="Cambria Math"/>
                        <a:cs typeface="Cambria Math"/>
                        <a:sym typeface="Cambria Math"/>
                      </a:rPr>
                      <m:t>.</m:t>
                    </m:r>
                  </m:oMath>
                </a14:m>
                <a:r>
                  <a:rPr lang="en-US" sz="2400" kern="0" dirty="0">
                    <a:solidFill>
                      <a:srgbClr val="FFFFFF"/>
                    </a:solidFill>
                    <a:latin typeface="Cambria Math"/>
                    <a:ea typeface="Cambria Math"/>
                    <a:cs typeface="Cambria Math"/>
                    <a:sym typeface="Cambria Math"/>
                  </a:rPr>
                  <a:t> Calculate the absolute errors, relative error and percentage error.</a:t>
                </a:r>
              </a:p>
              <a:p>
                <a:pPr defTabSz="1219170">
                  <a:buClr>
                    <a:srgbClr val="000000"/>
                  </a:buClr>
                </a:pPr>
                <a:r>
                  <a:rPr lang="en-US" sz="2400" kern="0" dirty="0">
                    <a:solidFill>
                      <a:srgbClr val="FFFF00"/>
                    </a:solidFill>
                    <a:latin typeface="Cambria Math"/>
                    <a:ea typeface="Cambria Math"/>
                    <a:cs typeface="Cambria Math"/>
                    <a:sym typeface="Cambria Math"/>
                  </a:rPr>
                  <a:t> </a:t>
                </a:r>
                <a:endParaRPr sz="2400" kern="0" dirty="0">
                  <a:solidFill>
                    <a:srgbClr val="FFFFFF"/>
                  </a:solidFill>
                  <a:latin typeface="Cambria Math"/>
                  <a:ea typeface="Cambria Math"/>
                  <a:cs typeface="Cambria Math"/>
                  <a:sym typeface="Cambria Math"/>
                </a:endParaRPr>
              </a:p>
            </p:txBody>
          </p:sp>
        </mc:Choice>
        <mc:Fallback xmlns="">
          <p:sp>
            <p:nvSpPr>
              <p:cNvPr id="1687" name="Google Shape;1687;p147"/>
              <p:cNvSpPr txBox="1">
                <a:spLocks noRot="1" noChangeAspect="1" noMove="1" noResize="1" noEditPoints="1" noAdjustHandles="1" noChangeArrowheads="1" noChangeShapeType="1" noTextEdit="1"/>
              </p:cNvSpPr>
              <p:nvPr/>
            </p:nvSpPr>
            <p:spPr>
              <a:xfrm>
                <a:off x="313831" y="136031"/>
                <a:ext cx="11582400" cy="1479469"/>
              </a:xfrm>
              <a:prstGeom prst="rect">
                <a:avLst/>
              </a:prstGeom>
              <a:blipFill>
                <a:blip r:embed="rId3"/>
                <a:stretch>
                  <a:fillRect l="-737" r="-579"/>
                </a:stretch>
              </a:blipFill>
              <a:ln>
                <a:noFill/>
              </a:ln>
            </p:spPr>
            <p:txBody>
              <a:bodyPr/>
              <a:lstStyle/>
              <a:p>
                <a:r>
                  <a:rPr lang="en-IN">
                    <a:noFill/>
                  </a:rPr>
                  <a:t> </a:t>
                </a:r>
              </a:p>
            </p:txBody>
          </p:sp>
        </mc:Fallback>
      </mc:AlternateContent>
      <p:sp>
        <p:nvSpPr>
          <p:cNvPr id="2" name="TextBox 1">
            <a:extLst>
              <a:ext uri="{FF2B5EF4-FFF2-40B4-BE49-F238E27FC236}">
                <a16:creationId xmlns:a16="http://schemas.microsoft.com/office/drawing/2014/main" id="{1C29FB3B-8B5C-4545-81CB-48583FA1FE84}"/>
              </a:ext>
            </a:extLst>
          </p:cNvPr>
          <p:cNvSpPr txBox="1"/>
          <p:nvPr/>
        </p:nvSpPr>
        <p:spPr>
          <a:xfrm>
            <a:off x="3126153" y="2797903"/>
            <a:ext cx="6174155" cy="1159228"/>
          </a:xfrm>
          <a:prstGeom prst="rect">
            <a:avLst/>
          </a:prstGeom>
          <a:noFill/>
        </p:spPr>
        <p:txBody>
          <a:bodyPr wrap="square" rtlCol="0">
            <a:spAutoFit/>
          </a:bodyPr>
          <a:lstStyle/>
          <a:p>
            <a:pPr algn="ctr" defTabSz="1219170">
              <a:buClr>
                <a:srgbClr val="000000"/>
              </a:buClr>
            </a:pPr>
            <a:endParaRPr lang="en-US" sz="4000" kern="0" dirty="0">
              <a:solidFill>
                <a:srgbClr val="FFFF00"/>
              </a:solidFill>
              <a:latin typeface="Cambria Math" panose="02040503050406030204" pitchFamily="18" charset="0"/>
              <a:ea typeface="Cambria Math" panose="02040503050406030204" pitchFamily="18" charset="0"/>
              <a:cs typeface="Arial"/>
              <a:sym typeface="Arial"/>
            </a:endParaRPr>
          </a:p>
          <a:p>
            <a:pPr algn="ctr" defTabSz="1219170">
              <a:buClr>
                <a:srgbClr val="000000"/>
              </a:buClr>
            </a:pPr>
            <a:r>
              <a:rPr lang="en-US" sz="2933" kern="0" dirty="0">
                <a:solidFill>
                  <a:srgbClr val="00FF00"/>
                </a:solidFill>
                <a:latin typeface="Cambria Math" panose="02040503050406030204" pitchFamily="18" charset="0"/>
                <a:ea typeface="Cambria Math" panose="02040503050406030204" pitchFamily="18" charset="0"/>
                <a:cs typeface="Arial"/>
                <a:sym typeface="Arial"/>
              </a:rPr>
              <a:t>Time Duration : </a:t>
            </a:r>
            <a:r>
              <a:rPr lang="en-US" sz="2933" kern="0" dirty="0" smtClean="0">
                <a:solidFill>
                  <a:srgbClr val="00FF00"/>
                </a:solidFill>
                <a:latin typeface="Cambria Math" panose="02040503050406030204" pitchFamily="18" charset="0"/>
                <a:ea typeface="Cambria Math" panose="02040503050406030204" pitchFamily="18" charset="0"/>
                <a:cs typeface="Arial"/>
                <a:sym typeface="Arial"/>
              </a:rPr>
              <a:t>5 </a:t>
            </a:r>
            <a:r>
              <a:rPr lang="en-US" sz="2933" kern="0" dirty="0">
                <a:solidFill>
                  <a:srgbClr val="00FF00"/>
                </a:solidFill>
                <a:latin typeface="Cambria Math" panose="02040503050406030204" pitchFamily="18" charset="0"/>
                <a:ea typeface="Cambria Math" panose="02040503050406030204" pitchFamily="18" charset="0"/>
                <a:cs typeface="Arial"/>
                <a:sym typeface="Arial"/>
              </a:rPr>
              <a:t>Minutes</a:t>
            </a:r>
          </a:p>
        </p:txBody>
      </p:sp>
    </p:spTree>
    <p:extLst>
      <p:ext uri="{BB962C8B-B14F-4D97-AF65-F5344CB8AC3E}">
        <p14:creationId xmlns:p14="http://schemas.microsoft.com/office/powerpoint/2010/main" val="336562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xit" presetSubtype="0" fill="hold" grpId="1" nodeType="clickEffect">
                                  <p:stCondLst>
                                    <p:cond delay="0"/>
                                  </p:stCondLst>
                                  <p:childTnLst>
                                    <p:animEffect transition="out" filter="dissolv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3063" y="369117"/>
            <a:ext cx="10452683" cy="5016758"/>
          </a:xfrm>
          <a:prstGeom prst="rect">
            <a:avLst/>
          </a:prstGeom>
        </p:spPr>
        <p:txBody>
          <a:bodyPr wrap="square">
            <a:spAutoFit/>
          </a:bodyPr>
          <a:lstStyle/>
          <a:p>
            <a:r>
              <a:rPr lang="en-US" sz="3200" b="1" dirty="0">
                <a:latin typeface="Google Sans"/>
              </a:rPr>
              <a:t>Slide 1: Rules for Determining Significant Figures</a:t>
            </a:r>
          </a:p>
          <a:p>
            <a:r>
              <a:rPr lang="en-US" sz="3200" b="1" dirty="0">
                <a:latin typeface="Google Sans"/>
              </a:rPr>
              <a:t>Heading: Rules for Significant Figures</a:t>
            </a:r>
            <a:endParaRPr lang="en-US" sz="3200" dirty="0">
              <a:latin typeface="Google Sans"/>
            </a:endParaRPr>
          </a:p>
          <a:p>
            <a:pPr>
              <a:buFont typeface="Arial" panose="020B0604020202020204" pitchFamily="34" charset="0"/>
              <a:buChar char="•"/>
            </a:pPr>
            <a:r>
              <a:rPr lang="en-US" sz="3200" b="1" dirty="0">
                <a:latin typeface="Google Sans"/>
              </a:rPr>
              <a:t>Rule 1:</a:t>
            </a:r>
            <a:r>
              <a:rPr lang="en-US" sz="3200" dirty="0">
                <a:latin typeface="Google Sans"/>
              </a:rPr>
              <a:t> All non-zero digits are significant.</a:t>
            </a:r>
          </a:p>
          <a:p>
            <a:pPr>
              <a:buFont typeface="Arial" panose="020B0604020202020204" pitchFamily="34" charset="0"/>
              <a:buChar char="•"/>
            </a:pPr>
            <a:r>
              <a:rPr lang="en-US" sz="3200" b="1" dirty="0">
                <a:latin typeface="Google Sans"/>
              </a:rPr>
              <a:t>Rule 2:</a:t>
            </a:r>
            <a:r>
              <a:rPr lang="en-US" sz="3200" dirty="0">
                <a:latin typeface="Google Sans"/>
              </a:rPr>
              <a:t> All zeros between non-zero digits are significant.</a:t>
            </a:r>
          </a:p>
          <a:p>
            <a:pPr>
              <a:buFont typeface="Arial" panose="020B0604020202020204" pitchFamily="34" charset="0"/>
              <a:buChar char="•"/>
            </a:pPr>
            <a:r>
              <a:rPr lang="en-US" sz="3200" b="1" dirty="0">
                <a:latin typeface="Google Sans"/>
              </a:rPr>
              <a:t>Rule 3:</a:t>
            </a:r>
            <a:r>
              <a:rPr lang="en-US" sz="3200" dirty="0">
                <a:latin typeface="Google Sans"/>
              </a:rPr>
              <a:t> Zeros to the extreme left are not significant.</a:t>
            </a:r>
          </a:p>
          <a:p>
            <a:pPr>
              <a:buFont typeface="Arial" panose="020B0604020202020204" pitchFamily="34" charset="0"/>
              <a:buChar char="•"/>
            </a:pPr>
            <a:r>
              <a:rPr lang="en-US" sz="3200" b="1" dirty="0">
                <a:latin typeface="Google Sans"/>
              </a:rPr>
              <a:t>Rule 4:</a:t>
            </a:r>
            <a:r>
              <a:rPr lang="en-US" sz="3200" dirty="0">
                <a:latin typeface="Google Sans"/>
              </a:rPr>
              <a:t> Zeros to the extreme right are significant </a:t>
            </a:r>
            <a:r>
              <a:rPr lang="en-US" sz="3200" b="1" dirty="0">
                <a:latin typeface="Google Sans"/>
              </a:rPr>
              <a:t>only if</a:t>
            </a:r>
            <a:r>
              <a:rPr lang="en-US" sz="3200" dirty="0">
                <a:latin typeface="Google Sans"/>
              </a:rPr>
              <a:t> there is a decimal point.</a:t>
            </a:r>
          </a:p>
          <a:p>
            <a:pPr>
              <a:buFont typeface="Arial" panose="020B0604020202020204" pitchFamily="34" charset="0"/>
              <a:buChar char="•"/>
            </a:pPr>
            <a:r>
              <a:rPr lang="en-US" sz="3200" b="1" dirty="0">
                <a:latin typeface="Google Sans"/>
              </a:rPr>
              <a:t>Rule 5:</a:t>
            </a:r>
            <a:r>
              <a:rPr lang="en-US" sz="3200" dirty="0">
                <a:latin typeface="Google Sans"/>
              </a:rPr>
              <a:t> In scientific notation, ignore the power of 10 and follow the above rules.</a:t>
            </a:r>
            <a:endParaRPr lang="en-US" sz="3200" b="0" u="none" strike="noStrike" dirty="0">
              <a:effectLst/>
              <a:latin typeface="Google Sans"/>
            </a:endParaRPr>
          </a:p>
        </p:txBody>
      </p:sp>
    </p:spTree>
    <p:extLst>
      <p:ext uri="{BB962C8B-B14F-4D97-AF65-F5344CB8AC3E}">
        <p14:creationId xmlns:p14="http://schemas.microsoft.com/office/powerpoint/2010/main" val="10819126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778466" y="679329"/>
            <a:ext cx="8334447" cy="5987563"/>
          </a:xfrm>
          <a:prstGeom prst="rect">
            <a:avLst/>
          </a:prstGeom>
        </p:spPr>
      </p:pic>
    </p:spTree>
    <p:extLst>
      <p:ext uri="{BB962C8B-B14F-4D97-AF65-F5344CB8AC3E}">
        <p14:creationId xmlns:p14="http://schemas.microsoft.com/office/powerpoint/2010/main" val="10593217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ignificant Figures: Definition, Examples, Rules, Roun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4457"/>
            <a:ext cx="8766263" cy="63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5931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3165" y="203608"/>
            <a:ext cx="6721837" cy="6511779"/>
          </a:xfrm>
          <a:prstGeom prst="rect">
            <a:avLst/>
          </a:prstGeom>
        </p:spPr>
      </p:pic>
    </p:spTree>
    <p:extLst>
      <p:ext uri="{BB962C8B-B14F-4D97-AF65-F5344CB8AC3E}">
        <p14:creationId xmlns:p14="http://schemas.microsoft.com/office/powerpoint/2010/main" val="12572489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ChangeArrowheads="1"/>
          </p:cNvSpPr>
          <p:nvPr/>
        </p:nvSpPr>
        <p:spPr bwMode="auto">
          <a:xfrm>
            <a:off x="1774825" y="115888"/>
            <a:ext cx="8642350"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200" b="1">
                <a:solidFill>
                  <a:srgbClr val="FF33CC"/>
                </a:solidFill>
              </a:rPr>
              <a:t>SCALARS AND VECTORS</a:t>
            </a:r>
          </a:p>
          <a:p>
            <a:pPr eaLnBrk="1" fontAlgn="base" hangingPunct="1">
              <a:spcBef>
                <a:spcPct val="0"/>
              </a:spcBef>
              <a:spcAft>
                <a:spcPct val="0"/>
              </a:spcAft>
            </a:pPr>
            <a:endParaRPr lang="en-IN" altLang="en-US" sz="2200" b="1">
              <a:solidFill>
                <a:srgbClr val="FF33CC"/>
              </a:solidFill>
            </a:endParaRPr>
          </a:p>
          <a:p>
            <a:pPr eaLnBrk="1" fontAlgn="base" hangingPunct="1">
              <a:spcBef>
                <a:spcPct val="0"/>
              </a:spcBef>
              <a:spcAft>
                <a:spcPct val="0"/>
              </a:spcAft>
            </a:pPr>
            <a:r>
              <a:rPr lang="en-US" altLang="en-US" b="1">
                <a:solidFill>
                  <a:srgbClr val="92D050"/>
                </a:solidFill>
              </a:rPr>
              <a:t>All the physical quantities can be divided into two types. </a:t>
            </a:r>
          </a:p>
          <a:p>
            <a:pPr eaLnBrk="1" fontAlgn="base" hangingPunct="1">
              <a:spcBef>
                <a:spcPct val="0"/>
              </a:spcBef>
              <a:spcAft>
                <a:spcPct val="0"/>
              </a:spcAft>
            </a:pPr>
            <a:r>
              <a:rPr lang="en-US" altLang="en-US" b="1">
                <a:solidFill>
                  <a:srgbClr val="92D050"/>
                </a:solidFill>
              </a:rPr>
              <a:t>They are:</a:t>
            </a:r>
            <a:endParaRPr lang="en-IN" altLang="en-US" b="1">
              <a:solidFill>
                <a:srgbClr val="92D050"/>
              </a:solidFill>
            </a:endParaRPr>
          </a:p>
          <a:p>
            <a:pPr eaLnBrk="1" fontAlgn="base" hangingPunct="1">
              <a:spcBef>
                <a:spcPct val="0"/>
              </a:spcBef>
              <a:spcAft>
                <a:spcPct val="0"/>
              </a:spcAft>
            </a:pPr>
            <a:r>
              <a:rPr lang="en-US" altLang="en-US" b="1">
                <a:solidFill>
                  <a:srgbClr val="CC66FF"/>
                </a:solidFill>
              </a:rPr>
              <a:t>(i) Scalars and</a:t>
            </a:r>
            <a:endParaRPr lang="en-IN" altLang="en-US" b="1">
              <a:solidFill>
                <a:srgbClr val="CC66FF"/>
              </a:solidFill>
            </a:endParaRPr>
          </a:p>
          <a:p>
            <a:pPr eaLnBrk="1" fontAlgn="base" hangingPunct="1">
              <a:spcBef>
                <a:spcPct val="0"/>
              </a:spcBef>
              <a:spcAft>
                <a:spcPct val="0"/>
              </a:spcAft>
            </a:pPr>
            <a:r>
              <a:rPr lang="en-US" altLang="en-US" b="1">
                <a:solidFill>
                  <a:srgbClr val="CC66FF"/>
                </a:solidFill>
              </a:rPr>
              <a:t>(ii) Vectors</a:t>
            </a:r>
          </a:p>
          <a:p>
            <a:pPr eaLnBrk="1" fontAlgn="base" hangingPunct="1">
              <a:spcBef>
                <a:spcPct val="0"/>
              </a:spcBef>
              <a:spcAft>
                <a:spcPct val="0"/>
              </a:spcAft>
            </a:pPr>
            <a:endParaRPr lang="en-US" altLang="en-US" b="1">
              <a:solidFill>
                <a:srgbClr val="FFC000"/>
              </a:solidFill>
            </a:endParaRPr>
          </a:p>
          <a:p>
            <a:pPr eaLnBrk="1" fontAlgn="base" hangingPunct="1">
              <a:spcBef>
                <a:spcPct val="0"/>
              </a:spcBef>
              <a:spcAft>
                <a:spcPct val="0"/>
              </a:spcAft>
            </a:pPr>
            <a:r>
              <a:rPr lang="en-US" altLang="en-US" b="1">
                <a:solidFill>
                  <a:srgbClr val="FFFFCC"/>
                </a:solidFill>
              </a:rPr>
              <a:t>The basic difference between them is the ′</a:t>
            </a:r>
            <a:r>
              <a:rPr lang="en-US" altLang="en-US" b="1">
                <a:solidFill>
                  <a:srgbClr val="FF0066"/>
                </a:solidFill>
              </a:rPr>
              <a:t>direction</a:t>
            </a:r>
            <a:r>
              <a:rPr lang="en-US" altLang="en-US" b="1">
                <a:solidFill>
                  <a:srgbClr val="FFFFCC"/>
                </a:solidFill>
              </a:rPr>
              <a:t>′.</a:t>
            </a:r>
            <a:endParaRPr lang="en-IN" altLang="en-US" b="1">
              <a:solidFill>
                <a:srgbClr val="FFFFCC"/>
              </a:solidFill>
            </a:endParaRPr>
          </a:p>
          <a:p>
            <a:pPr eaLnBrk="1" fontAlgn="base" hangingPunct="1">
              <a:spcBef>
                <a:spcPct val="0"/>
              </a:spcBef>
              <a:spcAft>
                <a:spcPct val="0"/>
              </a:spcAft>
            </a:pPr>
            <a:r>
              <a:rPr lang="en-US" altLang="en-US" b="1">
                <a:solidFill>
                  <a:srgbClr val="FFFFCC"/>
                </a:solidFill>
              </a:rPr>
              <a:t> </a:t>
            </a:r>
            <a:endParaRPr lang="en-IN" altLang="en-US" b="1">
              <a:solidFill>
                <a:srgbClr val="FFFFCC"/>
              </a:solidFill>
            </a:endParaRPr>
          </a:p>
          <a:p>
            <a:pPr eaLnBrk="1" fontAlgn="base" hangingPunct="1">
              <a:spcBef>
                <a:spcPct val="0"/>
              </a:spcBef>
              <a:spcAft>
                <a:spcPct val="0"/>
              </a:spcAft>
            </a:pPr>
            <a:r>
              <a:rPr lang="en-US" altLang="en-US" sz="2000" b="1">
                <a:solidFill>
                  <a:srgbClr val="FFC000"/>
                </a:solidFill>
              </a:rPr>
              <a:t>Scalar</a:t>
            </a:r>
            <a:endParaRPr lang="en-IN" altLang="en-US" sz="2000" b="1">
              <a:solidFill>
                <a:srgbClr val="FFC000"/>
              </a:solidFill>
            </a:endParaRPr>
          </a:p>
          <a:p>
            <a:pPr eaLnBrk="1" fontAlgn="base" hangingPunct="1">
              <a:spcBef>
                <a:spcPct val="0"/>
              </a:spcBef>
              <a:spcAft>
                <a:spcPct val="0"/>
              </a:spcAft>
            </a:pPr>
            <a:r>
              <a:rPr lang="en-US" altLang="en-US" b="1">
                <a:solidFill>
                  <a:srgbClr val="FFC000"/>
                </a:solidFill>
              </a:rPr>
              <a:t>A physical quantity which has a </a:t>
            </a:r>
            <a:r>
              <a:rPr lang="en-US" altLang="en-US" b="1">
                <a:solidFill>
                  <a:srgbClr val="0099FF"/>
                </a:solidFill>
              </a:rPr>
              <a:t>magnitude</a:t>
            </a:r>
            <a:r>
              <a:rPr lang="en-US" altLang="en-US" b="1">
                <a:solidFill>
                  <a:srgbClr val="FFC000"/>
                </a:solidFill>
              </a:rPr>
              <a:t> but </a:t>
            </a:r>
            <a:r>
              <a:rPr lang="en-US" altLang="en-US" b="1">
                <a:solidFill>
                  <a:srgbClr val="0099FF"/>
                </a:solidFill>
              </a:rPr>
              <a:t>no direction </a:t>
            </a:r>
            <a:r>
              <a:rPr lang="en-US" altLang="en-US" b="1">
                <a:solidFill>
                  <a:srgbClr val="FFC000"/>
                </a:solidFill>
              </a:rPr>
              <a:t>is called scalar.</a:t>
            </a:r>
          </a:p>
          <a:p>
            <a:pPr eaLnBrk="1" fontAlgn="base" hangingPunct="1">
              <a:spcBef>
                <a:spcPct val="0"/>
              </a:spcBef>
              <a:spcAft>
                <a:spcPct val="0"/>
              </a:spcAft>
            </a:pPr>
            <a:endParaRPr lang="en-IN" altLang="en-US" b="1">
              <a:solidFill>
                <a:srgbClr val="FFC000"/>
              </a:solidFill>
            </a:endParaRPr>
          </a:p>
          <a:p>
            <a:pPr eaLnBrk="1" fontAlgn="base" hangingPunct="1">
              <a:spcBef>
                <a:spcPct val="0"/>
              </a:spcBef>
              <a:spcAft>
                <a:spcPct val="0"/>
              </a:spcAft>
            </a:pPr>
            <a:r>
              <a:rPr lang="en-US" altLang="en-US" b="1">
                <a:solidFill>
                  <a:srgbClr val="00FF99"/>
                </a:solidFill>
              </a:rPr>
              <a:t>Example:</a:t>
            </a:r>
            <a:r>
              <a:rPr lang="en-US" altLang="en-US" b="1">
                <a:solidFill>
                  <a:srgbClr val="FFC000"/>
                </a:solidFill>
              </a:rPr>
              <a:t>  </a:t>
            </a:r>
            <a:r>
              <a:rPr lang="en-US" altLang="en-US" sz="2000" b="1">
                <a:solidFill>
                  <a:srgbClr val="CC66FF"/>
                </a:solidFill>
              </a:rPr>
              <a:t>M</a:t>
            </a:r>
            <a:r>
              <a:rPr lang="en-US" altLang="en-US" b="1">
                <a:solidFill>
                  <a:srgbClr val="CC66FF"/>
                </a:solidFill>
              </a:rPr>
              <a:t>ass, length, temperature, time, density, work, specific heat, etc.</a:t>
            </a:r>
            <a:endParaRPr lang="en-IN" altLang="en-US" b="1">
              <a:solidFill>
                <a:srgbClr val="CC66FF"/>
              </a:solidFill>
            </a:endParaRPr>
          </a:p>
          <a:p>
            <a:pPr eaLnBrk="1" fontAlgn="base" hangingPunct="1">
              <a:spcBef>
                <a:spcPct val="0"/>
              </a:spcBef>
              <a:spcAft>
                <a:spcPct val="0"/>
              </a:spcAft>
            </a:pPr>
            <a:endParaRPr lang="en-IN" altLang="en-US" b="1">
              <a:solidFill>
                <a:srgbClr val="CC66FF"/>
              </a:solidFill>
            </a:endParaRPr>
          </a:p>
          <a:p>
            <a:pPr eaLnBrk="1" fontAlgn="base" hangingPunct="1">
              <a:spcBef>
                <a:spcPct val="0"/>
              </a:spcBef>
              <a:spcAft>
                <a:spcPct val="0"/>
              </a:spcAft>
            </a:pPr>
            <a:r>
              <a:rPr lang="en-US" altLang="en-US" b="1">
                <a:solidFill>
                  <a:srgbClr val="FF99FF"/>
                </a:solidFill>
              </a:rPr>
              <a:t>A scalar may be </a:t>
            </a:r>
            <a:r>
              <a:rPr lang="en-US" altLang="en-US" b="1">
                <a:solidFill>
                  <a:srgbClr val="FF0066"/>
                </a:solidFill>
              </a:rPr>
              <a:t>positive or negative</a:t>
            </a:r>
            <a:r>
              <a:rPr lang="en-US" altLang="en-US" b="1">
                <a:solidFill>
                  <a:srgbClr val="FF99FF"/>
                </a:solidFill>
              </a:rPr>
              <a:t>.  Scalars can be added, subtracted, multiplied or divided according to rules of ordinary algebra.</a:t>
            </a:r>
          </a:p>
          <a:p>
            <a:pPr eaLnBrk="1" fontAlgn="base" hangingPunct="1">
              <a:spcBef>
                <a:spcPct val="0"/>
              </a:spcBef>
              <a:spcAft>
                <a:spcPct val="0"/>
              </a:spcAft>
            </a:pPr>
            <a:endParaRPr lang="en-US" altLang="en-US" b="1">
              <a:solidFill>
                <a:srgbClr val="FF99FF"/>
              </a:solidFill>
            </a:endParaRPr>
          </a:p>
          <a:p>
            <a:pPr eaLnBrk="1" fontAlgn="base" hangingPunct="1">
              <a:spcBef>
                <a:spcPct val="0"/>
              </a:spcBef>
              <a:spcAft>
                <a:spcPct val="0"/>
              </a:spcAft>
            </a:pPr>
            <a:r>
              <a:rPr lang="en-US" altLang="en-US" b="1">
                <a:solidFill>
                  <a:srgbClr val="00FF00"/>
                </a:solidFill>
              </a:rPr>
              <a:t>Addition and subtraction of scalars make sense only for quantities of </a:t>
            </a:r>
            <a:r>
              <a:rPr lang="en-US" altLang="en-US" b="1">
                <a:solidFill>
                  <a:srgbClr val="FF0066"/>
                </a:solidFill>
              </a:rPr>
              <a:t>same nature</a:t>
            </a:r>
            <a:r>
              <a:rPr lang="en-US" altLang="en-US" b="1">
                <a:solidFill>
                  <a:srgbClr val="00FF00"/>
                </a:solidFill>
              </a:rPr>
              <a:t>.  </a:t>
            </a:r>
          </a:p>
          <a:p>
            <a:pPr eaLnBrk="1" fontAlgn="base" hangingPunct="1">
              <a:spcBef>
                <a:spcPct val="0"/>
              </a:spcBef>
              <a:spcAft>
                <a:spcPct val="0"/>
              </a:spcAft>
            </a:pPr>
            <a:r>
              <a:rPr lang="en-US" altLang="en-US" b="1">
                <a:solidFill>
                  <a:srgbClr val="808000"/>
                </a:solidFill>
              </a:rPr>
              <a:t>However, multiplication and division can be performed with </a:t>
            </a:r>
            <a:r>
              <a:rPr lang="en-US" altLang="en-US" b="1">
                <a:solidFill>
                  <a:srgbClr val="FF0066"/>
                </a:solidFill>
              </a:rPr>
              <a:t>different quantities</a:t>
            </a:r>
            <a:r>
              <a:rPr lang="en-US" altLang="en-US" b="1">
                <a:solidFill>
                  <a:srgbClr val="808000"/>
                </a:solidFill>
              </a:rPr>
              <a:t>. </a:t>
            </a:r>
            <a:endParaRPr lang="en-IN" altLang="en-US" b="1">
              <a:solidFill>
                <a:srgbClr val="808000"/>
              </a:solidFill>
            </a:endParaRPr>
          </a:p>
        </p:txBody>
      </p:sp>
      <p:sp>
        <p:nvSpPr>
          <p:cNvPr id="3075" name="TextBox 2"/>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3076" name="TextBox 11"/>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3077" name="TextBox 12"/>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241353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074">
                                            <p:txEl>
                                              <p:pRg st="0" end="0"/>
                                            </p:txEl>
                                          </p:spTgt>
                                        </p:tgtEl>
                                        <p:attrNameLst>
                                          <p:attrName>style.visibility</p:attrName>
                                        </p:attrNameLst>
                                      </p:cBhvr>
                                      <p:to>
                                        <p:strVal val="visible"/>
                                      </p:to>
                                    </p:set>
                                    <p:animEffect transition="in" filter="wipe(left)">
                                      <p:cBhvr>
                                        <p:cTn id="7" dur="500"/>
                                        <p:tgtEl>
                                          <p:spTgt spid="30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74">
                                            <p:txEl>
                                              <p:pRg st="2" end="2"/>
                                            </p:txEl>
                                          </p:spTgt>
                                        </p:tgtEl>
                                        <p:attrNameLst>
                                          <p:attrName>style.visibility</p:attrName>
                                        </p:attrNameLst>
                                      </p:cBhvr>
                                      <p:to>
                                        <p:strVal val="visible"/>
                                      </p:to>
                                    </p:set>
                                    <p:animEffect transition="in" filter="wipe(up)">
                                      <p:cBhvr>
                                        <p:cTn id="12" dur="500"/>
                                        <p:tgtEl>
                                          <p:spTgt spid="3074">
                                            <p:txEl>
                                              <p:pRg st="2" end="2"/>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3074">
                                            <p:txEl>
                                              <p:pRg st="3" end="3"/>
                                            </p:txEl>
                                          </p:spTgt>
                                        </p:tgtEl>
                                        <p:attrNameLst>
                                          <p:attrName>style.visibility</p:attrName>
                                        </p:attrNameLst>
                                      </p:cBhvr>
                                      <p:to>
                                        <p:strVal val="visible"/>
                                      </p:to>
                                    </p:set>
                                    <p:animEffect transition="in" filter="wipe(up)">
                                      <p:cBhvr>
                                        <p:cTn id="15" dur="500"/>
                                        <p:tgtEl>
                                          <p:spTgt spid="3074">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3074">
                                            <p:txEl>
                                              <p:pRg st="4" end="4"/>
                                            </p:txEl>
                                          </p:spTgt>
                                        </p:tgtEl>
                                        <p:attrNameLst>
                                          <p:attrName>style.visibility</p:attrName>
                                        </p:attrNameLst>
                                      </p:cBhvr>
                                      <p:to>
                                        <p:strVal val="visible"/>
                                      </p:to>
                                    </p:set>
                                    <p:animEffect transition="in" filter="wipe(up)">
                                      <p:cBhvr>
                                        <p:cTn id="20" dur="500"/>
                                        <p:tgtEl>
                                          <p:spTgt spid="3074">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074">
                                            <p:txEl>
                                              <p:pRg st="5" end="5"/>
                                            </p:txEl>
                                          </p:spTgt>
                                        </p:tgtEl>
                                        <p:attrNameLst>
                                          <p:attrName>style.visibility</p:attrName>
                                        </p:attrNameLst>
                                      </p:cBhvr>
                                      <p:to>
                                        <p:strVal val="visible"/>
                                      </p:to>
                                    </p:set>
                                    <p:animEffect transition="in" filter="wipe(up)">
                                      <p:cBhvr>
                                        <p:cTn id="25" dur="500"/>
                                        <p:tgtEl>
                                          <p:spTgt spid="3074">
                                            <p:txEl>
                                              <p:pRg st="5" end="5"/>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074">
                                            <p:txEl>
                                              <p:pRg st="7" end="7"/>
                                            </p:txEl>
                                          </p:spTgt>
                                        </p:tgtEl>
                                        <p:attrNameLst>
                                          <p:attrName>style.visibility</p:attrName>
                                        </p:attrNameLst>
                                      </p:cBhvr>
                                      <p:to>
                                        <p:strVal val="visible"/>
                                      </p:to>
                                    </p:set>
                                    <p:animEffect transition="in" filter="wipe(up)">
                                      <p:cBhvr>
                                        <p:cTn id="30" dur="500"/>
                                        <p:tgtEl>
                                          <p:spTgt spid="3074">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3074">
                                            <p:txEl>
                                              <p:pRg st="9" end="9"/>
                                            </p:txEl>
                                          </p:spTgt>
                                        </p:tgtEl>
                                        <p:attrNameLst>
                                          <p:attrName>style.visibility</p:attrName>
                                        </p:attrNameLst>
                                      </p:cBhvr>
                                      <p:to>
                                        <p:strVal val="visible"/>
                                      </p:to>
                                    </p:set>
                                    <p:animEffect transition="in" filter="wipe(up)">
                                      <p:cBhvr>
                                        <p:cTn id="35" dur="500"/>
                                        <p:tgtEl>
                                          <p:spTgt spid="3074">
                                            <p:txEl>
                                              <p:pRg st="9" end="9"/>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3074">
                                            <p:txEl>
                                              <p:pRg st="10" end="10"/>
                                            </p:txEl>
                                          </p:spTgt>
                                        </p:tgtEl>
                                        <p:attrNameLst>
                                          <p:attrName>style.visibility</p:attrName>
                                        </p:attrNameLst>
                                      </p:cBhvr>
                                      <p:to>
                                        <p:strVal val="visible"/>
                                      </p:to>
                                    </p:set>
                                    <p:animEffect transition="in" filter="wipe(up)">
                                      <p:cBhvr>
                                        <p:cTn id="40" dur="500"/>
                                        <p:tgtEl>
                                          <p:spTgt spid="3074">
                                            <p:txEl>
                                              <p:pRg st="10" end="1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3074">
                                            <p:txEl>
                                              <p:pRg st="12" end="12"/>
                                            </p:txEl>
                                          </p:spTgt>
                                        </p:tgtEl>
                                        <p:attrNameLst>
                                          <p:attrName>style.visibility</p:attrName>
                                        </p:attrNameLst>
                                      </p:cBhvr>
                                      <p:to>
                                        <p:strVal val="visible"/>
                                      </p:to>
                                    </p:set>
                                    <p:animEffect transition="in" filter="wipe(up)">
                                      <p:cBhvr>
                                        <p:cTn id="45" dur="500"/>
                                        <p:tgtEl>
                                          <p:spTgt spid="3074">
                                            <p:txEl>
                                              <p:pRg st="12" end="12"/>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3074">
                                            <p:txEl>
                                              <p:pRg st="14" end="14"/>
                                            </p:txEl>
                                          </p:spTgt>
                                        </p:tgtEl>
                                        <p:attrNameLst>
                                          <p:attrName>style.visibility</p:attrName>
                                        </p:attrNameLst>
                                      </p:cBhvr>
                                      <p:to>
                                        <p:strVal val="visible"/>
                                      </p:to>
                                    </p:set>
                                    <p:animEffect transition="in" filter="wipe(up)">
                                      <p:cBhvr>
                                        <p:cTn id="50" dur="500"/>
                                        <p:tgtEl>
                                          <p:spTgt spid="3074">
                                            <p:txEl>
                                              <p:pRg st="14" end="14"/>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3074">
                                            <p:txEl>
                                              <p:pRg st="16" end="16"/>
                                            </p:txEl>
                                          </p:spTgt>
                                        </p:tgtEl>
                                        <p:attrNameLst>
                                          <p:attrName>style.visibility</p:attrName>
                                        </p:attrNameLst>
                                      </p:cBhvr>
                                      <p:to>
                                        <p:strVal val="visible"/>
                                      </p:to>
                                    </p:set>
                                    <p:animEffect transition="in" filter="wipe(up)">
                                      <p:cBhvr>
                                        <p:cTn id="55" dur="500"/>
                                        <p:tgtEl>
                                          <p:spTgt spid="3074">
                                            <p:txEl>
                                              <p:pRg st="16" end="16"/>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3074">
                                            <p:txEl>
                                              <p:pRg st="17" end="17"/>
                                            </p:txEl>
                                          </p:spTgt>
                                        </p:tgtEl>
                                        <p:attrNameLst>
                                          <p:attrName>style.visibility</p:attrName>
                                        </p:attrNameLst>
                                      </p:cBhvr>
                                      <p:to>
                                        <p:strVal val="visible"/>
                                      </p:to>
                                    </p:set>
                                    <p:animEffect transition="in" filter="wipe(up)">
                                      <p:cBhvr>
                                        <p:cTn id="60" dur="500"/>
                                        <p:tgtEl>
                                          <p:spTgt spid="307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ChangeArrowheads="1"/>
          </p:cNvSpPr>
          <p:nvPr/>
        </p:nvSpPr>
        <p:spPr bwMode="auto">
          <a:xfrm>
            <a:off x="1703389" y="44451"/>
            <a:ext cx="889317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00FF00"/>
                </a:solidFill>
              </a:rPr>
              <a:t>Vector</a:t>
            </a:r>
            <a:endParaRPr lang="en-IN" altLang="en-US" sz="2000" b="1">
              <a:solidFill>
                <a:srgbClr val="00FF00"/>
              </a:solidFill>
            </a:endParaRPr>
          </a:p>
          <a:p>
            <a:pPr eaLnBrk="1" fontAlgn="base" hangingPunct="1">
              <a:spcBef>
                <a:spcPct val="0"/>
              </a:spcBef>
              <a:spcAft>
                <a:spcPct val="0"/>
              </a:spcAft>
            </a:pPr>
            <a:r>
              <a:rPr lang="en-US" altLang="en-US" b="1">
                <a:solidFill>
                  <a:srgbClr val="00FF00"/>
                </a:solidFill>
              </a:rPr>
              <a:t>A physical quantity which has both </a:t>
            </a:r>
            <a:r>
              <a:rPr lang="en-US" altLang="en-US" b="1">
                <a:solidFill>
                  <a:srgbClr val="0099FF"/>
                </a:solidFill>
              </a:rPr>
              <a:t>magnitude</a:t>
            </a:r>
            <a:r>
              <a:rPr lang="en-US" altLang="en-US" b="1">
                <a:solidFill>
                  <a:srgbClr val="00FF00"/>
                </a:solidFill>
              </a:rPr>
              <a:t> and </a:t>
            </a:r>
            <a:r>
              <a:rPr lang="en-US" altLang="en-US" b="1">
                <a:solidFill>
                  <a:srgbClr val="0099FF"/>
                </a:solidFill>
              </a:rPr>
              <a:t>direction</a:t>
            </a:r>
            <a:r>
              <a:rPr lang="en-US" altLang="en-US" b="1">
                <a:solidFill>
                  <a:srgbClr val="00FF00"/>
                </a:solidFill>
              </a:rPr>
              <a:t> is called vector. </a:t>
            </a:r>
            <a:endParaRPr lang="en-IN" altLang="en-US" b="1">
              <a:solidFill>
                <a:srgbClr val="00FF00"/>
              </a:solidFill>
            </a:endParaRPr>
          </a:p>
          <a:p>
            <a:pPr eaLnBrk="1" fontAlgn="base" hangingPunct="1">
              <a:spcBef>
                <a:spcPct val="0"/>
              </a:spcBef>
              <a:spcAft>
                <a:spcPct val="0"/>
              </a:spcAft>
            </a:pPr>
            <a:r>
              <a:rPr lang="en-US" altLang="en-US" b="1">
                <a:solidFill>
                  <a:srgbClr val="00FF99"/>
                </a:solidFill>
              </a:rPr>
              <a:t>Example:</a:t>
            </a:r>
            <a:r>
              <a:rPr lang="en-US" altLang="en-US" b="1">
                <a:solidFill>
                  <a:srgbClr val="FFCCFF"/>
                </a:solidFill>
              </a:rPr>
              <a:t> </a:t>
            </a:r>
            <a:r>
              <a:rPr lang="en-US" altLang="en-US" b="1">
                <a:solidFill>
                  <a:srgbClr val="FFC000"/>
                </a:solidFill>
              </a:rPr>
              <a:t>Velocity, acceleration, displacement, force, momentum, torque, etc.</a:t>
            </a:r>
            <a:endParaRPr lang="en-IN" altLang="en-US" b="1">
              <a:solidFill>
                <a:srgbClr val="FFC000"/>
              </a:solidFill>
            </a:endParaRPr>
          </a:p>
          <a:p>
            <a:pPr eaLnBrk="1" fontAlgn="base" hangingPunct="1">
              <a:spcBef>
                <a:spcPct val="0"/>
              </a:spcBef>
              <a:spcAft>
                <a:spcPct val="0"/>
              </a:spcAft>
            </a:pPr>
            <a:endParaRPr lang="en-IN" altLang="en-US" b="1">
              <a:solidFill>
                <a:srgbClr val="FFC000"/>
              </a:solidFill>
            </a:endParaRPr>
          </a:p>
          <a:p>
            <a:pPr eaLnBrk="1" fontAlgn="base" hangingPunct="1">
              <a:spcBef>
                <a:spcPct val="0"/>
              </a:spcBef>
              <a:spcAft>
                <a:spcPct val="0"/>
              </a:spcAft>
            </a:pPr>
            <a:r>
              <a:rPr lang="en-US" altLang="en-US" b="1">
                <a:solidFill>
                  <a:srgbClr val="FFCCFF"/>
                </a:solidFill>
              </a:rPr>
              <a:t>Vectors </a:t>
            </a:r>
            <a:r>
              <a:rPr lang="en-US" altLang="en-US" b="1">
                <a:solidFill>
                  <a:srgbClr val="FF0066"/>
                </a:solidFill>
              </a:rPr>
              <a:t>cannot</a:t>
            </a:r>
            <a:r>
              <a:rPr lang="en-US" altLang="en-US" b="1">
                <a:solidFill>
                  <a:srgbClr val="FFCCFF"/>
                </a:solidFill>
              </a:rPr>
              <a:t> be added, subtracted, multiplied or divided according to </a:t>
            </a:r>
            <a:r>
              <a:rPr lang="en-US" altLang="en-US" b="1">
                <a:solidFill>
                  <a:srgbClr val="FF0066"/>
                </a:solidFill>
              </a:rPr>
              <a:t>simple</a:t>
            </a:r>
            <a:r>
              <a:rPr lang="en-US" altLang="en-US" b="1">
                <a:solidFill>
                  <a:srgbClr val="FFCCFF"/>
                </a:solidFill>
              </a:rPr>
              <a:t> rules of </a:t>
            </a:r>
            <a:r>
              <a:rPr lang="en-US" altLang="en-US" b="1">
                <a:solidFill>
                  <a:srgbClr val="FF0066"/>
                </a:solidFill>
              </a:rPr>
              <a:t>algebra</a:t>
            </a:r>
            <a:r>
              <a:rPr lang="en-US" altLang="en-US" b="1">
                <a:solidFill>
                  <a:srgbClr val="FFCCFF"/>
                </a:solidFill>
              </a:rPr>
              <a:t>.</a:t>
            </a:r>
          </a:p>
          <a:p>
            <a:pPr eaLnBrk="1" fontAlgn="base" hangingPunct="1">
              <a:spcBef>
                <a:spcPct val="0"/>
              </a:spcBef>
              <a:spcAft>
                <a:spcPct val="0"/>
              </a:spcAft>
            </a:pPr>
            <a:endParaRPr lang="en-IN" altLang="en-US" b="1">
              <a:solidFill>
                <a:srgbClr val="FFCCFF"/>
              </a:solidFill>
            </a:endParaRPr>
          </a:p>
          <a:p>
            <a:pPr eaLnBrk="1" fontAlgn="base" hangingPunct="1">
              <a:spcBef>
                <a:spcPct val="0"/>
              </a:spcBef>
              <a:spcAft>
                <a:spcPct val="0"/>
              </a:spcAft>
            </a:pPr>
            <a:r>
              <a:rPr lang="en-US" altLang="en-US" b="1">
                <a:solidFill>
                  <a:srgbClr val="FF33CC"/>
                </a:solidFill>
              </a:rPr>
              <a:t>Vectors </a:t>
            </a:r>
            <a:r>
              <a:rPr lang="en-US" altLang="en-US" b="1">
                <a:solidFill>
                  <a:srgbClr val="FFFFCC"/>
                </a:solidFill>
              </a:rPr>
              <a:t>can be </a:t>
            </a:r>
            <a:r>
              <a:rPr lang="en-US" altLang="en-US" b="1">
                <a:solidFill>
                  <a:srgbClr val="FF33CC"/>
                </a:solidFill>
              </a:rPr>
              <a:t>added, subtracted or multiplied according to the rules of </a:t>
            </a:r>
            <a:r>
              <a:rPr lang="en-US" altLang="en-US" b="1">
                <a:solidFill>
                  <a:srgbClr val="FFFFCC"/>
                </a:solidFill>
              </a:rPr>
              <a:t>vector algebra</a:t>
            </a:r>
            <a:r>
              <a:rPr lang="en-US" altLang="en-US" b="1">
                <a:solidFill>
                  <a:srgbClr val="FF33CC"/>
                </a:solidFill>
              </a:rPr>
              <a:t>.</a:t>
            </a:r>
            <a:endParaRPr lang="en-IN" altLang="en-US" b="1">
              <a:solidFill>
                <a:srgbClr val="FF33CC"/>
              </a:solidFill>
            </a:endParaRPr>
          </a:p>
          <a:p>
            <a:pPr eaLnBrk="1" fontAlgn="base" hangingPunct="1">
              <a:spcBef>
                <a:spcPct val="0"/>
              </a:spcBef>
              <a:spcAft>
                <a:spcPct val="0"/>
              </a:spcAft>
            </a:pPr>
            <a:r>
              <a:rPr lang="en-US" altLang="en-US" b="1">
                <a:solidFill>
                  <a:srgbClr val="FFCCFF"/>
                </a:solidFill>
              </a:rPr>
              <a:t> </a:t>
            </a:r>
            <a:endParaRPr lang="en-IN" altLang="en-US" b="1">
              <a:solidFill>
                <a:srgbClr val="FFCCFF"/>
              </a:solidFill>
            </a:endParaRPr>
          </a:p>
          <a:p>
            <a:pPr eaLnBrk="1" fontAlgn="base" hangingPunct="1">
              <a:spcBef>
                <a:spcPct val="0"/>
              </a:spcBef>
              <a:spcAft>
                <a:spcPct val="0"/>
              </a:spcAft>
            </a:pPr>
            <a:r>
              <a:rPr lang="en-US" altLang="en-US" b="1">
                <a:solidFill>
                  <a:srgbClr val="FF0000"/>
                </a:solidFill>
              </a:rPr>
              <a:t>A vector </a:t>
            </a:r>
            <a:r>
              <a:rPr lang="en-US" altLang="en-US" b="1">
                <a:solidFill>
                  <a:srgbClr val="FFCCFF"/>
                </a:solidFill>
              </a:rPr>
              <a:t>cannot be divided </a:t>
            </a:r>
            <a:r>
              <a:rPr lang="en-US" altLang="en-US" b="1">
                <a:solidFill>
                  <a:srgbClr val="FF0000"/>
                </a:solidFill>
              </a:rPr>
              <a:t>by another vector as it is not a valid operation in vector algebra.</a:t>
            </a:r>
          </a:p>
          <a:p>
            <a:pPr eaLnBrk="1" fontAlgn="base" hangingPunct="1">
              <a:spcBef>
                <a:spcPct val="0"/>
              </a:spcBef>
              <a:spcAft>
                <a:spcPct val="0"/>
              </a:spcAft>
            </a:pPr>
            <a:endParaRPr lang="en-IN" altLang="en-US" b="1">
              <a:solidFill>
                <a:srgbClr val="FFCCFF"/>
              </a:solidFill>
            </a:endParaRPr>
          </a:p>
          <a:p>
            <a:pPr eaLnBrk="1" fontAlgn="base" hangingPunct="1">
              <a:spcBef>
                <a:spcPct val="0"/>
              </a:spcBef>
              <a:spcAft>
                <a:spcPct val="0"/>
              </a:spcAft>
            </a:pPr>
            <a:r>
              <a:rPr lang="en-US" altLang="en-US" b="1">
                <a:solidFill>
                  <a:srgbClr val="00FF99"/>
                </a:solidFill>
              </a:rPr>
              <a:t>A vector quantity obeys the ′</a:t>
            </a:r>
            <a:r>
              <a:rPr lang="en-US" altLang="en-US" b="1">
                <a:solidFill>
                  <a:srgbClr val="FF0066"/>
                </a:solidFill>
              </a:rPr>
              <a:t>triangle law of addition</a:t>
            </a:r>
            <a:r>
              <a:rPr lang="en-US" altLang="en-US" b="1">
                <a:solidFill>
                  <a:srgbClr val="00FF99"/>
                </a:solidFill>
              </a:rPr>
              <a:t>′ or equivalently the ′</a:t>
            </a:r>
            <a:r>
              <a:rPr lang="en-US" altLang="en-US" b="1">
                <a:solidFill>
                  <a:srgbClr val="FF0066"/>
                </a:solidFill>
              </a:rPr>
              <a:t>parallelogram law of addition</a:t>
            </a:r>
            <a:r>
              <a:rPr lang="en-US" altLang="en-US" b="1">
                <a:solidFill>
                  <a:srgbClr val="00FF99"/>
                </a:solidFill>
              </a:rPr>
              <a:t>′.</a:t>
            </a:r>
            <a:endParaRPr lang="en-IN" altLang="en-US" b="1">
              <a:solidFill>
                <a:srgbClr val="00FF99"/>
              </a:solidFill>
            </a:endParaRPr>
          </a:p>
        </p:txBody>
      </p:sp>
      <p:sp>
        <p:nvSpPr>
          <p:cNvPr id="4099" name="Rectangle 8"/>
          <p:cNvSpPr>
            <a:spLocks noChangeArrowheads="1"/>
          </p:cNvSpPr>
          <p:nvPr/>
        </p:nvSpPr>
        <p:spPr bwMode="auto">
          <a:xfrm>
            <a:off x="1703388" y="4365626"/>
            <a:ext cx="52578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CCCC00"/>
                </a:solidFill>
              </a:rPr>
              <a:t>A vector is represented as a </a:t>
            </a:r>
            <a:r>
              <a:rPr lang="en-US" altLang="en-US" b="1">
                <a:solidFill>
                  <a:srgbClr val="FF00FF"/>
                </a:solidFill>
              </a:rPr>
              <a:t>bold face </a:t>
            </a:r>
            <a:r>
              <a:rPr lang="en-US" altLang="en-US">
                <a:solidFill>
                  <a:srgbClr val="CCCC00"/>
                </a:solidFill>
              </a:rPr>
              <a:t>type. </a:t>
            </a:r>
          </a:p>
          <a:p>
            <a:pPr eaLnBrk="1" fontAlgn="base" hangingPunct="1">
              <a:spcBef>
                <a:spcPct val="0"/>
              </a:spcBef>
              <a:spcAft>
                <a:spcPct val="0"/>
              </a:spcAft>
            </a:pPr>
            <a:r>
              <a:rPr lang="en-US" altLang="en-US">
                <a:solidFill>
                  <a:srgbClr val="CCCC00"/>
                </a:solidFill>
              </a:rPr>
              <a:t>For example, velocity vector is represented as </a:t>
            </a:r>
            <a:r>
              <a:rPr lang="en-US" altLang="en-US" sz="2000" b="1">
                <a:solidFill>
                  <a:srgbClr val="00B0F0"/>
                </a:solidFill>
              </a:rPr>
              <a:t>v</a:t>
            </a:r>
            <a:r>
              <a:rPr lang="en-US" altLang="en-US" sz="2000" b="1">
                <a:solidFill>
                  <a:srgbClr val="CCCC00"/>
                </a:solidFill>
              </a:rPr>
              <a:t>.</a:t>
            </a:r>
          </a:p>
        </p:txBody>
      </p:sp>
      <p:grpSp>
        <p:nvGrpSpPr>
          <p:cNvPr id="4100" name="Group 15"/>
          <p:cNvGrpSpPr>
            <a:grpSpLocks/>
          </p:cNvGrpSpPr>
          <p:nvPr/>
        </p:nvGrpSpPr>
        <p:grpSpPr bwMode="auto">
          <a:xfrm>
            <a:off x="1703388" y="5026026"/>
            <a:ext cx="8208962" cy="646113"/>
            <a:chOff x="251521" y="5169966"/>
            <a:chExt cx="8208679" cy="646331"/>
          </a:xfrm>
        </p:grpSpPr>
        <p:grpSp>
          <p:nvGrpSpPr>
            <p:cNvPr id="4110" name="Group 11"/>
            <p:cNvGrpSpPr>
              <a:grpSpLocks/>
            </p:cNvGrpSpPr>
            <p:nvPr/>
          </p:nvGrpSpPr>
          <p:grpSpPr bwMode="auto">
            <a:xfrm>
              <a:off x="2668038" y="5445224"/>
              <a:ext cx="247778" cy="369332"/>
              <a:chOff x="3851920" y="6237312"/>
              <a:chExt cx="247778" cy="369332"/>
            </a:xfrm>
          </p:grpSpPr>
          <p:cxnSp>
            <p:nvCxnSpPr>
              <p:cNvPr id="10" name="Straight Arrow Connector 9"/>
              <p:cNvCxnSpPr/>
              <p:nvPr/>
            </p:nvCxnSpPr>
            <p:spPr bwMode="auto">
              <a:xfrm>
                <a:off x="3927692" y="6308246"/>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13" name="TextBox 10"/>
              <p:cNvSpPr txBox="1">
                <a:spLocks noChangeArrowheads="1"/>
              </p:cNvSpPr>
              <p:nvPr/>
            </p:nvSpPr>
            <p:spPr bwMode="auto">
              <a:xfrm>
                <a:off x="3851920" y="6237312"/>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v</a:t>
                </a:r>
                <a:endParaRPr lang="en-IN" altLang="en-US">
                  <a:solidFill>
                    <a:srgbClr val="FFCCFF"/>
                  </a:solidFill>
                </a:endParaRPr>
              </a:p>
            </p:txBody>
          </p:sp>
        </p:grpSp>
        <p:sp>
          <p:nvSpPr>
            <p:cNvPr id="4111" name="Rectangle 12"/>
            <p:cNvSpPr>
              <a:spLocks noChangeArrowheads="1"/>
            </p:cNvSpPr>
            <p:nvPr/>
          </p:nvSpPr>
          <p:spPr bwMode="auto">
            <a:xfrm>
              <a:off x="251521" y="5169966"/>
              <a:ext cx="82086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6600"/>
                  </a:solidFill>
                </a:rPr>
                <a:t>While writing it is difficult to reproduce </a:t>
              </a:r>
              <a:r>
                <a:rPr lang="en-US" altLang="en-US" b="1">
                  <a:solidFill>
                    <a:srgbClr val="FF00FF"/>
                  </a:solidFill>
                </a:rPr>
                <a:t>bold face </a:t>
              </a:r>
              <a:r>
                <a:rPr lang="en-US" altLang="en-US">
                  <a:solidFill>
                    <a:srgbClr val="FF6600"/>
                  </a:solidFill>
                </a:rPr>
                <a:t>type.  Therefore, a vector can also be represented as   .</a:t>
              </a:r>
              <a:endParaRPr lang="en-IN" altLang="en-US">
                <a:solidFill>
                  <a:srgbClr val="FF6600"/>
                </a:solidFill>
              </a:endParaRPr>
            </a:p>
          </p:txBody>
        </p:sp>
      </p:grpSp>
      <p:grpSp>
        <p:nvGrpSpPr>
          <p:cNvPr id="4101" name="Group 20"/>
          <p:cNvGrpSpPr>
            <a:grpSpLocks/>
          </p:cNvGrpSpPr>
          <p:nvPr/>
        </p:nvGrpSpPr>
        <p:grpSpPr bwMode="auto">
          <a:xfrm>
            <a:off x="1703389" y="5632451"/>
            <a:ext cx="7362825" cy="677863"/>
            <a:chOff x="251520" y="5776228"/>
            <a:chExt cx="7361711" cy="677108"/>
          </a:xfrm>
        </p:grpSpPr>
        <p:sp>
          <p:nvSpPr>
            <p:cNvPr id="4106" name="Rectangle 16"/>
            <p:cNvSpPr>
              <a:spLocks noChangeArrowheads="1"/>
            </p:cNvSpPr>
            <p:nvPr/>
          </p:nvSpPr>
          <p:spPr bwMode="auto">
            <a:xfrm>
              <a:off x="251520" y="5776228"/>
              <a:ext cx="736171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B0F0"/>
                  </a:solidFill>
                </a:rPr>
                <a:t>Magnitude (scalar part) of a vector is represented as a </a:t>
              </a:r>
              <a:r>
                <a:rPr lang="en-US" altLang="en-US">
                  <a:solidFill>
                    <a:srgbClr val="FFFFCC"/>
                  </a:solidFill>
                </a:rPr>
                <a:t>light face </a:t>
              </a:r>
              <a:r>
                <a:rPr lang="en-US" altLang="en-US">
                  <a:solidFill>
                    <a:srgbClr val="00B0F0"/>
                  </a:solidFill>
                </a:rPr>
                <a:t>type. </a:t>
              </a:r>
            </a:p>
            <a:p>
              <a:pPr eaLnBrk="1" fontAlgn="base" hangingPunct="1">
                <a:spcBef>
                  <a:spcPct val="0"/>
                </a:spcBef>
                <a:spcAft>
                  <a:spcPct val="0"/>
                </a:spcAft>
              </a:pPr>
              <a:r>
                <a:rPr lang="en-US" altLang="en-US">
                  <a:solidFill>
                    <a:srgbClr val="00B0F0"/>
                  </a:solidFill>
                </a:rPr>
                <a:t>For example, magnitude of velocity vector is represented as </a:t>
              </a:r>
              <a:r>
                <a:rPr lang="en-US" altLang="en-US">
                  <a:solidFill>
                    <a:srgbClr val="FFCCFF"/>
                  </a:solidFill>
                </a:rPr>
                <a:t>v</a:t>
              </a:r>
              <a:r>
                <a:rPr lang="en-US" altLang="en-US">
                  <a:solidFill>
                    <a:srgbClr val="00B0F0"/>
                  </a:solidFill>
                </a:rPr>
                <a:t> or       </a:t>
              </a:r>
              <a:r>
                <a:rPr lang="en-US" altLang="en-US" sz="2000">
                  <a:solidFill>
                    <a:srgbClr val="00B0F0"/>
                  </a:solidFill>
                </a:rPr>
                <a:t>.</a:t>
              </a:r>
            </a:p>
          </p:txBody>
        </p:sp>
        <p:grpSp>
          <p:nvGrpSpPr>
            <p:cNvPr id="4107" name="Group 17"/>
            <p:cNvGrpSpPr>
              <a:grpSpLocks/>
            </p:cNvGrpSpPr>
            <p:nvPr/>
          </p:nvGrpSpPr>
          <p:grpSpPr bwMode="auto">
            <a:xfrm>
              <a:off x="6831142" y="6070539"/>
              <a:ext cx="607818" cy="369332"/>
              <a:chOff x="2668038" y="3717032"/>
              <a:chExt cx="607818" cy="369332"/>
            </a:xfrm>
          </p:grpSpPr>
          <p:cxnSp>
            <p:nvCxnSpPr>
              <p:cNvPr id="19" name="Straight Arrow Connector 18"/>
              <p:cNvCxnSpPr/>
              <p:nvPr/>
            </p:nvCxnSpPr>
            <p:spPr bwMode="auto">
              <a:xfrm>
                <a:off x="2869190" y="3789026"/>
                <a:ext cx="17142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09" name="TextBox 19"/>
              <p:cNvSpPr txBox="1">
                <a:spLocks noChangeArrowheads="1"/>
              </p:cNvSpPr>
              <p:nvPr/>
            </p:nvSpPr>
            <p:spPr bwMode="auto">
              <a:xfrm>
                <a:off x="2668038" y="3717032"/>
                <a:ext cx="607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 v |</a:t>
                </a:r>
                <a:endParaRPr lang="en-IN" altLang="en-US">
                  <a:solidFill>
                    <a:srgbClr val="FFCCFF"/>
                  </a:solidFill>
                </a:endParaRPr>
              </a:p>
            </p:txBody>
          </p:sp>
        </p:grpSp>
      </p:grpSp>
      <p:sp>
        <p:nvSpPr>
          <p:cNvPr id="2" name="Rectangle 1"/>
          <p:cNvSpPr/>
          <p:nvPr/>
        </p:nvSpPr>
        <p:spPr>
          <a:xfrm>
            <a:off x="1703389" y="4365625"/>
            <a:ext cx="8116887" cy="1944688"/>
          </a:xfrm>
          <a:prstGeom prst="rect">
            <a:avLst/>
          </a:prstGeom>
          <a:noFill/>
          <a:ln>
            <a:solidFill>
              <a:srgbClr val="808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sp>
        <p:nvSpPr>
          <p:cNvPr id="4103" name="TextBox 17"/>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4104" name="TextBox 19"/>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4105" name="TextBox 20"/>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3288074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098">
                                            <p:txEl>
                                              <p:pRg st="0" end="0"/>
                                            </p:txEl>
                                          </p:spTgt>
                                        </p:tgtEl>
                                        <p:attrNameLst>
                                          <p:attrName>style.visibility</p:attrName>
                                        </p:attrNameLst>
                                      </p:cBhvr>
                                      <p:to>
                                        <p:strVal val="visible"/>
                                      </p:to>
                                    </p:set>
                                    <p:animEffect transition="in" filter="wipe(up)">
                                      <p:cBhvr>
                                        <p:cTn id="7" dur="500"/>
                                        <p:tgtEl>
                                          <p:spTgt spid="409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8">
                                            <p:txEl>
                                              <p:pRg st="1" end="1"/>
                                            </p:txEl>
                                          </p:spTgt>
                                        </p:tgtEl>
                                        <p:attrNameLst>
                                          <p:attrName>style.visibility</p:attrName>
                                        </p:attrNameLst>
                                      </p:cBhvr>
                                      <p:to>
                                        <p:strVal val="visible"/>
                                      </p:to>
                                    </p:set>
                                    <p:animEffect transition="in" filter="wipe(left)">
                                      <p:cBhvr>
                                        <p:cTn id="12" dur="500"/>
                                        <p:tgtEl>
                                          <p:spTgt spid="409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98">
                                            <p:txEl>
                                              <p:pRg st="2" end="2"/>
                                            </p:txEl>
                                          </p:spTgt>
                                        </p:tgtEl>
                                        <p:attrNameLst>
                                          <p:attrName>style.visibility</p:attrName>
                                        </p:attrNameLst>
                                      </p:cBhvr>
                                      <p:to>
                                        <p:strVal val="visible"/>
                                      </p:to>
                                    </p:set>
                                    <p:animEffect transition="in" filter="wipe(left)">
                                      <p:cBhvr>
                                        <p:cTn id="17" dur="500"/>
                                        <p:tgtEl>
                                          <p:spTgt spid="409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098">
                                            <p:txEl>
                                              <p:pRg st="4" end="4"/>
                                            </p:txEl>
                                          </p:spTgt>
                                        </p:tgtEl>
                                        <p:attrNameLst>
                                          <p:attrName>style.visibility</p:attrName>
                                        </p:attrNameLst>
                                      </p:cBhvr>
                                      <p:to>
                                        <p:strVal val="visible"/>
                                      </p:to>
                                    </p:set>
                                    <p:animEffect transition="in" filter="wipe(left)">
                                      <p:cBhvr>
                                        <p:cTn id="22" dur="500"/>
                                        <p:tgtEl>
                                          <p:spTgt spid="4098">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098">
                                            <p:txEl>
                                              <p:pRg st="6" end="6"/>
                                            </p:txEl>
                                          </p:spTgt>
                                        </p:tgtEl>
                                        <p:attrNameLst>
                                          <p:attrName>style.visibility</p:attrName>
                                        </p:attrNameLst>
                                      </p:cBhvr>
                                      <p:to>
                                        <p:strVal val="visible"/>
                                      </p:to>
                                    </p:set>
                                    <p:animEffect transition="in" filter="wipe(left)">
                                      <p:cBhvr>
                                        <p:cTn id="27" dur="500"/>
                                        <p:tgtEl>
                                          <p:spTgt spid="4098">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098">
                                            <p:txEl>
                                              <p:pRg st="8" end="8"/>
                                            </p:txEl>
                                          </p:spTgt>
                                        </p:tgtEl>
                                        <p:attrNameLst>
                                          <p:attrName>style.visibility</p:attrName>
                                        </p:attrNameLst>
                                      </p:cBhvr>
                                      <p:to>
                                        <p:strVal val="visible"/>
                                      </p:to>
                                    </p:set>
                                    <p:animEffect transition="in" filter="wipe(left)">
                                      <p:cBhvr>
                                        <p:cTn id="32" dur="500"/>
                                        <p:tgtEl>
                                          <p:spTgt spid="4098">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098">
                                            <p:txEl>
                                              <p:pRg st="10" end="10"/>
                                            </p:txEl>
                                          </p:spTgt>
                                        </p:tgtEl>
                                        <p:attrNameLst>
                                          <p:attrName>style.visibility</p:attrName>
                                        </p:attrNameLst>
                                      </p:cBhvr>
                                      <p:to>
                                        <p:strVal val="visible"/>
                                      </p:to>
                                    </p:set>
                                    <p:animEffect transition="in" filter="wipe(left)">
                                      <p:cBhvr>
                                        <p:cTn id="37" dur="500"/>
                                        <p:tgtEl>
                                          <p:spTgt spid="4098">
                                            <p:txEl>
                                              <p:pRg st="10" end="1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4099">
                                            <p:txEl>
                                              <p:pRg st="0" end="0"/>
                                            </p:txEl>
                                          </p:spTgt>
                                        </p:tgtEl>
                                        <p:attrNameLst>
                                          <p:attrName>style.visibility</p:attrName>
                                        </p:attrNameLst>
                                      </p:cBhvr>
                                      <p:to>
                                        <p:strVal val="visible"/>
                                      </p:to>
                                    </p:set>
                                    <p:anim calcmode="lin" valueType="num">
                                      <p:cBhvr>
                                        <p:cTn id="42" dur="500" fill="hold"/>
                                        <p:tgtEl>
                                          <p:spTgt spid="4099">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4099">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4099">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4099">
                                            <p:txEl>
                                              <p:pRg st="1" end="1"/>
                                            </p:txEl>
                                          </p:spTgt>
                                        </p:tgtEl>
                                        <p:attrNameLst>
                                          <p:attrName>style.visibility</p:attrName>
                                        </p:attrNameLst>
                                      </p:cBhvr>
                                      <p:to>
                                        <p:strVal val="visible"/>
                                      </p:to>
                                    </p:set>
                                    <p:anim calcmode="lin" valueType="num">
                                      <p:cBhvr>
                                        <p:cTn id="49" dur="500" fill="hold"/>
                                        <p:tgtEl>
                                          <p:spTgt spid="4099">
                                            <p:txEl>
                                              <p:pRg st="1" end="1"/>
                                            </p:txEl>
                                          </p:spTgt>
                                        </p:tgtEl>
                                        <p:attrNameLst>
                                          <p:attrName>ppt_w</p:attrName>
                                        </p:attrNameLst>
                                      </p:cBhvr>
                                      <p:tavLst>
                                        <p:tav tm="0">
                                          <p:val>
                                            <p:fltVal val="0"/>
                                          </p:val>
                                        </p:tav>
                                        <p:tav tm="100000">
                                          <p:val>
                                            <p:strVal val="#ppt_w"/>
                                          </p:val>
                                        </p:tav>
                                      </p:tavLst>
                                    </p:anim>
                                    <p:anim calcmode="lin" valueType="num">
                                      <p:cBhvr>
                                        <p:cTn id="50" dur="500" fill="hold"/>
                                        <p:tgtEl>
                                          <p:spTgt spid="4099">
                                            <p:txEl>
                                              <p:pRg st="1" end="1"/>
                                            </p:txEl>
                                          </p:spTgt>
                                        </p:tgtEl>
                                        <p:attrNameLst>
                                          <p:attrName>ppt_h</p:attrName>
                                        </p:attrNameLst>
                                      </p:cBhvr>
                                      <p:tavLst>
                                        <p:tav tm="0">
                                          <p:val>
                                            <p:fltVal val="0"/>
                                          </p:val>
                                        </p:tav>
                                        <p:tav tm="100000">
                                          <p:val>
                                            <p:strVal val="#ppt_h"/>
                                          </p:val>
                                        </p:tav>
                                      </p:tavLst>
                                    </p:anim>
                                    <p:animEffect transition="in" filter="fade">
                                      <p:cBhvr>
                                        <p:cTn id="51" dur="500"/>
                                        <p:tgtEl>
                                          <p:spTgt spid="4099">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4100"/>
                                        </p:tgtEl>
                                        <p:attrNameLst>
                                          <p:attrName>style.visibility</p:attrName>
                                        </p:attrNameLst>
                                      </p:cBhvr>
                                      <p:to>
                                        <p:strVal val="visible"/>
                                      </p:to>
                                    </p:set>
                                    <p:anim calcmode="lin" valueType="num">
                                      <p:cBhvr>
                                        <p:cTn id="56" dur="500" fill="hold"/>
                                        <p:tgtEl>
                                          <p:spTgt spid="4100"/>
                                        </p:tgtEl>
                                        <p:attrNameLst>
                                          <p:attrName>ppt_w</p:attrName>
                                        </p:attrNameLst>
                                      </p:cBhvr>
                                      <p:tavLst>
                                        <p:tav tm="0">
                                          <p:val>
                                            <p:fltVal val="0"/>
                                          </p:val>
                                        </p:tav>
                                        <p:tav tm="100000">
                                          <p:val>
                                            <p:strVal val="#ppt_w"/>
                                          </p:val>
                                        </p:tav>
                                      </p:tavLst>
                                    </p:anim>
                                    <p:anim calcmode="lin" valueType="num">
                                      <p:cBhvr>
                                        <p:cTn id="57" dur="500" fill="hold"/>
                                        <p:tgtEl>
                                          <p:spTgt spid="4100"/>
                                        </p:tgtEl>
                                        <p:attrNameLst>
                                          <p:attrName>ppt_h</p:attrName>
                                        </p:attrNameLst>
                                      </p:cBhvr>
                                      <p:tavLst>
                                        <p:tav tm="0">
                                          <p:val>
                                            <p:fltVal val="0"/>
                                          </p:val>
                                        </p:tav>
                                        <p:tav tm="100000">
                                          <p:val>
                                            <p:strVal val="#ppt_h"/>
                                          </p:val>
                                        </p:tav>
                                      </p:tavLst>
                                    </p:anim>
                                    <p:animEffect transition="in" filter="fade">
                                      <p:cBhvr>
                                        <p:cTn id="58" dur="500"/>
                                        <p:tgtEl>
                                          <p:spTgt spid="410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nodeType="clickEffect">
                                  <p:stCondLst>
                                    <p:cond delay="0"/>
                                  </p:stCondLst>
                                  <p:childTnLst>
                                    <p:set>
                                      <p:cBhvr>
                                        <p:cTn id="62" dur="1" fill="hold">
                                          <p:stCondLst>
                                            <p:cond delay="0"/>
                                          </p:stCondLst>
                                        </p:cTn>
                                        <p:tgtEl>
                                          <p:spTgt spid="4101"/>
                                        </p:tgtEl>
                                        <p:attrNameLst>
                                          <p:attrName>style.visibility</p:attrName>
                                        </p:attrNameLst>
                                      </p:cBhvr>
                                      <p:to>
                                        <p:strVal val="visible"/>
                                      </p:to>
                                    </p:set>
                                    <p:anim calcmode="lin" valueType="num">
                                      <p:cBhvr>
                                        <p:cTn id="63" dur="500" fill="hold"/>
                                        <p:tgtEl>
                                          <p:spTgt spid="4101"/>
                                        </p:tgtEl>
                                        <p:attrNameLst>
                                          <p:attrName>ppt_w</p:attrName>
                                        </p:attrNameLst>
                                      </p:cBhvr>
                                      <p:tavLst>
                                        <p:tav tm="0">
                                          <p:val>
                                            <p:fltVal val="0"/>
                                          </p:val>
                                        </p:tav>
                                        <p:tav tm="100000">
                                          <p:val>
                                            <p:strVal val="#ppt_w"/>
                                          </p:val>
                                        </p:tav>
                                      </p:tavLst>
                                    </p:anim>
                                    <p:anim calcmode="lin" valueType="num">
                                      <p:cBhvr>
                                        <p:cTn id="64" dur="500" fill="hold"/>
                                        <p:tgtEl>
                                          <p:spTgt spid="4101"/>
                                        </p:tgtEl>
                                        <p:attrNameLst>
                                          <p:attrName>ppt_h</p:attrName>
                                        </p:attrNameLst>
                                      </p:cBhvr>
                                      <p:tavLst>
                                        <p:tav tm="0">
                                          <p:val>
                                            <p:fltVal val="0"/>
                                          </p:val>
                                        </p:tav>
                                        <p:tav tm="100000">
                                          <p:val>
                                            <p:strVal val="#ppt_h"/>
                                          </p:val>
                                        </p:tav>
                                      </p:tavLst>
                                    </p:anim>
                                    <p:animEffect transition="in" filter="fade">
                                      <p:cBhvr>
                                        <p:cTn id="65" dur="500"/>
                                        <p:tgtEl>
                                          <p:spTgt spid="4101"/>
                                        </p:tgtEl>
                                      </p:cBhvr>
                                    </p:animEffect>
                                  </p:childTnLst>
                                </p:cTn>
                              </p:par>
                            </p:childTnLst>
                          </p:cTn>
                        </p:par>
                        <p:par>
                          <p:cTn id="66" fill="hold" nodeType="afterGroup">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9"/>
          <p:cNvSpPr>
            <a:spLocks noChangeArrowheads="1"/>
          </p:cNvSpPr>
          <p:nvPr/>
        </p:nvSpPr>
        <p:spPr bwMode="auto">
          <a:xfrm>
            <a:off x="1739900" y="5746751"/>
            <a:ext cx="739140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fontAlgn="base" hangingPunct="0">
              <a:spcBef>
                <a:spcPct val="0"/>
              </a:spcBef>
              <a:spcAft>
                <a:spcPct val="0"/>
              </a:spcAft>
              <a:defRPr/>
            </a:pPr>
            <a:r>
              <a:rPr lang="en-US" b="1" dirty="0">
                <a:solidFill>
                  <a:srgbClr val="CCFF66"/>
                </a:solidFill>
                <a:latin typeface="Arial"/>
                <a:ea typeface="Times New Roman" pitchFamily="18" charset="0"/>
                <a:cs typeface="Times New Roman" pitchFamily="18" charset="0"/>
              </a:rPr>
              <a:t>The position vector of the object provides following information:</a:t>
            </a:r>
            <a:endParaRPr lang="en-US" b="1" dirty="0">
              <a:solidFill>
                <a:srgbClr val="CCFF66"/>
              </a:solidFill>
              <a:latin typeface="Arial"/>
              <a:cs typeface="Arial" panose="020B0604020202020204" pitchFamily="34" charset="0"/>
            </a:endParaRPr>
          </a:p>
          <a:p>
            <a:pPr eaLnBrk="0" fontAlgn="base" hangingPunct="0">
              <a:spcBef>
                <a:spcPct val="0"/>
              </a:spcBef>
              <a:spcAft>
                <a:spcPct val="0"/>
              </a:spcAft>
              <a:defRPr/>
            </a:pPr>
            <a:r>
              <a:rPr lang="en-US" b="1" dirty="0">
                <a:solidFill>
                  <a:srgbClr val="FF7C80"/>
                </a:solidFill>
                <a:latin typeface="Arial"/>
                <a:ea typeface="Times New Roman" pitchFamily="18" charset="0"/>
                <a:cs typeface="Times New Roman" pitchFamily="18" charset="0"/>
              </a:rPr>
              <a:t>(i) It gives straight line distance of the object from the origin.</a:t>
            </a:r>
            <a:endParaRPr lang="en-US" b="1" dirty="0">
              <a:solidFill>
                <a:srgbClr val="FF7C80"/>
              </a:solidFill>
              <a:latin typeface="Arial"/>
              <a:cs typeface="Arial" panose="020B0604020202020204" pitchFamily="34" charset="0"/>
            </a:endParaRPr>
          </a:p>
          <a:p>
            <a:pPr eaLnBrk="0" fontAlgn="base" hangingPunct="0">
              <a:spcBef>
                <a:spcPct val="0"/>
              </a:spcBef>
              <a:spcAft>
                <a:spcPct val="0"/>
              </a:spcAft>
              <a:defRPr/>
            </a:pPr>
            <a:r>
              <a:rPr lang="en-US" b="1" dirty="0">
                <a:solidFill>
                  <a:srgbClr val="FF7C80"/>
                </a:solidFill>
                <a:latin typeface="Arial"/>
                <a:ea typeface="Times New Roman" pitchFamily="18" charset="0"/>
                <a:cs typeface="Times New Roman" pitchFamily="18" charset="0"/>
              </a:rPr>
              <a:t>(ii) It gives the direction of the object with respect to the origin.</a:t>
            </a:r>
            <a:endParaRPr lang="en-US" b="1" dirty="0">
              <a:solidFill>
                <a:srgbClr val="FF7C80"/>
              </a:solidFill>
              <a:latin typeface="Arial"/>
              <a:cs typeface="Arial" panose="020B0604020202020204" pitchFamily="34" charset="0"/>
            </a:endParaRPr>
          </a:p>
        </p:txBody>
      </p:sp>
      <p:sp>
        <p:nvSpPr>
          <p:cNvPr id="5123" name="Rectangle 18"/>
          <p:cNvSpPr>
            <a:spLocks noChangeArrowheads="1"/>
          </p:cNvSpPr>
          <p:nvPr/>
        </p:nvSpPr>
        <p:spPr bwMode="auto">
          <a:xfrm>
            <a:off x="1741488" y="60325"/>
            <a:ext cx="445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FFCCFF"/>
                </a:solidFill>
              </a:rPr>
              <a:t>Position and Displacement Vectors</a:t>
            </a:r>
            <a:endParaRPr lang="en-IN" altLang="en-US" sz="2000" b="1">
              <a:solidFill>
                <a:srgbClr val="FFCCFF"/>
              </a:solidFill>
            </a:endParaRPr>
          </a:p>
        </p:txBody>
      </p:sp>
      <p:sp>
        <p:nvSpPr>
          <p:cNvPr id="20" name="Text Box 3"/>
          <p:cNvSpPr txBox="1">
            <a:spLocks noChangeArrowheads="1"/>
          </p:cNvSpPr>
          <p:nvPr/>
        </p:nvSpPr>
        <p:spPr bwMode="auto">
          <a:xfrm>
            <a:off x="1752601" y="458789"/>
            <a:ext cx="5567363"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00FFCC"/>
                </a:solidFill>
                <a:latin typeface="Arial"/>
                <a:cs typeface="Arial" panose="020B0604020202020204" pitchFamily="34" charset="0"/>
              </a:rPr>
              <a:t>To describe the motion of an object in a plane, its </a:t>
            </a:r>
            <a:r>
              <a:rPr lang="en-US" sz="1800" b="1" dirty="0">
                <a:solidFill>
                  <a:srgbClr val="FF6699"/>
                </a:solidFill>
                <a:latin typeface="Arial"/>
                <a:cs typeface="Arial" panose="020B0604020202020204" pitchFamily="34" charset="0"/>
              </a:rPr>
              <a:t>position with respect to origin</a:t>
            </a:r>
            <a:r>
              <a:rPr lang="en-US" sz="1800" b="1" dirty="0">
                <a:solidFill>
                  <a:srgbClr val="00FFCC"/>
                </a:solidFill>
                <a:latin typeface="Arial"/>
                <a:cs typeface="Arial" panose="020B0604020202020204" pitchFamily="34" charset="0"/>
              </a:rPr>
              <a:t> can be chosen conveniently.</a:t>
            </a:r>
          </a:p>
          <a:p>
            <a:pPr fontAlgn="base">
              <a:spcBef>
                <a:spcPct val="50000"/>
              </a:spcBef>
              <a:spcAft>
                <a:spcPct val="0"/>
              </a:spcAft>
              <a:defRPr/>
            </a:pPr>
            <a:r>
              <a:rPr lang="en-US" sz="1800" b="1" dirty="0">
                <a:solidFill>
                  <a:srgbClr val="CC99FF"/>
                </a:solidFill>
                <a:latin typeface="Arial"/>
                <a:cs typeface="Arial" panose="020B0604020202020204" pitchFamily="34" charset="0"/>
              </a:rPr>
              <a:t>Let P be the position of the object in X-Y plane at time t.</a:t>
            </a:r>
          </a:p>
          <a:p>
            <a:pPr fontAlgn="base">
              <a:spcBef>
                <a:spcPct val="50000"/>
              </a:spcBef>
              <a:spcAft>
                <a:spcPct val="0"/>
              </a:spcAft>
              <a:defRPr/>
            </a:pPr>
            <a:r>
              <a:rPr lang="en-US" sz="1800" b="1" dirty="0">
                <a:solidFill>
                  <a:srgbClr val="CCCC00"/>
                </a:solidFill>
                <a:latin typeface="Arial"/>
                <a:cs typeface="Arial" panose="020B0604020202020204" pitchFamily="34" charset="0"/>
              </a:rPr>
              <a:t>Draw a straight line from origin O to P and place an arrow head at P on the line OP.</a:t>
            </a:r>
          </a:p>
        </p:txBody>
      </p:sp>
      <p:grpSp>
        <p:nvGrpSpPr>
          <p:cNvPr id="5125" name="Group 27"/>
          <p:cNvGrpSpPr>
            <a:grpSpLocks/>
          </p:cNvGrpSpPr>
          <p:nvPr/>
        </p:nvGrpSpPr>
        <p:grpSpPr bwMode="auto">
          <a:xfrm>
            <a:off x="1739900" y="2781300"/>
            <a:ext cx="8586788" cy="647700"/>
            <a:chOff x="216023" y="2494637"/>
            <a:chExt cx="8586925" cy="646331"/>
          </a:xfrm>
        </p:grpSpPr>
        <p:sp>
          <p:nvSpPr>
            <p:cNvPr id="5193" name="Rectangle 20"/>
            <p:cNvSpPr>
              <a:spLocks noChangeArrowheads="1"/>
            </p:cNvSpPr>
            <p:nvPr/>
          </p:nvSpPr>
          <p:spPr bwMode="auto">
            <a:xfrm>
              <a:off x="216023" y="2494637"/>
              <a:ext cx="8586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33CC"/>
                  </a:solidFill>
                </a:rPr>
                <a:t>The point O of OP is called ′</a:t>
              </a:r>
              <a:r>
                <a:rPr lang="en-US" altLang="en-US" b="1">
                  <a:solidFill>
                    <a:srgbClr val="00B0F0"/>
                  </a:solidFill>
                </a:rPr>
                <a:t>tail</a:t>
              </a:r>
              <a:r>
                <a:rPr lang="en-US" altLang="en-US" b="1">
                  <a:solidFill>
                    <a:srgbClr val="FF33CC"/>
                  </a:solidFill>
                </a:rPr>
                <a:t>′ and the point P of OP is called ′</a:t>
              </a:r>
              <a:r>
                <a:rPr lang="en-US" altLang="en-US" b="1">
                  <a:solidFill>
                    <a:srgbClr val="00B0F0"/>
                  </a:solidFill>
                </a:rPr>
                <a:t>head</a:t>
              </a:r>
              <a:r>
                <a:rPr lang="en-US" altLang="en-US" b="1">
                  <a:solidFill>
                    <a:srgbClr val="FF33CC"/>
                  </a:solidFill>
                </a:rPr>
                <a:t>′ of vector       .</a:t>
              </a:r>
            </a:p>
          </p:txBody>
        </p:sp>
        <p:grpSp>
          <p:nvGrpSpPr>
            <p:cNvPr id="5194" name="Group 24"/>
            <p:cNvGrpSpPr>
              <a:grpSpLocks/>
            </p:cNvGrpSpPr>
            <p:nvPr/>
          </p:nvGrpSpPr>
          <p:grpSpPr bwMode="auto">
            <a:xfrm>
              <a:off x="998664" y="2771636"/>
              <a:ext cx="549000" cy="369332"/>
              <a:chOff x="998664" y="2771636"/>
              <a:chExt cx="549000" cy="369332"/>
            </a:xfrm>
          </p:grpSpPr>
          <p:cxnSp>
            <p:nvCxnSpPr>
              <p:cNvPr id="23" name="Straight Arrow Connector 22"/>
              <p:cNvCxnSpPr/>
              <p:nvPr/>
            </p:nvCxnSpPr>
            <p:spPr bwMode="auto">
              <a:xfrm>
                <a:off x="1092337" y="2825723"/>
                <a:ext cx="3349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96" name="TextBox 23"/>
              <p:cNvSpPr txBox="1">
                <a:spLocks noChangeArrowheads="1"/>
              </p:cNvSpPr>
              <p:nvPr/>
            </p:nvSpPr>
            <p:spPr bwMode="auto">
              <a:xfrm>
                <a:off x="998664" y="2771636"/>
                <a:ext cx="549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33CC"/>
                    </a:solidFill>
                  </a:rPr>
                  <a:t>OP</a:t>
                </a:r>
                <a:endParaRPr lang="en-IN" altLang="en-US">
                  <a:solidFill>
                    <a:srgbClr val="FF33CC"/>
                  </a:solidFill>
                </a:endParaRPr>
              </a:p>
            </p:txBody>
          </p:sp>
        </p:grpSp>
      </p:grpSp>
      <p:grpSp>
        <p:nvGrpSpPr>
          <p:cNvPr id="4" name="Group 3"/>
          <p:cNvGrpSpPr>
            <a:grpSpLocks/>
          </p:cNvGrpSpPr>
          <p:nvPr/>
        </p:nvGrpSpPr>
        <p:grpSpPr bwMode="auto">
          <a:xfrm>
            <a:off x="1762125" y="3460750"/>
            <a:ext cx="7742238" cy="400050"/>
            <a:chOff x="238125" y="3603625"/>
            <a:chExt cx="7742238" cy="400050"/>
          </a:xfrm>
        </p:grpSpPr>
        <p:sp>
          <p:nvSpPr>
            <p:cNvPr id="5187" name="Rectangle 9"/>
            <p:cNvSpPr>
              <a:spLocks noChangeArrowheads="1"/>
            </p:cNvSpPr>
            <p:nvPr/>
          </p:nvSpPr>
          <p:spPr bwMode="auto">
            <a:xfrm>
              <a:off x="638175" y="3603625"/>
              <a:ext cx="73421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6600"/>
                  </a:solidFill>
                  <a:cs typeface="Times New Roman" panose="02020603050405020304" pitchFamily="18" charset="0"/>
                </a:rPr>
                <a:t>is called ′</a:t>
              </a:r>
              <a:r>
                <a:rPr lang="en-US" altLang="en-US" b="1">
                  <a:solidFill>
                    <a:srgbClr val="CC99FF"/>
                  </a:solidFill>
                  <a:cs typeface="Times New Roman" panose="02020603050405020304" pitchFamily="18" charset="0"/>
                </a:rPr>
                <a:t>position vector</a:t>
              </a:r>
              <a:r>
                <a:rPr lang="en-US" altLang="en-US" b="1">
                  <a:solidFill>
                    <a:srgbClr val="FF6600"/>
                  </a:solidFill>
                  <a:cs typeface="Times New Roman" panose="02020603050405020304" pitchFamily="18" charset="0"/>
                </a:rPr>
                <a:t>′ of the object.  </a:t>
              </a:r>
              <a:r>
                <a:rPr lang="en-US" altLang="en-US">
                  <a:solidFill>
                    <a:srgbClr val="FF6600"/>
                  </a:solidFill>
                  <a:cs typeface="Times New Roman" panose="02020603050405020304" pitchFamily="18" charset="0"/>
                </a:rPr>
                <a:t>It is represented by </a:t>
              </a:r>
              <a:r>
                <a:rPr lang="en-US" altLang="en-US" sz="2000" b="1">
                  <a:solidFill>
                    <a:srgbClr val="CC99FF"/>
                  </a:solidFill>
                  <a:cs typeface="Times New Roman" panose="02020603050405020304" pitchFamily="18" charset="0"/>
                </a:rPr>
                <a:t>r</a:t>
              </a:r>
              <a:r>
                <a:rPr lang="en-US" altLang="en-US" sz="2000" b="1">
                  <a:solidFill>
                    <a:srgbClr val="FF6600"/>
                  </a:solidFill>
                  <a:cs typeface="Times New Roman" panose="02020603050405020304" pitchFamily="18" charset="0"/>
                </a:rPr>
                <a:t> </a:t>
              </a:r>
              <a:r>
                <a:rPr lang="en-US" altLang="en-US" sz="2000">
                  <a:solidFill>
                    <a:srgbClr val="FF6600"/>
                  </a:solidFill>
                  <a:cs typeface="Times New Roman" panose="02020603050405020304" pitchFamily="18" charset="0"/>
                </a:rPr>
                <a:t>or   .</a:t>
              </a:r>
              <a:endParaRPr lang="en-US" altLang="en-US" sz="2000">
                <a:solidFill>
                  <a:srgbClr val="FF6600"/>
                </a:solidFill>
              </a:endParaRPr>
            </a:p>
          </p:txBody>
        </p:sp>
        <p:grpSp>
          <p:nvGrpSpPr>
            <p:cNvPr id="5188" name="Group 86"/>
            <p:cNvGrpSpPr>
              <a:grpSpLocks/>
            </p:cNvGrpSpPr>
            <p:nvPr/>
          </p:nvGrpSpPr>
          <p:grpSpPr bwMode="auto">
            <a:xfrm>
              <a:off x="238125" y="3630613"/>
              <a:ext cx="7502525" cy="368300"/>
              <a:chOff x="238073" y="4207641"/>
              <a:chExt cx="7502279" cy="369603"/>
            </a:xfrm>
          </p:grpSpPr>
          <p:cxnSp>
            <p:nvCxnSpPr>
              <p:cNvPr id="30" name="Straight Arrow Connector 29"/>
              <p:cNvCxnSpPr/>
              <p:nvPr/>
            </p:nvCxnSpPr>
            <p:spPr bwMode="auto">
              <a:xfrm>
                <a:off x="331733" y="4247468"/>
                <a:ext cx="33495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38073" y="4207641"/>
                <a:ext cx="549257" cy="369603"/>
              </a:xfrm>
              <a:prstGeom prst="rect">
                <a:avLst/>
              </a:prstGeom>
              <a:noFill/>
            </p:spPr>
            <p:txBody>
              <a:bodyPr>
                <a:spAutoFit/>
              </a:bodyPr>
              <a:lstStyle/>
              <a:p>
                <a:pPr fontAlgn="base">
                  <a:spcBef>
                    <a:spcPct val="0"/>
                  </a:spcBef>
                  <a:spcAft>
                    <a:spcPct val="0"/>
                  </a:spcAft>
                  <a:defRPr/>
                </a:pPr>
                <a:r>
                  <a:rPr lang="en-US" dirty="0">
                    <a:solidFill>
                      <a:srgbClr val="FF6600"/>
                    </a:solidFill>
                    <a:latin typeface="Arial"/>
                    <a:cs typeface="Arial" panose="020B0604020202020204" pitchFamily="34" charset="0"/>
                  </a:rPr>
                  <a:t>OP</a:t>
                </a:r>
                <a:endParaRPr lang="en-IN" dirty="0">
                  <a:solidFill>
                    <a:srgbClr val="FF6600"/>
                  </a:solidFill>
                  <a:latin typeface="Arial"/>
                  <a:cs typeface="Arial" panose="020B0604020202020204" pitchFamily="34" charset="0"/>
                </a:endParaRPr>
              </a:p>
            </p:txBody>
          </p:sp>
          <p:cxnSp>
            <p:nvCxnSpPr>
              <p:cNvPr id="35" name="Straight Arrow Connector 34"/>
              <p:cNvCxnSpPr/>
              <p:nvPr/>
            </p:nvCxnSpPr>
            <p:spPr bwMode="auto">
              <a:xfrm>
                <a:off x="7568908" y="4279331"/>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492710" y="4207641"/>
                <a:ext cx="247642" cy="369603"/>
              </a:xfrm>
              <a:prstGeom prst="rect">
                <a:avLst/>
              </a:prstGeom>
              <a:noFill/>
            </p:spPr>
            <p:txBody>
              <a:bodyPr>
                <a:spAutoFit/>
              </a:bodyPr>
              <a:lstStyle/>
              <a:p>
                <a:pPr fontAlgn="base">
                  <a:spcBef>
                    <a:spcPct val="0"/>
                  </a:spcBef>
                  <a:spcAft>
                    <a:spcPct val="0"/>
                  </a:spcAft>
                  <a:defRPr/>
                </a:pPr>
                <a:r>
                  <a:rPr lang="en-US" dirty="0">
                    <a:solidFill>
                      <a:srgbClr val="CC99FF"/>
                    </a:solidFill>
                    <a:latin typeface="Arial"/>
                    <a:cs typeface="Arial" panose="020B0604020202020204" pitchFamily="34" charset="0"/>
                  </a:rPr>
                  <a:t>r</a:t>
                </a:r>
                <a:endParaRPr lang="en-IN" dirty="0">
                  <a:solidFill>
                    <a:srgbClr val="CC99FF"/>
                  </a:solidFill>
                  <a:latin typeface="Arial"/>
                  <a:cs typeface="Arial" panose="020B0604020202020204" pitchFamily="34" charset="0"/>
                </a:endParaRPr>
              </a:p>
            </p:txBody>
          </p:sp>
        </p:grpSp>
      </p:grpSp>
      <p:sp>
        <p:nvSpPr>
          <p:cNvPr id="39" name="Oval 146"/>
          <p:cNvSpPr>
            <a:spLocks noChangeArrowheads="1"/>
          </p:cNvSpPr>
          <p:nvPr/>
        </p:nvSpPr>
        <p:spPr bwMode="auto">
          <a:xfrm flipH="1">
            <a:off x="8472488" y="1047750"/>
            <a:ext cx="76200" cy="7620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40" name="Line 5"/>
          <p:cNvSpPr>
            <a:spLocks noChangeShapeType="1"/>
          </p:cNvSpPr>
          <p:nvPr/>
        </p:nvSpPr>
        <p:spPr bwMode="auto">
          <a:xfrm>
            <a:off x="7959725" y="2173288"/>
            <a:ext cx="2362200" cy="0"/>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41" name="Line 6"/>
          <p:cNvSpPr>
            <a:spLocks noChangeShapeType="1"/>
          </p:cNvSpPr>
          <p:nvPr/>
        </p:nvSpPr>
        <p:spPr bwMode="auto">
          <a:xfrm flipV="1">
            <a:off x="7974013" y="496888"/>
            <a:ext cx="0" cy="1676400"/>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43" name="Text Box 10"/>
          <p:cNvSpPr txBox="1">
            <a:spLocks noChangeArrowheads="1"/>
          </p:cNvSpPr>
          <p:nvPr/>
        </p:nvSpPr>
        <p:spPr bwMode="auto">
          <a:xfrm>
            <a:off x="7821613" y="2187576"/>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CC"/>
                </a:solidFill>
              </a:rPr>
              <a:t>O</a:t>
            </a:r>
          </a:p>
        </p:txBody>
      </p:sp>
      <p:sp>
        <p:nvSpPr>
          <p:cNvPr id="45" name="Text Box 12"/>
          <p:cNvSpPr txBox="1">
            <a:spLocks noChangeArrowheads="1"/>
          </p:cNvSpPr>
          <p:nvPr/>
        </p:nvSpPr>
        <p:spPr bwMode="auto">
          <a:xfrm>
            <a:off x="7821613" y="19208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00"/>
                </a:solidFill>
              </a:rPr>
              <a:t>Y</a:t>
            </a:r>
          </a:p>
        </p:txBody>
      </p:sp>
      <p:sp>
        <p:nvSpPr>
          <p:cNvPr id="46" name="Text Box 13"/>
          <p:cNvSpPr txBox="1">
            <a:spLocks noChangeArrowheads="1"/>
          </p:cNvSpPr>
          <p:nvPr/>
        </p:nvSpPr>
        <p:spPr bwMode="auto">
          <a:xfrm>
            <a:off x="10107613" y="217328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00"/>
                </a:solidFill>
              </a:rPr>
              <a:t>X</a:t>
            </a:r>
          </a:p>
        </p:txBody>
      </p:sp>
      <p:sp>
        <p:nvSpPr>
          <p:cNvPr id="60" name="Rectangle 30"/>
          <p:cNvSpPr>
            <a:spLocks noChangeArrowheads="1"/>
          </p:cNvSpPr>
          <p:nvPr/>
        </p:nvSpPr>
        <p:spPr bwMode="auto">
          <a:xfrm>
            <a:off x="7535863" y="115889"/>
            <a:ext cx="2952750" cy="2592387"/>
          </a:xfrm>
          <a:prstGeom prst="rect">
            <a:avLst/>
          </a:prstGeom>
          <a:noFill/>
          <a:ln w="19050">
            <a:solidFill>
              <a:srgbClr val="FFFF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61" name="Text Box 62"/>
          <p:cNvSpPr txBox="1">
            <a:spLocks noChangeArrowheads="1"/>
          </p:cNvSpPr>
          <p:nvPr/>
        </p:nvSpPr>
        <p:spPr bwMode="auto">
          <a:xfrm>
            <a:off x="8221663" y="90328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3" name="Group 2"/>
          <p:cNvGrpSpPr>
            <a:grpSpLocks/>
          </p:cNvGrpSpPr>
          <p:nvPr/>
        </p:nvGrpSpPr>
        <p:grpSpPr bwMode="auto">
          <a:xfrm>
            <a:off x="7974014" y="1085850"/>
            <a:ext cx="536575" cy="1087438"/>
            <a:chOff x="6450013" y="1230313"/>
            <a:chExt cx="536575" cy="1087437"/>
          </a:xfrm>
        </p:grpSpPr>
        <p:sp>
          <p:nvSpPr>
            <p:cNvPr id="5183" name="Line 22"/>
            <p:cNvSpPr>
              <a:spLocks noChangeShapeType="1"/>
            </p:cNvSpPr>
            <p:nvPr/>
          </p:nvSpPr>
          <p:spPr bwMode="auto">
            <a:xfrm flipV="1">
              <a:off x="6450013" y="1230313"/>
              <a:ext cx="536575" cy="1087437"/>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5184" name="Group 62"/>
            <p:cNvGrpSpPr>
              <a:grpSpLocks/>
            </p:cNvGrpSpPr>
            <p:nvPr/>
          </p:nvGrpSpPr>
          <p:grpSpPr bwMode="auto">
            <a:xfrm>
              <a:off x="6516688" y="1403350"/>
              <a:ext cx="247650" cy="369888"/>
              <a:chOff x="3316110" y="1997224"/>
              <a:chExt cx="247778" cy="369332"/>
            </a:xfrm>
          </p:grpSpPr>
          <p:cxnSp>
            <p:nvCxnSpPr>
              <p:cNvPr id="64" name="Straight Arrow Connector 63"/>
              <p:cNvCxnSpPr/>
              <p:nvPr/>
            </p:nvCxnSpPr>
            <p:spPr bwMode="auto">
              <a:xfrm>
                <a:off x="3392349" y="2068555"/>
                <a:ext cx="1715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86" name="TextBox 64"/>
              <p:cNvSpPr txBox="1">
                <a:spLocks noChangeArrowheads="1"/>
              </p:cNvSpPr>
              <p:nvPr/>
            </p:nvSpPr>
            <p:spPr bwMode="auto">
              <a:xfrm>
                <a:off x="3316110" y="1997224"/>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grpSp>
      <p:sp>
        <p:nvSpPr>
          <p:cNvPr id="66" name="Oval 146"/>
          <p:cNvSpPr>
            <a:spLocks noChangeArrowheads="1"/>
          </p:cNvSpPr>
          <p:nvPr/>
        </p:nvSpPr>
        <p:spPr bwMode="auto">
          <a:xfrm flipH="1">
            <a:off x="9188450" y="858838"/>
            <a:ext cx="76200" cy="7620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67" name="Text Box 62"/>
          <p:cNvSpPr txBox="1">
            <a:spLocks noChangeArrowheads="1"/>
          </p:cNvSpPr>
          <p:nvPr/>
        </p:nvSpPr>
        <p:spPr bwMode="auto">
          <a:xfrm>
            <a:off x="9202738" y="682625"/>
            <a:ext cx="49371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2" name="Group 1"/>
          <p:cNvGrpSpPr>
            <a:grpSpLocks/>
          </p:cNvGrpSpPr>
          <p:nvPr/>
        </p:nvGrpSpPr>
        <p:grpSpPr bwMode="auto">
          <a:xfrm>
            <a:off x="7967664" y="881064"/>
            <a:ext cx="1273175" cy="1296987"/>
            <a:chOff x="6443663" y="1025525"/>
            <a:chExt cx="1273175" cy="1296988"/>
          </a:xfrm>
        </p:grpSpPr>
        <p:grpSp>
          <p:nvGrpSpPr>
            <p:cNvPr id="5179" name="Group 70"/>
            <p:cNvGrpSpPr>
              <a:grpSpLocks/>
            </p:cNvGrpSpPr>
            <p:nvPr/>
          </p:nvGrpSpPr>
          <p:grpSpPr bwMode="auto">
            <a:xfrm>
              <a:off x="7164388" y="1555750"/>
              <a:ext cx="360362" cy="369888"/>
              <a:chOff x="7948736" y="1411868"/>
              <a:chExt cx="360040" cy="369332"/>
            </a:xfrm>
          </p:grpSpPr>
          <p:cxnSp>
            <p:nvCxnSpPr>
              <p:cNvPr id="69" name="Straight Arrow Connector 68"/>
              <p:cNvCxnSpPr/>
              <p:nvPr/>
            </p:nvCxnSpPr>
            <p:spPr bwMode="auto">
              <a:xfrm>
                <a:off x="8024868" y="1456251"/>
                <a:ext cx="17129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82" name="TextBox 69"/>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sp>
          <p:nvSpPr>
            <p:cNvPr id="5180" name="Line 22"/>
            <p:cNvSpPr>
              <a:spLocks noChangeShapeType="1"/>
            </p:cNvSpPr>
            <p:nvPr/>
          </p:nvSpPr>
          <p:spPr bwMode="auto">
            <a:xfrm flipV="1">
              <a:off x="6443663" y="1025525"/>
              <a:ext cx="1273175" cy="1296988"/>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cxnSp>
        <p:nvCxnSpPr>
          <p:cNvPr id="74" name="Straight Arrow Connector 73"/>
          <p:cNvCxnSpPr/>
          <p:nvPr/>
        </p:nvCxnSpPr>
        <p:spPr>
          <a:xfrm flipV="1">
            <a:off x="8507414" y="895351"/>
            <a:ext cx="719137" cy="180975"/>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143" name="Group 84"/>
          <p:cNvGrpSpPr>
            <a:grpSpLocks/>
          </p:cNvGrpSpPr>
          <p:nvPr/>
        </p:nvGrpSpPr>
        <p:grpSpPr bwMode="auto">
          <a:xfrm>
            <a:off x="8616950" y="620714"/>
            <a:ext cx="527050" cy="377825"/>
            <a:chOff x="7388696" y="2987660"/>
            <a:chExt cx="527426" cy="378624"/>
          </a:xfrm>
        </p:grpSpPr>
        <p:grpSp>
          <p:nvGrpSpPr>
            <p:cNvPr id="5172" name="Group 77"/>
            <p:cNvGrpSpPr>
              <a:grpSpLocks/>
            </p:cNvGrpSpPr>
            <p:nvPr/>
          </p:nvGrpSpPr>
          <p:grpSpPr bwMode="auto">
            <a:xfrm>
              <a:off x="7668344" y="2987660"/>
              <a:ext cx="247778" cy="369332"/>
              <a:chOff x="3316110" y="1997224"/>
              <a:chExt cx="247778" cy="369332"/>
            </a:xfrm>
          </p:grpSpPr>
          <p:cxnSp>
            <p:nvCxnSpPr>
              <p:cNvPr id="79" name="Straight Arrow Connector 78"/>
              <p:cNvCxnSpPr/>
              <p:nvPr/>
            </p:nvCxnSpPr>
            <p:spPr bwMode="auto">
              <a:xfrm>
                <a:off x="3392315" y="2068812"/>
                <a:ext cx="17157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78" name="TextBox 79"/>
              <p:cNvSpPr txBox="1">
                <a:spLocks noChangeArrowheads="1"/>
              </p:cNvSpPr>
              <p:nvPr/>
            </p:nvSpPr>
            <p:spPr bwMode="auto">
              <a:xfrm>
                <a:off x="3316110" y="1997224"/>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grpSp>
          <p:nvGrpSpPr>
            <p:cNvPr id="5173" name="Group 80"/>
            <p:cNvGrpSpPr>
              <a:grpSpLocks/>
            </p:cNvGrpSpPr>
            <p:nvPr/>
          </p:nvGrpSpPr>
          <p:grpSpPr bwMode="auto">
            <a:xfrm>
              <a:off x="7388696" y="2987660"/>
              <a:ext cx="360040" cy="369332"/>
              <a:chOff x="7948736" y="1411868"/>
              <a:chExt cx="360040" cy="369332"/>
            </a:xfrm>
          </p:grpSpPr>
          <p:cxnSp>
            <p:nvCxnSpPr>
              <p:cNvPr id="82" name="Straight Arrow Connector 81"/>
              <p:cNvCxnSpPr/>
              <p:nvPr/>
            </p:nvCxnSpPr>
            <p:spPr bwMode="auto">
              <a:xfrm>
                <a:off x="8024990" y="1456412"/>
                <a:ext cx="17157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76" name="TextBox 82"/>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sp>
          <p:nvSpPr>
            <p:cNvPr id="5174" name="Rectangle 83"/>
            <p:cNvSpPr>
              <a:spLocks noChangeArrowheads="1"/>
            </p:cNvSpPr>
            <p:nvPr/>
          </p:nvSpPr>
          <p:spPr bwMode="auto">
            <a:xfrm>
              <a:off x="7524328" y="2996952"/>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CC"/>
                  </a:solidFill>
                </a:rPr>
                <a:t>-</a:t>
              </a:r>
              <a:endParaRPr lang="en-IN" altLang="en-US">
                <a:solidFill>
                  <a:srgbClr val="000000"/>
                </a:solidFill>
              </a:endParaRPr>
            </a:p>
          </p:txBody>
        </p:sp>
      </p:grpSp>
      <p:sp>
        <p:nvSpPr>
          <p:cNvPr id="88" name="Freeform 87"/>
          <p:cNvSpPr/>
          <p:nvPr/>
        </p:nvSpPr>
        <p:spPr>
          <a:xfrm>
            <a:off x="8399464" y="309563"/>
            <a:ext cx="923925" cy="766762"/>
          </a:xfrm>
          <a:custGeom>
            <a:avLst/>
            <a:gdLst>
              <a:gd name="connsiteX0" fmla="*/ 99119 w 924868"/>
              <a:gd name="connsiteY0" fmla="*/ 779017 h 779017"/>
              <a:gd name="connsiteX1" fmla="*/ 18437 w 924868"/>
              <a:gd name="connsiteY1" fmla="*/ 389052 h 779017"/>
              <a:gd name="connsiteX2" fmla="*/ 408401 w 924868"/>
              <a:gd name="connsiteY2" fmla="*/ 227687 h 779017"/>
              <a:gd name="connsiteX3" fmla="*/ 596660 w 924868"/>
              <a:gd name="connsiteY3" fmla="*/ 12534 h 779017"/>
              <a:gd name="connsiteX4" fmla="*/ 879048 w 924868"/>
              <a:gd name="connsiteY4" fmla="*/ 66323 h 779017"/>
              <a:gd name="connsiteX5" fmla="*/ 919390 w 924868"/>
              <a:gd name="connsiteY5" fmla="*/ 402499 h 779017"/>
              <a:gd name="connsiteX6" fmla="*/ 825260 w 924868"/>
              <a:gd name="connsiteY6" fmla="*/ 590758 h 779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4868" h="779017">
                <a:moveTo>
                  <a:pt x="99119" y="779017"/>
                </a:moveTo>
                <a:cubicBezTo>
                  <a:pt x="33004" y="629978"/>
                  <a:pt x="-33110" y="480940"/>
                  <a:pt x="18437" y="389052"/>
                </a:cubicBezTo>
                <a:cubicBezTo>
                  <a:pt x="69984" y="297164"/>
                  <a:pt x="312031" y="290440"/>
                  <a:pt x="408401" y="227687"/>
                </a:cubicBezTo>
                <a:cubicBezTo>
                  <a:pt x="504771" y="164934"/>
                  <a:pt x="518219" y="39428"/>
                  <a:pt x="596660" y="12534"/>
                </a:cubicBezTo>
                <a:cubicBezTo>
                  <a:pt x="675101" y="-14360"/>
                  <a:pt x="825260" y="1329"/>
                  <a:pt x="879048" y="66323"/>
                </a:cubicBezTo>
                <a:cubicBezTo>
                  <a:pt x="932836" y="131317"/>
                  <a:pt x="928355" y="315093"/>
                  <a:pt x="919390" y="402499"/>
                </a:cubicBezTo>
                <a:cubicBezTo>
                  <a:pt x="910425" y="489905"/>
                  <a:pt x="867842" y="540331"/>
                  <a:pt x="825260" y="590758"/>
                </a:cubicBezTo>
              </a:path>
            </a:pathLst>
          </a:custGeom>
          <a:ln w="19050">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000000"/>
              </a:solidFill>
              <a:latin typeface="Arial"/>
            </a:endParaRPr>
          </a:p>
        </p:txBody>
      </p:sp>
      <p:sp>
        <p:nvSpPr>
          <p:cNvPr id="89" name="Text Box 62"/>
          <p:cNvSpPr txBox="1">
            <a:spLocks noChangeArrowheads="1"/>
          </p:cNvSpPr>
          <p:nvPr/>
        </p:nvSpPr>
        <p:spPr bwMode="auto">
          <a:xfrm>
            <a:off x="8535988" y="254001"/>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A</a:t>
            </a:r>
          </a:p>
        </p:txBody>
      </p:sp>
      <p:sp>
        <p:nvSpPr>
          <p:cNvPr id="5146" name="Rectangle 89"/>
          <p:cNvSpPr>
            <a:spLocks noChangeArrowheads="1"/>
          </p:cNvSpPr>
          <p:nvPr/>
        </p:nvSpPr>
        <p:spPr bwMode="auto">
          <a:xfrm>
            <a:off x="1766889" y="3875089"/>
            <a:ext cx="7494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99"/>
                </a:solidFill>
              </a:rPr>
              <a:t>Let the object move from P to P′ through the path PAP′ in time t′- t. </a:t>
            </a:r>
          </a:p>
        </p:txBody>
      </p:sp>
      <p:grpSp>
        <p:nvGrpSpPr>
          <p:cNvPr id="5147" name="Group 97"/>
          <p:cNvGrpSpPr>
            <a:grpSpLocks/>
          </p:cNvGrpSpPr>
          <p:nvPr/>
        </p:nvGrpSpPr>
        <p:grpSpPr bwMode="auto">
          <a:xfrm>
            <a:off x="1739901" y="4244975"/>
            <a:ext cx="7559675" cy="395288"/>
            <a:chOff x="215342" y="4459178"/>
            <a:chExt cx="7559547" cy="396226"/>
          </a:xfrm>
        </p:grpSpPr>
        <p:sp>
          <p:nvSpPr>
            <p:cNvPr id="5165" name="Rectangle 90"/>
            <p:cNvSpPr>
              <a:spLocks noChangeArrowheads="1"/>
            </p:cNvSpPr>
            <p:nvPr/>
          </p:nvSpPr>
          <p:spPr bwMode="auto">
            <a:xfrm>
              <a:off x="215342" y="4459178"/>
              <a:ext cx="75595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99"/>
                  </a:solidFill>
                </a:rPr>
                <a:t>Now the position vector of the object at time t′ is given by        or    . </a:t>
              </a:r>
            </a:p>
          </p:txBody>
        </p:sp>
        <p:grpSp>
          <p:nvGrpSpPr>
            <p:cNvPr id="5166" name="Group 91"/>
            <p:cNvGrpSpPr>
              <a:grpSpLocks/>
            </p:cNvGrpSpPr>
            <p:nvPr/>
          </p:nvGrpSpPr>
          <p:grpSpPr bwMode="auto">
            <a:xfrm>
              <a:off x="6529833" y="4486072"/>
              <a:ext cx="693016" cy="369332"/>
              <a:chOff x="2510832" y="3573016"/>
              <a:chExt cx="693016" cy="369332"/>
            </a:xfrm>
          </p:grpSpPr>
          <p:cxnSp>
            <p:nvCxnSpPr>
              <p:cNvPr id="93" name="Straight Arrow Connector 92"/>
              <p:cNvCxnSpPr/>
              <p:nvPr/>
            </p:nvCxnSpPr>
            <p:spPr bwMode="auto">
              <a:xfrm>
                <a:off x="2604970" y="3585904"/>
                <a:ext cx="3333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71" name="TextBox 93"/>
              <p:cNvSpPr txBox="1">
                <a:spLocks noChangeArrowheads="1"/>
              </p:cNvSpPr>
              <p:nvPr/>
            </p:nvSpPr>
            <p:spPr bwMode="auto">
              <a:xfrm>
                <a:off x="2510832" y="3573016"/>
                <a:ext cx="6930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FF99"/>
                    </a:solidFill>
                  </a:rPr>
                  <a:t>OP′</a:t>
                </a:r>
                <a:endParaRPr lang="en-IN" altLang="en-US">
                  <a:solidFill>
                    <a:srgbClr val="FFFF99"/>
                  </a:solidFill>
                </a:endParaRPr>
              </a:p>
            </p:txBody>
          </p:sp>
        </p:grpSp>
        <p:grpSp>
          <p:nvGrpSpPr>
            <p:cNvPr id="5167" name="Group 94"/>
            <p:cNvGrpSpPr>
              <a:grpSpLocks/>
            </p:cNvGrpSpPr>
            <p:nvPr/>
          </p:nvGrpSpPr>
          <p:grpSpPr bwMode="auto">
            <a:xfrm>
              <a:off x="7308304" y="4472934"/>
              <a:ext cx="360040" cy="369332"/>
              <a:chOff x="7948736" y="1411868"/>
              <a:chExt cx="360040" cy="369332"/>
            </a:xfrm>
          </p:grpSpPr>
          <p:cxnSp>
            <p:nvCxnSpPr>
              <p:cNvPr id="96" name="Straight Arrow Connector 95"/>
              <p:cNvCxnSpPr/>
              <p:nvPr/>
            </p:nvCxnSpPr>
            <p:spPr bwMode="auto">
              <a:xfrm>
                <a:off x="8024803" y="1456990"/>
                <a:ext cx="17144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69" name="TextBox 96"/>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FF99"/>
                    </a:solidFill>
                  </a:rPr>
                  <a:t>r′</a:t>
                </a:r>
                <a:endParaRPr lang="en-IN" altLang="en-US">
                  <a:solidFill>
                    <a:srgbClr val="FFFF99"/>
                  </a:solidFill>
                </a:endParaRPr>
              </a:p>
            </p:txBody>
          </p:sp>
        </p:grpSp>
      </p:grpSp>
      <p:grpSp>
        <p:nvGrpSpPr>
          <p:cNvPr id="5148" name="Group 114"/>
          <p:cNvGrpSpPr>
            <a:grpSpLocks/>
          </p:cNvGrpSpPr>
          <p:nvPr/>
        </p:nvGrpSpPr>
        <p:grpSpPr bwMode="auto">
          <a:xfrm>
            <a:off x="1749426" y="4654550"/>
            <a:ext cx="4284663" cy="395288"/>
            <a:chOff x="225920" y="4869160"/>
            <a:chExt cx="4283566" cy="396226"/>
          </a:xfrm>
        </p:grpSpPr>
        <p:sp>
          <p:nvSpPr>
            <p:cNvPr id="5153" name="Rectangle 99"/>
            <p:cNvSpPr>
              <a:spLocks noChangeArrowheads="1"/>
            </p:cNvSpPr>
            <p:nvPr/>
          </p:nvSpPr>
          <p:spPr bwMode="auto">
            <a:xfrm>
              <a:off x="225920" y="4869160"/>
              <a:ext cx="42835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00B0F0"/>
                  </a:solidFill>
                </a:rPr>
                <a:t>Displacement vector is         or        .</a:t>
              </a:r>
            </a:p>
          </p:txBody>
        </p:sp>
        <p:grpSp>
          <p:nvGrpSpPr>
            <p:cNvPr id="5154" name="Group 100"/>
            <p:cNvGrpSpPr>
              <a:grpSpLocks/>
            </p:cNvGrpSpPr>
            <p:nvPr/>
          </p:nvGrpSpPr>
          <p:grpSpPr bwMode="auto">
            <a:xfrm>
              <a:off x="2812141" y="4896054"/>
              <a:ext cx="693016" cy="369332"/>
              <a:chOff x="2510832" y="3573016"/>
              <a:chExt cx="693016" cy="369332"/>
            </a:xfrm>
          </p:grpSpPr>
          <p:cxnSp>
            <p:nvCxnSpPr>
              <p:cNvPr id="105" name="Straight Arrow Connector 104"/>
              <p:cNvCxnSpPr/>
              <p:nvPr/>
            </p:nvCxnSpPr>
            <p:spPr bwMode="auto">
              <a:xfrm>
                <a:off x="2605213" y="3585904"/>
                <a:ext cx="33329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64" name="TextBox 105"/>
              <p:cNvSpPr txBox="1">
                <a:spLocks noChangeArrowheads="1"/>
              </p:cNvSpPr>
              <p:nvPr/>
            </p:nvSpPr>
            <p:spPr bwMode="auto">
              <a:xfrm>
                <a:off x="2510832" y="3573016"/>
                <a:ext cx="6930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B0F0"/>
                    </a:solidFill>
                  </a:rPr>
                  <a:t>PP′</a:t>
                </a:r>
                <a:endParaRPr lang="en-IN" altLang="en-US">
                  <a:solidFill>
                    <a:srgbClr val="00B0F0"/>
                  </a:solidFill>
                </a:endParaRPr>
              </a:p>
            </p:txBody>
          </p:sp>
        </p:grpSp>
        <p:grpSp>
          <p:nvGrpSpPr>
            <p:cNvPr id="5155" name="Group 106"/>
            <p:cNvGrpSpPr>
              <a:grpSpLocks/>
            </p:cNvGrpSpPr>
            <p:nvPr/>
          </p:nvGrpSpPr>
          <p:grpSpPr bwMode="auto">
            <a:xfrm>
              <a:off x="3644193" y="4882243"/>
              <a:ext cx="527426" cy="378624"/>
              <a:chOff x="7388696" y="2987660"/>
              <a:chExt cx="527426" cy="378624"/>
            </a:xfrm>
          </p:grpSpPr>
          <p:grpSp>
            <p:nvGrpSpPr>
              <p:cNvPr id="5156" name="Group 107"/>
              <p:cNvGrpSpPr>
                <a:grpSpLocks/>
              </p:cNvGrpSpPr>
              <p:nvPr/>
            </p:nvGrpSpPr>
            <p:grpSpPr bwMode="auto">
              <a:xfrm>
                <a:off x="7668344" y="2987660"/>
                <a:ext cx="247778" cy="369332"/>
                <a:chOff x="3316110" y="1997224"/>
                <a:chExt cx="247778" cy="369332"/>
              </a:xfrm>
            </p:grpSpPr>
            <p:cxnSp>
              <p:nvCxnSpPr>
                <p:cNvPr id="113" name="Straight Arrow Connector 112"/>
                <p:cNvCxnSpPr/>
                <p:nvPr/>
              </p:nvCxnSpPr>
              <p:spPr bwMode="auto">
                <a:xfrm>
                  <a:off x="3392298" y="2068479"/>
                  <a:ext cx="17140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62" name="TextBox 113"/>
                <p:cNvSpPr txBox="1">
                  <a:spLocks noChangeArrowheads="1"/>
                </p:cNvSpPr>
                <p:nvPr/>
              </p:nvSpPr>
              <p:spPr bwMode="auto">
                <a:xfrm>
                  <a:off x="3316110" y="1997224"/>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B0F0"/>
                      </a:solidFill>
                    </a:rPr>
                    <a:t>r</a:t>
                  </a:r>
                  <a:endParaRPr lang="en-IN" altLang="en-US">
                    <a:solidFill>
                      <a:srgbClr val="00B0F0"/>
                    </a:solidFill>
                  </a:endParaRPr>
                </a:p>
              </p:txBody>
            </p:sp>
          </p:grpSp>
          <p:grpSp>
            <p:nvGrpSpPr>
              <p:cNvPr id="5157" name="Group 108"/>
              <p:cNvGrpSpPr>
                <a:grpSpLocks/>
              </p:cNvGrpSpPr>
              <p:nvPr/>
            </p:nvGrpSpPr>
            <p:grpSpPr bwMode="auto">
              <a:xfrm>
                <a:off x="7388696" y="2987660"/>
                <a:ext cx="360040" cy="369332"/>
                <a:chOff x="7948736" y="1411868"/>
                <a:chExt cx="360040" cy="369332"/>
              </a:xfrm>
            </p:grpSpPr>
            <p:cxnSp>
              <p:nvCxnSpPr>
                <p:cNvPr id="111" name="Straight Arrow Connector 110"/>
                <p:cNvCxnSpPr/>
                <p:nvPr/>
              </p:nvCxnSpPr>
              <p:spPr bwMode="auto">
                <a:xfrm>
                  <a:off x="8025243" y="1456071"/>
                  <a:ext cx="17140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60" name="TextBox 111"/>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B0F0"/>
                      </a:solidFill>
                    </a:rPr>
                    <a:t>r′</a:t>
                  </a:r>
                  <a:endParaRPr lang="en-IN" altLang="en-US">
                    <a:solidFill>
                      <a:srgbClr val="00B0F0"/>
                    </a:solidFill>
                  </a:endParaRPr>
                </a:p>
              </p:txBody>
            </p:sp>
          </p:grpSp>
          <p:sp>
            <p:nvSpPr>
              <p:cNvPr id="5158" name="Rectangle 109"/>
              <p:cNvSpPr>
                <a:spLocks noChangeArrowheads="1"/>
              </p:cNvSpPr>
              <p:nvPr/>
            </p:nvSpPr>
            <p:spPr bwMode="auto">
              <a:xfrm>
                <a:off x="7524328" y="2996952"/>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a:t>
                </a:r>
                <a:endParaRPr lang="en-IN" altLang="en-US">
                  <a:solidFill>
                    <a:srgbClr val="00B0F0"/>
                  </a:solidFill>
                </a:endParaRPr>
              </a:p>
            </p:txBody>
          </p:sp>
        </p:grpSp>
      </p:grpSp>
      <p:sp>
        <p:nvSpPr>
          <p:cNvPr id="5151" name="Rectangle 117"/>
          <p:cNvSpPr>
            <a:spLocks noChangeArrowheads="1"/>
          </p:cNvSpPr>
          <p:nvPr/>
        </p:nvSpPr>
        <p:spPr bwMode="auto">
          <a:xfrm>
            <a:off x="1774825" y="5076826"/>
            <a:ext cx="87137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66FF"/>
                </a:solidFill>
              </a:rPr>
              <a:t>Note that the displacement vector is same even if the object moves through different courses from P to P′ , say PBP′ or any other infinite number of paths.</a:t>
            </a:r>
          </a:p>
        </p:txBody>
      </p:sp>
      <p:grpSp>
        <p:nvGrpSpPr>
          <p:cNvPr id="8" name="Group 7"/>
          <p:cNvGrpSpPr>
            <a:grpSpLocks/>
          </p:cNvGrpSpPr>
          <p:nvPr/>
        </p:nvGrpSpPr>
        <p:grpSpPr bwMode="auto">
          <a:xfrm>
            <a:off x="8516938" y="887414"/>
            <a:ext cx="971550" cy="1074737"/>
            <a:chOff x="6992471" y="887506"/>
            <a:chExt cx="972165" cy="1074440"/>
          </a:xfrm>
        </p:grpSpPr>
        <p:sp>
          <p:nvSpPr>
            <p:cNvPr id="5" name="Text Box 62"/>
            <p:cNvSpPr txBox="1">
              <a:spLocks noChangeArrowheads="1"/>
            </p:cNvSpPr>
            <p:nvPr/>
          </p:nvSpPr>
          <p:spPr bwMode="auto">
            <a:xfrm>
              <a:off x="7596336" y="1595233"/>
              <a:ext cx="36830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B</a:t>
              </a:r>
            </a:p>
          </p:txBody>
        </p:sp>
        <p:sp>
          <p:nvSpPr>
            <p:cNvPr id="7" name="Freeform 6"/>
            <p:cNvSpPr/>
            <p:nvPr/>
          </p:nvSpPr>
          <p:spPr>
            <a:xfrm>
              <a:off x="6992471" y="887506"/>
              <a:ext cx="868912" cy="760202"/>
            </a:xfrm>
            <a:custGeom>
              <a:avLst/>
              <a:gdLst>
                <a:gd name="connsiteX0" fmla="*/ 0 w 868386"/>
                <a:gd name="connsiteY0" fmla="*/ 188259 h 760284"/>
                <a:gd name="connsiteX1" fmla="*/ 174811 w 868386"/>
                <a:gd name="connsiteY1" fmla="*/ 497541 h 760284"/>
                <a:gd name="connsiteX2" fmla="*/ 430305 w 868386"/>
                <a:gd name="connsiteY2" fmla="*/ 591670 h 760284"/>
                <a:gd name="connsiteX3" fmla="*/ 632011 w 868386"/>
                <a:gd name="connsiteY3" fmla="*/ 753035 h 760284"/>
                <a:gd name="connsiteX4" fmla="*/ 860611 w 868386"/>
                <a:gd name="connsiteY4" fmla="*/ 712694 h 760284"/>
                <a:gd name="connsiteX5" fmla="*/ 806823 w 868386"/>
                <a:gd name="connsiteY5" fmla="*/ 537882 h 760284"/>
                <a:gd name="connsiteX6" fmla="*/ 726141 w 868386"/>
                <a:gd name="connsiteY6" fmla="*/ 255494 h 760284"/>
                <a:gd name="connsiteX7" fmla="*/ 739588 w 868386"/>
                <a:gd name="connsiteY7" fmla="*/ 0 h 76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8386" h="760284">
                  <a:moveTo>
                    <a:pt x="0" y="188259"/>
                  </a:moveTo>
                  <a:cubicBezTo>
                    <a:pt x="51547" y="309282"/>
                    <a:pt x="103094" y="430306"/>
                    <a:pt x="174811" y="497541"/>
                  </a:cubicBezTo>
                  <a:cubicBezTo>
                    <a:pt x="246528" y="564776"/>
                    <a:pt x="354105" y="549088"/>
                    <a:pt x="430305" y="591670"/>
                  </a:cubicBezTo>
                  <a:cubicBezTo>
                    <a:pt x="506505" y="634252"/>
                    <a:pt x="560293" y="732864"/>
                    <a:pt x="632011" y="753035"/>
                  </a:cubicBezTo>
                  <a:cubicBezTo>
                    <a:pt x="703729" y="773206"/>
                    <a:pt x="831476" y="748553"/>
                    <a:pt x="860611" y="712694"/>
                  </a:cubicBezTo>
                  <a:cubicBezTo>
                    <a:pt x="889746" y="676835"/>
                    <a:pt x="829235" y="614082"/>
                    <a:pt x="806823" y="537882"/>
                  </a:cubicBezTo>
                  <a:cubicBezTo>
                    <a:pt x="784411" y="461682"/>
                    <a:pt x="737347" y="345141"/>
                    <a:pt x="726141" y="255494"/>
                  </a:cubicBezTo>
                  <a:cubicBezTo>
                    <a:pt x="714935" y="165847"/>
                    <a:pt x="727261" y="82923"/>
                    <a:pt x="739588" y="0"/>
                  </a:cubicBezTo>
                </a:path>
              </a:pathLst>
            </a:custGeom>
            <a:ln w="19050">
              <a:solidFill>
                <a:srgbClr val="66FF33"/>
              </a:solidFill>
            </a:ln>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000000"/>
                </a:solidFill>
                <a:latin typeface="Arial"/>
              </a:endParaRPr>
            </a:p>
          </p:txBody>
        </p:sp>
      </p:grpSp>
      <p:sp>
        <p:nvSpPr>
          <p:cNvPr id="6" name="TextBox 76"/>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5149" name="TextBox 77"/>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5150" name="TextBox 79"/>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6298688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fltVal val="0"/>
                                          </p:val>
                                        </p:tav>
                                        <p:tav tm="100000">
                                          <p:val>
                                            <p:strVal val="#ppt_w"/>
                                          </p:val>
                                        </p:tav>
                                      </p:tavLst>
                                    </p:anim>
                                    <p:anim calcmode="lin" valueType="num">
                                      <p:cBhvr>
                                        <p:cTn id="8" dur="500" fill="hold"/>
                                        <p:tgtEl>
                                          <p:spTgt spid="5123"/>
                                        </p:tgtEl>
                                        <p:attrNameLst>
                                          <p:attrName>ppt_h</p:attrName>
                                        </p:attrNameLst>
                                      </p:cBhvr>
                                      <p:tavLst>
                                        <p:tav tm="0">
                                          <p:val>
                                            <p:fltVal val="0"/>
                                          </p:val>
                                        </p:tav>
                                        <p:tav tm="100000">
                                          <p:val>
                                            <p:strVal val="#ppt_h"/>
                                          </p:val>
                                        </p:tav>
                                      </p:tavLst>
                                    </p:anim>
                                    <p:animEffect transition="in" filter="fade">
                                      <p:cBhvr>
                                        <p:cTn id="9" dur="500"/>
                                        <p:tgtEl>
                                          <p:spTgt spid="512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wipe(up)">
                                      <p:cBhvr>
                                        <p:cTn id="14" dur="500"/>
                                        <p:tgtEl>
                                          <p:spTgt spid="20">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anim calcmode="lin" valueType="num">
                                      <p:cBhvr>
                                        <p:cTn id="19" dur="500" fill="hold"/>
                                        <p:tgtEl>
                                          <p:spTgt spid="60"/>
                                        </p:tgtEl>
                                        <p:attrNameLst>
                                          <p:attrName>ppt_w</p:attrName>
                                        </p:attrNameLst>
                                      </p:cBhvr>
                                      <p:tavLst>
                                        <p:tav tm="0">
                                          <p:val>
                                            <p:fltVal val="0"/>
                                          </p:val>
                                        </p:tav>
                                        <p:tav tm="100000">
                                          <p:val>
                                            <p:strVal val="#ppt_w"/>
                                          </p:val>
                                        </p:tav>
                                      </p:tavLst>
                                    </p:anim>
                                    <p:anim calcmode="lin" valueType="num">
                                      <p:cBhvr>
                                        <p:cTn id="20" dur="500" fill="hold"/>
                                        <p:tgtEl>
                                          <p:spTgt spid="60"/>
                                        </p:tgtEl>
                                        <p:attrNameLst>
                                          <p:attrName>ppt_h</p:attrName>
                                        </p:attrNameLst>
                                      </p:cBhvr>
                                      <p:tavLst>
                                        <p:tav tm="0">
                                          <p:val>
                                            <p:fltVal val="0"/>
                                          </p:val>
                                        </p:tav>
                                        <p:tav tm="100000">
                                          <p:val>
                                            <p:strVal val="#ppt_h"/>
                                          </p:val>
                                        </p:tav>
                                      </p:tavLst>
                                    </p:anim>
                                    <p:animEffect transition="in" filter="fade">
                                      <p:cBhvr>
                                        <p:cTn id="21" dur="500"/>
                                        <p:tgtEl>
                                          <p:spTgt spid="6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wipe(left)">
                                      <p:cBhvr>
                                        <p:cTn id="26" dur="500"/>
                                        <p:tgtEl>
                                          <p:spTgt spid="40"/>
                                        </p:tgtEl>
                                      </p:cBhvr>
                                    </p:animEffect>
                                  </p:childTnLst>
                                </p:cTn>
                              </p:par>
                              <p:par>
                                <p:cTn id="27" presetID="22" presetClass="entr" presetSubtype="4"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down)">
                                      <p:cBhvr>
                                        <p:cTn id="29" dur="500"/>
                                        <p:tgtEl>
                                          <p:spTgt spid="41"/>
                                        </p:tgtEl>
                                      </p:cBhvr>
                                    </p:animEffect>
                                  </p:childTnLst>
                                </p:cTn>
                              </p:par>
                            </p:childTnLst>
                          </p:cTn>
                        </p:par>
                        <p:par>
                          <p:cTn id="30" fill="hold" nodeType="afterGroup">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dissolve">
                                      <p:cBhvr>
                                        <p:cTn id="33" dur="500"/>
                                        <p:tgtEl>
                                          <p:spTgt spid="43"/>
                                        </p:tgtEl>
                                      </p:cBhvr>
                                    </p:animEffect>
                                  </p:childTnLst>
                                </p:cTn>
                              </p:par>
                            </p:childTnLst>
                          </p:cTn>
                        </p:par>
                        <p:par>
                          <p:cTn id="34" fill="hold" nodeType="afterGroup">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dissolve">
                                      <p:cBhvr>
                                        <p:cTn id="37" dur="500"/>
                                        <p:tgtEl>
                                          <p:spTgt spid="4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dissolve">
                                      <p:cBhvr>
                                        <p:cTn id="40" dur="500"/>
                                        <p:tgtEl>
                                          <p:spTgt spid="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 calcmode="lin" valueType="num">
                                      <p:cBhvr>
                                        <p:cTn id="45" dur="500" fill="hold"/>
                                        <p:tgtEl>
                                          <p:spTgt spid="39"/>
                                        </p:tgtEl>
                                        <p:attrNameLst>
                                          <p:attrName>ppt_w</p:attrName>
                                        </p:attrNameLst>
                                      </p:cBhvr>
                                      <p:tavLst>
                                        <p:tav tm="0">
                                          <p:val>
                                            <p:fltVal val="0"/>
                                          </p:val>
                                        </p:tav>
                                        <p:tav tm="100000">
                                          <p:val>
                                            <p:strVal val="#ppt_w"/>
                                          </p:val>
                                        </p:tav>
                                      </p:tavLst>
                                    </p:anim>
                                    <p:anim calcmode="lin" valueType="num">
                                      <p:cBhvr>
                                        <p:cTn id="46" dur="500" fill="hold"/>
                                        <p:tgtEl>
                                          <p:spTgt spid="39"/>
                                        </p:tgtEl>
                                        <p:attrNameLst>
                                          <p:attrName>ppt_h</p:attrName>
                                        </p:attrNameLst>
                                      </p:cBhvr>
                                      <p:tavLst>
                                        <p:tav tm="0">
                                          <p:val>
                                            <p:fltVal val="0"/>
                                          </p:val>
                                        </p:tav>
                                        <p:tav tm="100000">
                                          <p:val>
                                            <p:strVal val="#ppt_h"/>
                                          </p:val>
                                        </p:tav>
                                      </p:tavLst>
                                    </p:anim>
                                    <p:animEffect transition="in" filter="fade">
                                      <p:cBhvr>
                                        <p:cTn id="47" dur="500"/>
                                        <p:tgtEl>
                                          <p:spTgt spid="39"/>
                                        </p:tgtEl>
                                      </p:cBhvr>
                                    </p:animEffect>
                                  </p:childTnLst>
                                </p:cTn>
                              </p:par>
                            </p:childTnLst>
                          </p:cTn>
                        </p:par>
                        <p:par>
                          <p:cTn id="48" fill="hold" nodeType="afterGroup">
                            <p:stCondLst>
                              <p:cond delay="500"/>
                            </p:stCondLst>
                            <p:childTnLst>
                              <p:par>
                                <p:cTn id="49" presetID="53" presetClass="entr" presetSubtype="0" fill="hold" grpId="0" nodeType="afterEffect">
                                  <p:stCondLst>
                                    <p:cond delay="0"/>
                                  </p:stCondLst>
                                  <p:childTnLst>
                                    <p:set>
                                      <p:cBhvr>
                                        <p:cTn id="50" dur="1" fill="hold">
                                          <p:stCondLst>
                                            <p:cond delay="0"/>
                                          </p:stCondLst>
                                        </p:cTn>
                                        <p:tgtEl>
                                          <p:spTgt spid="61"/>
                                        </p:tgtEl>
                                        <p:attrNameLst>
                                          <p:attrName>style.visibility</p:attrName>
                                        </p:attrNameLst>
                                      </p:cBhvr>
                                      <p:to>
                                        <p:strVal val="visible"/>
                                      </p:to>
                                    </p:set>
                                    <p:anim calcmode="lin" valueType="num">
                                      <p:cBhvr>
                                        <p:cTn id="51" dur="500" fill="hold"/>
                                        <p:tgtEl>
                                          <p:spTgt spid="61"/>
                                        </p:tgtEl>
                                        <p:attrNameLst>
                                          <p:attrName>ppt_w</p:attrName>
                                        </p:attrNameLst>
                                      </p:cBhvr>
                                      <p:tavLst>
                                        <p:tav tm="0">
                                          <p:val>
                                            <p:fltVal val="0"/>
                                          </p:val>
                                        </p:tav>
                                        <p:tav tm="100000">
                                          <p:val>
                                            <p:strVal val="#ppt_w"/>
                                          </p:val>
                                        </p:tav>
                                      </p:tavLst>
                                    </p:anim>
                                    <p:anim calcmode="lin" valueType="num">
                                      <p:cBhvr>
                                        <p:cTn id="52" dur="500" fill="hold"/>
                                        <p:tgtEl>
                                          <p:spTgt spid="61"/>
                                        </p:tgtEl>
                                        <p:attrNameLst>
                                          <p:attrName>ppt_h</p:attrName>
                                        </p:attrNameLst>
                                      </p:cBhvr>
                                      <p:tavLst>
                                        <p:tav tm="0">
                                          <p:val>
                                            <p:fltVal val="0"/>
                                          </p:val>
                                        </p:tav>
                                        <p:tav tm="100000">
                                          <p:val>
                                            <p:strVal val="#ppt_h"/>
                                          </p:val>
                                        </p:tav>
                                      </p:tavLst>
                                    </p:anim>
                                    <p:animEffect transition="in" filter="fade">
                                      <p:cBhvr>
                                        <p:cTn id="53" dur="500"/>
                                        <p:tgtEl>
                                          <p:spTgt spid="6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20">
                                            <p:txEl>
                                              <p:pRg st="1" end="1"/>
                                            </p:txEl>
                                          </p:spTgt>
                                        </p:tgtEl>
                                        <p:attrNameLst>
                                          <p:attrName>style.visibility</p:attrName>
                                        </p:attrNameLst>
                                      </p:cBhvr>
                                      <p:to>
                                        <p:strVal val="visible"/>
                                      </p:to>
                                    </p:set>
                                    <p:animEffect transition="in" filter="wipe(up)">
                                      <p:cBhvr>
                                        <p:cTn id="58" dur="500"/>
                                        <p:tgtEl>
                                          <p:spTgt spid="20">
                                            <p:txEl>
                                              <p:pRg st="1" end="1"/>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20">
                                            <p:txEl>
                                              <p:pRg st="2" end="2"/>
                                            </p:txEl>
                                          </p:spTgt>
                                        </p:tgtEl>
                                        <p:attrNameLst>
                                          <p:attrName>style.visibility</p:attrName>
                                        </p:attrNameLst>
                                      </p:cBhvr>
                                      <p:to>
                                        <p:strVal val="visible"/>
                                      </p:to>
                                    </p:set>
                                    <p:animEffect transition="in" filter="wipe(up)">
                                      <p:cBhvr>
                                        <p:cTn id="63" dur="500"/>
                                        <p:tgtEl>
                                          <p:spTgt spid="20">
                                            <p:txEl>
                                              <p:pRg st="2" end="2"/>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down)">
                                      <p:cBhvr>
                                        <p:cTn id="68" dur="500"/>
                                        <p:tgtEl>
                                          <p:spTgt spid="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nodeType="clickEffect">
                                  <p:stCondLst>
                                    <p:cond delay="0"/>
                                  </p:stCondLst>
                                  <p:childTnLst>
                                    <p:set>
                                      <p:cBhvr>
                                        <p:cTn id="72" dur="1" fill="hold">
                                          <p:stCondLst>
                                            <p:cond delay="0"/>
                                          </p:stCondLst>
                                        </p:cTn>
                                        <p:tgtEl>
                                          <p:spTgt spid="5125"/>
                                        </p:tgtEl>
                                        <p:attrNameLst>
                                          <p:attrName>style.visibility</p:attrName>
                                        </p:attrNameLst>
                                      </p:cBhvr>
                                      <p:to>
                                        <p:strVal val="visible"/>
                                      </p:to>
                                    </p:set>
                                    <p:animEffect transition="in" filter="wipe(up)">
                                      <p:cBhvr>
                                        <p:cTn id="73" dur="500"/>
                                        <p:tgtEl>
                                          <p:spTgt spid="512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wipe(left)">
                                      <p:cBhvr>
                                        <p:cTn id="78" dur="500"/>
                                        <p:tgtEl>
                                          <p:spTgt spid="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146"/>
                                        </p:tgtEl>
                                        <p:attrNameLst>
                                          <p:attrName>style.visibility</p:attrName>
                                        </p:attrNameLst>
                                      </p:cBhvr>
                                      <p:to>
                                        <p:strVal val="visible"/>
                                      </p:to>
                                    </p:set>
                                    <p:animEffect transition="in" filter="wipe(left)">
                                      <p:cBhvr>
                                        <p:cTn id="83" dur="500"/>
                                        <p:tgtEl>
                                          <p:spTgt spid="514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wipe(left)">
                                      <p:cBhvr>
                                        <p:cTn id="88" dur="500"/>
                                        <p:tgtEl>
                                          <p:spTgt spid="88"/>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wipe(left)">
                                      <p:cBhvr>
                                        <p:cTn id="91" dur="500"/>
                                        <p:tgtEl>
                                          <p:spTgt spid="89"/>
                                        </p:tgtEl>
                                      </p:cBhvr>
                                    </p:animEffect>
                                  </p:childTnLst>
                                </p:cTn>
                              </p:par>
                            </p:childTnLst>
                          </p:cTn>
                        </p:par>
                        <p:par>
                          <p:cTn id="92" fill="hold" nodeType="afterGroup">
                            <p:stCondLst>
                              <p:cond delay="500"/>
                            </p:stCondLst>
                            <p:childTnLst>
                              <p:par>
                                <p:cTn id="93" presetID="53" presetClass="entr" presetSubtype="0" fill="hold" grpId="0" nodeType="afterEffect">
                                  <p:stCondLst>
                                    <p:cond delay="0"/>
                                  </p:stCondLst>
                                  <p:childTnLst>
                                    <p:set>
                                      <p:cBhvr>
                                        <p:cTn id="94" dur="1" fill="hold">
                                          <p:stCondLst>
                                            <p:cond delay="0"/>
                                          </p:stCondLst>
                                        </p:cTn>
                                        <p:tgtEl>
                                          <p:spTgt spid="66"/>
                                        </p:tgtEl>
                                        <p:attrNameLst>
                                          <p:attrName>style.visibility</p:attrName>
                                        </p:attrNameLst>
                                      </p:cBhvr>
                                      <p:to>
                                        <p:strVal val="visible"/>
                                      </p:to>
                                    </p:set>
                                    <p:anim calcmode="lin" valueType="num">
                                      <p:cBhvr>
                                        <p:cTn id="95" dur="500" fill="hold"/>
                                        <p:tgtEl>
                                          <p:spTgt spid="66"/>
                                        </p:tgtEl>
                                        <p:attrNameLst>
                                          <p:attrName>ppt_w</p:attrName>
                                        </p:attrNameLst>
                                      </p:cBhvr>
                                      <p:tavLst>
                                        <p:tav tm="0">
                                          <p:val>
                                            <p:fltVal val="0"/>
                                          </p:val>
                                        </p:tav>
                                        <p:tav tm="100000">
                                          <p:val>
                                            <p:strVal val="#ppt_w"/>
                                          </p:val>
                                        </p:tav>
                                      </p:tavLst>
                                    </p:anim>
                                    <p:anim calcmode="lin" valueType="num">
                                      <p:cBhvr>
                                        <p:cTn id="96" dur="500" fill="hold"/>
                                        <p:tgtEl>
                                          <p:spTgt spid="66"/>
                                        </p:tgtEl>
                                        <p:attrNameLst>
                                          <p:attrName>ppt_h</p:attrName>
                                        </p:attrNameLst>
                                      </p:cBhvr>
                                      <p:tavLst>
                                        <p:tav tm="0">
                                          <p:val>
                                            <p:fltVal val="0"/>
                                          </p:val>
                                        </p:tav>
                                        <p:tav tm="100000">
                                          <p:val>
                                            <p:strVal val="#ppt_h"/>
                                          </p:val>
                                        </p:tav>
                                      </p:tavLst>
                                    </p:anim>
                                    <p:animEffect transition="in" filter="fade">
                                      <p:cBhvr>
                                        <p:cTn id="97" dur="500"/>
                                        <p:tgtEl>
                                          <p:spTgt spid="66"/>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67"/>
                                        </p:tgtEl>
                                        <p:attrNameLst>
                                          <p:attrName>style.visibility</p:attrName>
                                        </p:attrNameLst>
                                      </p:cBhvr>
                                      <p:to>
                                        <p:strVal val="visible"/>
                                      </p:to>
                                    </p:set>
                                    <p:animEffect transition="in" filter="wipe(left)">
                                      <p:cBhvr>
                                        <p:cTn id="100" dur="500"/>
                                        <p:tgtEl>
                                          <p:spTgt spid="6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nodeType="click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wipe(down)">
                                      <p:cBhvr>
                                        <p:cTn id="105" dur="500"/>
                                        <p:tgtEl>
                                          <p:spTgt spid="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5147"/>
                                        </p:tgtEl>
                                        <p:attrNameLst>
                                          <p:attrName>style.visibility</p:attrName>
                                        </p:attrNameLst>
                                      </p:cBhvr>
                                      <p:to>
                                        <p:strVal val="visible"/>
                                      </p:to>
                                    </p:set>
                                    <p:animEffect transition="in" filter="wipe(left)">
                                      <p:cBhvr>
                                        <p:cTn id="110" dur="500"/>
                                        <p:tgtEl>
                                          <p:spTgt spid="5147"/>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5148"/>
                                        </p:tgtEl>
                                        <p:attrNameLst>
                                          <p:attrName>style.visibility</p:attrName>
                                        </p:attrNameLst>
                                      </p:cBhvr>
                                      <p:to>
                                        <p:strVal val="visible"/>
                                      </p:to>
                                    </p:set>
                                    <p:animEffect transition="in" filter="wipe(left)">
                                      <p:cBhvr>
                                        <p:cTn id="115" dur="500"/>
                                        <p:tgtEl>
                                          <p:spTgt spid="5148"/>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74"/>
                                        </p:tgtEl>
                                        <p:attrNameLst>
                                          <p:attrName>style.visibility</p:attrName>
                                        </p:attrNameLst>
                                      </p:cBhvr>
                                      <p:to>
                                        <p:strVal val="visible"/>
                                      </p:to>
                                    </p:set>
                                    <p:animEffect transition="in" filter="wipe(left)">
                                      <p:cBhvr>
                                        <p:cTn id="120" dur="500"/>
                                        <p:tgtEl>
                                          <p:spTgt spid="74"/>
                                        </p:tgtEl>
                                      </p:cBhvr>
                                    </p:animEffect>
                                  </p:childTnLst>
                                </p:cTn>
                              </p:par>
                            </p:childTnLst>
                          </p:cTn>
                        </p:par>
                        <p:par>
                          <p:cTn id="121" fill="hold" nodeType="afterGroup">
                            <p:stCondLst>
                              <p:cond delay="500"/>
                            </p:stCondLst>
                            <p:childTnLst>
                              <p:par>
                                <p:cTn id="122" presetID="53" presetClass="entr" presetSubtype="16" fill="hold" nodeType="afterEffect">
                                  <p:stCondLst>
                                    <p:cond delay="0"/>
                                  </p:stCondLst>
                                  <p:childTnLst>
                                    <p:set>
                                      <p:cBhvr>
                                        <p:cTn id="123" dur="1" fill="hold">
                                          <p:stCondLst>
                                            <p:cond delay="0"/>
                                          </p:stCondLst>
                                        </p:cTn>
                                        <p:tgtEl>
                                          <p:spTgt spid="5143"/>
                                        </p:tgtEl>
                                        <p:attrNameLst>
                                          <p:attrName>style.visibility</p:attrName>
                                        </p:attrNameLst>
                                      </p:cBhvr>
                                      <p:to>
                                        <p:strVal val="visible"/>
                                      </p:to>
                                    </p:set>
                                    <p:anim calcmode="lin" valueType="num">
                                      <p:cBhvr>
                                        <p:cTn id="124" dur="500" fill="hold"/>
                                        <p:tgtEl>
                                          <p:spTgt spid="5143"/>
                                        </p:tgtEl>
                                        <p:attrNameLst>
                                          <p:attrName>ppt_w</p:attrName>
                                        </p:attrNameLst>
                                      </p:cBhvr>
                                      <p:tavLst>
                                        <p:tav tm="0">
                                          <p:val>
                                            <p:fltVal val="0"/>
                                          </p:val>
                                        </p:tav>
                                        <p:tav tm="100000">
                                          <p:val>
                                            <p:strVal val="#ppt_w"/>
                                          </p:val>
                                        </p:tav>
                                      </p:tavLst>
                                    </p:anim>
                                    <p:anim calcmode="lin" valueType="num">
                                      <p:cBhvr>
                                        <p:cTn id="125" dur="500" fill="hold"/>
                                        <p:tgtEl>
                                          <p:spTgt spid="5143"/>
                                        </p:tgtEl>
                                        <p:attrNameLst>
                                          <p:attrName>ppt_h</p:attrName>
                                        </p:attrNameLst>
                                      </p:cBhvr>
                                      <p:tavLst>
                                        <p:tav tm="0">
                                          <p:val>
                                            <p:fltVal val="0"/>
                                          </p:val>
                                        </p:tav>
                                        <p:tav tm="100000">
                                          <p:val>
                                            <p:strVal val="#ppt_h"/>
                                          </p:val>
                                        </p:tav>
                                      </p:tavLst>
                                    </p:anim>
                                    <p:animEffect transition="in" filter="fade">
                                      <p:cBhvr>
                                        <p:cTn id="126" dur="500"/>
                                        <p:tgtEl>
                                          <p:spTgt spid="5143"/>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8"/>
                                        </p:tgtEl>
                                        <p:attrNameLst>
                                          <p:attrName>style.visibility</p:attrName>
                                        </p:attrNameLst>
                                      </p:cBhvr>
                                      <p:to>
                                        <p:strVal val="visible"/>
                                      </p:to>
                                    </p:set>
                                    <p:animEffect transition="in" filter="wipe(left)">
                                      <p:cBhvr>
                                        <p:cTn id="131" dur="500"/>
                                        <p:tgtEl>
                                          <p:spTgt spid="8"/>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5151"/>
                                        </p:tgtEl>
                                        <p:attrNameLst>
                                          <p:attrName>style.visibility</p:attrName>
                                        </p:attrNameLst>
                                      </p:cBhvr>
                                      <p:to>
                                        <p:strVal val="visible"/>
                                      </p:to>
                                    </p:set>
                                    <p:animEffect transition="in" filter="wipe(up)">
                                      <p:cBhvr>
                                        <p:cTn id="136" dur="500"/>
                                        <p:tgtEl>
                                          <p:spTgt spid="5151"/>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17">
                                            <p:txEl>
                                              <p:pRg st="0" end="0"/>
                                            </p:txEl>
                                          </p:spTgt>
                                        </p:tgtEl>
                                        <p:attrNameLst>
                                          <p:attrName>style.visibility</p:attrName>
                                        </p:attrNameLst>
                                      </p:cBhvr>
                                      <p:to>
                                        <p:strVal val="visible"/>
                                      </p:to>
                                    </p:set>
                                    <p:animEffect transition="in" filter="wipe(left)">
                                      <p:cBhvr>
                                        <p:cTn id="141" dur="500"/>
                                        <p:tgtEl>
                                          <p:spTgt spid="17">
                                            <p:txEl>
                                              <p:pRg st="0" end="0"/>
                                            </p:txEl>
                                          </p:spTgt>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nodeType="clickEffect">
                                  <p:stCondLst>
                                    <p:cond delay="0"/>
                                  </p:stCondLst>
                                  <p:childTnLst>
                                    <p:set>
                                      <p:cBhvr>
                                        <p:cTn id="145" dur="1" fill="hold">
                                          <p:stCondLst>
                                            <p:cond delay="0"/>
                                          </p:stCondLst>
                                        </p:cTn>
                                        <p:tgtEl>
                                          <p:spTgt spid="17">
                                            <p:txEl>
                                              <p:pRg st="1" end="1"/>
                                            </p:txEl>
                                          </p:spTgt>
                                        </p:tgtEl>
                                        <p:attrNameLst>
                                          <p:attrName>style.visibility</p:attrName>
                                        </p:attrNameLst>
                                      </p:cBhvr>
                                      <p:to>
                                        <p:strVal val="visible"/>
                                      </p:to>
                                    </p:set>
                                    <p:animEffect transition="in" filter="wipe(left)">
                                      <p:cBhvr>
                                        <p:cTn id="146" dur="500"/>
                                        <p:tgtEl>
                                          <p:spTgt spid="17">
                                            <p:txEl>
                                              <p:pRg st="1" end="1"/>
                                            </p:txEl>
                                          </p:spTgt>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17">
                                            <p:txEl>
                                              <p:pRg st="2" end="2"/>
                                            </p:txEl>
                                          </p:spTgt>
                                        </p:tgtEl>
                                        <p:attrNameLst>
                                          <p:attrName>style.visibility</p:attrName>
                                        </p:attrNameLst>
                                      </p:cBhvr>
                                      <p:to>
                                        <p:strVal val="visible"/>
                                      </p:to>
                                    </p:set>
                                    <p:animEffect transition="in" filter="wipe(left)">
                                      <p:cBhvr>
                                        <p:cTn id="151"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P spid="39" grpId="0" animBg="1"/>
      <p:bldP spid="43" grpId="0"/>
      <p:bldP spid="45" grpId="0"/>
      <p:bldP spid="46" grpId="0"/>
      <p:bldP spid="60" grpId="0" animBg="1"/>
      <p:bldP spid="61" grpId="0"/>
      <p:bldP spid="66" grpId="0" animBg="1"/>
      <p:bldP spid="67" grpId="0"/>
      <p:bldP spid="89" grpId="0"/>
      <p:bldP spid="5146" grpId="0"/>
      <p:bldP spid="515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1919289" y="17463"/>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FF6699"/>
                </a:solidFill>
              </a:rPr>
              <a:t>Equality of Vectors</a:t>
            </a:r>
            <a:endParaRPr lang="en-IN" altLang="en-US" sz="2000">
              <a:solidFill>
                <a:srgbClr val="FF6699"/>
              </a:solidFill>
            </a:endParaRPr>
          </a:p>
        </p:txBody>
      </p:sp>
      <p:grpSp>
        <p:nvGrpSpPr>
          <p:cNvPr id="58" name="Group 57"/>
          <p:cNvGrpSpPr>
            <a:grpSpLocks/>
          </p:cNvGrpSpPr>
          <p:nvPr/>
        </p:nvGrpSpPr>
        <p:grpSpPr bwMode="auto">
          <a:xfrm>
            <a:off x="8535988" y="188913"/>
            <a:ext cx="1808162" cy="1878012"/>
            <a:chOff x="7012012" y="1019169"/>
            <a:chExt cx="1808460" cy="1878881"/>
          </a:xfrm>
        </p:grpSpPr>
        <p:sp>
          <p:nvSpPr>
            <p:cNvPr id="6219"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6220" name="Group 12"/>
            <p:cNvGrpSpPr>
              <a:grpSpLocks/>
            </p:cNvGrpSpPr>
            <p:nvPr/>
          </p:nvGrpSpPr>
          <p:grpSpPr bwMode="auto">
            <a:xfrm>
              <a:off x="7753840" y="1529898"/>
              <a:ext cx="274544" cy="369888"/>
              <a:chOff x="1547664" y="1997075"/>
              <a:chExt cx="274544" cy="369888"/>
            </a:xfrm>
          </p:grpSpPr>
          <p:cxnSp>
            <p:nvCxnSpPr>
              <p:cNvPr id="14" name="Straight Arrow Connector 13"/>
              <p:cNvCxnSpPr/>
              <p:nvPr/>
            </p:nvCxnSpPr>
            <p:spPr bwMode="auto">
              <a:xfrm>
                <a:off x="1650525" y="2042228"/>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2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sp>
          <p:nvSpPr>
            <p:cNvPr id="6221"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sp>
          <p:nvSpPr>
            <p:cNvPr id="6222"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grpSp>
      <p:grpSp>
        <p:nvGrpSpPr>
          <p:cNvPr id="61" name="Group 60"/>
          <p:cNvGrpSpPr>
            <a:grpSpLocks/>
          </p:cNvGrpSpPr>
          <p:nvPr/>
        </p:nvGrpSpPr>
        <p:grpSpPr bwMode="auto">
          <a:xfrm>
            <a:off x="1919289" y="404814"/>
            <a:ext cx="4968875" cy="923925"/>
            <a:chOff x="395536" y="551870"/>
            <a:chExt cx="4968552" cy="923330"/>
          </a:xfrm>
        </p:grpSpPr>
        <p:sp>
          <p:nvSpPr>
            <p:cNvPr id="6216" name="Rectangle 5"/>
            <p:cNvSpPr>
              <a:spLocks noChangeArrowheads="1"/>
            </p:cNvSpPr>
            <p:nvPr/>
          </p:nvSpPr>
          <p:spPr bwMode="auto">
            <a:xfrm>
              <a:off x="395536" y="551870"/>
              <a:ext cx="49685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Two vectors A and B are said to be equal if, and only if, they have the same magnitude and the same direction.  </a:t>
              </a:r>
              <a:endParaRPr lang="en-IN" altLang="en-US" b="1">
                <a:solidFill>
                  <a:srgbClr val="FFC000"/>
                </a:solidFill>
              </a:endParaRPr>
            </a:p>
          </p:txBody>
        </p:sp>
        <p:cxnSp>
          <p:nvCxnSpPr>
            <p:cNvPr id="22" name="Straight Arrow Connector 21"/>
            <p:cNvCxnSpPr/>
            <p:nvPr/>
          </p:nvCxnSpPr>
          <p:spPr bwMode="auto">
            <a:xfrm>
              <a:off x="1857528" y="593118"/>
              <a:ext cx="1714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bwMode="auto">
            <a:xfrm>
              <a:off x="2555983" y="593118"/>
              <a:ext cx="1714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5" name="Group 44"/>
          <p:cNvGrpSpPr>
            <a:grpSpLocks/>
          </p:cNvGrpSpPr>
          <p:nvPr/>
        </p:nvGrpSpPr>
        <p:grpSpPr bwMode="auto">
          <a:xfrm>
            <a:off x="1884363" y="1341438"/>
            <a:ext cx="5651500" cy="1200150"/>
            <a:chOff x="360040" y="1028343"/>
            <a:chExt cx="5652120" cy="1200329"/>
          </a:xfrm>
        </p:grpSpPr>
        <p:sp>
          <p:nvSpPr>
            <p:cNvPr id="6211" name="Rectangle 6"/>
            <p:cNvSpPr>
              <a:spLocks noChangeArrowheads="1"/>
            </p:cNvSpPr>
            <p:nvPr/>
          </p:nvSpPr>
          <p:spPr bwMode="auto">
            <a:xfrm>
              <a:off x="360040" y="1028343"/>
              <a:ext cx="56521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The figure shows two equal vectors A and B. </a:t>
              </a:r>
              <a:endParaRPr lang="en-IN" altLang="en-US" b="1">
                <a:solidFill>
                  <a:srgbClr val="FFCCFF"/>
                </a:solidFill>
              </a:endParaRPr>
            </a:p>
            <a:p>
              <a:pPr eaLnBrk="1" fontAlgn="base" hangingPunct="1">
                <a:spcBef>
                  <a:spcPct val="0"/>
                </a:spcBef>
                <a:spcAft>
                  <a:spcPct val="0"/>
                </a:spcAft>
              </a:pPr>
              <a:r>
                <a:rPr lang="en-US" altLang="en-US" b="1">
                  <a:solidFill>
                    <a:srgbClr val="FFCCFF"/>
                  </a:solidFill>
                </a:rPr>
                <a:t>To check their equality, shift B parallel to itself until its tail Q coincides with that of A, </a:t>
              </a:r>
            </a:p>
            <a:p>
              <a:pPr eaLnBrk="1" fontAlgn="base" hangingPunct="1">
                <a:spcBef>
                  <a:spcPct val="0"/>
                </a:spcBef>
                <a:spcAft>
                  <a:spcPct val="0"/>
                </a:spcAft>
              </a:pPr>
              <a:r>
                <a:rPr lang="en-US" altLang="en-US" b="1">
                  <a:solidFill>
                    <a:srgbClr val="FFCCFF"/>
                  </a:solidFill>
                </a:rPr>
                <a:t>i.e. Q coincides with O.</a:t>
              </a:r>
            </a:p>
          </p:txBody>
        </p:sp>
        <p:cxnSp>
          <p:nvCxnSpPr>
            <p:cNvPr id="24" name="Straight Arrow Connector 23"/>
            <p:cNvCxnSpPr/>
            <p:nvPr/>
          </p:nvCxnSpPr>
          <p:spPr bwMode="auto">
            <a:xfrm>
              <a:off x="4376856" y="1066449"/>
              <a:ext cx="1714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bwMode="auto">
            <a:xfrm>
              <a:off x="5075432" y="1066449"/>
              <a:ext cx="1714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bwMode="auto">
            <a:xfrm>
              <a:off x="4360979" y="1628508"/>
              <a:ext cx="1714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bwMode="auto">
            <a:xfrm>
              <a:off x="3581430" y="1345890"/>
              <a:ext cx="1714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 name="Rectangle 27"/>
          <p:cNvSpPr>
            <a:spLocks noChangeArrowheads="1"/>
          </p:cNvSpPr>
          <p:nvPr/>
        </p:nvSpPr>
        <p:spPr bwMode="auto">
          <a:xfrm>
            <a:off x="1847850" y="2544763"/>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99"/>
                </a:solidFill>
              </a:rPr>
              <a:t>Since their heads S and P also coincide, the two vectors are said to be equal. </a:t>
            </a:r>
            <a:endParaRPr lang="en-IN" altLang="en-US" b="1">
              <a:solidFill>
                <a:srgbClr val="FFFF99"/>
              </a:solidFill>
            </a:endParaRPr>
          </a:p>
        </p:txBody>
      </p:sp>
      <p:grpSp>
        <p:nvGrpSpPr>
          <p:cNvPr id="59" name="Group 58"/>
          <p:cNvGrpSpPr>
            <a:grpSpLocks/>
          </p:cNvGrpSpPr>
          <p:nvPr/>
        </p:nvGrpSpPr>
        <p:grpSpPr bwMode="auto">
          <a:xfrm>
            <a:off x="7564438" y="2330451"/>
            <a:ext cx="1884362" cy="1901825"/>
            <a:chOff x="5796135" y="3645024"/>
            <a:chExt cx="1883693" cy="1901721"/>
          </a:xfrm>
        </p:grpSpPr>
        <p:sp>
          <p:nvSpPr>
            <p:cNvPr id="6205" name="Line 22"/>
            <p:cNvSpPr>
              <a:spLocks noChangeShapeType="1"/>
            </p:cNvSpPr>
            <p:nvPr/>
          </p:nvSpPr>
          <p:spPr bwMode="auto">
            <a:xfrm flipV="1">
              <a:off x="6011615" y="3905845"/>
              <a:ext cx="1273175" cy="1296988"/>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6206" name="Group 33"/>
            <p:cNvGrpSpPr>
              <a:grpSpLocks/>
            </p:cNvGrpSpPr>
            <p:nvPr/>
          </p:nvGrpSpPr>
          <p:grpSpPr bwMode="auto">
            <a:xfrm>
              <a:off x="6372199" y="4157315"/>
              <a:ext cx="404843" cy="369332"/>
              <a:chOff x="1547663" y="1997075"/>
              <a:chExt cx="404843" cy="369332"/>
            </a:xfrm>
          </p:grpSpPr>
          <p:cxnSp>
            <p:nvCxnSpPr>
              <p:cNvPr id="35" name="Straight Arrow Connector 34"/>
              <p:cNvCxnSpPr/>
              <p:nvPr/>
            </p:nvCxnSpPr>
            <p:spPr bwMode="auto">
              <a:xfrm>
                <a:off x="1650807" y="2041967"/>
                <a:ext cx="17138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10" name="TextBox 6"/>
              <p:cNvSpPr txBox="1">
                <a:spLocks noChangeArrowheads="1"/>
              </p:cNvSpPr>
              <p:nvPr/>
            </p:nvSpPr>
            <p:spPr bwMode="auto">
              <a:xfrm>
                <a:off x="1547663" y="1997075"/>
                <a:ext cx="4048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6207" name="Text Box 62"/>
            <p:cNvSpPr txBox="1">
              <a:spLocks noChangeArrowheads="1"/>
            </p:cNvSpPr>
            <p:nvPr/>
          </p:nvSpPr>
          <p:spPr bwMode="auto">
            <a:xfrm>
              <a:off x="5796135" y="5177413"/>
              <a:ext cx="4315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6208" name="Text Box 62"/>
            <p:cNvSpPr txBox="1">
              <a:spLocks noChangeArrowheads="1"/>
            </p:cNvSpPr>
            <p:nvPr/>
          </p:nvSpPr>
          <p:spPr bwMode="auto">
            <a:xfrm>
              <a:off x="7246690" y="3645024"/>
              <a:ext cx="4331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60" name="Group 59"/>
          <p:cNvGrpSpPr>
            <a:grpSpLocks/>
          </p:cNvGrpSpPr>
          <p:nvPr/>
        </p:nvGrpSpPr>
        <p:grpSpPr bwMode="auto">
          <a:xfrm>
            <a:off x="7751764" y="3340100"/>
            <a:ext cx="2447925" cy="1296988"/>
            <a:chOff x="6228184" y="4492887"/>
            <a:chExt cx="2448272" cy="1296988"/>
          </a:xfrm>
        </p:grpSpPr>
        <p:sp>
          <p:nvSpPr>
            <p:cNvPr id="6199" name="Line 22"/>
            <p:cNvSpPr>
              <a:spLocks noChangeShapeType="1"/>
            </p:cNvSpPr>
            <p:nvPr/>
          </p:nvSpPr>
          <p:spPr bwMode="auto">
            <a:xfrm rot="1800000" flipV="1">
              <a:off x="6854147" y="4492887"/>
              <a:ext cx="1273175" cy="1296988"/>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6200" name="Group 36"/>
            <p:cNvGrpSpPr>
              <a:grpSpLocks/>
            </p:cNvGrpSpPr>
            <p:nvPr/>
          </p:nvGrpSpPr>
          <p:grpSpPr bwMode="auto">
            <a:xfrm>
              <a:off x="7335266" y="4787860"/>
              <a:ext cx="463674" cy="369332"/>
              <a:chOff x="1547664" y="1997075"/>
              <a:chExt cx="463674" cy="369332"/>
            </a:xfrm>
          </p:grpSpPr>
          <p:cxnSp>
            <p:nvCxnSpPr>
              <p:cNvPr id="38" name="Straight Arrow Connector 37"/>
              <p:cNvCxnSpPr/>
              <p:nvPr/>
            </p:nvCxnSpPr>
            <p:spPr bwMode="auto">
              <a:xfrm>
                <a:off x="1650429" y="2041827"/>
                <a:ext cx="17147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04" name="TextBox 6"/>
              <p:cNvSpPr txBox="1">
                <a:spLocks noChangeArrowheads="1"/>
              </p:cNvSpPr>
              <p:nvPr/>
            </p:nvSpPr>
            <p:spPr bwMode="auto">
              <a:xfrm>
                <a:off x="1547664" y="1997075"/>
                <a:ext cx="4636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sp>
          <p:nvSpPr>
            <p:cNvPr id="6201" name="Text Box 62"/>
            <p:cNvSpPr txBox="1">
              <a:spLocks noChangeArrowheads="1"/>
            </p:cNvSpPr>
            <p:nvPr/>
          </p:nvSpPr>
          <p:spPr bwMode="auto">
            <a:xfrm>
              <a:off x="6228184" y="5219908"/>
              <a:ext cx="450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sp>
          <p:nvSpPr>
            <p:cNvPr id="6202" name="Text Box 62"/>
            <p:cNvSpPr txBox="1">
              <a:spLocks noChangeArrowheads="1"/>
            </p:cNvSpPr>
            <p:nvPr/>
          </p:nvSpPr>
          <p:spPr bwMode="auto">
            <a:xfrm>
              <a:off x="8263110" y="4653136"/>
              <a:ext cx="4133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grpSp>
      <p:grpSp>
        <p:nvGrpSpPr>
          <p:cNvPr id="48" name="Group 47"/>
          <p:cNvGrpSpPr>
            <a:grpSpLocks/>
          </p:cNvGrpSpPr>
          <p:nvPr/>
        </p:nvGrpSpPr>
        <p:grpSpPr bwMode="auto">
          <a:xfrm>
            <a:off x="1884363" y="3203575"/>
            <a:ext cx="4800600" cy="369888"/>
            <a:chOff x="360039" y="3059668"/>
            <a:chExt cx="4801201" cy="369332"/>
          </a:xfrm>
        </p:grpSpPr>
        <p:sp>
          <p:nvSpPr>
            <p:cNvPr id="6196" name="Rectangle 28"/>
            <p:cNvSpPr>
              <a:spLocks noChangeArrowheads="1"/>
            </p:cNvSpPr>
            <p:nvPr/>
          </p:nvSpPr>
          <p:spPr bwMode="auto">
            <a:xfrm>
              <a:off x="360039" y="3059668"/>
              <a:ext cx="48012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In general, equality is indicated as A = B.  </a:t>
              </a:r>
              <a:endParaRPr lang="en-IN" altLang="en-US" b="1">
                <a:solidFill>
                  <a:srgbClr val="FF00FF"/>
                </a:solidFill>
              </a:endParaRPr>
            </a:p>
          </p:txBody>
        </p:sp>
        <p:cxnSp>
          <p:nvCxnSpPr>
            <p:cNvPr id="46" name="Straight Arrow Connector 45"/>
            <p:cNvCxnSpPr/>
            <p:nvPr/>
          </p:nvCxnSpPr>
          <p:spPr bwMode="auto">
            <a:xfrm>
              <a:off x="4226085" y="3113562"/>
              <a:ext cx="17147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bwMode="auto">
            <a:xfrm>
              <a:off x="4630949" y="3113562"/>
              <a:ext cx="17147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5" name="Group 54"/>
          <p:cNvGrpSpPr>
            <a:grpSpLocks/>
          </p:cNvGrpSpPr>
          <p:nvPr/>
        </p:nvGrpSpPr>
        <p:grpSpPr bwMode="auto">
          <a:xfrm>
            <a:off x="1884363" y="3644901"/>
            <a:ext cx="4572000" cy="923925"/>
            <a:chOff x="360040" y="3516614"/>
            <a:chExt cx="4572000" cy="923330"/>
          </a:xfrm>
        </p:grpSpPr>
        <p:sp>
          <p:nvSpPr>
            <p:cNvPr id="6193" name="Rectangle 29"/>
            <p:cNvSpPr>
              <a:spLocks noChangeArrowheads="1"/>
            </p:cNvSpPr>
            <p:nvPr/>
          </p:nvSpPr>
          <p:spPr bwMode="auto">
            <a:xfrm>
              <a:off x="360040" y="3516614"/>
              <a:ext cx="4572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6699"/>
                  </a:solidFill>
                </a:rPr>
                <a:t>Vectors A′ and B′ have the same magnitude but they are not equal because they have different directions. </a:t>
              </a:r>
              <a:endParaRPr lang="en-IN" altLang="en-US" b="1">
                <a:solidFill>
                  <a:srgbClr val="FF6699"/>
                </a:solidFill>
              </a:endParaRPr>
            </a:p>
          </p:txBody>
        </p:sp>
        <p:cxnSp>
          <p:nvCxnSpPr>
            <p:cNvPr id="49" name="Straight Arrow Connector 48"/>
            <p:cNvCxnSpPr/>
            <p:nvPr/>
          </p:nvCxnSpPr>
          <p:spPr bwMode="auto">
            <a:xfrm>
              <a:off x="1345877" y="354675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bwMode="auto">
            <a:xfrm>
              <a:off x="2092002" y="354675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6" name="Group 55"/>
          <p:cNvGrpSpPr>
            <a:grpSpLocks/>
          </p:cNvGrpSpPr>
          <p:nvPr/>
        </p:nvGrpSpPr>
        <p:grpSpPr bwMode="auto">
          <a:xfrm>
            <a:off x="1847850" y="4581525"/>
            <a:ext cx="4572000" cy="1200150"/>
            <a:chOff x="323528" y="4532927"/>
            <a:chExt cx="4572000" cy="1200329"/>
          </a:xfrm>
        </p:grpSpPr>
        <p:sp>
          <p:nvSpPr>
            <p:cNvPr id="6188" name="Rectangle 30"/>
            <p:cNvSpPr>
              <a:spLocks noChangeArrowheads="1"/>
            </p:cNvSpPr>
            <p:nvPr/>
          </p:nvSpPr>
          <p:spPr bwMode="auto">
            <a:xfrm>
              <a:off x="323528" y="4532927"/>
              <a:ext cx="4572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Even if we shift B′ parallel to itself so that its tail Q′ coincides with the tail O′ of A′, the tip S′ of B′ does not coincide with the tip P′ of A′.</a:t>
              </a:r>
              <a:endParaRPr lang="en-IN" altLang="en-US" b="1">
                <a:solidFill>
                  <a:srgbClr val="00B0F0"/>
                </a:solidFill>
              </a:endParaRPr>
            </a:p>
          </p:txBody>
        </p:sp>
        <p:cxnSp>
          <p:nvCxnSpPr>
            <p:cNvPr id="51" name="Straight Arrow Connector 50"/>
            <p:cNvCxnSpPr/>
            <p:nvPr/>
          </p:nvCxnSpPr>
          <p:spPr bwMode="auto">
            <a:xfrm>
              <a:off x="2141216" y="4567857"/>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bwMode="auto">
            <a:xfrm>
              <a:off x="696591" y="5129916"/>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a:off x="2339653" y="5129916"/>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2241228" y="5418884"/>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1" name="Group 70"/>
          <p:cNvGrpSpPr>
            <a:grpSpLocks/>
          </p:cNvGrpSpPr>
          <p:nvPr/>
        </p:nvGrpSpPr>
        <p:grpSpPr bwMode="auto">
          <a:xfrm>
            <a:off x="1847850" y="5805489"/>
            <a:ext cx="4572000" cy="922337"/>
            <a:chOff x="360040" y="3516614"/>
            <a:chExt cx="4572000" cy="923330"/>
          </a:xfrm>
        </p:grpSpPr>
        <p:sp>
          <p:nvSpPr>
            <p:cNvPr id="6185" name="Rectangle 71"/>
            <p:cNvSpPr>
              <a:spLocks noChangeArrowheads="1"/>
            </p:cNvSpPr>
            <p:nvPr/>
          </p:nvSpPr>
          <p:spPr bwMode="auto">
            <a:xfrm>
              <a:off x="360040" y="3516614"/>
              <a:ext cx="4572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99FF"/>
                  </a:solidFill>
                </a:rPr>
                <a:t>Vectors A″ and B″ have the same direction but they are not equal because they have different magnitudes. </a:t>
              </a:r>
              <a:endParaRPr lang="en-IN" altLang="en-US" b="1">
                <a:solidFill>
                  <a:srgbClr val="CC99FF"/>
                </a:solidFill>
              </a:endParaRPr>
            </a:p>
          </p:txBody>
        </p:sp>
        <p:cxnSp>
          <p:nvCxnSpPr>
            <p:cNvPr id="73" name="Straight Arrow Connector 72"/>
            <p:cNvCxnSpPr/>
            <p:nvPr/>
          </p:nvCxnSpPr>
          <p:spPr bwMode="auto">
            <a:xfrm>
              <a:off x="1345878" y="354680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bwMode="auto">
            <a:xfrm>
              <a:off x="2092003" y="354680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0" name="Group 89"/>
          <p:cNvGrpSpPr>
            <a:grpSpLocks/>
          </p:cNvGrpSpPr>
          <p:nvPr/>
        </p:nvGrpSpPr>
        <p:grpSpPr bwMode="auto">
          <a:xfrm>
            <a:off x="7443788" y="4814889"/>
            <a:ext cx="2684462" cy="555625"/>
            <a:chOff x="5796136" y="4787860"/>
            <a:chExt cx="2684982" cy="554995"/>
          </a:xfrm>
        </p:grpSpPr>
        <p:sp>
          <p:nvSpPr>
            <p:cNvPr id="6179" name="Line 5"/>
            <p:cNvSpPr>
              <a:spLocks noChangeShapeType="1"/>
            </p:cNvSpPr>
            <p:nvPr/>
          </p:nvSpPr>
          <p:spPr bwMode="auto">
            <a:xfrm>
              <a:off x="6228184" y="5147900"/>
              <a:ext cx="1810122" cy="0"/>
            </a:xfrm>
            <a:prstGeom prst="line">
              <a:avLst/>
            </a:prstGeom>
            <a:noFill/>
            <a:ln w="28575">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6180" name="Text Box 62"/>
            <p:cNvSpPr txBox="1">
              <a:spLocks noChangeArrowheads="1"/>
            </p:cNvSpPr>
            <p:nvPr/>
          </p:nvSpPr>
          <p:spPr bwMode="auto">
            <a:xfrm>
              <a:off x="8028384" y="4963234"/>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6181" name="Text Box 62"/>
            <p:cNvSpPr txBox="1">
              <a:spLocks noChangeArrowheads="1"/>
            </p:cNvSpPr>
            <p:nvPr/>
          </p:nvSpPr>
          <p:spPr bwMode="auto">
            <a:xfrm>
              <a:off x="5796136" y="4973523"/>
              <a:ext cx="50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grpSp>
          <p:nvGrpSpPr>
            <p:cNvPr id="6182" name="Group 78"/>
            <p:cNvGrpSpPr>
              <a:grpSpLocks/>
            </p:cNvGrpSpPr>
            <p:nvPr/>
          </p:nvGrpSpPr>
          <p:grpSpPr bwMode="auto">
            <a:xfrm>
              <a:off x="6759445" y="4787860"/>
              <a:ext cx="499820" cy="369332"/>
              <a:chOff x="6759445" y="4643844"/>
              <a:chExt cx="499820" cy="369332"/>
            </a:xfrm>
          </p:grpSpPr>
          <p:sp>
            <p:nvSpPr>
              <p:cNvPr id="6183" name="TextBox 6"/>
              <p:cNvSpPr txBox="1">
                <a:spLocks noChangeArrowheads="1"/>
              </p:cNvSpPr>
              <p:nvPr/>
            </p:nvSpPr>
            <p:spPr bwMode="auto">
              <a:xfrm>
                <a:off x="6759445" y="4643844"/>
                <a:ext cx="499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cxnSp>
            <p:nvCxnSpPr>
              <p:cNvPr id="77" name="Straight Arrow Connector 76"/>
              <p:cNvCxnSpPr/>
              <p:nvPr/>
            </p:nvCxnSpPr>
            <p:spPr bwMode="auto">
              <a:xfrm>
                <a:off x="6863143" y="4697758"/>
                <a:ext cx="17148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91" name="Group 90"/>
          <p:cNvGrpSpPr>
            <a:grpSpLocks/>
          </p:cNvGrpSpPr>
          <p:nvPr/>
        </p:nvGrpSpPr>
        <p:grpSpPr bwMode="auto">
          <a:xfrm>
            <a:off x="7456488" y="5300664"/>
            <a:ext cx="2036762" cy="504825"/>
            <a:chOff x="5796136" y="5301208"/>
            <a:chExt cx="2036910" cy="504056"/>
          </a:xfrm>
        </p:grpSpPr>
        <p:sp>
          <p:nvSpPr>
            <p:cNvPr id="6173" name="Line 5"/>
            <p:cNvSpPr>
              <a:spLocks noChangeShapeType="1"/>
            </p:cNvSpPr>
            <p:nvPr/>
          </p:nvSpPr>
          <p:spPr bwMode="auto">
            <a:xfrm>
              <a:off x="6228184" y="5651956"/>
              <a:ext cx="1236338" cy="0"/>
            </a:xfrm>
            <a:prstGeom prst="line">
              <a:avLst/>
            </a:prstGeom>
            <a:noFill/>
            <a:ln w="28575">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6174" name="Text Box 62"/>
            <p:cNvSpPr txBox="1">
              <a:spLocks noChangeArrowheads="1"/>
            </p:cNvSpPr>
            <p:nvPr/>
          </p:nvSpPr>
          <p:spPr bwMode="auto">
            <a:xfrm>
              <a:off x="7380312" y="5435932"/>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sp>
          <p:nvSpPr>
            <p:cNvPr id="6175" name="Text Box 62"/>
            <p:cNvSpPr txBox="1">
              <a:spLocks noChangeArrowheads="1"/>
            </p:cNvSpPr>
            <p:nvPr/>
          </p:nvSpPr>
          <p:spPr bwMode="auto">
            <a:xfrm>
              <a:off x="5796136" y="5426640"/>
              <a:ext cx="524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nvGrpSpPr>
            <p:cNvPr id="6176" name="Group 79"/>
            <p:cNvGrpSpPr>
              <a:grpSpLocks/>
            </p:cNvGrpSpPr>
            <p:nvPr/>
          </p:nvGrpSpPr>
          <p:grpSpPr bwMode="auto">
            <a:xfrm>
              <a:off x="6772622" y="5301208"/>
              <a:ext cx="463674" cy="369332"/>
              <a:chOff x="6772622" y="5157192"/>
              <a:chExt cx="463674" cy="369332"/>
            </a:xfrm>
          </p:grpSpPr>
          <p:sp>
            <p:nvSpPr>
              <p:cNvPr id="6177" name="TextBox 6"/>
              <p:cNvSpPr txBox="1">
                <a:spLocks noChangeArrowheads="1"/>
              </p:cNvSpPr>
              <p:nvPr/>
            </p:nvSpPr>
            <p:spPr bwMode="auto">
              <a:xfrm>
                <a:off x="6772622" y="5157192"/>
                <a:ext cx="4636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cxnSp>
            <p:nvCxnSpPr>
              <p:cNvPr id="78" name="Straight Arrow Connector 77"/>
              <p:cNvCxnSpPr/>
              <p:nvPr/>
            </p:nvCxnSpPr>
            <p:spPr bwMode="auto">
              <a:xfrm>
                <a:off x="6866189" y="5201574"/>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p:cNvGrpSpPr>
            <a:grpSpLocks/>
          </p:cNvGrpSpPr>
          <p:nvPr/>
        </p:nvGrpSpPr>
        <p:grpSpPr bwMode="auto">
          <a:xfrm>
            <a:off x="7508876" y="182563"/>
            <a:ext cx="1808163" cy="1878012"/>
            <a:chOff x="7012012" y="1019169"/>
            <a:chExt cx="1808460" cy="1878881"/>
          </a:xfrm>
        </p:grpSpPr>
        <p:sp>
          <p:nvSpPr>
            <p:cNvPr id="6167"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6168" name="Group 82"/>
            <p:cNvGrpSpPr>
              <a:grpSpLocks/>
            </p:cNvGrpSpPr>
            <p:nvPr/>
          </p:nvGrpSpPr>
          <p:grpSpPr bwMode="auto">
            <a:xfrm>
              <a:off x="7753840" y="1529898"/>
              <a:ext cx="274544" cy="369888"/>
              <a:chOff x="1547664" y="1997075"/>
              <a:chExt cx="274544" cy="369888"/>
            </a:xfrm>
          </p:grpSpPr>
          <p:cxnSp>
            <p:nvCxnSpPr>
              <p:cNvPr id="86" name="Straight Arrow Connector 85"/>
              <p:cNvCxnSpPr/>
              <p:nvPr/>
            </p:nvCxnSpPr>
            <p:spPr bwMode="auto">
              <a:xfrm>
                <a:off x="1650525" y="2042228"/>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72"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6169"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6170"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96" name="Group 95"/>
          <p:cNvGrpSpPr>
            <a:grpSpLocks/>
          </p:cNvGrpSpPr>
          <p:nvPr/>
        </p:nvGrpSpPr>
        <p:grpSpPr bwMode="auto">
          <a:xfrm>
            <a:off x="7319964" y="182564"/>
            <a:ext cx="3024187" cy="5767387"/>
            <a:chOff x="5796136" y="181967"/>
            <a:chExt cx="3024336" cy="5767313"/>
          </a:xfrm>
        </p:grpSpPr>
        <p:sp>
          <p:nvSpPr>
            <p:cNvPr id="92" name="Rectangle 91"/>
            <p:cNvSpPr/>
            <p:nvPr/>
          </p:nvSpPr>
          <p:spPr>
            <a:xfrm>
              <a:off x="5796136" y="181967"/>
              <a:ext cx="3024336" cy="5767313"/>
            </a:xfrm>
            <a:prstGeom prst="rect">
              <a:avLst/>
            </a:prstGeom>
            <a:noFill/>
            <a:ln w="19050">
              <a:solidFill>
                <a:srgbClr val="3399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cxnSp>
          <p:nvCxnSpPr>
            <p:cNvPr id="94" name="Straight Connector 93"/>
            <p:cNvCxnSpPr/>
            <p:nvPr/>
          </p:nvCxnSpPr>
          <p:spPr>
            <a:xfrm>
              <a:off x="5796136" y="2277440"/>
              <a:ext cx="3024336" cy="0"/>
            </a:xfrm>
            <a:prstGeom prst="line">
              <a:avLst/>
            </a:prstGeom>
            <a:ln w="19050">
              <a:solidFill>
                <a:srgbClr val="CC66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5796136" y="4580873"/>
              <a:ext cx="3024336" cy="0"/>
            </a:xfrm>
            <a:prstGeom prst="line">
              <a:avLst/>
            </a:prstGeom>
            <a:ln w="19050">
              <a:solidFill>
                <a:srgbClr val="CC66FF"/>
              </a:solidFill>
            </a:ln>
          </p:spPr>
          <p:style>
            <a:lnRef idx="1">
              <a:schemeClr val="accent1"/>
            </a:lnRef>
            <a:fillRef idx="0">
              <a:schemeClr val="accent1"/>
            </a:fillRef>
            <a:effectRef idx="0">
              <a:schemeClr val="accent1"/>
            </a:effectRef>
            <a:fontRef idx="minor">
              <a:schemeClr val="tx1"/>
            </a:fontRef>
          </p:style>
        </p:cxnSp>
      </p:grpSp>
      <p:sp>
        <p:nvSpPr>
          <p:cNvPr id="6161" name="TextBox 81"/>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6162" name="TextBox 82"/>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6163" name="TextBox 83"/>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3950811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wipe(up)">
                                      <p:cBhvr>
                                        <p:cTn id="14" dur="500"/>
                                        <p:tgtEl>
                                          <p:spTgt spid="6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wipe(up)">
                                      <p:cBhvr>
                                        <p:cTn id="19" dur="500"/>
                                        <p:tgtEl>
                                          <p:spTgt spid="9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81"/>
                                        </p:tgtEl>
                                        <p:attrNameLst>
                                          <p:attrName>style.visibility</p:attrName>
                                        </p:attrNameLst>
                                      </p:cBhvr>
                                      <p:to>
                                        <p:strVal val="visible"/>
                                      </p:to>
                                    </p:set>
                                    <p:animEffect transition="in" filter="wipe(down)">
                                      <p:cBhvr>
                                        <p:cTn id="24" dur="500"/>
                                        <p:tgtEl>
                                          <p:spTgt spid="8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wipe(down)">
                                      <p:cBhvr>
                                        <p:cTn id="29" dur="500"/>
                                        <p:tgtEl>
                                          <p:spTgt spid="5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up)">
                                      <p:cBhvr>
                                        <p:cTn id="34" dur="500"/>
                                        <p:tgtEl>
                                          <p:spTgt spid="4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path" presetSubtype="0" accel="50000" decel="50000" fill="hold" nodeType="clickEffect">
                                  <p:stCondLst>
                                    <p:cond delay="0"/>
                                  </p:stCondLst>
                                  <p:childTnLst>
                                    <p:animMotion origin="layout" path="M 5E-6 -1.85185E-6 L -0.11355 -0.00023 " pathEditMode="relative" rAng="0" ptsTypes="AA">
                                      <p:cBhvr>
                                        <p:cTn id="38" dur="2000" fill="hold"/>
                                        <p:tgtEl>
                                          <p:spTgt spid="58"/>
                                        </p:tgtEl>
                                        <p:attrNameLst>
                                          <p:attrName>ppt_x</p:attrName>
                                          <p:attrName>ppt_y</p:attrName>
                                        </p:attrNameLst>
                                      </p:cBhvr>
                                      <p:rCtr x="-5677" y="-23"/>
                                    </p:animMotion>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up)">
                                      <p:cBhvr>
                                        <p:cTn id="43" dur="500"/>
                                        <p:tgtEl>
                                          <p:spTgt spid="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wipe(left)">
                                      <p:cBhvr>
                                        <p:cTn id="48" dur="500"/>
                                        <p:tgtEl>
                                          <p:spTgt spid="4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wipe(down)">
                                      <p:cBhvr>
                                        <p:cTn id="53" dur="500"/>
                                        <p:tgtEl>
                                          <p:spTgt spid="5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wipe(left)">
                                      <p:cBhvr>
                                        <p:cTn id="58" dur="500"/>
                                        <p:tgtEl>
                                          <p:spTgt spid="6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wipe(up)">
                                      <p:cBhvr>
                                        <p:cTn id="63" dur="500"/>
                                        <p:tgtEl>
                                          <p:spTgt spid="5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nodeType="clickEffect">
                                  <p:stCondLst>
                                    <p:cond delay="0"/>
                                  </p:stCondLst>
                                  <p:childTnLst>
                                    <p:set>
                                      <p:cBhvr>
                                        <p:cTn id="67" dur="1" fill="hold">
                                          <p:stCondLst>
                                            <p:cond delay="0"/>
                                          </p:stCondLst>
                                        </p:cTn>
                                        <p:tgtEl>
                                          <p:spTgt spid="56"/>
                                        </p:tgtEl>
                                        <p:attrNameLst>
                                          <p:attrName>style.visibility</p:attrName>
                                        </p:attrNameLst>
                                      </p:cBhvr>
                                      <p:to>
                                        <p:strVal val="visible"/>
                                      </p:to>
                                    </p:set>
                                    <p:animEffect transition="in" filter="wipe(up)">
                                      <p:cBhvr>
                                        <p:cTn id="68" dur="500"/>
                                        <p:tgtEl>
                                          <p:spTgt spid="5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42" presetClass="path" presetSubtype="0" accel="50000" decel="50000" fill="hold" nodeType="clickEffect">
                                  <p:stCondLst>
                                    <p:cond delay="0"/>
                                  </p:stCondLst>
                                  <p:childTnLst>
                                    <p:animMotion origin="layout" path="M -5.55556E-7 -1.48148E-6 L -0.03924 -0.05 " pathEditMode="relative" rAng="0" ptsTypes="AA">
                                      <p:cBhvr>
                                        <p:cTn id="72" dur="2000" fill="hold"/>
                                        <p:tgtEl>
                                          <p:spTgt spid="60"/>
                                        </p:tgtEl>
                                        <p:attrNameLst>
                                          <p:attrName>ppt_x</p:attrName>
                                          <p:attrName>ppt_y</p:attrName>
                                        </p:attrNameLst>
                                      </p:cBhvr>
                                      <p:rCtr x="-1962" y="-2500"/>
                                    </p:animMotion>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90"/>
                                        </p:tgtEl>
                                        <p:attrNameLst>
                                          <p:attrName>style.visibility</p:attrName>
                                        </p:attrNameLst>
                                      </p:cBhvr>
                                      <p:to>
                                        <p:strVal val="visible"/>
                                      </p:to>
                                    </p:set>
                                    <p:animEffect transition="in" filter="wipe(left)">
                                      <p:cBhvr>
                                        <p:cTn id="77" dur="500"/>
                                        <p:tgtEl>
                                          <p:spTgt spid="9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91"/>
                                        </p:tgtEl>
                                        <p:attrNameLst>
                                          <p:attrName>style.visibility</p:attrName>
                                        </p:attrNameLst>
                                      </p:cBhvr>
                                      <p:to>
                                        <p:strVal val="visible"/>
                                      </p:to>
                                    </p:set>
                                    <p:animEffect transition="in" filter="wipe(left)">
                                      <p:cBhvr>
                                        <p:cTn id="82" dur="500"/>
                                        <p:tgtEl>
                                          <p:spTgt spid="9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64" presetClass="path" presetSubtype="0" accel="50000" decel="50000" fill="hold" nodeType="clickEffect">
                                  <p:stCondLst>
                                    <p:cond delay="0"/>
                                  </p:stCondLst>
                                  <p:childTnLst>
                                    <p:animMotion origin="layout" path="M 1.11111E-6 -0.00185 L -0.00208 -0.06828 " pathEditMode="relative" rAng="0" ptsTypes="AA">
                                      <p:cBhvr>
                                        <p:cTn id="86" dur="2000" fill="hold"/>
                                        <p:tgtEl>
                                          <p:spTgt spid="91"/>
                                        </p:tgtEl>
                                        <p:attrNameLst>
                                          <p:attrName>ppt_x</p:attrName>
                                          <p:attrName>ppt_y</p:attrName>
                                        </p:attrNameLst>
                                      </p:cBhvr>
                                      <p:rCtr x="-104" y="-3333"/>
                                    </p:animMotion>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fill="hold" nodeType="click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wipe(up)">
                                      <p:cBhvr>
                                        <p:cTn id="9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847850" y="44450"/>
            <a:ext cx="74168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sz="2000" b="1" dirty="0">
                <a:solidFill>
                  <a:srgbClr val="66FF66"/>
                </a:solidFill>
                <a:latin typeface="Arial"/>
                <a:ea typeface="Times New Roman" pitchFamily="18" charset="0"/>
                <a:cs typeface="Bookman-Demi" charset="0"/>
              </a:rPr>
              <a:t>FEW FUNDAMENTAL DEFINITIONS IN VECTOR ALGEBRA</a:t>
            </a:r>
          </a:p>
        </p:txBody>
      </p:sp>
      <p:grpSp>
        <p:nvGrpSpPr>
          <p:cNvPr id="125" name="Group 124"/>
          <p:cNvGrpSpPr>
            <a:grpSpLocks/>
          </p:cNvGrpSpPr>
          <p:nvPr/>
        </p:nvGrpSpPr>
        <p:grpSpPr bwMode="auto">
          <a:xfrm>
            <a:off x="1884363" y="1628775"/>
            <a:ext cx="4572000" cy="376238"/>
            <a:chOff x="323528" y="1700808"/>
            <a:chExt cx="4572000" cy="377104"/>
          </a:xfrm>
        </p:grpSpPr>
        <p:grpSp>
          <p:nvGrpSpPr>
            <p:cNvPr id="7246" name="Group 18"/>
            <p:cNvGrpSpPr>
              <a:grpSpLocks/>
            </p:cNvGrpSpPr>
            <p:nvPr/>
          </p:nvGrpSpPr>
          <p:grpSpPr bwMode="auto">
            <a:xfrm>
              <a:off x="3923928" y="1700808"/>
              <a:ext cx="900010" cy="377104"/>
              <a:chOff x="1700064" y="2708920"/>
              <a:chExt cx="900010" cy="377104"/>
            </a:xfrm>
          </p:grpSpPr>
          <p:grpSp>
            <p:nvGrpSpPr>
              <p:cNvPr id="7248" name="Group 11"/>
              <p:cNvGrpSpPr>
                <a:grpSpLocks/>
              </p:cNvGrpSpPr>
              <p:nvPr/>
            </p:nvGrpSpPr>
            <p:grpSpPr bwMode="auto">
              <a:xfrm>
                <a:off x="2325530" y="2708920"/>
                <a:ext cx="274544" cy="369888"/>
                <a:chOff x="1547664" y="1997075"/>
                <a:chExt cx="274544" cy="369888"/>
              </a:xfrm>
            </p:grpSpPr>
            <p:cxnSp>
              <p:nvCxnSpPr>
                <p:cNvPr id="17" name="Straight Arrow Connector 16"/>
                <p:cNvCxnSpPr/>
                <p:nvPr/>
              </p:nvCxnSpPr>
              <p:spPr bwMode="auto">
                <a:xfrm>
                  <a:off x="1650910" y="2041627"/>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5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FF"/>
                      </a:solidFill>
                    </a:rPr>
                    <a:t>A</a:t>
                  </a:r>
                  <a:endParaRPr lang="en-IN" altLang="en-US">
                    <a:solidFill>
                      <a:srgbClr val="FF00FF"/>
                    </a:solidFill>
                  </a:endParaRPr>
                </a:p>
              </p:txBody>
            </p:sp>
          </p:grpSp>
          <p:grpSp>
            <p:nvGrpSpPr>
              <p:cNvPr id="7249" name="Group 12"/>
              <p:cNvGrpSpPr>
                <a:grpSpLocks/>
              </p:cNvGrpSpPr>
              <p:nvPr/>
            </p:nvGrpSpPr>
            <p:grpSpPr bwMode="auto">
              <a:xfrm>
                <a:off x="1700064" y="2708920"/>
                <a:ext cx="274544" cy="369888"/>
                <a:chOff x="1700064" y="2915096"/>
                <a:chExt cx="274544" cy="369888"/>
              </a:xfrm>
            </p:grpSpPr>
            <p:cxnSp>
              <p:nvCxnSpPr>
                <p:cNvPr id="15" name="Straight Arrow Connector 14"/>
                <p:cNvCxnSpPr/>
                <p:nvPr/>
              </p:nvCxnSpPr>
              <p:spPr bwMode="auto">
                <a:xfrm>
                  <a:off x="1803301" y="295964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52" name="TextBox 6"/>
                <p:cNvSpPr txBox="1">
                  <a:spLocks noChangeArrowheads="1"/>
                </p:cNvSpPr>
                <p:nvPr/>
              </p:nvSpPr>
              <p:spPr bwMode="auto">
                <a:xfrm>
                  <a:off x="1700064" y="2915096"/>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FF"/>
                      </a:solidFill>
                    </a:rPr>
                    <a:t>A</a:t>
                  </a:r>
                  <a:endParaRPr lang="en-IN" altLang="en-US">
                    <a:solidFill>
                      <a:srgbClr val="FF00FF"/>
                    </a:solidFill>
                  </a:endParaRPr>
                </a:p>
              </p:txBody>
            </p:sp>
          </p:grpSp>
          <p:sp>
            <p:nvSpPr>
              <p:cNvPr id="7250" name="Rectangle 13"/>
              <p:cNvSpPr>
                <a:spLocks noChangeArrowheads="1"/>
              </p:cNvSpPr>
              <p:nvPr/>
            </p:nvSpPr>
            <p:spPr bwMode="auto">
              <a:xfrm>
                <a:off x="1951378" y="2716692"/>
                <a:ext cx="5180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is -</a:t>
                </a:r>
                <a:endParaRPr lang="en-IN" altLang="en-US">
                  <a:solidFill>
                    <a:srgbClr val="FF00FF"/>
                  </a:solidFill>
                </a:endParaRPr>
              </a:p>
            </p:txBody>
          </p:sp>
        </p:grpSp>
        <p:sp>
          <p:nvSpPr>
            <p:cNvPr id="7247" name="Rectangle 19"/>
            <p:cNvSpPr>
              <a:spLocks noChangeArrowheads="1"/>
            </p:cNvSpPr>
            <p:nvPr/>
          </p:nvSpPr>
          <p:spPr bwMode="auto">
            <a:xfrm>
              <a:off x="323528" y="1700808"/>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00FF"/>
                  </a:solidFill>
                  <a:ea typeface="Times New Roman" panose="02020603050405020304" pitchFamily="18" charset="0"/>
                  <a:cs typeface="Bookman-Demi"/>
                </a:rPr>
                <a:t>Example: The negative vector of </a:t>
              </a:r>
            </a:p>
          </p:txBody>
        </p:sp>
      </p:grpSp>
      <p:sp>
        <p:nvSpPr>
          <p:cNvPr id="22" name="Rectangle 21"/>
          <p:cNvSpPr>
            <a:spLocks noChangeArrowheads="1"/>
          </p:cNvSpPr>
          <p:nvPr/>
        </p:nvSpPr>
        <p:spPr bwMode="auto">
          <a:xfrm>
            <a:off x="1903413" y="2060575"/>
            <a:ext cx="2392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00FFCC"/>
                </a:solidFill>
                <a:ea typeface="Times New Roman" panose="02020603050405020304" pitchFamily="18" charset="0"/>
                <a:cs typeface="Bookman-Demi"/>
              </a:rPr>
              <a:t>(ii) Equal Vectors</a:t>
            </a:r>
            <a:endParaRPr lang="en-US" altLang="en-US" sz="2000">
              <a:solidFill>
                <a:srgbClr val="00FFCC"/>
              </a:solidFill>
              <a:ea typeface="Times New Roman" panose="02020603050405020304" pitchFamily="18" charset="0"/>
              <a:cs typeface="Bookman-Demi"/>
            </a:endParaRPr>
          </a:p>
        </p:txBody>
      </p:sp>
      <p:grpSp>
        <p:nvGrpSpPr>
          <p:cNvPr id="129" name="Group 128"/>
          <p:cNvGrpSpPr>
            <a:grpSpLocks/>
          </p:cNvGrpSpPr>
          <p:nvPr/>
        </p:nvGrpSpPr>
        <p:grpSpPr bwMode="auto">
          <a:xfrm>
            <a:off x="1847850" y="2492376"/>
            <a:ext cx="5327650" cy="923925"/>
            <a:chOff x="323528" y="2806476"/>
            <a:chExt cx="5328592" cy="923330"/>
          </a:xfrm>
        </p:grpSpPr>
        <p:sp>
          <p:nvSpPr>
            <p:cNvPr id="7243" name="Rectangle 22"/>
            <p:cNvSpPr>
              <a:spLocks noChangeArrowheads="1"/>
            </p:cNvSpPr>
            <p:nvPr/>
          </p:nvSpPr>
          <p:spPr bwMode="auto">
            <a:xfrm>
              <a:off x="323528" y="2806476"/>
              <a:ext cx="53285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CC"/>
                  </a:solidFill>
                </a:rPr>
                <a:t>Two vectors A and B are said to be equal if, and only if, they have the </a:t>
              </a:r>
              <a:r>
                <a:rPr lang="en-US" altLang="en-US" b="1">
                  <a:solidFill>
                    <a:srgbClr val="FFFF99"/>
                  </a:solidFill>
                </a:rPr>
                <a:t>same magnitude </a:t>
              </a:r>
              <a:r>
                <a:rPr lang="en-US" altLang="en-US" b="1">
                  <a:solidFill>
                    <a:srgbClr val="00FFCC"/>
                  </a:solidFill>
                </a:rPr>
                <a:t>and the </a:t>
              </a:r>
              <a:r>
                <a:rPr lang="en-US" altLang="en-US" b="1">
                  <a:solidFill>
                    <a:srgbClr val="FFFF99"/>
                  </a:solidFill>
                </a:rPr>
                <a:t>same direction</a:t>
              </a:r>
              <a:r>
                <a:rPr lang="en-US" altLang="en-US" b="1">
                  <a:solidFill>
                    <a:srgbClr val="00FFCC"/>
                  </a:solidFill>
                </a:rPr>
                <a:t>. (</a:t>
              </a:r>
              <a:r>
                <a:rPr lang="en-US" altLang="en-US" b="1">
                  <a:solidFill>
                    <a:srgbClr val="00FFCC"/>
                  </a:solidFill>
                  <a:hlinkClick r:id="rId2" action="ppaction://hlinksldjump"/>
                </a:rPr>
                <a:t>Refer to previous slide</a:t>
              </a:r>
              <a:r>
                <a:rPr lang="en-US" altLang="en-US" b="1">
                  <a:solidFill>
                    <a:srgbClr val="00FFCC"/>
                  </a:solidFill>
                </a:rPr>
                <a:t>) </a:t>
              </a:r>
              <a:endParaRPr lang="en-IN" altLang="en-US" b="1">
                <a:solidFill>
                  <a:srgbClr val="00FFCC"/>
                </a:solidFill>
              </a:endParaRPr>
            </a:p>
          </p:txBody>
        </p:sp>
        <p:cxnSp>
          <p:nvCxnSpPr>
            <p:cNvPr id="24" name="Straight Arrow Connector 23"/>
            <p:cNvCxnSpPr/>
            <p:nvPr/>
          </p:nvCxnSpPr>
          <p:spPr bwMode="auto">
            <a:xfrm>
              <a:off x="1793813" y="2830274"/>
              <a:ext cx="17148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bwMode="auto">
            <a:xfrm>
              <a:off x="2497200" y="2825514"/>
              <a:ext cx="17148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 name="Rectangle 26"/>
          <p:cNvSpPr>
            <a:spLocks noChangeArrowheads="1"/>
          </p:cNvSpPr>
          <p:nvPr/>
        </p:nvSpPr>
        <p:spPr bwMode="auto">
          <a:xfrm>
            <a:off x="1893888" y="776289"/>
            <a:ext cx="52816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00FF"/>
                </a:solidFill>
                <a:ea typeface="Times New Roman" panose="02020603050405020304" pitchFamily="18" charset="0"/>
                <a:cs typeface="Bookman-Demi"/>
              </a:rPr>
              <a:t>The negative of a vector is defined as another vector having the </a:t>
            </a:r>
            <a:r>
              <a:rPr lang="en-US" altLang="en-US" b="1">
                <a:solidFill>
                  <a:srgbClr val="FFC000"/>
                </a:solidFill>
                <a:ea typeface="Times New Roman" panose="02020603050405020304" pitchFamily="18" charset="0"/>
                <a:cs typeface="Bookman-Demi"/>
              </a:rPr>
              <a:t>same magnitude </a:t>
            </a:r>
            <a:r>
              <a:rPr lang="en-US" altLang="en-US" b="1">
                <a:solidFill>
                  <a:srgbClr val="FF00FF"/>
                </a:solidFill>
                <a:ea typeface="Times New Roman" panose="02020603050405020304" pitchFamily="18" charset="0"/>
                <a:cs typeface="Bookman-Demi"/>
              </a:rPr>
              <a:t>but drawn in the </a:t>
            </a:r>
            <a:r>
              <a:rPr lang="en-US" altLang="en-US" b="1">
                <a:solidFill>
                  <a:srgbClr val="FFC000"/>
                </a:solidFill>
                <a:ea typeface="Times New Roman" panose="02020603050405020304" pitchFamily="18" charset="0"/>
                <a:cs typeface="Bookman-Demi"/>
              </a:rPr>
              <a:t>opposite direction</a:t>
            </a:r>
            <a:r>
              <a:rPr lang="en-US" altLang="en-US" b="1">
                <a:solidFill>
                  <a:srgbClr val="FF00FF"/>
                </a:solidFill>
                <a:ea typeface="Times New Roman" panose="02020603050405020304" pitchFamily="18" charset="0"/>
                <a:cs typeface="Bookman-Demi"/>
              </a:rPr>
              <a:t>.</a:t>
            </a:r>
          </a:p>
        </p:txBody>
      </p:sp>
      <p:grpSp>
        <p:nvGrpSpPr>
          <p:cNvPr id="35" name="Group 34"/>
          <p:cNvGrpSpPr>
            <a:grpSpLocks/>
          </p:cNvGrpSpPr>
          <p:nvPr/>
        </p:nvGrpSpPr>
        <p:grpSpPr bwMode="auto">
          <a:xfrm>
            <a:off x="7834313" y="260350"/>
            <a:ext cx="1808162" cy="1879600"/>
            <a:chOff x="7012012" y="1019169"/>
            <a:chExt cx="1808460" cy="1878881"/>
          </a:xfrm>
        </p:grpSpPr>
        <p:sp>
          <p:nvSpPr>
            <p:cNvPr id="7237"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38" name="Group 36"/>
            <p:cNvGrpSpPr>
              <a:grpSpLocks/>
            </p:cNvGrpSpPr>
            <p:nvPr/>
          </p:nvGrpSpPr>
          <p:grpSpPr bwMode="auto">
            <a:xfrm>
              <a:off x="7753840" y="1529898"/>
              <a:ext cx="274544" cy="369888"/>
              <a:chOff x="1547664" y="1997075"/>
              <a:chExt cx="274544" cy="369888"/>
            </a:xfrm>
          </p:grpSpPr>
          <p:cxnSp>
            <p:nvCxnSpPr>
              <p:cNvPr id="40" name="Straight Arrow Connector 39"/>
              <p:cNvCxnSpPr/>
              <p:nvPr/>
            </p:nvCxnSpPr>
            <p:spPr bwMode="auto">
              <a:xfrm>
                <a:off x="1650525" y="2041759"/>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42"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7239"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7240"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54" name="Group 53"/>
          <p:cNvGrpSpPr>
            <a:grpSpLocks/>
          </p:cNvGrpSpPr>
          <p:nvPr/>
        </p:nvGrpSpPr>
        <p:grpSpPr bwMode="auto">
          <a:xfrm>
            <a:off x="8364538" y="912814"/>
            <a:ext cx="1657350" cy="574675"/>
            <a:chOff x="6511029" y="3284984"/>
            <a:chExt cx="1656557" cy="576064"/>
          </a:xfrm>
        </p:grpSpPr>
        <p:grpSp>
          <p:nvGrpSpPr>
            <p:cNvPr id="7226" name="Group 42"/>
            <p:cNvGrpSpPr>
              <a:grpSpLocks/>
            </p:cNvGrpSpPr>
            <p:nvPr/>
          </p:nvGrpSpPr>
          <p:grpSpPr bwMode="auto">
            <a:xfrm>
              <a:off x="6584094" y="3409860"/>
              <a:ext cx="1512168" cy="379180"/>
              <a:chOff x="1619672" y="2915096"/>
              <a:chExt cx="1512168" cy="379180"/>
            </a:xfrm>
          </p:grpSpPr>
          <p:grpSp>
            <p:nvGrpSpPr>
              <p:cNvPr id="7228" name="Group 43"/>
              <p:cNvGrpSpPr>
                <a:grpSpLocks/>
              </p:cNvGrpSpPr>
              <p:nvPr/>
            </p:nvGrpSpPr>
            <p:grpSpPr bwMode="auto">
              <a:xfrm>
                <a:off x="2267744" y="2915096"/>
                <a:ext cx="274544" cy="369888"/>
                <a:chOff x="1547664" y="1997075"/>
                <a:chExt cx="274544" cy="369888"/>
              </a:xfrm>
            </p:grpSpPr>
            <p:cxnSp>
              <p:nvCxnSpPr>
                <p:cNvPr id="51" name="Straight Arrow Connector 50"/>
                <p:cNvCxnSpPr/>
                <p:nvPr/>
              </p:nvCxnSpPr>
              <p:spPr bwMode="auto">
                <a:xfrm>
                  <a:off x="1650045" y="2040881"/>
                  <a:ext cx="16660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36"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nvGrpSpPr>
              <p:cNvPr id="7229" name="Group 44"/>
              <p:cNvGrpSpPr>
                <a:grpSpLocks/>
              </p:cNvGrpSpPr>
              <p:nvPr/>
            </p:nvGrpSpPr>
            <p:grpSpPr bwMode="auto">
              <a:xfrm>
                <a:off x="1619672" y="2915096"/>
                <a:ext cx="274544" cy="369888"/>
                <a:chOff x="1700064" y="2915096"/>
                <a:chExt cx="274544" cy="369888"/>
              </a:xfrm>
            </p:grpSpPr>
            <p:cxnSp>
              <p:nvCxnSpPr>
                <p:cNvPr id="49" name="Straight Arrow Connector 48"/>
                <p:cNvCxnSpPr/>
                <p:nvPr/>
              </p:nvCxnSpPr>
              <p:spPr bwMode="auto">
                <a:xfrm>
                  <a:off x="1803127" y="2958902"/>
                  <a:ext cx="1713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34" name="TextBox 6"/>
                <p:cNvSpPr txBox="1">
                  <a:spLocks noChangeArrowheads="1"/>
                </p:cNvSpPr>
                <p:nvPr/>
              </p:nvSpPr>
              <p:spPr bwMode="auto">
                <a:xfrm>
                  <a:off x="1700064" y="2915096"/>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7230" name="Rectangle 45"/>
              <p:cNvSpPr>
                <a:spLocks noChangeArrowheads="1"/>
              </p:cNvSpPr>
              <p:nvPr/>
            </p:nvSpPr>
            <p:spPr bwMode="auto">
              <a:xfrm>
                <a:off x="1849143" y="2922868"/>
                <a:ext cx="537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CC00"/>
                    </a:solidFill>
                  </a:rPr>
                  <a:t>+ (-</a:t>
                </a:r>
                <a:endParaRPr lang="en-IN" altLang="en-US">
                  <a:solidFill>
                    <a:srgbClr val="000000"/>
                  </a:solidFill>
                </a:endParaRPr>
              </a:p>
            </p:txBody>
          </p:sp>
          <p:sp>
            <p:nvSpPr>
              <p:cNvPr id="7231" name="Rectangle 46"/>
              <p:cNvSpPr>
                <a:spLocks noChangeArrowheads="1"/>
              </p:cNvSpPr>
              <p:nvPr/>
            </p:nvSpPr>
            <p:spPr bwMode="auto">
              <a:xfrm>
                <a:off x="2479097" y="2924944"/>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CC00"/>
                    </a:solidFill>
                  </a:rPr>
                  <a:t>) = 0</a:t>
                </a:r>
                <a:endParaRPr lang="en-IN" altLang="en-US">
                  <a:solidFill>
                    <a:srgbClr val="000000"/>
                  </a:solidFill>
                </a:endParaRPr>
              </a:p>
            </p:txBody>
          </p:sp>
          <p:cxnSp>
            <p:nvCxnSpPr>
              <p:cNvPr id="48" name="Straight Arrow Connector 47"/>
              <p:cNvCxnSpPr/>
              <p:nvPr/>
            </p:nvCxnSpPr>
            <p:spPr bwMode="auto">
              <a:xfrm>
                <a:off x="2911204" y="2965267"/>
                <a:ext cx="1713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3" name="Rounded Rectangle 52"/>
            <p:cNvSpPr/>
            <p:nvPr/>
          </p:nvSpPr>
          <p:spPr>
            <a:xfrm>
              <a:off x="6511029" y="3284984"/>
              <a:ext cx="1656557" cy="5760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grpSp>
      <p:sp>
        <p:nvSpPr>
          <p:cNvPr id="55" name="Rectangle 54"/>
          <p:cNvSpPr>
            <a:spLocks noChangeArrowheads="1"/>
          </p:cNvSpPr>
          <p:nvPr/>
        </p:nvSpPr>
        <p:spPr bwMode="auto">
          <a:xfrm>
            <a:off x="1906588" y="3502025"/>
            <a:ext cx="2728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CC99FF"/>
                </a:solidFill>
                <a:ea typeface="Times New Roman" panose="02020603050405020304" pitchFamily="18" charset="0"/>
                <a:cs typeface="Bookman-Light"/>
              </a:rPr>
              <a:t>(iii) Co-initial Vectors</a:t>
            </a:r>
            <a:endParaRPr lang="en-US" altLang="en-US" sz="2000">
              <a:solidFill>
                <a:srgbClr val="CC99FF"/>
              </a:solidFill>
              <a:ea typeface="Times New Roman" panose="02020603050405020304" pitchFamily="18" charset="0"/>
              <a:cs typeface="Bookman-Light"/>
            </a:endParaRPr>
          </a:p>
        </p:txBody>
      </p:sp>
      <p:sp>
        <p:nvSpPr>
          <p:cNvPr id="56" name="Rectangle 55"/>
          <p:cNvSpPr/>
          <p:nvPr/>
        </p:nvSpPr>
        <p:spPr>
          <a:xfrm>
            <a:off x="1906589" y="3862388"/>
            <a:ext cx="5126037" cy="646112"/>
          </a:xfrm>
          <a:prstGeom prst="rect">
            <a:avLst/>
          </a:prstGeom>
        </p:spPr>
        <p:txBody>
          <a:bodyPr>
            <a:spAutoFit/>
          </a:bodyPr>
          <a:lstStyle/>
          <a:p>
            <a:pPr eaLnBrk="0" fontAlgn="base" hangingPunct="0">
              <a:spcBef>
                <a:spcPct val="0"/>
              </a:spcBef>
              <a:spcAft>
                <a:spcPct val="0"/>
              </a:spcAft>
              <a:defRPr/>
            </a:pPr>
            <a:r>
              <a:rPr lang="en-US" b="1" dirty="0">
                <a:solidFill>
                  <a:srgbClr val="CC99FF"/>
                </a:solidFill>
                <a:latin typeface="Arial" panose="020B0604020202020204" pitchFamily="34" charset="0"/>
                <a:ea typeface="Times New Roman" pitchFamily="18" charset="0"/>
                <a:cs typeface="Bookman-Light" charset="0"/>
              </a:rPr>
              <a:t>Two vectors are said to be co-initial, if they have a </a:t>
            </a:r>
            <a:r>
              <a:rPr lang="en-US" b="1" dirty="0">
                <a:solidFill>
                  <a:srgbClr val="FF6699"/>
                </a:solidFill>
                <a:latin typeface="Arial" panose="020B0604020202020204" pitchFamily="34" charset="0"/>
                <a:ea typeface="Times New Roman" pitchFamily="18" charset="0"/>
                <a:cs typeface="Bookman-Light" charset="0"/>
              </a:rPr>
              <a:t>common initial point</a:t>
            </a:r>
            <a:r>
              <a:rPr lang="en-US" b="1" dirty="0">
                <a:solidFill>
                  <a:srgbClr val="CC99FF"/>
                </a:solidFill>
                <a:latin typeface="Arial" panose="020B0604020202020204" pitchFamily="34" charset="0"/>
                <a:ea typeface="Times New Roman" pitchFamily="18" charset="0"/>
                <a:cs typeface="Bookman-Light" charset="0"/>
              </a:rPr>
              <a:t>.	</a:t>
            </a:r>
            <a:endParaRPr lang="en-US" sz="1050" b="1" dirty="0">
              <a:solidFill>
                <a:srgbClr val="CC99FF"/>
              </a:solidFill>
              <a:latin typeface="Arial" panose="020B0604020202020204" pitchFamily="34" charset="0"/>
              <a:cs typeface="Arial" panose="020B0604020202020204" pitchFamily="34" charset="0"/>
            </a:endParaRPr>
          </a:p>
        </p:txBody>
      </p:sp>
      <p:grpSp>
        <p:nvGrpSpPr>
          <p:cNvPr id="85" name="Group 84"/>
          <p:cNvGrpSpPr>
            <a:grpSpLocks/>
          </p:cNvGrpSpPr>
          <p:nvPr/>
        </p:nvGrpSpPr>
        <p:grpSpPr bwMode="auto">
          <a:xfrm>
            <a:off x="7572375" y="2565401"/>
            <a:ext cx="2916238" cy="1878013"/>
            <a:chOff x="5985266" y="3199630"/>
            <a:chExt cx="2915474" cy="1878881"/>
          </a:xfrm>
        </p:grpSpPr>
        <p:sp>
          <p:nvSpPr>
            <p:cNvPr id="7214" name="Line 22"/>
            <p:cNvSpPr>
              <a:spLocks noChangeShapeType="1"/>
            </p:cNvSpPr>
            <p:nvPr/>
          </p:nvSpPr>
          <p:spPr bwMode="auto">
            <a:xfrm flipV="1">
              <a:off x="6234522" y="3754903"/>
              <a:ext cx="2401800" cy="1035576"/>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15" name="Group 72"/>
            <p:cNvGrpSpPr>
              <a:grpSpLocks/>
            </p:cNvGrpSpPr>
            <p:nvPr/>
          </p:nvGrpSpPr>
          <p:grpSpPr bwMode="auto">
            <a:xfrm>
              <a:off x="7753840" y="3717032"/>
              <a:ext cx="274544" cy="369888"/>
              <a:chOff x="1547664" y="1997075"/>
              <a:chExt cx="274544" cy="369888"/>
            </a:xfrm>
          </p:grpSpPr>
          <p:cxnSp>
            <p:nvCxnSpPr>
              <p:cNvPr id="76" name="Straight Arrow Connector 75"/>
              <p:cNvCxnSpPr/>
              <p:nvPr/>
            </p:nvCxnSpPr>
            <p:spPr bwMode="auto">
              <a:xfrm>
                <a:off x="1650263" y="2041908"/>
                <a:ext cx="17140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25"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sp>
          <p:nvSpPr>
            <p:cNvPr id="7216" name="Text Box 62"/>
            <p:cNvSpPr txBox="1">
              <a:spLocks noChangeArrowheads="1"/>
            </p:cNvSpPr>
            <p:nvPr/>
          </p:nvSpPr>
          <p:spPr bwMode="auto">
            <a:xfrm>
              <a:off x="8532440" y="3494335"/>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grpSp>
          <p:nvGrpSpPr>
            <p:cNvPr id="7217" name="Group 77"/>
            <p:cNvGrpSpPr>
              <a:grpSpLocks/>
            </p:cNvGrpSpPr>
            <p:nvPr/>
          </p:nvGrpSpPr>
          <p:grpSpPr bwMode="auto">
            <a:xfrm>
              <a:off x="5985266" y="3199630"/>
              <a:ext cx="1808460" cy="1878881"/>
              <a:chOff x="7012012" y="1019169"/>
              <a:chExt cx="1808460" cy="1878881"/>
            </a:xfrm>
          </p:grpSpPr>
          <p:sp>
            <p:nvSpPr>
              <p:cNvPr id="7218" name="Line 22"/>
              <p:cNvSpPr>
                <a:spLocks noChangeShapeType="1"/>
              </p:cNvSpPr>
              <p:nvPr/>
            </p:nvSpPr>
            <p:spPr bwMode="auto">
              <a:xfrm flipV="1">
                <a:off x="7259265" y="1313030"/>
                <a:ext cx="1273175" cy="1296988"/>
              </a:xfrm>
              <a:prstGeom prst="line">
                <a:avLst/>
              </a:prstGeom>
              <a:noFill/>
              <a:ln w="28575">
                <a:solidFill>
                  <a:srgbClr val="CC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19" name="Group 79"/>
              <p:cNvGrpSpPr>
                <a:grpSpLocks/>
              </p:cNvGrpSpPr>
              <p:nvPr/>
            </p:nvGrpSpPr>
            <p:grpSpPr bwMode="auto">
              <a:xfrm>
                <a:off x="7753840" y="1529898"/>
                <a:ext cx="274544" cy="369888"/>
                <a:chOff x="1547664" y="1997075"/>
                <a:chExt cx="274544" cy="369888"/>
              </a:xfrm>
            </p:grpSpPr>
            <p:cxnSp>
              <p:nvCxnSpPr>
                <p:cNvPr id="83" name="Straight Arrow Connector 82"/>
                <p:cNvCxnSpPr/>
                <p:nvPr/>
              </p:nvCxnSpPr>
              <p:spPr bwMode="auto">
                <a:xfrm>
                  <a:off x="1650165" y="2042228"/>
                  <a:ext cx="17140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23"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7220"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7221"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sp>
        <p:nvSpPr>
          <p:cNvPr id="134" name="Rectangle 133"/>
          <p:cNvSpPr>
            <a:spLocks noChangeArrowheads="1"/>
          </p:cNvSpPr>
          <p:nvPr/>
        </p:nvSpPr>
        <p:spPr bwMode="auto">
          <a:xfrm>
            <a:off x="1919289" y="404813"/>
            <a:ext cx="2490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FF00FF"/>
                </a:solidFill>
                <a:ea typeface="Times New Roman" panose="02020603050405020304" pitchFamily="18" charset="0"/>
                <a:cs typeface="Bookman-Demi"/>
              </a:rPr>
              <a:t>(i)  Negative Vector</a:t>
            </a:r>
          </a:p>
        </p:txBody>
      </p:sp>
      <p:grpSp>
        <p:nvGrpSpPr>
          <p:cNvPr id="71" name="Group 70"/>
          <p:cNvGrpSpPr>
            <a:grpSpLocks/>
          </p:cNvGrpSpPr>
          <p:nvPr/>
        </p:nvGrpSpPr>
        <p:grpSpPr bwMode="auto">
          <a:xfrm>
            <a:off x="7834313" y="263525"/>
            <a:ext cx="1808162" cy="1879600"/>
            <a:chOff x="7012012" y="1019169"/>
            <a:chExt cx="1808460" cy="1878881"/>
          </a:xfrm>
        </p:grpSpPr>
        <p:sp>
          <p:nvSpPr>
            <p:cNvPr id="7208"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09" name="Group 36"/>
            <p:cNvGrpSpPr>
              <a:grpSpLocks/>
            </p:cNvGrpSpPr>
            <p:nvPr/>
          </p:nvGrpSpPr>
          <p:grpSpPr bwMode="auto">
            <a:xfrm>
              <a:off x="7753840" y="1529898"/>
              <a:ext cx="274544" cy="369888"/>
              <a:chOff x="1547664" y="1997075"/>
              <a:chExt cx="274544" cy="369888"/>
            </a:xfrm>
          </p:grpSpPr>
          <p:cxnSp>
            <p:nvCxnSpPr>
              <p:cNvPr id="77" name="Straight Arrow Connector 76"/>
              <p:cNvCxnSpPr/>
              <p:nvPr/>
            </p:nvCxnSpPr>
            <p:spPr bwMode="auto">
              <a:xfrm>
                <a:off x="1650525" y="2041759"/>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13"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7210"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7211"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135" name="Group 134"/>
          <p:cNvGrpSpPr>
            <a:grpSpLocks/>
          </p:cNvGrpSpPr>
          <p:nvPr/>
        </p:nvGrpSpPr>
        <p:grpSpPr bwMode="auto">
          <a:xfrm>
            <a:off x="8535988" y="703263"/>
            <a:ext cx="1808162" cy="1879600"/>
            <a:chOff x="7156028" y="339329"/>
            <a:chExt cx="1808460" cy="1878881"/>
          </a:xfrm>
        </p:grpSpPr>
        <p:sp>
          <p:nvSpPr>
            <p:cNvPr id="7202" name="Line 22"/>
            <p:cNvSpPr>
              <a:spLocks noChangeShapeType="1"/>
            </p:cNvSpPr>
            <p:nvPr/>
          </p:nvSpPr>
          <p:spPr bwMode="auto">
            <a:xfrm flipV="1">
              <a:off x="7403281" y="633190"/>
              <a:ext cx="1273175" cy="1296988"/>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03" name="Group 41"/>
            <p:cNvGrpSpPr>
              <a:grpSpLocks/>
            </p:cNvGrpSpPr>
            <p:nvPr/>
          </p:nvGrpSpPr>
          <p:grpSpPr bwMode="auto">
            <a:xfrm>
              <a:off x="7812360" y="850058"/>
              <a:ext cx="418560" cy="369332"/>
              <a:chOff x="7897856" y="1052736"/>
              <a:chExt cx="418560" cy="369332"/>
            </a:xfrm>
          </p:grpSpPr>
          <p:cxnSp>
            <p:nvCxnSpPr>
              <p:cNvPr id="33" name="Straight Arrow Connector 32"/>
              <p:cNvCxnSpPr/>
              <p:nvPr/>
            </p:nvCxnSpPr>
            <p:spPr bwMode="auto">
              <a:xfrm>
                <a:off x="8067160" y="1097420"/>
                <a:ext cx="17306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07" name="TextBox 6"/>
              <p:cNvSpPr txBox="1">
                <a:spLocks noChangeArrowheads="1"/>
              </p:cNvSpPr>
              <p:nvPr/>
            </p:nvSpPr>
            <p:spPr bwMode="auto">
              <a:xfrm>
                <a:off x="7897856" y="1052736"/>
                <a:ext cx="4185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00"/>
                    </a:solidFill>
                  </a:rPr>
                  <a:t>-A</a:t>
                </a:r>
                <a:endParaRPr lang="en-IN" altLang="en-US">
                  <a:solidFill>
                    <a:srgbClr val="FF0000"/>
                  </a:solidFill>
                </a:endParaRPr>
              </a:p>
            </p:txBody>
          </p:sp>
        </p:grpSp>
        <p:sp>
          <p:nvSpPr>
            <p:cNvPr id="7204" name="Text Box 62"/>
            <p:cNvSpPr txBox="1">
              <a:spLocks noChangeArrowheads="1"/>
            </p:cNvSpPr>
            <p:nvPr/>
          </p:nvSpPr>
          <p:spPr bwMode="auto">
            <a:xfrm>
              <a:off x="7156028" y="185149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0000"/>
                  </a:solidFill>
                </a:rPr>
                <a:t>P</a:t>
              </a:r>
            </a:p>
          </p:txBody>
        </p:sp>
        <p:sp>
          <p:nvSpPr>
            <p:cNvPr id="7205" name="Text Box 62"/>
            <p:cNvSpPr txBox="1">
              <a:spLocks noChangeArrowheads="1"/>
            </p:cNvSpPr>
            <p:nvPr/>
          </p:nvSpPr>
          <p:spPr bwMode="auto">
            <a:xfrm>
              <a:off x="8596188" y="33932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0000"/>
                  </a:solidFill>
                </a:rPr>
                <a:t>O</a:t>
              </a:r>
            </a:p>
          </p:txBody>
        </p:sp>
      </p:grpSp>
      <p:sp>
        <p:nvSpPr>
          <p:cNvPr id="79" name="Rectangle 78"/>
          <p:cNvSpPr>
            <a:spLocks noChangeArrowheads="1"/>
          </p:cNvSpPr>
          <p:nvPr/>
        </p:nvSpPr>
        <p:spPr bwMode="auto">
          <a:xfrm>
            <a:off x="1906588" y="5662613"/>
            <a:ext cx="276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FFCC99"/>
                </a:solidFill>
                <a:ea typeface="Times New Roman" panose="02020603050405020304" pitchFamily="18" charset="0"/>
                <a:cs typeface="Bookman-Light"/>
              </a:rPr>
              <a:t>(v) Co-planar Vectors</a:t>
            </a:r>
            <a:endParaRPr lang="en-US" altLang="en-US" sz="2000">
              <a:solidFill>
                <a:srgbClr val="FFCC99"/>
              </a:solidFill>
              <a:ea typeface="Times New Roman" panose="02020603050405020304" pitchFamily="18" charset="0"/>
              <a:cs typeface="Bookman-Light"/>
            </a:endParaRPr>
          </a:p>
        </p:txBody>
      </p:sp>
      <p:sp>
        <p:nvSpPr>
          <p:cNvPr id="80" name="Rectangle 79"/>
          <p:cNvSpPr/>
          <p:nvPr/>
        </p:nvSpPr>
        <p:spPr>
          <a:xfrm>
            <a:off x="1906588" y="6022976"/>
            <a:ext cx="7358062" cy="646113"/>
          </a:xfrm>
          <a:prstGeom prst="rect">
            <a:avLst/>
          </a:prstGeom>
        </p:spPr>
        <p:txBody>
          <a:bodyPr>
            <a:spAutoFit/>
          </a:bodyPr>
          <a:lstStyle/>
          <a:p>
            <a:pPr eaLnBrk="0" fontAlgn="base" hangingPunct="0">
              <a:spcBef>
                <a:spcPct val="0"/>
              </a:spcBef>
              <a:spcAft>
                <a:spcPct val="0"/>
              </a:spcAft>
              <a:defRPr/>
            </a:pPr>
            <a:r>
              <a:rPr lang="en-US" b="1" dirty="0">
                <a:solidFill>
                  <a:srgbClr val="FFCC99"/>
                </a:solidFill>
                <a:latin typeface="Arial" panose="020B0604020202020204" pitchFamily="34" charset="0"/>
                <a:ea typeface="Times New Roman" pitchFamily="18" charset="0"/>
                <a:cs typeface="Bookman-Light" charset="0"/>
              </a:rPr>
              <a:t>The vectors are said to be co-planar, if they lie in the </a:t>
            </a:r>
            <a:r>
              <a:rPr lang="en-US" b="1" dirty="0">
                <a:solidFill>
                  <a:srgbClr val="66FF66"/>
                </a:solidFill>
                <a:latin typeface="Arial" panose="020B0604020202020204" pitchFamily="34" charset="0"/>
                <a:ea typeface="Times New Roman" pitchFamily="18" charset="0"/>
                <a:cs typeface="Bookman-Light" charset="0"/>
              </a:rPr>
              <a:t>same plane</a:t>
            </a:r>
            <a:r>
              <a:rPr lang="en-US" b="1" dirty="0">
                <a:solidFill>
                  <a:srgbClr val="FFCC99"/>
                </a:solidFill>
                <a:latin typeface="Arial" panose="020B0604020202020204" pitchFamily="34" charset="0"/>
                <a:ea typeface="Times New Roman" pitchFamily="18" charset="0"/>
                <a:cs typeface="Bookman-Light" charset="0"/>
              </a:rPr>
              <a:t>.</a:t>
            </a:r>
          </a:p>
          <a:p>
            <a:pPr eaLnBrk="0" fontAlgn="base" hangingPunct="0">
              <a:spcBef>
                <a:spcPct val="0"/>
              </a:spcBef>
              <a:spcAft>
                <a:spcPct val="0"/>
              </a:spcAft>
              <a:defRPr/>
            </a:pPr>
            <a:r>
              <a:rPr lang="en-US" b="1" dirty="0">
                <a:solidFill>
                  <a:srgbClr val="FFCC99"/>
                </a:solidFill>
                <a:latin typeface="Arial" panose="020B0604020202020204" pitchFamily="34" charset="0"/>
                <a:ea typeface="Times New Roman" pitchFamily="18" charset="0"/>
                <a:cs typeface="Bookman-Light" charset="0"/>
              </a:rPr>
              <a:t>The vectors drawn in this slide are all co-planar vectors.	</a:t>
            </a:r>
            <a:endParaRPr lang="en-US" sz="1050" b="1" dirty="0">
              <a:solidFill>
                <a:srgbClr val="FFCC99"/>
              </a:solidFill>
              <a:latin typeface="Arial" panose="020B0604020202020204" pitchFamily="34" charset="0"/>
              <a:cs typeface="Arial" panose="020B0604020202020204" pitchFamily="34" charset="0"/>
            </a:endParaRPr>
          </a:p>
        </p:txBody>
      </p:sp>
      <p:sp>
        <p:nvSpPr>
          <p:cNvPr id="73" name="Rectangle 72"/>
          <p:cNvSpPr>
            <a:spLocks noChangeArrowheads="1"/>
          </p:cNvSpPr>
          <p:nvPr/>
        </p:nvSpPr>
        <p:spPr bwMode="auto">
          <a:xfrm>
            <a:off x="1906588" y="4583113"/>
            <a:ext cx="3059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00B050"/>
                </a:solidFill>
                <a:ea typeface="Times New Roman" panose="02020603050405020304" pitchFamily="18" charset="0"/>
                <a:cs typeface="Bookman-Light"/>
              </a:rPr>
              <a:t>(iv) Co-terminal Vectors</a:t>
            </a:r>
            <a:endParaRPr lang="en-US" altLang="en-US" sz="2000">
              <a:solidFill>
                <a:srgbClr val="00B050"/>
              </a:solidFill>
              <a:ea typeface="Times New Roman" panose="02020603050405020304" pitchFamily="18" charset="0"/>
              <a:cs typeface="Bookman-Light"/>
            </a:endParaRPr>
          </a:p>
        </p:txBody>
      </p:sp>
      <p:sp>
        <p:nvSpPr>
          <p:cNvPr id="74" name="Rectangle 73"/>
          <p:cNvSpPr/>
          <p:nvPr/>
        </p:nvSpPr>
        <p:spPr>
          <a:xfrm>
            <a:off x="1906589" y="4943476"/>
            <a:ext cx="5126037" cy="646113"/>
          </a:xfrm>
          <a:prstGeom prst="rect">
            <a:avLst/>
          </a:prstGeom>
        </p:spPr>
        <p:txBody>
          <a:bodyPr>
            <a:spAutoFit/>
          </a:bodyPr>
          <a:lstStyle/>
          <a:p>
            <a:pPr eaLnBrk="0" fontAlgn="base" hangingPunct="0">
              <a:spcBef>
                <a:spcPct val="0"/>
              </a:spcBef>
              <a:spcAft>
                <a:spcPct val="0"/>
              </a:spcAft>
              <a:defRPr/>
            </a:pPr>
            <a:r>
              <a:rPr lang="en-US" b="1" dirty="0">
                <a:solidFill>
                  <a:srgbClr val="00B050"/>
                </a:solidFill>
                <a:latin typeface="Arial" panose="020B0604020202020204" pitchFamily="34" charset="0"/>
                <a:ea typeface="Times New Roman" pitchFamily="18" charset="0"/>
                <a:cs typeface="Bookman-Light" charset="0"/>
              </a:rPr>
              <a:t>Two vectors are said to be co-terminal, if they </a:t>
            </a:r>
            <a:r>
              <a:rPr lang="en-US" b="1" dirty="0">
                <a:solidFill>
                  <a:srgbClr val="FF7C80"/>
                </a:solidFill>
                <a:latin typeface="Arial" panose="020B0604020202020204" pitchFamily="34" charset="0"/>
                <a:ea typeface="Times New Roman" pitchFamily="18" charset="0"/>
                <a:cs typeface="Bookman-Light" charset="0"/>
              </a:rPr>
              <a:t>terminate</a:t>
            </a:r>
            <a:r>
              <a:rPr lang="en-US" b="1" dirty="0">
                <a:solidFill>
                  <a:srgbClr val="00B050"/>
                </a:solidFill>
                <a:latin typeface="Arial" panose="020B0604020202020204" pitchFamily="34" charset="0"/>
                <a:ea typeface="Times New Roman" pitchFamily="18" charset="0"/>
                <a:cs typeface="Bookman-Light" charset="0"/>
              </a:rPr>
              <a:t> at a common point.	</a:t>
            </a:r>
            <a:endParaRPr lang="en-US" sz="1050" b="1" dirty="0">
              <a:solidFill>
                <a:srgbClr val="00B050"/>
              </a:solidFill>
              <a:latin typeface="Arial" panose="020B0604020202020204" pitchFamily="34" charset="0"/>
              <a:cs typeface="Arial" panose="020B0604020202020204" pitchFamily="34" charset="0"/>
            </a:endParaRPr>
          </a:p>
        </p:txBody>
      </p:sp>
      <p:grpSp>
        <p:nvGrpSpPr>
          <p:cNvPr id="2" name="Group 1"/>
          <p:cNvGrpSpPr>
            <a:grpSpLocks/>
          </p:cNvGrpSpPr>
          <p:nvPr/>
        </p:nvGrpSpPr>
        <p:grpSpPr bwMode="auto">
          <a:xfrm>
            <a:off x="7040564" y="4338638"/>
            <a:ext cx="2986087" cy="1617662"/>
            <a:chOff x="5517216" y="4339313"/>
            <a:chExt cx="2985895" cy="1616471"/>
          </a:xfrm>
        </p:grpSpPr>
        <p:sp>
          <p:nvSpPr>
            <p:cNvPr id="7191" name="Line 22"/>
            <p:cNvSpPr>
              <a:spLocks noChangeShapeType="1"/>
            </p:cNvSpPr>
            <p:nvPr/>
          </p:nvSpPr>
          <p:spPr bwMode="auto">
            <a:xfrm flipV="1">
              <a:off x="6261481" y="4582765"/>
              <a:ext cx="1944629" cy="115062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192" name="Group 72"/>
            <p:cNvGrpSpPr>
              <a:grpSpLocks/>
            </p:cNvGrpSpPr>
            <p:nvPr/>
          </p:nvGrpSpPr>
          <p:grpSpPr bwMode="auto">
            <a:xfrm>
              <a:off x="7164288" y="5147515"/>
              <a:ext cx="274616" cy="369717"/>
              <a:chOff x="1547664" y="1997075"/>
              <a:chExt cx="274544" cy="369888"/>
            </a:xfrm>
          </p:grpSpPr>
          <p:cxnSp>
            <p:nvCxnSpPr>
              <p:cNvPr id="92" name="Straight Arrow Connector 91"/>
              <p:cNvCxnSpPr/>
              <p:nvPr/>
            </p:nvCxnSpPr>
            <p:spPr bwMode="auto">
              <a:xfrm>
                <a:off x="1651464" y="2040753"/>
                <a:ext cx="17139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01"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sp>
          <p:nvSpPr>
            <p:cNvPr id="7193" name="Text Box 62"/>
            <p:cNvSpPr txBox="1">
              <a:spLocks noChangeArrowheads="1"/>
            </p:cNvSpPr>
            <p:nvPr/>
          </p:nvSpPr>
          <p:spPr bwMode="auto">
            <a:xfrm>
              <a:off x="6003803" y="5589240"/>
              <a:ext cx="368397" cy="36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sp>
          <p:nvSpPr>
            <p:cNvPr id="7194" name="Line 22"/>
            <p:cNvSpPr>
              <a:spLocks noChangeShapeType="1"/>
            </p:cNvSpPr>
            <p:nvPr/>
          </p:nvSpPr>
          <p:spPr bwMode="auto">
            <a:xfrm flipV="1">
              <a:off x="5796136" y="4582764"/>
              <a:ext cx="2409974" cy="440719"/>
            </a:xfrm>
            <a:prstGeom prst="line">
              <a:avLst/>
            </a:prstGeom>
            <a:noFill/>
            <a:ln w="28575">
              <a:solidFill>
                <a:srgbClr val="CC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195" name="Group 79"/>
            <p:cNvGrpSpPr>
              <a:grpSpLocks/>
            </p:cNvGrpSpPr>
            <p:nvPr/>
          </p:nvGrpSpPr>
          <p:grpSpPr bwMode="auto">
            <a:xfrm>
              <a:off x="6754182" y="4477453"/>
              <a:ext cx="274616" cy="369717"/>
              <a:chOff x="1547664" y="1997075"/>
              <a:chExt cx="274544" cy="369888"/>
            </a:xfrm>
          </p:grpSpPr>
          <p:cxnSp>
            <p:nvCxnSpPr>
              <p:cNvPr id="90" name="Straight Arrow Connector 89"/>
              <p:cNvCxnSpPr/>
              <p:nvPr/>
            </p:nvCxnSpPr>
            <p:spPr bwMode="auto">
              <a:xfrm>
                <a:off x="1650434" y="2041383"/>
                <a:ext cx="17139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99"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7196" name="Text Box 62"/>
            <p:cNvSpPr txBox="1">
              <a:spLocks noChangeArrowheads="1"/>
            </p:cNvSpPr>
            <p:nvPr/>
          </p:nvSpPr>
          <p:spPr bwMode="auto">
            <a:xfrm>
              <a:off x="8134714" y="4339313"/>
              <a:ext cx="368397" cy="36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7197" name="Text Box 62"/>
            <p:cNvSpPr txBox="1">
              <a:spLocks noChangeArrowheads="1"/>
            </p:cNvSpPr>
            <p:nvPr/>
          </p:nvSpPr>
          <p:spPr bwMode="auto">
            <a:xfrm>
              <a:off x="5517216" y="4840811"/>
              <a:ext cx="368397" cy="36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sp>
        <p:nvSpPr>
          <p:cNvPr id="7188" name="TextBox 86"/>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7189" name="TextBox 87"/>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7190" name="TextBox 88"/>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231384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34"/>
                                        </p:tgtEl>
                                        <p:attrNameLst>
                                          <p:attrName>style.visibility</p:attrName>
                                        </p:attrNameLst>
                                      </p:cBhvr>
                                      <p:to>
                                        <p:strVal val="visible"/>
                                      </p:to>
                                    </p:set>
                                    <p:anim calcmode="lin" valueType="num">
                                      <p:cBhvr>
                                        <p:cTn id="12" dur="500" fill="hold"/>
                                        <p:tgtEl>
                                          <p:spTgt spid="134"/>
                                        </p:tgtEl>
                                        <p:attrNameLst>
                                          <p:attrName>ppt_w</p:attrName>
                                        </p:attrNameLst>
                                      </p:cBhvr>
                                      <p:tavLst>
                                        <p:tav tm="0">
                                          <p:val>
                                            <p:fltVal val="0"/>
                                          </p:val>
                                        </p:tav>
                                        <p:tav tm="100000">
                                          <p:val>
                                            <p:strVal val="#ppt_w"/>
                                          </p:val>
                                        </p:tav>
                                      </p:tavLst>
                                    </p:anim>
                                    <p:anim calcmode="lin" valueType="num">
                                      <p:cBhvr>
                                        <p:cTn id="13" dur="500" fill="hold"/>
                                        <p:tgtEl>
                                          <p:spTgt spid="134"/>
                                        </p:tgtEl>
                                        <p:attrNameLst>
                                          <p:attrName>ppt_h</p:attrName>
                                        </p:attrNameLst>
                                      </p:cBhvr>
                                      <p:tavLst>
                                        <p:tav tm="0">
                                          <p:val>
                                            <p:fltVal val="0"/>
                                          </p:val>
                                        </p:tav>
                                        <p:tav tm="100000">
                                          <p:val>
                                            <p:strVal val="#ppt_h"/>
                                          </p:val>
                                        </p:tav>
                                      </p:tavLst>
                                    </p:anim>
                                    <p:animEffect transition="in" filter="fade">
                                      <p:cBhvr>
                                        <p:cTn id="14" dur="500"/>
                                        <p:tgtEl>
                                          <p:spTgt spid="13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up)">
                                      <p:cBhvr>
                                        <p:cTn id="19" dur="500"/>
                                        <p:tgtEl>
                                          <p:spTgt spid="2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25"/>
                                        </p:tgtEl>
                                        <p:attrNameLst>
                                          <p:attrName>style.visibility</p:attrName>
                                        </p:attrNameLst>
                                      </p:cBhvr>
                                      <p:to>
                                        <p:strVal val="visible"/>
                                      </p:to>
                                    </p:set>
                                    <p:animEffect transition="in" filter="wipe(left)">
                                      <p:cBhvr>
                                        <p:cTn id="24" dur="500"/>
                                        <p:tgtEl>
                                          <p:spTgt spid="12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down)">
                                      <p:cBhvr>
                                        <p:cTn id="29" dur="500"/>
                                        <p:tgtEl>
                                          <p:spTgt spid="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path" presetSubtype="0" accel="50000" decel="50000" fill="hold" nodeType="clickEffect">
                                  <p:stCondLst>
                                    <p:cond delay="0"/>
                                  </p:stCondLst>
                                  <p:childTnLst>
                                    <p:animMotion origin="layout" path="M 2.77778E-6 3.33333E-6 L 0.07743 0.0625 " pathEditMode="relative" rAng="0" ptsTypes="AA">
                                      <p:cBhvr>
                                        <p:cTn id="33" dur="2000" fill="hold"/>
                                        <p:tgtEl>
                                          <p:spTgt spid="35"/>
                                        </p:tgtEl>
                                        <p:attrNameLst>
                                          <p:attrName>ppt_x</p:attrName>
                                          <p:attrName>ppt_y</p:attrName>
                                        </p:attrNameLst>
                                      </p:cBhvr>
                                      <p:rCtr x="3872" y="3125"/>
                                    </p:animMotion>
                                  </p:childTnLst>
                                </p:cTn>
                              </p:par>
                              <p:par>
                                <p:cTn id="34" presetID="1" presetClass="entr" presetSubtype="0" fill="hold" nodeType="withEffect">
                                  <p:stCondLst>
                                    <p:cond delay="0"/>
                                  </p:stCondLst>
                                  <p:childTnLst>
                                    <p:set>
                                      <p:cBhvr>
                                        <p:cTn id="35" dur="1" fill="hold">
                                          <p:stCondLst>
                                            <p:cond delay="0"/>
                                          </p:stCondLst>
                                        </p:cTn>
                                        <p:tgtEl>
                                          <p:spTgt spid="71"/>
                                        </p:tgtEl>
                                        <p:attrNameLst>
                                          <p:attrName>style.visibility</p:attrName>
                                        </p:attrNameLst>
                                      </p:cBhvr>
                                      <p:to>
                                        <p:strVal val="visible"/>
                                      </p:to>
                                    </p:set>
                                  </p:childTnLst>
                                </p:cTn>
                              </p:par>
                            </p:childTnLst>
                          </p:cTn>
                        </p:par>
                        <p:par>
                          <p:cTn id="36" fill="hold" nodeType="afterGroup">
                            <p:stCondLst>
                              <p:cond delay="2000"/>
                            </p:stCondLst>
                            <p:childTnLst>
                              <p:par>
                                <p:cTn id="37" presetID="8" presetClass="emph" presetSubtype="0" fill="hold" nodeType="afterEffect">
                                  <p:stCondLst>
                                    <p:cond delay="0"/>
                                  </p:stCondLst>
                                  <p:childTnLst>
                                    <p:animRot by="10800000">
                                      <p:cBhvr>
                                        <p:cTn id="38" dur="2000" fill="hold"/>
                                        <p:tgtEl>
                                          <p:spTgt spid="35"/>
                                        </p:tgtEl>
                                        <p:attrNameLst>
                                          <p:attrName>r</p:attrName>
                                        </p:attrNameLst>
                                      </p:cBhvr>
                                    </p:animRot>
                                  </p:childTnLst>
                                  <p:subTnLst>
                                    <p:set>
                                      <p:cBhvr override="childStyle">
                                        <p:cTn dur="1" fill="hold" display="0" masterRel="sameClick" afterEffect="1">
                                          <p:stCondLst>
                                            <p:cond evt="end" delay="0">
                                              <p:tn val="37"/>
                                            </p:cond>
                                          </p:stCondLst>
                                        </p:cTn>
                                        <p:tgtEl>
                                          <p:spTgt spid="35"/>
                                        </p:tgtEl>
                                        <p:attrNameLst>
                                          <p:attrName>style.visibility</p:attrName>
                                        </p:attrNameLst>
                                      </p:cBhvr>
                                      <p:to>
                                        <p:strVal val="hidden"/>
                                      </p:to>
                                    </p:set>
                                  </p:subTnLst>
                                </p:cTn>
                              </p:par>
                            </p:childTnLst>
                          </p:cTn>
                        </p:par>
                        <p:par>
                          <p:cTn id="39" fill="hold" nodeType="afterGroup">
                            <p:stCondLst>
                              <p:cond delay="4000"/>
                            </p:stCondLst>
                            <p:childTnLst>
                              <p:par>
                                <p:cTn id="40" presetID="1" presetClass="entr" presetSubtype="0" fill="hold" nodeType="afterEffect">
                                  <p:stCondLst>
                                    <p:cond delay="0"/>
                                  </p:stCondLst>
                                  <p:childTnLst>
                                    <p:set>
                                      <p:cBhvr>
                                        <p:cTn id="41" dur="1" fill="hold">
                                          <p:stCondLst>
                                            <p:cond delay="0"/>
                                          </p:stCondLst>
                                        </p:cTn>
                                        <p:tgtEl>
                                          <p:spTgt spid="135"/>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42" presetClass="path" presetSubtype="0" accel="50000" decel="50000" fill="hold" nodeType="clickEffect">
                                  <p:stCondLst>
                                    <p:cond delay="0"/>
                                  </p:stCondLst>
                                  <p:childTnLst>
                                    <p:animMotion origin="layout" path="M 0.00087 -0.00856 L -0.07795 -0.06065 " pathEditMode="relative" rAng="0" ptsTypes="AA">
                                      <p:cBhvr>
                                        <p:cTn id="45" dur="2000" fill="hold"/>
                                        <p:tgtEl>
                                          <p:spTgt spid="135"/>
                                        </p:tgtEl>
                                        <p:attrNameLst>
                                          <p:attrName>ppt_x</p:attrName>
                                          <p:attrName>ppt_y</p:attrName>
                                        </p:attrNameLst>
                                      </p:cBhvr>
                                      <p:rCtr x="-3941" y="-2616"/>
                                    </p:animMotion>
                                  </p:childTnLst>
                                </p:cTn>
                              </p:par>
                            </p:childTnLst>
                          </p:cTn>
                        </p:par>
                        <p:par>
                          <p:cTn id="46" fill="hold" nodeType="afterGroup">
                            <p:stCondLst>
                              <p:cond delay="2000"/>
                            </p:stCondLst>
                            <p:childTnLst>
                              <p:par>
                                <p:cTn id="47" presetID="10" presetClass="exit" presetSubtype="0" fill="hold" nodeType="afterEffect">
                                  <p:stCondLst>
                                    <p:cond delay="0"/>
                                  </p:stCondLst>
                                  <p:childTnLst>
                                    <p:animEffect transition="out" filter="fade">
                                      <p:cBhvr>
                                        <p:cTn id="48" dur="500"/>
                                        <p:tgtEl>
                                          <p:spTgt spid="71"/>
                                        </p:tgtEl>
                                      </p:cBhvr>
                                    </p:animEffect>
                                    <p:set>
                                      <p:cBhvr>
                                        <p:cTn id="49" dur="1" fill="hold">
                                          <p:stCondLst>
                                            <p:cond delay="499"/>
                                          </p:stCondLst>
                                        </p:cTn>
                                        <p:tgtEl>
                                          <p:spTgt spid="71"/>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35"/>
                                        </p:tgtEl>
                                      </p:cBhvr>
                                    </p:animEffect>
                                    <p:set>
                                      <p:cBhvr>
                                        <p:cTn id="52" dur="1" fill="hold">
                                          <p:stCondLst>
                                            <p:cond delay="499"/>
                                          </p:stCondLst>
                                        </p:cTn>
                                        <p:tgtEl>
                                          <p:spTgt spid="135"/>
                                        </p:tgtEl>
                                        <p:attrNameLst>
                                          <p:attrName>style.visibility</p:attrName>
                                        </p:attrNameLst>
                                      </p:cBhvr>
                                      <p:to>
                                        <p:strVal val="hidden"/>
                                      </p:to>
                                    </p:set>
                                  </p:childTnLst>
                                </p:cTn>
                              </p:par>
                            </p:childTnLst>
                          </p:cTn>
                        </p:par>
                        <p:par>
                          <p:cTn id="53" fill="hold" nodeType="afterGroup">
                            <p:stCondLst>
                              <p:cond delay="2500"/>
                            </p:stCondLst>
                            <p:childTnLst>
                              <p:par>
                                <p:cTn id="54" presetID="1" presetClass="entr" presetSubtype="0" fill="hold" nodeType="afterEffect">
                                  <p:stCondLst>
                                    <p:cond delay="0"/>
                                  </p:stCondLst>
                                  <p:childTnLst>
                                    <p:set>
                                      <p:cBhvr>
                                        <p:cTn id="55" dur="1" fill="hold">
                                          <p:stCondLst>
                                            <p:cond delay="0"/>
                                          </p:stCondLst>
                                        </p:cTn>
                                        <p:tgtEl>
                                          <p:spTgt spid="54"/>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29"/>
                                        </p:tgtEl>
                                        <p:attrNameLst>
                                          <p:attrName>style.visibility</p:attrName>
                                        </p:attrNameLst>
                                      </p:cBhvr>
                                      <p:to>
                                        <p:strVal val="visible"/>
                                      </p:to>
                                    </p:set>
                                    <p:animEffect transition="in" filter="wipe(up)">
                                      <p:cBhvr>
                                        <p:cTn id="67" dur="500"/>
                                        <p:tgtEl>
                                          <p:spTgt spid="12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55"/>
                                        </p:tgtEl>
                                        <p:attrNameLst>
                                          <p:attrName>style.visibility</p:attrName>
                                        </p:attrNameLst>
                                      </p:cBhvr>
                                      <p:to>
                                        <p:strVal val="visible"/>
                                      </p:to>
                                    </p:set>
                                    <p:anim calcmode="lin" valueType="num">
                                      <p:cBhvr>
                                        <p:cTn id="72" dur="500" fill="hold"/>
                                        <p:tgtEl>
                                          <p:spTgt spid="55"/>
                                        </p:tgtEl>
                                        <p:attrNameLst>
                                          <p:attrName>ppt_w</p:attrName>
                                        </p:attrNameLst>
                                      </p:cBhvr>
                                      <p:tavLst>
                                        <p:tav tm="0">
                                          <p:val>
                                            <p:fltVal val="0"/>
                                          </p:val>
                                        </p:tav>
                                        <p:tav tm="100000">
                                          <p:val>
                                            <p:strVal val="#ppt_w"/>
                                          </p:val>
                                        </p:tav>
                                      </p:tavLst>
                                    </p:anim>
                                    <p:anim calcmode="lin" valueType="num">
                                      <p:cBhvr>
                                        <p:cTn id="73" dur="500" fill="hold"/>
                                        <p:tgtEl>
                                          <p:spTgt spid="55"/>
                                        </p:tgtEl>
                                        <p:attrNameLst>
                                          <p:attrName>ppt_h</p:attrName>
                                        </p:attrNameLst>
                                      </p:cBhvr>
                                      <p:tavLst>
                                        <p:tav tm="0">
                                          <p:val>
                                            <p:fltVal val="0"/>
                                          </p:val>
                                        </p:tav>
                                        <p:tav tm="100000">
                                          <p:val>
                                            <p:strVal val="#ppt_h"/>
                                          </p:val>
                                        </p:tav>
                                      </p:tavLst>
                                    </p:anim>
                                    <p:animEffect transition="in" filter="fade">
                                      <p:cBhvr>
                                        <p:cTn id="74" dur="500"/>
                                        <p:tgtEl>
                                          <p:spTgt spid="5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wipe(left)">
                                      <p:cBhvr>
                                        <p:cTn id="79" dur="500"/>
                                        <p:tgtEl>
                                          <p:spTgt spid="8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wipe(up)">
                                      <p:cBhvr>
                                        <p:cTn id="84" dur="500"/>
                                        <p:tgtEl>
                                          <p:spTgt spid="5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73"/>
                                        </p:tgtEl>
                                        <p:attrNameLst>
                                          <p:attrName>style.visibility</p:attrName>
                                        </p:attrNameLst>
                                      </p:cBhvr>
                                      <p:to>
                                        <p:strVal val="visible"/>
                                      </p:to>
                                    </p:set>
                                    <p:anim calcmode="lin" valueType="num">
                                      <p:cBhvr>
                                        <p:cTn id="89" dur="500" fill="hold"/>
                                        <p:tgtEl>
                                          <p:spTgt spid="73"/>
                                        </p:tgtEl>
                                        <p:attrNameLst>
                                          <p:attrName>ppt_w</p:attrName>
                                        </p:attrNameLst>
                                      </p:cBhvr>
                                      <p:tavLst>
                                        <p:tav tm="0">
                                          <p:val>
                                            <p:fltVal val="0"/>
                                          </p:val>
                                        </p:tav>
                                        <p:tav tm="100000">
                                          <p:val>
                                            <p:strVal val="#ppt_w"/>
                                          </p:val>
                                        </p:tav>
                                      </p:tavLst>
                                    </p:anim>
                                    <p:anim calcmode="lin" valueType="num">
                                      <p:cBhvr>
                                        <p:cTn id="90" dur="500" fill="hold"/>
                                        <p:tgtEl>
                                          <p:spTgt spid="73"/>
                                        </p:tgtEl>
                                        <p:attrNameLst>
                                          <p:attrName>ppt_h</p:attrName>
                                        </p:attrNameLst>
                                      </p:cBhvr>
                                      <p:tavLst>
                                        <p:tav tm="0">
                                          <p:val>
                                            <p:fltVal val="0"/>
                                          </p:val>
                                        </p:tav>
                                        <p:tav tm="100000">
                                          <p:val>
                                            <p:strVal val="#ppt_h"/>
                                          </p:val>
                                        </p:tav>
                                      </p:tavLst>
                                    </p:anim>
                                    <p:animEffect transition="in" filter="fade">
                                      <p:cBhvr>
                                        <p:cTn id="91" dur="500"/>
                                        <p:tgtEl>
                                          <p:spTgt spid="7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wipe(left)">
                                      <p:cBhvr>
                                        <p:cTn id="96" dur="500"/>
                                        <p:tgtEl>
                                          <p:spTgt spid="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74"/>
                                        </p:tgtEl>
                                        <p:attrNameLst>
                                          <p:attrName>style.visibility</p:attrName>
                                        </p:attrNameLst>
                                      </p:cBhvr>
                                      <p:to>
                                        <p:strVal val="visible"/>
                                      </p:to>
                                    </p:set>
                                    <p:animEffect transition="in" filter="wipe(up)">
                                      <p:cBhvr>
                                        <p:cTn id="101" dur="500"/>
                                        <p:tgtEl>
                                          <p:spTgt spid="74"/>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79"/>
                                        </p:tgtEl>
                                        <p:attrNameLst>
                                          <p:attrName>style.visibility</p:attrName>
                                        </p:attrNameLst>
                                      </p:cBhvr>
                                      <p:to>
                                        <p:strVal val="visible"/>
                                      </p:to>
                                    </p:set>
                                    <p:anim calcmode="lin" valueType="num">
                                      <p:cBhvr>
                                        <p:cTn id="106" dur="500" fill="hold"/>
                                        <p:tgtEl>
                                          <p:spTgt spid="79"/>
                                        </p:tgtEl>
                                        <p:attrNameLst>
                                          <p:attrName>ppt_w</p:attrName>
                                        </p:attrNameLst>
                                      </p:cBhvr>
                                      <p:tavLst>
                                        <p:tav tm="0">
                                          <p:val>
                                            <p:fltVal val="0"/>
                                          </p:val>
                                        </p:tav>
                                        <p:tav tm="100000">
                                          <p:val>
                                            <p:strVal val="#ppt_w"/>
                                          </p:val>
                                        </p:tav>
                                      </p:tavLst>
                                    </p:anim>
                                    <p:anim calcmode="lin" valueType="num">
                                      <p:cBhvr>
                                        <p:cTn id="107" dur="500" fill="hold"/>
                                        <p:tgtEl>
                                          <p:spTgt spid="79"/>
                                        </p:tgtEl>
                                        <p:attrNameLst>
                                          <p:attrName>ppt_h</p:attrName>
                                        </p:attrNameLst>
                                      </p:cBhvr>
                                      <p:tavLst>
                                        <p:tav tm="0">
                                          <p:val>
                                            <p:fltVal val="0"/>
                                          </p:val>
                                        </p:tav>
                                        <p:tav tm="100000">
                                          <p:val>
                                            <p:strVal val="#ppt_h"/>
                                          </p:val>
                                        </p:tav>
                                      </p:tavLst>
                                    </p:anim>
                                    <p:animEffect transition="in" filter="fade">
                                      <p:cBhvr>
                                        <p:cTn id="108" dur="500"/>
                                        <p:tgtEl>
                                          <p:spTgt spid="79"/>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80"/>
                                        </p:tgtEl>
                                        <p:attrNameLst>
                                          <p:attrName>style.visibility</p:attrName>
                                        </p:attrNameLst>
                                      </p:cBhvr>
                                      <p:to>
                                        <p:strVal val="visible"/>
                                      </p:to>
                                    </p:set>
                                    <p:animEffect transition="in" filter="wipe(up)">
                                      <p:cBhvr>
                                        <p:cTn id="11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2" grpId="0"/>
      <p:bldP spid="27" grpId="0"/>
      <p:bldP spid="55" grpId="0"/>
      <p:bldP spid="56" grpId="0"/>
      <p:bldP spid="134" grpId="0"/>
      <p:bldP spid="79" grpId="0"/>
      <p:bldP spid="80" grpId="0"/>
      <p:bldP spid="73" grpId="0"/>
      <p:bldP spid="7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912939" y="2260601"/>
            <a:ext cx="5119687"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b="1" dirty="0">
                <a:solidFill>
                  <a:srgbClr val="CC99FF"/>
                </a:solidFill>
                <a:latin typeface="Arial"/>
                <a:ea typeface="Calibri" pitchFamily="34" charset="0"/>
                <a:cs typeface="Bookman-Light" charset="0"/>
              </a:rPr>
              <a:t>A vector divided by its magnitude is called a unit vector along the direction of the vector.</a:t>
            </a:r>
            <a:endParaRPr lang="en-US" b="1" dirty="0">
              <a:solidFill>
                <a:srgbClr val="CC99FF"/>
              </a:solidFill>
              <a:latin typeface="Arial"/>
              <a:cs typeface="Arial" panose="020B0604020202020204" pitchFamily="34" charset="0"/>
            </a:endParaRPr>
          </a:p>
          <a:p>
            <a:pPr eaLnBrk="0" fontAlgn="base" hangingPunct="0">
              <a:spcBef>
                <a:spcPct val="0"/>
              </a:spcBef>
              <a:spcAft>
                <a:spcPct val="0"/>
              </a:spcAft>
              <a:defRPr/>
            </a:pPr>
            <a:r>
              <a:rPr lang="en-US" b="1" dirty="0">
                <a:solidFill>
                  <a:srgbClr val="CC99FF"/>
                </a:solidFill>
                <a:latin typeface="Arial"/>
                <a:ea typeface="Calibri" pitchFamily="34" charset="0"/>
                <a:cs typeface="Bookman-Light" charset="0"/>
              </a:rPr>
              <a:t>		</a:t>
            </a:r>
            <a:r>
              <a:rPr lang="en-US" b="1" dirty="0">
                <a:solidFill>
                  <a:srgbClr val="00FFCC"/>
                </a:solidFill>
                <a:latin typeface="Arial"/>
                <a:ea typeface="Calibri" pitchFamily="34" charset="0"/>
                <a:cs typeface="Bookman-Light" charset="0"/>
              </a:rPr>
              <a:t>or</a:t>
            </a:r>
            <a:endParaRPr lang="en-US" b="1" dirty="0">
              <a:solidFill>
                <a:srgbClr val="00FFCC"/>
              </a:solidFill>
              <a:latin typeface="Arial"/>
              <a:cs typeface="Arial" panose="020B0604020202020204" pitchFamily="34" charset="0"/>
            </a:endParaRPr>
          </a:p>
          <a:p>
            <a:pPr eaLnBrk="0" fontAlgn="base" hangingPunct="0">
              <a:spcBef>
                <a:spcPct val="0"/>
              </a:spcBef>
              <a:spcAft>
                <a:spcPct val="0"/>
              </a:spcAft>
              <a:defRPr/>
            </a:pPr>
            <a:r>
              <a:rPr lang="en-US" b="1" dirty="0">
                <a:solidFill>
                  <a:srgbClr val="CC99FF"/>
                </a:solidFill>
                <a:latin typeface="Arial"/>
                <a:ea typeface="Times New Roman" pitchFamily="18" charset="0"/>
                <a:cs typeface="Bookman-Light" charset="0"/>
              </a:rPr>
              <a:t>A unit vector is a vector of unit magnitude pointing in a particular direction.</a:t>
            </a:r>
          </a:p>
        </p:txBody>
      </p:sp>
      <p:sp>
        <p:nvSpPr>
          <p:cNvPr id="4" name="Rectangle 3"/>
          <p:cNvSpPr>
            <a:spLocks noChangeArrowheads="1"/>
          </p:cNvSpPr>
          <p:nvPr/>
        </p:nvSpPr>
        <p:spPr bwMode="auto">
          <a:xfrm>
            <a:off x="1919288" y="5445126"/>
            <a:ext cx="547211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b="1" dirty="0">
                <a:solidFill>
                  <a:srgbClr val="FFCCFF"/>
                </a:solidFill>
                <a:latin typeface="Arial"/>
                <a:ea typeface="Calibri" pitchFamily="34" charset="0"/>
                <a:cs typeface="Bookman-Light" charset="0"/>
              </a:rPr>
              <a:t>The magnitude of the unit vector is </a:t>
            </a:r>
            <a:r>
              <a:rPr lang="en-US" b="1" dirty="0">
                <a:solidFill>
                  <a:srgbClr val="FF0000"/>
                </a:solidFill>
                <a:latin typeface="Arial"/>
                <a:ea typeface="Calibri" pitchFamily="34" charset="0"/>
                <a:cs typeface="Bookman-Light" charset="0"/>
              </a:rPr>
              <a:t>one unit </a:t>
            </a:r>
            <a:r>
              <a:rPr lang="en-US" b="1" dirty="0">
                <a:solidFill>
                  <a:srgbClr val="FFCCFF"/>
                </a:solidFill>
                <a:latin typeface="Arial"/>
                <a:ea typeface="Calibri" pitchFamily="34" charset="0"/>
                <a:cs typeface="Bookman-Light" charset="0"/>
              </a:rPr>
              <a:t>and its direction is same as that of the given vector.</a:t>
            </a:r>
            <a:endParaRPr lang="en-US" b="1" dirty="0">
              <a:solidFill>
                <a:srgbClr val="FFCCFF"/>
              </a:solidFill>
              <a:latin typeface="Arial"/>
              <a:cs typeface="Arial" panose="020B0604020202020204" pitchFamily="34" charset="0"/>
            </a:endParaRPr>
          </a:p>
          <a:p>
            <a:pPr eaLnBrk="0" fontAlgn="base" hangingPunct="0">
              <a:spcBef>
                <a:spcPct val="0"/>
              </a:spcBef>
              <a:spcAft>
                <a:spcPct val="0"/>
              </a:spcAft>
              <a:defRPr/>
            </a:pPr>
            <a:r>
              <a:rPr lang="en-US" b="1" dirty="0">
                <a:solidFill>
                  <a:srgbClr val="FFCCFF"/>
                </a:solidFill>
                <a:latin typeface="Arial"/>
                <a:ea typeface="Calibri" pitchFamily="34" charset="0"/>
                <a:cs typeface="Bookman-Light" charset="0"/>
              </a:rPr>
              <a:t>Since these are unit vectors,</a:t>
            </a:r>
            <a:endParaRPr lang="en-US" b="1" dirty="0">
              <a:solidFill>
                <a:srgbClr val="FFCCFF"/>
              </a:solidFill>
              <a:latin typeface="Arial"/>
              <a:cs typeface="Arial" panose="020B0604020202020204" pitchFamily="34" charset="0"/>
            </a:endParaRPr>
          </a:p>
        </p:txBody>
      </p:sp>
      <p:sp>
        <p:nvSpPr>
          <p:cNvPr id="5" name="Rectangle 4"/>
          <p:cNvSpPr>
            <a:spLocks noChangeArrowheads="1"/>
          </p:cNvSpPr>
          <p:nvPr/>
        </p:nvSpPr>
        <p:spPr bwMode="auto">
          <a:xfrm>
            <a:off x="1919288" y="1916113"/>
            <a:ext cx="21320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CC99FF"/>
                </a:solidFill>
                <a:ea typeface="Times New Roman" panose="02020603050405020304" pitchFamily="18" charset="0"/>
                <a:cs typeface="Bookman-Demi"/>
              </a:rPr>
              <a:t>(vii)  Unit Vector</a:t>
            </a:r>
          </a:p>
        </p:txBody>
      </p:sp>
      <p:grpSp>
        <p:nvGrpSpPr>
          <p:cNvPr id="8261" name="Group 16"/>
          <p:cNvGrpSpPr>
            <a:grpSpLocks/>
          </p:cNvGrpSpPr>
          <p:nvPr/>
        </p:nvGrpSpPr>
        <p:grpSpPr bwMode="auto">
          <a:xfrm>
            <a:off x="3648075" y="5084763"/>
            <a:ext cx="2292350" cy="411162"/>
            <a:chOff x="5932052" y="2555667"/>
            <a:chExt cx="2293545" cy="411088"/>
          </a:xfrm>
        </p:grpSpPr>
        <p:grpSp>
          <p:nvGrpSpPr>
            <p:cNvPr id="8278" name="Group 5"/>
            <p:cNvGrpSpPr>
              <a:grpSpLocks/>
            </p:cNvGrpSpPr>
            <p:nvPr/>
          </p:nvGrpSpPr>
          <p:grpSpPr bwMode="auto">
            <a:xfrm>
              <a:off x="5932052" y="2555667"/>
              <a:ext cx="790068" cy="411088"/>
              <a:chOff x="3806806" y="3161928"/>
              <a:chExt cx="790068" cy="411088"/>
            </a:xfrm>
          </p:grpSpPr>
          <p:grpSp>
            <p:nvGrpSpPr>
              <p:cNvPr id="8280" name="Group 6"/>
              <p:cNvGrpSpPr>
                <a:grpSpLocks/>
              </p:cNvGrpSpPr>
              <p:nvPr/>
            </p:nvGrpSpPr>
            <p:grpSpPr bwMode="auto">
              <a:xfrm>
                <a:off x="3806806" y="3161928"/>
                <a:ext cx="312906" cy="382470"/>
                <a:chOff x="3806806" y="3161928"/>
                <a:chExt cx="312906" cy="382470"/>
              </a:xfrm>
            </p:grpSpPr>
            <p:sp>
              <p:nvSpPr>
                <p:cNvPr id="8287" name="Rectangle 13"/>
                <p:cNvSpPr>
                  <a:spLocks noChangeArrowheads="1"/>
                </p:cNvSpPr>
                <p:nvPr/>
              </p:nvSpPr>
              <p:spPr bwMode="auto">
                <a:xfrm>
                  <a:off x="3806806" y="317506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FF66"/>
                      </a:solidFill>
                    </a:rPr>
                    <a:t>i,</a:t>
                  </a:r>
                  <a:endParaRPr lang="en-IN" altLang="en-US" b="1">
                    <a:solidFill>
                      <a:srgbClr val="66FF66"/>
                    </a:solidFill>
                  </a:endParaRPr>
                </a:p>
              </p:txBody>
            </p:sp>
            <p:sp>
              <p:nvSpPr>
                <p:cNvPr id="8288"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8281" name="Group 7"/>
              <p:cNvGrpSpPr>
                <a:grpSpLocks/>
              </p:cNvGrpSpPr>
              <p:nvPr/>
            </p:nvGrpSpPr>
            <p:grpSpPr bwMode="auto">
              <a:xfrm>
                <a:off x="4067944" y="3173926"/>
                <a:ext cx="312906" cy="382470"/>
                <a:chOff x="4339020" y="3173926"/>
                <a:chExt cx="312906" cy="382470"/>
              </a:xfrm>
            </p:grpSpPr>
            <p:sp>
              <p:nvSpPr>
                <p:cNvPr id="8285" name="Rectangle 11"/>
                <p:cNvSpPr>
                  <a:spLocks noChangeArrowheads="1"/>
                </p:cNvSpPr>
                <p:nvPr/>
              </p:nvSpPr>
              <p:spPr bwMode="auto">
                <a:xfrm>
                  <a:off x="4339020" y="3187064"/>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FF66"/>
                      </a:solidFill>
                    </a:rPr>
                    <a:t>j,</a:t>
                  </a:r>
                  <a:endParaRPr lang="en-IN" altLang="en-US" b="1">
                    <a:solidFill>
                      <a:srgbClr val="66FF66"/>
                    </a:solidFill>
                  </a:endParaRPr>
                </a:p>
              </p:txBody>
            </p:sp>
            <p:sp>
              <p:nvSpPr>
                <p:cNvPr id="8286" name="Line 37"/>
                <p:cNvSpPr>
                  <a:spLocks noChangeShapeType="1"/>
                </p:cNvSpPr>
                <p:nvPr/>
              </p:nvSpPr>
              <p:spPr bwMode="auto">
                <a:xfrm rot="5400000" flipH="1" flipV="1">
                  <a:off x="4445415" y="3190678"/>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8282" name="Group 8"/>
              <p:cNvGrpSpPr>
                <a:grpSpLocks/>
              </p:cNvGrpSpPr>
              <p:nvPr/>
            </p:nvGrpSpPr>
            <p:grpSpPr bwMode="auto">
              <a:xfrm>
                <a:off x="4283968" y="3177099"/>
                <a:ext cx="312906" cy="395917"/>
                <a:chOff x="4740206" y="3825171"/>
                <a:chExt cx="312906" cy="395917"/>
              </a:xfrm>
            </p:grpSpPr>
            <p:sp>
              <p:nvSpPr>
                <p:cNvPr id="8283" name="Rectangle 9"/>
                <p:cNvSpPr>
                  <a:spLocks noChangeArrowheads="1"/>
                </p:cNvSpPr>
                <p:nvPr/>
              </p:nvSpPr>
              <p:spPr bwMode="auto">
                <a:xfrm>
                  <a:off x="4740206" y="385175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FF66"/>
                      </a:solidFill>
                    </a:rPr>
                    <a:t>k</a:t>
                  </a:r>
                  <a:endParaRPr lang="en-IN" altLang="en-US" b="1">
                    <a:solidFill>
                      <a:srgbClr val="66FF66"/>
                    </a:solidFill>
                  </a:endParaRPr>
                </a:p>
              </p:txBody>
            </p:sp>
            <p:sp>
              <p:nvSpPr>
                <p:cNvPr id="8284" name="Line 37"/>
                <p:cNvSpPr>
                  <a:spLocks noChangeShapeType="1"/>
                </p:cNvSpPr>
                <p:nvPr/>
              </p:nvSpPr>
              <p:spPr bwMode="auto">
                <a:xfrm rot="5400000" flipH="1" flipV="1">
                  <a:off x="4873495" y="3841923"/>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sp>
          <p:nvSpPr>
            <p:cNvPr id="8279" name="Rectangle 15"/>
            <p:cNvSpPr>
              <a:spLocks noChangeArrowheads="1"/>
            </p:cNvSpPr>
            <p:nvPr/>
          </p:nvSpPr>
          <p:spPr bwMode="auto">
            <a:xfrm>
              <a:off x="6660232" y="2584417"/>
              <a:ext cx="15653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92D050"/>
                  </a:solidFill>
                  <a:ea typeface="Times New Roman" panose="02020603050405020304" pitchFamily="18" charset="0"/>
                  <a:cs typeface="Bookman-Light"/>
                </a:rPr>
                <a:t>respectively.</a:t>
              </a:r>
            </a:p>
          </p:txBody>
        </p:sp>
      </p:grpSp>
      <p:sp>
        <p:nvSpPr>
          <p:cNvPr id="8262" name="Rectangle 17"/>
          <p:cNvSpPr>
            <a:spLocks noChangeArrowheads="1"/>
          </p:cNvSpPr>
          <p:nvPr/>
        </p:nvSpPr>
        <p:spPr bwMode="auto">
          <a:xfrm>
            <a:off x="1955800" y="3789363"/>
            <a:ext cx="5435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6699"/>
                </a:solidFill>
                <a:ea typeface="Times New Roman" panose="02020603050405020304" pitchFamily="18" charset="0"/>
                <a:cs typeface="Bookman-Light"/>
              </a:rPr>
              <a:t>It has </a:t>
            </a:r>
            <a:r>
              <a:rPr lang="en-US" altLang="en-US" b="1">
                <a:solidFill>
                  <a:srgbClr val="00B0F0"/>
                </a:solidFill>
                <a:ea typeface="Times New Roman" panose="02020603050405020304" pitchFamily="18" charset="0"/>
                <a:cs typeface="Bookman-Light"/>
              </a:rPr>
              <a:t>no dimension or unit</a:t>
            </a:r>
            <a:r>
              <a:rPr lang="en-US" altLang="en-US" b="1">
                <a:solidFill>
                  <a:srgbClr val="FF6699"/>
                </a:solidFill>
                <a:ea typeface="Times New Roman" panose="02020603050405020304" pitchFamily="18" charset="0"/>
                <a:cs typeface="Bookman-Light"/>
              </a:rPr>
              <a:t>.  It is used to specify a direction only.</a:t>
            </a:r>
          </a:p>
        </p:txBody>
      </p:sp>
      <p:grpSp>
        <p:nvGrpSpPr>
          <p:cNvPr id="29" name="Group 9"/>
          <p:cNvGrpSpPr>
            <a:grpSpLocks/>
          </p:cNvGrpSpPr>
          <p:nvPr/>
        </p:nvGrpSpPr>
        <p:grpSpPr bwMode="auto">
          <a:xfrm>
            <a:off x="7535863" y="3529014"/>
            <a:ext cx="2957512" cy="2852737"/>
            <a:chOff x="6048678" y="3182533"/>
            <a:chExt cx="2956692" cy="2852945"/>
          </a:xfrm>
        </p:grpSpPr>
        <p:cxnSp>
          <p:nvCxnSpPr>
            <p:cNvPr id="30" name="Straight Arrow Connector 29"/>
            <p:cNvCxnSpPr/>
            <p:nvPr/>
          </p:nvCxnSpPr>
          <p:spPr>
            <a:xfrm>
              <a:off x="7091376" y="4868581"/>
              <a:ext cx="1656890" cy="0"/>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7091376" y="3501643"/>
              <a:ext cx="0" cy="1366938"/>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6299433" y="4868581"/>
              <a:ext cx="791942" cy="865250"/>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8274" name="Rectangle 8"/>
            <p:cNvSpPr>
              <a:spLocks noChangeArrowheads="1"/>
            </p:cNvSpPr>
            <p:nvPr/>
          </p:nvSpPr>
          <p:spPr bwMode="auto">
            <a:xfrm>
              <a:off x="8666816" y="4684494"/>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X</a:t>
              </a:r>
              <a:endParaRPr lang="en-IN" altLang="en-US">
                <a:solidFill>
                  <a:srgbClr val="000000"/>
                </a:solidFill>
              </a:endParaRPr>
            </a:p>
          </p:txBody>
        </p:sp>
        <p:sp>
          <p:nvSpPr>
            <p:cNvPr id="8275" name="Rectangle 14"/>
            <p:cNvSpPr>
              <a:spLocks noChangeArrowheads="1"/>
            </p:cNvSpPr>
            <p:nvPr/>
          </p:nvSpPr>
          <p:spPr bwMode="auto">
            <a:xfrm>
              <a:off x="6048678" y="5666146"/>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Z</a:t>
              </a:r>
              <a:endParaRPr lang="en-IN" altLang="en-US">
                <a:solidFill>
                  <a:srgbClr val="000000"/>
                </a:solidFill>
              </a:endParaRPr>
            </a:p>
          </p:txBody>
        </p:sp>
        <p:sp>
          <p:nvSpPr>
            <p:cNvPr id="8276" name="Rectangle 15"/>
            <p:cNvSpPr>
              <a:spLocks noChangeArrowheads="1"/>
            </p:cNvSpPr>
            <p:nvPr/>
          </p:nvSpPr>
          <p:spPr bwMode="auto">
            <a:xfrm>
              <a:off x="6939307" y="3182533"/>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Y</a:t>
              </a:r>
              <a:endParaRPr lang="en-IN" altLang="en-US">
                <a:solidFill>
                  <a:srgbClr val="000000"/>
                </a:solidFill>
              </a:endParaRPr>
            </a:p>
          </p:txBody>
        </p:sp>
        <p:sp>
          <p:nvSpPr>
            <p:cNvPr id="8277" name="Rectangle 16"/>
            <p:cNvSpPr>
              <a:spLocks noChangeArrowheads="1"/>
            </p:cNvSpPr>
            <p:nvPr/>
          </p:nvSpPr>
          <p:spPr bwMode="auto">
            <a:xfrm>
              <a:off x="6939307" y="4898527"/>
              <a:ext cx="3642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O</a:t>
              </a:r>
              <a:endParaRPr lang="en-IN" altLang="en-US">
                <a:solidFill>
                  <a:srgbClr val="000000"/>
                </a:solidFill>
              </a:endParaRPr>
            </a:p>
          </p:txBody>
        </p:sp>
      </p:grpSp>
      <p:grpSp>
        <p:nvGrpSpPr>
          <p:cNvPr id="6" name="Group 5"/>
          <p:cNvGrpSpPr>
            <a:grpSpLocks/>
          </p:cNvGrpSpPr>
          <p:nvPr/>
        </p:nvGrpSpPr>
        <p:grpSpPr bwMode="auto">
          <a:xfrm>
            <a:off x="8574088" y="5211764"/>
            <a:ext cx="565150" cy="427037"/>
            <a:chOff x="7045325" y="4606925"/>
            <a:chExt cx="565150" cy="427038"/>
          </a:xfrm>
        </p:grpSpPr>
        <p:cxnSp>
          <p:nvCxnSpPr>
            <p:cNvPr id="39" name="Straight Arrow Connector 38"/>
            <p:cNvCxnSpPr/>
            <p:nvPr/>
          </p:nvCxnSpPr>
          <p:spPr>
            <a:xfrm rot="5400000" flipH="1" flipV="1">
              <a:off x="7327900" y="4324350"/>
              <a:ext cx="0" cy="565150"/>
            </a:xfrm>
            <a:prstGeom prst="straightConnector1">
              <a:avLst/>
            </a:prstGeom>
            <a:ln w="28575">
              <a:solidFill>
                <a:srgbClr val="FF66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268" name="Group 46"/>
            <p:cNvGrpSpPr>
              <a:grpSpLocks/>
            </p:cNvGrpSpPr>
            <p:nvPr/>
          </p:nvGrpSpPr>
          <p:grpSpPr bwMode="auto">
            <a:xfrm>
              <a:off x="7346950" y="4651375"/>
              <a:ext cx="249238" cy="382588"/>
              <a:chOff x="3806806" y="3161928"/>
              <a:chExt cx="248786" cy="382470"/>
            </a:xfrm>
          </p:grpSpPr>
          <p:sp>
            <p:nvSpPr>
              <p:cNvPr id="8269"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i</a:t>
                </a:r>
                <a:endParaRPr lang="en-IN" altLang="en-US" b="1">
                  <a:solidFill>
                    <a:srgbClr val="FFCCFF"/>
                  </a:solidFill>
                </a:endParaRPr>
              </a:p>
            </p:txBody>
          </p:sp>
          <p:sp>
            <p:nvSpPr>
              <p:cNvPr id="8270"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grpSp>
        <p:nvGrpSpPr>
          <p:cNvPr id="7" name="Group 6"/>
          <p:cNvGrpSpPr>
            <a:grpSpLocks/>
          </p:cNvGrpSpPr>
          <p:nvPr/>
        </p:nvGrpSpPr>
        <p:grpSpPr bwMode="auto">
          <a:xfrm>
            <a:off x="8332789" y="4622801"/>
            <a:ext cx="249237" cy="563563"/>
            <a:chOff x="6804025" y="4017963"/>
            <a:chExt cx="249238" cy="563562"/>
          </a:xfrm>
        </p:grpSpPr>
        <p:cxnSp>
          <p:nvCxnSpPr>
            <p:cNvPr id="38" name="Straight Arrow Connector 37"/>
            <p:cNvCxnSpPr/>
            <p:nvPr/>
          </p:nvCxnSpPr>
          <p:spPr>
            <a:xfrm flipH="1" flipV="1">
              <a:off x="7053263" y="4017963"/>
              <a:ext cx="0" cy="563562"/>
            </a:xfrm>
            <a:prstGeom prst="straightConnector1">
              <a:avLst/>
            </a:prstGeom>
            <a:ln w="28575">
              <a:solidFill>
                <a:srgbClr val="FF66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264" name="Group 49"/>
            <p:cNvGrpSpPr>
              <a:grpSpLocks/>
            </p:cNvGrpSpPr>
            <p:nvPr/>
          </p:nvGrpSpPr>
          <p:grpSpPr bwMode="auto">
            <a:xfrm>
              <a:off x="6804025" y="4094163"/>
              <a:ext cx="249238" cy="382587"/>
              <a:chOff x="4339020" y="3173926"/>
              <a:chExt cx="248786" cy="382470"/>
            </a:xfrm>
          </p:grpSpPr>
          <p:sp>
            <p:nvSpPr>
              <p:cNvPr id="8265" name="Rectangle 50"/>
              <p:cNvSpPr>
                <a:spLocks noChangeArrowheads="1"/>
              </p:cNvSpPr>
              <p:nvPr/>
            </p:nvSpPr>
            <p:spPr bwMode="auto">
              <a:xfrm>
                <a:off x="4339020" y="3187064"/>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j</a:t>
                </a:r>
                <a:endParaRPr lang="en-IN" altLang="en-US" b="1">
                  <a:solidFill>
                    <a:srgbClr val="FFCCFF"/>
                  </a:solidFill>
                </a:endParaRPr>
              </a:p>
            </p:txBody>
          </p:sp>
          <p:sp>
            <p:nvSpPr>
              <p:cNvPr id="8266" name="Line 37"/>
              <p:cNvSpPr>
                <a:spLocks noChangeShapeType="1"/>
              </p:cNvSpPr>
              <p:nvPr/>
            </p:nvSpPr>
            <p:spPr bwMode="auto">
              <a:xfrm rot="5400000" flipH="1" flipV="1">
                <a:off x="4445415" y="3190678"/>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grpSp>
        <p:nvGrpSpPr>
          <p:cNvPr id="8" name="Group 7"/>
          <p:cNvGrpSpPr>
            <a:grpSpLocks/>
          </p:cNvGrpSpPr>
          <p:nvPr/>
        </p:nvGrpSpPr>
        <p:grpSpPr bwMode="auto">
          <a:xfrm>
            <a:off x="8078789" y="5162550"/>
            <a:ext cx="503237" cy="438150"/>
            <a:chOff x="6549278" y="4545013"/>
            <a:chExt cx="503238" cy="438150"/>
          </a:xfrm>
        </p:grpSpPr>
        <p:cxnSp>
          <p:nvCxnSpPr>
            <p:cNvPr id="40" name="Straight Arrow Connector 39"/>
            <p:cNvCxnSpPr/>
            <p:nvPr/>
          </p:nvCxnSpPr>
          <p:spPr>
            <a:xfrm flipH="1">
              <a:off x="6695328" y="4579938"/>
              <a:ext cx="357188" cy="403225"/>
            </a:xfrm>
            <a:prstGeom prst="straightConnector1">
              <a:avLst/>
            </a:prstGeom>
            <a:ln w="28575">
              <a:solidFill>
                <a:srgbClr val="FF66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260" name="Group 52"/>
            <p:cNvGrpSpPr>
              <a:grpSpLocks/>
            </p:cNvGrpSpPr>
            <p:nvPr/>
          </p:nvGrpSpPr>
          <p:grpSpPr bwMode="auto">
            <a:xfrm>
              <a:off x="6549278" y="4545013"/>
              <a:ext cx="312738" cy="395287"/>
              <a:chOff x="4726752" y="3825171"/>
              <a:chExt cx="312906" cy="395917"/>
            </a:xfrm>
          </p:grpSpPr>
          <p:sp>
            <p:nvSpPr>
              <p:cNvPr id="9" name="Rectangle 53"/>
              <p:cNvSpPr>
                <a:spLocks noChangeArrowheads="1"/>
              </p:cNvSpPr>
              <p:nvPr/>
            </p:nvSpPr>
            <p:spPr bwMode="auto">
              <a:xfrm>
                <a:off x="4726752" y="385175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k</a:t>
                </a:r>
                <a:endParaRPr lang="en-IN" altLang="en-US" b="1">
                  <a:solidFill>
                    <a:srgbClr val="FFCCFF"/>
                  </a:solidFill>
                </a:endParaRPr>
              </a:p>
            </p:txBody>
          </p:sp>
          <p:sp>
            <p:nvSpPr>
              <p:cNvPr id="10" name="Line 37"/>
              <p:cNvSpPr>
                <a:spLocks noChangeShapeType="1"/>
              </p:cNvSpPr>
              <p:nvPr/>
            </p:nvSpPr>
            <p:spPr bwMode="auto">
              <a:xfrm rot="5400000" flipH="1" flipV="1">
                <a:off x="4873495" y="3841923"/>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grpSp>
        <p:nvGrpSpPr>
          <p:cNvPr id="8205" name="Group 77"/>
          <p:cNvGrpSpPr>
            <a:grpSpLocks/>
          </p:cNvGrpSpPr>
          <p:nvPr/>
        </p:nvGrpSpPr>
        <p:grpSpPr bwMode="auto">
          <a:xfrm>
            <a:off x="5210176" y="6118225"/>
            <a:ext cx="2181225" cy="565150"/>
            <a:chOff x="2948354" y="6103968"/>
            <a:chExt cx="2180252" cy="565392"/>
          </a:xfrm>
        </p:grpSpPr>
        <p:grpSp>
          <p:nvGrpSpPr>
            <p:cNvPr id="8251" name="Group 73"/>
            <p:cNvGrpSpPr>
              <a:grpSpLocks/>
            </p:cNvGrpSpPr>
            <p:nvPr/>
          </p:nvGrpSpPr>
          <p:grpSpPr bwMode="auto">
            <a:xfrm>
              <a:off x="2987824" y="6188750"/>
              <a:ext cx="2140782" cy="408602"/>
              <a:chOff x="3511338" y="3573016"/>
              <a:chExt cx="2140782" cy="408602"/>
            </a:xfrm>
          </p:grpSpPr>
          <p:sp>
            <p:nvSpPr>
              <p:cNvPr id="8253" name="Line 37"/>
              <p:cNvSpPr>
                <a:spLocks noChangeShapeType="1"/>
              </p:cNvSpPr>
              <p:nvPr/>
            </p:nvSpPr>
            <p:spPr bwMode="auto">
              <a:xfrm rot="5400000" flipH="1" flipV="1">
                <a:off x="3749598" y="3589768"/>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54" name="Rectangle 64"/>
              <p:cNvSpPr>
                <a:spLocks noChangeArrowheads="1"/>
              </p:cNvSpPr>
              <p:nvPr/>
            </p:nvSpPr>
            <p:spPr bwMode="auto">
              <a:xfrm>
                <a:off x="3511338" y="3610448"/>
                <a:ext cx="7040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i | =</a:t>
                </a:r>
                <a:endParaRPr lang="en-IN" altLang="en-US" b="1">
                  <a:solidFill>
                    <a:srgbClr val="FF00FF"/>
                  </a:solidFill>
                </a:endParaRPr>
              </a:p>
            </p:txBody>
          </p:sp>
          <p:sp>
            <p:nvSpPr>
              <p:cNvPr id="8255" name="Line 37"/>
              <p:cNvSpPr>
                <a:spLocks noChangeShapeType="1"/>
              </p:cNvSpPr>
              <p:nvPr/>
            </p:nvSpPr>
            <p:spPr bwMode="auto">
              <a:xfrm rot="5400000" flipH="1" flipV="1">
                <a:off x="4353797" y="3591606"/>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56" name="Rectangle 68"/>
              <p:cNvSpPr>
                <a:spLocks noChangeArrowheads="1"/>
              </p:cNvSpPr>
              <p:nvPr/>
            </p:nvSpPr>
            <p:spPr bwMode="auto">
              <a:xfrm>
                <a:off x="4115537" y="3612286"/>
                <a:ext cx="7040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j | =</a:t>
                </a:r>
                <a:endParaRPr lang="en-IN" altLang="en-US" b="1">
                  <a:solidFill>
                    <a:srgbClr val="FF00FF"/>
                  </a:solidFill>
                </a:endParaRPr>
              </a:p>
            </p:txBody>
          </p:sp>
          <p:sp>
            <p:nvSpPr>
              <p:cNvPr id="8257" name="Line 37"/>
              <p:cNvSpPr>
                <a:spLocks noChangeShapeType="1"/>
              </p:cNvSpPr>
              <p:nvPr/>
            </p:nvSpPr>
            <p:spPr bwMode="auto">
              <a:xfrm rot="5400000" flipH="1" flipV="1">
                <a:off x="4943308" y="3591606"/>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58" name="Rectangle 71"/>
              <p:cNvSpPr>
                <a:spLocks noChangeArrowheads="1"/>
              </p:cNvSpPr>
              <p:nvPr/>
            </p:nvSpPr>
            <p:spPr bwMode="auto">
              <a:xfrm>
                <a:off x="4691601" y="3612286"/>
                <a:ext cx="9605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k | = 1</a:t>
                </a:r>
                <a:endParaRPr lang="en-IN" altLang="en-US" b="1">
                  <a:solidFill>
                    <a:srgbClr val="FF00FF"/>
                  </a:solidFill>
                </a:endParaRPr>
              </a:p>
            </p:txBody>
          </p:sp>
        </p:grpSp>
        <p:sp>
          <p:nvSpPr>
            <p:cNvPr id="77" name="Rounded Rectangle 76"/>
            <p:cNvSpPr/>
            <p:nvPr/>
          </p:nvSpPr>
          <p:spPr>
            <a:xfrm>
              <a:off x="2948354" y="6103968"/>
              <a:ext cx="2180252" cy="56539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00FF"/>
                </a:solidFill>
                <a:latin typeface="Arial"/>
              </a:endParaRPr>
            </a:p>
          </p:txBody>
        </p:sp>
      </p:grpSp>
      <p:sp>
        <p:nvSpPr>
          <p:cNvPr id="79" name="Rectangle 78"/>
          <p:cNvSpPr>
            <a:spLocks noChangeArrowheads="1"/>
          </p:cNvSpPr>
          <p:nvPr/>
        </p:nvSpPr>
        <p:spPr bwMode="auto">
          <a:xfrm>
            <a:off x="1892300" y="439739"/>
            <a:ext cx="574675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b="1" dirty="0">
                <a:solidFill>
                  <a:srgbClr val="00FFFF"/>
                </a:solidFill>
                <a:latin typeface="Arial"/>
                <a:ea typeface="Times New Roman" pitchFamily="18" charset="0"/>
                <a:cs typeface="Bookman-Light" charset="0"/>
              </a:rPr>
              <a:t>Two vectors having equal or unequal magnitudes, which either act along the same line or along the parallel lines in the </a:t>
            </a:r>
            <a:r>
              <a:rPr lang="en-US" b="1" dirty="0">
                <a:solidFill>
                  <a:srgbClr val="FF0000"/>
                </a:solidFill>
                <a:latin typeface="Arial"/>
                <a:ea typeface="Times New Roman" pitchFamily="18" charset="0"/>
                <a:cs typeface="Bookman-Light" charset="0"/>
              </a:rPr>
              <a:t>same direction</a:t>
            </a:r>
            <a:r>
              <a:rPr lang="en-US" b="1" dirty="0">
                <a:solidFill>
                  <a:srgbClr val="00FFFF"/>
                </a:solidFill>
                <a:latin typeface="Arial"/>
                <a:ea typeface="Times New Roman" pitchFamily="18" charset="0"/>
                <a:cs typeface="Bookman-Light" charset="0"/>
              </a:rPr>
              <a:t> or along the parallel lines in </a:t>
            </a:r>
            <a:r>
              <a:rPr lang="en-US" b="1" dirty="0">
                <a:solidFill>
                  <a:srgbClr val="FF0000"/>
                </a:solidFill>
                <a:latin typeface="Arial"/>
                <a:ea typeface="Times New Roman" pitchFamily="18" charset="0"/>
                <a:cs typeface="Bookman-Light" charset="0"/>
              </a:rPr>
              <a:t>opposite direction</a:t>
            </a:r>
            <a:r>
              <a:rPr lang="en-US" b="1" dirty="0">
                <a:solidFill>
                  <a:srgbClr val="00FFFF"/>
                </a:solidFill>
                <a:latin typeface="Arial"/>
                <a:ea typeface="Times New Roman" pitchFamily="18" charset="0"/>
                <a:cs typeface="Bookman-Light" charset="0"/>
              </a:rPr>
              <a:t> are called collinear vectors.</a:t>
            </a:r>
            <a:endParaRPr lang="en-US" b="1" dirty="0">
              <a:solidFill>
                <a:srgbClr val="00FFFF"/>
              </a:solidFill>
              <a:latin typeface="Arial"/>
              <a:cs typeface="Arial" panose="020B0604020202020204" pitchFamily="34" charset="0"/>
            </a:endParaRPr>
          </a:p>
        </p:txBody>
      </p:sp>
      <p:sp>
        <p:nvSpPr>
          <p:cNvPr id="80" name="Rectangle 79"/>
          <p:cNvSpPr>
            <a:spLocks noChangeArrowheads="1"/>
          </p:cNvSpPr>
          <p:nvPr/>
        </p:nvSpPr>
        <p:spPr bwMode="auto">
          <a:xfrm>
            <a:off x="1919288" y="76200"/>
            <a:ext cx="2887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2000" b="1">
                <a:solidFill>
                  <a:srgbClr val="00FFFF"/>
                </a:solidFill>
                <a:ea typeface="Times New Roman" panose="02020603050405020304" pitchFamily="18" charset="0"/>
                <a:cs typeface="Bookman-Light"/>
              </a:rPr>
              <a:t>(vi)  Collinear Vectors</a:t>
            </a:r>
            <a:endParaRPr lang="en-US" altLang="en-US" sz="2000">
              <a:solidFill>
                <a:srgbClr val="00FFFF"/>
              </a:solidFill>
              <a:ea typeface="Times New Roman" panose="02020603050405020304" pitchFamily="18" charset="0"/>
              <a:cs typeface="Bookman-Light"/>
            </a:endParaRPr>
          </a:p>
        </p:txBody>
      </p:sp>
      <p:grpSp>
        <p:nvGrpSpPr>
          <p:cNvPr id="8226" name="Group 81"/>
          <p:cNvGrpSpPr>
            <a:grpSpLocks/>
          </p:cNvGrpSpPr>
          <p:nvPr/>
        </p:nvGrpSpPr>
        <p:grpSpPr bwMode="auto">
          <a:xfrm>
            <a:off x="7639051" y="206376"/>
            <a:ext cx="2684463" cy="555625"/>
            <a:chOff x="5796136" y="4787860"/>
            <a:chExt cx="2684982" cy="554995"/>
          </a:xfrm>
        </p:grpSpPr>
        <p:sp>
          <p:nvSpPr>
            <p:cNvPr id="8245" name="Line 5"/>
            <p:cNvSpPr>
              <a:spLocks noChangeShapeType="1"/>
            </p:cNvSpPr>
            <p:nvPr/>
          </p:nvSpPr>
          <p:spPr bwMode="auto">
            <a:xfrm>
              <a:off x="6228184" y="5147900"/>
              <a:ext cx="1810122" cy="0"/>
            </a:xfrm>
            <a:prstGeom prst="line">
              <a:avLst/>
            </a:prstGeom>
            <a:noFill/>
            <a:ln w="28575">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46" name="Text Box 62"/>
            <p:cNvSpPr txBox="1">
              <a:spLocks noChangeArrowheads="1"/>
            </p:cNvSpPr>
            <p:nvPr/>
          </p:nvSpPr>
          <p:spPr bwMode="auto">
            <a:xfrm>
              <a:off x="8028384" y="4963234"/>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8247" name="Text Box 62"/>
            <p:cNvSpPr txBox="1">
              <a:spLocks noChangeArrowheads="1"/>
            </p:cNvSpPr>
            <p:nvPr/>
          </p:nvSpPr>
          <p:spPr bwMode="auto">
            <a:xfrm>
              <a:off x="5796136" y="4973523"/>
              <a:ext cx="50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grpSp>
          <p:nvGrpSpPr>
            <p:cNvPr id="8248" name="Group 92"/>
            <p:cNvGrpSpPr>
              <a:grpSpLocks/>
            </p:cNvGrpSpPr>
            <p:nvPr/>
          </p:nvGrpSpPr>
          <p:grpSpPr bwMode="auto">
            <a:xfrm>
              <a:off x="6759445" y="4787860"/>
              <a:ext cx="499820" cy="369332"/>
              <a:chOff x="6759445" y="4643844"/>
              <a:chExt cx="499820" cy="369332"/>
            </a:xfrm>
          </p:grpSpPr>
          <p:sp>
            <p:nvSpPr>
              <p:cNvPr id="8249" name="TextBox 6"/>
              <p:cNvSpPr txBox="1">
                <a:spLocks noChangeArrowheads="1"/>
              </p:cNvSpPr>
              <p:nvPr/>
            </p:nvSpPr>
            <p:spPr bwMode="auto">
              <a:xfrm>
                <a:off x="6759445" y="4643844"/>
                <a:ext cx="499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cxnSp>
            <p:nvCxnSpPr>
              <p:cNvPr id="95" name="Straight Arrow Connector 94"/>
              <p:cNvCxnSpPr/>
              <p:nvPr/>
            </p:nvCxnSpPr>
            <p:spPr bwMode="auto">
              <a:xfrm>
                <a:off x="6863142" y="4697758"/>
                <a:ext cx="17148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8227" name="Group 82"/>
          <p:cNvGrpSpPr>
            <a:grpSpLocks/>
          </p:cNvGrpSpPr>
          <p:nvPr/>
        </p:nvGrpSpPr>
        <p:grpSpPr bwMode="auto">
          <a:xfrm>
            <a:off x="7651751" y="620714"/>
            <a:ext cx="2036763" cy="504825"/>
            <a:chOff x="5796136" y="5301208"/>
            <a:chExt cx="2036910" cy="504056"/>
          </a:xfrm>
        </p:grpSpPr>
        <p:sp>
          <p:nvSpPr>
            <p:cNvPr id="8239" name="Line 5"/>
            <p:cNvSpPr>
              <a:spLocks noChangeShapeType="1"/>
            </p:cNvSpPr>
            <p:nvPr/>
          </p:nvSpPr>
          <p:spPr bwMode="auto">
            <a:xfrm>
              <a:off x="6228184" y="5651956"/>
              <a:ext cx="1236338" cy="0"/>
            </a:xfrm>
            <a:prstGeom prst="line">
              <a:avLst/>
            </a:prstGeom>
            <a:noFill/>
            <a:ln w="28575">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40" name="Text Box 62"/>
            <p:cNvSpPr txBox="1">
              <a:spLocks noChangeArrowheads="1"/>
            </p:cNvSpPr>
            <p:nvPr/>
          </p:nvSpPr>
          <p:spPr bwMode="auto">
            <a:xfrm>
              <a:off x="7380312" y="5435932"/>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sp>
          <p:nvSpPr>
            <p:cNvPr id="8241" name="Text Box 62"/>
            <p:cNvSpPr txBox="1">
              <a:spLocks noChangeArrowheads="1"/>
            </p:cNvSpPr>
            <p:nvPr/>
          </p:nvSpPr>
          <p:spPr bwMode="auto">
            <a:xfrm>
              <a:off x="5796136" y="5426640"/>
              <a:ext cx="524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nvGrpSpPr>
            <p:cNvPr id="8242" name="Group 86"/>
            <p:cNvGrpSpPr>
              <a:grpSpLocks/>
            </p:cNvGrpSpPr>
            <p:nvPr/>
          </p:nvGrpSpPr>
          <p:grpSpPr bwMode="auto">
            <a:xfrm>
              <a:off x="6772622" y="5301208"/>
              <a:ext cx="463674" cy="369332"/>
              <a:chOff x="6772622" y="5157192"/>
              <a:chExt cx="463674" cy="369332"/>
            </a:xfrm>
          </p:grpSpPr>
          <p:sp>
            <p:nvSpPr>
              <p:cNvPr id="8243" name="TextBox 6"/>
              <p:cNvSpPr txBox="1">
                <a:spLocks noChangeArrowheads="1"/>
              </p:cNvSpPr>
              <p:nvPr/>
            </p:nvSpPr>
            <p:spPr bwMode="auto">
              <a:xfrm>
                <a:off x="6772622" y="5157192"/>
                <a:ext cx="4636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cxnSp>
            <p:nvCxnSpPr>
              <p:cNvPr id="89" name="Straight Arrow Connector 88"/>
              <p:cNvCxnSpPr/>
              <p:nvPr/>
            </p:nvCxnSpPr>
            <p:spPr bwMode="auto">
              <a:xfrm>
                <a:off x="6866188" y="5201574"/>
                <a:ext cx="17146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96" name="Group 95"/>
          <p:cNvGrpSpPr>
            <a:grpSpLocks/>
          </p:cNvGrpSpPr>
          <p:nvPr/>
        </p:nvGrpSpPr>
        <p:grpSpPr bwMode="auto">
          <a:xfrm>
            <a:off x="7659688" y="1268414"/>
            <a:ext cx="2684462" cy="555625"/>
            <a:chOff x="5796136" y="4787860"/>
            <a:chExt cx="2684982" cy="554995"/>
          </a:xfrm>
        </p:grpSpPr>
        <p:sp>
          <p:nvSpPr>
            <p:cNvPr id="8233" name="Line 5"/>
            <p:cNvSpPr>
              <a:spLocks noChangeShapeType="1"/>
            </p:cNvSpPr>
            <p:nvPr/>
          </p:nvSpPr>
          <p:spPr bwMode="auto">
            <a:xfrm>
              <a:off x="6228184" y="5147900"/>
              <a:ext cx="1810122" cy="0"/>
            </a:xfrm>
            <a:prstGeom prst="line">
              <a:avLst/>
            </a:prstGeom>
            <a:noFill/>
            <a:ln w="28575">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34" name="Text Box 62"/>
            <p:cNvSpPr txBox="1">
              <a:spLocks noChangeArrowheads="1"/>
            </p:cNvSpPr>
            <p:nvPr/>
          </p:nvSpPr>
          <p:spPr bwMode="auto">
            <a:xfrm>
              <a:off x="8028384" y="4963234"/>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8235" name="Text Box 62"/>
            <p:cNvSpPr txBox="1">
              <a:spLocks noChangeArrowheads="1"/>
            </p:cNvSpPr>
            <p:nvPr/>
          </p:nvSpPr>
          <p:spPr bwMode="auto">
            <a:xfrm>
              <a:off x="5796136" y="4973523"/>
              <a:ext cx="50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grpSp>
          <p:nvGrpSpPr>
            <p:cNvPr id="8236" name="Group 99"/>
            <p:cNvGrpSpPr>
              <a:grpSpLocks/>
            </p:cNvGrpSpPr>
            <p:nvPr/>
          </p:nvGrpSpPr>
          <p:grpSpPr bwMode="auto">
            <a:xfrm>
              <a:off x="6759445" y="4787860"/>
              <a:ext cx="499820" cy="369332"/>
              <a:chOff x="6759445" y="4643844"/>
              <a:chExt cx="499820" cy="369332"/>
            </a:xfrm>
          </p:grpSpPr>
          <p:sp>
            <p:nvSpPr>
              <p:cNvPr id="8237" name="TextBox 6"/>
              <p:cNvSpPr txBox="1">
                <a:spLocks noChangeArrowheads="1"/>
              </p:cNvSpPr>
              <p:nvPr/>
            </p:nvSpPr>
            <p:spPr bwMode="auto">
              <a:xfrm>
                <a:off x="6759445" y="4643844"/>
                <a:ext cx="499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cxnSp>
            <p:nvCxnSpPr>
              <p:cNvPr id="102" name="Straight Arrow Connector 101"/>
              <p:cNvCxnSpPr/>
              <p:nvPr/>
            </p:nvCxnSpPr>
            <p:spPr bwMode="auto">
              <a:xfrm>
                <a:off x="6863143" y="4697758"/>
                <a:ext cx="17148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103" name="Group 102"/>
          <p:cNvGrpSpPr>
            <a:grpSpLocks/>
          </p:cNvGrpSpPr>
          <p:nvPr/>
        </p:nvGrpSpPr>
        <p:grpSpPr bwMode="auto">
          <a:xfrm>
            <a:off x="7672388" y="1682751"/>
            <a:ext cx="2036762" cy="504825"/>
            <a:chOff x="5796136" y="5301208"/>
            <a:chExt cx="2036910" cy="504056"/>
          </a:xfrm>
        </p:grpSpPr>
        <p:sp>
          <p:nvSpPr>
            <p:cNvPr id="11" name="Line 5"/>
            <p:cNvSpPr>
              <a:spLocks noChangeShapeType="1"/>
            </p:cNvSpPr>
            <p:nvPr/>
          </p:nvSpPr>
          <p:spPr bwMode="auto">
            <a:xfrm>
              <a:off x="6228184" y="5651956"/>
              <a:ext cx="1236338" cy="0"/>
            </a:xfrm>
            <a:prstGeom prst="line">
              <a:avLst/>
            </a:prstGeom>
            <a:noFill/>
            <a:ln w="28575">
              <a:solidFill>
                <a:srgbClr val="FF99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228" name="Text Box 62"/>
            <p:cNvSpPr txBox="1">
              <a:spLocks noChangeArrowheads="1"/>
            </p:cNvSpPr>
            <p:nvPr/>
          </p:nvSpPr>
          <p:spPr bwMode="auto">
            <a:xfrm>
              <a:off x="7380312" y="5435932"/>
              <a:ext cx="452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S″</a:t>
              </a:r>
            </a:p>
          </p:txBody>
        </p:sp>
        <p:sp>
          <p:nvSpPr>
            <p:cNvPr id="8229" name="Text Box 62"/>
            <p:cNvSpPr txBox="1">
              <a:spLocks noChangeArrowheads="1"/>
            </p:cNvSpPr>
            <p:nvPr/>
          </p:nvSpPr>
          <p:spPr bwMode="auto">
            <a:xfrm>
              <a:off x="5796136" y="5426640"/>
              <a:ext cx="524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nvGrpSpPr>
            <p:cNvPr id="8230" name="Group 106"/>
            <p:cNvGrpSpPr>
              <a:grpSpLocks/>
            </p:cNvGrpSpPr>
            <p:nvPr/>
          </p:nvGrpSpPr>
          <p:grpSpPr bwMode="auto">
            <a:xfrm>
              <a:off x="6772622" y="5301208"/>
              <a:ext cx="463674" cy="369332"/>
              <a:chOff x="6772622" y="5157192"/>
              <a:chExt cx="463674" cy="369332"/>
            </a:xfrm>
          </p:grpSpPr>
          <p:sp>
            <p:nvSpPr>
              <p:cNvPr id="8231" name="TextBox 6"/>
              <p:cNvSpPr txBox="1">
                <a:spLocks noChangeArrowheads="1"/>
              </p:cNvSpPr>
              <p:nvPr/>
            </p:nvSpPr>
            <p:spPr bwMode="auto">
              <a:xfrm>
                <a:off x="6772622" y="5157192"/>
                <a:ext cx="4636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cxnSp>
            <p:nvCxnSpPr>
              <p:cNvPr id="109" name="Straight Arrow Connector 108"/>
              <p:cNvCxnSpPr/>
              <p:nvPr/>
            </p:nvCxnSpPr>
            <p:spPr bwMode="auto">
              <a:xfrm>
                <a:off x="6866189" y="5201574"/>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3" name="Rectangle 2"/>
          <p:cNvSpPr>
            <a:spLocks noChangeArrowheads="1"/>
          </p:cNvSpPr>
          <p:nvPr/>
        </p:nvSpPr>
        <p:spPr bwMode="auto">
          <a:xfrm>
            <a:off x="1954214" y="4449763"/>
            <a:ext cx="54371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92D050"/>
                </a:solidFill>
                <a:ea typeface="Times New Roman" panose="02020603050405020304" pitchFamily="18" charset="0"/>
                <a:cs typeface="Bookman-Light"/>
              </a:rPr>
              <a:t>Unit vectors along the </a:t>
            </a:r>
            <a:r>
              <a:rPr lang="en-US" altLang="en-US" b="1" i="1">
                <a:solidFill>
                  <a:srgbClr val="92D050"/>
                </a:solidFill>
                <a:ea typeface="Times New Roman" panose="02020603050405020304" pitchFamily="18" charset="0"/>
                <a:cs typeface="Bookman-LightItalic"/>
              </a:rPr>
              <a:t>x</a:t>
            </a:r>
            <a:r>
              <a:rPr lang="en-US" altLang="en-US" b="1">
                <a:solidFill>
                  <a:srgbClr val="92D050"/>
                </a:solidFill>
                <a:ea typeface="Times New Roman" panose="02020603050405020304" pitchFamily="18" charset="0"/>
                <a:cs typeface="Bookman-Light"/>
              </a:rPr>
              <a:t>-, </a:t>
            </a:r>
            <a:r>
              <a:rPr lang="en-US" altLang="en-US" b="1" i="1">
                <a:solidFill>
                  <a:srgbClr val="92D050"/>
                </a:solidFill>
                <a:ea typeface="Times New Roman" panose="02020603050405020304" pitchFamily="18" charset="0"/>
                <a:cs typeface="Bookman-LightItalic"/>
              </a:rPr>
              <a:t>y- </a:t>
            </a:r>
            <a:r>
              <a:rPr lang="en-US" altLang="en-US" b="1">
                <a:solidFill>
                  <a:srgbClr val="92D050"/>
                </a:solidFill>
                <a:ea typeface="Times New Roman" panose="02020603050405020304" pitchFamily="18" charset="0"/>
                <a:cs typeface="Bookman-Light"/>
              </a:rPr>
              <a:t>and </a:t>
            </a:r>
            <a:r>
              <a:rPr lang="en-US" altLang="en-US" b="1" i="1">
                <a:solidFill>
                  <a:srgbClr val="92D050"/>
                </a:solidFill>
                <a:ea typeface="Times New Roman" panose="02020603050405020304" pitchFamily="18" charset="0"/>
                <a:cs typeface="Bookman-LightItalic"/>
              </a:rPr>
              <a:t>z</a:t>
            </a:r>
            <a:r>
              <a:rPr lang="en-US" altLang="en-US" b="1">
                <a:solidFill>
                  <a:srgbClr val="92D050"/>
                </a:solidFill>
                <a:ea typeface="Times New Roman" panose="02020603050405020304" pitchFamily="18" charset="0"/>
                <a:cs typeface="Bookman-Light"/>
              </a:rPr>
              <a:t>-axes of a rectangular coordinate system are denoted by </a:t>
            </a:r>
            <a:endParaRPr lang="en-US" altLang="en-US" b="1">
              <a:solidFill>
                <a:srgbClr val="92D050"/>
              </a:solidFill>
            </a:endParaRPr>
          </a:p>
        </p:txBody>
      </p:sp>
      <p:grpSp>
        <p:nvGrpSpPr>
          <p:cNvPr id="13" name="Group 12"/>
          <p:cNvGrpSpPr>
            <a:grpSpLocks/>
          </p:cNvGrpSpPr>
          <p:nvPr/>
        </p:nvGrpSpPr>
        <p:grpSpPr bwMode="auto">
          <a:xfrm>
            <a:off x="7080251" y="2598738"/>
            <a:ext cx="1165225" cy="901700"/>
            <a:chOff x="6972393" y="5274313"/>
            <a:chExt cx="1164899" cy="901763"/>
          </a:xfrm>
        </p:grpSpPr>
        <p:grpSp>
          <p:nvGrpSpPr>
            <p:cNvPr id="8215" name="Group 83"/>
            <p:cNvGrpSpPr>
              <a:grpSpLocks/>
            </p:cNvGrpSpPr>
            <p:nvPr/>
          </p:nvGrpSpPr>
          <p:grpSpPr bwMode="auto">
            <a:xfrm>
              <a:off x="7011768" y="5356801"/>
              <a:ext cx="1112077" cy="761424"/>
              <a:chOff x="971600" y="4931491"/>
              <a:chExt cx="1112077" cy="761424"/>
            </a:xfrm>
          </p:grpSpPr>
          <p:grpSp>
            <p:nvGrpSpPr>
              <p:cNvPr id="8217" name="Group 84"/>
              <p:cNvGrpSpPr>
                <a:grpSpLocks/>
              </p:cNvGrpSpPr>
              <p:nvPr/>
            </p:nvGrpSpPr>
            <p:grpSpPr bwMode="auto">
              <a:xfrm>
                <a:off x="971600" y="5071316"/>
                <a:ext cx="541559" cy="395919"/>
                <a:chOff x="971600" y="5071316"/>
                <a:chExt cx="541559" cy="395919"/>
              </a:xfrm>
            </p:grpSpPr>
            <p:sp>
              <p:nvSpPr>
                <p:cNvPr id="8225" name="Rectangle 13"/>
                <p:cNvSpPr>
                  <a:spLocks noChangeArrowheads="1"/>
                </p:cNvSpPr>
                <p:nvPr/>
              </p:nvSpPr>
              <p:spPr bwMode="auto">
                <a:xfrm>
                  <a:off x="971600" y="5097903"/>
                  <a:ext cx="5415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A =</a:t>
                  </a:r>
                  <a:endParaRPr lang="en-IN" altLang="en-US" b="1">
                    <a:solidFill>
                      <a:srgbClr val="FF00FF"/>
                    </a:solidFill>
                  </a:endParaRPr>
                </a:p>
              </p:txBody>
            </p:sp>
            <p:sp>
              <p:nvSpPr>
                <p:cNvPr id="12" name="Line 37"/>
                <p:cNvSpPr>
                  <a:spLocks noChangeShapeType="1"/>
                </p:cNvSpPr>
                <p:nvPr/>
              </p:nvSpPr>
              <p:spPr bwMode="auto">
                <a:xfrm rot="5400000" flipH="1" flipV="1">
                  <a:off x="1125754" y="5088071"/>
                  <a:ext cx="33511"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cxnSp>
            <p:nvCxnSpPr>
              <p:cNvPr id="86" name="Straight Connector 85"/>
              <p:cNvCxnSpPr/>
              <p:nvPr/>
            </p:nvCxnSpPr>
            <p:spPr>
              <a:xfrm>
                <a:off x="1533720" y="5282420"/>
                <a:ext cx="350739" cy="0"/>
              </a:xfrm>
              <a:prstGeom prst="line">
                <a:avLst/>
              </a:prstGeom>
              <a:ln>
                <a:solidFill>
                  <a:srgbClr val="99FF33"/>
                </a:solidFill>
              </a:ln>
            </p:spPr>
            <p:style>
              <a:lnRef idx="1">
                <a:schemeClr val="accent1"/>
              </a:lnRef>
              <a:fillRef idx="0">
                <a:schemeClr val="accent1"/>
              </a:fillRef>
              <a:effectRef idx="0">
                <a:schemeClr val="accent1"/>
              </a:effectRef>
              <a:fontRef idx="minor">
                <a:schemeClr val="tx1"/>
              </a:fontRef>
            </p:style>
          </p:cxnSp>
          <p:grpSp>
            <p:nvGrpSpPr>
              <p:cNvPr id="8219" name="Group 79"/>
              <p:cNvGrpSpPr>
                <a:grpSpLocks/>
              </p:cNvGrpSpPr>
              <p:nvPr/>
            </p:nvGrpSpPr>
            <p:grpSpPr bwMode="auto">
              <a:xfrm>
                <a:off x="1547664" y="4931491"/>
                <a:ext cx="274616" cy="369717"/>
                <a:chOff x="1547664" y="1997075"/>
                <a:chExt cx="274544" cy="369888"/>
              </a:xfrm>
            </p:grpSpPr>
            <p:cxnSp>
              <p:nvCxnSpPr>
                <p:cNvPr id="92" name="Straight Arrow Connector 91"/>
                <p:cNvCxnSpPr/>
                <p:nvPr/>
              </p:nvCxnSpPr>
              <p:spPr bwMode="auto">
                <a:xfrm>
                  <a:off x="1651135" y="2041617"/>
                  <a:ext cx="17135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2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FF"/>
                      </a:solidFill>
                    </a:rPr>
                    <a:t>A</a:t>
                  </a:r>
                  <a:endParaRPr lang="en-IN" altLang="en-US">
                    <a:solidFill>
                      <a:srgbClr val="FF00FF"/>
                    </a:solidFill>
                  </a:endParaRPr>
                </a:p>
              </p:txBody>
            </p:sp>
          </p:grpSp>
          <p:grpSp>
            <p:nvGrpSpPr>
              <p:cNvPr id="8220" name="Group 87"/>
              <p:cNvGrpSpPr>
                <a:grpSpLocks/>
              </p:cNvGrpSpPr>
              <p:nvPr/>
            </p:nvGrpSpPr>
            <p:grpSpPr bwMode="auto">
              <a:xfrm>
                <a:off x="1443989" y="5323583"/>
                <a:ext cx="639688" cy="369332"/>
                <a:chOff x="1659723" y="5651570"/>
                <a:chExt cx="639688" cy="369332"/>
              </a:xfrm>
            </p:grpSpPr>
            <p:cxnSp>
              <p:nvCxnSpPr>
                <p:cNvPr id="90" name="Straight Arrow Connector 89"/>
                <p:cNvCxnSpPr/>
                <p:nvPr/>
              </p:nvCxnSpPr>
              <p:spPr bwMode="auto">
                <a:xfrm>
                  <a:off x="1892289" y="5696138"/>
                  <a:ext cx="15077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22" name="TextBox 6"/>
                <p:cNvSpPr txBox="1">
                  <a:spLocks noChangeArrowheads="1"/>
                </p:cNvSpPr>
                <p:nvPr/>
              </p:nvSpPr>
              <p:spPr bwMode="auto">
                <a:xfrm>
                  <a:off x="1659723" y="5651570"/>
                  <a:ext cx="639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FF"/>
                      </a:solidFill>
                    </a:rPr>
                    <a:t>| A |</a:t>
                  </a:r>
                  <a:endParaRPr lang="en-IN" altLang="en-US">
                    <a:solidFill>
                      <a:srgbClr val="FF00FF"/>
                    </a:solidFill>
                  </a:endParaRPr>
                </a:p>
              </p:txBody>
            </p:sp>
          </p:grpSp>
        </p:grpSp>
        <p:sp>
          <p:nvSpPr>
            <p:cNvPr id="98" name="Rounded Rectangle 97"/>
            <p:cNvSpPr/>
            <p:nvPr/>
          </p:nvSpPr>
          <p:spPr bwMode="auto">
            <a:xfrm>
              <a:off x="6972393" y="5274313"/>
              <a:ext cx="1164899" cy="90176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00FF"/>
                </a:solidFill>
                <a:latin typeface="Arial"/>
              </a:endParaRPr>
            </a:p>
          </p:txBody>
        </p:sp>
      </p:grpSp>
      <p:sp>
        <p:nvSpPr>
          <p:cNvPr id="8212" name="TextBox 96"/>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8213" name="TextBox 98"/>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8214" name="TextBox 99"/>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3925665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p:cTn id="7" dur="500" fill="hold"/>
                                        <p:tgtEl>
                                          <p:spTgt spid="80"/>
                                        </p:tgtEl>
                                        <p:attrNameLst>
                                          <p:attrName>ppt_w</p:attrName>
                                        </p:attrNameLst>
                                      </p:cBhvr>
                                      <p:tavLst>
                                        <p:tav tm="0">
                                          <p:val>
                                            <p:fltVal val="0"/>
                                          </p:val>
                                        </p:tav>
                                        <p:tav tm="100000">
                                          <p:val>
                                            <p:strVal val="#ppt_w"/>
                                          </p:val>
                                        </p:tav>
                                      </p:tavLst>
                                    </p:anim>
                                    <p:anim calcmode="lin" valueType="num">
                                      <p:cBhvr>
                                        <p:cTn id="8" dur="500" fill="hold"/>
                                        <p:tgtEl>
                                          <p:spTgt spid="80"/>
                                        </p:tgtEl>
                                        <p:attrNameLst>
                                          <p:attrName>ppt_h</p:attrName>
                                        </p:attrNameLst>
                                      </p:cBhvr>
                                      <p:tavLst>
                                        <p:tav tm="0">
                                          <p:val>
                                            <p:fltVal val="0"/>
                                          </p:val>
                                        </p:tav>
                                        <p:tav tm="100000">
                                          <p:val>
                                            <p:strVal val="#ppt_h"/>
                                          </p:val>
                                        </p:tav>
                                      </p:tavLst>
                                    </p:anim>
                                    <p:animEffect transition="in" filter="fade">
                                      <p:cBhvr>
                                        <p:cTn id="9" dur="500"/>
                                        <p:tgtEl>
                                          <p:spTgt spid="8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8226"/>
                                        </p:tgtEl>
                                        <p:attrNameLst>
                                          <p:attrName>style.visibility</p:attrName>
                                        </p:attrNameLst>
                                      </p:cBhvr>
                                      <p:to>
                                        <p:strVal val="visible"/>
                                      </p:to>
                                    </p:set>
                                    <p:animEffect transition="in" filter="wipe(left)">
                                      <p:cBhvr>
                                        <p:cTn id="14" dur="500"/>
                                        <p:tgtEl>
                                          <p:spTgt spid="822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8227"/>
                                        </p:tgtEl>
                                        <p:attrNameLst>
                                          <p:attrName>style.visibility</p:attrName>
                                        </p:attrNameLst>
                                      </p:cBhvr>
                                      <p:to>
                                        <p:strVal val="visible"/>
                                      </p:to>
                                    </p:set>
                                    <p:animEffect transition="in" filter="wipe(left)">
                                      <p:cBhvr>
                                        <p:cTn id="19" dur="500"/>
                                        <p:tgtEl>
                                          <p:spTgt spid="822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96"/>
                                        </p:tgtEl>
                                        <p:attrNameLst>
                                          <p:attrName>style.visibility</p:attrName>
                                        </p:attrNameLst>
                                      </p:cBhvr>
                                      <p:to>
                                        <p:strVal val="visible"/>
                                      </p:to>
                                    </p:set>
                                    <p:animEffect transition="in" filter="wipe(left)">
                                      <p:cBhvr>
                                        <p:cTn id="24" dur="500"/>
                                        <p:tgtEl>
                                          <p:spTgt spid="9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nodeType="clickEffect">
                                  <p:stCondLst>
                                    <p:cond delay="0"/>
                                  </p:stCondLst>
                                  <p:childTnLst>
                                    <p:set>
                                      <p:cBhvr>
                                        <p:cTn id="28" dur="1" fill="hold">
                                          <p:stCondLst>
                                            <p:cond delay="0"/>
                                          </p:stCondLst>
                                        </p:cTn>
                                        <p:tgtEl>
                                          <p:spTgt spid="103"/>
                                        </p:tgtEl>
                                        <p:attrNameLst>
                                          <p:attrName>style.visibility</p:attrName>
                                        </p:attrNameLst>
                                      </p:cBhvr>
                                      <p:to>
                                        <p:strVal val="visible"/>
                                      </p:to>
                                    </p:set>
                                    <p:animEffect transition="in" filter="wipe(right)">
                                      <p:cBhvr>
                                        <p:cTn id="29" dur="500"/>
                                        <p:tgtEl>
                                          <p:spTgt spid="10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79"/>
                                        </p:tgtEl>
                                        <p:attrNameLst>
                                          <p:attrName>style.visibility</p:attrName>
                                        </p:attrNameLst>
                                      </p:cBhvr>
                                      <p:to>
                                        <p:strVal val="visible"/>
                                      </p:to>
                                    </p:set>
                                    <p:animEffect transition="in" filter="wipe(up)">
                                      <p:cBhvr>
                                        <p:cTn id="34" dur="500"/>
                                        <p:tgtEl>
                                          <p:spTgt spid="7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fltVal val="0"/>
                                          </p:val>
                                        </p:tav>
                                        <p:tav tm="100000">
                                          <p:val>
                                            <p:strVal val="#ppt_h"/>
                                          </p:val>
                                        </p:tav>
                                      </p:tavLst>
                                    </p:anim>
                                    <p:animEffect transition="in" filter="fade">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
                                            <p:txEl>
                                              <p:pRg st="0" end="0"/>
                                            </p:txEl>
                                          </p:spTgt>
                                        </p:tgtEl>
                                        <p:attrNameLst>
                                          <p:attrName>style.visibility</p:attrName>
                                        </p:attrNameLst>
                                      </p:cBhvr>
                                      <p:to>
                                        <p:strVal val="visible"/>
                                      </p:to>
                                    </p:set>
                                    <p:animEffect transition="in" filter="wipe(up)">
                                      <p:cBhvr>
                                        <p:cTn id="46" dur="500"/>
                                        <p:tgtEl>
                                          <p:spTgt spid="2">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3" presetClass="entr" presetSubtype="16"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nodeType="clickEffect">
                                  <p:stCondLst>
                                    <p:cond delay="0"/>
                                  </p:stCondLst>
                                  <p:childTnLst>
                                    <p:set>
                                      <p:cBhvr>
                                        <p:cTn id="57" dur="1" fill="hold">
                                          <p:stCondLst>
                                            <p:cond delay="0"/>
                                          </p:stCondLst>
                                        </p:cTn>
                                        <p:tgtEl>
                                          <p:spTgt spid="2">
                                            <p:txEl>
                                              <p:pRg st="1" end="1"/>
                                            </p:txEl>
                                          </p:spTgt>
                                        </p:tgtEl>
                                        <p:attrNameLst>
                                          <p:attrName>style.visibility</p:attrName>
                                        </p:attrNameLst>
                                      </p:cBhvr>
                                      <p:to>
                                        <p:strVal val="visible"/>
                                      </p:to>
                                    </p:set>
                                    <p:anim calcmode="lin" valueType="num">
                                      <p:cBhvr>
                                        <p:cTn id="58"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59"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60" dur="500"/>
                                        <p:tgtEl>
                                          <p:spTgt spid="2">
                                            <p:txEl>
                                              <p:pRg st="1" end="1"/>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2">
                                            <p:txEl>
                                              <p:pRg st="2" end="2"/>
                                            </p:txEl>
                                          </p:spTgt>
                                        </p:tgtEl>
                                        <p:attrNameLst>
                                          <p:attrName>style.visibility</p:attrName>
                                        </p:attrNameLst>
                                      </p:cBhvr>
                                      <p:to>
                                        <p:strVal val="visible"/>
                                      </p:to>
                                    </p:set>
                                    <p:animEffect transition="in" filter="wipe(up)">
                                      <p:cBhvr>
                                        <p:cTn id="65" dur="500"/>
                                        <p:tgtEl>
                                          <p:spTgt spid="2">
                                            <p:txEl>
                                              <p:pRg st="2" end="2"/>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8262"/>
                                        </p:tgtEl>
                                        <p:attrNameLst>
                                          <p:attrName>style.visibility</p:attrName>
                                        </p:attrNameLst>
                                      </p:cBhvr>
                                      <p:to>
                                        <p:strVal val="visible"/>
                                      </p:to>
                                    </p:set>
                                    <p:animEffect transition="in" filter="wipe(up)">
                                      <p:cBhvr>
                                        <p:cTn id="70" dur="500"/>
                                        <p:tgtEl>
                                          <p:spTgt spid="826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3" presetClass="entr" presetSubtype="16"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p:cTn id="75" dur="500" fill="hold"/>
                                        <p:tgtEl>
                                          <p:spTgt spid="29"/>
                                        </p:tgtEl>
                                        <p:attrNameLst>
                                          <p:attrName>ppt_w</p:attrName>
                                        </p:attrNameLst>
                                      </p:cBhvr>
                                      <p:tavLst>
                                        <p:tav tm="0">
                                          <p:val>
                                            <p:fltVal val="0"/>
                                          </p:val>
                                        </p:tav>
                                        <p:tav tm="100000">
                                          <p:val>
                                            <p:strVal val="#ppt_w"/>
                                          </p:val>
                                        </p:tav>
                                      </p:tavLst>
                                    </p:anim>
                                    <p:anim calcmode="lin" valueType="num">
                                      <p:cBhvr>
                                        <p:cTn id="76" dur="500" fill="hold"/>
                                        <p:tgtEl>
                                          <p:spTgt spid="29"/>
                                        </p:tgtEl>
                                        <p:attrNameLst>
                                          <p:attrName>ppt_h</p:attrName>
                                        </p:attrNameLst>
                                      </p:cBhvr>
                                      <p:tavLst>
                                        <p:tav tm="0">
                                          <p:val>
                                            <p:fltVal val="0"/>
                                          </p:val>
                                        </p:tav>
                                        <p:tav tm="100000">
                                          <p:val>
                                            <p:strVal val="#ppt_h"/>
                                          </p:val>
                                        </p:tav>
                                      </p:tavLst>
                                    </p:anim>
                                    <p:animEffect transition="in" filter="fade">
                                      <p:cBhvr>
                                        <p:cTn id="77" dur="500"/>
                                        <p:tgtEl>
                                          <p:spTgt spid="2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
                                        </p:tgtEl>
                                        <p:attrNameLst>
                                          <p:attrName>style.visibility</p:attrName>
                                        </p:attrNameLst>
                                      </p:cBhvr>
                                      <p:to>
                                        <p:strVal val="visible"/>
                                      </p:to>
                                    </p:set>
                                    <p:animEffect transition="in" filter="wipe(left)">
                                      <p:cBhvr>
                                        <p:cTn id="82" dur="500"/>
                                        <p:tgtEl>
                                          <p:spTgt spid="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nodeType="click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500"/>
                                        <p:tgtEl>
                                          <p:spTgt spid="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2"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ipe(right)">
                                      <p:cBhvr>
                                        <p:cTn id="92" dur="500"/>
                                        <p:tgtEl>
                                          <p:spTgt spid="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wipe(up)">
                                      <p:cBhvr>
                                        <p:cTn id="97" dur="500"/>
                                        <p:tgtEl>
                                          <p:spTgt spid="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8261"/>
                                        </p:tgtEl>
                                        <p:attrNameLst>
                                          <p:attrName>style.visibility</p:attrName>
                                        </p:attrNameLst>
                                      </p:cBhvr>
                                      <p:to>
                                        <p:strVal val="visible"/>
                                      </p:to>
                                    </p:set>
                                    <p:animEffect transition="in" filter="wipe(left)">
                                      <p:cBhvr>
                                        <p:cTn id="102" dur="500"/>
                                        <p:tgtEl>
                                          <p:spTgt spid="826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4"/>
                                        </p:tgtEl>
                                        <p:attrNameLst>
                                          <p:attrName>style.visibility</p:attrName>
                                        </p:attrNameLst>
                                      </p:cBhvr>
                                      <p:to>
                                        <p:strVal val="visible"/>
                                      </p:to>
                                    </p:set>
                                    <p:animEffect transition="in" filter="wipe(up)">
                                      <p:cBhvr>
                                        <p:cTn id="107" dur="500"/>
                                        <p:tgtEl>
                                          <p:spTgt spid="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16" fill="hold" nodeType="clickEffect">
                                  <p:stCondLst>
                                    <p:cond delay="0"/>
                                  </p:stCondLst>
                                  <p:childTnLst>
                                    <p:set>
                                      <p:cBhvr>
                                        <p:cTn id="111" dur="1" fill="hold">
                                          <p:stCondLst>
                                            <p:cond delay="0"/>
                                          </p:stCondLst>
                                        </p:cTn>
                                        <p:tgtEl>
                                          <p:spTgt spid="8205"/>
                                        </p:tgtEl>
                                        <p:attrNameLst>
                                          <p:attrName>style.visibility</p:attrName>
                                        </p:attrNameLst>
                                      </p:cBhvr>
                                      <p:to>
                                        <p:strVal val="visible"/>
                                      </p:to>
                                    </p:set>
                                    <p:anim calcmode="lin" valueType="num">
                                      <p:cBhvr>
                                        <p:cTn id="112" dur="500" fill="hold"/>
                                        <p:tgtEl>
                                          <p:spTgt spid="8205"/>
                                        </p:tgtEl>
                                        <p:attrNameLst>
                                          <p:attrName>ppt_w</p:attrName>
                                        </p:attrNameLst>
                                      </p:cBhvr>
                                      <p:tavLst>
                                        <p:tav tm="0">
                                          <p:val>
                                            <p:fltVal val="0"/>
                                          </p:val>
                                        </p:tav>
                                        <p:tav tm="100000">
                                          <p:val>
                                            <p:strVal val="#ppt_w"/>
                                          </p:val>
                                        </p:tav>
                                      </p:tavLst>
                                    </p:anim>
                                    <p:anim calcmode="lin" valueType="num">
                                      <p:cBhvr>
                                        <p:cTn id="113" dur="500" fill="hold"/>
                                        <p:tgtEl>
                                          <p:spTgt spid="8205"/>
                                        </p:tgtEl>
                                        <p:attrNameLst>
                                          <p:attrName>ppt_h</p:attrName>
                                        </p:attrNameLst>
                                      </p:cBhvr>
                                      <p:tavLst>
                                        <p:tav tm="0">
                                          <p:val>
                                            <p:fltVal val="0"/>
                                          </p:val>
                                        </p:tav>
                                        <p:tav tm="100000">
                                          <p:val>
                                            <p:strVal val="#ppt_h"/>
                                          </p:val>
                                        </p:tav>
                                      </p:tavLst>
                                    </p:anim>
                                    <p:animEffect transition="in" filter="fade">
                                      <p:cBhvr>
                                        <p:cTn id="114" dur="500"/>
                                        <p:tgtEl>
                                          <p:spTgt spid="8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262" grpId="0"/>
      <p:bldP spid="79" grpId="0"/>
      <p:bldP spid="80" grpId="0"/>
      <p:bldP spid="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a:grpSpLocks/>
          </p:cNvGrpSpPr>
          <p:nvPr/>
        </p:nvGrpSpPr>
        <p:grpSpPr bwMode="auto">
          <a:xfrm>
            <a:off x="8931275" y="1222376"/>
            <a:ext cx="368300" cy="366713"/>
            <a:chOff x="7406853" y="1248640"/>
            <a:chExt cx="368300" cy="366713"/>
          </a:xfrm>
        </p:grpSpPr>
        <p:sp>
          <p:nvSpPr>
            <p:cNvPr id="9320" name="Oval 146"/>
            <p:cNvSpPr>
              <a:spLocks noChangeArrowheads="1"/>
            </p:cNvSpPr>
            <p:nvPr/>
          </p:nvSpPr>
          <p:spPr bwMode="auto">
            <a:xfrm flipH="1">
              <a:off x="7510881" y="1251121"/>
              <a:ext cx="76200" cy="76200"/>
            </a:xfrm>
            <a:prstGeom prst="ellipse">
              <a:avLst/>
            </a:prstGeom>
            <a:solidFill>
              <a:srgbClr val="FFFF00"/>
            </a:solid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9321" name="Text Box 62"/>
            <p:cNvSpPr txBox="1">
              <a:spLocks noChangeArrowheads="1"/>
            </p:cNvSpPr>
            <p:nvPr/>
          </p:nvSpPr>
          <p:spPr bwMode="auto">
            <a:xfrm>
              <a:off x="7406853" y="1248640"/>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B</a:t>
              </a:r>
            </a:p>
          </p:txBody>
        </p:sp>
      </p:grpSp>
      <p:grpSp>
        <p:nvGrpSpPr>
          <p:cNvPr id="11" name="Group 10"/>
          <p:cNvGrpSpPr>
            <a:grpSpLocks/>
          </p:cNvGrpSpPr>
          <p:nvPr/>
        </p:nvGrpSpPr>
        <p:grpSpPr bwMode="auto">
          <a:xfrm>
            <a:off x="8464550" y="201613"/>
            <a:ext cx="368300" cy="379412"/>
            <a:chOff x="6940004" y="215534"/>
            <a:chExt cx="368300" cy="378192"/>
          </a:xfrm>
        </p:grpSpPr>
        <p:sp>
          <p:nvSpPr>
            <p:cNvPr id="9318" name="Oval 146"/>
            <p:cNvSpPr>
              <a:spLocks noChangeArrowheads="1"/>
            </p:cNvSpPr>
            <p:nvPr/>
          </p:nvSpPr>
          <p:spPr bwMode="auto">
            <a:xfrm flipH="1">
              <a:off x="7085013" y="517526"/>
              <a:ext cx="76200" cy="76200"/>
            </a:xfrm>
            <a:prstGeom prst="ellipse">
              <a:avLst/>
            </a:prstGeom>
            <a:solidFill>
              <a:srgbClr val="FFFF00"/>
            </a:solidFill>
            <a:ln w="2857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9319" name="Text Box 62"/>
            <p:cNvSpPr txBox="1">
              <a:spLocks noChangeArrowheads="1"/>
            </p:cNvSpPr>
            <p:nvPr/>
          </p:nvSpPr>
          <p:spPr bwMode="auto">
            <a:xfrm>
              <a:off x="6940004" y="215534"/>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A</a:t>
              </a:r>
            </a:p>
          </p:txBody>
        </p:sp>
      </p:grpSp>
      <p:sp>
        <p:nvSpPr>
          <p:cNvPr id="9218" name="Rectangle 2"/>
          <p:cNvSpPr>
            <a:spLocks noChangeArrowheads="1"/>
          </p:cNvSpPr>
          <p:nvPr/>
        </p:nvSpPr>
        <p:spPr bwMode="auto">
          <a:xfrm>
            <a:off x="1897063" y="2228850"/>
            <a:ext cx="51355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00"/>
                </a:solidFill>
              </a:rPr>
              <a:t>Then, what is its displacement?  </a:t>
            </a:r>
            <a:r>
              <a:rPr lang="en-US" altLang="en-US" b="1">
                <a:solidFill>
                  <a:srgbClr val="FF00FF"/>
                </a:solidFill>
              </a:rPr>
              <a:t>Find!</a:t>
            </a:r>
            <a:r>
              <a:rPr lang="en-US" altLang="en-US" b="1">
                <a:solidFill>
                  <a:srgbClr val="FF0000"/>
                </a:solidFill>
              </a:rPr>
              <a:t> </a:t>
            </a:r>
          </a:p>
          <a:p>
            <a:pPr eaLnBrk="1" fontAlgn="base" hangingPunct="1">
              <a:spcBef>
                <a:spcPct val="0"/>
              </a:spcBef>
              <a:spcAft>
                <a:spcPct val="0"/>
              </a:spcAft>
            </a:pPr>
            <a:endParaRPr lang="en-US" altLang="en-US" b="1">
              <a:solidFill>
                <a:srgbClr val="FFCCFF"/>
              </a:solidFill>
            </a:endParaRPr>
          </a:p>
          <a:p>
            <a:pPr eaLnBrk="1" fontAlgn="base" hangingPunct="1">
              <a:spcBef>
                <a:spcPct val="0"/>
              </a:spcBef>
              <a:spcAft>
                <a:spcPct val="0"/>
              </a:spcAft>
            </a:pPr>
            <a:r>
              <a:rPr lang="en-US" altLang="en-US" b="1">
                <a:solidFill>
                  <a:srgbClr val="00B0F0"/>
                </a:solidFill>
              </a:rPr>
              <a:t>Since the initial and final positions coincide, the displacement is a ″</a:t>
            </a:r>
            <a:r>
              <a:rPr lang="en-US" altLang="en-US" b="1">
                <a:solidFill>
                  <a:srgbClr val="FFC000"/>
                </a:solidFill>
              </a:rPr>
              <a:t>null vector</a:t>
            </a:r>
            <a:r>
              <a:rPr lang="en-US" altLang="en-US" b="1">
                <a:solidFill>
                  <a:srgbClr val="00B0F0"/>
                </a:solidFill>
              </a:rPr>
              <a:t>″. </a:t>
            </a:r>
            <a:endParaRPr lang="en-IN" altLang="en-US" b="1">
              <a:solidFill>
                <a:srgbClr val="00B0F0"/>
              </a:solidFill>
            </a:endParaRPr>
          </a:p>
        </p:txBody>
      </p:sp>
      <p:grpSp>
        <p:nvGrpSpPr>
          <p:cNvPr id="7" name="Group 6"/>
          <p:cNvGrpSpPr>
            <a:grpSpLocks/>
          </p:cNvGrpSpPr>
          <p:nvPr/>
        </p:nvGrpSpPr>
        <p:grpSpPr bwMode="auto">
          <a:xfrm>
            <a:off x="8386764" y="692150"/>
            <a:ext cx="719137" cy="388938"/>
            <a:chOff x="8533383" y="805516"/>
            <a:chExt cx="719137" cy="388378"/>
          </a:xfrm>
        </p:grpSpPr>
        <p:cxnSp>
          <p:nvCxnSpPr>
            <p:cNvPr id="22" name="Straight Arrow Connector 21"/>
            <p:cNvCxnSpPr/>
            <p:nvPr/>
          </p:nvCxnSpPr>
          <p:spPr bwMode="auto">
            <a:xfrm flipV="1">
              <a:off x="8533383" y="1013180"/>
              <a:ext cx="719137" cy="18071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9310" name="Group 84"/>
            <p:cNvGrpSpPr>
              <a:grpSpLocks/>
            </p:cNvGrpSpPr>
            <p:nvPr/>
          </p:nvGrpSpPr>
          <p:grpSpPr bwMode="auto">
            <a:xfrm rot="-801751">
              <a:off x="8581454" y="805516"/>
              <a:ext cx="527050" cy="377825"/>
              <a:chOff x="7388696" y="2987660"/>
              <a:chExt cx="527426" cy="378624"/>
            </a:xfrm>
          </p:grpSpPr>
          <p:grpSp>
            <p:nvGrpSpPr>
              <p:cNvPr id="9311" name="Group 77"/>
              <p:cNvGrpSpPr>
                <a:grpSpLocks/>
              </p:cNvGrpSpPr>
              <p:nvPr/>
            </p:nvGrpSpPr>
            <p:grpSpPr bwMode="auto">
              <a:xfrm>
                <a:off x="7668344" y="2987660"/>
                <a:ext cx="247778" cy="369332"/>
                <a:chOff x="3316110" y="1997224"/>
                <a:chExt cx="247778" cy="369332"/>
              </a:xfrm>
            </p:grpSpPr>
            <p:cxnSp>
              <p:nvCxnSpPr>
                <p:cNvPr id="29" name="Straight Arrow Connector 28"/>
                <p:cNvCxnSpPr/>
                <p:nvPr/>
              </p:nvCxnSpPr>
              <p:spPr bwMode="auto">
                <a:xfrm>
                  <a:off x="3356996" y="2024198"/>
                  <a:ext cx="17157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17" name="TextBox 79"/>
                <p:cNvSpPr txBox="1">
                  <a:spLocks noChangeArrowheads="1"/>
                </p:cNvSpPr>
                <p:nvPr/>
              </p:nvSpPr>
              <p:spPr bwMode="auto">
                <a:xfrm>
                  <a:off x="3316110" y="1997224"/>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grpSp>
            <p:nvGrpSpPr>
              <p:cNvPr id="9312" name="Group 80"/>
              <p:cNvGrpSpPr>
                <a:grpSpLocks/>
              </p:cNvGrpSpPr>
              <p:nvPr/>
            </p:nvGrpSpPr>
            <p:grpSpPr bwMode="auto">
              <a:xfrm>
                <a:off x="7388696" y="2987660"/>
                <a:ext cx="360040" cy="369332"/>
                <a:chOff x="7948736" y="1411868"/>
                <a:chExt cx="360040" cy="369332"/>
              </a:xfrm>
            </p:grpSpPr>
            <p:cxnSp>
              <p:nvCxnSpPr>
                <p:cNvPr id="27" name="Straight Arrow Connector 26"/>
                <p:cNvCxnSpPr/>
                <p:nvPr/>
              </p:nvCxnSpPr>
              <p:spPr bwMode="auto">
                <a:xfrm>
                  <a:off x="7989329" y="1428427"/>
                  <a:ext cx="1763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15" name="TextBox 82"/>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sp>
            <p:nvSpPr>
              <p:cNvPr id="9313" name="Rectangle 83"/>
              <p:cNvSpPr>
                <a:spLocks noChangeArrowheads="1"/>
              </p:cNvSpPr>
              <p:nvPr/>
            </p:nvSpPr>
            <p:spPr bwMode="auto">
              <a:xfrm>
                <a:off x="7524328" y="2996952"/>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CC"/>
                    </a:solidFill>
                  </a:rPr>
                  <a:t>-</a:t>
                </a:r>
                <a:endParaRPr lang="en-IN" altLang="en-US">
                  <a:solidFill>
                    <a:srgbClr val="000000"/>
                  </a:solidFill>
                </a:endParaRPr>
              </a:p>
            </p:txBody>
          </p:sp>
        </p:grpSp>
      </p:grpSp>
      <p:sp>
        <p:nvSpPr>
          <p:cNvPr id="31" name="Freeform 30"/>
          <p:cNvSpPr/>
          <p:nvPr/>
        </p:nvSpPr>
        <p:spPr bwMode="auto">
          <a:xfrm>
            <a:off x="8281989" y="306388"/>
            <a:ext cx="923925" cy="766762"/>
          </a:xfrm>
          <a:custGeom>
            <a:avLst/>
            <a:gdLst>
              <a:gd name="connsiteX0" fmla="*/ 99119 w 924868"/>
              <a:gd name="connsiteY0" fmla="*/ 779017 h 779017"/>
              <a:gd name="connsiteX1" fmla="*/ 18437 w 924868"/>
              <a:gd name="connsiteY1" fmla="*/ 389052 h 779017"/>
              <a:gd name="connsiteX2" fmla="*/ 408401 w 924868"/>
              <a:gd name="connsiteY2" fmla="*/ 227687 h 779017"/>
              <a:gd name="connsiteX3" fmla="*/ 596660 w 924868"/>
              <a:gd name="connsiteY3" fmla="*/ 12534 h 779017"/>
              <a:gd name="connsiteX4" fmla="*/ 879048 w 924868"/>
              <a:gd name="connsiteY4" fmla="*/ 66323 h 779017"/>
              <a:gd name="connsiteX5" fmla="*/ 919390 w 924868"/>
              <a:gd name="connsiteY5" fmla="*/ 402499 h 779017"/>
              <a:gd name="connsiteX6" fmla="*/ 825260 w 924868"/>
              <a:gd name="connsiteY6" fmla="*/ 590758 h 779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4868" h="779017">
                <a:moveTo>
                  <a:pt x="99119" y="779017"/>
                </a:moveTo>
                <a:cubicBezTo>
                  <a:pt x="33004" y="629978"/>
                  <a:pt x="-33110" y="480940"/>
                  <a:pt x="18437" y="389052"/>
                </a:cubicBezTo>
                <a:cubicBezTo>
                  <a:pt x="69984" y="297164"/>
                  <a:pt x="312031" y="290440"/>
                  <a:pt x="408401" y="227687"/>
                </a:cubicBezTo>
                <a:cubicBezTo>
                  <a:pt x="504771" y="164934"/>
                  <a:pt x="518219" y="39428"/>
                  <a:pt x="596660" y="12534"/>
                </a:cubicBezTo>
                <a:cubicBezTo>
                  <a:pt x="675101" y="-14360"/>
                  <a:pt x="825260" y="1329"/>
                  <a:pt x="879048" y="66323"/>
                </a:cubicBezTo>
                <a:cubicBezTo>
                  <a:pt x="932836" y="131317"/>
                  <a:pt x="928355" y="315093"/>
                  <a:pt x="919390" y="402499"/>
                </a:cubicBezTo>
                <a:cubicBezTo>
                  <a:pt x="910425" y="489905"/>
                  <a:pt x="867842" y="540331"/>
                  <a:pt x="825260" y="590758"/>
                </a:cubicBezTo>
              </a:path>
            </a:pathLst>
          </a:custGeom>
          <a:ln w="19050">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000000"/>
              </a:solidFill>
              <a:latin typeface="Arial"/>
            </a:endParaRPr>
          </a:p>
        </p:txBody>
      </p:sp>
      <p:sp>
        <p:nvSpPr>
          <p:cNvPr id="9220" name="Rectangle 35"/>
          <p:cNvSpPr>
            <a:spLocks noChangeArrowheads="1"/>
          </p:cNvSpPr>
          <p:nvPr/>
        </p:nvSpPr>
        <p:spPr bwMode="auto">
          <a:xfrm>
            <a:off x="1919288" y="3429001"/>
            <a:ext cx="5219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The illustration of negative vector   justifies the need of a ′zero vector′.</a:t>
            </a:r>
            <a:endParaRPr lang="en-IN" altLang="en-US" b="1">
              <a:solidFill>
                <a:srgbClr val="FFCCFF"/>
              </a:solidFill>
            </a:endParaRPr>
          </a:p>
        </p:txBody>
      </p:sp>
      <p:sp>
        <p:nvSpPr>
          <p:cNvPr id="9221" name="Rectangle 62"/>
          <p:cNvSpPr>
            <a:spLocks noChangeArrowheads="1"/>
          </p:cNvSpPr>
          <p:nvPr/>
        </p:nvSpPr>
        <p:spPr bwMode="auto">
          <a:xfrm>
            <a:off x="1919288" y="5591176"/>
            <a:ext cx="8642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In our study, vectors do not have fixed locations.  So shifting a vector parallel to itself leaves the vector unchanged.  Such vectors are called ′</a:t>
            </a:r>
            <a:r>
              <a:rPr lang="en-US" altLang="en-US" b="1">
                <a:solidFill>
                  <a:srgbClr val="FFFF99"/>
                </a:solidFill>
              </a:rPr>
              <a:t>free vectors</a:t>
            </a:r>
            <a:r>
              <a:rPr lang="en-US" altLang="en-US" b="1">
                <a:solidFill>
                  <a:srgbClr val="FF00FF"/>
                </a:solidFill>
              </a:rPr>
              <a:t>′.  </a:t>
            </a:r>
            <a:endParaRPr lang="en-IN" altLang="en-US" b="1">
              <a:solidFill>
                <a:srgbClr val="FF00FF"/>
              </a:solidFill>
            </a:endParaRPr>
          </a:p>
        </p:txBody>
      </p:sp>
      <p:grpSp>
        <p:nvGrpSpPr>
          <p:cNvPr id="4" name="Group 103"/>
          <p:cNvGrpSpPr>
            <a:grpSpLocks/>
          </p:cNvGrpSpPr>
          <p:nvPr/>
        </p:nvGrpSpPr>
        <p:grpSpPr bwMode="auto">
          <a:xfrm>
            <a:off x="3114676" y="4149726"/>
            <a:ext cx="2117725" cy="371475"/>
            <a:chOff x="1590757" y="4427001"/>
            <a:chExt cx="2117147" cy="370151"/>
          </a:xfrm>
        </p:grpSpPr>
        <p:grpSp>
          <p:nvGrpSpPr>
            <p:cNvPr id="9299" name="Group 93"/>
            <p:cNvGrpSpPr>
              <a:grpSpLocks/>
            </p:cNvGrpSpPr>
            <p:nvPr/>
          </p:nvGrpSpPr>
          <p:grpSpPr bwMode="auto">
            <a:xfrm>
              <a:off x="2645797" y="4427820"/>
              <a:ext cx="1062107" cy="369332"/>
              <a:chOff x="3523340" y="2978222"/>
              <a:chExt cx="1062107" cy="369332"/>
            </a:xfrm>
          </p:grpSpPr>
          <p:sp>
            <p:nvSpPr>
              <p:cNvPr id="9306" name="TextBox 6"/>
              <p:cNvSpPr txBox="1">
                <a:spLocks noChangeArrowheads="1"/>
              </p:cNvSpPr>
              <p:nvPr/>
            </p:nvSpPr>
            <p:spPr bwMode="auto">
              <a:xfrm>
                <a:off x="3523340" y="2978222"/>
                <a:ext cx="1062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A = A</a:t>
                </a:r>
                <a:endParaRPr lang="en-IN" altLang="en-US" b="1">
                  <a:solidFill>
                    <a:srgbClr val="0099FF"/>
                  </a:solidFill>
                </a:endParaRPr>
              </a:p>
            </p:txBody>
          </p:sp>
          <p:cxnSp>
            <p:nvCxnSpPr>
              <p:cNvPr id="102" name="Straight Arrow Connector 101"/>
              <p:cNvCxnSpPr/>
              <p:nvPr/>
            </p:nvCxnSpPr>
            <p:spPr bwMode="auto">
              <a:xfrm>
                <a:off x="3806198" y="3031186"/>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bwMode="auto">
              <a:xfrm>
                <a:off x="4199790" y="3026441"/>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300" name="Group 94"/>
            <p:cNvGrpSpPr>
              <a:grpSpLocks/>
            </p:cNvGrpSpPr>
            <p:nvPr/>
          </p:nvGrpSpPr>
          <p:grpSpPr bwMode="auto">
            <a:xfrm>
              <a:off x="1590757" y="4427001"/>
              <a:ext cx="1291578" cy="369332"/>
              <a:chOff x="6957609" y="6001363"/>
              <a:chExt cx="1291578" cy="369332"/>
            </a:xfrm>
          </p:grpSpPr>
          <p:grpSp>
            <p:nvGrpSpPr>
              <p:cNvPr id="9301" name="Group 95"/>
              <p:cNvGrpSpPr>
                <a:grpSpLocks/>
              </p:cNvGrpSpPr>
              <p:nvPr/>
            </p:nvGrpSpPr>
            <p:grpSpPr bwMode="auto">
              <a:xfrm>
                <a:off x="6957609" y="6001363"/>
                <a:ext cx="1291578" cy="369332"/>
                <a:chOff x="1547663" y="1997075"/>
                <a:chExt cx="1291578" cy="369332"/>
              </a:xfrm>
            </p:grpSpPr>
            <p:cxnSp>
              <p:nvCxnSpPr>
                <p:cNvPr id="99" name="Straight Arrow Connector 98"/>
                <p:cNvCxnSpPr/>
                <p:nvPr/>
              </p:nvCxnSpPr>
              <p:spPr bwMode="auto">
                <a:xfrm>
                  <a:off x="1650823" y="2041367"/>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05" name="TextBox 6"/>
                <p:cNvSpPr txBox="1">
                  <a:spLocks noChangeArrowheads="1"/>
                </p:cNvSpPr>
                <p:nvPr/>
              </p:nvSpPr>
              <p:spPr bwMode="auto">
                <a:xfrm>
                  <a:off x="1547663" y="1997075"/>
                  <a:ext cx="12915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A + 0 = 0</a:t>
                  </a:r>
                  <a:endParaRPr lang="en-IN" altLang="en-US" b="1">
                    <a:solidFill>
                      <a:srgbClr val="0099FF"/>
                    </a:solidFill>
                  </a:endParaRPr>
                </a:p>
              </p:txBody>
            </p:sp>
          </p:grpSp>
          <p:cxnSp>
            <p:nvCxnSpPr>
              <p:cNvPr id="97" name="Straight Arrow Connector 96"/>
              <p:cNvCxnSpPr/>
              <p:nvPr/>
            </p:nvCxnSpPr>
            <p:spPr bwMode="auto">
              <a:xfrm>
                <a:off x="7455948" y="6053564"/>
                <a:ext cx="17299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bwMode="auto">
              <a:xfrm>
                <a:off x="7838431" y="6048818"/>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9226" name="Group 108"/>
          <p:cNvGrpSpPr>
            <a:grpSpLocks/>
          </p:cNvGrpSpPr>
          <p:nvPr/>
        </p:nvGrpSpPr>
        <p:grpSpPr bwMode="auto">
          <a:xfrm>
            <a:off x="3187700" y="4510089"/>
            <a:ext cx="1054100" cy="369887"/>
            <a:chOff x="1619672" y="4859868"/>
            <a:chExt cx="1054519" cy="369332"/>
          </a:xfrm>
        </p:grpSpPr>
        <p:sp>
          <p:nvSpPr>
            <p:cNvPr id="9296" name="Rectangle 105"/>
            <p:cNvSpPr>
              <a:spLocks noChangeArrowheads="1"/>
            </p:cNvSpPr>
            <p:nvPr/>
          </p:nvSpPr>
          <p:spPr bwMode="auto">
            <a:xfrm>
              <a:off x="1619672" y="4859868"/>
              <a:ext cx="10545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λ 0  = 0</a:t>
              </a:r>
              <a:endParaRPr lang="en-IN" altLang="en-US" b="1">
                <a:solidFill>
                  <a:srgbClr val="0099FF"/>
                </a:solidFill>
              </a:endParaRPr>
            </a:p>
          </p:txBody>
        </p:sp>
        <p:cxnSp>
          <p:nvCxnSpPr>
            <p:cNvPr id="107" name="Straight Arrow Connector 106"/>
            <p:cNvCxnSpPr/>
            <p:nvPr/>
          </p:nvCxnSpPr>
          <p:spPr bwMode="auto">
            <a:xfrm>
              <a:off x="2412150" y="4899495"/>
              <a:ext cx="1715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bwMode="auto">
            <a:xfrm>
              <a:off x="1965885" y="4904251"/>
              <a:ext cx="1715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227" name="Group 109"/>
          <p:cNvGrpSpPr>
            <a:grpSpLocks/>
          </p:cNvGrpSpPr>
          <p:nvPr/>
        </p:nvGrpSpPr>
        <p:grpSpPr bwMode="auto">
          <a:xfrm>
            <a:off x="3187700" y="4941889"/>
            <a:ext cx="1054100" cy="369887"/>
            <a:chOff x="1619672" y="4859868"/>
            <a:chExt cx="1054519" cy="369332"/>
          </a:xfrm>
        </p:grpSpPr>
        <p:sp>
          <p:nvSpPr>
            <p:cNvPr id="9293" name="Rectangle 110"/>
            <p:cNvSpPr>
              <a:spLocks noChangeArrowheads="1"/>
            </p:cNvSpPr>
            <p:nvPr/>
          </p:nvSpPr>
          <p:spPr bwMode="auto">
            <a:xfrm>
              <a:off x="1619672" y="4859868"/>
              <a:ext cx="10545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0 A  = 0</a:t>
              </a:r>
              <a:endParaRPr lang="en-IN" altLang="en-US" b="1">
                <a:solidFill>
                  <a:srgbClr val="0099FF"/>
                </a:solidFill>
              </a:endParaRPr>
            </a:p>
          </p:txBody>
        </p:sp>
        <p:cxnSp>
          <p:nvCxnSpPr>
            <p:cNvPr id="112" name="Straight Arrow Connector 111"/>
            <p:cNvCxnSpPr/>
            <p:nvPr/>
          </p:nvCxnSpPr>
          <p:spPr bwMode="auto">
            <a:xfrm>
              <a:off x="2412150" y="4899495"/>
              <a:ext cx="1715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bwMode="auto">
            <a:xfrm>
              <a:off x="1965885" y="4904251"/>
              <a:ext cx="1715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4" name="Group 83"/>
          <p:cNvGrpSpPr>
            <a:grpSpLocks/>
          </p:cNvGrpSpPr>
          <p:nvPr/>
        </p:nvGrpSpPr>
        <p:grpSpPr bwMode="auto">
          <a:xfrm>
            <a:off x="7535863" y="2708275"/>
            <a:ext cx="1808162" cy="1879600"/>
            <a:chOff x="7012012" y="1019169"/>
            <a:chExt cx="1808460" cy="1878881"/>
          </a:xfrm>
        </p:grpSpPr>
        <p:sp>
          <p:nvSpPr>
            <p:cNvPr id="9287"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9288" name="Group 36"/>
            <p:cNvGrpSpPr>
              <a:grpSpLocks/>
            </p:cNvGrpSpPr>
            <p:nvPr/>
          </p:nvGrpSpPr>
          <p:grpSpPr bwMode="auto">
            <a:xfrm>
              <a:off x="7753840" y="1529898"/>
              <a:ext cx="274544" cy="369888"/>
              <a:chOff x="1547664" y="1997075"/>
              <a:chExt cx="274544" cy="369888"/>
            </a:xfrm>
          </p:grpSpPr>
          <p:cxnSp>
            <p:nvCxnSpPr>
              <p:cNvPr id="92" name="Straight Arrow Connector 91"/>
              <p:cNvCxnSpPr/>
              <p:nvPr/>
            </p:nvCxnSpPr>
            <p:spPr bwMode="auto">
              <a:xfrm>
                <a:off x="1650525" y="2041759"/>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92"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9289"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9290"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94" name="Group 93"/>
          <p:cNvGrpSpPr>
            <a:grpSpLocks/>
          </p:cNvGrpSpPr>
          <p:nvPr/>
        </p:nvGrpSpPr>
        <p:grpSpPr bwMode="auto">
          <a:xfrm>
            <a:off x="8066088" y="3360739"/>
            <a:ext cx="1657350" cy="574675"/>
            <a:chOff x="6511029" y="3284984"/>
            <a:chExt cx="1656557" cy="576064"/>
          </a:xfrm>
        </p:grpSpPr>
        <p:grpSp>
          <p:nvGrpSpPr>
            <p:cNvPr id="9276" name="Group 42"/>
            <p:cNvGrpSpPr>
              <a:grpSpLocks/>
            </p:cNvGrpSpPr>
            <p:nvPr/>
          </p:nvGrpSpPr>
          <p:grpSpPr bwMode="auto">
            <a:xfrm>
              <a:off x="6584094" y="3409860"/>
              <a:ext cx="1512168" cy="379180"/>
              <a:chOff x="1619672" y="2915096"/>
              <a:chExt cx="1512168" cy="379180"/>
            </a:xfrm>
          </p:grpSpPr>
          <p:grpSp>
            <p:nvGrpSpPr>
              <p:cNvPr id="9278" name="Group 43"/>
              <p:cNvGrpSpPr>
                <a:grpSpLocks/>
              </p:cNvGrpSpPr>
              <p:nvPr/>
            </p:nvGrpSpPr>
            <p:grpSpPr bwMode="auto">
              <a:xfrm>
                <a:off x="2267744" y="2915096"/>
                <a:ext cx="274544" cy="369888"/>
                <a:chOff x="1547664" y="1997075"/>
                <a:chExt cx="274544" cy="369888"/>
              </a:xfrm>
            </p:grpSpPr>
            <p:cxnSp>
              <p:nvCxnSpPr>
                <p:cNvPr id="111" name="Straight Arrow Connector 110"/>
                <p:cNvCxnSpPr/>
                <p:nvPr/>
              </p:nvCxnSpPr>
              <p:spPr bwMode="auto">
                <a:xfrm>
                  <a:off x="1650045" y="2040881"/>
                  <a:ext cx="16660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86"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nvGrpSpPr>
              <p:cNvPr id="9279" name="Group 44"/>
              <p:cNvGrpSpPr>
                <a:grpSpLocks/>
              </p:cNvGrpSpPr>
              <p:nvPr/>
            </p:nvGrpSpPr>
            <p:grpSpPr bwMode="auto">
              <a:xfrm>
                <a:off x="1619672" y="2915096"/>
                <a:ext cx="274544" cy="369888"/>
                <a:chOff x="1700064" y="2915096"/>
                <a:chExt cx="274544" cy="369888"/>
              </a:xfrm>
            </p:grpSpPr>
            <p:cxnSp>
              <p:nvCxnSpPr>
                <p:cNvPr id="109" name="Straight Arrow Connector 108"/>
                <p:cNvCxnSpPr/>
                <p:nvPr/>
              </p:nvCxnSpPr>
              <p:spPr bwMode="auto">
                <a:xfrm>
                  <a:off x="1803127" y="2958902"/>
                  <a:ext cx="1713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84" name="TextBox 6"/>
                <p:cNvSpPr txBox="1">
                  <a:spLocks noChangeArrowheads="1"/>
                </p:cNvSpPr>
                <p:nvPr/>
              </p:nvSpPr>
              <p:spPr bwMode="auto">
                <a:xfrm>
                  <a:off x="1700064" y="2915096"/>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9280" name="Rectangle 45"/>
              <p:cNvSpPr>
                <a:spLocks noChangeArrowheads="1"/>
              </p:cNvSpPr>
              <p:nvPr/>
            </p:nvSpPr>
            <p:spPr bwMode="auto">
              <a:xfrm>
                <a:off x="1849143" y="2922868"/>
                <a:ext cx="537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CC00"/>
                    </a:solidFill>
                  </a:rPr>
                  <a:t>+ (-</a:t>
                </a:r>
                <a:endParaRPr lang="en-IN" altLang="en-US">
                  <a:solidFill>
                    <a:srgbClr val="000000"/>
                  </a:solidFill>
                </a:endParaRPr>
              </a:p>
            </p:txBody>
          </p:sp>
          <p:sp>
            <p:nvSpPr>
              <p:cNvPr id="9281" name="Rectangle 46"/>
              <p:cNvSpPr>
                <a:spLocks noChangeArrowheads="1"/>
              </p:cNvSpPr>
              <p:nvPr/>
            </p:nvSpPr>
            <p:spPr bwMode="auto">
              <a:xfrm>
                <a:off x="2479097" y="2924944"/>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CC00"/>
                    </a:solidFill>
                  </a:rPr>
                  <a:t>) = 0</a:t>
                </a:r>
                <a:endParaRPr lang="en-IN" altLang="en-US">
                  <a:solidFill>
                    <a:srgbClr val="000000"/>
                  </a:solidFill>
                </a:endParaRPr>
              </a:p>
            </p:txBody>
          </p:sp>
          <p:cxnSp>
            <p:nvCxnSpPr>
              <p:cNvPr id="106" name="Straight Arrow Connector 105"/>
              <p:cNvCxnSpPr/>
              <p:nvPr/>
            </p:nvCxnSpPr>
            <p:spPr bwMode="auto">
              <a:xfrm>
                <a:off x="2911204" y="2965267"/>
                <a:ext cx="1713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6" name="Rounded Rectangle 95"/>
            <p:cNvSpPr/>
            <p:nvPr/>
          </p:nvSpPr>
          <p:spPr>
            <a:xfrm>
              <a:off x="6511029" y="3284984"/>
              <a:ext cx="1656557" cy="5760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grpSp>
      <p:grpSp>
        <p:nvGrpSpPr>
          <p:cNvPr id="115" name="Group 114"/>
          <p:cNvGrpSpPr>
            <a:grpSpLocks/>
          </p:cNvGrpSpPr>
          <p:nvPr/>
        </p:nvGrpSpPr>
        <p:grpSpPr bwMode="auto">
          <a:xfrm>
            <a:off x="7535863" y="2711450"/>
            <a:ext cx="1808162" cy="1879600"/>
            <a:chOff x="7012012" y="1019169"/>
            <a:chExt cx="1808460" cy="1878881"/>
          </a:xfrm>
        </p:grpSpPr>
        <p:sp>
          <p:nvSpPr>
            <p:cNvPr id="9270" name="Line 22"/>
            <p:cNvSpPr>
              <a:spLocks noChangeShapeType="1"/>
            </p:cNvSpPr>
            <p:nvPr/>
          </p:nvSpPr>
          <p:spPr bwMode="auto">
            <a:xfrm flipV="1">
              <a:off x="7259265" y="1313030"/>
              <a:ext cx="1273175" cy="1296988"/>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9271" name="Group 36"/>
            <p:cNvGrpSpPr>
              <a:grpSpLocks/>
            </p:cNvGrpSpPr>
            <p:nvPr/>
          </p:nvGrpSpPr>
          <p:grpSpPr bwMode="auto">
            <a:xfrm>
              <a:off x="7753840" y="1529898"/>
              <a:ext cx="274544" cy="369888"/>
              <a:chOff x="1547664" y="1997075"/>
              <a:chExt cx="274544" cy="369888"/>
            </a:xfrm>
          </p:grpSpPr>
          <p:cxnSp>
            <p:nvCxnSpPr>
              <p:cNvPr id="120" name="Straight Arrow Connector 119"/>
              <p:cNvCxnSpPr/>
              <p:nvPr/>
            </p:nvCxnSpPr>
            <p:spPr bwMode="auto">
              <a:xfrm>
                <a:off x="1650525" y="2041759"/>
                <a:ext cx="17147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75"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sp>
          <p:nvSpPr>
            <p:cNvPr id="9272" name="Text Box 62"/>
            <p:cNvSpPr txBox="1">
              <a:spLocks noChangeArrowheads="1"/>
            </p:cNvSpPr>
            <p:nvPr/>
          </p:nvSpPr>
          <p:spPr bwMode="auto">
            <a:xfrm>
              <a:off x="7012012" y="253133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9273" name="Text Box 62"/>
            <p:cNvSpPr txBox="1">
              <a:spLocks noChangeArrowheads="1"/>
            </p:cNvSpPr>
            <p:nvPr/>
          </p:nvSpPr>
          <p:spPr bwMode="auto">
            <a:xfrm>
              <a:off x="8452172" y="101916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grpSp>
        <p:nvGrpSpPr>
          <p:cNvPr id="122" name="Group 121"/>
          <p:cNvGrpSpPr>
            <a:grpSpLocks/>
          </p:cNvGrpSpPr>
          <p:nvPr/>
        </p:nvGrpSpPr>
        <p:grpSpPr bwMode="auto">
          <a:xfrm>
            <a:off x="8237538" y="3151188"/>
            <a:ext cx="1808162" cy="1879600"/>
            <a:chOff x="7156028" y="339329"/>
            <a:chExt cx="1808460" cy="1878881"/>
          </a:xfrm>
        </p:grpSpPr>
        <p:sp>
          <p:nvSpPr>
            <p:cNvPr id="9264" name="Line 22"/>
            <p:cNvSpPr>
              <a:spLocks noChangeShapeType="1"/>
            </p:cNvSpPr>
            <p:nvPr/>
          </p:nvSpPr>
          <p:spPr bwMode="auto">
            <a:xfrm flipV="1">
              <a:off x="7403281" y="633190"/>
              <a:ext cx="1273175" cy="1296988"/>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9265" name="Group 41"/>
            <p:cNvGrpSpPr>
              <a:grpSpLocks/>
            </p:cNvGrpSpPr>
            <p:nvPr/>
          </p:nvGrpSpPr>
          <p:grpSpPr bwMode="auto">
            <a:xfrm>
              <a:off x="7812360" y="850058"/>
              <a:ext cx="418560" cy="369332"/>
              <a:chOff x="7897856" y="1052736"/>
              <a:chExt cx="418560" cy="369332"/>
            </a:xfrm>
          </p:grpSpPr>
          <p:cxnSp>
            <p:nvCxnSpPr>
              <p:cNvPr id="127" name="Straight Arrow Connector 126"/>
              <p:cNvCxnSpPr/>
              <p:nvPr/>
            </p:nvCxnSpPr>
            <p:spPr bwMode="auto">
              <a:xfrm>
                <a:off x="8067160" y="1097420"/>
                <a:ext cx="17306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69" name="TextBox 6"/>
              <p:cNvSpPr txBox="1">
                <a:spLocks noChangeArrowheads="1"/>
              </p:cNvSpPr>
              <p:nvPr/>
            </p:nvSpPr>
            <p:spPr bwMode="auto">
              <a:xfrm>
                <a:off x="7897856" y="1052736"/>
                <a:ext cx="4185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00"/>
                    </a:solidFill>
                  </a:rPr>
                  <a:t>-A</a:t>
                </a:r>
                <a:endParaRPr lang="en-IN" altLang="en-US">
                  <a:solidFill>
                    <a:srgbClr val="FF0000"/>
                  </a:solidFill>
                </a:endParaRPr>
              </a:p>
            </p:txBody>
          </p:sp>
        </p:grpSp>
        <p:sp>
          <p:nvSpPr>
            <p:cNvPr id="9266" name="Text Box 62"/>
            <p:cNvSpPr txBox="1">
              <a:spLocks noChangeArrowheads="1"/>
            </p:cNvSpPr>
            <p:nvPr/>
          </p:nvSpPr>
          <p:spPr bwMode="auto">
            <a:xfrm>
              <a:off x="7156028" y="1851498"/>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0000"/>
                  </a:solidFill>
                </a:rPr>
                <a:t>P</a:t>
              </a:r>
            </a:p>
          </p:txBody>
        </p:sp>
        <p:sp>
          <p:nvSpPr>
            <p:cNvPr id="9267" name="Text Box 62"/>
            <p:cNvSpPr txBox="1">
              <a:spLocks noChangeArrowheads="1"/>
            </p:cNvSpPr>
            <p:nvPr/>
          </p:nvSpPr>
          <p:spPr bwMode="auto">
            <a:xfrm>
              <a:off x="8596188" y="339329"/>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0000"/>
                  </a:solidFill>
                </a:rPr>
                <a:t>O</a:t>
              </a:r>
            </a:p>
          </p:txBody>
        </p:sp>
      </p:grpSp>
      <p:grpSp>
        <p:nvGrpSpPr>
          <p:cNvPr id="2" name="Group 1"/>
          <p:cNvGrpSpPr>
            <a:grpSpLocks/>
          </p:cNvGrpSpPr>
          <p:nvPr/>
        </p:nvGrpSpPr>
        <p:grpSpPr bwMode="auto">
          <a:xfrm>
            <a:off x="5492751" y="4583113"/>
            <a:ext cx="1152525" cy="431800"/>
            <a:chOff x="3968750" y="4941888"/>
            <a:chExt cx="1152525" cy="431800"/>
          </a:xfrm>
        </p:grpSpPr>
        <p:grpSp>
          <p:nvGrpSpPr>
            <p:cNvPr id="9260" name="Group 109"/>
            <p:cNvGrpSpPr>
              <a:grpSpLocks/>
            </p:cNvGrpSpPr>
            <p:nvPr/>
          </p:nvGrpSpPr>
          <p:grpSpPr bwMode="auto">
            <a:xfrm>
              <a:off x="3968750" y="4965700"/>
              <a:ext cx="1152525" cy="369888"/>
              <a:chOff x="1619673" y="4859868"/>
              <a:chExt cx="1153337" cy="368777"/>
            </a:xfrm>
          </p:grpSpPr>
          <p:sp>
            <p:nvSpPr>
              <p:cNvPr id="9262" name="Rectangle 110"/>
              <p:cNvSpPr>
                <a:spLocks noChangeArrowheads="1"/>
              </p:cNvSpPr>
              <p:nvPr/>
            </p:nvSpPr>
            <p:spPr bwMode="auto">
              <a:xfrm>
                <a:off x="1619673" y="4859868"/>
                <a:ext cx="1153337"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 0 | = 0</a:t>
                </a:r>
                <a:endParaRPr lang="en-IN" altLang="en-US" b="1">
                  <a:solidFill>
                    <a:srgbClr val="0099FF"/>
                  </a:solidFill>
                </a:endParaRPr>
              </a:p>
            </p:txBody>
          </p:sp>
          <p:cxnSp>
            <p:nvCxnSpPr>
              <p:cNvPr id="132" name="Straight Arrow Connector 131"/>
              <p:cNvCxnSpPr/>
              <p:nvPr/>
            </p:nvCxnSpPr>
            <p:spPr bwMode="auto">
              <a:xfrm>
                <a:off x="2029537" y="4904184"/>
                <a:ext cx="17157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33" name="Rounded Rectangle 132"/>
            <p:cNvSpPr/>
            <p:nvPr/>
          </p:nvSpPr>
          <p:spPr bwMode="auto">
            <a:xfrm>
              <a:off x="4140200" y="4941888"/>
              <a:ext cx="981075" cy="431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FFFF"/>
                </a:solidFill>
                <a:latin typeface="Arial"/>
              </a:endParaRPr>
            </a:p>
          </p:txBody>
        </p:sp>
      </p:grpSp>
      <p:grpSp>
        <p:nvGrpSpPr>
          <p:cNvPr id="9241" name="Group 7"/>
          <p:cNvGrpSpPr>
            <a:grpSpLocks/>
          </p:cNvGrpSpPr>
          <p:nvPr/>
        </p:nvGrpSpPr>
        <p:grpSpPr bwMode="auto">
          <a:xfrm>
            <a:off x="7704138" y="188913"/>
            <a:ext cx="2667000" cy="2362200"/>
            <a:chOff x="6297613" y="336550"/>
            <a:chExt cx="2667000" cy="2362200"/>
          </a:xfrm>
        </p:grpSpPr>
        <p:sp>
          <p:nvSpPr>
            <p:cNvPr id="9243" name="Oval 146"/>
            <p:cNvSpPr>
              <a:spLocks noChangeArrowheads="1"/>
            </p:cNvSpPr>
            <p:nvPr/>
          </p:nvSpPr>
          <p:spPr bwMode="auto">
            <a:xfrm flipH="1">
              <a:off x="6948488" y="1192213"/>
              <a:ext cx="76200" cy="7620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9244" name="Line 5"/>
            <p:cNvSpPr>
              <a:spLocks noChangeShapeType="1"/>
            </p:cNvSpPr>
            <p:nvPr/>
          </p:nvSpPr>
          <p:spPr bwMode="auto">
            <a:xfrm>
              <a:off x="6435725" y="2317750"/>
              <a:ext cx="2362200" cy="0"/>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9245" name="Line 6"/>
            <p:cNvSpPr>
              <a:spLocks noChangeShapeType="1"/>
            </p:cNvSpPr>
            <p:nvPr/>
          </p:nvSpPr>
          <p:spPr bwMode="auto">
            <a:xfrm flipV="1">
              <a:off x="6450013" y="641350"/>
              <a:ext cx="0" cy="1676400"/>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9246" name="Text Box 10"/>
            <p:cNvSpPr txBox="1">
              <a:spLocks noChangeArrowheads="1"/>
            </p:cNvSpPr>
            <p:nvPr/>
          </p:nvSpPr>
          <p:spPr bwMode="auto">
            <a:xfrm>
              <a:off x="6297613" y="233203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CC"/>
                  </a:solidFill>
                </a:rPr>
                <a:t>O</a:t>
              </a:r>
            </a:p>
          </p:txBody>
        </p:sp>
        <p:sp>
          <p:nvSpPr>
            <p:cNvPr id="9247" name="Text Box 12"/>
            <p:cNvSpPr txBox="1">
              <a:spLocks noChangeArrowheads="1"/>
            </p:cNvSpPr>
            <p:nvPr/>
          </p:nvSpPr>
          <p:spPr bwMode="auto">
            <a:xfrm>
              <a:off x="6297613" y="336550"/>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00"/>
                  </a:solidFill>
                </a:rPr>
                <a:t>Y</a:t>
              </a:r>
            </a:p>
          </p:txBody>
        </p:sp>
        <p:sp>
          <p:nvSpPr>
            <p:cNvPr id="9248" name="Text Box 13"/>
            <p:cNvSpPr txBox="1">
              <a:spLocks noChangeArrowheads="1"/>
            </p:cNvSpPr>
            <p:nvPr/>
          </p:nvSpPr>
          <p:spPr bwMode="auto">
            <a:xfrm>
              <a:off x="8583613" y="2317750"/>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00"/>
                  </a:solidFill>
                </a:rPr>
                <a:t>X</a:t>
              </a:r>
            </a:p>
          </p:txBody>
        </p:sp>
        <p:sp>
          <p:nvSpPr>
            <p:cNvPr id="9249" name="Line 22"/>
            <p:cNvSpPr>
              <a:spLocks noChangeShapeType="1"/>
            </p:cNvSpPr>
            <p:nvPr/>
          </p:nvSpPr>
          <p:spPr bwMode="auto">
            <a:xfrm flipV="1">
              <a:off x="6450013" y="1230313"/>
              <a:ext cx="536575" cy="1087437"/>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9250" name="Text Box 62"/>
            <p:cNvSpPr txBox="1">
              <a:spLocks noChangeArrowheads="1"/>
            </p:cNvSpPr>
            <p:nvPr/>
          </p:nvSpPr>
          <p:spPr bwMode="auto">
            <a:xfrm>
              <a:off x="6697756" y="1048310"/>
              <a:ext cx="368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9251" name="Group 62"/>
            <p:cNvGrpSpPr>
              <a:grpSpLocks/>
            </p:cNvGrpSpPr>
            <p:nvPr/>
          </p:nvGrpSpPr>
          <p:grpSpPr bwMode="auto">
            <a:xfrm>
              <a:off x="6516688" y="1403350"/>
              <a:ext cx="247650" cy="369888"/>
              <a:chOff x="3316110" y="1997224"/>
              <a:chExt cx="247778" cy="369332"/>
            </a:xfrm>
          </p:grpSpPr>
          <p:cxnSp>
            <p:nvCxnSpPr>
              <p:cNvPr id="14" name="Straight Arrow Connector 13"/>
              <p:cNvCxnSpPr/>
              <p:nvPr/>
            </p:nvCxnSpPr>
            <p:spPr bwMode="auto">
              <a:xfrm>
                <a:off x="3392349" y="2068554"/>
                <a:ext cx="1715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59" name="TextBox 64"/>
              <p:cNvSpPr txBox="1">
                <a:spLocks noChangeArrowheads="1"/>
              </p:cNvSpPr>
              <p:nvPr/>
            </p:nvSpPr>
            <p:spPr bwMode="auto">
              <a:xfrm>
                <a:off x="3316110" y="1997224"/>
                <a:ext cx="2477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sp>
          <p:nvSpPr>
            <p:cNvPr id="9252" name="Oval 146"/>
            <p:cNvSpPr>
              <a:spLocks noChangeArrowheads="1"/>
            </p:cNvSpPr>
            <p:nvPr/>
          </p:nvSpPr>
          <p:spPr bwMode="auto">
            <a:xfrm flipH="1">
              <a:off x="7664450" y="1003300"/>
              <a:ext cx="76200" cy="7620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9253" name="Text Box 62"/>
            <p:cNvSpPr txBox="1">
              <a:spLocks noChangeArrowheads="1"/>
            </p:cNvSpPr>
            <p:nvPr/>
          </p:nvSpPr>
          <p:spPr bwMode="auto">
            <a:xfrm>
              <a:off x="7678738" y="827088"/>
              <a:ext cx="4937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9254" name="Group 70"/>
            <p:cNvGrpSpPr>
              <a:grpSpLocks/>
            </p:cNvGrpSpPr>
            <p:nvPr/>
          </p:nvGrpSpPr>
          <p:grpSpPr bwMode="auto">
            <a:xfrm>
              <a:off x="7164388" y="1555750"/>
              <a:ext cx="360362" cy="369888"/>
              <a:chOff x="7948736" y="1411868"/>
              <a:chExt cx="360040" cy="369332"/>
            </a:xfrm>
          </p:grpSpPr>
          <p:cxnSp>
            <p:nvCxnSpPr>
              <p:cNvPr id="19" name="Straight Arrow Connector 18"/>
              <p:cNvCxnSpPr/>
              <p:nvPr/>
            </p:nvCxnSpPr>
            <p:spPr bwMode="auto">
              <a:xfrm>
                <a:off x="8024868" y="1456251"/>
                <a:ext cx="17129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57" name="TextBox 69"/>
              <p:cNvSpPr txBox="1">
                <a:spLocks noChangeArrowheads="1"/>
              </p:cNvSpPr>
              <p:nvPr/>
            </p:nvSpPr>
            <p:spPr bwMode="auto">
              <a:xfrm>
                <a:off x="7948736" y="1411868"/>
                <a:ext cx="360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t>
                </a:r>
                <a:endParaRPr lang="en-IN" altLang="en-US">
                  <a:solidFill>
                    <a:srgbClr val="FFCCFF"/>
                  </a:solidFill>
                </a:endParaRPr>
              </a:p>
            </p:txBody>
          </p:sp>
        </p:grpSp>
        <p:sp>
          <p:nvSpPr>
            <p:cNvPr id="9255" name="Line 22"/>
            <p:cNvSpPr>
              <a:spLocks noChangeShapeType="1"/>
            </p:cNvSpPr>
            <p:nvPr/>
          </p:nvSpPr>
          <p:spPr bwMode="auto">
            <a:xfrm flipV="1">
              <a:off x="6443663" y="1025525"/>
              <a:ext cx="1273175" cy="1296988"/>
            </a:xfrm>
            <a:prstGeom prst="line">
              <a:avLst/>
            </a:prstGeom>
            <a:noFill/>
            <a:ln w="28575">
              <a:solidFill>
                <a:srgbClr val="CC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3" name="Freeform 2"/>
          <p:cNvSpPr/>
          <p:nvPr/>
        </p:nvSpPr>
        <p:spPr>
          <a:xfrm>
            <a:off x="8378825" y="887413"/>
            <a:ext cx="755650" cy="444500"/>
          </a:xfrm>
          <a:custGeom>
            <a:avLst/>
            <a:gdLst>
              <a:gd name="connsiteX0" fmla="*/ 732910 w 756200"/>
              <a:gd name="connsiteY0" fmla="*/ 0 h 443836"/>
              <a:gd name="connsiteX1" fmla="*/ 732910 w 756200"/>
              <a:gd name="connsiteY1" fmla="*/ 349623 h 443836"/>
              <a:gd name="connsiteX2" fmla="*/ 490863 w 756200"/>
              <a:gd name="connsiteY2" fmla="*/ 416858 h 443836"/>
              <a:gd name="connsiteX3" fmla="*/ 248816 w 756200"/>
              <a:gd name="connsiteY3" fmla="*/ 349623 h 443836"/>
              <a:gd name="connsiteX4" fmla="*/ 114345 w 756200"/>
              <a:gd name="connsiteY4" fmla="*/ 443752 h 443836"/>
              <a:gd name="connsiteX5" fmla="*/ 6769 w 756200"/>
              <a:gd name="connsiteY5" fmla="*/ 363070 h 443836"/>
              <a:gd name="connsiteX6" fmla="*/ 20216 w 756200"/>
              <a:gd name="connsiteY6" fmla="*/ 201705 h 44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200" h="443836">
                <a:moveTo>
                  <a:pt x="732910" y="0"/>
                </a:moveTo>
                <a:cubicBezTo>
                  <a:pt x="753080" y="140073"/>
                  <a:pt x="773251" y="280147"/>
                  <a:pt x="732910" y="349623"/>
                </a:cubicBezTo>
                <a:cubicBezTo>
                  <a:pt x="692569" y="419099"/>
                  <a:pt x="571545" y="416858"/>
                  <a:pt x="490863" y="416858"/>
                </a:cubicBezTo>
                <a:cubicBezTo>
                  <a:pt x="410181" y="416858"/>
                  <a:pt x="311569" y="345141"/>
                  <a:pt x="248816" y="349623"/>
                </a:cubicBezTo>
                <a:cubicBezTo>
                  <a:pt x="186063" y="354105"/>
                  <a:pt x="154686" y="441511"/>
                  <a:pt x="114345" y="443752"/>
                </a:cubicBezTo>
                <a:cubicBezTo>
                  <a:pt x="74004" y="445993"/>
                  <a:pt x="22457" y="403411"/>
                  <a:pt x="6769" y="363070"/>
                </a:cubicBezTo>
                <a:cubicBezTo>
                  <a:pt x="-8919" y="322729"/>
                  <a:pt x="5648" y="262217"/>
                  <a:pt x="20216" y="201705"/>
                </a:cubicBezTo>
              </a:path>
            </a:pathLst>
          </a:custGeom>
          <a:ln w="19050">
            <a:solidFill>
              <a:srgbClr val="99FF33"/>
            </a:solidFill>
          </a:ln>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000000"/>
              </a:solidFill>
              <a:latin typeface="Arial"/>
            </a:endParaRPr>
          </a:p>
        </p:txBody>
      </p:sp>
      <p:sp>
        <p:nvSpPr>
          <p:cNvPr id="5" name="Rectangle 4"/>
          <p:cNvSpPr>
            <a:spLocks noChangeArrowheads="1"/>
          </p:cNvSpPr>
          <p:nvPr/>
        </p:nvSpPr>
        <p:spPr bwMode="auto">
          <a:xfrm>
            <a:off x="1919289" y="417513"/>
            <a:ext cx="47259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CC"/>
                </a:solidFill>
              </a:rPr>
              <a:t>Consider the position vectors in a plane as shown in the figure. </a:t>
            </a:r>
            <a:endParaRPr lang="en-IN" altLang="en-US" b="1">
              <a:solidFill>
                <a:srgbClr val="00FFCC"/>
              </a:solidFill>
            </a:endParaRPr>
          </a:p>
        </p:txBody>
      </p:sp>
      <p:sp>
        <p:nvSpPr>
          <p:cNvPr id="6" name="Rectangle 5"/>
          <p:cNvSpPr>
            <a:spLocks noChangeArrowheads="1"/>
          </p:cNvSpPr>
          <p:nvPr/>
        </p:nvSpPr>
        <p:spPr bwMode="auto">
          <a:xfrm>
            <a:off x="1906589" y="34925"/>
            <a:ext cx="4067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FF6600"/>
                </a:solidFill>
              </a:rPr>
              <a:t>(viii)  Zero Vector  or Null Vector</a:t>
            </a:r>
            <a:endParaRPr lang="en-IN" altLang="en-US" sz="2000" b="1">
              <a:solidFill>
                <a:srgbClr val="FF6600"/>
              </a:solidFill>
            </a:endParaRPr>
          </a:p>
        </p:txBody>
      </p:sp>
      <p:sp>
        <p:nvSpPr>
          <p:cNvPr id="8" name="Rectangle 7"/>
          <p:cNvSpPr>
            <a:spLocks noChangeArrowheads="1"/>
          </p:cNvSpPr>
          <p:nvPr/>
        </p:nvSpPr>
        <p:spPr bwMode="auto">
          <a:xfrm>
            <a:off x="1906588" y="1076325"/>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2D050"/>
                </a:solidFill>
              </a:rPr>
              <a:t>Now suppose an object which is at P at time </a:t>
            </a:r>
            <a:r>
              <a:rPr lang="en-US" altLang="en-US" b="1" i="1">
                <a:solidFill>
                  <a:srgbClr val="92D050"/>
                </a:solidFill>
              </a:rPr>
              <a:t>t</a:t>
            </a:r>
            <a:r>
              <a:rPr lang="en-US" altLang="en-US" b="1">
                <a:solidFill>
                  <a:srgbClr val="92D050"/>
                </a:solidFill>
              </a:rPr>
              <a:t>, moves to P′ through the path PAP′ and then comes back to P through the path P′BP. </a:t>
            </a:r>
          </a:p>
        </p:txBody>
      </p:sp>
      <p:sp>
        <p:nvSpPr>
          <p:cNvPr id="101" name="Rectangle 100"/>
          <p:cNvSpPr>
            <a:spLocks noChangeArrowheads="1"/>
          </p:cNvSpPr>
          <p:nvPr/>
        </p:nvSpPr>
        <p:spPr bwMode="auto">
          <a:xfrm>
            <a:off x="1919288" y="5219700"/>
            <a:ext cx="4811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66FF33"/>
                </a:solidFill>
              </a:rPr>
              <a:t>(ix)  Free Vector  and Localised Vector</a:t>
            </a:r>
            <a:endParaRPr lang="en-IN" altLang="en-US" sz="2000" b="1">
              <a:solidFill>
                <a:srgbClr val="66FF33"/>
              </a:solidFill>
            </a:endParaRPr>
          </a:p>
        </p:txBody>
      </p:sp>
      <p:sp>
        <p:nvSpPr>
          <p:cNvPr id="10" name="Rectangle 9"/>
          <p:cNvSpPr>
            <a:spLocks noChangeArrowheads="1"/>
          </p:cNvSpPr>
          <p:nvPr/>
        </p:nvSpPr>
        <p:spPr bwMode="auto">
          <a:xfrm>
            <a:off x="1919289" y="6129338"/>
            <a:ext cx="6931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However, in some physical applications, location of a vector is important.  Such vectors are called</a:t>
            </a:r>
            <a:r>
              <a:rPr lang="en-US" altLang="en-US" b="1">
                <a:solidFill>
                  <a:srgbClr val="FF00FF"/>
                </a:solidFill>
              </a:rPr>
              <a:t> ′</a:t>
            </a:r>
            <a:r>
              <a:rPr lang="en-US" altLang="en-US" b="1">
                <a:solidFill>
                  <a:srgbClr val="FFFF99"/>
                </a:solidFill>
              </a:rPr>
              <a:t>localised vectors</a:t>
            </a:r>
            <a:r>
              <a:rPr lang="en-US" altLang="en-US" b="1">
                <a:solidFill>
                  <a:srgbClr val="FF00FF"/>
                </a:solidFill>
              </a:rPr>
              <a:t>′.</a:t>
            </a:r>
            <a:endParaRPr lang="en-IN" altLang="en-US">
              <a:solidFill>
                <a:srgbClr val="000000"/>
              </a:solidFill>
            </a:endParaRPr>
          </a:p>
        </p:txBody>
      </p:sp>
      <p:sp>
        <p:nvSpPr>
          <p:cNvPr id="9240" name="TextBox 103"/>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9" name="TextBox 104"/>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9242" name="TextBox 109"/>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514564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9241"/>
                                        </p:tgtEl>
                                        <p:attrNameLst>
                                          <p:attrName>style.visibility</p:attrName>
                                        </p:attrNameLst>
                                      </p:cBhvr>
                                      <p:to>
                                        <p:strVal val="visible"/>
                                      </p:to>
                                    </p:set>
                                    <p:anim calcmode="lin" valueType="num">
                                      <p:cBhvr>
                                        <p:cTn id="13" dur="500" fill="hold"/>
                                        <p:tgtEl>
                                          <p:spTgt spid="9241"/>
                                        </p:tgtEl>
                                        <p:attrNameLst>
                                          <p:attrName>ppt_w</p:attrName>
                                        </p:attrNameLst>
                                      </p:cBhvr>
                                      <p:tavLst>
                                        <p:tav tm="0">
                                          <p:val>
                                            <p:fltVal val="0"/>
                                          </p:val>
                                        </p:tav>
                                        <p:tav tm="100000">
                                          <p:val>
                                            <p:strVal val="#ppt_w"/>
                                          </p:val>
                                        </p:tav>
                                      </p:tavLst>
                                    </p:anim>
                                    <p:anim calcmode="lin" valueType="num">
                                      <p:cBhvr>
                                        <p:cTn id="14" dur="500" fill="hold"/>
                                        <p:tgtEl>
                                          <p:spTgt spid="9241"/>
                                        </p:tgtEl>
                                        <p:attrNameLst>
                                          <p:attrName>ppt_h</p:attrName>
                                        </p:attrNameLst>
                                      </p:cBhvr>
                                      <p:tavLst>
                                        <p:tav tm="0">
                                          <p:val>
                                            <p:fltVal val="0"/>
                                          </p:val>
                                        </p:tav>
                                        <p:tav tm="100000">
                                          <p:val>
                                            <p:strVal val="#ppt_h"/>
                                          </p:val>
                                        </p:tav>
                                      </p:tavLst>
                                    </p:anim>
                                    <p:animEffect transition="in" filter="fade">
                                      <p:cBhvr>
                                        <p:cTn id="15" dur="500"/>
                                        <p:tgtEl>
                                          <p:spTgt spid="924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par>
                                <p:cTn id="28" presetID="53" presetClass="entr" presetSubtype="16"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
                                          </p:val>
                                        </p:tav>
                                        <p:tav tm="100000">
                                          <p:val>
                                            <p:strVal val="#ppt_w"/>
                                          </p:val>
                                        </p:tav>
                                      </p:tavLst>
                                    </p:anim>
                                    <p:anim calcmode="lin" valueType="num">
                                      <p:cBhvr>
                                        <p:cTn id="31" dur="500" fill="hold"/>
                                        <p:tgtEl>
                                          <p:spTgt spid="11"/>
                                        </p:tgtEl>
                                        <p:attrNameLst>
                                          <p:attrName>ppt_h</p:attrName>
                                        </p:attrNameLst>
                                      </p:cBhvr>
                                      <p:tavLst>
                                        <p:tav tm="0">
                                          <p:val>
                                            <p:fltVal val="0"/>
                                          </p:val>
                                        </p:tav>
                                        <p:tav tm="100000">
                                          <p:val>
                                            <p:strVal val="#ppt_h"/>
                                          </p:val>
                                        </p:tav>
                                      </p:tavLst>
                                    </p:anim>
                                    <p:animEffect transition="in" filter="fade">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9218">
                                            <p:txEl>
                                              <p:pRg st="0" end="0"/>
                                            </p:txEl>
                                          </p:spTgt>
                                        </p:tgtEl>
                                        <p:attrNameLst>
                                          <p:attrName>style.visibility</p:attrName>
                                        </p:attrNameLst>
                                      </p:cBhvr>
                                      <p:to>
                                        <p:strVal val="visible"/>
                                      </p:to>
                                    </p:set>
                                    <p:animEffect transition="in" filter="wipe(up)">
                                      <p:cBhvr>
                                        <p:cTn id="42" dur="500"/>
                                        <p:tgtEl>
                                          <p:spTgt spid="921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wipe(left)">
                                      <p:cBhvr>
                                        <p:cTn id="47" dur="500"/>
                                        <p:tgtEl>
                                          <p:spTgt spid="31"/>
                                        </p:tgtEl>
                                      </p:cBhvr>
                                    </p:animEffect>
                                  </p:childTnLst>
                                </p:cTn>
                              </p:par>
                              <p:par>
                                <p:cTn id="48" presetID="22" presetClass="entr" presetSubtype="8"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par>
                          <p:cTn id="51" fill="hold" nodeType="afterGroup">
                            <p:stCondLst>
                              <p:cond delay="500"/>
                            </p:stCondLst>
                            <p:childTnLst>
                              <p:par>
                                <p:cTn id="52" presetID="22" presetClass="entr" presetSubtype="2" fill="hold" nodeType="after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right)">
                                      <p:cBhvr>
                                        <p:cTn id="54" dur="500"/>
                                        <p:tgtEl>
                                          <p:spTgt spid="3"/>
                                        </p:tgtEl>
                                      </p:cBhvr>
                                    </p:animEffect>
                                  </p:childTnLst>
                                </p:cTn>
                              </p:par>
                              <p:par>
                                <p:cTn id="55" presetID="22" presetClass="exit" presetSubtype="2" fill="hold" nodeType="withEffect">
                                  <p:stCondLst>
                                    <p:cond delay="0"/>
                                  </p:stCondLst>
                                  <p:childTnLst>
                                    <p:animEffect transition="out" filter="wipe(right)">
                                      <p:cBhvr>
                                        <p:cTn id="56" dur="500"/>
                                        <p:tgtEl>
                                          <p:spTgt spid="7"/>
                                        </p:tgtEl>
                                      </p:cBhvr>
                                    </p:animEffect>
                                    <p:set>
                                      <p:cBhvr>
                                        <p:cTn id="57" dur="1" fill="hold">
                                          <p:stCondLst>
                                            <p:cond delay="499"/>
                                          </p:stCondLst>
                                        </p:cTn>
                                        <p:tgtEl>
                                          <p:spTgt spid="7"/>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9218">
                                            <p:txEl>
                                              <p:pRg st="2" end="2"/>
                                            </p:txEl>
                                          </p:spTgt>
                                        </p:tgtEl>
                                        <p:attrNameLst>
                                          <p:attrName>style.visibility</p:attrName>
                                        </p:attrNameLst>
                                      </p:cBhvr>
                                      <p:to>
                                        <p:strVal val="visible"/>
                                      </p:to>
                                    </p:set>
                                    <p:animEffect transition="in" filter="wipe(up)">
                                      <p:cBhvr>
                                        <p:cTn id="62" dur="500"/>
                                        <p:tgtEl>
                                          <p:spTgt spid="9218">
                                            <p:txEl>
                                              <p:pRg st="2" end="2"/>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9220"/>
                                        </p:tgtEl>
                                        <p:attrNameLst>
                                          <p:attrName>style.visibility</p:attrName>
                                        </p:attrNameLst>
                                      </p:cBhvr>
                                      <p:to>
                                        <p:strVal val="visible"/>
                                      </p:to>
                                    </p:set>
                                    <p:animEffect transition="in" filter="wipe(up)">
                                      <p:cBhvr>
                                        <p:cTn id="67" dur="500"/>
                                        <p:tgtEl>
                                          <p:spTgt spid="92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wipe(down)">
                                      <p:cBhvr>
                                        <p:cTn id="72" dur="500"/>
                                        <p:tgtEl>
                                          <p:spTgt spid="8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2" presetClass="path" presetSubtype="0" accel="50000" decel="50000" fill="hold" nodeType="clickEffect">
                                  <p:stCondLst>
                                    <p:cond delay="0"/>
                                  </p:stCondLst>
                                  <p:childTnLst>
                                    <p:animMotion origin="layout" path="M 2.77778E-6 3.33333E-6 L 0.07743 0.0625 " pathEditMode="relative" rAng="0" ptsTypes="AA">
                                      <p:cBhvr>
                                        <p:cTn id="76" dur="2000" fill="hold"/>
                                        <p:tgtEl>
                                          <p:spTgt spid="84"/>
                                        </p:tgtEl>
                                        <p:attrNameLst>
                                          <p:attrName>ppt_x</p:attrName>
                                          <p:attrName>ppt_y</p:attrName>
                                        </p:attrNameLst>
                                      </p:cBhvr>
                                      <p:rCtr x="3872" y="3125"/>
                                    </p:animMotion>
                                  </p:childTnLst>
                                </p:cTn>
                              </p:par>
                              <p:par>
                                <p:cTn id="77" presetID="1" presetClass="entr" presetSubtype="0" fill="hold" nodeType="withEffect">
                                  <p:stCondLst>
                                    <p:cond delay="0"/>
                                  </p:stCondLst>
                                  <p:childTnLst>
                                    <p:set>
                                      <p:cBhvr>
                                        <p:cTn id="78" dur="1" fill="hold">
                                          <p:stCondLst>
                                            <p:cond delay="0"/>
                                          </p:stCondLst>
                                        </p:cTn>
                                        <p:tgtEl>
                                          <p:spTgt spid="115"/>
                                        </p:tgtEl>
                                        <p:attrNameLst>
                                          <p:attrName>style.visibility</p:attrName>
                                        </p:attrNameLst>
                                      </p:cBhvr>
                                      <p:to>
                                        <p:strVal val="visible"/>
                                      </p:to>
                                    </p:set>
                                  </p:childTnLst>
                                </p:cTn>
                              </p:par>
                            </p:childTnLst>
                          </p:cTn>
                        </p:par>
                        <p:par>
                          <p:cTn id="79" fill="hold" nodeType="afterGroup">
                            <p:stCondLst>
                              <p:cond delay="2000"/>
                            </p:stCondLst>
                            <p:childTnLst>
                              <p:par>
                                <p:cTn id="80" presetID="8" presetClass="emph" presetSubtype="0" fill="hold" nodeType="afterEffect">
                                  <p:stCondLst>
                                    <p:cond delay="0"/>
                                  </p:stCondLst>
                                  <p:childTnLst>
                                    <p:animRot by="10800000">
                                      <p:cBhvr>
                                        <p:cTn id="81" dur="2000" fill="hold"/>
                                        <p:tgtEl>
                                          <p:spTgt spid="84"/>
                                        </p:tgtEl>
                                        <p:attrNameLst>
                                          <p:attrName>r</p:attrName>
                                        </p:attrNameLst>
                                      </p:cBhvr>
                                    </p:animRot>
                                  </p:childTnLst>
                                  <p:subTnLst>
                                    <p:set>
                                      <p:cBhvr override="childStyle">
                                        <p:cTn dur="1" fill="hold" display="0" masterRel="sameClick" afterEffect="1">
                                          <p:stCondLst>
                                            <p:cond evt="end" delay="0">
                                              <p:tn val="80"/>
                                            </p:cond>
                                          </p:stCondLst>
                                        </p:cTn>
                                        <p:tgtEl>
                                          <p:spTgt spid="84"/>
                                        </p:tgtEl>
                                        <p:attrNameLst>
                                          <p:attrName>style.visibility</p:attrName>
                                        </p:attrNameLst>
                                      </p:cBhvr>
                                      <p:to>
                                        <p:strVal val="hidden"/>
                                      </p:to>
                                    </p:set>
                                  </p:subTnLst>
                                </p:cTn>
                              </p:par>
                            </p:childTnLst>
                          </p:cTn>
                        </p:par>
                        <p:par>
                          <p:cTn id="82" fill="hold" nodeType="afterGroup">
                            <p:stCondLst>
                              <p:cond delay="4000"/>
                            </p:stCondLst>
                            <p:childTnLst>
                              <p:par>
                                <p:cTn id="83" presetID="1" presetClass="entr" presetSubtype="0" fill="hold" nodeType="afterEffect">
                                  <p:stCondLst>
                                    <p:cond delay="0"/>
                                  </p:stCondLst>
                                  <p:childTnLst>
                                    <p:set>
                                      <p:cBhvr>
                                        <p:cTn id="84" dur="1" fill="hold">
                                          <p:stCondLst>
                                            <p:cond delay="0"/>
                                          </p:stCondLst>
                                        </p:cTn>
                                        <p:tgtEl>
                                          <p:spTgt spid="122"/>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42" presetClass="path" presetSubtype="0" accel="50000" decel="50000" fill="hold" nodeType="clickEffect">
                                  <p:stCondLst>
                                    <p:cond delay="0"/>
                                  </p:stCondLst>
                                  <p:childTnLst>
                                    <p:animMotion origin="layout" path="M 0.00087 -0.00856 L -0.07795 -0.06065 " pathEditMode="relative" rAng="0" ptsTypes="AA">
                                      <p:cBhvr>
                                        <p:cTn id="88" dur="2000" fill="hold"/>
                                        <p:tgtEl>
                                          <p:spTgt spid="122"/>
                                        </p:tgtEl>
                                        <p:attrNameLst>
                                          <p:attrName>ppt_x</p:attrName>
                                          <p:attrName>ppt_y</p:attrName>
                                        </p:attrNameLst>
                                      </p:cBhvr>
                                      <p:rCtr x="-3941" y="-2616"/>
                                    </p:animMotion>
                                  </p:childTnLst>
                                </p:cTn>
                              </p:par>
                            </p:childTnLst>
                          </p:cTn>
                        </p:par>
                        <p:par>
                          <p:cTn id="89" fill="hold" nodeType="afterGroup">
                            <p:stCondLst>
                              <p:cond delay="2000"/>
                            </p:stCondLst>
                            <p:childTnLst>
                              <p:par>
                                <p:cTn id="90" presetID="10" presetClass="exit" presetSubtype="0" fill="hold" nodeType="afterEffect">
                                  <p:stCondLst>
                                    <p:cond delay="0"/>
                                  </p:stCondLst>
                                  <p:childTnLst>
                                    <p:animEffect transition="out" filter="fade">
                                      <p:cBhvr>
                                        <p:cTn id="91" dur="500"/>
                                        <p:tgtEl>
                                          <p:spTgt spid="115"/>
                                        </p:tgtEl>
                                      </p:cBhvr>
                                    </p:animEffect>
                                    <p:set>
                                      <p:cBhvr>
                                        <p:cTn id="92" dur="1" fill="hold">
                                          <p:stCondLst>
                                            <p:cond delay="499"/>
                                          </p:stCondLst>
                                        </p:cTn>
                                        <p:tgtEl>
                                          <p:spTgt spid="115"/>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500"/>
                                        <p:tgtEl>
                                          <p:spTgt spid="122"/>
                                        </p:tgtEl>
                                      </p:cBhvr>
                                    </p:animEffect>
                                    <p:set>
                                      <p:cBhvr>
                                        <p:cTn id="95" dur="1" fill="hold">
                                          <p:stCondLst>
                                            <p:cond delay="499"/>
                                          </p:stCondLst>
                                        </p:cTn>
                                        <p:tgtEl>
                                          <p:spTgt spid="122"/>
                                        </p:tgtEl>
                                        <p:attrNameLst>
                                          <p:attrName>style.visibility</p:attrName>
                                        </p:attrNameLst>
                                      </p:cBhvr>
                                      <p:to>
                                        <p:strVal val="hidden"/>
                                      </p:to>
                                    </p:set>
                                  </p:childTnLst>
                                </p:cTn>
                              </p:par>
                            </p:childTnLst>
                          </p:cTn>
                        </p:par>
                        <p:par>
                          <p:cTn id="96" fill="hold" nodeType="afterGroup">
                            <p:stCondLst>
                              <p:cond delay="2500"/>
                            </p:stCondLst>
                            <p:childTnLst>
                              <p:par>
                                <p:cTn id="97" presetID="1" presetClass="entr" presetSubtype="0" fill="hold" nodeType="afterEffect">
                                  <p:stCondLst>
                                    <p:cond delay="0"/>
                                  </p:stCondLst>
                                  <p:childTnLst>
                                    <p:set>
                                      <p:cBhvr>
                                        <p:cTn id="98" dur="1" fill="hold">
                                          <p:stCondLst>
                                            <p:cond delay="0"/>
                                          </p:stCondLst>
                                        </p:cTn>
                                        <p:tgtEl>
                                          <p:spTgt spid="94"/>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53" presetClass="entr" presetSubtype="16" fill="hold" nodeType="click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p:cTn id="103" dur="500" fill="hold"/>
                                        <p:tgtEl>
                                          <p:spTgt spid="4"/>
                                        </p:tgtEl>
                                        <p:attrNameLst>
                                          <p:attrName>ppt_w</p:attrName>
                                        </p:attrNameLst>
                                      </p:cBhvr>
                                      <p:tavLst>
                                        <p:tav tm="0">
                                          <p:val>
                                            <p:fltVal val="0"/>
                                          </p:val>
                                        </p:tav>
                                        <p:tav tm="100000">
                                          <p:val>
                                            <p:strVal val="#ppt_w"/>
                                          </p:val>
                                        </p:tav>
                                      </p:tavLst>
                                    </p:anim>
                                    <p:anim calcmode="lin" valueType="num">
                                      <p:cBhvr>
                                        <p:cTn id="104" dur="500" fill="hold"/>
                                        <p:tgtEl>
                                          <p:spTgt spid="4"/>
                                        </p:tgtEl>
                                        <p:attrNameLst>
                                          <p:attrName>ppt_h</p:attrName>
                                        </p:attrNameLst>
                                      </p:cBhvr>
                                      <p:tavLst>
                                        <p:tav tm="0">
                                          <p:val>
                                            <p:fltVal val="0"/>
                                          </p:val>
                                        </p:tav>
                                        <p:tav tm="100000">
                                          <p:val>
                                            <p:strVal val="#ppt_h"/>
                                          </p:val>
                                        </p:tav>
                                      </p:tavLst>
                                    </p:anim>
                                    <p:animEffect transition="in" filter="fade">
                                      <p:cBhvr>
                                        <p:cTn id="105" dur="500"/>
                                        <p:tgtEl>
                                          <p:spTgt spid="4"/>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53" presetClass="entr" presetSubtype="16" fill="hold" nodeType="clickEffect">
                                  <p:stCondLst>
                                    <p:cond delay="0"/>
                                  </p:stCondLst>
                                  <p:childTnLst>
                                    <p:set>
                                      <p:cBhvr>
                                        <p:cTn id="109" dur="1" fill="hold">
                                          <p:stCondLst>
                                            <p:cond delay="0"/>
                                          </p:stCondLst>
                                        </p:cTn>
                                        <p:tgtEl>
                                          <p:spTgt spid="9226"/>
                                        </p:tgtEl>
                                        <p:attrNameLst>
                                          <p:attrName>style.visibility</p:attrName>
                                        </p:attrNameLst>
                                      </p:cBhvr>
                                      <p:to>
                                        <p:strVal val="visible"/>
                                      </p:to>
                                    </p:set>
                                    <p:anim calcmode="lin" valueType="num">
                                      <p:cBhvr>
                                        <p:cTn id="110" dur="500" fill="hold"/>
                                        <p:tgtEl>
                                          <p:spTgt spid="9226"/>
                                        </p:tgtEl>
                                        <p:attrNameLst>
                                          <p:attrName>ppt_w</p:attrName>
                                        </p:attrNameLst>
                                      </p:cBhvr>
                                      <p:tavLst>
                                        <p:tav tm="0">
                                          <p:val>
                                            <p:fltVal val="0"/>
                                          </p:val>
                                        </p:tav>
                                        <p:tav tm="100000">
                                          <p:val>
                                            <p:strVal val="#ppt_w"/>
                                          </p:val>
                                        </p:tav>
                                      </p:tavLst>
                                    </p:anim>
                                    <p:anim calcmode="lin" valueType="num">
                                      <p:cBhvr>
                                        <p:cTn id="111" dur="500" fill="hold"/>
                                        <p:tgtEl>
                                          <p:spTgt spid="9226"/>
                                        </p:tgtEl>
                                        <p:attrNameLst>
                                          <p:attrName>ppt_h</p:attrName>
                                        </p:attrNameLst>
                                      </p:cBhvr>
                                      <p:tavLst>
                                        <p:tav tm="0">
                                          <p:val>
                                            <p:fltVal val="0"/>
                                          </p:val>
                                        </p:tav>
                                        <p:tav tm="100000">
                                          <p:val>
                                            <p:strVal val="#ppt_h"/>
                                          </p:val>
                                        </p:tav>
                                      </p:tavLst>
                                    </p:anim>
                                    <p:animEffect transition="in" filter="fade">
                                      <p:cBhvr>
                                        <p:cTn id="112" dur="500"/>
                                        <p:tgtEl>
                                          <p:spTgt spid="922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53" presetClass="entr" presetSubtype="16" fill="hold" nodeType="clickEffect">
                                  <p:stCondLst>
                                    <p:cond delay="0"/>
                                  </p:stCondLst>
                                  <p:childTnLst>
                                    <p:set>
                                      <p:cBhvr>
                                        <p:cTn id="116" dur="1" fill="hold">
                                          <p:stCondLst>
                                            <p:cond delay="0"/>
                                          </p:stCondLst>
                                        </p:cTn>
                                        <p:tgtEl>
                                          <p:spTgt spid="9227"/>
                                        </p:tgtEl>
                                        <p:attrNameLst>
                                          <p:attrName>style.visibility</p:attrName>
                                        </p:attrNameLst>
                                      </p:cBhvr>
                                      <p:to>
                                        <p:strVal val="visible"/>
                                      </p:to>
                                    </p:set>
                                    <p:anim calcmode="lin" valueType="num">
                                      <p:cBhvr>
                                        <p:cTn id="117" dur="500" fill="hold"/>
                                        <p:tgtEl>
                                          <p:spTgt spid="9227"/>
                                        </p:tgtEl>
                                        <p:attrNameLst>
                                          <p:attrName>ppt_w</p:attrName>
                                        </p:attrNameLst>
                                      </p:cBhvr>
                                      <p:tavLst>
                                        <p:tav tm="0">
                                          <p:val>
                                            <p:fltVal val="0"/>
                                          </p:val>
                                        </p:tav>
                                        <p:tav tm="100000">
                                          <p:val>
                                            <p:strVal val="#ppt_w"/>
                                          </p:val>
                                        </p:tav>
                                      </p:tavLst>
                                    </p:anim>
                                    <p:anim calcmode="lin" valueType="num">
                                      <p:cBhvr>
                                        <p:cTn id="118" dur="500" fill="hold"/>
                                        <p:tgtEl>
                                          <p:spTgt spid="9227"/>
                                        </p:tgtEl>
                                        <p:attrNameLst>
                                          <p:attrName>ppt_h</p:attrName>
                                        </p:attrNameLst>
                                      </p:cBhvr>
                                      <p:tavLst>
                                        <p:tav tm="0">
                                          <p:val>
                                            <p:fltVal val="0"/>
                                          </p:val>
                                        </p:tav>
                                        <p:tav tm="100000">
                                          <p:val>
                                            <p:strVal val="#ppt_h"/>
                                          </p:val>
                                        </p:tav>
                                      </p:tavLst>
                                    </p:anim>
                                    <p:animEffect transition="in" filter="fade">
                                      <p:cBhvr>
                                        <p:cTn id="119" dur="500"/>
                                        <p:tgtEl>
                                          <p:spTgt spid="922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53" presetClass="entr" presetSubtype="16" fill="hold" nodeType="clickEffect">
                                  <p:stCondLst>
                                    <p:cond delay="0"/>
                                  </p:stCondLst>
                                  <p:childTnLst>
                                    <p:set>
                                      <p:cBhvr>
                                        <p:cTn id="123" dur="1" fill="hold">
                                          <p:stCondLst>
                                            <p:cond delay="0"/>
                                          </p:stCondLst>
                                        </p:cTn>
                                        <p:tgtEl>
                                          <p:spTgt spid="2"/>
                                        </p:tgtEl>
                                        <p:attrNameLst>
                                          <p:attrName>style.visibility</p:attrName>
                                        </p:attrNameLst>
                                      </p:cBhvr>
                                      <p:to>
                                        <p:strVal val="visible"/>
                                      </p:to>
                                    </p:set>
                                    <p:anim calcmode="lin" valueType="num">
                                      <p:cBhvr>
                                        <p:cTn id="124" dur="500" fill="hold"/>
                                        <p:tgtEl>
                                          <p:spTgt spid="2"/>
                                        </p:tgtEl>
                                        <p:attrNameLst>
                                          <p:attrName>ppt_w</p:attrName>
                                        </p:attrNameLst>
                                      </p:cBhvr>
                                      <p:tavLst>
                                        <p:tav tm="0">
                                          <p:val>
                                            <p:fltVal val="0"/>
                                          </p:val>
                                        </p:tav>
                                        <p:tav tm="100000">
                                          <p:val>
                                            <p:strVal val="#ppt_w"/>
                                          </p:val>
                                        </p:tav>
                                      </p:tavLst>
                                    </p:anim>
                                    <p:anim calcmode="lin" valueType="num">
                                      <p:cBhvr>
                                        <p:cTn id="125" dur="500" fill="hold"/>
                                        <p:tgtEl>
                                          <p:spTgt spid="2"/>
                                        </p:tgtEl>
                                        <p:attrNameLst>
                                          <p:attrName>ppt_h</p:attrName>
                                        </p:attrNameLst>
                                      </p:cBhvr>
                                      <p:tavLst>
                                        <p:tav tm="0">
                                          <p:val>
                                            <p:fltVal val="0"/>
                                          </p:val>
                                        </p:tav>
                                        <p:tav tm="100000">
                                          <p:val>
                                            <p:strVal val="#ppt_h"/>
                                          </p:val>
                                        </p:tav>
                                      </p:tavLst>
                                    </p:anim>
                                    <p:animEffect transition="in" filter="fade">
                                      <p:cBhvr>
                                        <p:cTn id="126" dur="500"/>
                                        <p:tgtEl>
                                          <p:spTgt spid="2"/>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53" presetClass="entr" presetSubtype="16" fill="hold" grpId="0" nodeType="clickEffect">
                                  <p:stCondLst>
                                    <p:cond delay="0"/>
                                  </p:stCondLst>
                                  <p:childTnLst>
                                    <p:set>
                                      <p:cBhvr>
                                        <p:cTn id="130" dur="1" fill="hold">
                                          <p:stCondLst>
                                            <p:cond delay="0"/>
                                          </p:stCondLst>
                                        </p:cTn>
                                        <p:tgtEl>
                                          <p:spTgt spid="101"/>
                                        </p:tgtEl>
                                        <p:attrNameLst>
                                          <p:attrName>style.visibility</p:attrName>
                                        </p:attrNameLst>
                                      </p:cBhvr>
                                      <p:to>
                                        <p:strVal val="visible"/>
                                      </p:to>
                                    </p:set>
                                    <p:anim calcmode="lin" valueType="num">
                                      <p:cBhvr>
                                        <p:cTn id="131" dur="500" fill="hold"/>
                                        <p:tgtEl>
                                          <p:spTgt spid="101"/>
                                        </p:tgtEl>
                                        <p:attrNameLst>
                                          <p:attrName>ppt_w</p:attrName>
                                        </p:attrNameLst>
                                      </p:cBhvr>
                                      <p:tavLst>
                                        <p:tav tm="0">
                                          <p:val>
                                            <p:fltVal val="0"/>
                                          </p:val>
                                        </p:tav>
                                        <p:tav tm="100000">
                                          <p:val>
                                            <p:strVal val="#ppt_w"/>
                                          </p:val>
                                        </p:tav>
                                      </p:tavLst>
                                    </p:anim>
                                    <p:anim calcmode="lin" valueType="num">
                                      <p:cBhvr>
                                        <p:cTn id="132" dur="500" fill="hold"/>
                                        <p:tgtEl>
                                          <p:spTgt spid="101"/>
                                        </p:tgtEl>
                                        <p:attrNameLst>
                                          <p:attrName>ppt_h</p:attrName>
                                        </p:attrNameLst>
                                      </p:cBhvr>
                                      <p:tavLst>
                                        <p:tav tm="0">
                                          <p:val>
                                            <p:fltVal val="0"/>
                                          </p:val>
                                        </p:tav>
                                        <p:tav tm="100000">
                                          <p:val>
                                            <p:strVal val="#ppt_h"/>
                                          </p:val>
                                        </p:tav>
                                      </p:tavLst>
                                    </p:anim>
                                    <p:animEffect transition="in" filter="fade">
                                      <p:cBhvr>
                                        <p:cTn id="133" dur="500"/>
                                        <p:tgtEl>
                                          <p:spTgt spid="101"/>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1" fill="hold" nodeType="clickEffect">
                                  <p:stCondLst>
                                    <p:cond delay="0"/>
                                  </p:stCondLst>
                                  <p:childTnLst>
                                    <p:set>
                                      <p:cBhvr>
                                        <p:cTn id="137" dur="1" fill="hold">
                                          <p:stCondLst>
                                            <p:cond delay="0"/>
                                          </p:stCondLst>
                                        </p:cTn>
                                        <p:tgtEl>
                                          <p:spTgt spid="9221">
                                            <p:txEl>
                                              <p:pRg st="0" end="0"/>
                                            </p:txEl>
                                          </p:spTgt>
                                        </p:tgtEl>
                                        <p:attrNameLst>
                                          <p:attrName>style.visibility</p:attrName>
                                        </p:attrNameLst>
                                      </p:cBhvr>
                                      <p:to>
                                        <p:strVal val="visible"/>
                                      </p:to>
                                    </p:set>
                                    <p:animEffect transition="in" filter="wipe(up)">
                                      <p:cBhvr>
                                        <p:cTn id="138" dur="500"/>
                                        <p:tgtEl>
                                          <p:spTgt spid="9221">
                                            <p:txEl>
                                              <p:pRg st="0" end="0"/>
                                            </p:txEl>
                                          </p:spTgt>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10"/>
                                        </p:tgtEl>
                                        <p:attrNameLst>
                                          <p:attrName>style.visibility</p:attrName>
                                        </p:attrNameLst>
                                      </p:cBhvr>
                                      <p:to>
                                        <p:strVal val="visible"/>
                                      </p:to>
                                    </p:set>
                                    <p:animEffect transition="in" filter="wipe(up)">
                                      <p:cBhvr>
                                        <p:cTn id="1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5" grpId="0"/>
      <p:bldP spid="6" grpId="0"/>
      <p:bldP spid="8" grpId="0"/>
      <p:bldP spid="101" grpId="0"/>
      <p:bldP spid="1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Line 22"/>
          <p:cNvSpPr>
            <a:spLocks noChangeShapeType="1"/>
          </p:cNvSpPr>
          <p:nvPr/>
        </p:nvSpPr>
        <p:spPr bwMode="auto">
          <a:xfrm flipV="1">
            <a:off x="9902826" y="3860800"/>
            <a:ext cx="346075" cy="801688"/>
          </a:xfrm>
          <a:prstGeom prst="line">
            <a:avLst/>
          </a:prstGeom>
          <a:noFill/>
          <a:ln w="28575">
            <a:solidFill>
              <a:srgbClr val="FF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4" name="Rectangle 3"/>
          <p:cNvSpPr>
            <a:spLocks noChangeArrowheads="1"/>
          </p:cNvSpPr>
          <p:nvPr/>
        </p:nvSpPr>
        <p:spPr bwMode="auto">
          <a:xfrm>
            <a:off x="1774825" y="765175"/>
            <a:ext cx="8713788" cy="237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b="1" dirty="0">
                <a:solidFill>
                  <a:srgbClr val="FF9999"/>
                </a:solidFill>
                <a:latin typeface="Arial"/>
                <a:ea typeface="Times New Roman" pitchFamily="18" charset="0"/>
                <a:cs typeface="Bookman-Light" charset="0"/>
              </a:rPr>
              <a:t>Two or more vectors may be added graphically or geometrically by using the following laws of vector addition:</a:t>
            </a:r>
          </a:p>
          <a:p>
            <a:pPr eaLnBrk="0" fontAlgn="base" hangingPunct="0">
              <a:spcBef>
                <a:spcPct val="0"/>
              </a:spcBef>
              <a:spcAft>
                <a:spcPct val="0"/>
              </a:spcAft>
              <a:defRPr/>
            </a:pPr>
            <a:endParaRPr lang="en-US" b="1" dirty="0">
              <a:solidFill>
                <a:srgbClr val="FFCCFF"/>
              </a:solidFill>
              <a:latin typeface="Arial"/>
              <a:cs typeface="Arial" panose="020B0604020202020204" pitchFamily="34" charset="0"/>
            </a:endParaRPr>
          </a:p>
          <a:p>
            <a:pPr marL="457200" indent="-457200" eaLnBrk="0" fontAlgn="base" hangingPunct="0">
              <a:spcBef>
                <a:spcPct val="0"/>
              </a:spcBef>
              <a:spcAft>
                <a:spcPct val="0"/>
              </a:spcAft>
              <a:buFontTx/>
              <a:buAutoNum type="arabicPeriod"/>
              <a:defRPr/>
            </a:pPr>
            <a:r>
              <a:rPr lang="en-US" sz="2000" b="1" dirty="0">
                <a:solidFill>
                  <a:srgbClr val="00FF00"/>
                </a:solidFill>
                <a:latin typeface="Arial"/>
                <a:ea typeface="Times New Roman" pitchFamily="18" charset="0"/>
                <a:cs typeface="Bookman-Light" charset="0"/>
              </a:rPr>
              <a:t>Triangle Law of Vector Addition  </a:t>
            </a:r>
          </a:p>
          <a:p>
            <a:pPr eaLnBrk="0" fontAlgn="base" hangingPunct="0">
              <a:spcBef>
                <a:spcPct val="0"/>
              </a:spcBef>
              <a:spcAft>
                <a:spcPct val="0"/>
              </a:spcAft>
              <a:defRPr/>
            </a:pPr>
            <a:endParaRPr lang="en-US" sz="2000" b="1" dirty="0">
              <a:solidFill>
                <a:srgbClr val="FFCCFF"/>
              </a:solidFill>
              <a:latin typeface="Arial"/>
              <a:cs typeface="Arial" panose="020B0604020202020204" pitchFamily="34" charset="0"/>
            </a:endParaRPr>
          </a:p>
          <a:p>
            <a:pPr eaLnBrk="0" fontAlgn="base" hangingPunct="0">
              <a:spcBef>
                <a:spcPct val="0"/>
              </a:spcBef>
              <a:spcAft>
                <a:spcPct val="0"/>
              </a:spcAft>
              <a:defRPr/>
            </a:pPr>
            <a:r>
              <a:rPr lang="en-US" b="1" i="1" dirty="0">
                <a:solidFill>
                  <a:srgbClr val="FFCCFF"/>
                </a:solidFill>
                <a:latin typeface="Arial"/>
                <a:ea typeface="Times New Roman" pitchFamily="18" charset="0"/>
                <a:cs typeface="Bookman-Light" charset="0"/>
              </a:rPr>
              <a:t>If two vectors can be represented by the </a:t>
            </a:r>
            <a:r>
              <a:rPr lang="en-US" b="1" i="1" dirty="0">
                <a:solidFill>
                  <a:srgbClr val="FF6600"/>
                </a:solidFill>
                <a:latin typeface="Arial"/>
                <a:ea typeface="Times New Roman" pitchFamily="18" charset="0"/>
                <a:cs typeface="Bookman-Light" charset="0"/>
              </a:rPr>
              <a:t>two sides of a triangle taken in the same order</a:t>
            </a:r>
            <a:r>
              <a:rPr lang="en-US" b="1" i="1" dirty="0">
                <a:solidFill>
                  <a:srgbClr val="FFCCFF"/>
                </a:solidFill>
                <a:latin typeface="Arial"/>
                <a:ea typeface="Times New Roman" pitchFamily="18" charset="0"/>
                <a:cs typeface="Bookman-Light" charset="0"/>
              </a:rPr>
              <a:t>, then the resultant is represented completely (both in magnitude and direction) by the </a:t>
            </a:r>
            <a:r>
              <a:rPr lang="en-US" b="1" i="1" dirty="0">
                <a:solidFill>
                  <a:srgbClr val="FF6600"/>
                </a:solidFill>
                <a:latin typeface="Arial"/>
                <a:ea typeface="Times New Roman" pitchFamily="18" charset="0"/>
                <a:cs typeface="Bookman-Light" charset="0"/>
              </a:rPr>
              <a:t>third side </a:t>
            </a:r>
            <a:r>
              <a:rPr lang="en-US" b="1" i="1" dirty="0">
                <a:solidFill>
                  <a:srgbClr val="FFCCFF"/>
                </a:solidFill>
                <a:latin typeface="Arial"/>
                <a:ea typeface="Times New Roman" pitchFamily="18" charset="0"/>
                <a:cs typeface="Bookman-Light" charset="0"/>
              </a:rPr>
              <a:t>of the triangle taken in the </a:t>
            </a:r>
            <a:r>
              <a:rPr lang="en-US" b="1" i="1" dirty="0">
                <a:solidFill>
                  <a:srgbClr val="FF6600"/>
                </a:solidFill>
                <a:latin typeface="Arial"/>
                <a:ea typeface="Times New Roman" pitchFamily="18" charset="0"/>
                <a:cs typeface="Bookman-Light" charset="0"/>
              </a:rPr>
              <a:t>opposite order</a:t>
            </a:r>
            <a:r>
              <a:rPr lang="en-US" b="1" i="1" dirty="0">
                <a:solidFill>
                  <a:srgbClr val="FFCCFF"/>
                </a:solidFill>
                <a:latin typeface="Arial"/>
                <a:ea typeface="Times New Roman" pitchFamily="18" charset="0"/>
                <a:cs typeface="Bookman-Light" charset="0"/>
              </a:rPr>
              <a:t>.</a:t>
            </a:r>
            <a:endParaRPr lang="en-US" b="1" dirty="0">
              <a:solidFill>
                <a:srgbClr val="FFCCFF"/>
              </a:solidFill>
              <a:latin typeface="Arial"/>
              <a:ea typeface="Times New Roman" pitchFamily="18" charset="0"/>
              <a:cs typeface="Bookman-Light" charset="0"/>
            </a:endParaRPr>
          </a:p>
        </p:txBody>
      </p:sp>
      <p:sp>
        <p:nvSpPr>
          <p:cNvPr id="7" name="Rectangle 6"/>
          <p:cNvSpPr/>
          <p:nvPr/>
        </p:nvSpPr>
        <p:spPr>
          <a:xfrm>
            <a:off x="1774825" y="44450"/>
            <a:ext cx="8815388" cy="400050"/>
          </a:xfrm>
          <a:prstGeom prst="rect">
            <a:avLst/>
          </a:prstGeom>
        </p:spPr>
        <p:txBody>
          <a:bodyPr>
            <a:spAutoFit/>
          </a:bodyPr>
          <a:lstStyle/>
          <a:p>
            <a:pPr eaLnBrk="0" fontAlgn="base" hangingPunct="0">
              <a:spcBef>
                <a:spcPct val="0"/>
              </a:spcBef>
              <a:spcAft>
                <a:spcPct val="0"/>
              </a:spcAft>
              <a:defRPr/>
            </a:pPr>
            <a:r>
              <a:rPr lang="en-US" sz="2000" b="1" dirty="0">
                <a:solidFill>
                  <a:srgbClr val="FF00FF"/>
                </a:solidFill>
                <a:latin typeface="Arial"/>
                <a:ea typeface="Times New Roman" pitchFamily="18" charset="0"/>
                <a:cs typeface="Bookman-Demi"/>
              </a:rPr>
              <a:t>ADDITION AND SUBTRACTION OF VECTORS — GRAPHICAL METHOD</a:t>
            </a:r>
            <a:endParaRPr lang="en-US" sz="2000" b="1" dirty="0">
              <a:solidFill>
                <a:srgbClr val="FF00FF"/>
              </a:solidFill>
              <a:latin typeface="Arial"/>
              <a:cs typeface="Arial" panose="020B0604020202020204" pitchFamily="34" charset="0"/>
            </a:endParaRPr>
          </a:p>
        </p:txBody>
      </p:sp>
      <p:sp>
        <p:nvSpPr>
          <p:cNvPr id="8" name="Rectangle 7"/>
          <p:cNvSpPr/>
          <p:nvPr/>
        </p:nvSpPr>
        <p:spPr>
          <a:xfrm>
            <a:off x="1774825" y="404813"/>
            <a:ext cx="2535238" cy="400050"/>
          </a:xfrm>
          <a:prstGeom prst="rect">
            <a:avLst/>
          </a:prstGeom>
        </p:spPr>
        <p:txBody>
          <a:bodyPr wrap="none">
            <a:spAutoFit/>
          </a:bodyPr>
          <a:lstStyle/>
          <a:p>
            <a:pPr fontAlgn="base">
              <a:spcBef>
                <a:spcPct val="0"/>
              </a:spcBef>
              <a:spcAft>
                <a:spcPct val="0"/>
              </a:spcAft>
              <a:defRPr/>
            </a:pPr>
            <a:r>
              <a:rPr lang="en-US" sz="2000" b="1" dirty="0">
                <a:solidFill>
                  <a:srgbClr val="FFFF00"/>
                </a:solidFill>
                <a:latin typeface="Arial"/>
                <a:ea typeface="Times New Roman" pitchFamily="18" charset="0"/>
                <a:cs typeface="Bookman-Light" charset="0"/>
              </a:rPr>
              <a:t>Addition of Vectors</a:t>
            </a:r>
            <a:endParaRPr lang="en-IN" sz="2000" b="1" dirty="0">
              <a:solidFill>
                <a:srgbClr val="FFFF00"/>
              </a:solidFill>
              <a:latin typeface="Arial"/>
              <a:cs typeface="Arial" panose="020B0604020202020204" pitchFamily="34" charset="0"/>
            </a:endParaRPr>
          </a:p>
        </p:txBody>
      </p:sp>
      <p:grpSp>
        <p:nvGrpSpPr>
          <p:cNvPr id="12" name="Group 11"/>
          <p:cNvGrpSpPr>
            <a:grpSpLocks/>
          </p:cNvGrpSpPr>
          <p:nvPr/>
        </p:nvGrpSpPr>
        <p:grpSpPr bwMode="auto">
          <a:xfrm>
            <a:off x="1811338" y="3141663"/>
            <a:ext cx="3852862" cy="646112"/>
            <a:chOff x="288032" y="3789040"/>
            <a:chExt cx="3851920" cy="646331"/>
          </a:xfrm>
        </p:grpSpPr>
        <p:sp>
          <p:nvSpPr>
            <p:cNvPr id="11313" name="Rectangle 8"/>
            <p:cNvSpPr>
              <a:spLocks noChangeArrowheads="1"/>
            </p:cNvSpPr>
            <p:nvPr/>
          </p:nvSpPr>
          <p:spPr bwMode="auto">
            <a:xfrm>
              <a:off x="288032" y="3789040"/>
              <a:ext cx="38519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00FF00"/>
                  </a:solidFill>
                  <a:ea typeface="Times New Roman" panose="02020603050405020304" pitchFamily="18" charset="0"/>
                  <a:cs typeface="Bookman-Light"/>
                </a:rPr>
                <a:t>Example:</a:t>
              </a:r>
            </a:p>
            <a:p>
              <a:pPr fontAlgn="base">
                <a:spcBef>
                  <a:spcPct val="0"/>
                </a:spcBef>
                <a:spcAft>
                  <a:spcPct val="0"/>
                </a:spcAft>
              </a:pPr>
              <a:r>
                <a:rPr lang="en-US" altLang="en-US" b="1">
                  <a:solidFill>
                    <a:srgbClr val="FF00FF"/>
                  </a:solidFill>
                  <a:ea typeface="Times New Roman" panose="02020603050405020304" pitchFamily="18" charset="0"/>
                  <a:cs typeface="Bookman-Light"/>
                </a:rPr>
                <a:t>Addition of two vectors A and B. </a:t>
              </a:r>
            </a:p>
          </p:txBody>
        </p:sp>
        <p:cxnSp>
          <p:nvCxnSpPr>
            <p:cNvPr id="10" name="Straight Arrow Connector 9"/>
            <p:cNvCxnSpPr/>
            <p:nvPr/>
          </p:nvCxnSpPr>
          <p:spPr bwMode="auto">
            <a:xfrm>
              <a:off x="2973425" y="4095531"/>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bwMode="auto">
            <a:xfrm>
              <a:off x="3663818" y="4095531"/>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7" name="Group 26"/>
          <p:cNvGrpSpPr>
            <a:grpSpLocks/>
          </p:cNvGrpSpPr>
          <p:nvPr/>
        </p:nvGrpSpPr>
        <p:grpSpPr bwMode="auto">
          <a:xfrm>
            <a:off x="7915275" y="3743326"/>
            <a:ext cx="1682750" cy="542925"/>
            <a:chOff x="297025" y="4941168"/>
            <a:chExt cx="1682687" cy="543108"/>
          </a:xfrm>
        </p:grpSpPr>
        <p:sp>
          <p:nvSpPr>
            <p:cNvPr id="11309"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1310" name="Group 14"/>
            <p:cNvGrpSpPr>
              <a:grpSpLocks/>
            </p:cNvGrpSpPr>
            <p:nvPr/>
          </p:nvGrpSpPr>
          <p:grpSpPr bwMode="auto">
            <a:xfrm>
              <a:off x="1057096" y="4941168"/>
              <a:ext cx="274544" cy="369888"/>
              <a:chOff x="1547664" y="1997075"/>
              <a:chExt cx="274544" cy="369888"/>
            </a:xfrm>
          </p:grpSpPr>
          <p:cxnSp>
            <p:nvCxnSpPr>
              <p:cNvPr id="16" name="Straight Arrow Connector 15"/>
              <p:cNvCxnSpPr/>
              <p:nvPr/>
            </p:nvCxnSpPr>
            <p:spPr bwMode="auto">
              <a:xfrm>
                <a:off x="1651161" y="204154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12"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47" name="Group 46"/>
          <p:cNvGrpSpPr>
            <a:grpSpLocks/>
          </p:cNvGrpSpPr>
          <p:nvPr/>
        </p:nvGrpSpPr>
        <p:grpSpPr bwMode="auto">
          <a:xfrm>
            <a:off x="9902826" y="3875089"/>
            <a:ext cx="346075" cy="801687"/>
            <a:chOff x="8583834" y="3789040"/>
            <a:chExt cx="380654" cy="802071"/>
          </a:xfrm>
        </p:grpSpPr>
        <p:sp>
          <p:nvSpPr>
            <p:cNvPr id="11305"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1306" name="Group 23"/>
            <p:cNvGrpSpPr>
              <a:grpSpLocks/>
            </p:cNvGrpSpPr>
            <p:nvPr/>
          </p:nvGrpSpPr>
          <p:grpSpPr bwMode="auto">
            <a:xfrm>
              <a:off x="8689944" y="4139232"/>
              <a:ext cx="274544" cy="369888"/>
              <a:chOff x="1547664" y="1997075"/>
              <a:chExt cx="274544" cy="369888"/>
            </a:xfrm>
          </p:grpSpPr>
          <p:cxnSp>
            <p:nvCxnSpPr>
              <p:cNvPr id="25" name="Straight Arrow Connector 24"/>
              <p:cNvCxnSpPr/>
              <p:nvPr/>
            </p:nvCxnSpPr>
            <p:spPr bwMode="auto">
              <a:xfrm>
                <a:off x="1651088" y="2040772"/>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08"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sp>
        <p:nvSpPr>
          <p:cNvPr id="31" name="Rectangle 30"/>
          <p:cNvSpPr>
            <a:spLocks noChangeArrowheads="1"/>
          </p:cNvSpPr>
          <p:nvPr/>
        </p:nvSpPr>
        <p:spPr bwMode="auto">
          <a:xfrm>
            <a:off x="1811338" y="5662614"/>
            <a:ext cx="6445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99"/>
                </a:solidFill>
              </a:rPr>
              <a:t>This graphical method is called the ′</a:t>
            </a:r>
            <a:r>
              <a:rPr lang="en-US" altLang="en-US" b="1">
                <a:solidFill>
                  <a:srgbClr val="00B0F0"/>
                </a:solidFill>
              </a:rPr>
              <a:t>head-to-tail method</a:t>
            </a:r>
            <a:r>
              <a:rPr lang="en-US" altLang="en-US" b="1">
                <a:solidFill>
                  <a:srgbClr val="FFFF99"/>
                </a:solidFill>
              </a:rPr>
              <a:t>′.  </a:t>
            </a:r>
            <a:endParaRPr lang="en-IN" altLang="en-US" b="1">
              <a:solidFill>
                <a:srgbClr val="FFFF99"/>
              </a:solidFill>
            </a:endParaRPr>
          </a:p>
        </p:txBody>
      </p:sp>
      <p:grpSp>
        <p:nvGrpSpPr>
          <p:cNvPr id="64" name="Group 63"/>
          <p:cNvGrpSpPr>
            <a:grpSpLocks/>
          </p:cNvGrpSpPr>
          <p:nvPr/>
        </p:nvGrpSpPr>
        <p:grpSpPr bwMode="auto">
          <a:xfrm>
            <a:off x="1822451" y="3802064"/>
            <a:ext cx="5497513" cy="922337"/>
            <a:chOff x="298648" y="4365104"/>
            <a:chExt cx="5497488" cy="923330"/>
          </a:xfrm>
        </p:grpSpPr>
        <p:sp>
          <p:nvSpPr>
            <p:cNvPr id="29" name="Text Box 3"/>
            <p:cNvSpPr txBox="1">
              <a:spLocks noChangeArrowheads="1"/>
            </p:cNvSpPr>
            <p:nvPr/>
          </p:nvSpPr>
          <p:spPr bwMode="auto">
            <a:xfrm>
              <a:off x="298648" y="4365104"/>
              <a:ext cx="54974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00FFCC"/>
                  </a:solidFill>
                  <a:latin typeface="Arial"/>
                  <a:cs typeface="Arial" panose="020B0604020202020204" pitchFamily="34" charset="0"/>
                </a:rPr>
                <a:t>To add vector B to vector A, move vector B parallel to itself so as to place the </a:t>
              </a:r>
              <a:r>
                <a:rPr lang="en-US" sz="1800" b="1" dirty="0">
                  <a:solidFill>
                    <a:srgbClr val="FF00FF"/>
                  </a:solidFill>
                  <a:latin typeface="Arial"/>
                  <a:cs typeface="Arial" panose="020B0604020202020204" pitchFamily="34" charset="0"/>
                </a:rPr>
                <a:t>tail</a:t>
              </a:r>
              <a:r>
                <a:rPr lang="en-US" sz="1800" b="1" dirty="0">
                  <a:solidFill>
                    <a:srgbClr val="00FFCC"/>
                  </a:solidFill>
                  <a:latin typeface="Arial"/>
                  <a:cs typeface="Arial" panose="020B0604020202020204" pitchFamily="34" charset="0"/>
                </a:rPr>
                <a:t> of B on </a:t>
              </a:r>
              <a:r>
                <a:rPr lang="en-US" sz="1800" b="1" dirty="0">
                  <a:solidFill>
                    <a:srgbClr val="FF00FF"/>
                  </a:solidFill>
                  <a:latin typeface="Arial"/>
                  <a:cs typeface="Arial" panose="020B0604020202020204" pitchFamily="34" charset="0"/>
                </a:rPr>
                <a:t>head</a:t>
              </a:r>
              <a:r>
                <a:rPr lang="en-US" sz="1800" b="1" dirty="0">
                  <a:solidFill>
                    <a:srgbClr val="00FFCC"/>
                  </a:solidFill>
                  <a:latin typeface="Arial"/>
                  <a:cs typeface="Arial" panose="020B0604020202020204" pitchFamily="34" charset="0"/>
                </a:rPr>
                <a:t> of A.</a:t>
              </a:r>
            </a:p>
          </p:txBody>
        </p:sp>
        <p:cxnSp>
          <p:nvCxnSpPr>
            <p:cNvPr id="32" name="Straight Arrow Connector 31"/>
            <p:cNvCxnSpPr/>
            <p:nvPr/>
          </p:nvCxnSpPr>
          <p:spPr bwMode="auto">
            <a:xfrm>
              <a:off x="1935354" y="4404834"/>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bwMode="auto">
            <a:xfrm>
              <a:off x="3194235" y="440960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bwMode="auto">
            <a:xfrm>
              <a:off x="4899202" y="440960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bwMode="auto">
            <a:xfrm>
              <a:off x="4788078" y="4684535"/>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bwMode="auto">
            <a:xfrm>
              <a:off x="1276544" y="4954700"/>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65" name="Group 64"/>
          <p:cNvGrpSpPr>
            <a:grpSpLocks/>
          </p:cNvGrpSpPr>
          <p:nvPr/>
        </p:nvGrpSpPr>
        <p:grpSpPr bwMode="auto">
          <a:xfrm>
            <a:off x="1822451" y="4724401"/>
            <a:ext cx="5497513" cy="923925"/>
            <a:chOff x="298648" y="5313982"/>
            <a:chExt cx="5497488" cy="923330"/>
          </a:xfrm>
        </p:grpSpPr>
        <p:sp>
          <p:nvSpPr>
            <p:cNvPr id="30" name="Text Box 3"/>
            <p:cNvSpPr txBox="1">
              <a:spLocks noChangeArrowheads="1"/>
            </p:cNvSpPr>
            <p:nvPr/>
          </p:nvSpPr>
          <p:spPr bwMode="auto">
            <a:xfrm>
              <a:off x="298648" y="5313982"/>
              <a:ext cx="54974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FF0066"/>
                  </a:solidFill>
                  <a:latin typeface="Arial"/>
                  <a:cs typeface="Arial" panose="020B0604020202020204" pitchFamily="34" charset="0"/>
                </a:rPr>
                <a:t>Join the </a:t>
              </a:r>
              <a:r>
                <a:rPr lang="en-US" sz="1800" b="1" dirty="0">
                  <a:solidFill>
                    <a:srgbClr val="00FF00"/>
                  </a:solidFill>
                  <a:latin typeface="Arial"/>
                  <a:cs typeface="Arial" panose="020B0604020202020204" pitchFamily="34" charset="0"/>
                </a:rPr>
                <a:t>tail</a:t>
              </a:r>
              <a:r>
                <a:rPr lang="en-US" sz="1800" b="1" dirty="0">
                  <a:solidFill>
                    <a:srgbClr val="FF0066"/>
                  </a:solidFill>
                  <a:latin typeface="Arial"/>
                  <a:cs typeface="Arial" panose="020B0604020202020204" pitchFamily="34" charset="0"/>
                </a:rPr>
                <a:t> of A to the </a:t>
              </a:r>
              <a:r>
                <a:rPr lang="en-US" sz="1800" b="1" dirty="0">
                  <a:solidFill>
                    <a:srgbClr val="00FF00"/>
                  </a:solidFill>
                  <a:latin typeface="Arial"/>
                  <a:cs typeface="Arial" panose="020B0604020202020204" pitchFamily="34" charset="0"/>
                </a:rPr>
                <a:t>head</a:t>
              </a:r>
              <a:r>
                <a:rPr lang="en-US" sz="1800" b="1" dirty="0">
                  <a:solidFill>
                    <a:srgbClr val="FF0066"/>
                  </a:solidFill>
                  <a:latin typeface="Arial"/>
                  <a:cs typeface="Arial" panose="020B0604020202020204" pitchFamily="34" charset="0"/>
                </a:rPr>
                <a:t> of B.  Let this be vector OR </a:t>
              </a:r>
              <a:r>
                <a:rPr lang="en-US" sz="1800" b="1" dirty="0" err="1">
                  <a:solidFill>
                    <a:srgbClr val="FF0066"/>
                  </a:solidFill>
                  <a:latin typeface="Arial"/>
                  <a:cs typeface="Arial" panose="020B0604020202020204" pitchFamily="34" charset="0"/>
                </a:rPr>
                <a:t>or</a:t>
              </a:r>
              <a:r>
                <a:rPr lang="en-US" sz="1800" b="1" dirty="0">
                  <a:solidFill>
                    <a:srgbClr val="FF0066"/>
                  </a:solidFill>
                  <a:latin typeface="Arial"/>
                  <a:cs typeface="Arial" panose="020B0604020202020204" pitchFamily="34" charset="0"/>
                </a:rPr>
                <a:t> R.  This gives the resultant R or the sum of the vectors A and B.</a:t>
              </a:r>
            </a:p>
          </p:txBody>
        </p:sp>
        <p:cxnSp>
          <p:nvCxnSpPr>
            <p:cNvPr id="37" name="Straight Arrow Connector 36"/>
            <p:cNvCxnSpPr/>
            <p:nvPr/>
          </p:nvCxnSpPr>
          <p:spPr bwMode="auto">
            <a:xfrm>
              <a:off x="3792720" y="534571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bwMode="auto">
            <a:xfrm>
              <a:off x="1984565" y="5359990"/>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bwMode="auto">
            <a:xfrm>
              <a:off x="1854391" y="564714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bwMode="auto">
            <a:xfrm>
              <a:off x="1151132" y="5634450"/>
              <a:ext cx="33496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bwMode="auto">
            <a:xfrm>
              <a:off x="4819827" y="5634450"/>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bwMode="auto">
            <a:xfrm>
              <a:off x="2470338" y="5921603"/>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bwMode="auto">
            <a:xfrm>
              <a:off x="3191060" y="590891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55" name="Straight Arrow Connector 54"/>
          <p:cNvCxnSpPr/>
          <p:nvPr/>
        </p:nvCxnSpPr>
        <p:spPr>
          <a:xfrm>
            <a:off x="7927976" y="4291014"/>
            <a:ext cx="1317625" cy="496887"/>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8" name="Group 67"/>
          <p:cNvGrpSpPr>
            <a:grpSpLocks/>
          </p:cNvGrpSpPr>
          <p:nvPr/>
        </p:nvGrpSpPr>
        <p:grpSpPr bwMode="auto">
          <a:xfrm>
            <a:off x="7616825" y="4125914"/>
            <a:ext cx="1785938" cy="987425"/>
            <a:chOff x="6093086" y="4053923"/>
            <a:chExt cx="1786302" cy="987943"/>
          </a:xfrm>
        </p:grpSpPr>
        <p:sp>
          <p:nvSpPr>
            <p:cNvPr id="11289" name="Text Box 62"/>
            <p:cNvSpPr txBox="1">
              <a:spLocks noChangeArrowheads="1"/>
            </p:cNvSpPr>
            <p:nvPr/>
          </p:nvSpPr>
          <p:spPr bwMode="auto">
            <a:xfrm>
              <a:off x="6093086" y="4053923"/>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11290" name="Text Box 62"/>
            <p:cNvSpPr txBox="1">
              <a:spLocks noChangeArrowheads="1"/>
            </p:cNvSpPr>
            <p:nvPr/>
          </p:nvSpPr>
          <p:spPr bwMode="auto">
            <a:xfrm>
              <a:off x="7511088" y="4675154"/>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sp>
        <p:nvSpPr>
          <p:cNvPr id="69" name="Rectangle 68"/>
          <p:cNvSpPr>
            <a:spLocks noChangeArrowheads="1"/>
          </p:cNvSpPr>
          <p:nvPr/>
        </p:nvSpPr>
        <p:spPr bwMode="auto">
          <a:xfrm>
            <a:off x="9421814" y="3644900"/>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72" name="Group 71"/>
          <p:cNvGrpSpPr>
            <a:grpSpLocks/>
          </p:cNvGrpSpPr>
          <p:nvPr/>
        </p:nvGrpSpPr>
        <p:grpSpPr bwMode="auto">
          <a:xfrm rot="1300514">
            <a:off x="7835901" y="4591050"/>
            <a:ext cx="1292225" cy="368300"/>
            <a:chOff x="6957609" y="6001363"/>
            <a:chExt cx="1291578" cy="369332"/>
          </a:xfrm>
        </p:grpSpPr>
        <p:grpSp>
          <p:nvGrpSpPr>
            <p:cNvPr id="11284" name="Group 60"/>
            <p:cNvGrpSpPr>
              <a:grpSpLocks/>
            </p:cNvGrpSpPr>
            <p:nvPr/>
          </p:nvGrpSpPr>
          <p:grpSpPr bwMode="auto">
            <a:xfrm>
              <a:off x="6957609" y="6001363"/>
              <a:ext cx="1291578" cy="369332"/>
              <a:chOff x="1547663" y="1997075"/>
              <a:chExt cx="1291578" cy="369332"/>
            </a:xfrm>
          </p:grpSpPr>
          <p:cxnSp>
            <p:nvCxnSpPr>
              <p:cNvPr id="62" name="Straight Arrow Connector 61"/>
              <p:cNvCxnSpPr/>
              <p:nvPr/>
            </p:nvCxnSpPr>
            <p:spPr bwMode="auto">
              <a:xfrm>
                <a:off x="1647549" y="2041489"/>
                <a:ext cx="1713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288" name="TextBox 6"/>
              <p:cNvSpPr txBox="1">
                <a:spLocks noChangeArrowheads="1"/>
              </p:cNvSpPr>
              <p:nvPr/>
            </p:nvSpPr>
            <p:spPr bwMode="auto">
              <a:xfrm>
                <a:off x="1547663" y="1997075"/>
                <a:ext cx="12915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 = A + B</a:t>
                </a:r>
                <a:endParaRPr lang="en-IN" altLang="en-US">
                  <a:solidFill>
                    <a:srgbClr val="FFCCFF"/>
                  </a:solidFill>
                </a:endParaRPr>
              </a:p>
            </p:txBody>
          </p:sp>
        </p:grpSp>
        <p:cxnSp>
          <p:nvCxnSpPr>
            <p:cNvPr id="70" name="Straight Arrow Connector 69"/>
            <p:cNvCxnSpPr/>
            <p:nvPr/>
          </p:nvCxnSpPr>
          <p:spPr bwMode="auto">
            <a:xfrm>
              <a:off x="7447827" y="6052552"/>
              <a:ext cx="1729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bwMode="auto">
            <a:xfrm>
              <a:off x="7856570" y="6045768"/>
              <a:ext cx="1713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3" name="Rectangle 72"/>
          <p:cNvSpPr>
            <a:spLocks noChangeArrowheads="1"/>
          </p:cNvSpPr>
          <p:nvPr/>
        </p:nvSpPr>
        <p:spPr bwMode="auto">
          <a:xfrm>
            <a:off x="1822451" y="6022976"/>
            <a:ext cx="86661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00"/>
                </a:solidFill>
              </a:rPr>
              <a:t>The two vectors and their resultant form three sides of a triangle, so this method is also known as triangle method of vector addition. </a:t>
            </a:r>
            <a:endParaRPr lang="en-IN" altLang="en-US" b="1">
              <a:solidFill>
                <a:srgbClr val="FFCC00"/>
              </a:solidFill>
            </a:endParaRPr>
          </a:p>
        </p:txBody>
      </p:sp>
      <p:sp>
        <p:nvSpPr>
          <p:cNvPr id="11281" name="TextBox 51"/>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11282" name="TextBox 52"/>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11283" name="TextBox 53"/>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2063103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wipe(up)">
                                      <p:cBhvr>
                                        <p:cTn id="21" dur="500"/>
                                        <p:tgtEl>
                                          <p:spTgt spid="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wipe(up)">
                                      <p:cBhvr>
                                        <p:cTn id="26" dur="500"/>
                                        <p:tgtEl>
                                          <p:spTgt spid="4">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wipe(up)">
                                      <p:cBhvr>
                                        <p:cTn id="31" dur="500"/>
                                        <p:tgtEl>
                                          <p:spTgt spid="4">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up)">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wipe(up)">
                                      <p:cBhvr>
                                        <p:cTn id="46" dur="500"/>
                                        <p:tgtEl>
                                          <p:spTgt spid="4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64"/>
                                        </p:tgtEl>
                                        <p:attrNameLst>
                                          <p:attrName>style.visibility</p:attrName>
                                        </p:attrNameLst>
                                      </p:cBhvr>
                                      <p:to>
                                        <p:strVal val="visible"/>
                                      </p:to>
                                    </p:set>
                                    <p:animEffect transition="in" filter="wipe(up)">
                                      <p:cBhvr>
                                        <p:cTn id="51" dur="500"/>
                                        <p:tgtEl>
                                          <p:spTgt spid="6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56"/>
                                        </p:tgtEl>
                                        <p:attrNameLst>
                                          <p:attrName>style.visibility</p:attrName>
                                        </p:attrNameLst>
                                      </p:cBhvr>
                                      <p:to>
                                        <p:strVal val="visible"/>
                                      </p:to>
                                    </p:set>
                                  </p:childTnLst>
                                </p:cTn>
                              </p:par>
                              <p:par>
                                <p:cTn id="56" presetID="42" presetClass="path" presetSubtype="0" accel="50000" decel="50000" fill="hold" nodeType="withEffect">
                                  <p:stCondLst>
                                    <p:cond delay="0"/>
                                  </p:stCondLst>
                                  <p:childTnLst>
                                    <p:animMotion origin="layout" path="M -3.88889E-6 3.7037E-7 L -0.07343 0.01505 " pathEditMode="relative" rAng="0" ptsTypes="AA">
                                      <p:cBhvr>
                                        <p:cTn id="57" dur="2000" fill="hold"/>
                                        <p:tgtEl>
                                          <p:spTgt spid="47"/>
                                        </p:tgtEl>
                                        <p:attrNameLst>
                                          <p:attrName>ppt_x</p:attrName>
                                          <p:attrName>ppt_y</p:attrName>
                                        </p:attrNameLst>
                                      </p:cBhvr>
                                      <p:rCtr x="-3681" y="741"/>
                                    </p:animMotion>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wipe(up)">
                                      <p:cBhvr>
                                        <p:cTn id="62" dur="500"/>
                                        <p:tgtEl>
                                          <p:spTgt spid="6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wipe(up)">
                                      <p:cBhvr>
                                        <p:cTn id="67" dur="500"/>
                                        <p:tgtEl>
                                          <p:spTgt spid="55"/>
                                        </p:tgtEl>
                                      </p:cBhvr>
                                    </p:animEffect>
                                  </p:childTnLst>
                                </p:cTn>
                              </p:par>
                            </p:childTnLst>
                          </p:cTn>
                        </p:par>
                        <p:par>
                          <p:cTn id="68" fill="hold" nodeType="afterGroup">
                            <p:stCondLst>
                              <p:cond delay="500"/>
                            </p:stCondLst>
                            <p:childTnLst>
                              <p:par>
                                <p:cTn id="69" presetID="1" presetClass="entr" presetSubtype="0" fill="hold" nodeType="after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childTnLst>
                          </p:cTn>
                        </p:par>
                        <p:par>
                          <p:cTn id="71" fill="hold" nodeType="afterGroup">
                            <p:stCondLst>
                              <p:cond delay="500"/>
                            </p:stCondLst>
                            <p:childTnLst>
                              <p:par>
                                <p:cTn id="72" presetID="53" presetClass="entr" presetSubtype="16" fill="hold" nodeType="afterEffect">
                                  <p:stCondLst>
                                    <p:cond delay="0"/>
                                  </p:stCondLst>
                                  <p:childTnLst>
                                    <p:set>
                                      <p:cBhvr>
                                        <p:cTn id="73" dur="1" fill="hold">
                                          <p:stCondLst>
                                            <p:cond delay="0"/>
                                          </p:stCondLst>
                                        </p:cTn>
                                        <p:tgtEl>
                                          <p:spTgt spid="72"/>
                                        </p:tgtEl>
                                        <p:attrNameLst>
                                          <p:attrName>style.visibility</p:attrName>
                                        </p:attrNameLst>
                                      </p:cBhvr>
                                      <p:to>
                                        <p:strVal val="visible"/>
                                      </p:to>
                                    </p:set>
                                    <p:anim calcmode="lin" valueType="num">
                                      <p:cBhvr>
                                        <p:cTn id="74" dur="500" fill="hold"/>
                                        <p:tgtEl>
                                          <p:spTgt spid="72"/>
                                        </p:tgtEl>
                                        <p:attrNameLst>
                                          <p:attrName>ppt_w</p:attrName>
                                        </p:attrNameLst>
                                      </p:cBhvr>
                                      <p:tavLst>
                                        <p:tav tm="0">
                                          <p:val>
                                            <p:fltVal val="0"/>
                                          </p:val>
                                        </p:tav>
                                        <p:tav tm="100000">
                                          <p:val>
                                            <p:strVal val="#ppt_w"/>
                                          </p:val>
                                        </p:tav>
                                      </p:tavLst>
                                    </p:anim>
                                    <p:anim calcmode="lin" valueType="num">
                                      <p:cBhvr>
                                        <p:cTn id="75" dur="500" fill="hold"/>
                                        <p:tgtEl>
                                          <p:spTgt spid="72"/>
                                        </p:tgtEl>
                                        <p:attrNameLst>
                                          <p:attrName>ppt_h</p:attrName>
                                        </p:attrNameLst>
                                      </p:cBhvr>
                                      <p:tavLst>
                                        <p:tav tm="0">
                                          <p:val>
                                            <p:fltVal val="0"/>
                                          </p:val>
                                        </p:tav>
                                        <p:tav tm="100000">
                                          <p:val>
                                            <p:strVal val="#ppt_h"/>
                                          </p:val>
                                        </p:tav>
                                      </p:tavLst>
                                    </p:anim>
                                    <p:animEffect transition="in" filter="fade">
                                      <p:cBhvr>
                                        <p:cTn id="76" dur="500"/>
                                        <p:tgtEl>
                                          <p:spTgt spid="72"/>
                                        </p:tgtEl>
                                      </p:cBhvr>
                                    </p:animEffect>
                                  </p:childTnLst>
                                </p:cTn>
                              </p:par>
                            </p:childTnLst>
                          </p:cTn>
                        </p:par>
                        <p:par>
                          <p:cTn id="77" fill="hold" nodeType="afterGroup">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69"/>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p:cTn id="84" dur="500" fill="hold"/>
                                        <p:tgtEl>
                                          <p:spTgt spid="31"/>
                                        </p:tgtEl>
                                        <p:attrNameLst>
                                          <p:attrName>ppt_w</p:attrName>
                                        </p:attrNameLst>
                                      </p:cBhvr>
                                      <p:tavLst>
                                        <p:tav tm="0">
                                          <p:val>
                                            <p:fltVal val="0"/>
                                          </p:val>
                                        </p:tav>
                                        <p:tav tm="100000">
                                          <p:val>
                                            <p:strVal val="#ppt_w"/>
                                          </p:val>
                                        </p:tav>
                                      </p:tavLst>
                                    </p:anim>
                                    <p:anim calcmode="lin" valueType="num">
                                      <p:cBhvr>
                                        <p:cTn id="85" dur="500" fill="hold"/>
                                        <p:tgtEl>
                                          <p:spTgt spid="31"/>
                                        </p:tgtEl>
                                        <p:attrNameLst>
                                          <p:attrName>ppt_h</p:attrName>
                                        </p:attrNameLst>
                                      </p:cBhvr>
                                      <p:tavLst>
                                        <p:tav tm="0">
                                          <p:val>
                                            <p:fltVal val="0"/>
                                          </p:val>
                                        </p:tav>
                                        <p:tav tm="100000">
                                          <p:val>
                                            <p:strVal val="#ppt_h"/>
                                          </p:val>
                                        </p:tav>
                                      </p:tavLst>
                                    </p:anim>
                                    <p:animEffect transition="in" filter="fade">
                                      <p:cBhvr>
                                        <p:cTn id="86" dur="500"/>
                                        <p:tgtEl>
                                          <p:spTgt spid="3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73"/>
                                        </p:tgtEl>
                                        <p:attrNameLst>
                                          <p:attrName>style.visibility</p:attrName>
                                        </p:attrNameLst>
                                      </p:cBhvr>
                                      <p:to>
                                        <p:strVal val="visible"/>
                                      </p:to>
                                    </p:set>
                                    <p:anim calcmode="lin" valueType="num">
                                      <p:cBhvr additive="base">
                                        <p:cTn id="91" dur="500" fill="hold"/>
                                        <p:tgtEl>
                                          <p:spTgt spid="73"/>
                                        </p:tgtEl>
                                        <p:attrNameLst>
                                          <p:attrName>ppt_x</p:attrName>
                                        </p:attrNameLst>
                                      </p:cBhvr>
                                      <p:tavLst>
                                        <p:tav tm="0">
                                          <p:val>
                                            <p:strVal val="#ppt_x"/>
                                          </p:val>
                                        </p:tav>
                                        <p:tav tm="100000">
                                          <p:val>
                                            <p:strVal val="#ppt_x"/>
                                          </p:val>
                                        </p:tav>
                                      </p:tavLst>
                                    </p:anim>
                                    <p:anim calcmode="lin" valueType="num">
                                      <p:cBhvr additive="base">
                                        <p:cTn id="92"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1" grpId="0"/>
      <p:bldP spid="69" grpId="0"/>
      <p:bldP spid="7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Line 22"/>
          <p:cNvSpPr>
            <a:spLocks noChangeShapeType="1"/>
          </p:cNvSpPr>
          <p:nvPr/>
        </p:nvSpPr>
        <p:spPr bwMode="auto">
          <a:xfrm flipV="1">
            <a:off x="2208213" y="1833564"/>
            <a:ext cx="1682750" cy="307975"/>
          </a:xfrm>
          <a:prstGeom prst="line">
            <a:avLst/>
          </a:prstGeom>
          <a:noFill/>
          <a:ln w="28575">
            <a:solidFill>
              <a:srgbClr val="00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3" name="Group 2"/>
          <p:cNvGrpSpPr>
            <a:grpSpLocks/>
          </p:cNvGrpSpPr>
          <p:nvPr/>
        </p:nvGrpSpPr>
        <p:grpSpPr bwMode="auto">
          <a:xfrm>
            <a:off x="2217738" y="1592263"/>
            <a:ext cx="1682750" cy="544512"/>
            <a:chOff x="297025" y="4941168"/>
            <a:chExt cx="1682687" cy="543108"/>
          </a:xfrm>
        </p:grpSpPr>
        <p:sp>
          <p:nvSpPr>
            <p:cNvPr id="12355"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2356" name="Group 4"/>
            <p:cNvGrpSpPr>
              <a:grpSpLocks/>
            </p:cNvGrpSpPr>
            <p:nvPr/>
          </p:nvGrpSpPr>
          <p:grpSpPr bwMode="auto">
            <a:xfrm>
              <a:off x="1057096" y="4941168"/>
              <a:ext cx="274544" cy="369888"/>
              <a:chOff x="1547664" y="1997075"/>
              <a:chExt cx="274544" cy="369888"/>
            </a:xfrm>
          </p:grpSpPr>
          <p:cxnSp>
            <p:nvCxnSpPr>
              <p:cNvPr id="6" name="Straight Arrow Connector 5"/>
              <p:cNvCxnSpPr/>
              <p:nvPr/>
            </p:nvCxnSpPr>
            <p:spPr bwMode="auto">
              <a:xfrm>
                <a:off x="1651161" y="204141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58"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cxnSp>
        <p:nvCxnSpPr>
          <p:cNvPr id="13" name="Straight Arrow Connector 12"/>
          <p:cNvCxnSpPr/>
          <p:nvPr/>
        </p:nvCxnSpPr>
        <p:spPr>
          <a:xfrm>
            <a:off x="4503738" y="1760539"/>
            <a:ext cx="1371600" cy="504825"/>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8" name="Group 27"/>
          <p:cNvGrpSpPr>
            <a:grpSpLocks/>
          </p:cNvGrpSpPr>
          <p:nvPr/>
        </p:nvGrpSpPr>
        <p:grpSpPr bwMode="auto">
          <a:xfrm>
            <a:off x="4083050" y="1758950"/>
            <a:ext cx="433388" cy="801688"/>
            <a:chOff x="4359688" y="885290"/>
            <a:chExt cx="433109" cy="802071"/>
          </a:xfrm>
        </p:grpSpPr>
        <p:sp>
          <p:nvSpPr>
            <p:cNvPr id="12351" name="Line 22"/>
            <p:cNvSpPr>
              <a:spLocks noChangeShapeType="1"/>
            </p:cNvSpPr>
            <p:nvPr/>
          </p:nvSpPr>
          <p:spPr bwMode="auto">
            <a:xfrm flipV="1">
              <a:off x="4446748" y="885290"/>
              <a:ext cx="346049"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2352" name="Group 9"/>
            <p:cNvGrpSpPr>
              <a:grpSpLocks/>
            </p:cNvGrpSpPr>
            <p:nvPr/>
          </p:nvGrpSpPr>
          <p:grpSpPr bwMode="auto">
            <a:xfrm>
              <a:off x="4359688" y="1015859"/>
              <a:ext cx="249585" cy="369888"/>
              <a:chOff x="1547664" y="1997075"/>
              <a:chExt cx="274544" cy="369888"/>
            </a:xfrm>
          </p:grpSpPr>
          <p:cxnSp>
            <p:nvCxnSpPr>
              <p:cNvPr id="11" name="Straight Arrow Connector 10"/>
              <p:cNvCxnSpPr/>
              <p:nvPr/>
            </p:nvCxnSpPr>
            <p:spPr bwMode="auto">
              <a:xfrm>
                <a:off x="1650627" y="2041214"/>
                <a:ext cx="17102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5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grpSp>
        <p:nvGrpSpPr>
          <p:cNvPr id="15" name="Group 14"/>
          <p:cNvGrpSpPr>
            <a:grpSpLocks/>
          </p:cNvGrpSpPr>
          <p:nvPr/>
        </p:nvGrpSpPr>
        <p:grpSpPr bwMode="auto">
          <a:xfrm>
            <a:off x="4381500" y="1441451"/>
            <a:ext cx="1785938" cy="989013"/>
            <a:chOff x="6093086" y="4053923"/>
            <a:chExt cx="1786302" cy="987943"/>
          </a:xfrm>
        </p:grpSpPr>
        <p:sp>
          <p:nvSpPr>
            <p:cNvPr id="12349" name="Text Box 62"/>
            <p:cNvSpPr txBox="1">
              <a:spLocks noChangeArrowheads="1"/>
            </p:cNvSpPr>
            <p:nvPr/>
          </p:nvSpPr>
          <p:spPr bwMode="auto">
            <a:xfrm>
              <a:off x="6093086" y="4053923"/>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12350" name="Text Box 62"/>
            <p:cNvSpPr txBox="1">
              <a:spLocks noChangeArrowheads="1"/>
            </p:cNvSpPr>
            <p:nvPr/>
          </p:nvSpPr>
          <p:spPr bwMode="auto">
            <a:xfrm>
              <a:off x="7511088" y="4675154"/>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sp>
        <p:nvSpPr>
          <p:cNvPr id="18" name="Rectangle 17"/>
          <p:cNvSpPr>
            <a:spLocks noChangeArrowheads="1"/>
          </p:cNvSpPr>
          <p:nvPr/>
        </p:nvSpPr>
        <p:spPr bwMode="auto">
          <a:xfrm>
            <a:off x="3890964" y="2339975"/>
            <a:ext cx="35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19" name="Group 18"/>
          <p:cNvGrpSpPr>
            <a:grpSpLocks/>
          </p:cNvGrpSpPr>
          <p:nvPr/>
        </p:nvGrpSpPr>
        <p:grpSpPr bwMode="auto">
          <a:xfrm rot="1300514">
            <a:off x="4678364" y="1736725"/>
            <a:ext cx="1290637" cy="368300"/>
            <a:chOff x="6957609" y="6001364"/>
            <a:chExt cx="1291578" cy="369332"/>
          </a:xfrm>
        </p:grpSpPr>
        <p:grpSp>
          <p:nvGrpSpPr>
            <p:cNvPr id="12344" name="Group 19"/>
            <p:cNvGrpSpPr>
              <a:grpSpLocks/>
            </p:cNvGrpSpPr>
            <p:nvPr/>
          </p:nvGrpSpPr>
          <p:grpSpPr bwMode="auto">
            <a:xfrm>
              <a:off x="6957609" y="6001364"/>
              <a:ext cx="1291578" cy="369332"/>
              <a:chOff x="1547663" y="1997076"/>
              <a:chExt cx="1291578" cy="369332"/>
            </a:xfrm>
          </p:grpSpPr>
          <p:cxnSp>
            <p:nvCxnSpPr>
              <p:cNvPr id="23" name="Straight Arrow Connector 22"/>
              <p:cNvCxnSpPr/>
              <p:nvPr/>
            </p:nvCxnSpPr>
            <p:spPr bwMode="auto">
              <a:xfrm>
                <a:off x="1642618" y="2032907"/>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48" name="TextBox 6"/>
              <p:cNvSpPr txBox="1">
                <a:spLocks noChangeArrowheads="1"/>
              </p:cNvSpPr>
              <p:nvPr/>
            </p:nvSpPr>
            <p:spPr bwMode="auto">
              <a:xfrm>
                <a:off x="1547663" y="1997076"/>
                <a:ext cx="12915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 = B + A</a:t>
                </a:r>
                <a:endParaRPr lang="en-IN" altLang="en-US">
                  <a:solidFill>
                    <a:srgbClr val="FFCCFF"/>
                  </a:solidFill>
                </a:endParaRPr>
              </a:p>
            </p:txBody>
          </p:sp>
        </p:grpSp>
        <p:cxnSp>
          <p:nvCxnSpPr>
            <p:cNvPr id="21" name="Straight Arrow Connector 20"/>
            <p:cNvCxnSpPr/>
            <p:nvPr/>
          </p:nvCxnSpPr>
          <p:spPr bwMode="auto">
            <a:xfrm>
              <a:off x="7440196" y="6040416"/>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bwMode="auto">
            <a:xfrm>
              <a:off x="7862635" y="6045190"/>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0" name="Line 22"/>
          <p:cNvSpPr>
            <a:spLocks noChangeShapeType="1"/>
          </p:cNvSpPr>
          <p:nvPr/>
        </p:nvSpPr>
        <p:spPr bwMode="auto">
          <a:xfrm flipV="1">
            <a:off x="9605964" y="1557339"/>
            <a:ext cx="346075" cy="801687"/>
          </a:xfrm>
          <a:prstGeom prst="line">
            <a:avLst/>
          </a:prstGeom>
          <a:noFill/>
          <a:ln w="28575">
            <a:solidFill>
              <a:srgbClr val="FF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31" name="Group 30"/>
          <p:cNvGrpSpPr>
            <a:grpSpLocks/>
          </p:cNvGrpSpPr>
          <p:nvPr/>
        </p:nvGrpSpPr>
        <p:grpSpPr bwMode="auto">
          <a:xfrm>
            <a:off x="7618413" y="1439864"/>
            <a:ext cx="1682750" cy="542925"/>
            <a:chOff x="297025" y="4941168"/>
            <a:chExt cx="1682687" cy="543108"/>
          </a:xfrm>
        </p:grpSpPr>
        <p:sp>
          <p:nvSpPr>
            <p:cNvPr id="12340"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2341" name="Group 32"/>
            <p:cNvGrpSpPr>
              <a:grpSpLocks/>
            </p:cNvGrpSpPr>
            <p:nvPr/>
          </p:nvGrpSpPr>
          <p:grpSpPr bwMode="auto">
            <a:xfrm>
              <a:off x="1057096" y="4941168"/>
              <a:ext cx="274544" cy="369888"/>
              <a:chOff x="1547664" y="1997075"/>
              <a:chExt cx="274544" cy="369888"/>
            </a:xfrm>
          </p:grpSpPr>
          <p:cxnSp>
            <p:nvCxnSpPr>
              <p:cNvPr id="34" name="Straight Arrow Connector 33"/>
              <p:cNvCxnSpPr/>
              <p:nvPr/>
            </p:nvCxnSpPr>
            <p:spPr bwMode="auto">
              <a:xfrm>
                <a:off x="1651161" y="204154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43"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36" name="Group 35"/>
          <p:cNvGrpSpPr>
            <a:grpSpLocks/>
          </p:cNvGrpSpPr>
          <p:nvPr/>
        </p:nvGrpSpPr>
        <p:grpSpPr bwMode="auto">
          <a:xfrm>
            <a:off x="9605964" y="1570039"/>
            <a:ext cx="346075" cy="803275"/>
            <a:chOff x="8583834" y="3789040"/>
            <a:chExt cx="380654" cy="802071"/>
          </a:xfrm>
        </p:grpSpPr>
        <p:sp>
          <p:nvSpPr>
            <p:cNvPr id="12336"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2337" name="Group 37"/>
            <p:cNvGrpSpPr>
              <a:grpSpLocks/>
            </p:cNvGrpSpPr>
            <p:nvPr/>
          </p:nvGrpSpPr>
          <p:grpSpPr bwMode="auto">
            <a:xfrm>
              <a:off x="8689944" y="4139232"/>
              <a:ext cx="274544" cy="369888"/>
              <a:chOff x="1547664" y="1997075"/>
              <a:chExt cx="274544" cy="369888"/>
            </a:xfrm>
          </p:grpSpPr>
          <p:cxnSp>
            <p:nvCxnSpPr>
              <p:cNvPr id="39" name="Straight Arrow Connector 38"/>
              <p:cNvCxnSpPr/>
              <p:nvPr/>
            </p:nvCxnSpPr>
            <p:spPr bwMode="auto">
              <a:xfrm>
                <a:off x="1651088" y="2041577"/>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39"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cxnSp>
        <p:nvCxnSpPr>
          <p:cNvPr id="41" name="Straight Arrow Connector 40"/>
          <p:cNvCxnSpPr/>
          <p:nvPr/>
        </p:nvCxnSpPr>
        <p:spPr>
          <a:xfrm>
            <a:off x="7631114" y="1987550"/>
            <a:ext cx="1317625" cy="495300"/>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2" name="Group 41"/>
          <p:cNvGrpSpPr>
            <a:grpSpLocks/>
          </p:cNvGrpSpPr>
          <p:nvPr/>
        </p:nvGrpSpPr>
        <p:grpSpPr bwMode="auto">
          <a:xfrm>
            <a:off x="7319964" y="1822451"/>
            <a:ext cx="1785937" cy="987425"/>
            <a:chOff x="6093086" y="4053923"/>
            <a:chExt cx="1786302" cy="987943"/>
          </a:xfrm>
        </p:grpSpPr>
        <p:sp>
          <p:nvSpPr>
            <p:cNvPr id="12334" name="Text Box 62"/>
            <p:cNvSpPr txBox="1">
              <a:spLocks noChangeArrowheads="1"/>
            </p:cNvSpPr>
            <p:nvPr/>
          </p:nvSpPr>
          <p:spPr bwMode="auto">
            <a:xfrm>
              <a:off x="6093086" y="4053923"/>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12335" name="Text Box 62"/>
            <p:cNvSpPr txBox="1">
              <a:spLocks noChangeArrowheads="1"/>
            </p:cNvSpPr>
            <p:nvPr/>
          </p:nvSpPr>
          <p:spPr bwMode="auto">
            <a:xfrm>
              <a:off x="7511088" y="4675154"/>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sp>
        <p:nvSpPr>
          <p:cNvPr id="45" name="Rectangle 44"/>
          <p:cNvSpPr>
            <a:spLocks noChangeArrowheads="1"/>
          </p:cNvSpPr>
          <p:nvPr/>
        </p:nvSpPr>
        <p:spPr bwMode="auto">
          <a:xfrm>
            <a:off x="9124950" y="1341438"/>
            <a:ext cx="350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46" name="Group 45"/>
          <p:cNvGrpSpPr>
            <a:grpSpLocks/>
          </p:cNvGrpSpPr>
          <p:nvPr/>
        </p:nvGrpSpPr>
        <p:grpSpPr bwMode="auto">
          <a:xfrm rot="1300514">
            <a:off x="7539039" y="2286000"/>
            <a:ext cx="1290637" cy="369888"/>
            <a:chOff x="6957609" y="6001363"/>
            <a:chExt cx="1291578" cy="369332"/>
          </a:xfrm>
        </p:grpSpPr>
        <p:grpSp>
          <p:nvGrpSpPr>
            <p:cNvPr id="12329" name="Group 46"/>
            <p:cNvGrpSpPr>
              <a:grpSpLocks/>
            </p:cNvGrpSpPr>
            <p:nvPr/>
          </p:nvGrpSpPr>
          <p:grpSpPr bwMode="auto">
            <a:xfrm>
              <a:off x="6957609" y="6001363"/>
              <a:ext cx="1291578" cy="369332"/>
              <a:chOff x="1547663" y="1997075"/>
              <a:chExt cx="1291578" cy="369332"/>
            </a:xfrm>
          </p:grpSpPr>
          <p:cxnSp>
            <p:nvCxnSpPr>
              <p:cNvPr id="50" name="Straight Arrow Connector 49"/>
              <p:cNvCxnSpPr/>
              <p:nvPr/>
            </p:nvCxnSpPr>
            <p:spPr bwMode="auto">
              <a:xfrm>
                <a:off x="1642325" y="2032808"/>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33" name="TextBox 6"/>
              <p:cNvSpPr txBox="1">
                <a:spLocks noChangeArrowheads="1"/>
              </p:cNvSpPr>
              <p:nvPr/>
            </p:nvSpPr>
            <p:spPr bwMode="auto">
              <a:xfrm>
                <a:off x="1547663" y="1997075"/>
                <a:ext cx="12915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 = A + B</a:t>
                </a:r>
                <a:endParaRPr lang="en-IN" altLang="en-US">
                  <a:solidFill>
                    <a:srgbClr val="FFCCFF"/>
                  </a:solidFill>
                </a:endParaRPr>
              </a:p>
            </p:txBody>
          </p:sp>
        </p:grpSp>
        <p:cxnSp>
          <p:nvCxnSpPr>
            <p:cNvPr id="48" name="Straight Arrow Connector 47"/>
            <p:cNvCxnSpPr/>
            <p:nvPr/>
          </p:nvCxnSpPr>
          <p:spPr bwMode="auto">
            <a:xfrm>
              <a:off x="7445202" y="6045024"/>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bwMode="auto">
            <a:xfrm>
              <a:off x="7860866" y="6045643"/>
              <a:ext cx="17157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9" name="Group 58"/>
          <p:cNvGrpSpPr>
            <a:grpSpLocks/>
          </p:cNvGrpSpPr>
          <p:nvPr/>
        </p:nvGrpSpPr>
        <p:grpSpPr bwMode="auto">
          <a:xfrm>
            <a:off x="1822451" y="768350"/>
            <a:ext cx="8234363" cy="369888"/>
            <a:chOff x="298648" y="179348"/>
            <a:chExt cx="8233792" cy="369332"/>
          </a:xfrm>
        </p:grpSpPr>
        <p:sp>
          <p:nvSpPr>
            <p:cNvPr id="12326" name="Rectangle 1"/>
            <p:cNvSpPr>
              <a:spLocks noChangeArrowheads="1"/>
            </p:cNvSpPr>
            <p:nvPr/>
          </p:nvSpPr>
          <p:spPr bwMode="auto">
            <a:xfrm>
              <a:off x="298648" y="179348"/>
              <a:ext cx="82337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2D050"/>
                  </a:solidFill>
                </a:rPr>
                <a:t>The Resultant vector will be the same even if A is shifted to place on B.</a:t>
              </a:r>
              <a:endParaRPr lang="en-IN" altLang="en-US" b="1">
                <a:solidFill>
                  <a:srgbClr val="92D050"/>
                </a:solidFill>
              </a:endParaRPr>
            </a:p>
          </p:txBody>
        </p:sp>
        <p:cxnSp>
          <p:nvCxnSpPr>
            <p:cNvPr id="53" name="Straight Arrow Connector 52"/>
            <p:cNvCxnSpPr/>
            <p:nvPr/>
          </p:nvCxnSpPr>
          <p:spPr bwMode="auto">
            <a:xfrm>
              <a:off x="5310038" y="233242"/>
              <a:ext cx="17143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7862561" y="228487"/>
              <a:ext cx="17143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8" name="Group 57"/>
          <p:cNvGrpSpPr>
            <a:grpSpLocks/>
          </p:cNvGrpSpPr>
          <p:nvPr/>
        </p:nvGrpSpPr>
        <p:grpSpPr bwMode="auto">
          <a:xfrm>
            <a:off x="1858964" y="3130550"/>
            <a:ext cx="7477125" cy="369888"/>
            <a:chOff x="298648" y="2339588"/>
            <a:chExt cx="7477900" cy="368777"/>
          </a:xfrm>
        </p:grpSpPr>
        <p:sp>
          <p:nvSpPr>
            <p:cNvPr id="12323" name="Rectangle 51"/>
            <p:cNvSpPr>
              <a:spLocks noChangeArrowheads="1"/>
            </p:cNvSpPr>
            <p:nvPr/>
          </p:nvSpPr>
          <p:spPr bwMode="auto">
            <a:xfrm>
              <a:off x="298648" y="2339588"/>
              <a:ext cx="7477900"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b="1" dirty="0">
                  <a:solidFill>
                    <a:srgbClr val="2D2D8A">
                      <a:lumMod val="40000"/>
                      <a:lumOff val="60000"/>
                    </a:srgbClr>
                  </a:solidFill>
                  <a:latin typeface="Arial" panose="020B0604020202020204" pitchFamily="34" charset="0"/>
                  <a:cs typeface="Arial" panose="020B0604020202020204" pitchFamily="34" charset="0"/>
                </a:rPr>
                <a:t>Note that the resultant R is equal in both magnitude and direction.</a:t>
              </a:r>
              <a:endParaRPr lang="en-IN" b="1" dirty="0">
                <a:solidFill>
                  <a:srgbClr val="2D2D8A">
                    <a:lumMod val="40000"/>
                    <a:lumOff val="60000"/>
                  </a:srgbClr>
                </a:solidFill>
                <a:latin typeface="Arial" panose="020B0604020202020204" pitchFamily="34" charset="0"/>
                <a:cs typeface="Arial" panose="020B0604020202020204" pitchFamily="34" charset="0"/>
              </a:endParaRPr>
            </a:p>
          </p:txBody>
        </p:sp>
        <p:cxnSp>
          <p:nvCxnSpPr>
            <p:cNvPr id="57" name="Straight Arrow Connector 56"/>
            <p:cNvCxnSpPr/>
            <p:nvPr/>
          </p:nvCxnSpPr>
          <p:spPr bwMode="auto">
            <a:xfrm>
              <a:off x="2888128" y="2361746"/>
              <a:ext cx="1714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3" name="Group 72"/>
          <p:cNvGrpSpPr>
            <a:grpSpLocks/>
          </p:cNvGrpSpPr>
          <p:nvPr/>
        </p:nvGrpSpPr>
        <p:grpSpPr bwMode="auto">
          <a:xfrm>
            <a:off x="3114676" y="3576639"/>
            <a:ext cx="2117725" cy="369887"/>
            <a:chOff x="1590757" y="2793556"/>
            <a:chExt cx="2117147" cy="370151"/>
          </a:xfrm>
        </p:grpSpPr>
        <p:grpSp>
          <p:nvGrpSpPr>
            <p:cNvPr id="12314" name="Group 71"/>
            <p:cNvGrpSpPr>
              <a:grpSpLocks/>
            </p:cNvGrpSpPr>
            <p:nvPr/>
          </p:nvGrpSpPr>
          <p:grpSpPr bwMode="auto">
            <a:xfrm>
              <a:off x="2645797" y="2794375"/>
              <a:ext cx="1062107" cy="369332"/>
              <a:chOff x="3523340" y="2978222"/>
              <a:chExt cx="1062107" cy="369332"/>
            </a:xfrm>
          </p:grpSpPr>
          <p:sp>
            <p:nvSpPr>
              <p:cNvPr id="12321" name="TextBox 6"/>
              <p:cNvSpPr txBox="1">
                <a:spLocks noChangeArrowheads="1"/>
              </p:cNvSpPr>
              <p:nvPr/>
            </p:nvSpPr>
            <p:spPr bwMode="auto">
              <a:xfrm>
                <a:off x="3523340" y="2978222"/>
                <a:ext cx="1062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B + A</a:t>
                </a:r>
                <a:endParaRPr lang="en-IN" altLang="en-US" b="1">
                  <a:solidFill>
                    <a:srgbClr val="FF00FF"/>
                  </a:solidFill>
                </a:endParaRPr>
              </a:p>
            </p:txBody>
          </p:sp>
          <p:cxnSp>
            <p:nvCxnSpPr>
              <p:cNvPr id="62" name="Straight Arrow Connector 61"/>
              <p:cNvCxnSpPr/>
              <p:nvPr/>
            </p:nvCxnSpPr>
            <p:spPr bwMode="auto">
              <a:xfrm>
                <a:off x="3806198" y="3029828"/>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bwMode="auto">
              <a:xfrm>
                <a:off x="4214073" y="3025062"/>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315" name="Group 65"/>
            <p:cNvGrpSpPr>
              <a:grpSpLocks/>
            </p:cNvGrpSpPr>
            <p:nvPr/>
          </p:nvGrpSpPr>
          <p:grpSpPr bwMode="auto">
            <a:xfrm>
              <a:off x="1590757" y="2793556"/>
              <a:ext cx="1291578" cy="369332"/>
              <a:chOff x="6957609" y="6001363"/>
              <a:chExt cx="1291578" cy="369332"/>
            </a:xfrm>
          </p:grpSpPr>
          <p:grpSp>
            <p:nvGrpSpPr>
              <p:cNvPr id="12316" name="Group 66"/>
              <p:cNvGrpSpPr>
                <a:grpSpLocks/>
              </p:cNvGrpSpPr>
              <p:nvPr/>
            </p:nvGrpSpPr>
            <p:grpSpPr bwMode="auto">
              <a:xfrm>
                <a:off x="6957609" y="6001363"/>
                <a:ext cx="1291578" cy="369332"/>
                <a:chOff x="1547663" y="1997075"/>
                <a:chExt cx="1291578" cy="369332"/>
              </a:xfrm>
            </p:grpSpPr>
            <p:cxnSp>
              <p:nvCxnSpPr>
                <p:cNvPr id="70" name="Straight Arrow Connector 69"/>
                <p:cNvCxnSpPr/>
                <p:nvPr/>
              </p:nvCxnSpPr>
              <p:spPr bwMode="auto">
                <a:xfrm>
                  <a:off x="1650823" y="2041557"/>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20" name="TextBox 6"/>
                <p:cNvSpPr txBox="1">
                  <a:spLocks noChangeArrowheads="1"/>
                </p:cNvSpPr>
                <p:nvPr/>
              </p:nvSpPr>
              <p:spPr bwMode="auto">
                <a:xfrm>
                  <a:off x="1547663" y="1997075"/>
                  <a:ext cx="12915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R = A + B</a:t>
                  </a:r>
                  <a:endParaRPr lang="en-IN" altLang="en-US" b="1">
                    <a:solidFill>
                      <a:srgbClr val="FF00FF"/>
                    </a:solidFill>
                  </a:endParaRPr>
                </a:p>
              </p:txBody>
            </p:sp>
          </p:grpSp>
          <p:cxnSp>
            <p:nvCxnSpPr>
              <p:cNvPr id="68" name="Straight Arrow Connector 67"/>
              <p:cNvCxnSpPr/>
              <p:nvPr/>
            </p:nvCxnSpPr>
            <p:spPr bwMode="auto">
              <a:xfrm>
                <a:off x="7455948" y="6052199"/>
                <a:ext cx="17299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bwMode="auto">
              <a:xfrm>
                <a:off x="7865411" y="6047433"/>
                <a:ext cx="17140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75" name="Rectangle 74"/>
          <p:cNvSpPr>
            <a:spLocks noChangeArrowheads="1"/>
          </p:cNvSpPr>
          <p:nvPr/>
        </p:nvSpPr>
        <p:spPr bwMode="auto">
          <a:xfrm>
            <a:off x="1847851" y="3937000"/>
            <a:ext cx="7967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99"/>
                </a:solidFill>
              </a:rPr>
              <a:t>The above relation of addition proves that the vectors are </a:t>
            </a:r>
            <a:r>
              <a:rPr lang="en-US" altLang="en-US" b="1">
                <a:solidFill>
                  <a:srgbClr val="FF00FF"/>
                </a:solidFill>
              </a:rPr>
              <a:t>commutative</a:t>
            </a:r>
            <a:r>
              <a:rPr lang="en-US" altLang="en-US" b="1">
                <a:solidFill>
                  <a:srgbClr val="FFFF99"/>
                </a:solidFill>
              </a:rPr>
              <a:t>.</a:t>
            </a:r>
            <a:endParaRPr lang="en-IN" altLang="en-US" b="1">
              <a:solidFill>
                <a:srgbClr val="FFFF99"/>
              </a:solidFill>
            </a:endParaRPr>
          </a:p>
        </p:txBody>
      </p:sp>
      <p:sp>
        <p:nvSpPr>
          <p:cNvPr id="150" name="Rectangle 149"/>
          <p:cNvSpPr/>
          <p:nvPr/>
        </p:nvSpPr>
        <p:spPr>
          <a:xfrm>
            <a:off x="1833564" y="273050"/>
            <a:ext cx="4243387" cy="401638"/>
          </a:xfrm>
          <a:prstGeom prst="rect">
            <a:avLst/>
          </a:prstGeom>
        </p:spPr>
        <p:txBody>
          <a:bodyPr wrap="none">
            <a:spAutoFit/>
          </a:bodyPr>
          <a:lstStyle/>
          <a:p>
            <a:pPr fontAlgn="base">
              <a:spcBef>
                <a:spcPct val="0"/>
              </a:spcBef>
              <a:spcAft>
                <a:spcPct val="0"/>
              </a:spcAft>
              <a:defRPr/>
            </a:pPr>
            <a:r>
              <a:rPr lang="en-US" sz="2000" b="1" dirty="0">
                <a:solidFill>
                  <a:srgbClr val="FFC000"/>
                </a:solidFill>
                <a:latin typeface="Arial"/>
                <a:ea typeface="Times New Roman" pitchFamily="18" charset="0"/>
                <a:cs typeface="Bookman-Light" charset="0"/>
              </a:rPr>
              <a:t>Commutative Property of Vectors</a:t>
            </a:r>
            <a:endParaRPr lang="en-IN" sz="2000" b="1" dirty="0">
              <a:solidFill>
                <a:srgbClr val="FFC000"/>
              </a:solidFill>
              <a:latin typeface="Arial"/>
              <a:cs typeface="Arial" panose="020B0604020202020204" pitchFamily="34" charset="0"/>
            </a:endParaRPr>
          </a:p>
        </p:txBody>
      </p:sp>
      <p:sp>
        <p:nvSpPr>
          <p:cNvPr id="12312" name="Rectangle 1"/>
          <p:cNvSpPr>
            <a:spLocks noChangeArrowheads="1"/>
          </p:cNvSpPr>
          <p:nvPr/>
        </p:nvSpPr>
        <p:spPr bwMode="auto">
          <a:xfrm>
            <a:off x="1858964" y="4522789"/>
            <a:ext cx="831373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The property that the vector addition is independent of the order in which the vectors are added is called the commutative property of vector addition.</a:t>
            </a:r>
            <a:endParaRPr lang="en-IN" altLang="en-US" b="1">
              <a:solidFill>
                <a:srgbClr val="0099FF"/>
              </a:solidFill>
            </a:endParaRPr>
          </a:p>
        </p:txBody>
      </p:sp>
      <p:sp>
        <p:nvSpPr>
          <p:cNvPr id="12310" name="TextBox 70"/>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12311" name="TextBox 71"/>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 name="TextBox 73"/>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grpSp>
        <p:nvGrpSpPr>
          <p:cNvPr id="72" name="Group 159"/>
          <p:cNvGrpSpPr>
            <a:grpSpLocks/>
          </p:cNvGrpSpPr>
          <p:nvPr/>
        </p:nvGrpSpPr>
        <p:grpSpPr bwMode="auto">
          <a:xfrm>
            <a:off x="2855641" y="3668009"/>
            <a:ext cx="152437" cy="152698"/>
            <a:chOff x="3168" y="1392"/>
            <a:chExt cx="144" cy="144"/>
          </a:xfrm>
          <a:solidFill>
            <a:srgbClr val="FF0000"/>
          </a:solidFill>
        </p:grpSpPr>
        <p:sp>
          <p:nvSpPr>
            <p:cNvPr id="90" name="Oval 160"/>
            <p:cNvSpPr>
              <a:spLocks noChangeArrowheads="1"/>
            </p:cNvSpPr>
            <p:nvPr/>
          </p:nvSpPr>
          <p:spPr bwMode="auto">
            <a:xfrm>
              <a:off x="3168" y="1488"/>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sp>
          <p:nvSpPr>
            <p:cNvPr id="91" name="Oval 161"/>
            <p:cNvSpPr>
              <a:spLocks noChangeArrowheads="1"/>
            </p:cNvSpPr>
            <p:nvPr/>
          </p:nvSpPr>
          <p:spPr bwMode="auto">
            <a:xfrm>
              <a:off x="3264" y="1488"/>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sp>
          <p:nvSpPr>
            <p:cNvPr id="92" name="Oval 162"/>
            <p:cNvSpPr>
              <a:spLocks noChangeArrowheads="1"/>
            </p:cNvSpPr>
            <p:nvPr/>
          </p:nvSpPr>
          <p:spPr bwMode="auto">
            <a:xfrm>
              <a:off x="3216" y="1392"/>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435089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p:cTn id="7" dur="500" fill="hold"/>
                                        <p:tgtEl>
                                          <p:spTgt spid="150"/>
                                        </p:tgtEl>
                                        <p:attrNameLst>
                                          <p:attrName>ppt_w</p:attrName>
                                        </p:attrNameLst>
                                      </p:cBhvr>
                                      <p:tavLst>
                                        <p:tav tm="0">
                                          <p:val>
                                            <p:fltVal val="0"/>
                                          </p:val>
                                        </p:tav>
                                        <p:tav tm="100000">
                                          <p:val>
                                            <p:strVal val="#ppt_w"/>
                                          </p:val>
                                        </p:tav>
                                      </p:tavLst>
                                    </p:anim>
                                    <p:anim calcmode="lin" valueType="num">
                                      <p:cBhvr>
                                        <p:cTn id="8" dur="500" fill="hold"/>
                                        <p:tgtEl>
                                          <p:spTgt spid="150"/>
                                        </p:tgtEl>
                                        <p:attrNameLst>
                                          <p:attrName>ppt_h</p:attrName>
                                        </p:attrNameLst>
                                      </p:cBhvr>
                                      <p:tavLst>
                                        <p:tav tm="0">
                                          <p:val>
                                            <p:fltVal val="0"/>
                                          </p:val>
                                        </p:tav>
                                        <p:tav tm="100000">
                                          <p:val>
                                            <p:strVal val="#ppt_h"/>
                                          </p:val>
                                        </p:tav>
                                      </p:tavLst>
                                    </p:anim>
                                    <p:animEffect transition="in" filter="fade">
                                      <p:cBhvr>
                                        <p:cTn id="9" dur="500"/>
                                        <p:tgtEl>
                                          <p:spTgt spid="15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left)">
                                      <p:cBhvr>
                                        <p:cTn id="14" dur="500"/>
                                        <p:tgtEl>
                                          <p:spTgt spid="5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up)">
                                      <p:cBhvr>
                                        <p:cTn id="24" dur="500"/>
                                        <p:tgtEl>
                                          <p:spTgt spid="2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path" presetSubtype="0" accel="50000" decel="50000" fill="hold" nodeType="clickEffect">
                                  <p:stCondLst>
                                    <p:cond delay="0"/>
                                  </p:stCondLst>
                                  <p:childTnLst>
                                    <p:animMotion origin="layout" path="M 3.05556E-6 -4.44444E-6 L 0.21406 0.06158 " pathEditMode="relative" rAng="0" ptsTypes="AA">
                                      <p:cBhvr>
                                        <p:cTn id="28" dur="2000" fill="hold"/>
                                        <p:tgtEl>
                                          <p:spTgt spid="3"/>
                                        </p:tgtEl>
                                        <p:attrNameLst>
                                          <p:attrName>ppt_x</p:attrName>
                                          <p:attrName>ppt_y</p:attrName>
                                        </p:attrNameLst>
                                      </p:cBhvr>
                                      <p:rCtr x="10694" y="3079"/>
                                    </p:animMotion>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par>
                          <p:cTn id="39" fill="hold" nodeType="afterGroup">
                            <p:stCondLst>
                              <p:cond delay="500"/>
                            </p:stCondLst>
                            <p:childTnLst>
                              <p:par>
                                <p:cTn id="40" presetID="53" presetClass="entr" presetSubtype="16"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childTnLst>
                          </p:cTn>
                        </p:par>
                        <p:par>
                          <p:cTn id="45" fill="hold" nodeType="afterGroup">
                            <p:stCondLst>
                              <p:cond delay="1000"/>
                            </p:stCondLst>
                            <p:childTnLst>
                              <p:par>
                                <p:cTn id="46" presetID="53" presetClass="entr" presetSubtype="16"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fltVal val="0"/>
                                          </p:val>
                                        </p:tav>
                                        <p:tav tm="100000">
                                          <p:val>
                                            <p:strVal val="#ppt_w"/>
                                          </p:val>
                                        </p:tav>
                                      </p:tavLst>
                                    </p:anim>
                                    <p:anim calcmode="lin" valueType="num">
                                      <p:cBhvr>
                                        <p:cTn id="49" dur="500" fill="hold"/>
                                        <p:tgtEl>
                                          <p:spTgt spid="18"/>
                                        </p:tgtEl>
                                        <p:attrNameLst>
                                          <p:attrName>ppt_h</p:attrName>
                                        </p:attrNameLst>
                                      </p:cBhvr>
                                      <p:tavLst>
                                        <p:tav tm="0">
                                          <p:val>
                                            <p:fltVal val="0"/>
                                          </p:val>
                                        </p:tav>
                                        <p:tav tm="100000">
                                          <p:val>
                                            <p:strVal val="#ppt_h"/>
                                          </p:val>
                                        </p:tav>
                                      </p:tavLst>
                                    </p:anim>
                                    <p:animEffect transition="in" filter="fade">
                                      <p:cBhvr>
                                        <p:cTn id="50" dur="500"/>
                                        <p:tgtEl>
                                          <p:spTgt spid="1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down)">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up)">
                                      <p:cBhvr>
                                        <p:cTn id="60" dur="500"/>
                                        <p:tgtEl>
                                          <p:spTgt spid="3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42" presetClass="path" presetSubtype="0" accel="50000" decel="50000" fill="hold" nodeType="withEffect">
                                  <p:stCondLst>
                                    <p:cond delay="0"/>
                                  </p:stCondLst>
                                  <p:childTnLst>
                                    <p:animMotion origin="layout" path="M -3.88889E-6 3.7037E-7 L -0.07343 0.01505 " pathEditMode="relative" rAng="0" ptsTypes="AA">
                                      <p:cBhvr>
                                        <p:cTn id="66" dur="2000" fill="hold"/>
                                        <p:tgtEl>
                                          <p:spTgt spid="36"/>
                                        </p:tgtEl>
                                        <p:attrNameLst>
                                          <p:attrName>ppt_x</p:attrName>
                                          <p:attrName>ppt_y</p:attrName>
                                        </p:attrNameLst>
                                      </p:cBhvr>
                                      <p:rCtr x="-3681" y="741"/>
                                    </p:animMotion>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up)">
                                      <p:cBhvr>
                                        <p:cTn id="71" dur="500"/>
                                        <p:tgtEl>
                                          <p:spTgt spid="41"/>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par>
                          <p:cTn id="75" fill="hold" nodeType="afterGroup">
                            <p:stCondLst>
                              <p:cond delay="500"/>
                            </p:stCondLst>
                            <p:childTnLst>
                              <p:par>
                                <p:cTn id="76" presetID="53" presetClass="entr" presetSubtype="16" fill="hold" nodeType="afterEffect">
                                  <p:stCondLst>
                                    <p:cond delay="0"/>
                                  </p:stCondLst>
                                  <p:childTnLst>
                                    <p:set>
                                      <p:cBhvr>
                                        <p:cTn id="77" dur="1" fill="hold">
                                          <p:stCondLst>
                                            <p:cond delay="0"/>
                                          </p:stCondLst>
                                        </p:cTn>
                                        <p:tgtEl>
                                          <p:spTgt spid="46"/>
                                        </p:tgtEl>
                                        <p:attrNameLst>
                                          <p:attrName>style.visibility</p:attrName>
                                        </p:attrNameLst>
                                      </p:cBhvr>
                                      <p:to>
                                        <p:strVal val="visible"/>
                                      </p:to>
                                    </p:set>
                                    <p:anim calcmode="lin" valueType="num">
                                      <p:cBhvr>
                                        <p:cTn id="78" dur="500" fill="hold"/>
                                        <p:tgtEl>
                                          <p:spTgt spid="46"/>
                                        </p:tgtEl>
                                        <p:attrNameLst>
                                          <p:attrName>ppt_w</p:attrName>
                                        </p:attrNameLst>
                                      </p:cBhvr>
                                      <p:tavLst>
                                        <p:tav tm="0">
                                          <p:val>
                                            <p:fltVal val="0"/>
                                          </p:val>
                                        </p:tav>
                                        <p:tav tm="100000">
                                          <p:val>
                                            <p:strVal val="#ppt_w"/>
                                          </p:val>
                                        </p:tav>
                                      </p:tavLst>
                                    </p:anim>
                                    <p:anim calcmode="lin" valueType="num">
                                      <p:cBhvr>
                                        <p:cTn id="79" dur="500" fill="hold"/>
                                        <p:tgtEl>
                                          <p:spTgt spid="46"/>
                                        </p:tgtEl>
                                        <p:attrNameLst>
                                          <p:attrName>ppt_h</p:attrName>
                                        </p:attrNameLst>
                                      </p:cBhvr>
                                      <p:tavLst>
                                        <p:tav tm="0">
                                          <p:val>
                                            <p:fltVal val="0"/>
                                          </p:val>
                                        </p:tav>
                                        <p:tav tm="100000">
                                          <p:val>
                                            <p:strVal val="#ppt_h"/>
                                          </p:val>
                                        </p:tav>
                                      </p:tavLst>
                                    </p:anim>
                                    <p:animEffect transition="in" filter="fade">
                                      <p:cBhvr>
                                        <p:cTn id="80" dur="500"/>
                                        <p:tgtEl>
                                          <p:spTgt spid="46"/>
                                        </p:tgtEl>
                                      </p:cBhvr>
                                    </p:animEffect>
                                  </p:childTnLst>
                                </p:cTn>
                              </p:par>
                            </p:childTnLst>
                          </p:cTn>
                        </p:par>
                        <p:par>
                          <p:cTn id="81" fill="hold" nodeType="afterGroup">
                            <p:stCondLst>
                              <p:cond delay="1000"/>
                            </p:stCondLst>
                            <p:childTnLst>
                              <p:par>
                                <p:cTn id="82" presetID="1" presetClass="entr" presetSubtype="0" fill="hold" grpId="0" nodeType="afterEffect">
                                  <p:stCondLst>
                                    <p:cond delay="0"/>
                                  </p:stCondLst>
                                  <p:childTnLst>
                                    <p:set>
                                      <p:cBhvr>
                                        <p:cTn id="83" dur="1" fill="hold">
                                          <p:stCondLst>
                                            <p:cond delay="0"/>
                                          </p:stCondLst>
                                        </p:cTn>
                                        <p:tgtEl>
                                          <p:spTgt spid="45"/>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wipe(left)">
                                      <p:cBhvr>
                                        <p:cTn id="88" dur="500"/>
                                        <p:tgtEl>
                                          <p:spTgt spid="5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16" fill="hold" nodeType="clickEffect">
                                  <p:stCondLst>
                                    <p:cond delay="0"/>
                                  </p:stCondLst>
                                  <p:childTnLst>
                                    <p:set>
                                      <p:cBhvr>
                                        <p:cTn id="92" dur="1" fill="hold">
                                          <p:stCondLst>
                                            <p:cond delay="0"/>
                                          </p:stCondLst>
                                        </p:cTn>
                                        <p:tgtEl>
                                          <p:spTgt spid="72"/>
                                        </p:tgtEl>
                                        <p:attrNameLst>
                                          <p:attrName>style.visibility</p:attrName>
                                        </p:attrNameLst>
                                      </p:cBhvr>
                                      <p:to>
                                        <p:strVal val="visible"/>
                                      </p:to>
                                    </p:set>
                                    <p:anim calcmode="lin" valueType="num">
                                      <p:cBhvr>
                                        <p:cTn id="93" dur="500" fill="hold"/>
                                        <p:tgtEl>
                                          <p:spTgt spid="72"/>
                                        </p:tgtEl>
                                        <p:attrNameLst>
                                          <p:attrName>ppt_w</p:attrName>
                                        </p:attrNameLst>
                                      </p:cBhvr>
                                      <p:tavLst>
                                        <p:tav tm="0">
                                          <p:val>
                                            <p:fltVal val="0"/>
                                          </p:val>
                                        </p:tav>
                                        <p:tav tm="100000">
                                          <p:val>
                                            <p:strVal val="#ppt_w"/>
                                          </p:val>
                                        </p:tav>
                                      </p:tavLst>
                                    </p:anim>
                                    <p:anim calcmode="lin" valueType="num">
                                      <p:cBhvr>
                                        <p:cTn id="94" dur="500" fill="hold"/>
                                        <p:tgtEl>
                                          <p:spTgt spid="72"/>
                                        </p:tgtEl>
                                        <p:attrNameLst>
                                          <p:attrName>ppt_h</p:attrName>
                                        </p:attrNameLst>
                                      </p:cBhvr>
                                      <p:tavLst>
                                        <p:tav tm="0">
                                          <p:val>
                                            <p:fltVal val="0"/>
                                          </p:val>
                                        </p:tav>
                                        <p:tav tm="100000">
                                          <p:val>
                                            <p:strVal val="#ppt_h"/>
                                          </p:val>
                                        </p:tav>
                                      </p:tavLst>
                                    </p:anim>
                                    <p:animEffect transition="in" filter="fade">
                                      <p:cBhvr>
                                        <p:cTn id="95" dur="500"/>
                                        <p:tgtEl>
                                          <p:spTgt spid="72"/>
                                        </p:tgtEl>
                                      </p:cBhvr>
                                    </p:animEffect>
                                  </p:childTnLst>
                                </p:cTn>
                              </p:par>
                            </p:childTnLst>
                          </p:cTn>
                        </p:par>
                        <p:par>
                          <p:cTn id="96" fill="hold" nodeType="afterGroup">
                            <p:stCondLst>
                              <p:cond delay="500"/>
                            </p:stCondLst>
                            <p:childTnLst>
                              <p:par>
                                <p:cTn id="97" presetID="22" presetClass="entr" presetSubtype="8" fill="hold" nodeType="afterEffect">
                                  <p:stCondLst>
                                    <p:cond delay="0"/>
                                  </p:stCondLst>
                                  <p:childTnLst>
                                    <p:set>
                                      <p:cBhvr>
                                        <p:cTn id="98" dur="1" fill="hold">
                                          <p:stCondLst>
                                            <p:cond delay="0"/>
                                          </p:stCondLst>
                                        </p:cTn>
                                        <p:tgtEl>
                                          <p:spTgt spid="73"/>
                                        </p:tgtEl>
                                        <p:attrNameLst>
                                          <p:attrName>style.visibility</p:attrName>
                                        </p:attrNameLst>
                                      </p:cBhvr>
                                      <p:to>
                                        <p:strVal val="visible"/>
                                      </p:to>
                                    </p:set>
                                    <p:animEffect transition="in" filter="wipe(left)">
                                      <p:cBhvr>
                                        <p:cTn id="99" dur="500"/>
                                        <p:tgtEl>
                                          <p:spTgt spid="73"/>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75"/>
                                        </p:tgtEl>
                                        <p:attrNameLst>
                                          <p:attrName>style.visibility</p:attrName>
                                        </p:attrNameLst>
                                      </p:cBhvr>
                                      <p:to>
                                        <p:strVal val="visible"/>
                                      </p:to>
                                    </p:set>
                                    <p:anim calcmode="lin" valueType="num">
                                      <p:cBhvr>
                                        <p:cTn id="104" dur="500" fill="hold"/>
                                        <p:tgtEl>
                                          <p:spTgt spid="75"/>
                                        </p:tgtEl>
                                        <p:attrNameLst>
                                          <p:attrName>ppt_w</p:attrName>
                                        </p:attrNameLst>
                                      </p:cBhvr>
                                      <p:tavLst>
                                        <p:tav tm="0">
                                          <p:val>
                                            <p:fltVal val="0"/>
                                          </p:val>
                                        </p:tav>
                                        <p:tav tm="100000">
                                          <p:val>
                                            <p:strVal val="#ppt_w"/>
                                          </p:val>
                                        </p:tav>
                                      </p:tavLst>
                                    </p:anim>
                                    <p:anim calcmode="lin" valueType="num">
                                      <p:cBhvr>
                                        <p:cTn id="105" dur="500" fill="hold"/>
                                        <p:tgtEl>
                                          <p:spTgt spid="75"/>
                                        </p:tgtEl>
                                        <p:attrNameLst>
                                          <p:attrName>ppt_h</p:attrName>
                                        </p:attrNameLst>
                                      </p:cBhvr>
                                      <p:tavLst>
                                        <p:tav tm="0">
                                          <p:val>
                                            <p:fltVal val="0"/>
                                          </p:val>
                                        </p:tav>
                                        <p:tav tm="100000">
                                          <p:val>
                                            <p:strVal val="#ppt_h"/>
                                          </p:val>
                                        </p:tav>
                                      </p:tavLst>
                                    </p:anim>
                                    <p:animEffect transition="in" filter="fade">
                                      <p:cBhvr>
                                        <p:cTn id="106" dur="500"/>
                                        <p:tgtEl>
                                          <p:spTgt spid="75"/>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1" nodeType="clickEffect">
                                  <p:stCondLst>
                                    <p:cond delay="0"/>
                                  </p:stCondLst>
                                  <p:childTnLst>
                                    <p:set>
                                      <p:cBhvr>
                                        <p:cTn id="110" dur="1" fill="hold">
                                          <p:stCondLst>
                                            <p:cond delay="0"/>
                                          </p:stCondLst>
                                        </p:cTn>
                                        <p:tgtEl>
                                          <p:spTgt spid="12312"/>
                                        </p:tgtEl>
                                        <p:attrNameLst>
                                          <p:attrName>style.visibility</p:attrName>
                                        </p:attrNameLst>
                                      </p:cBhvr>
                                      <p:to>
                                        <p:strVal val="visible"/>
                                      </p:to>
                                    </p:set>
                                  </p:childTnLst>
                                </p:cTn>
                              </p:par>
                            </p:childTnLst>
                          </p:cTn>
                        </p:par>
                        <p:par>
                          <p:cTn id="111" fill="hold" nodeType="afterGroup">
                            <p:stCondLst>
                              <p:cond delay="0"/>
                            </p:stCondLst>
                            <p:childTnLst>
                              <p:par>
                                <p:cTn id="112" presetID="32" presetClass="emph" presetSubtype="0" fill="hold" grpId="0" nodeType="afterEffect">
                                  <p:stCondLst>
                                    <p:cond delay="0"/>
                                  </p:stCondLst>
                                  <p:childTnLst>
                                    <p:animRot by="120000">
                                      <p:cBhvr>
                                        <p:cTn id="113" dur="100" fill="hold">
                                          <p:stCondLst>
                                            <p:cond delay="0"/>
                                          </p:stCondLst>
                                        </p:cTn>
                                        <p:tgtEl>
                                          <p:spTgt spid="12312"/>
                                        </p:tgtEl>
                                        <p:attrNameLst>
                                          <p:attrName>r</p:attrName>
                                        </p:attrNameLst>
                                      </p:cBhvr>
                                    </p:animRot>
                                    <p:animRot by="-240000">
                                      <p:cBhvr>
                                        <p:cTn id="114" dur="200" fill="hold">
                                          <p:stCondLst>
                                            <p:cond delay="200"/>
                                          </p:stCondLst>
                                        </p:cTn>
                                        <p:tgtEl>
                                          <p:spTgt spid="12312"/>
                                        </p:tgtEl>
                                        <p:attrNameLst>
                                          <p:attrName>r</p:attrName>
                                        </p:attrNameLst>
                                      </p:cBhvr>
                                    </p:animRot>
                                    <p:animRot by="240000">
                                      <p:cBhvr>
                                        <p:cTn id="115" dur="200" fill="hold">
                                          <p:stCondLst>
                                            <p:cond delay="400"/>
                                          </p:stCondLst>
                                        </p:cTn>
                                        <p:tgtEl>
                                          <p:spTgt spid="12312"/>
                                        </p:tgtEl>
                                        <p:attrNameLst>
                                          <p:attrName>r</p:attrName>
                                        </p:attrNameLst>
                                      </p:cBhvr>
                                    </p:animRot>
                                    <p:animRot by="-240000">
                                      <p:cBhvr>
                                        <p:cTn id="116" dur="200" fill="hold">
                                          <p:stCondLst>
                                            <p:cond delay="600"/>
                                          </p:stCondLst>
                                        </p:cTn>
                                        <p:tgtEl>
                                          <p:spTgt spid="12312"/>
                                        </p:tgtEl>
                                        <p:attrNameLst>
                                          <p:attrName>r</p:attrName>
                                        </p:attrNameLst>
                                      </p:cBhvr>
                                    </p:animRot>
                                    <p:animRot by="120000">
                                      <p:cBhvr>
                                        <p:cTn id="117" dur="200" fill="hold">
                                          <p:stCondLst>
                                            <p:cond delay="800"/>
                                          </p:stCondLst>
                                        </p:cTn>
                                        <p:tgtEl>
                                          <p:spTgt spid="123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5" grpId="0"/>
      <p:bldP spid="75" grpId="0"/>
      <p:bldP spid="150" grpId="0"/>
      <p:bldP spid="12312" grpId="0"/>
      <p:bldP spid="12312" grpId="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Line 22"/>
          <p:cNvSpPr>
            <a:spLocks noChangeShapeType="1"/>
          </p:cNvSpPr>
          <p:nvPr/>
        </p:nvSpPr>
        <p:spPr bwMode="auto">
          <a:xfrm flipV="1">
            <a:off x="4548189" y="774700"/>
            <a:ext cx="346075" cy="801688"/>
          </a:xfrm>
          <a:prstGeom prst="line">
            <a:avLst/>
          </a:prstGeom>
          <a:noFill/>
          <a:ln w="28575">
            <a:solidFill>
              <a:srgbClr val="FF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53" name="Group 52"/>
          <p:cNvGrpSpPr>
            <a:grpSpLocks/>
          </p:cNvGrpSpPr>
          <p:nvPr/>
        </p:nvGrpSpPr>
        <p:grpSpPr bwMode="auto">
          <a:xfrm>
            <a:off x="2560638" y="657226"/>
            <a:ext cx="1682750" cy="542925"/>
            <a:chOff x="297025" y="4941168"/>
            <a:chExt cx="1682687" cy="543108"/>
          </a:xfrm>
        </p:grpSpPr>
        <p:sp>
          <p:nvSpPr>
            <p:cNvPr id="13445"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446" name="Group 54"/>
            <p:cNvGrpSpPr>
              <a:grpSpLocks/>
            </p:cNvGrpSpPr>
            <p:nvPr/>
          </p:nvGrpSpPr>
          <p:grpSpPr bwMode="auto">
            <a:xfrm>
              <a:off x="1057096" y="4941168"/>
              <a:ext cx="274544" cy="369888"/>
              <a:chOff x="1547664" y="1997075"/>
              <a:chExt cx="274544" cy="369888"/>
            </a:xfrm>
          </p:grpSpPr>
          <p:cxnSp>
            <p:nvCxnSpPr>
              <p:cNvPr id="56" name="Straight Arrow Connector 55"/>
              <p:cNvCxnSpPr/>
              <p:nvPr/>
            </p:nvCxnSpPr>
            <p:spPr bwMode="auto">
              <a:xfrm>
                <a:off x="1651161" y="204154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48" name="TextBox 5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58" name="Group 57"/>
          <p:cNvGrpSpPr>
            <a:grpSpLocks/>
          </p:cNvGrpSpPr>
          <p:nvPr/>
        </p:nvGrpSpPr>
        <p:grpSpPr bwMode="auto">
          <a:xfrm>
            <a:off x="4548189" y="787400"/>
            <a:ext cx="346075" cy="801688"/>
            <a:chOff x="8583834" y="3789040"/>
            <a:chExt cx="380654" cy="802071"/>
          </a:xfrm>
        </p:grpSpPr>
        <p:sp>
          <p:nvSpPr>
            <p:cNvPr id="13441"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442" name="Group 59"/>
            <p:cNvGrpSpPr>
              <a:grpSpLocks/>
            </p:cNvGrpSpPr>
            <p:nvPr/>
          </p:nvGrpSpPr>
          <p:grpSpPr bwMode="auto">
            <a:xfrm>
              <a:off x="8689944" y="4139232"/>
              <a:ext cx="274544" cy="369888"/>
              <a:chOff x="1547664" y="1997075"/>
              <a:chExt cx="274544" cy="369888"/>
            </a:xfrm>
          </p:grpSpPr>
          <p:cxnSp>
            <p:nvCxnSpPr>
              <p:cNvPr id="61" name="Straight Arrow Connector 60"/>
              <p:cNvCxnSpPr/>
              <p:nvPr/>
            </p:nvCxnSpPr>
            <p:spPr bwMode="auto">
              <a:xfrm>
                <a:off x="1651088" y="2040771"/>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4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cxnSp>
        <p:nvCxnSpPr>
          <p:cNvPr id="63" name="Straight Arrow Connector 62"/>
          <p:cNvCxnSpPr/>
          <p:nvPr/>
        </p:nvCxnSpPr>
        <p:spPr>
          <a:xfrm>
            <a:off x="2549526" y="1192214"/>
            <a:ext cx="1355725" cy="490537"/>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4" name="Group 63"/>
          <p:cNvGrpSpPr>
            <a:grpSpLocks/>
          </p:cNvGrpSpPr>
          <p:nvPr/>
        </p:nvGrpSpPr>
        <p:grpSpPr bwMode="auto">
          <a:xfrm>
            <a:off x="2263775" y="1038226"/>
            <a:ext cx="1879600" cy="962025"/>
            <a:chOff x="6093086" y="4053923"/>
            <a:chExt cx="1880431" cy="961049"/>
          </a:xfrm>
        </p:grpSpPr>
        <p:sp>
          <p:nvSpPr>
            <p:cNvPr id="13439" name="Text Box 62"/>
            <p:cNvSpPr txBox="1">
              <a:spLocks noChangeArrowheads="1"/>
            </p:cNvSpPr>
            <p:nvPr/>
          </p:nvSpPr>
          <p:spPr bwMode="auto">
            <a:xfrm>
              <a:off x="6093086" y="4053923"/>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13440" name="Text Box 62"/>
            <p:cNvSpPr txBox="1">
              <a:spLocks noChangeArrowheads="1"/>
            </p:cNvSpPr>
            <p:nvPr/>
          </p:nvSpPr>
          <p:spPr bwMode="auto">
            <a:xfrm>
              <a:off x="7605217" y="4648260"/>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sp>
        <p:nvSpPr>
          <p:cNvPr id="67" name="Rectangle 66"/>
          <p:cNvSpPr>
            <a:spLocks noChangeArrowheads="1"/>
          </p:cNvSpPr>
          <p:nvPr/>
        </p:nvSpPr>
        <p:spPr bwMode="auto">
          <a:xfrm>
            <a:off x="4067175" y="557213"/>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68" name="Group 67"/>
          <p:cNvGrpSpPr>
            <a:grpSpLocks/>
          </p:cNvGrpSpPr>
          <p:nvPr/>
        </p:nvGrpSpPr>
        <p:grpSpPr bwMode="auto">
          <a:xfrm>
            <a:off x="3143250" y="1233489"/>
            <a:ext cx="869950" cy="369887"/>
            <a:chOff x="3097303" y="1748125"/>
            <a:chExt cx="869374" cy="369332"/>
          </a:xfrm>
        </p:grpSpPr>
        <p:grpSp>
          <p:nvGrpSpPr>
            <p:cNvPr id="13435" name="Group 68"/>
            <p:cNvGrpSpPr>
              <a:grpSpLocks/>
            </p:cNvGrpSpPr>
            <p:nvPr/>
          </p:nvGrpSpPr>
          <p:grpSpPr bwMode="auto">
            <a:xfrm rot="1300514">
              <a:off x="3097303" y="1748125"/>
              <a:ext cx="869374" cy="369332"/>
              <a:chOff x="1547664" y="1997074"/>
              <a:chExt cx="869374" cy="369332"/>
            </a:xfrm>
          </p:grpSpPr>
          <p:cxnSp>
            <p:nvCxnSpPr>
              <p:cNvPr id="71" name="Straight Arrow Connector 70"/>
              <p:cNvCxnSpPr/>
              <p:nvPr/>
            </p:nvCxnSpPr>
            <p:spPr bwMode="auto">
              <a:xfrm>
                <a:off x="1645704" y="2040047"/>
                <a:ext cx="17133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38" name="TextBox 6"/>
              <p:cNvSpPr txBox="1">
                <a:spLocks noChangeArrowheads="1"/>
              </p:cNvSpPr>
              <p:nvPr/>
            </p:nvSpPr>
            <p:spPr bwMode="auto">
              <a:xfrm>
                <a:off x="1547664" y="1997074"/>
                <a:ext cx="869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 + B</a:t>
                </a:r>
                <a:endParaRPr lang="en-IN" altLang="en-US">
                  <a:solidFill>
                    <a:srgbClr val="FFCCFF"/>
                  </a:solidFill>
                </a:endParaRPr>
              </a:p>
            </p:txBody>
          </p:sp>
        </p:grpSp>
        <p:cxnSp>
          <p:nvCxnSpPr>
            <p:cNvPr id="70" name="Straight Arrow Connector 69"/>
            <p:cNvCxnSpPr/>
            <p:nvPr/>
          </p:nvCxnSpPr>
          <p:spPr bwMode="auto">
            <a:xfrm rot="1300514">
              <a:off x="3635110" y="1863838"/>
              <a:ext cx="17133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3" name="Group 72"/>
          <p:cNvGrpSpPr>
            <a:grpSpLocks/>
          </p:cNvGrpSpPr>
          <p:nvPr/>
        </p:nvGrpSpPr>
        <p:grpSpPr bwMode="auto">
          <a:xfrm>
            <a:off x="4284664" y="1719263"/>
            <a:ext cx="935037" cy="927100"/>
            <a:chOff x="6471102" y="3006064"/>
            <a:chExt cx="936104" cy="926992"/>
          </a:xfrm>
        </p:grpSpPr>
        <p:cxnSp>
          <p:nvCxnSpPr>
            <p:cNvPr id="74" name="Straight Arrow Connector 73"/>
            <p:cNvCxnSpPr/>
            <p:nvPr/>
          </p:nvCxnSpPr>
          <p:spPr>
            <a:xfrm flipH="1">
              <a:off x="6471102" y="3006064"/>
              <a:ext cx="936104" cy="926992"/>
            </a:xfrm>
            <a:prstGeom prst="straightConnector1">
              <a:avLst/>
            </a:prstGeom>
            <a:ln w="28575">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432" name="Group 74"/>
            <p:cNvGrpSpPr>
              <a:grpSpLocks/>
            </p:cNvGrpSpPr>
            <p:nvPr/>
          </p:nvGrpSpPr>
          <p:grpSpPr bwMode="auto">
            <a:xfrm>
              <a:off x="6948264" y="3419708"/>
              <a:ext cx="274544" cy="369332"/>
              <a:chOff x="1547664" y="1997075"/>
              <a:chExt cx="274544" cy="369332"/>
            </a:xfrm>
          </p:grpSpPr>
          <p:cxnSp>
            <p:nvCxnSpPr>
              <p:cNvPr id="76" name="Straight Arrow Connector 75"/>
              <p:cNvCxnSpPr/>
              <p:nvPr/>
            </p:nvCxnSpPr>
            <p:spPr bwMode="auto">
              <a:xfrm>
                <a:off x="1650600" y="2042165"/>
                <a:ext cx="17164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34" name="TextBox 6"/>
              <p:cNvSpPr txBox="1">
                <a:spLocks noChangeArrowheads="1"/>
              </p:cNvSpPr>
              <p:nvPr/>
            </p:nvSpPr>
            <p:spPr bwMode="auto">
              <a:xfrm>
                <a:off x="1547664" y="1997075"/>
                <a:ext cx="247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C</a:t>
                </a:r>
                <a:endParaRPr lang="en-IN" altLang="en-US">
                  <a:solidFill>
                    <a:srgbClr val="FFCCFF"/>
                  </a:solidFill>
                </a:endParaRPr>
              </a:p>
            </p:txBody>
          </p:sp>
        </p:grpSp>
      </p:grpSp>
      <p:cxnSp>
        <p:nvCxnSpPr>
          <p:cNvPr id="78" name="Straight Arrow Connector 77"/>
          <p:cNvCxnSpPr/>
          <p:nvPr/>
        </p:nvCxnSpPr>
        <p:spPr>
          <a:xfrm flipH="1">
            <a:off x="4279900" y="1724025"/>
            <a:ext cx="935038" cy="927100"/>
          </a:xfrm>
          <a:prstGeom prst="straightConnector1">
            <a:avLst/>
          </a:prstGeom>
          <a:ln w="28575">
            <a:solidFill>
              <a:srgbClr val="FFFF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2560639" y="1182688"/>
            <a:ext cx="422275" cy="1454150"/>
          </a:xfrm>
          <a:prstGeom prst="straightConnector1">
            <a:avLst/>
          </a:prstGeom>
          <a:ln w="28575">
            <a:solidFill>
              <a:srgbClr val="00CC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0" name="Group 79"/>
          <p:cNvGrpSpPr>
            <a:grpSpLocks/>
          </p:cNvGrpSpPr>
          <p:nvPr/>
        </p:nvGrpSpPr>
        <p:grpSpPr bwMode="auto">
          <a:xfrm rot="4537504">
            <a:off x="1863725" y="1885950"/>
            <a:ext cx="1392238" cy="369888"/>
            <a:chOff x="3035202" y="1896167"/>
            <a:chExt cx="1392782" cy="369332"/>
          </a:xfrm>
        </p:grpSpPr>
        <p:sp>
          <p:nvSpPr>
            <p:cNvPr id="13426" name="TextBox 6"/>
            <p:cNvSpPr txBox="1">
              <a:spLocks noChangeArrowheads="1"/>
            </p:cNvSpPr>
            <p:nvPr/>
          </p:nvSpPr>
          <p:spPr bwMode="auto">
            <a:xfrm>
              <a:off x="3035202" y="1896167"/>
              <a:ext cx="13927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R=(A+B)+C</a:t>
              </a:r>
              <a:endParaRPr lang="en-IN" altLang="en-US">
                <a:solidFill>
                  <a:srgbClr val="FFCCFF"/>
                </a:solidFill>
              </a:endParaRPr>
            </a:p>
          </p:txBody>
        </p:sp>
        <p:cxnSp>
          <p:nvCxnSpPr>
            <p:cNvPr id="82" name="Straight Arrow Connector 81"/>
            <p:cNvCxnSpPr/>
            <p:nvPr/>
          </p:nvCxnSpPr>
          <p:spPr bwMode="auto">
            <a:xfrm>
              <a:off x="3136077" y="1949413"/>
              <a:ext cx="16992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bwMode="auto">
            <a:xfrm>
              <a:off x="3486638" y="1937838"/>
              <a:ext cx="17151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bwMode="auto">
            <a:xfrm>
              <a:off x="3748631" y="1926312"/>
              <a:ext cx="17151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bwMode="auto">
            <a:xfrm>
              <a:off x="4159123" y="1949298"/>
              <a:ext cx="16992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6" name="Rectangle 85"/>
          <p:cNvSpPr>
            <a:spLocks noChangeArrowheads="1"/>
          </p:cNvSpPr>
          <p:nvPr/>
        </p:nvSpPr>
        <p:spPr bwMode="auto">
          <a:xfrm>
            <a:off x="2838451" y="257492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nvGrpSpPr>
          <p:cNvPr id="87" name="Group 86"/>
          <p:cNvGrpSpPr>
            <a:grpSpLocks/>
          </p:cNvGrpSpPr>
          <p:nvPr/>
        </p:nvGrpSpPr>
        <p:grpSpPr bwMode="auto">
          <a:xfrm>
            <a:off x="7142163" y="630239"/>
            <a:ext cx="1682750" cy="542925"/>
            <a:chOff x="297025" y="4941168"/>
            <a:chExt cx="1682687" cy="543108"/>
          </a:xfrm>
        </p:grpSpPr>
        <p:sp>
          <p:nvSpPr>
            <p:cNvPr id="13422"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423" name="Group 88"/>
            <p:cNvGrpSpPr>
              <a:grpSpLocks/>
            </p:cNvGrpSpPr>
            <p:nvPr/>
          </p:nvGrpSpPr>
          <p:grpSpPr bwMode="auto">
            <a:xfrm>
              <a:off x="1057096" y="4941168"/>
              <a:ext cx="274544" cy="369888"/>
              <a:chOff x="1547664" y="1997075"/>
              <a:chExt cx="274544" cy="369888"/>
            </a:xfrm>
          </p:grpSpPr>
          <p:cxnSp>
            <p:nvCxnSpPr>
              <p:cNvPr id="90" name="Straight Arrow Connector 89"/>
              <p:cNvCxnSpPr/>
              <p:nvPr/>
            </p:nvCxnSpPr>
            <p:spPr bwMode="auto">
              <a:xfrm>
                <a:off x="1651161" y="204154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25" name="TextBox 90"/>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92" name="Group 91"/>
          <p:cNvGrpSpPr>
            <a:grpSpLocks/>
          </p:cNvGrpSpPr>
          <p:nvPr/>
        </p:nvGrpSpPr>
        <p:grpSpPr bwMode="auto">
          <a:xfrm>
            <a:off x="9191626" y="787400"/>
            <a:ext cx="346075" cy="801688"/>
            <a:chOff x="8583834" y="3789040"/>
            <a:chExt cx="380654" cy="802071"/>
          </a:xfrm>
        </p:grpSpPr>
        <p:sp>
          <p:nvSpPr>
            <p:cNvPr id="13418"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419" name="Group 93"/>
            <p:cNvGrpSpPr>
              <a:grpSpLocks/>
            </p:cNvGrpSpPr>
            <p:nvPr/>
          </p:nvGrpSpPr>
          <p:grpSpPr bwMode="auto">
            <a:xfrm>
              <a:off x="8689944" y="4139232"/>
              <a:ext cx="274544" cy="369888"/>
              <a:chOff x="1547664" y="1997075"/>
              <a:chExt cx="274544" cy="369888"/>
            </a:xfrm>
          </p:grpSpPr>
          <p:cxnSp>
            <p:nvCxnSpPr>
              <p:cNvPr id="95" name="Straight Arrow Connector 94"/>
              <p:cNvCxnSpPr/>
              <p:nvPr/>
            </p:nvCxnSpPr>
            <p:spPr bwMode="auto">
              <a:xfrm>
                <a:off x="1651088" y="2040771"/>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21"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sp>
        <p:nvSpPr>
          <p:cNvPr id="97" name="Rectangle 96"/>
          <p:cNvSpPr>
            <a:spLocks noChangeArrowheads="1"/>
          </p:cNvSpPr>
          <p:nvPr/>
        </p:nvSpPr>
        <p:spPr bwMode="auto">
          <a:xfrm>
            <a:off x="9488488" y="549275"/>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98" name="Group 97"/>
          <p:cNvGrpSpPr>
            <a:grpSpLocks/>
          </p:cNvGrpSpPr>
          <p:nvPr/>
        </p:nvGrpSpPr>
        <p:grpSpPr bwMode="auto">
          <a:xfrm>
            <a:off x="8877301" y="1819276"/>
            <a:ext cx="936625" cy="925513"/>
            <a:chOff x="6471102" y="3006064"/>
            <a:chExt cx="936104" cy="926992"/>
          </a:xfrm>
        </p:grpSpPr>
        <p:cxnSp>
          <p:nvCxnSpPr>
            <p:cNvPr id="99" name="Straight Arrow Connector 98"/>
            <p:cNvCxnSpPr/>
            <p:nvPr/>
          </p:nvCxnSpPr>
          <p:spPr>
            <a:xfrm flipH="1">
              <a:off x="6471102" y="3006064"/>
              <a:ext cx="936104" cy="926992"/>
            </a:xfrm>
            <a:prstGeom prst="straightConnector1">
              <a:avLst/>
            </a:prstGeom>
            <a:ln w="28575">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415" name="Group 99"/>
            <p:cNvGrpSpPr>
              <a:grpSpLocks/>
            </p:cNvGrpSpPr>
            <p:nvPr/>
          </p:nvGrpSpPr>
          <p:grpSpPr bwMode="auto">
            <a:xfrm>
              <a:off x="6948264" y="3419708"/>
              <a:ext cx="274544" cy="369332"/>
              <a:chOff x="1547664" y="1997075"/>
              <a:chExt cx="274544" cy="369332"/>
            </a:xfrm>
          </p:grpSpPr>
          <p:cxnSp>
            <p:nvCxnSpPr>
              <p:cNvPr id="101" name="Straight Arrow Connector 100"/>
              <p:cNvCxnSpPr/>
              <p:nvPr/>
            </p:nvCxnSpPr>
            <p:spPr bwMode="auto">
              <a:xfrm>
                <a:off x="1651203" y="2041362"/>
                <a:ext cx="17135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17" name="TextBox 6"/>
              <p:cNvSpPr txBox="1">
                <a:spLocks noChangeArrowheads="1"/>
              </p:cNvSpPr>
              <p:nvPr/>
            </p:nvSpPr>
            <p:spPr bwMode="auto">
              <a:xfrm>
                <a:off x="1547664" y="1997075"/>
                <a:ext cx="247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C</a:t>
                </a:r>
                <a:endParaRPr lang="en-IN" altLang="en-US">
                  <a:solidFill>
                    <a:srgbClr val="FFCCFF"/>
                  </a:solidFill>
                </a:endParaRPr>
              </a:p>
            </p:txBody>
          </p:sp>
        </p:grpSp>
      </p:grpSp>
      <p:cxnSp>
        <p:nvCxnSpPr>
          <p:cNvPr id="103" name="Straight Arrow Connector 102"/>
          <p:cNvCxnSpPr/>
          <p:nvPr/>
        </p:nvCxnSpPr>
        <p:spPr>
          <a:xfrm flipH="1">
            <a:off x="8872539" y="1836738"/>
            <a:ext cx="936625" cy="927100"/>
          </a:xfrm>
          <a:prstGeom prst="straightConnector1">
            <a:avLst/>
          </a:prstGeom>
          <a:ln w="28575">
            <a:solidFill>
              <a:srgbClr val="FFFF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4" name="Group 103"/>
          <p:cNvGrpSpPr>
            <a:grpSpLocks/>
          </p:cNvGrpSpPr>
          <p:nvPr/>
        </p:nvGrpSpPr>
        <p:grpSpPr bwMode="auto">
          <a:xfrm rot="4321843">
            <a:off x="6418263" y="1835150"/>
            <a:ext cx="1497012" cy="369888"/>
            <a:chOff x="3003248" y="1863090"/>
            <a:chExt cx="1496744" cy="369332"/>
          </a:xfrm>
        </p:grpSpPr>
        <p:sp>
          <p:nvSpPr>
            <p:cNvPr id="13409" name="TextBox 6"/>
            <p:cNvSpPr txBox="1">
              <a:spLocks noChangeArrowheads="1"/>
            </p:cNvSpPr>
            <p:nvPr/>
          </p:nvSpPr>
          <p:spPr bwMode="auto">
            <a:xfrm>
              <a:off x="3003248" y="1863090"/>
              <a:ext cx="14967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 A+(B+C)</a:t>
              </a:r>
              <a:endParaRPr lang="en-IN" altLang="en-US">
                <a:solidFill>
                  <a:srgbClr val="FFCCFF"/>
                </a:solidFill>
              </a:endParaRPr>
            </a:p>
          </p:txBody>
        </p:sp>
        <p:cxnSp>
          <p:nvCxnSpPr>
            <p:cNvPr id="106" name="Straight Arrow Connector 105"/>
            <p:cNvCxnSpPr/>
            <p:nvPr/>
          </p:nvCxnSpPr>
          <p:spPr bwMode="auto">
            <a:xfrm>
              <a:off x="3094576" y="1908528"/>
              <a:ext cx="17141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bwMode="auto">
            <a:xfrm>
              <a:off x="3455050" y="1918635"/>
              <a:ext cx="17141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bwMode="auto">
            <a:xfrm>
              <a:off x="3829438" y="1911586"/>
              <a:ext cx="17141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bwMode="auto">
            <a:xfrm>
              <a:off x="4126623" y="1916192"/>
              <a:ext cx="17141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10" name="Rectangle 109"/>
          <p:cNvSpPr>
            <a:spLocks noChangeArrowheads="1"/>
          </p:cNvSpPr>
          <p:nvPr/>
        </p:nvSpPr>
        <p:spPr bwMode="auto">
          <a:xfrm>
            <a:off x="7419976" y="2560639"/>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  </a:t>
            </a:r>
          </a:p>
        </p:txBody>
      </p:sp>
      <p:grpSp>
        <p:nvGrpSpPr>
          <p:cNvPr id="111" name="Group 110"/>
          <p:cNvGrpSpPr>
            <a:grpSpLocks/>
          </p:cNvGrpSpPr>
          <p:nvPr/>
        </p:nvGrpSpPr>
        <p:grpSpPr bwMode="auto">
          <a:xfrm>
            <a:off x="8269288" y="796925"/>
            <a:ext cx="1282700" cy="1663700"/>
            <a:chOff x="6732240" y="787443"/>
            <a:chExt cx="1282153" cy="1664333"/>
          </a:xfrm>
        </p:grpSpPr>
        <p:grpSp>
          <p:nvGrpSpPr>
            <p:cNvPr id="13403" name="Group 111"/>
            <p:cNvGrpSpPr>
              <a:grpSpLocks/>
            </p:cNvGrpSpPr>
            <p:nvPr/>
          </p:nvGrpSpPr>
          <p:grpSpPr bwMode="auto">
            <a:xfrm rot="-4398609">
              <a:off x="6990493" y="1115262"/>
              <a:ext cx="869374" cy="369332"/>
              <a:chOff x="3097303" y="1748125"/>
              <a:chExt cx="869374" cy="369332"/>
            </a:xfrm>
          </p:grpSpPr>
          <p:grpSp>
            <p:nvGrpSpPr>
              <p:cNvPr id="13405" name="Group 113"/>
              <p:cNvGrpSpPr>
                <a:grpSpLocks/>
              </p:cNvGrpSpPr>
              <p:nvPr/>
            </p:nvGrpSpPr>
            <p:grpSpPr bwMode="auto">
              <a:xfrm rot="1300514">
                <a:off x="3097303" y="1748125"/>
                <a:ext cx="869374" cy="369332"/>
                <a:chOff x="1547664" y="1997074"/>
                <a:chExt cx="869374" cy="369332"/>
              </a:xfrm>
            </p:grpSpPr>
            <p:cxnSp>
              <p:nvCxnSpPr>
                <p:cNvPr id="116" name="Straight Arrow Connector 115"/>
                <p:cNvCxnSpPr/>
                <p:nvPr/>
              </p:nvCxnSpPr>
              <p:spPr bwMode="auto">
                <a:xfrm>
                  <a:off x="1650727" y="2040895"/>
                  <a:ext cx="17151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08" name="TextBox 6"/>
                <p:cNvSpPr txBox="1">
                  <a:spLocks noChangeArrowheads="1"/>
                </p:cNvSpPr>
                <p:nvPr/>
              </p:nvSpPr>
              <p:spPr bwMode="auto">
                <a:xfrm>
                  <a:off x="1547664" y="1997074"/>
                  <a:ext cx="869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 + C</a:t>
                  </a:r>
                  <a:endParaRPr lang="en-IN" altLang="en-US">
                    <a:solidFill>
                      <a:srgbClr val="FFCCFF"/>
                    </a:solidFill>
                  </a:endParaRPr>
                </a:p>
              </p:txBody>
            </p:sp>
          </p:grpSp>
          <p:cxnSp>
            <p:nvCxnSpPr>
              <p:cNvPr id="115" name="Straight Arrow Connector 114"/>
              <p:cNvCxnSpPr/>
              <p:nvPr/>
            </p:nvCxnSpPr>
            <p:spPr bwMode="auto">
              <a:xfrm rot="1300514">
                <a:off x="3629605" y="1844067"/>
                <a:ext cx="1683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13" name="Straight Arrow Connector 112"/>
            <p:cNvCxnSpPr>
              <a:stCxn id="13418" idx="1"/>
            </p:cNvCxnSpPr>
            <p:nvPr/>
          </p:nvCxnSpPr>
          <p:spPr>
            <a:xfrm flipH="1">
              <a:off x="6732240" y="787443"/>
              <a:ext cx="1282153" cy="1664333"/>
            </a:xfrm>
            <a:prstGeom prst="straightConnector1">
              <a:avLst/>
            </a:prstGeom>
            <a:ln w="28575">
              <a:solidFill>
                <a:srgbClr val="FF99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18" name="Rectangle 117"/>
          <p:cNvSpPr>
            <a:spLocks noChangeArrowheads="1"/>
          </p:cNvSpPr>
          <p:nvPr/>
        </p:nvSpPr>
        <p:spPr bwMode="auto">
          <a:xfrm>
            <a:off x="9161464" y="1422400"/>
            <a:ext cx="3635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sp>
        <p:nvSpPr>
          <p:cNvPr id="119" name="Rectangle 118"/>
          <p:cNvSpPr>
            <a:spLocks noChangeArrowheads="1"/>
          </p:cNvSpPr>
          <p:nvPr/>
        </p:nvSpPr>
        <p:spPr bwMode="auto">
          <a:xfrm>
            <a:off x="6892925" y="863600"/>
            <a:ext cx="363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cxnSp>
        <p:nvCxnSpPr>
          <p:cNvPr id="120" name="Straight Arrow Connector 119"/>
          <p:cNvCxnSpPr/>
          <p:nvPr/>
        </p:nvCxnSpPr>
        <p:spPr>
          <a:xfrm flipH="1">
            <a:off x="8269288" y="795338"/>
            <a:ext cx="1282700" cy="1663700"/>
          </a:xfrm>
          <a:prstGeom prst="straightConnector1">
            <a:avLst/>
          </a:prstGeom>
          <a:ln w="28575">
            <a:solidFill>
              <a:srgbClr val="FF99FF"/>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110" idx="0"/>
          </p:cNvCxnSpPr>
          <p:nvPr/>
        </p:nvCxnSpPr>
        <p:spPr>
          <a:xfrm flipH="1" flipV="1">
            <a:off x="7142164" y="1168400"/>
            <a:ext cx="434975" cy="1392238"/>
          </a:xfrm>
          <a:prstGeom prst="straightConnector1">
            <a:avLst/>
          </a:prstGeom>
          <a:ln w="28575">
            <a:solidFill>
              <a:srgbClr val="00CC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Rectangle 121"/>
          <p:cNvSpPr>
            <a:spLocks noChangeArrowheads="1"/>
          </p:cNvSpPr>
          <p:nvPr/>
        </p:nvSpPr>
        <p:spPr bwMode="auto">
          <a:xfrm>
            <a:off x="8115301" y="2381250"/>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sp>
        <p:nvSpPr>
          <p:cNvPr id="123" name="Rectangle 122"/>
          <p:cNvSpPr>
            <a:spLocks noChangeArrowheads="1"/>
          </p:cNvSpPr>
          <p:nvPr/>
        </p:nvSpPr>
        <p:spPr bwMode="auto">
          <a:xfrm>
            <a:off x="8764588" y="630238"/>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124" name="Rectangle 123"/>
          <p:cNvSpPr>
            <a:spLocks noChangeArrowheads="1"/>
          </p:cNvSpPr>
          <p:nvPr/>
        </p:nvSpPr>
        <p:spPr bwMode="auto">
          <a:xfrm>
            <a:off x="7391401" y="2462213"/>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nvGrpSpPr>
          <p:cNvPr id="125" name="Group 124"/>
          <p:cNvGrpSpPr>
            <a:grpSpLocks/>
          </p:cNvGrpSpPr>
          <p:nvPr/>
        </p:nvGrpSpPr>
        <p:grpSpPr bwMode="auto">
          <a:xfrm>
            <a:off x="2027238" y="3068638"/>
            <a:ext cx="7478712" cy="368300"/>
            <a:chOff x="298648" y="2339588"/>
            <a:chExt cx="7477900" cy="369332"/>
          </a:xfrm>
        </p:grpSpPr>
        <p:sp>
          <p:nvSpPr>
            <p:cNvPr id="13401" name="Rectangle 125"/>
            <p:cNvSpPr>
              <a:spLocks noChangeArrowheads="1"/>
            </p:cNvSpPr>
            <p:nvPr/>
          </p:nvSpPr>
          <p:spPr bwMode="auto">
            <a:xfrm>
              <a:off x="298648" y="2339588"/>
              <a:ext cx="7477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Note that the resultant R is equal in both magnitude and direction.</a:t>
              </a:r>
              <a:endParaRPr lang="en-IN" altLang="en-US" b="1">
                <a:solidFill>
                  <a:srgbClr val="FFC000"/>
                </a:solidFill>
              </a:endParaRPr>
            </a:p>
          </p:txBody>
        </p:sp>
        <p:cxnSp>
          <p:nvCxnSpPr>
            <p:cNvPr id="127" name="Straight Arrow Connector 126"/>
            <p:cNvCxnSpPr/>
            <p:nvPr/>
          </p:nvCxnSpPr>
          <p:spPr bwMode="auto">
            <a:xfrm>
              <a:off x="2889167" y="2361875"/>
              <a:ext cx="17143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39" name="Rectangle 138"/>
          <p:cNvSpPr>
            <a:spLocks noChangeArrowheads="1"/>
          </p:cNvSpPr>
          <p:nvPr/>
        </p:nvSpPr>
        <p:spPr bwMode="auto">
          <a:xfrm>
            <a:off x="2017714" y="3860800"/>
            <a:ext cx="7966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9999"/>
                </a:solidFill>
              </a:rPr>
              <a:t>The above relation of addition proves that the vectors are </a:t>
            </a:r>
            <a:r>
              <a:rPr lang="en-US" altLang="en-US" b="1">
                <a:solidFill>
                  <a:srgbClr val="00B0F0"/>
                </a:solidFill>
              </a:rPr>
              <a:t>associative</a:t>
            </a:r>
            <a:r>
              <a:rPr lang="en-US" altLang="en-US" b="1">
                <a:solidFill>
                  <a:srgbClr val="FF9999"/>
                </a:solidFill>
              </a:rPr>
              <a:t>.</a:t>
            </a:r>
            <a:endParaRPr lang="en-IN" altLang="en-US" b="1">
              <a:solidFill>
                <a:srgbClr val="FF9999"/>
              </a:solidFill>
            </a:endParaRPr>
          </a:p>
        </p:txBody>
      </p:sp>
      <p:grpSp>
        <p:nvGrpSpPr>
          <p:cNvPr id="144" name="Group 143"/>
          <p:cNvGrpSpPr>
            <a:grpSpLocks/>
          </p:cNvGrpSpPr>
          <p:nvPr/>
        </p:nvGrpSpPr>
        <p:grpSpPr bwMode="auto">
          <a:xfrm>
            <a:off x="3284539" y="3500439"/>
            <a:ext cx="3203575" cy="369887"/>
            <a:chOff x="1760273" y="3779748"/>
            <a:chExt cx="3203434" cy="370151"/>
          </a:xfrm>
        </p:grpSpPr>
        <p:grpSp>
          <p:nvGrpSpPr>
            <p:cNvPr id="13389" name="Group 141"/>
            <p:cNvGrpSpPr>
              <a:grpSpLocks/>
            </p:cNvGrpSpPr>
            <p:nvPr/>
          </p:nvGrpSpPr>
          <p:grpSpPr bwMode="auto">
            <a:xfrm>
              <a:off x="1760273" y="3779748"/>
              <a:ext cx="1931101" cy="369332"/>
              <a:chOff x="1760273" y="3779748"/>
              <a:chExt cx="1931101" cy="369332"/>
            </a:xfrm>
          </p:grpSpPr>
          <p:grpSp>
            <p:nvGrpSpPr>
              <p:cNvPr id="13395" name="Group 130"/>
              <p:cNvGrpSpPr>
                <a:grpSpLocks/>
              </p:cNvGrpSpPr>
              <p:nvPr/>
            </p:nvGrpSpPr>
            <p:grpSpPr bwMode="auto">
              <a:xfrm>
                <a:off x="1760273" y="3779748"/>
                <a:ext cx="1931101" cy="369332"/>
                <a:chOff x="1547662" y="1997075"/>
                <a:chExt cx="1931101" cy="369332"/>
              </a:xfrm>
            </p:grpSpPr>
            <p:cxnSp>
              <p:nvCxnSpPr>
                <p:cNvPr id="134" name="Straight Arrow Connector 133"/>
                <p:cNvCxnSpPr/>
                <p:nvPr/>
              </p:nvCxnSpPr>
              <p:spPr bwMode="auto">
                <a:xfrm>
                  <a:off x="1650844" y="2041557"/>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00" name="TextBox 6"/>
                <p:cNvSpPr txBox="1">
                  <a:spLocks noChangeArrowheads="1"/>
                </p:cNvSpPr>
                <p:nvPr/>
              </p:nvSpPr>
              <p:spPr bwMode="auto">
                <a:xfrm>
                  <a:off x="1547662" y="1997075"/>
                  <a:ext cx="1931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R = (A + B) + C</a:t>
                  </a:r>
                  <a:endParaRPr lang="en-IN" altLang="en-US" b="1">
                    <a:solidFill>
                      <a:srgbClr val="FF00FF"/>
                    </a:solidFill>
                  </a:endParaRPr>
                </a:p>
              </p:txBody>
            </p:sp>
          </p:grpSp>
          <p:cxnSp>
            <p:nvCxnSpPr>
              <p:cNvPr id="132" name="Straight Arrow Connector 131"/>
              <p:cNvCxnSpPr/>
              <p:nvPr/>
            </p:nvCxnSpPr>
            <p:spPr bwMode="auto">
              <a:xfrm>
                <a:off x="2384133" y="3830584"/>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bwMode="auto">
              <a:xfrm>
                <a:off x="2744480" y="3825818"/>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p:nvPr/>
            </p:nvCxnSpPr>
            <p:spPr bwMode="auto">
              <a:xfrm>
                <a:off x="3261982" y="3828995"/>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390" name="Group 142"/>
            <p:cNvGrpSpPr>
              <a:grpSpLocks/>
            </p:cNvGrpSpPr>
            <p:nvPr/>
          </p:nvGrpSpPr>
          <p:grpSpPr bwMode="auto">
            <a:xfrm>
              <a:off x="3388617" y="3780567"/>
              <a:ext cx="1575090" cy="369332"/>
              <a:chOff x="4157964" y="3780567"/>
              <a:chExt cx="1575090" cy="369332"/>
            </a:xfrm>
          </p:grpSpPr>
          <p:sp>
            <p:nvSpPr>
              <p:cNvPr id="13391" name="TextBox 6"/>
              <p:cNvSpPr txBox="1">
                <a:spLocks noChangeArrowheads="1"/>
              </p:cNvSpPr>
              <p:nvPr/>
            </p:nvSpPr>
            <p:spPr bwMode="auto">
              <a:xfrm>
                <a:off x="4157964" y="3780567"/>
                <a:ext cx="1575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A + (B + C)</a:t>
                </a:r>
                <a:endParaRPr lang="en-IN" altLang="en-US" b="1">
                  <a:solidFill>
                    <a:srgbClr val="FF00FF"/>
                  </a:solidFill>
                </a:endParaRPr>
              </a:p>
            </p:txBody>
          </p:sp>
          <p:cxnSp>
            <p:nvCxnSpPr>
              <p:cNvPr id="137" name="Straight Arrow Connector 136"/>
              <p:cNvCxnSpPr/>
              <p:nvPr/>
            </p:nvCxnSpPr>
            <p:spPr bwMode="auto">
              <a:xfrm>
                <a:off x="4440886" y="3832173"/>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p:nvPr/>
            </p:nvCxnSpPr>
            <p:spPr bwMode="auto">
              <a:xfrm>
                <a:off x="4955213" y="3827407"/>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bwMode="auto">
              <a:xfrm>
                <a:off x="5336196" y="3835350"/>
                <a:ext cx="17144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145" name="Rectangle 144"/>
          <p:cNvSpPr/>
          <p:nvPr/>
        </p:nvSpPr>
        <p:spPr>
          <a:xfrm>
            <a:off x="1833563" y="44450"/>
            <a:ext cx="4044950" cy="400050"/>
          </a:xfrm>
          <a:prstGeom prst="rect">
            <a:avLst/>
          </a:prstGeom>
        </p:spPr>
        <p:txBody>
          <a:bodyPr wrap="none">
            <a:spAutoFit/>
          </a:bodyPr>
          <a:lstStyle/>
          <a:p>
            <a:pPr fontAlgn="base">
              <a:spcBef>
                <a:spcPct val="0"/>
              </a:spcBef>
              <a:spcAft>
                <a:spcPct val="0"/>
              </a:spcAft>
              <a:defRPr/>
            </a:pPr>
            <a:r>
              <a:rPr lang="en-US" sz="2000" b="1" dirty="0">
                <a:solidFill>
                  <a:srgbClr val="00CC99"/>
                </a:solidFill>
                <a:latin typeface="Arial"/>
                <a:ea typeface="Times New Roman" pitchFamily="18" charset="0"/>
                <a:cs typeface="Bookman-Light" charset="0"/>
              </a:rPr>
              <a:t>Associative Property of Vectors</a:t>
            </a:r>
            <a:endParaRPr lang="en-IN" sz="2000" b="1" dirty="0">
              <a:solidFill>
                <a:srgbClr val="00CC99"/>
              </a:solidFill>
              <a:latin typeface="Arial"/>
              <a:cs typeface="Arial" panose="020B0604020202020204" pitchFamily="34" charset="0"/>
            </a:endParaRPr>
          </a:p>
        </p:txBody>
      </p:sp>
      <p:grpSp>
        <p:nvGrpSpPr>
          <p:cNvPr id="96" name="Group 95"/>
          <p:cNvGrpSpPr>
            <a:grpSpLocks/>
          </p:cNvGrpSpPr>
          <p:nvPr/>
        </p:nvGrpSpPr>
        <p:grpSpPr bwMode="auto">
          <a:xfrm>
            <a:off x="4367213" y="4283076"/>
            <a:ext cx="2141954" cy="2386013"/>
            <a:chOff x="739775" y="557213"/>
            <a:chExt cx="2141954" cy="2386012"/>
          </a:xfrm>
        </p:grpSpPr>
        <p:grpSp>
          <p:nvGrpSpPr>
            <p:cNvPr id="13350" name="Group 99"/>
            <p:cNvGrpSpPr>
              <a:grpSpLocks/>
            </p:cNvGrpSpPr>
            <p:nvPr/>
          </p:nvGrpSpPr>
          <p:grpSpPr bwMode="auto">
            <a:xfrm>
              <a:off x="1036638" y="657225"/>
              <a:ext cx="1682750" cy="542925"/>
              <a:chOff x="297025" y="4941168"/>
              <a:chExt cx="1682687" cy="543108"/>
            </a:xfrm>
          </p:grpSpPr>
          <p:sp>
            <p:nvSpPr>
              <p:cNvPr id="13385"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386" name="Group 54"/>
              <p:cNvGrpSpPr>
                <a:grpSpLocks/>
              </p:cNvGrpSpPr>
              <p:nvPr/>
            </p:nvGrpSpPr>
            <p:grpSpPr bwMode="auto">
              <a:xfrm>
                <a:off x="1057096" y="4941168"/>
                <a:ext cx="274544" cy="369888"/>
                <a:chOff x="1547664" y="1997075"/>
                <a:chExt cx="274544" cy="369888"/>
              </a:xfrm>
            </p:grpSpPr>
            <p:cxnSp>
              <p:nvCxnSpPr>
                <p:cNvPr id="168" name="Straight Arrow Connector 167"/>
                <p:cNvCxnSpPr/>
                <p:nvPr/>
              </p:nvCxnSpPr>
              <p:spPr bwMode="auto">
                <a:xfrm>
                  <a:off x="1651160" y="2041541"/>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88" name="TextBox 5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13351" name="Group 101"/>
            <p:cNvGrpSpPr>
              <a:grpSpLocks/>
            </p:cNvGrpSpPr>
            <p:nvPr/>
          </p:nvGrpSpPr>
          <p:grpSpPr bwMode="auto">
            <a:xfrm>
              <a:off x="2371419" y="912567"/>
              <a:ext cx="346075" cy="801688"/>
              <a:chOff x="8583834" y="3789040"/>
              <a:chExt cx="380654" cy="802071"/>
            </a:xfrm>
          </p:grpSpPr>
          <p:sp>
            <p:nvSpPr>
              <p:cNvPr id="13381"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3382" name="Group 59"/>
              <p:cNvGrpSpPr>
                <a:grpSpLocks/>
              </p:cNvGrpSpPr>
              <p:nvPr/>
            </p:nvGrpSpPr>
            <p:grpSpPr bwMode="auto">
              <a:xfrm>
                <a:off x="8689944" y="4139232"/>
                <a:ext cx="274544" cy="369888"/>
                <a:chOff x="1547664" y="1997075"/>
                <a:chExt cx="274544" cy="369888"/>
              </a:xfrm>
            </p:grpSpPr>
            <p:cxnSp>
              <p:nvCxnSpPr>
                <p:cNvPr id="164" name="Straight Arrow Connector 163"/>
                <p:cNvCxnSpPr/>
                <p:nvPr/>
              </p:nvCxnSpPr>
              <p:spPr bwMode="auto">
                <a:xfrm>
                  <a:off x="1651425" y="2041017"/>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84"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cxnSp>
          <p:nvCxnSpPr>
            <p:cNvPr id="105" name="Straight Arrow Connector 104"/>
            <p:cNvCxnSpPr/>
            <p:nvPr/>
          </p:nvCxnSpPr>
          <p:spPr>
            <a:xfrm>
              <a:off x="1025525" y="1192213"/>
              <a:ext cx="1355725" cy="490538"/>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353" name="Group 111"/>
            <p:cNvGrpSpPr>
              <a:grpSpLocks/>
            </p:cNvGrpSpPr>
            <p:nvPr/>
          </p:nvGrpSpPr>
          <p:grpSpPr bwMode="auto">
            <a:xfrm>
              <a:off x="739775" y="1038225"/>
              <a:ext cx="1879600" cy="962025"/>
              <a:chOff x="6093086" y="4053923"/>
              <a:chExt cx="1880431" cy="961049"/>
            </a:xfrm>
          </p:grpSpPr>
          <p:sp>
            <p:nvSpPr>
              <p:cNvPr id="13379" name="Text Box 62"/>
              <p:cNvSpPr txBox="1">
                <a:spLocks noChangeArrowheads="1"/>
              </p:cNvSpPr>
              <p:nvPr/>
            </p:nvSpPr>
            <p:spPr bwMode="auto">
              <a:xfrm>
                <a:off x="6093086" y="4053923"/>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13380" name="Text Box 62"/>
              <p:cNvSpPr txBox="1">
                <a:spLocks noChangeArrowheads="1"/>
              </p:cNvSpPr>
              <p:nvPr/>
            </p:nvSpPr>
            <p:spPr bwMode="auto">
              <a:xfrm>
                <a:off x="7605217" y="4648260"/>
                <a:ext cx="368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sp>
          <p:nvSpPr>
            <p:cNvPr id="13354" name="Rectangle 113"/>
            <p:cNvSpPr>
              <a:spLocks noChangeArrowheads="1"/>
            </p:cNvSpPr>
            <p:nvPr/>
          </p:nvSpPr>
          <p:spPr bwMode="auto">
            <a:xfrm>
              <a:off x="2543175" y="557213"/>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13355" name="Group 116"/>
            <p:cNvGrpSpPr>
              <a:grpSpLocks/>
            </p:cNvGrpSpPr>
            <p:nvPr/>
          </p:nvGrpSpPr>
          <p:grpSpPr bwMode="auto">
            <a:xfrm>
              <a:off x="1443989" y="1193147"/>
              <a:ext cx="869950" cy="369887"/>
              <a:chOff x="3097303" y="1748125"/>
              <a:chExt cx="869374" cy="369332"/>
            </a:xfrm>
          </p:grpSpPr>
          <p:grpSp>
            <p:nvGrpSpPr>
              <p:cNvPr id="13375" name="Group 68"/>
              <p:cNvGrpSpPr>
                <a:grpSpLocks/>
              </p:cNvGrpSpPr>
              <p:nvPr/>
            </p:nvGrpSpPr>
            <p:grpSpPr bwMode="auto">
              <a:xfrm rot="1300514">
                <a:off x="3097303" y="1748125"/>
                <a:ext cx="869374" cy="369332"/>
                <a:chOff x="1547664" y="1997074"/>
                <a:chExt cx="869374" cy="369332"/>
              </a:xfrm>
            </p:grpSpPr>
            <p:cxnSp>
              <p:nvCxnSpPr>
                <p:cNvPr id="158" name="Straight Arrow Connector 157"/>
                <p:cNvCxnSpPr/>
                <p:nvPr/>
              </p:nvCxnSpPr>
              <p:spPr bwMode="auto">
                <a:xfrm>
                  <a:off x="1646536" y="2040419"/>
                  <a:ext cx="17133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78" name="TextBox 6"/>
                <p:cNvSpPr txBox="1">
                  <a:spLocks noChangeArrowheads="1"/>
                </p:cNvSpPr>
                <p:nvPr/>
              </p:nvSpPr>
              <p:spPr bwMode="auto">
                <a:xfrm>
                  <a:off x="1547664" y="1997074"/>
                  <a:ext cx="869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 + B</a:t>
                  </a:r>
                  <a:endParaRPr lang="en-IN" altLang="en-US">
                    <a:solidFill>
                      <a:srgbClr val="FFCCFF"/>
                    </a:solidFill>
                  </a:endParaRPr>
                </a:p>
              </p:txBody>
            </p:sp>
          </p:grpSp>
          <p:cxnSp>
            <p:nvCxnSpPr>
              <p:cNvPr id="157" name="Straight Arrow Connector 156"/>
              <p:cNvCxnSpPr/>
              <p:nvPr/>
            </p:nvCxnSpPr>
            <p:spPr bwMode="auto">
              <a:xfrm rot="1300514">
                <a:off x="3635744" y="1864491"/>
                <a:ext cx="17133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356" name="Group 125"/>
            <p:cNvGrpSpPr>
              <a:grpSpLocks/>
            </p:cNvGrpSpPr>
            <p:nvPr/>
          </p:nvGrpSpPr>
          <p:grpSpPr bwMode="auto">
            <a:xfrm>
              <a:off x="1435315" y="1700808"/>
              <a:ext cx="935037" cy="927100"/>
              <a:chOff x="6471102" y="3006064"/>
              <a:chExt cx="936104" cy="926992"/>
            </a:xfrm>
          </p:grpSpPr>
          <p:cxnSp>
            <p:nvCxnSpPr>
              <p:cNvPr id="152" name="Straight Arrow Connector 151"/>
              <p:cNvCxnSpPr/>
              <p:nvPr/>
            </p:nvCxnSpPr>
            <p:spPr>
              <a:xfrm flipH="1">
                <a:off x="6470887" y="3005469"/>
                <a:ext cx="936104" cy="926992"/>
              </a:xfrm>
              <a:prstGeom prst="straightConnector1">
                <a:avLst/>
              </a:prstGeom>
              <a:ln w="28575">
                <a:solidFill>
                  <a:srgbClr val="FFFF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372" name="Group 74"/>
              <p:cNvGrpSpPr>
                <a:grpSpLocks/>
              </p:cNvGrpSpPr>
              <p:nvPr/>
            </p:nvGrpSpPr>
            <p:grpSpPr bwMode="auto">
              <a:xfrm>
                <a:off x="6948264" y="3419708"/>
                <a:ext cx="274544" cy="369332"/>
                <a:chOff x="1547664" y="1997075"/>
                <a:chExt cx="274544" cy="369332"/>
              </a:xfrm>
            </p:grpSpPr>
            <p:cxnSp>
              <p:nvCxnSpPr>
                <p:cNvPr id="154" name="Straight Arrow Connector 153"/>
                <p:cNvCxnSpPr/>
                <p:nvPr/>
              </p:nvCxnSpPr>
              <p:spPr bwMode="auto">
                <a:xfrm>
                  <a:off x="1650385" y="2041571"/>
                  <a:ext cx="17164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74" name="TextBox 6"/>
                <p:cNvSpPr txBox="1">
                  <a:spLocks noChangeArrowheads="1"/>
                </p:cNvSpPr>
                <p:nvPr/>
              </p:nvSpPr>
              <p:spPr bwMode="auto">
                <a:xfrm>
                  <a:off x="1547664" y="1997075"/>
                  <a:ext cx="247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C</a:t>
                  </a:r>
                  <a:endParaRPr lang="en-IN" altLang="en-US">
                    <a:solidFill>
                      <a:srgbClr val="FFCCFF"/>
                    </a:solidFill>
                  </a:endParaRPr>
                </a:p>
              </p:txBody>
            </p:sp>
          </p:grpSp>
        </p:grpSp>
        <p:cxnSp>
          <p:nvCxnSpPr>
            <p:cNvPr id="128" name="Straight Arrow Connector 127"/>
            <p:cNvCxnSpPr/>
            <p:nvPr/>
          </p:nvCxnSpPr>
          <p:spPr>
            <a:xfrm flipH="1" flipV="1">
              <a:off x="1036637" y="1182688"/>
              <a:ext cx="422275" cy="1454149"/>
            </a:xfrm>
            <a:prstGeom prst="straightConnector1">
              <a:avLst/>
            </a:prstGeom>
            <a:ln w="28575">
              <a:solidFill>
                <a:srgbClr val="00CC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358" name="Group 128"/>
            <p:cNvGrpSpPr>
              <a:grpSpLocks/>
            </p:cNvGrpSpPr>
            <p:nvPr/>
          </p:nvGrpSpPr>
          <p:grpSpPr bwMode="auto">
            <a:xfrm rot="4473026">
              <a:off x="375495" y="1875751"/>
              <a:ext cx="1392238" cy="369888"/>
              <a:chOff x="3035202" y="1896167"/>
              <a:chExt cx="1392782" cy="369332"/>
            </a:xfrm>
          </p:grpSpPr>
          <p:sp>
            <p:nvSpPr>
              <p:cNvPr id="13366" name="TextBox 6"/>
              <p:cNvSpPr txBox="1">
                <a:spLocks noChangeArrowheads="1"/>
              </p:cNvSpPr>
              <p:nvPr/>
            </p:nvSpPr>
            <p:spPr bwMode="auto">
              <a:xfrm>
                <a:off x="3035202" y="1896167"/>
                <a:ext cx="13927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 A+B+C</a:t>
                </a:r>
                <a:endParaRPr lang="en-IN" altLang="en-US">
                  <a:solidFill>
                    <a:srgbClr val="FFCCFF"/>
                  </a:solidFill>
                </a:endParaRPr>
              </a:p>
            </p:txBody>
          </p:sp>
          <p:cxnSp>
            <p:nvCxnSpPr>
              <p:cNvPr id="148" name="Straight Arrow Connector 147"/>
              <p:cNvCxnSpPr/>
              <p:nvPr/>
            </p:nvCxnSpPr>
            <p:spPr bwMode="auto">
              <a:xfrm>
                <a:off x="3138015" y="1920850"/>
                <a:ext cx="16992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bwMode="auto">
              <a:xfrm>
                <a:off x="3506515" y="1928982"/>
                <a:ext cx="17151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p:nvPr/>
            </p:nvCxnSpPr>
            <p:spPr bwMode="auto">
              <a:xfrm>
                <a:off x="3771901" y="1916673"/>
                <a:ext cx="17151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bwMode="auto">
              <a:xfrm>
                <a:off x="4046600" y="1918227"/>
                <a:ext cx="16992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3359" name="Rectangle 129"/>
            <p:cNvSpPr>
              <a:spLocks noChangeArrowheads="1"/>
            </p:cNvSpPr>
            <p:nvPr/>
          </p:nvSpPr>
          <p:spPr bwMode="auto">
            <a:xfrm>
              <a:off x="1314450" y="257492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grpSp>
          <p:nvGrpSpPr>
            <p:cNvPr id="13360" name="Group 111"/>
            <p:cNvGrpSpPr>
              <a:grpSpLocks/>
            </p:cNvGrpSpPr>
            <p:nvPr/>
          </p:nvGrpSpPr>
          <p:grpSpPr bwMode="auto">
            <a:xfrm rot="-4398609">
              <a:off x="1342888" y="1766869"/>
              <a:ext cx="869043" cy="369490"/>
              <a:chOff x="3097303" y="1748125"/>
              <a:chExt cx="869374" cy="369332"/>
            </a:xfrm>
          </p:grpSpPr>
          <p:grpSp>
            <p:nvGrpSpPr>
              <p:cNvPr id="13362" name="Group 113"/>
              <p:cNvGrpSpPr>
                <a:grpSpLocks/>
              </p:cNvGrpSpPr>
              <p:nvPr/>
            </p:nvGrpSpPr>
            <p:grpSpPr bwMode="auto">
              <a:xfrm rot="1300514">
                <a:off x="3097303" y="1748125"/>
                <a:ext cx="869374" cy="369332"/>
                <a:chOff x="1547664" y="1997074"/>
                <a:chExt cx="869374" cy="369332"/>
              </a:xfrm>
            </p:grpSpPr>
            <p:cxnSp>
              <p:nvCxnSpPr>
                <p:cNvPr id="143" name="Straight Arrow Connector 142"/>
                <p:cNvCxnSpPr/>
                <p:nvPr/>
              </p:nvCxnSpPr>
              <p:spPr bwMode="auto">
                <a:xfrm>
                  <a:off x="1650360" y="2041299"/>
                  <a:ext cx="17151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65" name="TextBox 6"/>
                <p:cNvSpPr txBox="1">
                  <a:spLocks noChangeArrowheads="1"/>
                </p:cNvSpPr>
                <p:nvPr/>
              </p:nvSpPr>
              <p:spPr bwMode="auto">
                <a:xfrm>
                  <a:off x="1547664" y="1997074"/>
                  <a:ext cx="8693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 + C</a:t>
                  </a:r>
                  <a:endParaRPr lang="en-IN" altLang="en-US">
                    <a:solidFill>
                      <a:srgbClr val="FFCCFF"/>
                    </a:solidFill>
                  </a:endParaRPr>
                </a:p>
              </p:txBody>
            </p:sp>
          </p:grpSp>
          <p:cxnSp>
            <p:nvCxnSpPr>
              <p:cNvPr id="142" name="Straight Arrow Connector 141"/>
              <p:cNvCxnSpPr/>
              <p:nvPr/>
            </p:nvCxnSpPr>
            <p:spPr bwMode="auto">
              <a:xfrm rot="1300514">
                <a:off x="3638562" y="1837696"/>
                <a:ext cx="16039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35" name="Straight Arrow Connector 134"/>
            <p:cNvCxnSpPr>
              <a:stCxn id="13385" idx="1"/>
            </p:cNvCxnSpPr>
            <p:nvPr/>
          </p:nvCxnSpPr>
          <p:spPr bwMode="auto">
            <a:xfrm flipH="1">
              <a:off x="1449387" y="892176"/>
              <a:ext cx="1270000" cy="1720849"/>
            </a:xfrm>
            <a:prstGeom prst="straightConnector1">
              <a:avLst/>
            </a:prstGeom>
            <a:ln w="28575">
              <a:solidFill>
                <a:srgbClr val="FF99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3346" name="TextBox 135"/>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13347" name="TextBox 145"/>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13348" name="TextBox 146"/>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grpSp>
        <p:nvGrpSpPr>
          <p:cNvPr id="136" name="Group 159"/>
          <p:cNvGrpSpPr>
            <a:grpSpLocks/>
          </p:cNvGrpSpPr>
          <p:nvPr/>
        </p:nvGrpSpPr>
        <p:grpSpPr bwMode="auto">
          <a:xfrm>
            <a:off x="2999657" y="3609448"/>
            <a:ext cx="152437" cy="152698"/>
            <a:chOff x="3168" y="1392"/>
            <a:chExt cx="144" cy="144"/>
          </a:xfrm>
          <a:solidFill>
            <a:srgbClr val="FF0000"/>
          </a:solidFill>
        </p:grpSpPr>
        <p:sp>
          <p:nvSpPr>
            <p:cNvPr id="146" name="Oval 160"/>
            <p:cNvSpPr>
              <a:spLocks noChangeArrowheads="1"/>
            </p:cNvSpPr>
            <p:nvPr/>
          </p:nvSpPr>
          <p:spPr bwMode="auto">
            <a:xfrm>
              <a:off x="3168" y="1488"/>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sp>
          <p:nvSpPr>
            <p:cNvPr id="147" name="Oval 161"/>
            <p:cNvSpPr>
              <a:spLocks noChangeArrowheads="1"/>
            </p:cNvSpPr>
            <p:nvPr/>
          </p:nvSpPr>
          <p:spPr bwMode="auto">
            <a:xfrm>
              <a:off x="3264" y="1488"/>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sp>
          <p:nvSpPr>
            <p:cNvPr id="153" name="Oval 162"/>
            <p:cNvSpPr>
              <a:spLocks noChangeArrowheads="1"/>
            </p:cNvSpPr>
            <p:nvPr/>
          </p:nvSpPr>
          <p:spPr bwMode="auto">
            <a:xfrm>
              <a:off x="3216" y="1392"/>
              <a:ext cx="48" cy="48"/>
            </a:xfrm>
            <a:prstGeom prst="ellipse">
              <a:avLst/>
            </a:prstGeom>
            <a:grp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IN">
                <a:solidFill>
                  <a:srgbClr val="FF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04004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45"/>
                                        </p:tgtEl>
                                        <p:attrNameLst>
                                          <p:attrName>style.visibility</p:attrName>
                                        </p:attrNameLst>
                                      </p:cBhvr>
                                      <p:to>
                                        <p:strVal val="visible"/>
                                      </p:to>
                                    </p:set>
                                    <p:anim calcmode="lin" valueType="num">
                                      <p:cBhvr>
                                        <p:cTn id="7" dur="500" fill="hold"/>
                                        <p:tgtEl>
                                          <p:spTgt spid="145"/>
                                        </p:tgtEl>
                                        <p:attrNameLst>
                                          <p:attrName>ppt_w</p:attrName>
                                        </p:attrNameLst>
                                      </p:cBhvr>
                                      <p:tavLst>
                                        <p:tav tm="0">
                                          <p:val>
                                            <p:fltVal val="0"/>
                                          </p:val>
                                        </p:tav>
                                        <p:tav tm="100000">
                                          <p:val>
                                            <p:strVal val="#ppt_w"/>
                                          </p:val>
                                        </p:tav>
                                      </p:tavLst>
                                    </p:anim>
                                    <p:anim calcmode="lin" valueType="num">
                                      <p:cBhvr>
                                        <p:cTn id="8" dur="500" fill="hold"/>
                                        <p:tgtEl>
                                          <p:spTgt spid="145"/>
                                        </p:tgtEl>
                                        <p:attrNameLst>
                                          <p:attrName>ppt_h</p:attrName>
                                        </p:attrNameLst>
                                      </p:cBhvr>
                                      <p:tavLst>
                                        <p:tav tm="0">
                                          <p:val>
                                            <p:fltVal val="0"/>
                                          </p:val>
                                        </p:tav>
                                        <p:tav tm="100000">
                                          <p:val>
                                            <p:strVal val="#ppt_h"/>
                                          </p:val>
                                        </p:tav>
                                      </p:tavLst>
                                    </p:anim>
                                    <p:animEffect transition="in" filter="fade">
                                      <p:cBhvr>
                                        <p:cTn id="9" dur="500"/>
                                        <p:tgtEl>
                                          <p:spTgt spid="14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wipe(left)">
                                      <p:cBhvr>
                                        <p:cTn id="14" dur="500"/>
                                        <p:tgtEl>
                                          <p:spTgt spid="5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up)">
                                      <p:cBhvr>
                                        <p:cTn id="19" dur="500"/>
                                        <p:tgtEl>
                                          <p:spTgt spid="5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wipe(up)">
                                      <p:cBhvr>
                                        <p:cTn id="24" dur="500"/>
                                        <p:tgtEl>
                                          <p:spTgt spid="7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42" presetClass="path" presetSubtype="0" accel="50000" decel="50000" fill="hold" nodeType="withEffect">
                                  <p:stCondLst>
                                    <p:cond delay="0"/>
                                  </p:stCondLst>
                                  <p:childTnLst>
                                    <p:animMotion origin="layout" path="M -3.88889E-6 3.7037E-7 L -0.07343 0.01505 " pathEditMode="relative" rAng="0" ptsTypes="AA">
                                      <p:cBhvr>
                                        <p:cTn id="30" dur="2000" fill="hold"/>
                                        <p:tgtEl>
                                          <p:spTgt spid="58"/>
                                        </p:tgtEl>
                                        <p:attrNameLst>
                                          <p:attrName>ppt_x</p:attrName>
                                          <p:attrName>ppt_y</p:attrName>
                                        </p:attrNameLst>
                                      </p:cBhvr>
                                      <p:rCtr x="-3681" y="741"/>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wipe(up)">
                                      <p:cBhvr>
                                        <p:cTn id="35" dur="500"/>
                                        <p:tgtEl>
                                          <p:spTgt spid="6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nodeType="clickEffect">
                                  <p:stCondLst>
                                    <p:cond delay="0"/>
                                  </p:stCondLst>
                                  <p:childTnLst>
                                    <p:set>
                                      <p:cBhvr>
                                        <p:cTn id="39" dur="1" fill="hold">
                                          <p:stCondLst>
                                            <p:cond delay="0"/>
                                          </p:stCondLst>
                                        </p:cTn>
                                        <p:tgtEl>
                                          <p:spTgt spid="68"/>
                                        </p:tgtEl>
                                        <p:attrNameLst>
                                          <p:attrName>style.visibility</p:attrName>
                                        </p:attrNameLst>
                                      </p:cBhvr>
                                      <p:to>
                                        <p:strVal val="visible"/>
                                      </p:to>
                                    </p:set>
                                    <p:anim calcmode="lin" valueType="num">
                                      <p:cBhvr>
                                        <p:cTn id="40" dur="500" fill="hold"/>
                                        <p:tgtEl>
                                          <p:spTgt spid="68"/>
                                        </p:tgtEl>
                                        <p:attrNameLst>
                                          <p:attrName>ppt_w</p:attrName>
                                        </p:attrNameLst>
                                      </p:cBhvr>
                                      <p:tavLst>
                                        <p:tav tm="0">
                                          <p:val>
                                            <p:fltVal val="0"/>
                                          </p:val>
                                        </p:tav>
                                        <p:tav tm="100000">
                                          <p:val>
                                            <p:strVal val="#ppt_w"/>
                                          </p:val>
                                        </p:tav>
                                      </p:tavLst>
                                    </p:anim>
                                    <p:anim calcmode="lin" valueType="num">
                                      <p:cBhvr>
                                        <p:cTn id="41" dur="500" fill="hold"/>
                                        <p:tgtEl>
                                          <p:spTgt spid="68"/>
                                        </p:tgtEl>
                                        <p:attrNameLst>
                                          <p:attrName>ppt_h</p:attrName>
                                        </p:attrNameLst>
                                      </p:cBhvr>
                                      <p:tavLst>
                                        <p:tav tm="0">
                                          <p:val>
                                            <p:fltVal val="0"/>
                                          </p:val>
                                        </p:tav>
                                        <p:tav tm="100000">
                                          <p:val>
                                            <p:strVal val="#ppt_h"/>
                                          </p:val>
                                        </p:tav>
                                      </p:tavLst>
                                    </p:anim>
                                    <p:animEffect transition="in" filter="fade">
                                      <p:cBhvr>
                                        <p:cTn id="42" dur="500"/>
                                        <p:tgtEl>
                                          <p:spTgt spid="68"/>
                                        </p:tgtEl>
                                      </p:cBhvr>
                                    </p:animEffect>
                                  </p:childTnLst>
                                </p:cTn>
                              </p:par>
                            </p:childTnLst>
                          </p:cTn>
                        </p:par>
                        <p:par>
                          <p:cTn id="43" fill="hold" nodeType="afterGroup">
                            <p:stCondLst>
                              <p:cond delay="500"/>
                            </p:stCondLst>
                            <p:childTnLst>
                              <p:par>
                                <p:cTn id="44" presetID="1" presetClass="entr" presetSubtype="0" fill="hold" nodeType="afterEffect">
                                  <p:stCondLst>
                                    <p:cond delay="0"/>
                                  </p:stCondLst>
                                  <p:childTnLst>
                                    <p:set>
                                      <p:cBhvr>
                                        <p:cTn id="45" dur="1" fill="hold">
                                          <p:stCondLst>
                                            <p:cond delay="0"/>
                                          </p:stCondLst>
                                        </p:cTn>
                                        <p:tgtEl>
                                          <p:spTgt spid="64"/>
                                        </p:tgtEl>
                                        <p:attrNameLst>
                                          <p:attrName>style.visibility</p:attrName>
                                        </p:attrNameLst>
                                      </p:cBhvr>
                                      <p:to>
                                        <p:strVal val="visible"/>
                                      </p:to>
                                    </p:set>
                                  </p:childTnLst>
                                </p:cTn>
                              </p:par>
                            </p:childTnLst>
                          </p:cTn>
                        </p:par>
                        <p:par>
                          <p:cTn id="46" fill="hold" nodeType="afterGroup">
                            <p:stCondLst>
                              <p:cond delay="500"/>
                            </p:stCondLst>
                            <p:childTnLst>
                              <p:par>
                                <p:cTn id="47" presetID="1" presetClass="entr" presetSubtype="0" fill="hold" grpId="0" nodeType="after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42" presetClass="path" presetSubtype="0" accel="50000" decel="50000" fill="hold" nodeType="clickEffect">
                                  <p:stCondLst>
                                    <p:cond delay="0"/>
                                  </p:stCondLst>
                                  <p:childTnLst>
                                    <p:animMotion origin="layout" path="M 4.44444E-6 7.40741E-7 L -0.14566 -0.0044 " pathEditMode="relative" rAng="0" ptsTypes="AA">
                                      <p:cBhvr>
                                        <p:cTn id="52" dur="2000" fill="hold"/>
                                        <p:tgtEl>
                                          <p:spTgt spid="73"/>
                                        </p:tgtEl>
                                        <p:attrNameLst>
                                          <p:attrName>ppt_x</p:attrName>
                                          <p:attrName>ppt_y</p:attrName>
                                        </p:attrNameLst>
                                      </p:cBhvr>
                                      <p:rCtr x="-7292" y="-231"/>
                                    </p:animMotion>
                                  </p:childTnLst>
                                </p:cTn>
                              </p:par>
                              <p:par>
                                <p:cTn id="53" presetID="1" presetClass="entr" presetSubtype="0" fill="hold" nodeType="with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wipe(up)">
                                      <p:cBhvr>
                                        <p:cTn id="59" dur="500"/>
                                        <p:tgtEl>
                                          <p:spTgt spid="79"/>
                                        </p:tgtEl>
                                      </p:cBhvr>
                                    </p:animEffect>
                                  </p:childTnLst>
                                </p:cTn>
                              </p:par>
                            </p:childTnLst>
                          </p:cTn>
                        </p:par>
                        <p:par>
                          <p:cTn id="60" fill="hold" nodeType="afterGroup">
                            <p:stCondLst>
                              <p:cond delay="500"/>
                            </p:stCondLst>
                            <p:childTnLst>
                              <p:par>
                                <p:cTn id="61" presetID="53" presetClass="entr" presetSubtype="16" fill="hold" grpId="0" nodeType="afterEffect">
                                  <p:stCondLst>
                                    <p:cond delay="0"/>
                                  </p:stCondLst>
                                  <p:childTnLst>
                                    <p:set>
                                      <p:cBhvr>
                                        <p:cTn id="62" dur="1" fill="hold">
                                          <p:stCondLst>
                                            <p:cond delay="0"/>
                                          </p:stCondLst>
                                        </p:cTn>
                                        <p:tgtEl>
                                          <p:spTgt spid="86"/>
                                        </p:tgtEl>
                                        <p:attrNameLst>
                                          <p:attrName>style.visibility</p:attrName>
                                        </p:attrNameLst>
                                      </p:cBhvr>
                                      <p:to>
                                        <p:strVal val="visible"/>
                                      </p:to>
                                    </p:set>
                                    <p:anim calcmode="lin" valueType="num">
                                      <p:cBhvr>
                                        <p:cTn id="63" dur="500" fill="hold"/>
                                        <p:tgtEl>
                                          <p:spTgt spid="86"/>
                                        </p:tgtEl>
                                        <p:attrNameLst>
                                          <p:attrName>ppt_w</p:attrName>
                                        </p:attrNameLst>
                                      </p:cBhvr>
                                      <p:tavLst>
                                        <p:tav tm="0">
                                          <p:val>
                                            <p:fltVal val="0"/>
                                          </p:val>
                                        </p:tav>
                                        <p:tav tm="100000">
                                          <p:val>
                                            <p:strVal val="#ppt_w"/>
                                          </p:val>
                                        </p:tav>
                                      </p:tavLst>
                                    </p:anim>
                                    <p:anim calcmode="lin" valueType="num">
                                      <p:cBhvr>
                                        <p:cTn id="64" dur="500" fill="hold"/>
                                        <p:tgtEl>
                                          <p:spTgt spid="86"/>
                                        </p:tgtEl>
                                        <p:attrNameLst>
                                          <p:attrName>ppt_h</p:attrName>
                                        </p:attrNameLst>
                                      </p:cBhvr>
                                      <p:tavLst>
                                        <p:tav tm="0">
                                          <p:val>
                                            <p:fltVal val="0"/>
                                          </p:val>
                                        </p:tav>
                                        <p:tav tm="100000">
                                          <p:val>
                                            <p:strVal val="#ppt_h"/>
                                          </p:val>
                                        </p:tav>
                                      </p:tavLst>
                                    </p:anim>
                                    <p:animEffect transition="in" filter="fade">
                                      <p:cBhvr>
                                        <p:cTn id="65" dur="500"/>
                                        <p:tgtEl>
                                          <p:spTgt spid="8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80"/>
                                        </p:tgtEl>
                                        <p:attrNameLst>
                                          <p:attrName>style.visibility</p:attrName>
                                        </p:attrNameLst>
                                      </p:cBhvr>
                                      <p:to>
                                        <p:strVal val="visible"/>
                                      </p:to>
                                    </p:set>
                                    <p:animEffect transition="in" filter="wipe(up)">
                                      <p:cBhvr>
                                        <p:cTn id="70" dur="500"/>
                                        <p:tgtEl>
                                          <p:spTgt spid="8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87"/>
                                        </p:tgtEl>
                                        <p:attrNameLst>
                                          <p:attrName>style.visibility</p:attrName>
                                        </p:attrNameLst>
                                      </p:cBhvr>
                                      <p:to>
                                        <p:strVal val="visible"/>
                                      </p:to>
                                    </p:set>
                                    <p:animEffect transition="in" filter="wipe(left)">
                                      <p:cBhvr>
                                        <p:cTn id="75" dur="500"/>
                                        <p:tgtEl>
                                          <p:spTgt spid="8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92"/>
                                        </p:tgtEl>
                                        <p:attrNameLst>
                                          <p:attrName>style.visibility</p:attrName>
                                        </p:attrNameLst>
                                      </p:cBhvr>
                                      <p:to>
                                        <p:strVal val="visible"/>
                                      </p:to>
                                    </p:set>
                                    <p:animEffect transition="in" filter="wipe(up)">
                                      <p:cBhvr>
                                        <p:cTn id="80" dur="500"/>
                                        <p:tgtEl>
                                          <p:spTgt spid="9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98"/>
                                        </p:tgtEl>
                                        <p:attrNameLst>
                                          <p:attrName>style.visibility</p:attrName>
                                        </p:attrNameLst>
                                      </p:cBhvr>
                                      <p:to>
                                        <p:strVal val="visible"/>
                                      </p:to>
                                    </p:set>
                                    <p:animEffect transition="in" filter="wipe(up)">
                                      <p:cBhvr>
                                        <p:cTn id="85" dur="500"/>
                                        <p:tgtEl>
                                          <p:spTgt spid="9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42" presetClass="path" presetSubtype="0" accel="50000" decel="50000" fill="hold" nodeType="clickEffect">
                                  <p:stCondLst>
                                    <p:cond delay="0"/>
                                  </p:stCondLst>
                                  <p:childTnLst>
                                    <p:animMotion origin="layout" path="M -3.33333E-6 1.85185E-6 L -0.06701 -0.0375 " pathEditMode="relative" rAng="0" ptsTypes="AA">
                                      <p:cBhvr>
                                        <p:cTn id="89" dur="2000" fill="hold"/>
                                        <p:tgtEl>
                                          <p:spTgt spid="98"/>
                                        </p:tgtEl>
                                        <p:attrNameLst>
                                          <p:attrName>ppt_x</p:attrName>
                                          <p:attrName>ppt_y</p:attrName>
                                        </p:attrNameLst>
                                      </p:cBhvr>
                                      <p:rCtr x="-3351" y="-1875"/>
                                    </p:animMotion>
                                  </p:childTnLst>
                                </p:cTn>
                              </p:par>
                              <p:par>
                                <p:cTn id="90" presetID="1" presetClass="entr" presetSubtype="0" fill="hold" nodeType="withEffect">
                                  <p:stCondLst>
                                    <p:cond delay="0"/>
                                  </p:stCondLst>
                                  <p:childTnLst>
                                    <p:set>
                                      <p:cBhvr>
                                        <p:cTn id="91" dur="1" fill="hold">
                                          <p:stCondLst>
                                            <p:cond delay="0"/>
                                          </p:stCondLst>
                                        </p:cTn>
                                        <p:tgtEl>
                                          <p:spTgt spid="103"/>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1" fill="hold" nodeType="clickEffect">
                                  <p:stCondLst>
                                    <p:cond delay="0"/>
                                  </p:stCondLst>
                                  <p:childTnLst>
                                    <p:set>
                                      <p:cBhvr>
                                        <p:cTn id="95" dur="1" fill="hold">
                                          <p:stCondLst>
                                            <p:cond delay="0"/>
                                          </p:stCondLst>
                                        </p:cTn>
                                        <p:tgtEl>
                                          <p:spTgt spid="111"/>
                                        </p:tgtEl>
                                        <p:attrNameLst>
                                          <p:attrName>style.visibility</p:attrName>
                                        </p:attrNameLst>
                                      </p:cBhvr>
                                      <p:to>
                                        <p:strVal val="visible"/>
                                      </p:to>
                                    </p:set>
                                    <p:animEffect transition="in" filter="wipe(up)">
                                      <p:cBhvr>
                                        <p:cTn id="96" dur="500"/>
                                        <p:tgtEl>
                                          <p:spTgt spid="111"/>
                                        </p:tgtEl>
                                      </p:cBhvr>
                                    </p:animEffect>
                                  </p:childTnLst>
                                </p:cTn>
                              </p:par>
                              <p:par>
                                <p:cTn id="97" presetID="1" presetClass="entr" presetSubtype="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par>
                                <p:cTn id="99" presetID="53" presetClass="entr" presetSubtype="16" fill="hold" grpId="0" nodeType="withEffect">
                                  <p:stCondLst>
                                    <p:cond delay="0"/>
                                  </p:stCondLst>
                                  <p:childTnLst>
                                    <p:set>
                                      <p:cBhvr>
                                        <p:cTn id="100" dur="1" fill="hold">
                                          <p:stCondLst>
                                            <p:cond delay="0"/>
                                          </p:stCondLst>
                                        </p:cTn>
                                        <p:tgtEl>
                                          <p:spTgt spid="118"/>
                                        </p:tgtEl>
                                        <p:attrNameLst>
                                          <p:attrName>style.visibility</p:attrName>
                                        </p:attrNameLst>
                                      </p:cBhvr>
                                      <p:to>
                                        <p:strVal val="visible"/>
                                      </p:to>
                                    </p:set>
                                    <p:anim calcmode="lin" valueType="num">
                                      <p:cBhvr>
                                        <p:cTn id="101" dur="500" fill="hold"/>
                                        <p:tgtEl>
                                          <p:spTgt spid="118"/>
                                        </p:tgtEl>
                                        <p:attrNameLst>
                                          <p:attrName>ppt_w</p:attrName>
                                        </p:attrNameLst>
                                      </p:cBhvr>
                                      <p:tavLst>
                                        <p:tav tm="0">
                                          <p:val>
                                            <p:fltVal val="0"/>
                                          </p:val>
                                        </p:tav>
                                        <p:tav tm="100000">
                                          <p:val>
                                            <p:strVal val="#ppt_w"/>
                                          </p:val>
                                        </p:tav>
                                      </p:tavLst>
                                    </p:anim>
                                    <p:anim calcmode="lin" valueType="num">
                                      <p:cBhvr>
                                        <p:cTn id="102" dur="500" fill="hold"/>
                                        <p:tgtEl>
                                          <p:spTgt spid="118"/>
                                        </p:tgtEl>
                                        <p:attrNameLst>
                                          <p:attrName>ppt_h</p:attrName>
                                        </p:attrNameLst>
                                      </p:cBhvr>
                                      <p:tavLst>
                                        <p:tav tm="0">
                                          <p:val>
                                            <p:fltVal val="0"/>
                                          </p:val>
                                        </p:tav>
                                        <p:tav tm="100000">
                                          <p:val>
                                            <p:strVal val="#ppt_h"/>
                                          </p:val>
                                        </p:tav>
                                      </p:tavLst>
                                    </p:anim>
                                    <p:animEffect transition="in" filter="fade">
                                      <p:cBhvr>
                                        <p:cTn id="103" dur="500"/>
                                        <p:tgtEl>
                                          <p:spTgt spid="118"/>
                                        </p:tgtEl>
                                      </p:cBhvr>
                                    </p:animEffect>
                                  </p:childTnLst>
                                </p:cTn>
                              </p:par>
                              <p:par>
                                <p:cTn id="104" presetID="1" presetClass="entr" presetSubtype="0" fill="hold" grpId="0" nodeType="withEffect">
                                  <p:stCondLst>
                                    <p:cond delay="0"/>
                                  </p:stCondLst>
                                  <p:childTnLst>
                                    <p:set>
                                      <p:cBhvr>
                                        <p:cTn id="105" dur="1" fill="hold">
                                          <p:stCondLst>
                                            <p:cond delay="0"/>
                                          </p:stCondLst>
                                        </p:cTn>
                                        <p:tgtEl>
                                          <p:spTgt spid="122"/>
                                        </p:tgtEl>
                                        <p:attrNameLst>
                                          <p:attrName>style.visibility</p:attrName>
                                        </p:attrNameLst>
                                      </p:cBhvr>
                                      <p:to>
                                        <p:strVal val="visible"/>
                                      </p:to>
                                    </p:set>
                                  </p:childTnLst>
                                </p:cTn>
                              </p:par>
                              <p:par>
                                <p:cTn id="106" presetID="53" presetClass="entr" presetSubtype="16" fill="hold" grpId="0" nodeType="withEffect">
                                  <p:stCondLst>
                                    <p:cond delay="0"/>
                                  </p:stCondLst>
                                  <p:childTnLst>
                                    <p:set>
                                      <p:cBhvr>
                                        <p:cTn id="107" dur="1" fill="hold">
                                          <p:stCondLst>
                                            <p:cond delay="0"/>
                                          </p:stCondLst>
                                        </p:cTn>
                                        <p:tgtEl>
                                          <p:spTgt spid="110"/>
                                        </p:tgtEl>
                                        <p:attrNameLst>
                                          <p:attrName>style.visibility</p:attrName>
                                        </p:attrNameLst>
                                      </p:cBhvr>
                                      <p:to>
                                        <p:strVal val="visible"/>
                                      </p:to>
                                    </p:set>
                                    <p:anim calcmode="lin" valueType="num">
                                      <p:cBhvr>
                                        <p:cTn id="108" dur="500" fill="hold"/>
                                        <p:tgtEl>
                                          <p:spTgt spid="110"/>
                                        </p:tgtEl>
                                        <p:attrNameLst>
                                          <p:attrName>ppt_w</p:attrName>
                                        </p:attrNameLst>
                                      </p:cBhvr>
                                      <p:tavLst>
                                        <p:tav tm="0">
                                          <p:val>
                                            <p:fltVal val="0"/>
                                          </p:val>
                                        </p:tav>
                                        <p:tav tm="100000">
                                          <p:val>
                                            <p:strVal val="#ppt_w"/>
                                          </p:val>
                                        </p:tav>
                                      </p:tavLst>
                                    </p:anim>
                                    <p:anim calcmode="lin" valueType="num">
                                      <p:cBhvr>
                                        <p:cTn id="109" dur="500" fill="hold"/>
                                        <p:tgtEl>
                                          <p:spTgt spid="110"/>
                                        </p:tgtEl>
                                        <p:attrNameLst>
                                          <p:attrName>ppt_h</p:attrName>
                                        </p:attrNameLst>
                                      </p:cBhvr>
                                      <p:tavLst>
                                        <p:tav tm="0">
                                          <p:val>
                                            <p:fltVal val="0"/>
                                          </p:val>
                                        </p:tav>
                                        <p:tav tm="100000">
                                          <p:val>
                                            <p:strVal val="#ppt_h"/>
                                          </p:val>
                                        </p:tav>
                                      </p:tavLst>
                                    </p:anim>
                                    <p:animEffect transition="in" filter="fade">
                                      <p:cBhvr>
                                        <p:cTn id="110" dur="500"/>
                                        <p:tgtEl>
                                          <p:spTgt spid="11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42" presetClass="path" presetSubtype="0" accel="50000" decel="50000" fill="hold" nodeType="clickEffect">
                                  <p:stCondLst>
                                    <p:cond delay="0"/>
                                  </p:stCondLst>
                                  <p:childTnLst>
                                    <p:animMotion origin="layout" path="M 0 0.00023 L -0.07795 0.01343 " pathEditMode="relative" rAng="0" ptsTypes="AA">
                                      <p:cBhvr>
                                        <p:cTn id="114" dur="2000" fill="hold"/>
                                        <p:tgtEl>
                                          <p:spTgt spid="111"/>
                                        </p:tgtEl>
                                        <p:attrNameLst>
                                          <p:attrName>ppt_x</p:attrName>
                                          <p:attrName>ppt_y</p:attrName>
                                        </p:attrNameLst>
                                      </p:cBhvr>
                                      <p:rCtr x="-3906" y="648"/>
                                    </p:animMotion>
                                  </p:childTnLst>
                                </p:cTn>
                              </p:par>
                              <p:par>
                                <p:cTn id="115" presetID="1" presetClass="entr" presetSubtype="0" fill="hold" nodeType="withEffect">
                                  <p:stCondLst>
                                    <p:cond delay="0"/>
                                  </p:stCondLst>
                                  <p:childTnLst>
                                    <p:set>
                                      <p:cBhvr>
                                        <p:cTn id="116" dur="1" fill="hold">
                                          <p:stCondLst>
                                            <p:cond delay="0"/>
                                          </p:stCondLst>
                                        </p:cTn>
                                        <p:tgtEl>
                                          <p:spTgt spid="120"/>
                                        </p:tgtEl>
                                        <p:attrNameLst>
                                          <p:attrName>style.visibility</p:attrName>
                                        </p:attrNameLst>
                                      </p:cBhvr>
                                      <p:to>
                                        <p:strVal val="visible"/>
                                      </p:to>
                                    </p:set>
                                  </p:childTnLst>
                                </p:cTn>
                              </p:par>
                            </p:childTnLst>
                          </p:cTn>
                        </p:par>
                        <p:par>
                          <p:cTn id="117" fill="hold" nodeType="afterGroup">
                            <p:stCondLst>
                              <p:cond delay="2000"/>
                            </p:stCondLst>
                            <p:childTnLst>
                              <p:par>
                                <p:cTn id="118" presetID="1" presetClass="exit" presetSubtype="0" fill="hold" grpId="1" nodeType="afterEffect">
                                  <p:stCondLst>
                                    <p:cond delay="0"/>
                                  </p:stCondLst>
                                  <p:childTnLst>
                                    <p:set>
                                      <p:cBhvr>
                                        <p:cTn id="119" dur="1" fill="hold">
                                          <p:stCondLst>
                                            <p:cond delay="0"/>
                                          </p:stCondLst>
                                        </p:cTn>
                                        <p:tgtEl>
                                          <p:spTgt spid="97"/>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122"/>
                                        </p:tgtEl>
                                        <p:attrNameLst>
                                          <p:attrName>style.visibility</p:attrName>
                                        </p:attrNameLst>
                                      </p:cBhvr>
                                      <p:to>
                                        <p:strVal val="hidden"/>
                                      </p:to>
                                    </p:set>
                                  </p:childTnLst>
                                </p:cTn>
                              </p:par>
                              <p:par>
                                <p:cTn id="122" presetID="1" presetClass="entr" presetSubtype="0" fill="hold" grpId="0" nodeType="withEffect">
                                  <p:stCondLst>
                                    <p:cond delay="0"/>
                                  </p:stCondLst>
                                  <p:childTnLst>
                                    <p:set>
                                      <p:cBhvr>
                                        <p:cTn id="123" dur="1" fill="hold">
                                          <p:stCondLst>
                                            <p:cond delay="0"/>
                                          </p:stCondLst>
                                        </p:cTn>
                                        <p:tgtEl>
                                          <p:spTgt spid="123"/>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124"/>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1" fill="hold" nodeType="clickEffect">
                                  <p:stCondLst>
                                    <p:cond delay="0"/>
                                  </p:stCondLst>
                                  <p:childTnLst>
                                    <p:set>
                                      <p:cBhvr>
                                        <p:cTn id="129" dur="1" fill="hold">
                                          <p:stCondLst>
                                            <p:cond delay="0"/>
                                          </p:stCondLst>
                                        </p:cTn>
                                        <p:tgtEl>
                                          <p:spTgt spid="121"/>
                                        </p:tgtEl>
                                        <p:attrNameLst>
                                          <p:attrName>style.visibility</p:attrName>
                                        </p:attrNameLst>
                                      </p:cBhvr>
                                      <p:to>
                                        <p:strVal val="visible"/>
                                      </p:to>
                                    </p:set>
                                    <p:animEffect transition="in" filter="wipe(up)">
                                      <p:cBhvr>
                                        <p:cTn id="130" dur="500"/>
                                        <p:tgtEl>
                                          <p:spTgt spid="121"/>
                                        </p:tgtEl>
                                      </p:cBhvr>
                                    </p:animEffect>
                                  </p:childTnLst>
                                </p:cTn>
                              </p:par>
                            </p:childTnLst>
                          </p:cTn>
                        </p:par>
                        <p:par>
                          <p:cTn id="131" fill="hold" nodeType="afterGroup">
                            <p:stCondLst>
                              <p:cond delay="500"/>
                            </p:stCondLst>
                            <p:childTnLst>
                              <p:par>
                                <p:cTn id="132" presetID="53" presetClass="entr" presetSubtype="16" fill="hold" grpId="0" nodeType="afterEffect">
                                  <p:stCondLst>
                                    <p:cond delay="0"/>
                                  </p:stCondLst>
                                  <p:childTnLst>
                                    <p:set>
                                      <p:cBhvr>
                                        <p:cTn id="133" dur="1" fill="hold">
                                          <p:stCondLst>
                                            <p:cond delay="0"/>
                                          </p:stCondLst>
                                        </p:cTn>
                                        <p:tgtEl>
                                          <p:spTgt spid="119"/>
                                        </p:tgtEl>
                                        <p:attrNameLst>
                                          <p:attrName>style.visibility</p:attrName>
                                        </p:attrNameLst>
                                      </p:cBhvr>
                                      <p:to>
                                        <p:strVal val="visible"/>
                                      </p:to>
                                    </p:set>
                                    <p:anim calcmode="lin" valueType="num">
                                      <p:cBhvr>
                                        <p:cTn id="134" dur="500" fill="hold"/>
                                        <p:tgtEl>
                                          <p:spTgt spid="119"/>
                                        </p:tgtEl>
                                        <p:attrNameLst>
                                          <p:attrName>ppt_w</p:attrName>
                                        </p:attrNameLst>
                                      </p:cBhvr>
                                      <p:tavLst>
                                        <p:tav tm="0">
                                          <p:val>
                                            <p:fltVal val="0"/>
                                          </p:val>
                                        </p:tav>
                                        <p:tav tm="100000">
                                          <p:val>
                                            <p:strVal val="#ppt_w"/>
                                          </p:val>
                                        </p:tav>
                                      </p:tavLst>
                                    </p:anim>
                                    <p:anim calcmode="lin" valueType="num">
                                      <p:cBhvr>
                                        <p:cTn id="135" dur="500" fill="hold"/>
                                        <p:tgtEl>
                                          <p:spTgt spid="119"/>
                                        </p:tgtEl>
                                        <p:attrNameLst>
                                          <p:attrName>ppt_h</p:attrName>
                                        </p:attrNameLst>
                                      </p:cBhvr>
                                      <p:tavLst>
                                        <p:tav tm="0">
                                          <p:val>
                                            <p:fltVal val="0"/>
                                          </p:val>
                                        </p:tav>
                                        <p:tav tm="100000">
                                          <p:val>
                                            <p:strVal val="#ppt_h"/>
                                          </p:val>
                                        </p:tav>
                                      </p:tavLst>
                                    </p:anim>
                                    <p:animEffect transition="in" filter="fade">
                                      <p:cBhvr>
                                        <p:cTn id="136" dur="500"/>
                                        <p:tgtEl>
                                          <p:spTgt spid="119"/>
                                        </p:tgtEl>
                                      </p:cBhvr>
                                    </p:animEffect>
                                  </p:childTnLst>
                                </p:cTn>
                              </p:par>
                            </p:childTnLst>
                          </p:cTn>
                        </p:par>
                        <p:par>
                          <p:cTn id="137" fill="hold" nodeType="afterGroup">
                            <p:stCondLst>
                              <p:cond delay="1000"/>
                            </p:stCondLst>
                            <p:childTnLst>
                              <p:par>
                                <p:cTn id="138" presetID="22" presetClass="entr" presetSubtype="1" fill="hold" nodeType="afterEffect">
                                  <p:stCondLst>
                                    <p:cond delay="0"/>
                                  </p:stCondLst>
                                  <p:childTnLst>
                                    <p:set>
                                      <p:cBhvr>
                                        <p:cTn id="139" dur="1" fill="hold">
                                          <p:stCondLst>
                                            <p:cond delay="0"/>
                                          </p:stCondLst>
                                        </p:cTn>
                                        <p:tgtEl>
                                          <p:spTgt spid="104"/>
                                        </p:tgtEl>
                                        <p:attrNameLst>
                                          <p:attrName>style.visibility</p:attrName>
                                        </p:attrNameLst>
                                      </p:cBhvr>
                                      <p:to>
                                        <p:strVal val="visible"/>
                                      </p:to>
                                    </p:set>
                                    <p:animEffect transition="in" filter="wipe(up)">
                                      <p:cBhvr>
                                        <p:cTn id="140" dur="500"/>
                                        <p:tgtEl>
                                          <p:spTgt spid="104"/>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125"/>
                                        </p:tgtEl>
                                        <p:attrNameLst>
                                          <p:attrName>style.visibility</p:attrName>
                                        </p:attrNameLst>
                                      </p:cBhvr>
                                      <p:to>
                                        <p:strVal val="visible"/>
                                      </p:to>
                                    </p:set>
                                    <p:animEffect transition="in" filter="wipe(left)">
                                      <p:cBhvr>
                                        <p:cTn id="145" dur="500"/>
                                        <p:tgtEl>
                                          <p:spTgt spid="125"/>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53" presetClass="entr" presetSubtype="16" fill="hold" nodeType="clickEffect">
                                  <p:stCondLst>
                                    <p:cond delay="0"/>
                                  </p:stCondLst>
                                  <p:childTnLst>
                                    <p:set>
                                      <p:cBhvr>
                                        <p:cTn id="149" dur="1" fill="hold">
                                          <p:stCondLst>
                                            <p:cond delay="0"/>
                                          </p:stCondLst>
                                        </p:cTn>
                                        <p:tgtEl>
                                          <p:spTgt spid="136"/>
                                        </p:tgtEl>
                                        <p:attrNameLst>
                                          <p:attrName>style.visibility</p:attrName>
                                        </p:attrNameLst>
                                      </p:cBhvr>
                                      <p:to>
                                        <p:strVal val="visible"/>
                                      </p:to>
                                    </p:set>
                                    <p:anim calcmode="lin" valueType="num">
                                      <p:cBhvr>
                                        <p:cTn id="150" dur="500" fill="hold"/>
                                        <p:tgtEl>
                                          <p:spTgt spid="136"/>
                                        </p:tgtEl>
                                        <p:attrNameLst>
                                          <p:attrName>ppt_w</p:attrName>
                                        </p:attrNameLst>
                                      </p:cBhvr>
                                      <p:tavLst>
                                        <p:tav tm="0">
                                          <p:val>
                                            <p:fltVal val="0"/>
                                          </p:val>
                                        </p:tav>
                                        <p:tav tm="100000">
                                          <p:val>
                                            <p:strVal val="#ppt_w"/>
                                          </p:val>
                                        </p:tav>
                                      </p:tavLst>
                                    </p:anim>
                                    <p:anim calcmode="lin" valueType="num">
                                      <p:cBhvr>
                                        <p:cTn id="151" dur="500" fill="hold"/>
                                        <p:tgtEl>
                                          <p:spTgt spid="136"/>
                                        </p:tgtEl>
                                        <p:attrNameLst>
                                          <p:attrName>ppt_h</p:attrName>
                                        </p:attrNameLst>
                                      </p:cBhvr>
                                      <p:tavLst>
                                        <p:tav tm="0">
                                          <p:val>
                                            <p:fltVal val="0"/>
                                          </p:val>
                                        </p:tav>
                                        <p:tav tm="100000">
                                          <p:val>
                                            <p:strVal val="#ppt_h"/>
                                          </p:val>
                                        </p:tav>
                                      </p:tavLst>
                                    </p:anim>
                                    <p:animEffect transition="in" filter="fade">
                                      <p:cBhvr>
                                        <p:cTn id="152" dur="500"/>
                                        <p:tgtEl>
                                          <p:spTgt spid="136"/>
                                        </p:tgtEl>
                                      </p:cBhvr>
                                    </p:animEffect>
                                  </p:childTnLst>
                                </p:cTn>
                              </p:par>
                            </p:childTnLst>
                          </p:cTn>
                        </p:par>
                        <p:par>
                          <p:cTn id="153" fill="hold" nodeType="afterGroup">
                            <p:stCondLst>
                              <p:cond delay="500"/>
                            </p:stCondLst>
                            <p:childTnLst>
                              <p:par>
                                <p:cTn id="154" presetID="53" presetClass="entr" presetSubtype="16" fill="hold" nodeType="afterEffect">
                                  <p:stCondLst>
                                    <p:cond delay="0"/>
                                  </p:stCondLst>
                                  <p:childTnLst>
                                    <p:set>
                                      <p:cBhvr>
                                        <p:cTn id="155" dur="1" fill="hold">
                                          <p:stCondLst>
                                            <p:cond delay="0"/>
                                          </p:stCondLst>
                                        </p:cTn>
                                        <p:tgtEl>
                                          <p:spTgt spid="144"/>
                                        </p:tgtEl>
                                        <p:attrNameLst>
                                          <p:attrName>style.visibility</p:attrName>
                                        </p:attrNameLst>
                                      </p:cBhvr>
                                      <p:to>
                                        <p:strVal val="visible"/>
                                      </p:to>
                                    </p:set>
                                    <p:anim calcmode="lin" valueType="num">
                                      <p:cBhvr>
                                        <p:cTn id="156" dur="500" fill="hold"/>
                                        <p:tgtEl>
                                          <p:spTgt spid="144"/>
                                        </p:tgtEl>
                                        <p:attrNameLst>
                                          <p:attrName>ppt_w</p:attrName>
                                        </p:attrNameLst>
                                      </p:cBhvr>
                                      <p:tavLst>
                                        <p:tav tm="0">
                                          <p:val>
                                            <p:fltVal val="0"/>
                                          </p:val>
                                        </p:tav>
                                        <p:tav tm="100000">
                                          <p:val>
                                            <p:strVal val="#ppt_w"/>
                                          </p:val>
                                        </p:tav>
                                      </p:tavLst>
                                    </p:anim>
                                    <p:anim calcmode="lin" valueType="num">
                                      <p:cBhvr>
                                        <p:cTn id="157" dur="500" fill="hold"/>
                                        <p:tgtEl>
                                          <p:spTgt spid="144"/>
                                        </p:tgtEl>
                                        <p:attrNameLst>
                                          <p:attrName>ppt_h</p:attrName>
                                        </p:attrNameLst>
                                      </p:cBhvr>
                                      <p:tavLst>
                                        <p:tav tm="0">
                                          <p:val>
                                            <p:fltVal val="0"/>
                                          </p:val>
                                        </p:tav>
                                        <p:tav tm="100000">
                                          <p:val>
                                            <p:strVal val="#ppt_h"/>
                                          </p:val>
                                        </p:tav>
                                      </p:tavLst>
                                    </p:anim>
                                    <p:animEffect transition="in" filter="fade">
                                      <p:cBhvr>
                                        <p:cTn id="158" dur="500"/>
                                        <p:tgtEl>
                                          <p:spTgt spid="144"/>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53" presetClass="entr" presetSubtype="16" fill="hold" grpId="0" nodeType="clickEffect">
                                  <p:stCondLst>
                                    <p:cond delay="0"/>
                                  </p:stCondLst>
                                  <p:childTnLst>
                                    <p:set>
                                      <p:cBhvr>
                                        <p:cTn id="162" dur="1" fill="hold">
                                          <p:stCondLst>
                                            <p:cond delay="0"/>
                                          </p:stCondLst>
                                        </p:cTn>
                                        <p:tgtEl>
                                          <p:spTgt spid="139"/>
                                        </p:tgtEl>
                                        <p:attrNameLst>
                                          <p:attrName>style.visibility</p:attrName>
                                        </p:attrNameLst>
                                      </p:cBhvr>
                                      <p:to>
                                        <p:strVal val="visible"/>
                                      </p:to>
                                    </p:set>
                                    <p:anim calcmode="lin" valueType="num">
                                      <p:cBhvr>
                                        <p:cTn id="163" dur="500" fill="hold"/>
                                        <p:tgtEl>
                                          <p:spTgt spid="139"/>
                                        </p:tgtEl>
                                        <p:attrNameLst>
                                          <p:attrName>ppt_w</p:attrName>
                                        </p:attrNameLst>
                                      </p:cBhvr>
                                      <p:tavLst>
                                        <p:tav tm="0">
                                          <p:val>
                                            <p:fltVal val="0"/>
                                          </p:val>
                                        </p:tav>
                                        <p:tav tm="100000">
                                          <p:val>
                                            <p:strVal val="#ppt_w"/>
                                          </p:val>
                                        </p:tav>
                                      </p:tavLst>
                                    </p:anim>
                                    <p:anim calcmode="lin" valueType="num">
                                      <p:cBhvr>
                                        <p:cTn id="164" dur="500" fill="hold"/>
                                        <p:tgtEl>
                                          <p:spTgt spid="139"/>
                                        </p:tgtEl>
                                        <p:attrNameLst>
                                          <p:attrName>ppt_h</p:attrName>
                                        </p:attrNameLst>
                                      </p:cBhvr>
                                      <p:tavLst>
                                        <p:tav tm="0">
                                          <p:val>
                                            <p:fltVal val="0"/>
                                          </p:val>
                                        </p:tav>
                                        <p:tav tm="100000">
                                          <p:val>
                                            <p:strVal val="#ppt_h"/>
                                          </p:val>
                                        </p:tav>
                                      </p:tavLst>
                                    </p:anim>
                                    <p:animEffect transition="in" filter="fade">
                                      <p:cBhvr>
                                        <p:cTn id="165" dur="500"/>
                                        <p:tgtEl>
                                          <p:spTgt spid="139"/>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53" presetClass="entr" presetSubtype="16" fill="hold" nodeType="clickEffect">
                                  <p:stCondLst>
                                    <p:cond delay="0"/>
                                  </p:stCondLst>
                                  <p:childTnLst>
                                    <p:set>
                                      <p:cBhvr>
                                        <p:cTn id="169" dur="1" fill="hold">
                                          <p:stCondLst>
                                            <p:cond delay="0"/>
                                          </p:stCondLst>
                                        </p:cTn>
                                        <p:tgtEl>
                                          <p:spTgt spid="96"/>
                                        </p:tgtEl>
                                        <p:attrNameLst>
                                          <p:attrName>style.visibility</p:attrName>
                                        </p:attrNameLst>
                                      </p:cBhvr>
                                      <p:to>
                                        <p:strVal val="visible"/>
                                      </p:to>
                                    </p:set>
                                    <p:anim calcmode="lin" valueType="num">
                                      <p:cBhvr>
                                        <p:cTn id="170" dur="500" fill="hold"/>
                                        <p:tgtEl>
                                          <p:spTgt spid="96"/>
                                        </p:tgtEl>
                                        <p:attrNameLst>
                                          <p:attrName>ppt_w</p:attrName>
                                        </p:attrNameLst>
                                      </p:cBhvr>
                                      <p:tavLst>
                                        <p:tav tm="0">
                                          <p:val>
                                            <p:fltVal val="0"/>
                                          </p:val>
                                        </p:tav>
                                        <p:tav tm="100000">
                                          <p:val>
                                            <p:strVal val="#ppt_w"/>
                                          </p:val>
                                        </p:tav>
                                      </p:tavLst>
                                    </p:anim>
                                    <p:anim calcmode="lin" valueType="num">
                                      <p:cBhvr>
                                        <p:cTn id="171" dur="500" fill="hold"/>
                                        <p:tgtEl>
                                          <p:spTgt spid="96"/>
                                        </p:tgtEl>
                                        <p:attrNameLst>
                                          <p:attrName>ppt_h</p:attrName>
                                        </p:attrNameLst>
                                      </p:cBhvr>
                                      <p:tavLst>
                                        <p:tav tm="0">
                                          <p:val>
                                            <p:fltVal val="0"/>
                                          </p:val>
                                        </p:tav>
                                        <p:tav tm="100000">
                                          <p:val>
                                            <p:strVal val="#ppt_h"/>
                                          </p:val>
                                        </p:tav>
                                      </p:tavLst>
                                    </p:anim>
                                    <p:animEffect transition="in" filter="fade">
                                      <p:cBhvr>
                                        <p:cTn id="17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86" grpId="0"/>
      <p:bldP spid="97" grpId="0"/>
      <p:bldP spid="97" grpId="1"/>
      <p:bldP spid="110" grpId="0"/>
      <p:bldP spid="118" grpId="0"/>
      <p:bldP spid="119" grpId="0"/>
      <p:bldP spid="122" grpId="0"/>
      <p:bldP spid="122" grpId="1"/>
      <p:bldP spid="123" grpId="0"/>
      <p:bldP spid="124" grpId="0"/>
      <p:bldP spid="139" grpId="0"/>
      <p:bldP spid="14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a:spLocks noChangeArrowheads="1"/>
          </p:cNvSpPr>
          <p:nvPr/>
        </p:nvSpPr>
        <p:spPr bwMode="auto">
          <a:xfrm>
            <a:off x="1774826" y="549275"/>
            <a:ext cx="85693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defRPr/>
            </a:pPr>
            <a:r>
              <a:rPr lang="en-US" b="1" i="1" dirty="0">
                <a:solidFill>
                  <a:srgbClr val="92D050"/>
                </a:solidFill>
                <a:latin typeface="Arial"/>
                <a:ea typeface="Times New Roman" pitchFamily="18" charset="0"/>
                <a:cs typeface="Bookman-Light" charset="0"/>
              </a:rPr>
              <a:t>If the two vectors (to be added) can be represented both in magnitude and direction by the </a:t>
            </a:r>
            <a:r>
              <a:rPr lang="en-US" b="1" i="1" dirty="0">
                <a:solidFill>
                  <a:srgbClr val="FF0066"/>
                </a:solidFill>
                <a:latin typeface="Arial"/>
                <a:ea typeface="Times New Roman" pitchFamily="18" charset="0"/>
                <a:cs typeface="Bookman-Light" charset="0"/>
              </a:rPr>
              <a:t>two adjacent sides </a:t>
            </a:r>
            <a:r>
              <a:rPr lang="en-US" b="1" i="1" dirty="0">
                <a:solidFill>
                  <a:srgbClr val="92D050"/>
                </a:solidFill>
                <a:latin typeface="Arial"/>
                <a:ea typeface="Times New Roman" pitchFamily="18" charset="0"/>
                <a:cs typeface="Bookman-Light" charset="0"/>
              </a:rPr>
              <a:t>of a parallelogram, then the resultant is represented completely (both in magnitude and direction) by the </a:t>
            </a:r>
            <a:r>
              <a:rPr lang="en-US" b="1" i="1" dirty="0">
                <a:solidFill>
                  <a:srgbClr val="FF0066"/>
                </a:solidFill>
                <a:latin typeface="Arial"/>
                <a:ea typeface="Times New Roman" pitchFamily="18" charset="0"/>
                <a:cs typeface="Bookman-Light" charset="0"/>
              </a:rPr>
              <a:t>diagonal</a:t>
            </a:r>
            <a:r>
              <a:rPr lang="en-US" b="1" i="1" dirty="0">
                <a:solidFill>
                  <a:srgbClr val="92D050"/>
                </a:solidFill>
                <a:latin typeface="Arial"/>
                <a:ea typeface="Times New Roman" pitchFamily="18" charset="0"/>
                <a:cs typeface="Bookman-Light" charset="0"/>
              </a:rPr>
              <a:t> of the parallelogram passing through the </a:t>
            </a:r>
            <a:r>
              <a:rPr lang="en-US" b="1" i="1" dirty="0">
                <a:solidFill>
                  <a:srgbClr val="FF0066"/>
                </a:solidFill>
                <a:latin typeface="Arial"/>
                <a:ea typeface="Times New Roman" pitchFamily="18" charset="0"/>
                <a:cs typeface="Bookman-Light" charset="0"/>
              </a:rPr>
              <a:t>starting point </a:t>
            </a:r>
            <a:r>
              <a:rPr lang="en-US" b="1" i="1" dirty="0">
                <a:solidFill>
                  <a:srgbClr val="92D050"/>
                </a:solidFill>
                <a:latin typeface="Arial"/>
                <a:ea typeface="Times New Roman" pitchFamily="18" charset="0"/>
                <a:cs typeface="Bookman-Light" charset="0"/>
              </a:rPr>
              <a:t>of the  vectors. </a:t>
            </a:r>
            <a:endParaRPr lang="en-US" b="1" dirty="0">
              <a:solidFill>
                <a:srgbClr val="92D050"/>
              </a:solidFill>
              <a:latin typeface="Arial"/>
              <a:cs typeface="Arial" panose="020B0604020202020204" pitchFamily="34" charset="0"/>
            </a:endParaRPr>
          </a:p>
        </p:txBody>
      </p:sp>
      <p:sp>
        <p:nvSpPr>
          <p:cNvPr id="31" name="Rectangle 30"/>
          <p:cNvSpPr/>
          <p:nvPr/>
        </p:nvSpPr>
        <p:spPr>
          <a:xfrm>
            <a:off x="1774825" y="57150"/>
            <a:ext cx="5194300" cy="400050"/>
          </a:xfrm>
          <a:prstGeom prst="rect">
            <a:avLst/>
          </a:prstGeom>
        </p:spPr>
        <p:txBody>
          <a:bodyPr wrap="none">
            <a:spAutoFit/>
          </a:bodyPr>
          <a:lstStyle/>
          <a:p>
            <a:pPr fontAlgn="base">
              <a:spcBef>
                <a:spcPct val="0"/>
              </a:spcBef>
              <a:spcAft>
                <a:spcPct val="0"/>
              </a:spcAft>
              <a:defRPr/>
            </a:pPr>
            <a:r>
              <a:rPr lang="en-US" sz="2000" b="1" dirty="0">
                <a:solidFill>
                  <a:srgbClr val="FF99FF"/>
                </a:solidFill>
                <a:latin typeface="Arial" panose="020B0604020202020204" pitchFamily="34" charset="0"/>
                <a:ea typeface="Times New Roman" pitchFamily="18" charset="0"/>
                <a:cs typeface="Bookman-Light" charset="0"/>
              </a:rPr>
              <a:t>2.  </a:t>
            </a:r>
            <a:r>
              <a:rPr lang="en-US" sz="2000" b="1" dirty="0">
                <a:solidFill>
                  <a:srgbClr val="FF99FF"/>
                </a:solidFill>
                <a:latin typeface="Arial"/>
                <a:ea typeface="Times New Roman" pitchFamily="18" charset="0"/>
                <a:cs typeface="Bookman-Light" charset="0"/>
              </a:rPr>
              <a:t>Parallelogram</a:t>
            </a:r>
            <a:r>
              <a:rPr lang="en-US" sz="2000" b="1" dirty="0">
                <a:solidFill>
                  <a:srgbClr val="FF99FF"/>
                </a:solidFill>
                <a:latin typeface="Arial" panose="020B0604020202020204" pitchFamily="34" charset="0"/>
                <a:ea typeface="Times New Roman" pitchFamily="18" charset="0"/>
                <a:cs typeface="Bookman-Light" charset="0"/>
              </a:rPr>
              <a:t> Law of Vector Addition</a:t>
            </a:r>
            <a:endParaRPr lang="en-IN" sz="2000" dirty="0">
              <a:solidFill>
                <a:srgbClr val="000000"/>
              </a:solidFill>
              <a:latin typeface="Arial" panose="020B0604020202020204" pitchFamily="34" charset="0"/>
              <a:cs typeface="Arial" panose="020B0604020202020204" pitchFamily="34" charset="0"/>
            </a:endParaRPr>
          </a:p>
        </p:txBody>
      </p:sp>
      <p:grpSp>
        <p:nvGrpSpPr>
          <p:cNvPr id="34" name="Group 33"/>
          <p:cNvGrpSpPr>
            <a:grpSpLocks/>
          </p:cNvGrpSpPr>
          <p:nvPr/>
        </p:nvGrpSpPr>
        <p:grpSpPr bwMode="auto">
          <a:xfrm>
            <a:off x="1811338" y="1844676"/>
            <a:ext cx="3852862" cy="646113"/>
            <a:chOff x="288032" y="3789040"/>
            <a:chExt cx="3851920" cy="646331"/>
          </a:xfrm>
        </p:grpSpPr>
        <p:sp>
          <p:nvSpPr>
            <p:cNvPr id="14379" name="Rectangle 8"/>
            <p:cNvSpPr>
              <a:spLocks noChangeArrowheads="1"/>
            </p:cNvSpPr>
            <p:nvPr/>
          </p:nvSpPr>
          <p:spPr bwMode="auto">
            <a:xfrm>
              <a:off x="288032" y="3789040"/>
              <a:ext cx="38519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9999"/>
                  </a:solidFill>
                  <a:ea typeface="Times New Roman" panose="02020603050405020304" pitchFamily="18" charset="0"/>
                  <a:cs typeface="Bookman-Light"/>
                </a:rPr>
                <a:t>Example:</a:t>
              </a:r>
            </a:p>
            <a:p>
              <a:pPr fontAlgn="base">
                <a:spcBef>
                  <a:spcPct val="0"/>
                </a:spcBef>
                <a:spcAft>
                  <a:spcPct val="0"/>
                </a:spcAft>
              </a:pPr>
              <a:r>
                <a:rPr lang="en-US" altLang="en-US" b="1">
                  <a:solidFill>
                    <a:srgbClr val="FF9999"/>
                  </a:solidFill>
                  <a:ea typeface="Times New Roman" panose="02020603050405020304" pitchFamily="18" charset="0"/>
                  <a:cs typeface="Bookman-Light"/>
                </a:rPr>
                <a:t>Addition of two vectors A and B. </a:t>
              </a:r>
            </a:p>
          </p:txBody>
        </p:sp>
        <p:cxnSp>
          <p:nvCxnSpPr>
            <p:cNvPr id="36" name="Straight Arrow Connector 35"/>
            <p:cNvCxnSpPr/>
            <p:nvPr/>
          </p:nvCxnSpPr>
          <p:spPr bwMode="auto">
            <a:xfrm>
              <a:off x="2973425" y="4095531"/>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bwMode="auto">
            <a:xfrm>
              <a:off x="3663818" y="4095531"/>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8" name="Group 37"/>
          <p:cNvGrpSpPr>
            <a:grpSpLocks/>
          </p:cNvGrpSpPr>
          <p:nvPr/>
        </p:nvGrpSpPr>
        <p:grpSpPr bwMode="auto">
          <a:xfrm>
            <a:off x="1822451" y="2492376"/>
            <a:ext cx="5146675" cy="923925"/>
            <a:chOff x="298649" y="4365104"/>
            <a:chExt cx="5147096" cy="924324"/>
          </a:xfrm>
        </p:grpSpPr>
        <p:sp>
          <p:nvSpPr>
            <p:cNvPr id="39" name="Text Box 3"/>
            <p:cNvSpPr txBox="1">
              <a:spLocks noChangeArrowheads="1"/>
            </p:cNvSpPr>
            <p:nvPr/>
          </p:nvSpPr>
          <p:spPr bwMode="auto">
            <a:xfrm>
              <a:off x="298649" y="4365104"/>
              <a:ext cx="5147096" cy="924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00FFCC"/>
                  </a:solidFill>
                  <a:latin typeface="Arial"/>
                  <a:cs typeface="Arial" panose="020B0604020202020204" pitchFamily="34" charset="0"/>
                </a:rPr>
                <a:t>To add vector B to vector A, move vector B parallel to itself so as to place the </a:t>
              </a:r>
              <a:r>
                <a:rPr lang="en-US" sz="1800" b="1" dirty="0">
                  <a:solidFill>
                    <a:srgbClr val="FF0066"/>
                  </a:solidFill>
                  <a:latin typeface="Arial"/>
                  <a:cs typeface="Arial" panose="020B0604020202020204" pitchFamily="34" charset="0"/>
                </a:rPr>
                <a:t>tail</a:t>
              </a:r>
              <a:r>
                <a:rPr lang="en-US" sz="1800" b="1" dirty="0">
                  <a:solidFill>
                    <a:srgbClr val="00FFCC"/>
                  </a:solidFill>
                  <a:latin typeface="Arial"/>
                  <a:cs typeface="Arial" panose="020B0604020202020204" pitchFamily="34" charset="0"/>
                </a:rPr>
                <a:t> of B on </a:t>
              </a:r>
              <a:r>
                <a:rPr lang="en-US" sz="1800" b="1" dirty="0">
                  <a:solidFill>
                    <a:srgbClr val="FF0066"/>
                  </a:solidFill>
                  <a:latin typeface="Arial"/>
                  <a:cs typeface="Arial" panose="020B0604020202020204" pitchFamily="34" charset="0"/>
                </a:rPr>
                <a:t>tail</a:t>
              </a:r>
              <a:r>
                <a:rPr lang="en-US" sz="1800" b="1" dirty="0">
                  <a:solidFill>
                    <a:srgbClr val="00FFCC"/>
                  </a:solidFill>
                  <a:latin typeface="Arial"/>
                  <a:cs typeface="Arial" panose="020B0604020202020204" pitchFamily="34" charset="0"/>
                </a:rPr>
                <a:t> of  A.</a:t>
              </a:r>
            </a:p>
          </p:txBody>
        </p:sp>
        <p:cxnSp>
          <p:nvCxnSpPr>
            <p:cNvPr id="40" name="Straight Arrow Connector 39"/>
            <p:cNvCxnSpPr/>
            <p:nvPr/>
          </p:nvCxnSpPr>
          <p:spPr bwMode="auto">
            <a:xfrm>
              <a:off x="1935496" y="4404809"/>
              <a:ext cx="1714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bwMode="auto">
            <a:xfrm>
              <a:off x="3194486" y="4409573"/>
              <a:ext cx="1714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bwMode="auto">
            <a:xfrm>
              <a:off x="4899600" y="4409573"/>
              <a:ext cx="1714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bwMode="auto">
            <a:xfrm>
              <a:off x="4788466" y="4684330"/>
              <a:ext cx="1714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bwMode="auto">
            <a:xfrm>
              <a:off x="1133742" y="4954321"/>
              <a:ext cx="1714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5" name="Line 22"/>
          <p:cNvSpPr>
            <a:spLocks noChangeShapeType="1"/>
          </p:cNvSpPr>
          <p:nvPr/>
        </p:nvSpPr>
        <p:spPr bwMode="auto">
          <a:xfrm flipV="1">
            <a:off x="9902826" y="2420939"/>
            <a:ext cx="346075" cy="801687"/>
          </a:xfrm>
          <a:prstGeom prst="line">
            <a:avLst/>
          </a:prstGeom>
          <a:noFill/>
          <a:ln w="28575">
            <a:solidFill>
              <a:srgbClr val="FF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46" name="Group 45"/>
          <p:cNvGrpSpPr>
            <a:grpSpLocks/>
          </p:cNvGrpSpPr>
          <p:nvPr/>
        </p:nvGrpSpPr>
        <p:grpSpPr bwMode="auto">
          <a:xfrm>
            <a:off x="7915275" y="2289176"/>
            <a:ext cx="1682750" cy="542925"/>
            <a:chOff x="297025" y="4941168"/>
            <a:chExt cx="1682687" cy="543108"/>
          </a:xfrm>
        </p:grpSpPr>
        <p:sp>
          <p:nvSpPr>
            <p:cNvPr id="14369"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4370" name="Group 14"/>
            <p:cNvGrpSpPr>
              <a:grpSpLocks/>
            </p:cNvGrpSpPr>
            <p:nvPr/>
          </p:nvGrpSpPr>
          <p:grpSpPr bwMode="auto">
            <a:xfrm>
              <a:off x="1057096" y="4941168"/>
              <a:ext cx="274544" cy="369888"/>
              <a:chOff x="1547664" y="1997075"/>
              <a:chExt cx="274544" cy="369888"/>
            </a:xfrm>
          </p:grpSpPr>
          <p:cxnSp>
            <p:nvCxnSpPr>
              <p:cNvPr id="49" name="Straight Arrow Connector 48"/>
              <p:cNvCxnSpPr/>
              <p:nvPr/>
            </p:nvCxnSpPr>
            <p:spPr bwMode="auto">
              <a:xfrm>
                <a:off x="1651161" y="204154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372"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51" name="Group 50"/>
          <p:cNvGrpSpPr>
            <a:grpSpLocks/>
          </p:cNvGrpSpPr>
          <p:nvPr/>
        </p:nvGrpSpPr>
        <p:grpSpPr bwMode="auto">
          <a:xfrm>
            <a:off x="9904414" y="2420939"/>
            <a:ext cx="346075" cy="801687"/>
            <a:chOff x="8583834" y="3789040"/>
            <a:chExt cx="380654" cy="802071"/>
          </a:xfrm>
        </p:grpSpPr>
        <p:sp>
          <p:nvSpPr>
            <p:cNvPr id="14365"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4366" name="Group 23"/>
            <p:cNvGrpSpPr>
              <a:grpSpLocks/>
            </p:cNvGrpSpPr>
            <p:nvPr/>
          </p:nvGrpSpPr>
          <p:grpSpPr bwMode="auto">
            <a:xfrm>
              <a:off x="8689944" y="4139232"/>
              <a:ext cx="274544" cy="369888"/>
              <a:chOff x="1547664" y="1997075"/>
              <a:chExt cx="274544" cy="369888"/>
            </a:xfrm>
          </p:grpSpPr>
          <p:cxnSp>
            <p:nvCxnSpPr>
              <p:cNvPr id="54" name="Straight Arrow Connector 53"/>
              <p:cNvCxnSpPr/>
              <p:nvPr/>
            </p:nvCxnSpPr>
            <p:spPr bwMode="auto">
              <a:xfrm>
                <a:off x="1651088" y="2040772"/>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368"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sp>
        <p:nvSpPr>
          <p:cNvPr id="60" name="Rectangle 59"/>
          <p:cNvSpPr>
            <a:spLocks noChangeArrowheads="1"/>
          </p:cNvSpPr>
          <p:nvPr/>
        </p:nvSpPr>
        <p:spPr bwMode="auto">
          <a:xfrm>
            <a:off x="9421814" y="2205039"/>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70" name="Group 69"/>
          <p:cNvGrpSpPr>
            <a:grpSpLocks/>
          </p:cNvGrpSpPr>
          <p:nvPr/>
        </p:nvGrpSpPr>
        <p:grpSpPr bwMode="auto">
          <a:xfrm rot="1380577">
            <a:off x="8355014" y="2838450"/>
            <a:ext cx="942975" cy="368300"/>
            <a:chOff x="6311900" y="5067330"/>
            <a:chExt cx="942976" cy="368300"/>
          </a:xfrm>
        </p:grpSpPr>
        <p:grpSp>
          <p:nvGrpSpPr>
            <p:cNvPr id="14360" name="Group 60"/>
            <p:cNvGrpSpPr>
              <a:grpSpLocks/>
            </p:cNvGrpSpPr>
            <p:nvPr/>
          </p:nvGrpSpPr>
          <p:grpSpPr bwMode="auto">
            <a:xfrm>
              <a:off x="6311900" y="5067330"/>
              <a:ext cx="942976" cy="368300"/>
              <a:chOff x="1547663" y="1997075"/>
              <a:chExt cx="942504" cy="369332"/>
            </a:xfrm>
          </p:grpSpPr>
          <p:cxnSp>
            <p:nvCxnSpPr>
              <p:cNvPr id="65" name="Straight Arrow Connector 64"/>
              <p:cNvCxnSpPr/>
              <p:nvPr/>
            </p:nvCxnSpPr>
            <p:spPr bwMode="auto">
              <a:xfrm>
                <a:off x="1641176" y="2041558"/>
                <a:ext cx="17136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364" name="TextBox 6"/>
              <p:cNvSpPr txBox="1">
                <a:spLocks noChangeArrowheads="1"/>
              </p:cNvSpPr>
              <p:nvPr/>
            </p:nvSpPr>
            <p:spPr bwMode="auto">
              <a:xfrm>
                <a:off x="1547663" y="1997075"/>
                <a:ext cx="9425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R=A+B</a:t>
                </a:r>
                <a:endParaRPr lang="en-IN" altLang="en-US">
                  <a:solidFill>
                    <a:srgbClr val="FFCCFF"/>
                  </a:solidFill>
                </a:endParaRPr>
              </a:p>
            </p:txBody>
          </p:sp>
        </p:grpSp>
        <p:cxnSp>
          <p:nvCxnSpPr>
            <p:cNvPr id="63" name="Straight Arrow Connector 62"/>
            <p:cNvCxnSpPr/>
            <p:nvPr/>
          </p:nvCxnSpPr>
          <p:spPr bwMode="auto">
            <a:xfrm>
              <a:off x="6705124" y="5118621"/>
              <a:ext cx="17303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bwMode="auto">
            <a:xfrm>
              <a:off x="6975150" y="5112942"/>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67" name="Line 22"/>
          <p:cNvSpPr>
            <a:spLocks noChangeShapeType="1"/>
          </p:cNvSpPr>
          <p:nvPr/>
        </p:nvSpPr>
        <p:spPr bwMode="auto">
          <a:xfrm flipV="1">
            <a:off x="9220201" y="2533650"/>
            <a:ext cx="346075" cy="801688"/>
          </a:xfrm>
          <a:prstGeom prst="line">
            <a:avLst/>
          </a:prstGeom>
          <a:noFill/>
          <a:ln w="28575">
            <a:solidFill>
              <a:srgbClr val="FF00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68" name="Line 22"/>
          <p:cNvSpPr>
            <a:spLocks noChangeShapeType="1"/>
          </p:cNvSpPr>
          <p:nvPr/>
        </p:nvSpPr>
        <p:spPr bwMode="auto">
          <a:xfrm flipV="1">
            <a:off x="7562850" y="3309939"/>
            <a:ext cx="1682750" cy="280987"/>
          </a:xfrm>
          <a:prstGeom prst="line">
            <a:avLst/>
          </a:prstGeom>
          <a:noFill/>
          <a:ln w="28575">
            <a:solidFill>
              <a:srgbClr val="00FF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69" name="Rectangle 68"/>
          <p:cNvSpPr>
            <a:spLocks noChangeArrowheads="1"/>
          </p:cNvSpPr>
          <p:nvPr/>
        </p:nvSpPr>
        <p:spPr bwMode="auto">
          <a:xfrm>
            <a:off x="7319964" y="3563938"/>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cxnSp>
        <p:nvCxnSpPr>
          <p:cNvPr id="56" name="Straight Arrow Connector 55"/>
          <p:cNvCxnSpPr/>
          <p:nvPr/>
        </p:nvCxnSpPr>
        <p:spPr>
          <a:xfrm>
            <a:off x="7926389" y="2824164"/>
            <a:ext cx="1317625" cy="496887"/>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Rectangle 70"/>
          <p:cNvSpPr>
            <a:spLocks noChangeArrowheads="1"/>
          </p:cNvSpPr>
          <p:nvPr/>
        </p:nvSpPr>
        <p:spPr bwMode="auto">
          <a:xfrm>
            <a:off x="7675564" y="2492375"/>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sp>
        <p:nvSpPr>
          <p:cNvPr id="72" name="Rectangle 71"/>
          <p:cNvSpPr>
            <a:spLocks noChangeArrowheads="1"/>
          </p:cNvSpPr>
          <p:nvPr/>
        </p:nvSpPr>
        <p:spPr bwMode="auto">
          <a:xfrm>
            <a:off x="9056689" y="3284539"/>
            <a:ext cx="352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sp>
        <p:nvSpPr>
          <p:cNvPr id="73" name="Rectangle 72"/>
          <p:cNvSpPr>
            <a:spLocks noChangeArrowheads="1"/>
          </p:cNvSpPr>
          <p:nvPr/>
        </p:nvSpPr>
        <p:spPr bwMode="auto">
          <a:xfrm>
            <a:off x="1854201" y="5516564"/>
            <a:ext cx="86661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00"/>
                </a:solidFill>
              </a:rPr>
              <a:t>The two vectors are represented by the adjacent sides of a parallelogram and the resultant is given by the diagonal, so this method is known as parallelogram method of vector addition. </a:t>
            </a:r>
            <a:endParaRPr lang="en-IN" altLang="en-US" b="1">
              <a:solidFill>
                <a:srgbClr val="00CC00"/>
              </a:solidFill>
            </a:endParaRPr>
          </a:p>
        </p:txBody>
      </p:sp>
      <p:sp>
        <p:nvSpPr>
          <p:cNvPr id="74" name="Rectangle 73"/>
          <p:cNvSpPr>
            <a:spLocks noChangeArrowheads="1"/>
          </p:cNvSpPr>
          <p:nvPr/>
        </p:nvSpPr>
        <p:spPr bwMode="auto">
          <a:xfrm>
            <a:off x="1830389" y="5003800"/>
            <a:ext cx="8226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99"/>
                </a:solidFill>
              </a:rPr>
              <a:t>Note that the resultant is the same as obtained by </a:t>
            </a:r>
            <a:r>
              <a:rPr lang="en-US" altLang="en-US" b="1">
                <a:solidFill>
                  <a:srgbClr val="FF7C80"/>
                </a:solidFill>
              </a:rPr>
              <a:t>triangle law of vectors</a:t>
            </a:r>
            <a:r>
              <a:rPr lang="en-US" altLang="en-US" b="1">
                <a:solidFill>
                  <a:srgbClr val="FFFF99"/>
                </a:solidFill>
              </a:rPr>
              <a:t>.</a:t>
            </a:r>
            <a:endParaRPr lang="en-IN" altLang="en-US" b="1">
              <a:solidFill>
                <a:srgbClr val="FFFF99"/>
              </a:solidFill>
            </a:endParaRPr>
          </a:p>
        </p:txBody>
      </p:sp>
      <p:sp>
        <p:nvSpPr>
          <p:cNvPr id="84" name="Rectangle 83"/>
          <p:cNvSpPr>
            <a:spLocks noChangeArrowheads="1"/>
          </p:cNvSpPr>
          <p:nvPr/>
        </p:nvSpPr>
        <p:spPr bwMode="auto">
          <a:xfrm>
            <a:off x="1795464" y="3500439"/>
            <a:ext cx="47323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FF"/>
                </a:solidFill>
              </a:rPr>
              <a:t>Complete the parallelogram OQRP.</a:t>
            </a:r>
          </a:p>
          <a:p>
            <a:pPr eaLnBrk="1" fontAlgn="base" hangingPunct="1">
              <a:spcBef>
                <a:spcPct val="0"/>
              </a:spcBef>
              <a:spcAft>
                <a:spcPct val="0"/>
              </a:spcAft>
            </a:pPr>
            <a:r>
              <a:rPr lang="en-US" altLang="en-US" b="1">
                <a:solidFill>
                  <a:srgbClr val="FFCCFF"/>
                </a:solidFill>
              </a:rPr>
              <a:t>Draw the </a:t>
            </a:r>
            <a:r>
              <a:rPr lang="en-US" altLang="en-US" b="1">
                <a:solidFill>
                  <a:srgbClr val="FF0066"/>
                </a:solidFill>
              </a:rPr>
              <a:t>diagonal</a:t>
            </a:r>
            <a:r>
              <a:rPr lang="en-US" altLang="en-US" b="1">
                <a:solidFill>
                  <a:srgbClr val="FFCCFF"/>
                </a:solidFill>
              </a:rPr>
              <a:t> passing through the common point O (</a:t>
            </a:r>
            <a:r>
              <a:rPr lang="en-US" altLang="en-US" b="1">
                <a:solidFill>
                  <a:srgbClr val="FF0066"/>
                </a:solidFill>
              </a:rPr>
              <a:t>meeting point of tails</a:t>
            </a:r>
            <a:r>
              <a:rPr lang="en-US" altLang="en-US" b="1">
                <a:solidFill>
                  <a:srgbClr val="FFCCFF"/>
                </a:solidFill>
              </a:rPr>
              <a:t>).</a:t>
            </a:r>
          </a:p>
        </p:txBody>
      </p:sp>
      <p:sp>
        <p:nvSpPr>
          <p:cNvPr id="14356" name="Rectangle 84"/>
          <p:cNvSpPr>
            <a:spLocks noChangeArrowheads="1"/>
          </p:cNvSpPr>
          <p:nvPr/>
        </p:nvSpPr>
        <p:spPr bwMode="auto">
          <a:xfrm>
            <a:off x="1811339" y="4529138"/>
            <a:ext cx="794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The diagonal represents the resultant or sum of the given two vectors.</a:t>
            </a:r>
            <a:endParaRPr lang="en-IN" altLang="en-US" b="1">
              <a:solidFill>
                <a:srgbClr val="FF00FF"/>
              </a:solidFill>
            </a:endParaRPr>
          </a:p>
        </p:txBody>
      </p:sp>
      <p:sp>
        <p:nvSpPr>
          <p:cNvPr id="14357" name="TextBox 46"/>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14358" name="TextBox 47"/>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14359" name="TextBox 49"/>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160289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up)">
                                      <p:cBhvr>
                                        <p:cTn id="14" dur="500"/>
                                        <p:tgtEl>
                                          <p:spTgt spid="1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up)">
                                      <p:cBhvr>
                                        <p:cTn id="24" dur="500"/>
                                        <p:tgtEl>
                                          <p:spTgt spid="3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wipe(down)">
                                      <p:cBhvr>
                                        <p:cTn id="29" dur="500"/>
                                        <p:tgtEl>
                                          <p:spTgt spid="4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up)">
                                      <p:cBhvr>
                                        <p:cTn id="34" dur="500"/>
                                        <p:tgtEl>
                                          <p:spTgt spid="5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42" presetClass="path" presetSubtype="0" accel="50000" decel="50000" fill="hold" nodeType="withEffect">
                                  <p:stCondLst>
                                    <p:cond delay="0"/>
                                  </p:stCondLst>
                                  <p:childTnLst>
                                    <p:animMotion origin="layout" path="M 3.33333E-6 1.11111E-6 L -0.25434 0.05717 " pathEditMode="relative" rAng="0" ptsTypes="AA">
                                      <p:cBhvr>
                                        <p:cTn id="40" dur="2000" fill="hold"/>
                                        <p:tgtEl>
                                          <p:spTgt spid="51"/>
                                        </p:tgtEl>
                                        <p:attrNameLst>
                                          <p:attrName>ppt_x</p:attrName>
                                          <p:attrName>ppt_y</p:attrName>
                                        </p:attrNameLst>
                                      </p:cBhvr>
                                      <p:rCtr x="-12726" y="2847"/>
                                    </p:animMotion>
                                  </p:childTnLst>
                                </p:cTn>
                              </p:par>
                            </p:childTnLst>
                          </p:cTn>
                        </p:par>
                        <p:par>
                          <p:cTn id="41" fill="hold" nodeType="afterGroup">
                            <p:stCondLst>
                              <p:cond delay="2000"/>
                            </p:stCondLst>
                            <p:childTnLst>
                              <p:par>
                                <p:cTn id="42" presetID="53" presetClass="entr" presetSubtype="16" fill="hold" grpId="0" nodeType="afterEffect">
                                  <p:stCondLst>
                                    <p:cond delay="0"/>
                                  </p:stCondLst>
                                  <p:childTnLst>
                                    <p:set>
                                      <p:cBhvr>
                                        <p:cTn id="43" dur="1" fill="hold">
                                          <p:stCondLst>
                                            <p:cond delay="0"/>
                                          </p:stCondLst>
                                        </p:cTn>
                                        <p:tgtEl>
                                          <p:spTgt spid="71"/>
                                        </p:tgtEl>
                                        <p:attrNameLst>
                                          <p:attrName>style.visibility</p:attrName>
                                        </p:attrNameLst>
                                      </p:cBhvr>
                                      <p:to>
                                        <p:strVal val="visible"/>
                                      </p:to>
                                    </p:set>
                                    <p:anim calcmode="lin" valueType="num">
                                      <p:cBhvr>
                                        <p:cTn id="44" dur="500" fill="hold"/>
                                        <p:tgtEl>
                                          <p:spTgt spid="71"/>
                                        </p:tgtEl>
                                        <p:attrNameLst>
                                          <p:attrName>ppt_w</p:attrName>
                                        </p:attrNameLst>
                                      </p:cBhvr>
                                      <p:tavLst>
                                        <p:tav tm="0">
                                          <p:val>
                                            <p:fltVal val="0"/>
                                          </p:val>
                                        </p:tav>
                                        <p:tav tm="100000">
                                          <p:val>
                                            <p:strVal val="#ppt_w"/>
                                          </p:val>
                                        </p:tav>
                                      </p:tavLst>
                                    </p:anim>
                                    <p:anim calcmode="lin" valueType="num">
                                      <p:cBhvr>
                                        <p:cTn id="45" dur="500" fill="hold"/>
                                        <p:tgtEl>
                                          <p:spTgt spid="71"/>
                                        </p:tgtEl>
                                        <p:attrNameLst>
                                          <p:attrName>ppt_h</p:attrName>
                                        </p:attrNameLst>
                                      </p:cBhvr>
                                      <p:tavLst>
                                        <p:tav tm="0">
                                          <p:val>
                                            <p:fltVal val="0"/>
                                          </p:val>
                                        </p:tav>
                                        <p:tav tm="100000">
                                          <p:val>
                                            <p:strVal val="#ppt_h"/>
                                          </p:val>
                                        </p:tav>
                                      </p:tavLst>
                                    </p:anim>
                                    <p:animEffect transition="in" filter="fade">
                                      <p:cBhvr>
                                        <p:cTn id="46" dur="500"/>
                                        <p:tgtEl>
                                          <p:spTgt spid="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84"/>
                                        </p:tgtEl>
                                        <p:attrNameLst>
                                          <p:attrName>style.visibility</p:attrName>
                                        </p:attrNameLst>
                                      </p:cBhvr>
                                      <p:to>
                                        <p:strVal val="visible"/>
                                      </p:to>
                                    </p:set>
                                    <p:animEffect transition="in" filter="wipe(up)">
                                      <p:cBhvr>
                                        <p:cTn id="51" dur="500"/>
                                        <p:tgtEl>
                                          <p:spTgt spid="8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0"/>
                                        </p:tgtEl>
                                        <p:attrNameLst>
                                          <p:attrName>style.visibility</p:attrName>
                                        </p:attrNameLst>
                                      </p:cBhvr>
                                      <p:to>
                                        <p:strVal val="visible"/>
                                      </p:to>
                                    </p:set>
                                  </p:childTnLst>
                                </p:cTn>
                              </p:par>
                            </p:childTnLst>
                          </p:cTn>
                        </p:par>
                        <p:par>
                          <p:cTn id="56" fill="hold" nodeType="afterGroup">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68"/>
                                        </p:tgtEl>
                                        <p:attrNameLst>
                                          <p:attrName>style.visibility</p:attrName>
                                        </p:attrNameLst>
                                      </p:cBhvr>
                                      <p:to>
                                        <p:strVal val="visible"/>
                                      </p:to>
                                    </p:set>
                                    <p:animEffect transition="in" filter="wipe(down)">
                                      <p:cBhvr>
                                        <p:cTn id="63" dur="500"/>
                                        <p:tgtEl>
                                          <p:spTgt spid="68"/>
                                        </p:tgtEl>
                                      </p:cBhvr>
                                    </p:animEffect>
                                  </p:childTnLst>
                                </p:cTn>
                              </p:par>
                            </p:childTnLst>
                          </p:cTn>
                        </p:par>
                        <p:par>
                          <p:cTn id="64" fill="hold" nodeType="afterGroup">
                            <p:stCondLst>
                              <p:cond delay="500"/>
                            </p:stCondLst>
                            <p:childTnLst>
                              <p:par>
                                <p:cTn id="65" presetID="1" presetClass="entr" presetSubtype="0" fill="hold" grpId="0" nodeType="after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down)">
                                      <p:cBhvr>
                                        <p:cTn id="71" dur="500"/>
                                        <p:tgtEl>
                                          <p:spTgt spid="6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1" fill="hold" nodeType="click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wipe(up)">
                                      <p:cBhvr>
                                        <p:cTn id="76" dur="500"/>
                                        <p:tgtEl>
                                          <p:spTgt spid="56"/>
                                        </p:tgtEl>
                                      </p:cBhvr>
                                    </p:animEffect>
                                  </p:childTnLst>
                                </p:cTn>
                              </p:par>
                            </p:childTnLst>
                          </p:cTn>
                        </p:par>
                        <p:par>
                          <p:cTn id="77" fill="hold" nodeType="afterGroup">
                            <p:stCondLst>
                              <p:cond delay="500"/>
                            </p:stCondLst>
                            <p:childTnLst>
                              <p:par>
                                <p:cTn id="78" presetID="53" presetClass="entr" presetSubtype="16" fill="hold" nodeType="afterEffect">
                                  <p:stCondLst>
                                    <p:cond delay="0"/>
                                  </p:stCondLst>
                                  <p:childTnLst>
                                    <p:set>
                                      <p:cBhvr>
                                        <p:cTn id="79" dur="1" fill="hold">
                                          <p:stCondLst>
                                            <p:cond delay="0"/>
                                          </p:stCondLst>
                                        </p:cTn>
                                        <p:tgtEl>
                                          <p:spTgt spid="70"/>
                                        </p:tgtEl>
                                        <p:attrNameLst>
                                          <p:attrName>style.visibility</p:attrName>
                                        </p:attrNameLst>
                                      </p:cBhvr>
                                      <p:to>
                                        <p:strVal val="visible"/>
                                      </p:to>
                                    </p:set>
                                    <p:anim calcmode="lin" valueType="num">
                                      <p:cBhvr>
                                        <p:cTn id="80" dur="500" fill="hold"/>
                                        <p:tgtEl>
                                          <p:spTgt spid="70"/>
                                        </p:tgtEl>
                                        <p:attrNameLst>
                                          <p:attrName>ppt_w</p:attrName>
                                        </p:attrNameLst>
                                      </p:cBhvr>
                                      <p:tavLst>
                                        <p:tav tm="0">
                                          <p:val>
                                            <p:fltVal val="0"/>
                                          </p:val>
                                        </p:tav>
                                        <p:tav tm="100000">
                                          <p:val>
                                            <p:strVal val="#ppt_w"/>
                                          </p:val>
                                        </p:tav>
                                      </p:tavLst>
                                    </p:anim>
                                    <p:anim calcmode="lin" valueType="num">
                                      <p:cBhvr>
                                        <p:cTn id="81" dur="500" fill="hold"/>
                                        <p:tgtEl>
                                          <p:spTgt spid="70"/>
                                        </p:tgtEl>
                                        <p:attrNameLst>
                                          <p:attrName>ppt_h</p:attrName>
                                        </p:attrNameLst>
                                      </p:cBhvr>
                                      <p:tavLst>
                                        <p:tav tm="0">
                                          <p:val>
                                            <p:fltVal val="0"/>
                                          </p:val>
                                        </p:tav>
                                        <p:tav tm="100000">
                                          <p:val>
                                            <p:strVal val="#ppt_h"/>
                                          </p:val>
                                        </p:tav>
                                      </p:tavLst>
                                    </p:anim>
                                    <p:animEffect transition="in" filter="fade">
                                      <p:cBhvr>
                                        <p:cTn id="82" dur="500"/>
                                        <p:tgtEl>
                                          <p:spTgt spid="7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4356"/>
                                        </p:tgtEl>
                                        <p:attrNameLst>
                                          <p:attrName>style.visibility</p:attrName>
                                        </p:attrNameLst>
                                      </p:cBhvr>
                                      <p:to>
                                        <p:strVal val="visible"/>
                                      </p:to>
                                    </p:set>
                                    <p:animEffect transition="in" filter="wipe(left)">
                                      <p:cBhvr>
                                        <p:cTn id="87" dur="500"/>
                                        <p:tgtEl>
                                          <p:spTgt spid="1435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74"/>
                                        </p:tgtEl>
                                        <p:attrNameLst>
                                          <p:attrName>style.visibility</p:attrName>
                                        </p:attrNameLst>
                                      </p:cBhvr>
                                      <p:to>
                                        <p:strVal val="visible"/>
                                      </p:to>
                                    </p:set>
                                    <p:animEffect transition="in" filter="wipe(left)">
                                      <p:cBhvr>
                                        <p:cTn id="92" dur="500"/>
                                        <p:tgtEl>
                                          <p:spTgt spid="7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73"/>
                                        </p:tgtEl>
                                        <p:attrNameLst>
                                          <p:attrName>style.visibility</p:attrName>
                                        </p:attrNameLst>
                                      </p:cBhvr>
                                      <p:to>
                                        <p:strVal val="visible"/>
                                      </p:to>
                                    </p:set>
                                    <p:anim calcmode="lin" valueType="num">
                                      <p:cBhvr additive="base">
                                        <p:cTn id="97" dur="500" fill="hold"/>
                                        <p:tgtEl>
                                          <p:spTgt spid="73"/>
                                        </p:tgtEl>
                                        <p:attrNameLst>
                                          <p:attrName>ppt_x</p:attrName>
                                        </p:attrNameLst>
                                      </p:cBhvr>
                                      <p:tavLst>
                                        <p:tav tm="0">
                                          <p:val>
                                            <p:strVal val="#ppt_x"/>
                                          </p:val>
                                        </p:tav>
                                        <p:tav tm="100000">
                                          <p:val>
                                            <p:strVal val="#ppt_x"/>
                                          </p:val>
                                        </p:tav>
                                      </p:tavLst>
                                    </p:anim>
                                    <p:anim calcmode="lin" valueType="num">
                                      <p:cBhvr additive="base">
                                        <p:cTn id="9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P spid="60" grpId="0"/>
      <p:bldP spid="69" grpId="0"/>
      <p:bldP spid="71" grpId="0"/>
      <p:bldP spid="72" grpId="0"/>
      <p:bldP spid="73" grpId="0"/>
      <p:bldP spid="74" grpId="0"/>
      <p:bldP spid="84" grpId="0"/>
      <p:bldP spid="1435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4826" y="128588"/>
            <a:ext cx="2919413" cy="400050"/>
          </a:xfrm>
          <a:prstGeom prst="rect">
            <a:avLst/>
          </a:prstGeom>
        </p:spPr>
        <p:txBody>
          <a:bodyPr wrap="none">
            <a:spAutoFit/>
          </a:bodyPr>
          <a:lstStyle/>
          <a:p>
            <a:pPr fontAlgn="base">
              <a:spcBef>
                <a:spcPct val="0"/>
              </a:spcBef>
              <a:spcAft>
                <a:spcPct val="0"/>
              </a:spcAft>
              <a:defRPr/>
            </a:pPr>
            <a:r>
              <a:rPr lang="en-US" sz="2000" b="1" dirty="0">
                <a:solidFill>
                  <a:srgbClr val="FFFF99"/>
                </a:solidFill>
                <a:latin typeface="Arial"/>
                <a:ea typeface="Times New Roman" pitchFamily="18" charset="0"/>
                <a:cs typeface="Bookman-Light" charset="0"/>
              </a:rPr>
              <a:t>Subtraction of Vectors</a:t>
            </a:r>
            <a:endParaRPr lang="en-IN" sz="2000" b="1" dirty="0">
              <a:solidFill>
                <a:srgbClr val="FFFF99"/>
              </a:solidFill>
              <a:latin typeface="Arial"/>
              <a:cs typeface="Arial" panose="020B0604020202020204" pitchFamily="34" charset="0"/>
            </a:endParaRPr>
          </a:p>
        </p:txBody>
      </p:sp>
      <p:sp>
        <p:nvSpPr>
          <p:cNvPr id="16387" name="Rectangle 1"/>
          <p:cNvSpPr>
            <a:spLocks noChangeArrowheads="1"/>
          </p:cNvSpPr>
          <p:nvPr/>
        </p:nvSpPr>
        <p:spPr bwMode="auto">
          <a:xfrm>
            <a:off x="1774826" y="550863"/>
            <a:ext cx="82343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6600"/>
                </a:solidFill>
              </a:rPr>
              <a:t>Subtraction of vectors can be defined by vector addition of one  vector with the negative vector of the other.</a:t>
            </a:r>
            <a:endParaRPr lang="en-IN" altLang="en-US" b="1">
              <a:solidFill>
                <a:srgbClr val="FF6600"/>
              </a:solidFill>
            </a:endParaRPr>
          </a:p>
        </p:txBody>
      </p:sp>
      <p:grpSp>
        <p:nvGrpSpPr>
          <p:cNvPr id="7" name="Group 6"/>
          <p:cNvGrpSpPr>
            <a:grpSpLocks/>
          </p:cNvGrpSpPr>
          <p:nvPr/>
        </p:nvGrpSpPr>
        <p:grpSpPr bwMode="auto">
          <a:xfrm>
            <a:off x="1811339" y="1270001"/>
            <a:ext cx="3590925" cy="646113"/>
            <a:chOff x="288032" y="3789040"/>
            <a:chExt cx="3590047" cy="646550"/>
          </a:xfrm>
        </p:grpSpPr>
        <p:sp>
          <p:nvSpPr>
            <p:cNvPr id="16460" name="Rectangle 8"/>
            <p:cNvSpPr>
              <a:spLocks noChangeArrowheads="1"/>
            </p:cNvSpPr>
            <p:nvPr/>
          </p:nvSpPr>
          <p:spPr bwMode="auto">
            <a:xfrm>
              <a:off x="288032" y="3789040"/>
              <a:ext cx="3590047" cy="6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FFCCFF"/>
                  </a:solidFill>
                  <a:ea typeface="Times New Roman" panose="02020603050405020304" pitchFamily="18" charset="0"/>
                  <a:cs typeface="Bookman-Light"/>
                </a:rPr>
                <a:t>Example:</a:t>
              </a:r>
            </a:p>
            <a:p>
              <a:pPr fontAlgn="base">
                <a:spcBef>
                  <a:spcPct val="0"/>
                </a:spcBef>
                <a:spcAft>
                  <a:spcPct val="0"/>
                </a:spcAft>
              </a:pPr>
              <a:r>
                <a:rPr lang="en-US" altLang="en-US" b="1">
                  <a:solidFill>
                    <a:srgbClr val="FFCCFF"/>
                  </a:solidFill>
                  <a:ea typeface="Times New Roman" panose="02020603050405020304" pitchFamily="18" charset="0"/>
                  <a:cs typeface="Bookman-Light"/>
                </a:rPr>
                <a:t>Subtraction of vector B from A</a:t>
              </a:r>
            </a:p>
          </p:txBody>
        </p:sp>
        <p:cxnSp>
          <p:nvCxnSpPr>
            <p:cNvPr id="9" name="Straight Arrow Connector 8"/>
            <p:cNvCxnSpPr/>
            <p:nvPr/>
          </p:nvCxnSpPr>
          <p:spPr bwMode="auto">
            <a:xfrm>
              <a:off x="2759165" y="4095635"/>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bwMode="auto">
            <a:xfrm>
              <a:off x="3549546" y="4095635"/>
              <a:ext cx="17140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8" name="Group 17"/>
          <p:cNvGrpSpPr>
            <a:grpSpLocks/>
          </p:cNvGrpSpPr>
          <p:nvPr/>
        </p:nvGrpSpPr>
        <p:grpSpPr bwMode="auto">
          <a:xfrm>
            <a:off x="1822451" y="3513139"/>
            <a:ext cx="5497513" cy="923925"/>
            <a:chOff x="298648" y="5313982"/>
            <a:chExt cx="5497488" cy="923330"/>
          </a:xfrm>
        </p:grpSpPr>
        <p:sp>
          <p:nvSpPr>
            <p:cNvPr id="19" name="Text Box 3"/>
            <p:cNvSpPr txBox="1">
              <a:spLocks noChangeArrowheads="1"/>
            </p:cNvSpPr>
            <p:nvPr/>
          </p:nvSpPr>
          <p:spPr bwMode="auto">
            <a:xfrm>
              <a:off x="298648" y="5313982"/>
              <a:ext cx="54974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FFFF00"/>
                  </a:solidFill>
                  <a:latin typeface="Arial"/>
                  <a:cs typeface="Arial" panose="020B0604020202020204" pitchFamily="34" charset="0"/>
                </a:rPr>
                <a:t>Join the </a:t>
              </a:r>
              <a:r>
                <a:rPr lang="en-US" sz="1800" b="1" dirty="0">
                  <a:solidFill>
                    <a:srgbClr val="FF0066"/>
                  </a:solidFill>
                  <a:latin typeface="Arial"/>
                  <a:cs typeface="Arial" panose="020B0604020202020204" pitchFamily="34" charset="0"/>
                </a:rPr>
                <a:t>tail </a:t>
              </a:r>
              <a:r>
                <a:rPr lang="en-US" sz="1800" b="1" dirty="0">
                  <a:solidFill>
                    <a:srgbClr val="FFFF00"/>
                  </a:solidFill>
                  <a:latin typeface="Arial"/>
                  <a:cs typeface="Arial" panose="020B0604020202020204" pitchFamily="34" charset="0"/>
                </a:rPr>
                <a:t>of A to the </a:t>
              </a:r>
              <a:r>
                <a:rPr lang="en-US" sz="1800" b="1" dirty="0">
                  <a:solidFill>
                    <a:srgbClr val="FF0066"/>
                  </a:solidFill>
                  <a:latin typeface="Arial"/>
                  <a:cs typeface="Arial" panose="020B0604020202020204" pitchFamily="34" charset="0"/>
                </a:rPr>
                <a:t>head</a:t>
              </a:r>
              <a:r>
                <a:rPr lang="en-US" sz="1800" b="1" dirty="0">
                  <a:solidFill>
                    <a:srgbClr val="FFFF00"/>
                  </a:solidFill>
                  <a:latin typeface="Arial"/>
                  <a:cs typeface="Arial" panose="020B0604020202020204" pitchFamily="34" charset="0"/>
                </a:rPr>
                <a:t> of -B.  Let this be vector OR </a:t>
              </a:r>
              <a:r>
                <a:rPr lang="en-US" sz="1800" b="1" dirty="0" err="1">
                  <a:solidFill>
                    <a:srgbClr val="FFFF00"/>
                  </a:solidFill>
                  <a:latin typeface="Arial"/>
                  <a:cs typeface="Arial" panose="020B0604020202020204" pitchFamily="34" charset="0"/>
                </a:rPr>
                <a:t>or</a:t>
              </a:r>
              <a:r>
                <a:rPr lang="en-US" sz="1800" b="1" dirty="0">
                  <a:solidFill>
                    <a:srgbClr val="FFFF00"/>
                  </a:solidFill>
                  <a:latin typeface="Arial"/>
                  <a:cs typeface="Arial" panose="020B0604020202020204" pitchFamily="34" charset="0"/>
                </a:rPr>
                <a:t> R.  This gives the resultant R or the difference of the vectors A and B.</a:t>
              </a:r>
            </a:p>
          </p:txBody>
        </p:sp>
        <p:cxnSp>
          <p:nvCxnSpPr>
            <p:cNvPr id="20" name="Straight Arrow Connector 19"/>
            <p:cNvCxnSpPr/>
            <p:nvPr/>
          </p:nvCxnSpPr>
          <p:spPr bwMode="auto">
            <a:xfrm>
              <a:off x="3851457" y="534571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bwMode="auto">
            <a:xfrm>
              <a:off x="1984565" y="5359989"/>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bwMode="auto">
            <a:xfrm>
              <a:off x="1854391" y="564714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bwMode="auto">
            <a:xfrm>
              <a:off x="1151132" y="5634450"/>
              <a:ext cx="33496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bwMode="auto">
            <a:xfrm>
              <a:off x="4819827" y="5634450"/>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bwMode="auto">
            <a:xfrm>
              <a:off x="3105335" y="5921602"/>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bwMode="auto">
            <a:xfrm>
              <a:off x="3807007" y="5908911"/>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390" name="Group 10"/>
          <p:cNvGrpSpPr>
            <a:grpSpLocks/>
          </p:cNvGrpSpPr>
          <p:nvPr/>
        </p:nvGrpSpPr>
        <p:grpSpPr bwMode="auto">
          <a:xfrm>
            <a:off x="1822451" y="2062163"/>
            <a:ext cx="5497513" cy="646112"/>
            <a:chOff x="298648" y="4365104"/>
            <a:chExt cx="5497488" cy="647027"/>
          </a:xfrm>
        </p:grpSpPr>
        <p:sp>
          <p:nvSpPr>
            <p:cNvPr id="12" name="Text Box 3"/>
            <p:cNvSpPr txBox="1">
              <a:spLocks noChangeArrowheads="1"/>
            </p:cNvSpPr>
            <p:nvPr/>
          </p:nvSpPr>
          <p:spPr bwMode="auto">
            <a:xfrm>
              <a:off x="298648" y="4365104"/>
              <a:ext cx="5497488" cy="647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00FFCC"/>
                  </a:solidFill>
                  <a:latin typeface="Arial"/>
                  <a:cs typeface="Arial" panose="020B0604020202020204" pitchFamily="34" charset="0"/>
                </a:rPr>
                <a:t>To subtract vector B from vector A, find negative vector of B.</a:t>
              </a:r>
            </a:p>
          </p:txBody>
        </p:sp>
        <p:cxnSp>
          <p:nvCxnSpPr>
            <p:cNvPr id="13" name="Straight Arrow Connector 12"/>
            <p:cNvCxnSpPr/>
            <p:nvPr/>
          </p:nvCxnSpPr>
          <p:spPr bwMode="auto">
            <a:xfrm>
              <a:off x="2456051" y="4404847"/>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bwMode="auto">
            <a:xfrm>
              <a:off x="3968931" y="4409617"/>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bwMode="auto">
            <a:xfrm>
              <a:off x="1416243" y="4671925"/>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391" name="Group 29"/>
          <p:cNvGrpSpPr>
            <a:grpSpLocks/>
          </p:cNvGrpSpPr>
          <p:nvPr/>
        </p:nvGrpSpPr>
        <p:grpSpPr bwMode="auto">
          <a:xfrm>
            <a:off x="1847851" y="2781300"/>
            <a:ext cx="5497513" cy="647700"/>
            <a:chOff x="298648" y="4365104"/>
            <a:chExt cx="5497488" cy="647027"/>
          </a:xfrm>
        </p:grpSpPr>
        <p:sp>
          <p:nvSpPr>
            <p:cNvPr id="32" name="Text Box 3"/>
            <p:cNvSpPr txBox="1">
              <a:spLocks noChangeArrowheads="1"/>
            </p:cNvSpPr>
            <p:nvPr/>
          </p:nvSpPr>
          <p:spPr bwMode="auto">
            <a:xfrm>
              <a:off x="298648" y="4365104"/>
              <a:ext cx="5497488" cy="647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50000"/>
                </a:spcBef>
                <a:spcAft>
                  <a:spcPct val="0"/>
                </a:spcAft>
                <a:defRPr/>
              </a:pPr>
              <a:r>
                <a:rPr lang="en-US" sz="1800" b="1" dirty="0">
                  <a:solidFill>
                    <a:srgbClr val="FF9999"/>
                  </a:solidFill>
                  <a:latin typeface="Arial"/>
                  <a:cs typeface="Arial" panose="020B0604020202020204" pitchFamily="34" charset="0"/>
                </a:rPr>
                <a:t>Displace –B parallel to itself so as to place the tail of –B on head of A.</a:t>
              </a:r>
            </a:p>
          </p:txBody>
        </p:sp>
        <p:cxnSp>
          <p:nvCxnSpPr>
            <p:cNvPr id="33" name="Straight Arrow Connector 32"/>
            <p:cNvCxnSpPr/>
            <p:nvPr/>
          </p:nvCxnSpPr>
          <p:spPr bwMode="auto">
            <a:xfrm>
              <a:off x="1540067" y="4404751"/>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bwMode="auto">
            <a:xfrm>
              <a:off x="2638612" y="4698133"/>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bwMode="auto">
            <a:xfrm>
              <a:off x="1192407" y="4677517"/>
              <a:ext cx="17144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1" name="Line 22"/>
          <p:cNvSpPr>
            <a:spLocks noChangeShapeType="1"/>
          </p:cNvSpPr>
          <p:nvPr/>
        </p:nvSpPr>
        <p:spPr bwMode="auto">
          <a:xfrm flipV="1">
            <a:off x="9698039" y="3103564"/>
            <a:ext cx="346075" cy="801687"/>
          </a:xfrm>
          <a:prstGeom prst="line">
            <a:avLst/>
          </a:prstGeom>
          <a:noFill/>
          <a:ln w="28575">
            <a:solidFill>
              <a:srgbClr val="FF0000"/>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72" name="Group 71"/>
          <p:cNvGrpSpPr>
            <a:grpSpLocks/>
          </p:cNvGrpSpPr>
          <p:nvPr/>
        </p:nvGrpSpPr>
        <p:grpSpPr bwMode="auto">
          <a:xfrm>
            <a:off x="7710488" y="3221038"/>
            <a:ext cx="1682750" cy="527050"/>
            <a:chOff x="297025" y="5175455"/>
            <a:chExt cx="1682687" cy="527876"/>
          </a:xfrm>
        </p:grpSpPr>
        <p:sp>
          <p:nvSpPr>
            <p:cNvPr id="16440" name="Line 22"/>
            <p:cNvSpPr>
              <a:spLocks noChangeShapeType="1"/>
            </p:cNvSpPr>
            <p:nvPr/>
          </p:nvSpPr>
          <p:spPr bwMode="auto">
            <a:xfrm flipV="1">
              <a:off x="297025" y="5175455"/>
              <a:ext cx="1682687" cy="30882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6441" name="Group 14"/>
            <p:cNvGrpSpPr>
              <a:grpSpLocks/>
            </p:cNvGrpSpPr>
            <p:nvPr/>
          </p:nvGrpSpPr>
          <p:grpSpPr bwMode="auto">
            <a:xfrm>
              <a:off x="1057096" y="5333443"/>
              <a:ext cx="274941" cy="369888"/>
              <a:chOff x="1547664" y="2389350"/>
              <a:chExt cx="274941" cy="369888"/>
            </a:xfrm>
          </p:grpSpPr>
          <p:cxnSp>
            <p:nvCxnSpPr>
              <p:cNvPr id="75" name="Straight Arrow Connector 74"/>
              <p:cNvCxnSpPr/>
              <p:nvPr/>
            </p:nvCxnSpPr>
            <p:spPr bwMode="auto">
              <a:xfrm>
                <a:off x="1651161" y="2444420"/>
                <a:ext cx="171444"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43" name="TextBox 6"/>
              <p:cNvSpPr txBox="1">
                <a:spLocks noChangeArrowheads="1"/>
              </p:cNvSpPr>
              <p:nvPr/>
            </p:nvSpPr>
            <p:spPr bwMode="auto">
              <a:xfrm>
                <a:off x="1547664" y="2389350"/>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A</a:t>
                </a:r>
                <a:endParaRPr lang="en-IN" altLang="en-US">
                  <a:solidFill>
                    <a:srgbClr val="FFCCFF"/>
                  </a:solidFill>
                </a:endParaRPr>
              </a:p>
            </p:txBody>
          </p:sp>
        </p:grpSp>
      </p:grpSp>
      <p:grpSp>
        <p:nvGrpSpPr>
          <p:cNvPr id="77" name="Group 76"/>
          <p:cNvGrpSpPr>
            <a:grpSpLocks/>
          </p:cNvGrpSpPr>
          <p:nvPr/>
        </p:nvGrpSpPr>
        <p:grpSpPr bwMode="auto">
          <a:xfrm>
            <a:off x="9694864" y="3117850"/>
            <a:ext cx="346075" cy="801688"/>
            <a:chOff x="8583834" y="3789040"/>
            <a:chExt cx="380654" cy="802071"/>
          </a:xfrm>
        </p:grpSpPr>
        <p:sp>
          <p:nvSpPr>
            <p:cNvPr id="16436" name="Line 22"/>
            <p:cNvSpPr>
              <a:spLocks noChangeShapeType="1"/>
            </p:cNvSpPr>
            <p:nvPr/>
          </p:nvSpPr>
          <p:spPr bwMode="auto">
            <a:xfrm flipV="1">
              <a:off x="8583834" y="3789040"/>
              <a:ext cx="380654" cy="802071"/>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6437" name="Group 23"/>
            <p:cNvGrpSpPr>
              <a:grpSpLocks/>
            </p:cNvGrpSpPr>
            <p:nvPr/>
          </p:nvGrpSpPr>
          <p:grpSpPr bwMode="auto">
            <a:xfrm>
              <a:off x="8689944" y="4139232"/>
              <a:ext cx="274544" cy="369888"/>
              <a:chOff x="1547664" y="1997075"/>
              <a:chExt cx="274544" cy="369888"/>
            </a:xfrm>
          </p:grpSpPr>
          <p:cxnSp>
            <p:nvCxnSpPr>
              <p:cNvPr id="80" name="Straight Arrow Connector 79"/>
              <p:cNvCxnSpPr/>
              <p:nvPr/>
            </p:nvCxnSpPr>
            <p:spPr bwMode="auto">
              <a:xfrm>
                <a:off x="1651088" y="2040771"/>
                <a:ext cx="17112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39"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B</a:t>
                </a:r>
                <a:endParaRPr lang="en-IN" altLang="en-US">
                  <a:solidFill>
                    <a:srgbClr val="FFCCFF"/>
                  </a:solidFill>
                </a:endParaRPr>
              </a:p>
            </p:txBody>
          </p:sp>
        </p:grpSp>
      </p:grpSp>
      <p:cxnSp>
        <p:nvCxnSpPr>
          <p:cNvPr id="82" name="Straight Arrow Connector 81"/>
          <p:cNvCxnSpPr/>
          <p:nvPr/>
        </p:nvCxnSpPr>
        <p:spPr>
          <a:xfrm flipV="1">
            <a:off x="7710489" y="2430464"/>
            <a:ext cx="1997075" cy="1101725"/>
          </a:xfrm>
          <a:prstGeom prst="straightConnector1">
            <a:avLst/>
          </a:prstGeom>
          <a:ln w="28575">
            <a:solidFill>
              <a:srgbClr val="CC66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6" name="Rectangle 85"/>
          <p:cNvSpPr>
            <a:spLocks noChangeArrowheads="1"/>
          </p:cNvSpPr>
          <p:nvPr/>
        </p:nvSpPr>
        <p:spPr bwMode="auto">
          <a:xfrm>
            <a:off x="9217025" y="32035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grpSp>
        <p:nvGrpSpPr>
          <p:cNvPr id="93" name="Group 92"/>
          <p:cNvGrpSpPr>
            <a:grpSpLocks/>
          </p:cNvGrpSpPr>
          <p:nvPr/>
        </p:nvGrpSpPr>
        <p:grpSpPr bwMode="auto">
          <a:xfrm rot="19987739">
            <a:off x="8147050" y="2652713"/>
            <a:ext cx="1004888" cy="368300"/>
            <a:chOff x="6311899" y="5067330"/>
            <a:chExt cx="1003500" cy="368300"/>
          </a:xfrm>
        </p:grpSpPr>
        <p:grpSp>
          <p:nvGrpSpPr>
            <p:cNvPr id="16431" name="Group 60"/>
            <p:cNvGrpSpPr>
              <a:grpSpLocks/>
            </p:cNvGrpSpPr>
            <p:nvPr/>
          </p:nvGrpSpPr>
          <p:grpSpPr bwMode="auto">
            <a:xfrm>
              <a:off x="6311899" y="5067330"/>
              <a:ext cx="1003500" cy="368300"/>
              <a:chOff x="1547662" y="1997075"/>
              <a:chExt cx="1002998" cy="369332"/>
            </a:xfrm>
          </p:grpSpPr>
          <p:cxnSp>
            <p:nvCxnSpPr>
              <p:cNvPr id="97" name="Straight Arrow Connector 96"/>
              <p:cNvCxnSpPr/>
              <p:nvPr/>
            </p:nvCxnSpPr>
            <p:spPr bwMode="auto">
              <a:xfrm>
                <a:off x="1648299" y="2040863"/>
                <a:ext cx="17112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35" name="TextBox 6"/>
              <p:cNvSpPr txBox="1">
                <a:spLocks noChangeArrowheads="1"/>
              </p:cNvSpPr>
              <p:nvPr/>
            </p:nvSpPr>
            <p:spPr bwMode="auto">
              <a:xfrm>
                <a:off x="1547662" y="1997075"/>
                <a:ext cx="10029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CFF"/>
                    </a:solidFill>
                  </a:rPr>
                  <a:t>R=A - B </a:t>
                </a:r>
                <a:endParaRPr lang="en-IN" altLang="en-US">
                  <a:solidFill>
                    <a:srgbClr val="FFCCFF"/>
                  </a:solidFill>
                </a:endParaRPr>
              </a:p>
            </p:txBody>
          </p:sp>
        </p:grpSp>
        <p:cxnSp>
          <p:nvCxnSpPr>
            <p:cNvPr id="95" name="Straight Arrow Connector 94"/>
            <p:cNvCxnSpPr/>
            <p:nvPr/>
          </p:nvCxnSpPr>
          <p:spPr bwMode="auto">
            <a:xfrm>
              <a:off x="6705286" y="5115760"/>
              <a:ext cx="17279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bwMode="auto">
            <a:xfrm>
              <a:off x="7047030" y="5128588"/>
              <a:ext cx="17121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9" name="Rectangle 98"/>
          <p:cNvSpPr>
            <a:spLocks noChangeArrowheads="1"/>
          </p:cNvSpPr>
          <p:nvPr/>
        </p:nvSpPr>
        <p:spPr bwMode="auto">
          <a:xfrm>
            <a:off x="9644064" y="2195514"/>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R</a:t>
            </a:r>
          </a:p>
        </p:txBody>
      </p:sp>
      <p:sp>
        <p:nvSpPr>
          <p:cNvPr id="100" name="Rectangle 99"/>
          <p:cNvSpPr>
            <a:spLocks noChangeArrowheads="1"/>
          </p:cNvSpPr>
          <p:nvPr/>
        </p:nvSpPr>
        <p:spPr bwMode="auto">
          <a:xfrm>
            <a:off x="7464426" y="348297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grpSp>
        <p:nvGrpSpPr>
          <p:cNvPr id="107" name="Group 106"/>
          <p:cNvGrpSpPr>
            <a:grpSpLocks/>
          </p:cNvGrpSpPr>
          <p:nvPr/>
        </p:nvGrpSpPr>
        <p:grpSpPr bwMode="auto">
          <a:xfrm>
            <a:off x="9804401" y="3132139"/>
            <a:ext cx="550863" cy="801687"/>
            <a:chOff x="8316416" y="3707433"/>
            <a:chExt cx="551600" cy="801687"/>
          </a:xfrm>
        </p:grpSpPr>
        <p:sp>
          <p:nvSpPr>
            <p:cNvPr id="16427" name="Line 22"/>
            <p:cNvSpPr>
              <a:spLocks noChangeShapeType="1"/>
            </p:cNvSpPr>
            <p:nvPr/>
          </p:nvSpPr>
          <p:spPr bwMode="auto">
            <a:xfrm flipV="1">
              <a:off x="8316416" y="3707433"/>
              <a:ext cx="346075" cy="801687"/>
            </a:xfrm>
            <a:prstGeom prst="line">
              <a:avLst/>
            </a:prstGeom>
            <a:noFill/>
            <a:ln w="28575">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16428" name="Group 105"/>
            <p:cNvGrpSpPr>
              <a:grpSpLocks/>
            </p:cNvGrpSpPr>
            <p:nvPr/>
          </p:nvGrpSpPr>
          <p:grpSpPr bwMode="auto">
            <a:xfrm>
              <a:off x="8388424" y="4057456"/>
              <a:ext cx="479592" cy="369332"/>
              <a:chOff x="8484895" y="4057456"/>
              <a:chExt cx="479592" cy="369332"/>
            </a:xfrm>
          </p:grpSpPr>
          <p:cxnSp>
            <p:nvCxnSpPr>
              <p:cNvPr id="104" name="Straight Arrow Connector 103"/>
              <p:cNvCxnSpPr/>
              <p:nvPr/>
            </p:nvCxnSpPr>
            <p:spPr bwMode="auto">
              <a:xfrm>
                <a:off x="8664047" y="4101133"/>
                <a:ext cx="15578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30" name="TextBox 6"/>
              <p:cNvSpPr txBox="1">
                <a:spLocks noChangeArrowheads="1"/>
              </p:cNvSpPr>
              <p:nvPr/>
            </p:nvSpPr>
            <p:spPr bwMode="auto">
              <a:xfrm>
                <a:off x="8484895" y="4057456"/>
                <a:ext cx="4795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99FF"/>
                    </a:solidFill>
                  </a:rPr>
                  <a:t>-B</a:t>
                </a:r>
                <a:endParaRPr lang="en-IN" altLang="en-US">
                  <a:solidFill>
                    <a:srgbClr val="0099FF"/>
                  </a:solidFill>
                </a:endParaRPr>
              </a:p>
            </p:txBody>
          </p:sp>
        </p:grpSp>
      </p:grpSp>
      <p:grpSp>
        <p:nvGrpSpPr>
          <p:cNvPr id="16401" name="Group 42"/>
          <p:cNvGrpSpPr>
            <a:grpSpLocks/>
          </p:cNvGrpSpPr>
          <p:nvPr/>
        </p:nvGrpSpPr>
        <p:grpSpPr bwMode="auto">
          <a:xfrm>
            <a:off x="3862389" y="5138739"/>
            <a:ext cx="1512887" cy="377825"/>
            <a:chOff x="1619672" y="2915096"/>
            <a:chExt cx="1512168" cy="379180"/>
          </a:xfrm>
        </p:grpSpPr>
        <p:grpSp>
          <p:nvGrpSpPr>
            <p:cNvPr id="16418" name="Group 43"/>
            <p:cNvGrpSpPr>
              <a:grpSpLocks/>
            </p:cNvGrpSpPr>
            <p:nvPr/>
          </p:nvGrpSpPr>
          <p:grpSpPr bwMode="auto">
            <a:xfrm>
              <a:off x="2267744" y="2915096"/>
              <a:ext cx="274544" cy="369888"/>
              <a:chOff x="1547664" y="1997075"/>
              <a:chExt cx="274544" cy="369888"/>
            </a:xfrm>
          </p:grpSpPr>
          <p:cxnSp>
            <p:nvCxnSpPr>
              <p:cNvPr id="132" name="Straight Arrow Connector 131"/>
              <p:cNvCxnSpPr/>
              <p:nvPr/>
            </p:nvCxnSpPr>
            <p:spPr bwMode="auto">
              <a:xfrm>
                <a:off x="1650122" y="2040091"/>
                <a:ext cx="16978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26" name="TextBox 6"/>
              <p:cNvSpPr txBox="1">
                <a:spLocks noChangeArrowheads="1"/>
              </p:cNvSpPr>
              <p:nvPr/>
            </p:nvSpPr>
            <p:spPr bwMode="auto">
              <a:xfrm>
                <a:off x="1547664" y="1997075"/>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99FF"/>
                    </a:solidFill>
                  </a:rPr>
                  <a:t>A</a:t>
                </a:r>
                <a:endParaRPr lang="en-IN" altLang="en-US">
                  <a:solidFill>
                    <a:srgbClr val="0099FF"/>
                  </a:solidFill>
                </a:endParaRPr>
              </a:p>
            </p:txBody>
          </p:sp>
        </p:grpSp>
        <p:grpSp>
          <p:nvGrpSpPr>
            <p:cNvPr id="16419" name="Group 44"/>
            <p:cNvGrpSpPr>
              <a:grpSpLocks/>
            </p:cNvGrpSpPr>
            <p:nvPr/>
          </p:nvGrpSpPr>
          <p:grpSpPr bwMode="auto">
            <a:xfrm>
              <a:off x="1619672" y="2915096"/>
              <a:ext cx="274544" cy="369888"/>
              <a:chOff x="1700064" y="2915096"/>
              <a:chExt cx="274544" cy="369888"/>
            </a:xfrm>
          </p:grpSpPr>
          <p:cxnSp>
            <p:nvCxnSpPr>
              <p:cNvPr id="130" name="Straight Arrow Connector 129"/>
              <p:cNvCxnSpPr/>
              <p:nvPr/>
            </p:nvCxnSpPr>
            <p:spPr bwMode="auto">
              <a:xfrm>
                <a:off x="1803202" y="2958112"/>
                <a:ext cx="17136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24" name="TextBox 6"/>
              <p:cNvSpPr txBox="1">
                <a:spLocks noChangeArrowheads="1"/>
              </p:cNvSpPr>
              <p:nvPr/>
            </p:nvSpPr>
            <p:spPr bwMode="auto">
              <a:xfrm>
                <a:off x="1700064" y="2915096"/>
                <a:ext cx="24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99FF"/>
                    </a:solidFill>
                  </a:rPr>
                  <a:t>A</a:t>
                </a:r>
                <a:endParaRPr lang="en-IN" altLang="en-US">
                  <a:solidFill>
                    <a:srgbClr val="0099FF"/>
                  </a:solidFill>
                </a:endParaRPr>
              </a:p>
            </p:txBody>
          </p:sp>
        </p:grpSp>
        <p:sp>
          <p:nvSpPr>
            <p:cNvPr id="16420" name="Rectangle 45"/>
            <p:cNvSpPr>
              <a:spLocks noChangeArrowheads="1"/>
            </p:cNvSpPr>
            <p:nvPr/>
          </p:nvSpPr>
          <p:spPr bwMode="auto">
            <a:xfrm>
              <a:off x="1849143" y="2922868"/>
              <a:ext cx="588341" cy="37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a:t>
              </a:r>
              <a:r>
                <a:rPr lang="en-US" altLang="en-US">
                  <a:solidFill>
                    <a:srgbClr val="0099FF"/>
                  </a:solidFill>
                </a:rPr>
                <a:t>–</a:t>
              </a:r>
              <a:endParaRPr lang="en-IN" altLang="en-US">
                <a:solidFill>
                  <a:srgbClr val="0099FF"/>
                </a:solidFill>
              </a:endParaRPr>
            </a:p>
          </p:txBody>
        </p:sp>
        <p:sp>
          <p:nvSpPr>
            <p:cNvPr id="16421" name="Rectangle 46"/>
            <p:cNvSpPr>
              <a:spLocks noChangeArrowheads="1"/>
            </p:cNvSpPr>
            <p:nvPr/>
          </p:nvSpPr>
          <p:spPr bwMode="auto">
            <a:xfrm>
              <a:off x="2479097" y="2924944"/>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99FF"/>
                  </a:solidFill>
                </a:rPr>
                <a:t>) = 0</a:t>
              </a:r>
              <a:endParaRPr lang="en-IN" altLang="en-US">
                <a:solidFill>
                  <a:srgbClr val="0099FF"/>
                </a:solidFill>
              </a:endParaRPr>
            </a:p>
          </p:txBody>
        </p:sp>
        <p:cxnSp>
          <p:nvCxnSpPr>
            <p:cNvPr id="129" name="Straight Arrow Connector 128"/>
            <p:cNvCxnSpPr/>
            <p:nvPr/>
          </p:nvCxnSpPr>
          <p:spPr bwMode="auto">
            <a:xfrm>
              <a:off x="2911283" y="2964484"/>
              <a:ext cx="17136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402" name="Group 139"/>
          <p:cNvGrpSpPr>
            <a:grpSpLocks/>
          </p:cNvGrpSpPr>
          <p:nvPr/>
        </p:nvGrpSpPr>
        <p:grpSpPr bwMode="auto">
          <a:xfrm>
            <a:off x="3684588" y="4581525"/>
            <a:ext cx="2051050" cy="387350"/>
            <a:chOff x="1403648" y="4635083"/>
            <a:chExt cx="2050385" cy="387385"/>
          </a:xfrm>
        </p:grpSpPr>
        <p:grpSp>
          <p:nvGrpSpPr>
            <p:cNvPr id="16406" name="Group 43"/>
            <p:cNvGrpSpPr>
              <a:grpSpLocks/>
            </p:cNvGrpSpPr>
            <p:nvPr/>
          </p:nvGrpSpPr>
          <p:grpSpPr bwMode="auto">
            <a:xfrm>
              <a:off x="2916053" y="4635083"/>
              <a:ext cx="537980" cy="369332"/>
              <a:chOff x="1547664" y="1997075"/>
              <a:chExt cx="537723" cy="370225"/>
            </a:xfrm>
          </p:grpSpPr>
          <p:cxnSp>
            <p:nvCxnSpPr>
              <p:cNvPr id="120" name="Straight Arrow Connector 119"/>
              <p:cNvCxnSpPr/>
              <p:nvPr/>
            </p:nvCxnSpPr>
            <p:spPr bwMode="auto">
              <a:xfrm>
                <a:off x="1650760" y="2041636"/>
                <a:ext cx="17131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17" name="TextBox 6"/>
              <p:cNvSpPr txBox="1">
                <a:spLocks noChangeArrowheads="1"/>
              </p:cNvSpPr>
              <p:nvPr/>
            </p:nvSpPr>
            <p:spPr bwMode="auto">
              <a:xfrm>
                <a:off x="1547655" y="1997075"/>
                <a:ext cx="537732" cy="37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defRPr/>
                </a:pPr>
                <a:r>
                  <a:rPr lang="en-US">
                    <a:solidFill>
                      <a:srgbClr val="333399">
                        <a:lumMod val="60000"/>
                        <a:lumOff val="40000"/>
                      </a:srgbClr>
                    </a:solidFill>
                    <a:cs typeface="Arial" panose="020B0604020202020204" pitchFamily="34" charset="0"/>
                  </a:rPr>
                  <a:t>B)</a:t>
                </a:r>
                <a:endParaRPr lang="en-IN">
                  <a:solidFill>
                    <a:srgbClr val="333399">
                      <a:lumMod val="60000"/>
                      <a:lumOff val="40000"/>
                    </a:srgbClr>
                  </a:solidFill>
                  <a:cs typeface="Arial" panose="020B0604020202020204" pitchFamily="34" charset="0"/>
                </a:endParaRPr>
              </a:p>
            </p:txBody>
          </p:sp>
        </p:grpSp>
        <p:grpSp>
          <p:nvGrpSpPr>
            <p:cNvPr id="16407" name="Group 44"/>
            <p:cNvGrpSpPr>
              <a:grpSpLocks/>
            </p:cNvGrpSpPr>
            <p:nvPr/>
          </p:nvGrpSpPr>
          <p:grpSpPr bwMode="auto">
            <a:xfrm>
              <a:off x="2267671" y="4635084"/>
              <a:ext cx="274675" cy="368996"/>
              <a:chOff x="1700064" y="2915096"/>
              <a:chExt cx="274544" cy="369888"/>
            </a:xfrm>
          </p:grpSpPr>
          <p:cxnSp>
            <p:nvCxnSpPr>
              <p:cNvPr id="118" name="Straight Arrow Connector 117"/>
              <p:cNvCxnSpPr/>
              <p:nvPr/>
            </p:nvCxnSpPr>
            <p:spPr bwMode="auto">
              <a:xfrm>
                <a:off x="1802466" y="2958065"/>
                <a:ext cx="17289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15" name="TextBox 6"/>
              <p:cNvSpPr txBox="1">
                <a:spLocks noChangeArrowheads="1"/>
              </p:cNvSpPr>
              <p:nvPr/>
            </p:nvSpPr>
            <p:spPr bwMode="auto">
              <a:xfrm>
                <a:off x="1699362" y="2915095"/>
                <a:ext cx="249037" cy="36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defRPr/>
                </a:pPr>
                <a:r>
                  <a:rPr lang="en-US">
                    <a:solidFill>
                      <a:srgbClr val="333399">
                        <a:lumMod val="60000"/>
                        <a:lumOff val="40000"/>
                      </a:srgbClr>
                    </a:solidFill>
                    <a:cs typeface="Arial" panose="020B0604020202020204" pitchFamily="34" charset="0"/>
                  </a:rPr>
                  <a:t>A</a:t>
                </a:r>
                <a:endParaRPr lang="en-IN">
                  <a:solidFill>
                    <a:srgbClr val="333399">
                      <a:lumMod val="60000"/>
                      <a:lumOff val="40000"/>
                    </a:srgbClr>
                  </a:solidFill>
                  <a:cs typeface="Arial" panose="020B0604020202020204" pitchFamily="34" charset="0"/>
                </a:endParaRPr>
              </a:p>
            </p:txBody>
          </p:sp>
        </p:grpSp>
        <p:sp>
          <p:nvSpPr>
            <p:cNvPr id="16408" name="Rectangle 45"/>
            <p:cNvSpPr>
              <a:spLocks noChangeArrowheads="1"/>
            </p:cNvSpPr>
            <p:nvPr/>
          </p:nvSpPr>
          <p:spPr bwMode="auto">
            <a:xfrm>
              <a:off x="2497080" y="4643022"/>
              <a:ext cx="588772" cy="36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333399">
                      <a:lumMod val="60000"/>
                      <a:lumOff val="40000"/>
                    </a:srgbClr>
                  </a:solidFill>
                  <a:latin typeface="Arial" panose="020B0604020202020204" pitchFamily="34" charset="0"/>
                  <a:cs typeface="Arial" panose="020B0604020202020204" pitchFamily="34" charset="0"/>
                </a:rPr>
                <a:t>+ (</a:t>
              </a:r>
              <a:r>
                <a:rPr lang="en-US">
                  <a:solidFill>
                    <a:srgbClr val="333399">
                      <a:lumMod val="60000"/>
                      <a:lumOff val="40000"/>
                    </a:srgbClr>
                  </a:solidFill>
                  <a:latin typeface="Arial" panose="020B0604020202020204" pitchFamily="34" charset="0"/>
                  <a:cs typeface="Arial" panose="020B0604020202020204" pitchFamily="34" charset="0"/>
                </a:rPr>
                <a:t>–</a:t>
              </a:r>
              <a:endParaRPr lang="en-IN">
                <a:solidFill>
                  <a:srgbClr val="333399">
                    <a:lumMod val="60000"/>
                    <a:lumOff val="40000"/>
                  </a:srgbClr>
                </a:solidFill>
                <a:latin typeface="Arial" panose="020B0604020202020204" pitchFamily="34" charset="0"/>
                <a:cs typeface="Arial" panose="020B0604020202020204" pitchFamily="34" charset="0"/>
              </a:endParaRPr>
            </a:p>
          </p:txBody>
        </p:sp>
        <p:grpSp>
          <p:nvGrpSpPr>
            <p:cNvPr id="16409" name="Group 133"/>
            <p:cNvGrpSpPr>
              <a:grpSpLocks/>
            </p:cNvGrpSpPr>
            <p:nvPr/>
          </p:nvGrpSpPr>
          <p:grpSpPr bwMode="auto">
            <a:xfrm>
              <a:off x="1403648" y="4653136"/>
              <a:ext cx="998022" cy="369332"/>
              <a:chOff x="6311898" y="5067329"/>
              <a:chExt cx="998022" cy="369332"/>
            </a:xfrm>
          </p:grpSpPr>
          <p:grpSp>
            <p:nvGrpSpPr>
              <p:cNvPr id="16410" name="Group 60"/>
              <p:cNvGrpSpPr>
                <a:grpSpLocks/>
              </p:cNvGrpSpPr>
              <p:nvPr/>
            </p:nvGrpSpPr>
            <p:grpSpPr bwMode="auto">
              <a:xfrm>
                <a:off x="6311898" y="5067329"/>
                <a:ext cx="998022" cy="369332"/>
                <a:chOff x="1547662" y="1997075"/>
                <a:chExt cx="997523" cy="370367"/>
              </a:xfrm>
            </p:grpSpPr>
            <p:cxnSp>
              <p:nvCxnSpPr>
                <p:cNvPr id="138" name="Straight Arrow Connector 137"/>
                <p:cNvCxnSpPr/>
                <p:nvPr/>
              </p:nvCxnSpPr>
              <p:spPr bwMode="auto">
                <a:xfrm>
                  <a:off x="1649178" y="2041064"/>
                  <a:ext cx="17130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13" name="TextBox 6"/>
                <p:cNvSpPr txBox="1">
                  <a:spLocks noChangeArrowheads="1"/>
                </p:cNvSpPr>
                <p:nvPr/>
              </p:nvSpPr>
              <p:spPr bwMode="auto">
                <a:xfrm>
                  <a:off x="1547662" y="1996485"/>
                  <a:ext cx="997714" cy="370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defRPr/>
                  </a:pPr>
                  <a:r>
                    <a:rPr lang="en-US">
                      <a:solidFill>
                        <a:srgbClr val="333399">
                          <a:lumMod val="60000"/>
                          <a:lumOff val="40000"/>
                        </a:srgbClr>
                      </a:solidFill>
                      <a:cs typeface="Arial" panose="020B0604020202020204" pitchFamily="34" charset="0"/>
                    </a:rPr>
                    <a:t>A – B = </a:t>
                  </a:r>
                  <a:endParaRPr lang="en-IN">
                    <a:solidFill>
                      <a:srgbClr val="333399">
                        <a:lumMod val="60000"/>
                        <a:lumOff val="40000"/>
                      </a:srgbClr>
                    </a:solidFill>
                    <a:cs typeface="Arial" panose="020B0604020202020204" pitchFamily="34" charset="0"/>
                  </a:endParaRPr>
                </a:p>
              </p:txBody>
            </p:sp>
          </p:grpSp>
          <p:cxnSp>
            <p:nvCxnSpPr>
              <p:cNvPr id="136" name="Straight Arrow Connector 135"/>
              <p:cNvCxnSpPr/>
              <p:nvPr/>
            </p:nvCxnSpPr>
            <p:spPr bwMode="auto">
              <a:xfrm>
                <a:off x="6732448" y="5117545"/>
                <a:ext cx="17298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16403" name="TextBox 78"/>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16404" name="TextBox 80"/>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16405" name="TextBox 82"/>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3116830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6387"/>
                                        </p:tgtEl>
                                        <p:attrNameLst>
                                          <p:attrName>style.visibility</p:attrName>
                                        </p:attrNameLst>
                                      </p:cBhvr>
                                      <p:to>
                                        <p:strVal val="visible"/>
                                      </p:to>
                                    </p:set>
                                    <p:animEffect transition="in" filter="wipe(up)">
                                      <p:cBhvr>
                                        <p:cTn id="14" dur="500"/>
                                        <p:tgtEl>
                                          <p:spTgt spid="1638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wipe(left)">
                                      <p:cBhvr>
                                        <p:cTn id="24" dur="500"/>
                                        <p:tgtEl>
                                          <p:spTgt spid="7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up)">
                                      <p:cBhvr>
                                        <p:cTn id="29" dur="500"/>
                                        <p:tgtEl>
                                          <p:spTgt spid="7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6390"/>
                                        </p:tgtEl>
                                        <p:attrNameLst>
                                          <p:attrName>style.visibility</p:attrName>
                                        </p:attrNameLst>
                                      </p:cBhvr>
                                      <p:to>
                                        <p:strVal val="visible"/>
                                      </p:to>
                                    </p:set>
                                    <p:animEffect transition="in" filter="wipe(up)">
                                      <p:cBhvr>
                                        <p:cTn id="34" dur="500"/>
                                        <p:tgtEl>
                                          <p:spTgt spid="1639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childTnLst>
                          </p:cTn>
                        </p:par>
                        <p:par>
                          <p:cTn id="39" fill="hold" nodeType="afterGroup">
                            <p:stCondLst>
                              <p:cond delay="0"/>
                            </p:stCondLst>
                            <p:childTnLst>
                              <p:par>
                                <p:cTn id="40" presetID="8" presetClass="emph" presetSubtype="0" fill="hold" nodeType="afterEffect">
                                  <p:stCondLst>
                                    <p:cond delay="0"/>
                                  </p:stCondLst>
                                  <p:childTnLst>
                                    <p:animRot by="10800000">
                                      <p:cBhvr>
                                        <p:cTn id="41" dur="2000" fill="hold"/>
                                        <p:tgtEl>
                                          <p:spTgt spid="77"/>
                                        </p:tgtEl>
                                        <p:attrNameLst>
                                          <p:attrName>r</p:attrName>
                                        </p:attrNameLst>
                                      </p:cBhvr>
                                    </p:animRot>
                                  </p:childTnLst>
                                  <p:subTnLst>
                                    <p:set>
                                      <p:cBhvr override="childStyle">
                                        <p:cTn dur="1" fill="hold" display="0" masterRel="sameClick" afterEffect="1">
                                          <p:stCondLst>
                                            <p:cond evt="end" delay="0">
                                              <p:tn val="40"/>
                                            </p:cond>
                                          </p:stCondLst>
                                        </p:cTn>
                                        <p:tgtEl>
                                          <p:spTgt spid="77"/>
                                        </p:tgtEl>
                                        <p:attrNameLst>
                                          <p:attrName>style.visibility</p:attrName>
                                        </p:attrNameLst>
                                      </p:cBhvr>
                                      <p:to>
                                        <p:strVal val="hidden"/>
                                      </p:to>
                                    </p:set>
                                  </p:subTnLst>
                                </p:cTn>
                              </p:par>
                            </p:childTnLst>
                          </p:cTn>
                        </p:par>
                        <p:par>
                          <p:cTn id="42" fill="hold" nodeType="afterGroup">
                            <p:stCondLst>
                              <p:cond delay="2000"/>
                            </p:stCondLst>
                            <p:childTnLst>
                              <p:par>
                                <p:cTn id="43" presetID="1" presetClass="entr" presetSubtype="0" fill="hold" nodeType="afterEffect">
                                  <p:stCondLst>
                                    <p:cond delay="0"/>
                                  </p:stCondLst>
                                  <p:childTnLst>
                                    <p:set>
                                      <p:cBhvr>
                                        <p:cTn id="44" dur="1" fill="hold">
                                          <p:stCondLst>
                                            <p:cond delay="0"/>
                                          </p:stCondLst>
                                        </p:cTn>
                                        <p:tgtEl>
                                          <p:spTgt spid="10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16391"/>
                                        </p:tgtEl>
                                        <p:attrNameLst>
                                          <p:attrName>style.visibility</p:attrName>
                                        </p:attrNameLst>
                                      </p:cBhvr>
                                      <p:to>
                                        <p:strVal val="visible"/>
                                      </p:to>
                                    </p:set>
                                    <p:animEffect transition="in" filter="wipe(up)">
                                      <p:cBhvr>
                                        <p:cTn id="49" dur="500"/>
                                        <p:tgtEl>
                                          <p:spTgt spid="1639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2" presetClass="path" presetSubtype="0" accel="50000" decel="50000" fill="hold" nodeType="clickEffect">
                                  <p:stCondLst>
                                    <p:cond delay="0"/>
                                  </p:stCondLst>
                                  <p:childTnLst>
                                    <p:animMotion origin="layout" path="M 3.88889E-6 -7.40741E-7 L -0.04844 -0.10023 " pathEditMode="relative" rAng="0" ptsTypes="AA">
                                      <p:cBhvr>
                                        <p:cTn id="53" dur="2000" fill="hold"/>
                                        <p:tgtEl>
                                          <p:spTgt spid="107"/>
                                        </p:tgtEl>
                                        <p:attrNameLst>
                                          <p:attrName>ppt_x</p:attrName>
                                          <p:attrName>ppt_y</p:attrName>
                                        </p:attrNameLst>
                                      </p:cBhvr>
                                      <p:rCtr x="-2431" y="-5023"/>
                                    </p:animMotion>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00"/>
                                        </p:tgtEl>
                                        <p:attrNameLst>
                                          <p:attrName>style.visibility</p:attrName>
                                        </p:attrNameLst>
                                      </p:cBhvr>
                                      <p:to>
                                        <p:strVal val="visible"/>
                                      </p:to>
                                    </p:set>
                                    <p:anim calcmode="lin" valueType="num">
                                      <p:cBhvr>
                                        <p:cTn id="58" dur="500" fill="hold"/>
                                        <p:tgtEl>
                                          <p:spTgt spid="100"/>
                                        </p:tgtEl>
                                        <p:attrNameLst>
                                          <p:attrName>ppt_w</p:attrName>
                                        </p:attrNameLst>
                                      </p:cBhvr>
                                      <p:tavLst>
                                        <p:tav tm="0">
                                          <p:val>
                                            <p:fltVal val="0"/>
                                          </p:val>
                                        </p:tav>
                                        <p:tav tm="100000">
                                          <p:val>
                                            <p:strVal val="#ppt_w"/>
                                          </p:val>
                                        </p:tav>
                                      </p:tavLst>
                                    </p:anim>
                                    <p:anim calcmode="lin" valueType="num">
                                      <p:cBhvr>
                                        <p:cTn id="59" dur="500" fill="hold"/>
                                        <p:tgtEl>
                                          <p:spTgt spid="100"/>
                                        </p:tgtEl>
                                        <p:attrNameLst>
                                          <p:attrName>ppt_h</p:attrName>
                                        </p:attrNameLst>
                                      </p:cBhvr>
                                      <p:tavLst>
                                        <p:tav tm="0">
                                          <p:val>
                                            <p:fltVal val="0"/>
                                          </p:val>
                                        </p:tav>
                                        <p:tav tm="100000">
                                          <p:val>
                                            <p:strVal val="#ppt_h"/>
                                          </p:val>
                                        </p:tav>
                                      </p:tavLst>
                                    </p:anim>
                                    <p:animEffect transition="in" filter="fade">
                                      <p:cBhvr>
                                        <p:cTn id="60" dur="500"/>
                                        <p:tgtEl>
                                          <p:spTgt spid="100"/>
                                        </p:tgtEl>
                                      </p:cBhvr>
                                    </p:animEffect>
                                  </p:childTnLst>
                                </p:cTn>
                              </p:par>
                            </p:childTnLst>
                          </p:cTn>
                        </p:par>
                        <p:par>
                          <p:cTn id="61" fill="hold" nodeType="afterGroup">
                            <p:stCondLst>
                              <p:cond delay="500"/>
                            </p:stCondLst>
                            <p:childTnLst>
                              <p:par>
                                <p:cTn id="62" presetID="53" presetClass="entr" presetSubtype="16" fill="hold" grpId="0" nodeType="afterEffect">
                                  <p:stCondLst>
                                    <p:cond delay="0"/>
                                  </p:stCondLst>
                                  <p:childTnLst>
                                    <p:set>
                                      <p:cBhvr>
                                        <p:cTn id="63" dur="1" fill="hold">
                                          <p:stCondLst>
                                            <p:cond delay="0"/>
                                          </p:stCondLst>
                                        </p:cTn>
                                        <p:tgtEl>
                                          <p:spTgt spid="86"/>
                                        </p:tgtEl>
                                        <p:attrNameLst>
                                          <p:attrName>style.visibility</p:attrName>
                                        </p:attrNameLst>
                                      </p:cBhvr>
                                      <p:to>
                                        <p:strVal val="visible"/>
                                      </p:to>
                                    </p:set>
                                    <p:anim calcmode="lin" valueType="num">
                                      <p:cBhvr>
                                        <p:cTn id="64" dur="500" fill="hold"/>
                                        <p:tgtEl>
                                          <p:spTgt spid="86"/>
                                        </p:tgtEl>
                                        <p:attrNameLst>
                                          <p:attrName>ppt_w</p:attrName>
                                        </p:attrNameLst>
                                      </p:cBhvr>
                                      <p:tavLst>
                                        <p:tav tm="0">
                                          <p:val>
                                            <p:fltVal val="0"/>
                                          </p:val>
                                        </p:tav>
                                        <p:tav tm="100000">
                                          <p:val>
                                            <p:strVal val="#ppt_w"/>
                                          </p:val>
                                        </p:tav>
                                      </p:tavLst>
                                    </p:anim>
                                    <p:anim calcmode="lin" valueType="num">
                                      <p:cBhvr>
                                        <p:cTn id="65" dur="500" fill="hold"/>
                                        <p:tgtEl>
                                          <p:spTgt spid="86"/>
                                        </p:tgtEl>
                                        <p:attrNameLst>
                                          <p:attrName>ppt_h</p:attrName>
                                        </p:attrNameLst>
                                      </p:cBhvr>
                                      <p:tavLst>
                                        <p:tav tm="0">
                                          <p:val>
                                            <p:fltVal val="0"/>
                                          </p:val>
                                        </p:tav>
                                        <p:tav tm="100000">
                                          <p:val>
                                            <p:strVal val="#ppt_h"/>
                                          </p:val>
                                        </p:tav>
                                      </p:tavLst>
                                    </p:anim>
                                    <p:animEffect transition="in" filter="fade">
                                      <p:cBhvr>
                                        <p:cTn id="66" dur="500"/>
                                        <p:tgtEl>
                                          <p:spTgt spid="86"/>
                                        </p:tgtEl>
                                      </p:cBhvr>
                                    </p:animEffect>
                                  </p:childTnLst>
                                </p:cTn>
                              </p:par>
                            </p:childTnLst>
                          </p:cTn>
                        </p:par>
                        <p:par>
                          <p:cTn id="67" fill="hold" nodeType="afterGroup">
                            <p:stCondLst>
                              <p:cond delay="1000"/>
                            </p:stCondLst>
                            <p:childTnLst>
                              <p:par>
                                <p:cTn id="68" presetID="53" presetClass="entr" presetSubtype="16" fill="hold" grpId="0" nodeType="afterEffect">
                                  <p:stCondLst>
                                    <p:cond delay="0"/>
                                  </p:stCondLst>
                                  <p:childTnLst>
                                    <p:set>
                                      <p:cBhvr>
                                        <p:cTn id="69" dur="1" fill="hold">
                                          <p:stCondLst>
                                            <p:cond delay="0"/>
                                          </p:stCondLst>
                                        </p:cTn>
                                        <p:tgtEl>
                                          <p:spTgt spid="99"/>
                                        </p:tgtEl>
                                        <p:attrNameLst>
                                          <p:attrName>style.visibility</p:attrName>
                                        </p:attrNameLst>
                                      </p:cBhvr>
                                      <p:to>
                                        <p:strVal val="visible"/>
                                      </p:to>
                                    </p:set>
                                    <p:anim calcmode="lin" valueType="num">
                                      <p:cBhvr>
                                        <p:cTn id="70" dur="500" fill="hold"/>
                                        <p:tgtEl>
                                          <p:spTgt spid="99"/>
                                        </p:tgtEl>
                                        <p:attrNameLst>
                                          <p:attrName>ppt_w</p:attrName>
                                        </p:attrNameLst>
                                      </p:cBhvr>
                                      <p:tavLst>
                                        <p:tav tm="0">
                                          <p:val>
                                            <p:fltVal val="0"/>
                                          </p:val>
                                        </p:tav>
                                        <p:tav tm="100000">
                                          <p:val>
                                            <p:strVal val="#ppt_w"/>
                                          </p:val>
                                        </p:tav>
                                      </p:tavLst>
                                    </p:anim>
                                    <p:anim calcmode="lin" valueType="num">
                                      <p:cBhvr>
                                        <p:cTn id="71" dur="500" fill="hold"/>
                                        <p:tgtEl>
                                          <p:spTgt spid="99"/>
                                        </p:tgtEl>
                                        <p:attrNameLst>
                                          <p:attrName>ppt_h</p:attrName>
                                        </p:attrNameLst>
                                      </p:cBhvr>
                                      <p:tavLst>
                                        <p:tav tm="0">
                                          <p:val>
                                            <p:fltVal val="0"/>
                                          </p:val>
                                        </p:tav>
                                        <p:tav tm="100000">
                                          <p:val>
                                            <p:strVal val="#ppt_h"/>
                                          </p:val>
                                        </p:tav>
                                      </p:tavLst>
                                    </p:anim>
                                    <p:animEffect transition="in" filter="fade">
                                      <p:cBhvr>
                                        <p:cTn id="72" dur="500"/>
                                        <p:tgtEl>
                                          <p:spTgt spid="9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up)">
                                      <p:cBhvr>
                                        <p:cTn id="77" dur="500"/>
                                        <p:tgtEl>
                                          <p:spTgt spid="1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nodeType="click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wipe(down)">
                                      <p:cBhvr>
                                        <p:cTn id="82" dur="500"/>
                                        <p:tgtEl>
                                          <p:spTgt spid="82"/>
                                        </p:tgtEl>
                                      </p:cBhvr>
                                    </p:animEffect>
                                  </p:childTnLst>
                                </p:cTn>
                              </p:par>
                            </p:childTnLst>
                          </p:cTn>
                        </p:par>
                        <p:par>
                          <p:cTn id="83" fill="hold" nodeType="afterGroup">
                            <p:stCondLst>
                              <p:cond delay="500"/>
                            </p:stCondLst>
                            <p:childTnLst>
                              <p:par>
                                <p:cTn id="84" presetID="53" presetClass="entr" presetSubtype="16" fill="hold" nodeType="afterEffect">
                                  <p:stCondLst>
                                    <p:cond delay="0"/>
                                  </p:stCondLst>
                                  <p:childTnLst>
                                    <p:set>
                                      <p:cBhvr>
                                        <p:cTn id="85" dur="1" fill="hold">
                                          <p:stCondLst>
                                            <p:cond delay="0"/>
                                          </p:stCondLst>
                                        </p:cTn>
                                        <p:tgtEl>
                                          <p:spTgt spid="93"/>
                                        </p:tgtEl>
                                        <p:attrNameLst>
                                          <p:attrName>style.visibility</p:attrName>
                                        </p:attrNameLst>
                                      </p:cBhvr>
                                      <p:to>
                                        <p:strVal val="visible"/>
                                      </p:to>
                                    </p:set>
                                    <p:anim calcmode="lin" valueType="num">
                                      <p:cBhvr>
                                        <p:cTn id="86" dur="500" fill="hold"/>
                                        <p:tgtEl>
                                          <p:spTgt spid="93"/>
                                        </p:tgtEl>
                                        <p:attrNameLst>
                                          <p:attrName>ppt_w</p:attrName>
                                        </p:attrNameLst>
                                      </p:cBhvr>
                                      <p:tavLst>
                                        <p:tav tm="0">
                                          <p:val>
                                            <p:fltVal val="0"/>
                                          </p:val>
                                        </p:tav>
                                        <p:tav tm="100000">
                                          <p:val>
                                            <p:strVal val="#ppt_w"/>
                                          </p:val>
                                        </p:tav>
                                      </p:tavLst>
                                    </p:anim>
                                    <p:anim calcmode="lin" valueType="num">
                                      <p:cBhvr>
                                        <p:cTn id="87" dur="500" fill="hold"/>
                                        <p:tgtEl>
                                          <p:spTgt spid="93"/>
                                        </p:tgtEl>
                                        <p:attrNameLst>
                                          <p:attrName>ppt_h</p:attrName>
                                        </p:attrNameLst>
                                      </p:cBhvr>
                                      <p:tavLst>
                                        <p:tav tm="0">
                                          <p:val>
                                            <p:fltVal val="0"/>
                                          </p:val>
                                        </p:tav>
                                        <p:tav tm="100000">
                                          <p:val>
                                            <p:strVal val="#ppt_h"/>
                                          </p:val>
                                        </p:tav>
                                      </p:tavLst>
                                    </p:anim>
                                    <p:animEffect transition="in" filter="fade">
                                      <p:cBhvr>
                                        <p:cTn id="88" dur="500"/>
                                        <p:tgtEl>
                                          <p:spTgt spid="9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3" presetClass="entr" presetSubtype="16" fill="hold" nodeType="clickEffect">
                                  <p:stCondLst>
                                    <p:cond delay="0"/>
                                  </p:stCondLst>
                                  <p:childTnLst>
                                    <p:set>
                                      <p:cBhvr>
                                        <p:cTn id="92" dur="1" fill="hold">
                                          <p:stCondLst>
                                            <p:cond delay="0"/>
                                          </p:stCondLst>
                                        </p:cTn>
                                        <p:tgtEl>
                                          <p:spTgt spid="16402"/>
                                        </p:tgtEl>
                                        <p:attrNameLst>
                                          <p:attrName>style.visibility</p:attrName>
                                        </p:attrNameLst>
                                      </p:cBhvr>
                                      <p:to>
                                        <p:strVal val="visible"/>
                                      </p:to>
                                    </p:set>
                                    <p:anim calcmode="lin" valueType="num">
                                      <p:cBhvr>
                                        <p:cTn id="93" dur="500" fill="hold"/>
                                        <p:tgtEl>
                                          <p:spTgt spid="16402"/>
                                        </p:tgtEl>
                                        <p:attrNameLst>
                                          <p:attrName>ppt_w</p:attrName>
                                        </p:attrNameLst>
                                      </p:cBhvr>
                                      <p:tavLst>
                                        <p:tav tm="0">
                                          <p:val>
                                            <p:fltVal val="0"/>
                                          </p:val>
                                        </p:tav>
                                        <p:tav tm="100000">
                                          <p:val>
                                            <p:strVal val="#ppt_w"/>
                                          </p:val>
                                        </p:tav>
                                      </p:tavLst>
                                    </p:anim>
                                    <p:anim calcmode="lin" valueType="num">
                                      <p:cBhvr>
                                        <p:cTn id="94" dur="500" fill="hold"/>
                                        <p:tgtEl>
                                          <p:spTgt spid="16402"/>
                                        </p:tgtEl>
                                        <p:attrNameLst>
                                          <p:attrName>ppt_h</p:attrName>
                                        </p:attrNameLst>
                                      </p:cBhvr>
                                      <p:tavLst>
                                        <p:tav tm="0">
                                          <p:val>
                                            <p:fltVal val="0"/>
                                          </p:val>
                                        </p:tav>
                                        <p:tav tm="100000">
                                          <p:val>
                                            <p:strVal val="#ppt_h"/>
                                          </p:val>
                                        </p:tav>
                                      </p:tavLst>
                                    </p:anim>
                                    <p:animEffect transition="in" filter="fade">
                                      <p:cBhvr>
                                        <p:cTn id="95" dur="500"/>
                                        <p:tgtEl>
                                          <p:spTgt spid="1640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53" presetClass="entr" presetSubtype="16" fill="hold" nodeType="clickEffect">
                                  <p:stCondLst>
                                    <p:cond delay="0"/>
                                  </p:stCondLst>
                                  <p:childTnLst>
                                    <p:set>
                                      <p:cBhvr>
                                        <p:cTn id="99" dur="1" fill="hold">
                                          <p:stCondLst>
                                            <p:cond delay="0"/>
                                          </p:stCondLst>
                                        </p:cTn>
                                        <p:tgtEl>
                                          <p:spTgt spid="16401"/>
                                        </p:tgtEl>
                                        <p:attrNameLst>
                                          <p:attrName>style.visibility</p:attrName>
                                        </p:attrNameLst>
                                      </p:cBhvr>
                                      <p:to>
                                        <p:strVal val="visible"/>
                                      </p:to>
                                    </p:set>
                                    <p:anim calcmode="lin" valueType="num">
                                      <p:cBhvr>
                                        <p:cTn id="100" dur="500" fill="hold"/>
                                        <p:tgtEl>
                                          <p:spTgt spid="16401"/>
                                        </p:tgtEl>
                                        <p:attrNameLst>
                                          <p:attrName>ppt_w</p:attrName>
                                        </p:attrNameLst>
                                      </p:cBhvr>
                                      <p:tavLst>
                                        <p:tav tm="0">
                                          <p:val>
                                            <p:fltVal val="0"/>
                                          </p:val>
                                        </p:tav>
                                        <p:tav tm="100000">
                                          <p:val>
                                            <p:strVal val="#ppt_w"/>
                                          </p:val>
                                        </p:tav>
                                      </p:tavLst>
                                    </p:anim>
                                    <p:anim calcmode="lin" valueType="num">
                                      <p:cBhvr>
                                        <p:cTn id="101" dur="500" fill="hold"/>
                                        <p:tgtEl>
                                          <p:spTgt spid="16401"/>
                                        </p:tgtEl>
                                        <p:attrNameLst>
                                          <p:attrName>ppt_h</p:attrName>
                                        </p:attrNameLst>
                                      </p:cBhvr>
                                      <p:tavLst>
                                        <p:tav tm="0">
                                          <p:val>
                                            <p:fltVal val="0"/>
                                          </p:val>
                                        </p:tav>
                                        <p:tav tm="100000">
                                          <p:val>
                                            <p:strVal val="#ppt_h"/>
                                          </p:val>
                                        </p:tav>
                                      </p:tavLst>
                                    </p:anim>
                                    <p:animEffect transition="in" filter="fade">
                                      <p:cBhvr>
                                        <p:cTn id="102" dur="500"/>
                                        <p:tgtEl>
                                          <p:spTgt spid="16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387" grpId="0"/>
      <p:bldP spid="86" grpId="0"/>
      <p:bldP spid="99" grpId="0"/>
      <p:bldP spid="10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1703388" y="44451"/>
            <a:ext cx="8604250" cy="708025"/>
          </a:xfrm>
          <a:prstGeom prst="rect">
            <a:avLst/>
          </a:prstGeom>
        </p:spPr>
        <p:txBody>
          <a:bodyPr>
            <a:spAutoFit/>
          </a:bodyPr>
          <a:lstStyle/>
          <a:p>
            <a:pPr fontAlgn="base">
              <a:spcBef>
                <a:spcPct val="0"/>
              </a:spcBef>
              <a:spcAft>
                <a:spcPct val="0"/>
              </a:spcAft>
              <a:defRPr/>
            </a:pPr>
            <a:r>
              <a:rPr lang="en-US" sz="2000" b="1" dirty="0">
                <a:solidFill>
                  <a:srgbClr val="FF00FF"/>
                </a:solidFill>
                <a:latin typeface="Arial"/>
                <a:ea typeface="Times New Roman" pitchFamily="18" charset="0"/>
                <a:cs typeface="Bookman-Demi" charset="0"/>
              </a:rPr>
              <a:t>Magnitude and Direction of the Resultant of Two Vectors A and B in terms of their Magnitudes and Angle </a:t>
            </a:r>
            <a:r>
              <a:rPr lang="el-GR" sz="2000" b="1" dirty="0">
                <a:solidFill>
                  <a:srgbClr val="FF00FF"/>
                </a:solidFill>
                <a:latin typeface="Arial"/>
                <a:ea typeface="Times New Roman" pitchFamily="18" charset="0"/>
                <a:cs typeface="Bookman-Demi" charset="0"/>
              </a:rPr>
              <a:t>θ</a:t>
            </a:r>
            <a:r>
              <a:rPr lang="en-US" sz="2000" b="1" dirty="0">
                <a:solidFill>
                  <a:srgbClr val="FF00FF"/>
                </a:solidFill>
                <a:latin typeface="Arial"/>
                <a:ea typeface="Times New Roman" pitchFamily="18" charset="0"/>
                <a:cs typeface="Bookman-Demi" charset="0"/>
              </a:rPr>
              <a:t> between them</a:t>
            </a:r>
            <a:endParaRPr lang="en-IN" sz="2000" dirty="0">
              <a:solidFill>
                <a:srgbClr val="FF00FF"/>
              </a:solidFill>
              <a:latin typeface="Arial"/>
              <a:cs typeface="Arial" panose="020B0604020202020204" pitchFamily="34" charset="0"/>
            </a:endParaRPr>
          </a:p>
        </p:txBody>
      </p:sp>
      <p:grpSp>
        <p:nvGrpSpPr>
          <p:cNvPr id="2" name="Group 1"/>
          <p:cNvGrpSpPr>
            <a:grpSpLocks/>
          </p:cNvGrpSpPr>
          <p:nvPr/>
        </p:nvGrpSpPr>
        <p:grpSpPr bwMode="auto">
          <a:xfrm>
            <a:off x="6383339" y="646113"/>
            <a:ext cx="4149725" cy="2640012"/>
            <a:chOff x="4859338" y="646113"/>
            <a:chExt cx="4149725" cy="2640012"/>
          </a:xfrm>
        </p:grpSpPr>
        <p:cxnSp>
          <p:nvCxnSpPr>
            <p:cNvPr id="58" name="Straight Arrow Connector 57"/>
            <p:cNvCxnSpPr/>
            <p:nvPr/>
          </p:nvCxnSpPr>
          <p:spPr bwMode="auto">
            <a:xfrm>
              <a:off x="5146675" y="2789238"/>
              <a:ext cx="2746375" cy="0"/>
            </a:xfrm>
            <a:prstGeom prst="straightConnector1">
              <a:avLst/>
            </a:prstGeom>
            <a:ln w="28575">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24628" name="Rectangle 8"/>
            <p:cNvSpPr>
              <a:spLocks noChangeArrowheads="1"/>
            </p:cNvSpPr>
            <p:nvPr/>
          </p:nvSpPr>
          <p:spPr bwMode="auto">
            <a:xfrm>
              <a:off x="7681913" y="2757488"/>
              <a:ext cx="3381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P</a:t>
              </a:r>
              <a:endParaRPr lang="en-IN" altLang="en-US">
                <a:solidFill>
                  <a:srgbClr val="000000"/>
                </a:solidFill>
              </a:endParaRPr>
            </a:p>
          </p:txBody>
        </p:sp>
        <p:sp>
          <p:nvSpPr>
            <p:cNvPr id="24629" name="Rectangle 15"/>
            <p:cNvSpPr>
              <a:spLocks noChangeArrowheads="1"/>
            </p:cNvSpPr>
            <p:nvPr/>
          </p:nvSpPr>
          <p:spPr bwMode="auto">
            <a:xfrm>
              <a:off x="5324475" y="646113"/>
              <a:ext cx="36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Q</a:t>
              </a:r>
              <a:endParaRPr lang="en-IN" altLang="en-US">
                <a:solidFill>
                  <a:srgbClr val="000000"/>
                </a:solidFill>
              </a:endParaRPr>
            </a:p>
          </p:txBody>
        </p:sp>
        <p:sp>
          <p:nvSpPr>
            <p:cNvPr id="24630" name="Rectangle 16"/>
            <p:cNvSpPr>
              <a:spLocks noChangeArrowheads="1"/>
            </p:cNvSpPr>
            <p:nvPr/>
          </p:nvSpPr>
          <p:spPr bwMode="auto">
            <a:xfrm>
              <a:off x="4859338" y="2644775"/>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O</a:t>
              </a:r>
              <a:endParaRPr lang="en-IN" altLang="en-US">
                <a:solidFill>
                  <a:srgbClr val="000000"/>
                </a:solidFill>
              </a:endParaRPr>
            </a:p>
          </p:txBody>
        </p:sp>
        <p:grpSp>
          <p:nvGrpSpPr>
            <p:cNvPr id="24631" name="Group 31"/>
            <p:cNvGrpSpPr>
              <a:grpSpLocks/>
            </p:cNvGrpSpPr>
            <p:nvPr/>
          </p:nvGrpSpPr>
          <p:grpSpPr bwMode="auto">
            <a:xfrm>
              <a:off x="6302375" y="2843213"/>
              <a:ext cx="352425" cy="369887"/>
              <a:chOff x="7736062" y="5147900"/>
              <a:chExt cx="351378" cy="369332"/>
            </a:xfrm>
          </p:grpSpPr>
          <p:sp>
            <p:nvSpPr>
              <p:cNvPr id="24660" name="Rectangle 41"/>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a:t>
                </a:r>
                <a:endParaRPr lang="en-IN" altLang="en-US">
                  <a:solidFill>
                    <a:srgbClr val="000000"/>
                  </a:solidFill>
                  <a:ea typeface="Times New Roman" panose="02020603050405020304" pitchFamily="18" charset="0"/>
                  <a:cs typeface="Bookman-Demi"/>
                </a:endParaRPr>
              </a:p>
            </p:txBody>
          </p:sp>
          <p:cxnSp>
            <p:nvCxnSpPr>
              <p:cNvPr id="43" name="Straight Arrow Connector 42"/>
              <p:cNvCxnSpPr/>
              <p:nvPr/>
            </p:nvCxnSpPr>
            <p:spPr bwMode="auto">
              <a:xfrm>
                <a:off x="7838943" y="5189113"/>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64" name="Straight Arrow Connector 63"/>
            <p:cNvCxnSpPr/>
            <p:nvPr/>
          </p:nvCxnSpPr>
          <p:spPr bwMode="auto">
            <a:xfrm flipV="1">
              <a:off x="5160963" y="976313"/>
              <a:ext cx="431800" cy="1793875"/>
            </a:xfrm>
            <a:prstGeom prst="straightConnector1">
              <a:avLst/>
            </a:prstGeom>
            <a:ln w="28575">
              <a:solidFill>
                <a:srgbClr val="0099FF"/>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bwMode="auto">
            <a:xfrm>
              <a:off x="5592763" y="989013"/>
              <a:ext cx="2746375" cy="0"/>
            </a:xfrm>
            <a:prstGeom prst="straightConnector1">
              <a:avLst/>
            </a:prstGeom>
            <a:ln w="28575">
              <a:solidFill>
                <a:srgbClr val="00FF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bwMode="auto">
            <a:xfrm flipV="1">
              <a:off x="7885113" y="976313"/>
              <a:ext cx="431800" cy="1793875"/>
            </a:xfrm>
            <a:prstGeom prst="straightConnector1">
              <a:avLst/>
            </a:prstGeom>
            <a:ln w="28575">
              <a:solidFill>
                <a:srgbClr val="0099FF"/>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635" name="Group 70"/>
            <p:cNvGrpSpPr>
              <a:grpSpLocks/>
            </p:cNvGrpSpPr>
            <p:nvPr/>
          </p:nvGrpSpPr>
          <p:grpSpPr bwMode="auto">
            <a:xfrm>
              <a:off x="5084763" y="1522413"/>
              <a:ext cx="350837" cy="368300"/>
              <a:chOff x="7736062" y="5147900"/>
              <a:chExt cx="351378" cy="369332"/>
            </a:xfrm>
          </p:grpSpPr>
          <p:sp>
            <p:nvSpPr>
              <p:cNvPr id="24658" name="Rectangle 71"/>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B</a:t>
                </a:r>
                <a:endParaRPr lang="en-IN" altLang="en-US">
                  <a:solidFill>
                    <a:srgbClr val="000000"/>
                  </a:solidFill>
                  <a:ea typeface="Times New Roman" panose="02020603050405020304" pitchFamily="18" charset="0"/>
                  <a:cs typeface="Bookman-Demi"/>
                </a:endParaRPr>
              </a:p>
            </p:txBody>
          </p:sp>
          <p:cxnSp>
            <p:nvCxnSpPr>
              <p:cNvPr id="73" name="Straight Arrow Connector 72"/>
              <p:cNvCxnSpPr/>
              <p:nvPr/>
            </p:nvCxnSpPr>
            <p:spPr bwMode="auto">
              <a:xfrm>
                <a:off x="7839408" y="5189291"/>
                <a:ext cx="17012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4636" name="Group 73"/>
            <p:cNvGrpSpPr>
              <a:grpSpLocks/>
            </p:cNvGrpSpPr>
            <p:nvPr/>
          </p:nvGrpSpPr>
          <p:grpSpPr bwMode="auto">
            <a:xfrm>
              <a:off x="6557963" y="1493838"/>
              <a:ext cx="352425" cy="368300"/>
              <a:chOff x="7736062" y="5147900"/>
              <a:chExt cx="351378" cy="369332"/>
            </a:xfrm>
          </p:grpSpPr>
          <p:sp>
            <p:nvSpPr>
              <p:cNvPr id="24656" name="Rectangle 74"/>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R</a:t>
                </a:r>
                <a:endParaRPr lang="en-IN" altLang="en-US">
                  <a:solidFill>
                    <a:srgbClr val="000000"/>
                  </a:solidFill>
                  <a:ea typeface="Times New Roman" panose="02020603050405020304" pitchFamily="18" charset="0"/>
                  <a:cs typeface="Bookman-Demi"/>
                </a:endParaRPr>
              </a:p>
            </p:txBody>
          </p:sp>
          <p:cxnSp>
            <p:nvCxnSpPr>
              <p:cNvPr id="76" name="Straight Arrow Connector 75"/>
              <p:cNvCxnSpPr/>
              <p:nvPr/>
            </p:nvCxnSpPr>
            <p:spPr bwMode="auto">
              <a:xfrm>
                <a:off x="7838942" y="5189291"/>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637" name="Rectangle 15"/>
            <p:cNvSpPr>
              <a:spLocks noChangeArrowheads="1"/>
            </p:cNvSpPr>
            <p:nvPr/>
          </p:nvSpPr>
          <p:spPr bwMode="auto">
            <a:xfrm>
              <a:off x="8285163" y="701675"/>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R</a:t>
              </a:r>
              <a:endParaRPr lang="en-IN" altLang="en-US">
                <a:solidFill>
                  <a:srgbClr val="000000"/>
                </a:solidFill>
              </a:endParaRPr>
            </a:p>
          </p:txBody>
        </p:sp>
        <p:sp>
          <p:nvSpPr>
            <p:cNvPr id="24638" name="Line 22"/>
            <p:cNvSpPr>
              <a:spLocks noChangeShapeType="1"/>
            </p:cNvSpPr>
            <p:nvPr/>
          </p:nvSpPr>
          <p:spPr bwMode="auto">
            <a:xfrm flipV="1">
              <a:off x="5160963" y="962025"/>
              <a:ext cx="3178175" cy="1812925"/>
            </a:xfrm>
            <a:prstGeom prst="line">
              <a:avLst/>
            </a:prstGeom>
            <a:noFill/>
            <a:ln w="38100">
              <a:solidFill>
                <a:srgbClr val="FF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24639" name="Group 87"/>
            <p:cNvGrpSpPr>
              <a:grpSpLocks/>
            </p:cNvGrpSpPr>
            <p:nvPr/>
          </p:nvGrpSpPr>
          <p:grpSpPr bwMode="auto">
            <a:xfrm>
              <a:off x="5505450" y="2406650"/>
              <a:ext cx="519113" cy="447675"/>
              <a:chOff x="4053674" y="4098842"/>
              <a:chExt cx="518326" cy="448946"/>
            </a:xfrm>
          </p:grpSpPr>
          <p:sp>
            <p:nvSpPr>
              <p:cNvPr id="24654" name="Rectangle 298"/>
              <p:cNvSpPr>
                <a:spLocks noChangeArrowheads="1"/>
              </p:cNvSpPr>
              <p:nvPr/>
            </p:nvSpPr>
            <p:spPr bwMode="auto">
              <a:xfrm>
                <a:off x="4225977" y="4098842"/>
                <a:ext cx="346023" cy="338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α</a:t>
                </a:r>
              </a:p>
            </p:txBody>
          </p:sp>
          <p:sp>
            <p:nvSpPr>
              <p:cNvPr id="24655" name="Arc 299"/>
              <p:cNvSpPr>
                <a:spLocks/>
              </p:cNvSpPr>
              <p:nvPr/>
            </p:nvSpPr>
            <p:spPr bwMode="auto">
              <a:xfrm rot="881616">
                <a:off x="4053674" y="4251644"/>
                <a:ext cx="301068" cy="296144"/>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4640" name="Group 82"/>
            <p:cNvGrpSpPr>
              <a:grpSpLocks/>
            </p:cNvGrpSpPr>
            <p:nvPr/>
          </p:nvGrpSpPr>
          <p:grpSpPr bwMode="auto">
            <a:xfrm>
              <a:off x="7821613" y="2284413"/>
              <a:ext cx="495300" cy="615950"/>
              <a:chOff x="3768172" y="2588270"/>
              <a:chExt cx="496241" cy="615429"/>
            </a:xfrm>
          </p:grpSpPr>
          <p:sp>
            <p:nvSpPr>
              <p:cNvPr id="24652" name="Rectangle 298"/>
              <p:cNvSpPr>
                <a:spLocks noChangeArrowheads="1"/>
              </p:cNvSpPr>
              <p:nvPr/>
            </p:nvSpPr>
            <p:spPr bwMode="auto">
              <a:xfrm>
                <a:off x="3918390" y="2588270"/>
                <a:ext cx="346023" cy="338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θ</a:t>
                </a:r>
              </a:p>
            </p:txBody>
          </p:sp>
          <p:sp>
            <p:nvSpPr>
              <p:cNvPr id="24653" name="Arc 299"/>
              <p:cNvSpPr>
                <a:spLocks/>
              </p:cNvSpPr>
              <p:nvPr/>
            </p:nvSpPr>
            <p:spPr bwMode="auto">
              <a:xfrm rot="474002">
                <a:off x="3768172" y="2832668"/>
                <a:ext cx="374845" cy="371031"/>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cxnSp>
          <p:nvCxnSpPr>
            <p:cNvPr id="87" name="Straight Connector 86"/>
            <p:cNvCxnSpPr/>
            <p:nvPr/>
          </p:nvCxnSpPr>
          <p:spPr bwMode="auto">
            <a:xfrm flipV="1">
              <a:off x="7885113" y="2789238"/>
              <a:ext cx="1041400" cy="0"/>
            </a:xfrm>
            <a:prstGeom prst="line">
              <a:avLst/>
            </a:prstGeom>
            <a:ln w="28575">
              <a:solidFill>
                <a:srgbClr val="00FF00"/>
              </a:solidFill>
              <a:prstDash val="sysDash"/>
            </a:ln>
          </p:spPr>
          <p:style>
            <a:lnRef idx="1">
              <a:schemeClr val="accent1"/>
            </a:lnRef>
            <a:fillRef idx="0">
              <a:schemeClr val="accent1"/>
            </a:fillRef>
            <a:effectRef idx="0">
              <a:schemeClr val="accent1"/>
            </a:effectRef>
            <a:fontRef idx="minor">
              <a:schemeClr val="tx1"/>
            </a:fontRef>
          </p:style>
        </p:cxnSp>
        <p:grpSp>
          <p:nvGrpSpPr>
            <p:cNvPr id="24642" name="Group 91"/>
            <p:cNvGrpSpPr>
              <a:grpSpLocks/>
            </p:cNvGrpSpPr>
            <p:nvPr/>
          </p:nvGrpSpPr>
          <p:grpSpPr bwMode="auto">
            <a:xfrm>
              <a:off x="7839075" y="1090613"/>
              <a:ext cx="474663" cy="530225"/>
              <a:chOff x="6469769" y="1370459"/>
              <a:chExt cx="474755" cy="530371"/>
            </a:xfrm>
          </p:grpSpPr>
          <p:sp>
            <p:nvSpPr>
              <p:cNvPr id="24650" name="Rectangle 298"/>
              <p:cNvSpPr>
                <a:spLocks noChangeArrowheads="1"/>
              </p:cNvSpPr>
              <p:nvPr/>
            </p:nvSpPr>
            <p:spPr bwMode="auto">
              <a:xfrm>
                <a:off x="6469769" y="1562560"/>
                <a:ext cx="346023" cy="338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β</a:t>
                </a:r>
              </a:p>
            </p:txBody>
          </p:sp>
          <p:sp>
            <p:nvSpPr>
              <p:cNvPr id="24651" name="Arc 299"/>
              <p:cNvSpPr>
                <a:spLocks/>
              </p:cNvSpPr>
              <p:nvPr/>
            </p:nvSpPr>
            <p:spPr bwMode="auto">
              <a:xfrm rot="-236385" flipH="1" flipV="1">
                <a:off x="6576550" y="1370459"/>
                <a:ext cx="367974" cy="278785"/>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4643" name="Group 81"/>
            <p:cNvGrpSpPr>
              <a:grpSpLocks/>
            </p:cNvGrpSpPr>
            <p:nvPr/>
          </p:nvGrpSpPr>
          <p:grpSpPr bwMode="auto">
            <a:xfrm>
              <a:off x="5137150" y="2308225"/>
              <a:ext cx="495300" cy="601663"/>
              <a:chOff x="3768172" y="2588270"/>
              <a:chExt cx="496241" cy="600706"/>
            </a:xfrm>
          </p:grpSpPr>
          <p:sp>
            <p:nvSpPr>
              <p:cNvPr id="24648" name="Rectangle 298"/>
              <p:cNvSpPr>
                <a:spLocks noChangeArrowheads="1"/>
              </p:cNvSpPr>
              <p:nvPr/>
            </p:nvSpPr>
            <p:spPr bwMode="auto">
              <a:xfrm>
                <a:off x="3918390" y="2588270"/>
                <a:ext cx="346023" cy="338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θ</a:t>
                </a:r>
              </a:p>
            </p:txBody>
          </p:sp>
          <p:sp>
            <p:nvSpPr>
              <p:cNvPr id="24649" name="Arc 299"/>
              <p:cNvSpPr>
                <a:spLocks/>
              </p:cNvSpPr>
              <p:nvPr/>
            </p:nvSpPr>
            <p:spPr bwMode="auto">
              <a:xfrm rot="474002">
                <a:off x="3768172" y="2817945"/>
                <a:ext cx="374845" cy="371031"/>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cxnSp>
          <p:nvCxnSpPr>
            <p:cNvPr id="3" name="Straight Connector 2"/>
            <p:cNvCxnSpPr/>
            <p:nvPr/>
          </p:nvCxnSpPr>
          <p:spPr>
            <a:xfrm>
              <a:off x="8343900" y="981075"/>
              <a:ext cx="0" cy="1827213"/>
            </a:xfrm>
            <a:prstGeom prst="line">
              <a:avLst/>
            </a:prstGeom>
            <a:ln w="28575">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24645" name="Rectangle 3"/>
            <p:cNvSpPr>
              <a:spLocks noChangeArrowheads="1"/>
            </p:cNvSpPr>
            <p:nvPr/>
          </p:nvSpPr>
          <p:spPr bwMode="auto">
            <a:xfrm>
              <a:off x="7767638" y="2978150"/>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1400" b="1">
                  <a:solidFill>
                    <a:srgbClr val="00B0F0"/>
                  </a:solidFill>
                </a:rPr>
                <a:t>B cos</a:t>
              </a:r>
              <a:r>
                <a:rPr lang="el-GR" altLang="en-US" sz="1400" b="1">
                  <a:solidFill>
                    <a:srgbClr val="00B0F0"/>
                  </a:solidFill>
                </a:rPr>
                <a:t>θ</a:t>
              </a:r>
              <a:endParaRPr lang="en-IN" altLang="en-US" sz="1400">
                <a:solidFill>
                  <a:srgbClr val="00B0F0"/>
                </a:solidFill>
              </a:endParaRPr>
            </a:p>
          </p:txBody>
        </p:sp>
        <p:sp>
          <p:nvSpPr>
            <p:cNvPr id="24646" name="Rectangle 76"/>
            <p:cNvSpPr>
              <a:spLocks noChangeArrowheads="1"/>
            </p:cNvSpPr>
            <p:nvPr/>
          </p:nvSpPr>
          <p:spPr bwMode="auto">
            <a:xfrm>
              <a:off x="8288338" y="1916113"/>
              <a:ext cx="720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1400" b="1">
                  <a:solidFill>
                    <a:srgbClr val="00B0F0"/>
                  </a:solidFill>
                </a:rPr>
                <a:t>B sin</a:t>
              </a:r>
              <a:r>
                <a:rPr lang="el-GR" altLang="en-US" sz="1400" b="1">
                  <a:solidFill>
                    <a:srgbClr val="00B0F0"/>
                  </a:solidFill>
                </a:rPr>
                <a:t>θ</a:t>
              </a:r>
              <a:endParaRPr lang="en-IN" altLang="en-US" sz="1400">
                <a:solidFill>
                  <a:srgbClr val="00B0F0"/>
                </a:solidFill>
              </a:endParaRPr>
            </a:p>
          </p:txBody>
        </p:sp>
        <p:sp>
          <p:nvSpPr>
            <p:cNvPr id="24647" name="Rectangle 8"/>
            <p:cNvSpPr>
              <a:spLocks noChangeArrowheads="1"/>
            </p:cNvSpPr>
            <p:nvPr/>
          </p:nvSpPr>
          <p:spPr bwMode="auto">
            <a:xfrm>
              <a:off x="8153400" y="27178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99"/>
                  </a:solidFill>
                </a:rPr>
                <a:t>D</a:t>
              </a:r>
              <a:endParaRPr lang="en-IN" altLang="en-US">
                <a:solidFill>
                  <a:srgbClr val="000000"/>
                </a:solidFill>
              </a:endParaRPr>
            </a:p>
          </p:txBody>
        </p:sp>
      </p:grpSp>
      <p:sp>
        <p:nvSpPr>
          <p:cNvPr id="24603" name="Rectangle 93"/>
          <p:cNvSpPr>
            <a:spLocks noChangeArrowheads="1"/>
          </p:cNvSpPr>
          <p:nvPr/>
        </p:nvSpPr>
        <p:spPr bwMode="auto">
          <a:xfrm>
            <a:off x="1717676" y="765175"/>
            <a:ext cx="25066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In right triangle ODR,</a:t>
            </a:r>
            <a:endParaRPr lang="en-IN" altLang="en-US">
              <a:solidFill>
                <a:srgbClr val="000000"/>
              </a:solidFill>
              <a:ea typeface="Times New Roman" panose="02020603050405020304" pitchFamily="18" charset="0"/>
              <a:cs typeface="Bookman-Light"/>
            </a:endParaRPr>
          </a:p>
        </p:txBody>
      </p:sp>
      <p:sp>
        <p:nvSpPr>
          <p:cNvPr id="24604" name="Rectangle 93"/>
          <p:cNvSpPr>
            <a:spLocks noChangeArrowheads="1"/>
          </p:cNvSpPr>
          <p:nvPr/>
        </p:nvSpPr>
        <p:spPr bwMode="auto">
          <a:xfrm>
            <a:off x="1717676" y="1277939"/>
            <a:ext cx="2098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ea typeface="Times New Roman" panose="02020603050405020304" pitchFamily="18" charset="0"/>
                <a:cs typeface="Bookman-Light"/>
              </a:rPr>
              <a:t>OR</a:t>
            </a:r>
            <a:r>
              <a:rPr lang="en-US" altLang="en-US" b="1" baseline="30000">
                <a:solidFill>
                  <a:srgbClr val="00FFFF"/>
                </a:solidFill>
                <a:ea typeface="Times New Roman" panose="02020603050405020304" pitchFamily="18" charset="0"/>
                <a:cs typeface="Bookman-Light"/>
              </a:rPr>
              <a:t>2</a:t>
            </a:r>
            <a:r>
              <a:rPr lang="en-US" altLang="en-US" b="1">
                <a:solidFill>
                  <a:srgbClr val="00FFFF"/>
                </a:solidFill>
                <a:ea typeface="Times New Roman" panose="02020603050405020304" pitchFamily="18" charset="0"/>
                <a:cs typeface="Bookman-Light"/>
              </a:rPr>
              <a:t> = OD</a:t>
            </a:r>
            <a:r>
              <a:rPr lang="en-US" altLang="en-US" b="1" baseline="30000">
                <a:solidFill>
                  <a:srgbClr val="00FFFF"/>
                </a:solidFill>
                <a:ea typeface="Times New Roman" panose="02020603050405020304" pitchFamily="18" charset="0"/>
                <a:cs typeface="Bookman-Light"/>
              </a:rPr>
              <a:t>2</a:t>
            </a:r>
            <a:r>
              <a:rPr lang="en-US" altLang="en-US" b="1">
                <a:solidFill>
                  <a:srgbClr val="00FFFF"/>
                </a:solidFill>
                <a:ea typeface="Times New Roman" panose="02020603050405020304" pitchFamily="18" charset="0"/>
                <a:cs typeface="Bookman-Light"/>
              </a:rPr>
              <a:t> + RD</a:t>
            </a:r>
            <a:r>
              <a:rPr lang="en-US" altLang="en-US" b="1" baseline="30000">
                <a:solidFill>
                  <a:srgbClr val="00FFFF"/>
                </a:solidFill>
                <a:ea typeface="Times New Roman" panose="02020603050405020304" pitchFamily="18" charset="0"/>
                <a:cs typeface="Bookman-Light"/>
              </a:rPr>
              <a:t>2</a:t>
            </a:r>
            <a:r>
              <a:rPr lang="en-US" altLang="en-US" b="1">
                <a:solidFill>
                  <a:srgbClr val="00FFFF"/>
                </a:solidFill>
                <a:ea typeface="Times New Roman" panose="02020603050405020304" pitchFamily="18" charset="0"/>
                <a:cs typeface="Bookman-Light"/>
              </a:rPr>
              <a:t> </a:t>
            </a:r>
            <a:endParaRPr lang="en-IN" altLang="en-US">
              <a:solidFill>
                <a:srgbClr val="00FFFF"/>
              </a:solidFill>
              <a:ea typeface="Times New Roman" panose="02020603050405020304" pitchFamily="18" charset="0"/>
              <a:cs typeface="Bookman-Light"/>
            </a:endParaRPr>
          </a:p>
        </p:txBody>
      </p:sp>
      <p:sp>
        <p:nvSpPr>
          <p:cNvPr id="24605" name="Rectangle 93"/>
          <p:cNvSpPr>
            <a:spLocks noChangeArrowheads="1"/>
          </p:cNvSpPr>
          <p:nvPr/>
        </p:nvSpPr>
        <p:spPr bwMode="auto">
          <a:xfrm>
            <a:off x="1730376" y="1773238"/>
            <a:ext cx="335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R</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(A + B cos</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(B sin </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a:t>
            </a:r>
            <a:endParaRPr lang="en-IN" altLang="en-US">
              <a:solidFill>
                <a:srgbClr val="FF7C80"/>
              </a:solidFill>
              <a:ea typeface="Times New Roman" panose="02020603050405020304" pitchFamily="18" charset="0"/>
              <a:cs typeface="Bookman-Light"/>
            </a:endParaRPr>
          </a:p>
        </p:txBody>
      </p:sp>
      <p:sp>
        <p:nvSpPr>
          <p:cNvPr id="24606" name="Rectangle 93"/>
          <p:cNvSpPr>
            <a:spLocks noChangeArrowheads="1"/>
          </p:cNvSpPr>
          <p:nvPr/>
        </p:nvSpPr>
        <p:spPr bwMode="auto">
          <a:xfrm>
            <a:off x="1730376" y="2195514"/>
            <a:ext cx="4652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R</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A</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+ 2AB cos</a:t>
            </a:r>
            <a:r>
              <a:rPr lang="el-GR" altLang="en-US" b="1">
                <a:solidFill>
                  <a:srgbClr val="FF7C80"/>
                </a:solidFill>
                <a:ea typeface="Times New Roman" panose="02020603050405020304" pitchFamily="18" charset="0"/>
                <a:cs typeface="Bookman-Light"/>
              </a:rPr>
              <a:t>θ </a:t>
            </a:r>
            <a:r>
              <a:rPr lang="en-US" altLang="en-US" b="1">
                <a:solidFill>
                  <a:srgbClr val="FF7C80"/>
                </a:solidFill>
                <a:ea typeface="Times New Roman" panose="02020603050405020304" pitchFamily="18" charset="0"/>
                <a:cs typeface="Bookman-Light"/>
              </a:rPr>
              <a:t>+ B</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cos</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 + B</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sin</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endParaRPr lang="en-IN" altLang="en-US">
              <a:solidFill>
                <a:srgbClr val="FF7C80"/>
              </a:solidFill>
              <a:ea typeface="Times New Roman" panose="02020603050405020304" pitchFamily="18" charset="0"/>
              <a:cs typeface="Bookman-Light"/>
            </a:endParaRPr>
          </a:p>
        </p:txBody>
      </p:sp>
      <p:sp>
        <p:nvSpPr>
          <p:cNvPr id="24607" name="Rectangle 93"/>
          <p:cNvSpPr>
            <a:spLocks noChangeArrowheads="1"/>
          </p:cNvSpPr>
          <p:nvPr/>
        </p:nvSpPr>
        <p:spPr bwMode="auto">
          <a:xfrm>
            <a:off x="1722438" y="2627313"/>
            <a:ext cx="4652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R</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A</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+ 2AB cos</a:t>
            </a:r>
            <a:r>
              <a:rPr lang="el-GR" altLang="en-US" b="1">
                <a:solidFill>
                  <a:srgbClr val="FF7C80"/>
                </a:solidFill>
                <a:ea typeface="Times New Roman" panose="02020603050405020304" pitchFamily="18" charset="0"/>
                <a:cs typeface="Bookman-Light"/>
              </a:rPr>
              <a:t>θ </a:t>
            </a:r>
            <a:r>
              <a:rPr lang="en-US" altLang="en-US" b="1">
                <a:solidFill>
                  <a:srgbClr val="FF7C80"/>
                </a:solidFill>
                <a:ea typeface="Times New Roman" panose="02020603050405020304" pitchFamily="18" charset="0"/>
                <a:cs typeface="Bookman-Light"/>
              </a:rPr>
              <a:t>+ B</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cos</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 + B</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sin</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endParaRPr lang="en-IN" altLang="en-US">
              <a:solidFill>
                <a:srgbClr val="FF7C80"/>
              </a:solidFill>
              <a:ea typeface="Times New Roman" panose="02020603050405020304" pitchFamily="18" charset="0"/>
              <a:cs typeface="Bookman-Light"/>
            </a:endParaRPr>
          </a:p>
        </p:txBody>
      </p:sp>
      <p:sp>
        <p:nvSpPr>
          <p:cNvPr id="24608" name="Rectangle 93"/>
          <p:cNvSpPr>
            <a:spLocks noChangeArrowheads="1"/>
          </p:cNvSpPr>
          <p:nvPr/>
        </p:nvSpPr>
        <p:spPr bwMode="auto">
          <a:xfrm>
            <a:off x="1730376" y="3060700"/>
            <a:ext cx="4652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R</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A</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+ 2AB cos</a:t>
            </a:r>
            <a:r>
              <a:rPr lang="el-GR" altLang="en-US" b="1">
                <a:solidFill>
                  <a:srgbClr val="FF7C80"/>
                </a:solidFill>
                <a:ea typeface="Times New Roman" panose="02020603050405020304" pitchFamily="18" charset="0"/>
                <a:cs typeface="Bookman-Light"/>
              </a:rPr>
              <a:t>θ </a:t>
            </a:r>
            <a:r>
              <a:rPr lang="en-US" altLang="en-US" b="1">
                <a:solidFill>
                  <a:srgbClr val="FF7C80"/>
                </a:solidFill>
                <a:ea typeface="Times New Roman" panose="02020603050405020304" pitchFamily="18" charset="0"/>
                <a:cs typeface="Bookman-Light"/>
              </a:rPr>
              <a:t>+ B</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(cos</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 + sin</a:t>
            </a:r>
            <a:r>
              <a:rPr lang="en-US" altLang="en-US" b="1" baseline="30000">
                <a:solidFill>
                  <a:srgbClr val="FF7C80"/>
                </a:solidFill>
                <a:ea typeface="Times New Roman" panose="02020603050405020304" pitchFamily="18" charset="0"/>
                <a:cs typeface="Bookman-Light"/>
              </a:rPr>
              <a:t>2</a:t>
            </a:r>
            <a:r>
              <a:rPr lang="el-GR" altLang="en-US" b="1">
                <a:solidFill>
                  <a:srgbClr val="FF7C80"/>
                </a:solidFill>
                <a:ea typeface="Times New Roman" panose="02020603050405020304" pitchFamily="18" charset="0"/>
                <a:cs typeface="Bookman-Light"/>
              </a:rPr>
              <a:t>θ</a:t>
            </a:r>
            <a:r>
              <a:rPr lang="en-US" altLang="en-US" b="1">
                <a:solidFill>
                  <a:srgbClr val="FF7C80"/>
                </a:solidFill>
                <a:ea typeface="Times New Roman" panose="02020603050405020304" pitchFamily="18" charset="0"/>
                <a:cs typeface="Bookman-Light"/>
              </a:rPr>
              <a:t>)</a:t>
            </a:r>
            <a:endParaRPr lang="en-IN" altLang="en-US">
              <a:solidFill>
                <a:srgbClr val="FF7C80"/>
              </a:solidFill>
              <a:ea typeface="Times New Roman" panose="02020603050405020304" pitchFamily="18" charset="0"/>
              <a:cs typeface="Bookman-Light"/>
            </a:endParaRPr>
          </a:p>
        </p:txBody>
      </p:sp>
      <p:sp>
        <p:nvSpPr>
          <p:cNvPr id="24609" name="Rectangle 93"/>
          <p:cNvSpPr>
            <a:spLocks noChangeArrowheads="1"/>
          </p:cNvSpPr>
          <p:nvPr/>
        </p:nvSpPr>
        <p:spPr bwMode="auto">
          <a:xfrm>
            <a:off x="1730375" y="3498850"/>
            <a:ext cx="2751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R</a:t>
            </a:r>
            <a:r>
              <a:rPr lang="en-US" altLang="en-US" b="1" baseline="30000">
                <a:solidFill>
                  <a:srgbClr val="FF7C80"/>
                </a:solidFill>
                <a:ea typeface="Times New Roman" panose="02020603050405020304" pitchFamily="18" charset="0"/>
                <a:cs typeface="Bookman-Light"/>
              </a:rPr>
              <a:t>2</a:t>
            </a:r>
            <a:r>
              <a:rPr lang="en-US" altLang="en-US" b="1">
                <a:solidFill>
                  <a:srgbClr val="FF7C80"/>
                </a:solidFill>
                <a:ea typeface="Times New Roman" panose="02020603050405020304" pitchFamily="18" charset="0"/>
                <a:cs typeface="Bookman-Light"/>
              </a:rPr>
              <a:t> = A</a:t>
            </a:r>
            <a:r>
              <a:rPr lang="en-US" altLang="en-US" b="1" baseline="30000">
                <a:solidFill>
                  <a:srgbClr val="FF7C80"/>
                </a:solidFill>
                <a:ea typeface="Times New Roman" panose="02020603050405020304" pitchFamily="18" charset="0"/>
                <a:cs typeface="Bookman-Light"/>
              </a:rPr>
              <a:t>2 </a:t>
            </a:r>
            <a:r>
              <a:rPr lang="en-US" altLang="en-US" b="1">
                <a:solidFill>
                  <a:srgbClr val="FF7C80"/>
                </a:solidFill>
                <a:ea typeface="Times New Roman" panose="02020603050405020304" pitchFamily="18" charset="0"/>
                <a:cs typeface="Bookman-Light"/>
              </a:rPr>
              <a:t>+ 2AB cos</a:t>
            </a:r>
            <a:r>
              <a:rPr lang="el-GR" altLang="en-US" b="1">
                <a:solidFill>
                  <a:srgbClr val="FF7C80"/>
                </a:solidFill>
                <a:ea typeface="Times New Roman" panose="02020603050405020304" pitchFamily="18" charset="0"/>
                <a:cs typeface="Bookman-Light"/>
              </a:rPr>
              <a:t>θ </a:t>
            </a:r>
            <a:r>
              <a:rPr lang="en-US" altLang="en-US" b="1">
                <a:solidFill>
                  <a:srgbClr val="FF7C80"/>
                </a:solidFill>
                <a:ea typeface="Times New Roman" panose="02020603050405020304" pitchFamily="18" charset="0"/>
                <a:cs typeface="Bookman-Light"/>
              </a:rPr>
              <a:t>+ B</a:t>
            </a:r>
            <a:r>
              <a:rPr lang="en-US" altLang="en-US" b="1" baseline="30000">
                <a:solidFill>
                  <a:srgbClr val="FF7C80"/>
                </a:solidFill>
                <a:ea typeface="Times New Roman" panose="02020603050405020304" pitchFamily="18" charset="0"/>
                <a:cs typeface="Bookman-Light"/>
              </a:rPr>
              <a:t>2</a:t>
            </a:r>
            <a:endParaRPr lang="en-IN" altLang="en-US">
              <a:solidFill>
                <a:srgbClr val="FF7C80"/>
              </a:solidFill>
              <a:ea typeface="Times New Roman" panose="02020603050405020304" pitchFamily="18" charset="0"/>
              <a:cs typeface="Bookman-Light"/>
            </a:endParaRPr>
          </a:p>
        </p:txBody>
      </p:sp>
      <p:sp>
        <p:nvSpPr>
          <p:cNvPr id="24610" name="Rectangle 4"/>
          <p:cNvSpPr>
            <a:spLocks noChangeArrowheads="1"/>
          </p:cNvSpPr>
          <p:nvPr/>
        </p:nvSpPr>
        <p:spPr bwMode="auto">
          <a:xfrm>
            <a:off x="5219701" y="3498850"/>
            <a:ext cx="2862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CC"/>
                </a:solidFill>
                <a:ea typeface="Times New Roman" panose="02020603050405020304" pitchFamily="18" charset="0"/>
                <a:cs typeface="Bookman-Light"/>
              </a:rPr>
              <a:t>( since cos</a:t>
            </a:r>
            <a:r>
              <a:rPr lang="en-US" altLang="en-US" b="1" baseline="30000">
                <a:solidFill>
                  <a:srgbClr val="FFCCCC"/>
                </a:solidFill>
                <a:ea typeface="Times New Roman" panose="02020603050405020304" pitchFamily="18" charset="0"/>
                <a:cs typeface="Bookman-Light"/>
              </a:rPr>
              <a:t>2</a:t>
            </a:r>
            <a:r>
              <a:rPr lang="el-GR" altLang="en-US" b="1">
                <a:solidFill>
                  <a:srgbClr val="FFCCCC"/>
                </a:solidFill>
                <a:ea typeface="Times New Roman" panose="02020603050405020304" pitchFamily="18" charset="0"/>
                <a:cs typeface="Bookman-Light"/>
              </a:rPr>
              <a:t>θ</a:t>
            </a:r>
            <a:r>
              <a:rPr lang="en-US" altLang="en-US" b="1">
                <a:solidFill>
                  <a:srgbClr val="FFCCCC"/>
                </a:solidFill>
                <a:ea typeface="Times New Roman" panose="02020603050405020304" pitchFamily="18" charset="0"/>
                <a:cs typeface="Bookman-Light"/>
              </a:rPr>
              <a:t> + sin</a:t>
            </a:r>
            <a:r>
              <a:rPr lang="en-US" altLang="en-US" b="1" baseline="30000">
                <a:solidFill>
                  <a:srgbClr val="FFCCCC"/>
                </a:solidFill>
                <a:ea typeface="Times New Roman" panose="02020603050405020304" pitchFamily="18" charset="0"/>
                <a:cs typeface="Bookman-Light"/>
              </a:rPr>
              <a:t>2</a:t>
            </a:r>
            <a:r>
              <a:rPr lang="el-GR" altLang="en-US" b="1">
                <a:solidFill>
                  <a:srgbClr val="FFCCCC"/>
                </a:solidFill>
                <a:ea typeface="Times New Roman" panose="02020603050405020304" pitchFamily="18" charset="0"/>
                <a:cs typeface="Bookman-Light"/>
              </a:rPr>
              <a:t>θ</a:t>
            </a:r>
            <a:r>
              <a:rPr lang="en-US" altLang="en-US" b="1">
                <a:solidFill>
                  <a:srgbClr val="FFCCCC"/>
                </a:solidFill>
                <a:ea typeface="Times New Roman" panose="02020603050405020304" pitchFamily="18" charset="0"/>
                <a:cs typeface="Bookman-Light"/>
              </a:rPr>
              <a:t> = 1)</a:t>
            </a:r>
            <a:endParaRPr lang="en-IN" altLang="en-US">
              <a:solidFill>
                <a:srgbClr val="FFCCCC"/>
              </a:solidFill>
              <a:ea typeface="Times New Roman" panose="02020603050405020304" pitchFamily="18" charset="0"/>
              <a:cs typeface="Bookman-Light"/>
            </a:endParaRPr>
          </a:p>
        </p:txBody>
      </p:sp>
      <p:sp>
        <p:nvSpPr>
          <p:cNvPr id="24611" name="Rectangle 93"/>
          <p:cNvSpPr>
            <a:spLocks noChangeArrowheads="1"/>
          </p:cNvSpPr>
          <p:nvPr/>
        </p:nvSpPr>
        <p:spPr bwMode="auto">
          <a:xfrm>
            <a:off x="1735139" y="3930650"/>
            <a:ext cx="2746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66FF"/>
                </a:solidFill>
                <a:ea typeface="Times New Roman" panose="02020603050405020304" pitchFamily="18" charset="0"/>
                <a:cs typeface="Bookman-Light"/>
              </a:rPr>
              <a:t>R</a:t>
            </a:r>
            <a:r>
              <a:rPr lang="en-US" altLang="en-US" b="1" baseline="30000">
                <a:solidFill>
                  <a:srgbClr val="6666FF"/>
                </a:solidFill>
                <a:ea typeface="Times New Roman" panose="02020603050405020304" pitchFamily="18" charset="0"/>
                <a:cs typeface="Bookman-Light"/>
              </a:rPr>
              <a:t>2</a:t>
            </a:r>
            <a:r>
              <a:rPr lang="en-US" altLang="en-US" b="1">
                <a:solidFill>
                  <a:srgbClr val="6666FF"/>
                </a:solidFill>
                <a:ea typeface="Times New Roman" panose="02020603050405020304" pitchFamily="18" charset="0"/>
                <a:cs typeface="Bookman-Light"/>
              </a:rPr>
              <a:t> = A</a:t>
            </a:r>
            <a:r>
              <a:rPr lang="en-US" altLang="en-US" b="1" baseline="30000">
                <a:solidFill>
                  <a:srgbClr val="6666FF"/>
                </a:solidFill>
                <a:ea typeface="Times New Roman" panose="02020603050405020304" pitchFamily="18" charset="0"/>
                <a:cs typeface="Bookman-Light"/>
              </a:rPr>
              <a:t>2 </a:t>
            </a:r>
            <a:r>
              <a:rPr lang="en-US" altLang="en-US" b="1">
                <a:solidFill>
                  <a:srgbClr val="6666FF"/>
                </a:solidFill>
                <a:ea typeface="Times New Roman" panose="02020603050405020304" pitchFamily="18" charset="0"/>
                <a:cs typeface="Bookman-Light"/>
              </a:rPr>
              <a:t>+ B</a:t>
            </a:r>
            <a:r>
              <a:rPr lang="en-US" altLang="en-US" b="1" baseline="30000">
                <a:solidFill>
                  <a:srgbClr val="6666FF"/>
                </a:solidFill>
                <a:ea typeface="Times New Roman" panose="02020603050405020304" pitchFamily="18" charset="0"/>
                <a:cs typeface="Bookman-Light"/>
              </a:rPr>
              <a:t>2 </a:t>
            </a:r>
            <a:r>
              <a:rPr lang="en-US" altLang="en-US" b="1">
                <a:solidFill>
                  <a:srgbClr val="6666FF"/>
                </a:solidFill>
                <a:ea typeface="Times New Roman" panose="02020603050405020304" pitchFamily="18" charset="0"/>
                <a:cs typeface="Bookman-Light"/>
              </a:rPr>
              <a:t>+ 2AB cos</a:t>
            </a:r>
            <a:r>
              <a:rPr lang="el-GR" altLang="en-US" b="1">
                <a:solidFill>
                  <a:srgbClr val="6666FF"/>
                </a:solidFill>
                <a:ea typeface="Times New Roman" panose="02020603050405020304" pitchFamily="18" charset="0"/>
                <a:cs typeface="Bookman-Light"/>
              </a:rPr>
              <a:t>θ</a:t>
            </a:r>
            <a:endParaRPr lang="en-IN" altLang="en-US">
              <a:solidFill>
                <a:srgbClr val="6666FF"/>
              </a:solidFill>
              <a:ea typeface="Times New Roman" panose="02020603050405020304" pitchFamily="18" charset="0"/>
              <a:cs typeface="Bookman-Light"/>
            </a:endParaRPr>
          </a:p>
        </p:txBody>
      </p:sp>
      <p:grpSp>
        <p:nvGrpSpPr>
          <p:cNvPr id="91" name="Group 92"/>
          <p:cNvGrpSpPr>
            <a:grpSpLocks/>
          </p:cNvGrpSpPr>
          <p:nvPr/>
        </p:nvGrpSpPr>
        <p:grpSpPr bwMode="auto">
          <a:xfrm>
            <a:off x="1703389" y="4465638"/>
            <a:ext cx="3335337" cy="368300"/>
            <a:chOff x="300260" y="3563724"/>
            <a:chExt cx="3335016" cy="369332"/>
          </a:xfrm>
        </p:grpSpPr>
        <p:sp>
          <p:nvSpPr>
            <p:cNvPr id="24625" name="Rectangle 93"/>
            <p:cNvSpPr>
              <a:spLocks noChangeArrowheads="1"/>
            </p:cNvSpPr>
            <p:nvPr/>
          </p:nvSpPr>
          <p:spPr bwMode="auto">
            <a:xfrm>
              <a:off x="300260" y="3563724"/>
              <a:ext cx="33350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The magnitude of vector R is</a:t>
              </a:r>
              <a:endParaRPr lang="en-IN" altLang="en-US">
                <a:solidFill>
                  <a:srgbClr val="000000"/>
                </a:solidFill>
                <a:ea typeface="Times New Roman" panose="02020603050405020304" pitchFamily="18" charset="0"/>
                <a:cs typeface="Bookman-Light"/>
              </a:endParaRPr>
            </a:p>
          </p:txBody>
        </p:sp>
        <p:cxnSp>
          <p:nvCxnSpPr>
            <p:cNvPr id="93" name="Straight Arrow Connector 92"/>
            <p:cNvCxnSpPr/>
            <p:nvPr/>
          </p:nvCxnSpPr>
          <p:spPr bwMode="auto">
            <a:xfrm>
              <a:off x="3100340" y="3617850"/>
              <a:ext cx="17143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4" name="Group 102"/>
          <p:cNvGrpSpPr>
            <a:grpSpLocks/>
          </p:cNvGrpSpPr>
          <p:nvPr/>
        </p:nvGrpSpPr>
        <p:grpSpPr bwMode="auto">
          <a:xfrm>
            <a:off x="4968875" y="4479925"/>
            <a:ext cx="3143250" cy="388938"/>
            <a:chOff x="2581633" y="4150821"/>
            <a:chExt cx="3142495" cy="389429"/>
          </a:xfrm>
        </p:grpSpPr>
        <p:sp>
          <p:nvSpPr>
            <p:cNvPr id="24620" name="Rectangle 4"/>
            <p:cNvSpPr>
              <a:spLocks noChangeArrowheads="1"/>
            </p:cNvSpPr>
            <p:nvPr/>
          </p:nvSpPr>
          <p:spPr bwMode="auto">
            <a:xfrm>
              <a:off x="2581633" y="4150821"/>
              <a:ext cx="6142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R = </a:t>
              </a:r>
              <a:endParaRPr lang="en-IN" altLang="en-US">
                <a:solidFill>
                  <a:srgbClr val="00FF00"/>
                </a:solidFill>
              </a:endParaRPr>
            </a:p>
          </p:txBody>
        </p:sp>
        <p:sp>
          <p:nvSpPr>
            <p:cNvPr id="24621" name="Rectangle 90"/>
            <p:cNvSpPr>
              <a:spLocks noChangeArrowheads="1"/>
            </p:cNvSpPr>
            <p:nvPr/>
          </p:nvSpPr>
          <p:spPr bwMode="auto">
            <a:xfrm>
              <a:off x="3198628" y="4157735"/>
              <a:ext cx="2525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A</a:t>
              </a:r>
              <a:r>
                <a:rPr lang="en-US" altLang="en-US" b="1" baseline="30000">
                  <a:solidFill>
                    <a:srgbClr val="00FF00"/>
                  </a:solidFill>
                </a:rPr>
                <a:t>2</a:t>
              </a:r>
              <a:r>
                <a:rPr lang="en-US" altLang="en-US" b="1" baseline="-25000">
                  <a:solidFill>
                    <a:srgbClr val="00FF00"/>
                  </a:solidFill>
                </a:rPr>
                <a:t> </a:t>
              </a:r>
              <a:r>
                <a:rPr lang="en-US" altLang="en-US" b="1">
                  <a:solidFill>
                    <a:srgbClr val="00FF00"/>
                  </a:solidFill>
                </a:rPr>
                <a:t>+ </a:t>
              </a:r>
              <a:r>
                <a:rPr lang="en-US" altLang="en-US" b="1" baseline="-25000">
                  <a:solidFill>
                    <a:srgbClr val="00FF00"/>
                  </a:solidFill>
                </a:rPr>
                <a:t> </a:t>
              </a:r>
              <a:r>
                <a:rPr lang="en-US" altLang="en-US" b="1">
                  <a:solidFill>
                    <a:srgbClr val="00FF00"/>
                  </a:solidFill>
                </a:rPr>
                <a:t>B</a:t>
              </a:r>
              <a:r>
                <a:rPr lang="en-US" altLang="en-US" b="1" baseline="30000">
                  <a:solidFill>
                    <a:srgbClr val="00FF00"/>
                  </a:solidFill>
                </a:rPr>
                <a:t>2 </a:t>
              </a:r>
              <a:r>
                <a:rPr lang="en-US" altLang="en-US" b="1">
                  <a:solidFill>
                    <a:srgbClr val="00FF00"/>
                  </a:solidFill>
                </a:rPr>
                <a:t>+</a:t>
              </a:r>
              <a:r>
                <a:rPr lang="en-US" altLang="en-US" b="1" baseline="-25000">
                  <a:solidFill>
                    <a:srgbClr val="00FF00"/>
                  </a:solidFill>
                </a:rPr>
                <a:t>  </a:t>
              </a:r>
              <a:r>
                <a:rPr lang="en-US" altLang="en-US" b="1">
                  <a:solidFill>
                    <a:srgbClr val="00FF00"/>
                  </a:solidFill>
                </a:rPr>
                <a:t>2 A B cos </a:t>
              </a:r>
              <a:r>
                <a:rPr lang="el-GR" altLang="en-US" b="1">
                  <a:solidFill>
                    <a:srgbClr val="00FF00"/>
                  </a:solidFill>
                </a:rPr>
                <a:t>θ</a:t>
              </a:r>
              <a:r>
                <a:rPr lang="en-US" altLang="en-US" b="1">
                  <a:solidFill>
                    <a:srgbClr val="00FF00"/>
                  </a:solidFill>
                </a:rPr>
                <a:t> </a:t>
              </a:r>
            </a:p>
          </p:txBody>
        </p:sp>
        <p:grpSp>
          <p:nvGrpSpPr>
            <p:cNvPr id="24622" name="Group 98"/>
            <p:cNvGrpSpPr>
              <a:grpSpLocks/>
            </p:cNvGrpSpPr>
            <p:nvPr/>
          </p:nvGrpSpPr>
          <p:grpSpPr bwMode="auto">
            <a:xfrm>
              <a:off x="3070373" y="4150821"/>
              <a:ext cx="2583923" cy="389429"/>
              <a:chOff x="1890481" y="5478499"/>
              <a:chExt cx="2583923" cy="389429"/>
            </a:xfrm>
          </p:grpSpPr>
          <p:sp>
            <p:nvSpPr>
              <p:cNvPr id="24623" name="Freeform 64"/>
              <p:cNvSpPr>
                <a:spLocks/>
              </p:cNvSpPr>
              <p:nvPr/>
            </p:nvSpPr>
            <p:spPr bwMode="auto">
              <a:xfrm>
                <a:off x="1890481" y="5498588"/>
                <a:ext cx="521280" cy="369340"/>
              </a:xfrm>
              <a:custGeom>
                <a:avLst/>
                <a:gdLst>
                  <a:gd name="T0" fmla="*/ 0 w 720"/>
                  <a:gd name="T1" fmla="*/ 2147483647 h 336"/>
                  <a:gd name="T2" fmla="*/ 2147483647 w 720"/>
                  <a:gd name="T3" fmla="*/ 2147483647 h 336"/>
                  <a:gd name="T4" fmla="*/ 2147483647 w 720"/>
                  <a:gd name="T5" fmla="*/ 2147483647 h 336"/>
                  <a:gd name="T6" fmla="*/ 2147483647 w 720"/>
                  <a:gd name="T7" fmla="*/ 0 h 336"/>
                  <a:gd name="T8" fmla="*/ 2147483647 w 720"/>
                  <a:gd name="T9" fmla="*/ 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336">
                    <a:moveTo>
                      <a:pt x="0" y="240"/>
                    </a:moveTo>
                    <a:lnTo>
                      <a:pt x="48" y="192"/>
                    </a:lnTo>
                    <a:lnTo>
                      <a:pt x="96" y="336"/>
                    </a:lnTo>
                    <a:lnTo>
                      <a:pt x="192" y="0"/>
                    </a:lnTo>
                    <a:lnTo>
                      <a:pt x="720" y="0"/>
                    </a:lnTo>
                  </a:path>
                </a:pathLst>
              </a:custGeom>
              <a:noFill/>
              <a:ln w="19050" cap="flat" cmpd="sng">
                <a:solidFill>
                  <a:srgbClr val="00FF99"/>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cxnSp>
            <p:nvCxnSpPr>
              <p:cNvPr id="100" name="Straight Connector 99"/>
              <p:cNvCxnSpPr/>
              <p:nvPr/>
            </p:nvCxnSpPr>
            <p:spPr>
              <a:xfrm flipV="1">
                <a:off x="2225456" y="5478499"/>
                <a:ext cx="2248947" cy="20664"/>
              </a:xfrm>
              <a:prstGeom prst="line">
                <a:avLst/>
              </a:prstGeom>
              <a:ln w="19050">
                <a:solidFill>
                  <a:srgbClr val="00FF99"/>
                </a:solidFill>
              </a:ln>
            </p:spPr>
            <p:style>
              <a:lnRef idx="1">
                <a:schemeClr val="accent1"/>
              </a:lnRef>
              <a:fillRef idx="0">
                <a:schemeClr val="accent1"/>
              </a:fillRef>
              <a:effectRef idx="0">
                <a:schemeClr val="accent1"/>
              </a:effectRef>
              <a:fontRef idx="minor">
                <a:schemeClr val="tx1"/>
              </a:fontRef>
            </p:style>
          </p:cxnSp>
        </p:grpSp>
      </p:grpSp>
      <p:sp>
        <p:nvSpPr>
          <p:cNvPr id="102" name="Rectangle 111"/>
          <p:cNvSpPr>
            <a:spLocks noChangeArrowheads="1"/>
          </p:cNvSpPr>
          <p:nvPr/>
        </p:nvSpPr>
        <p:spPr bwMode="auto">
          <a:xfrm>
            <a:off x="8297863" y="4468813"/>
            <a:ext cx="2190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FFC000"/>
                </a:solidFill>
                <a:ea typeface="Times New Roman" panose="02020603050405020304" pitchFamily="18" charset="0"/>
                <a:cs typeface="Bookman-Light"/>
              </a:rPr>
              <a:t>(Law of cosines)</a:t>
            </a:r>
            <a:endParaRPr lang="en-IN" altLang="en-US" sz="2000">
              <a:solidFill>
                <a:srgbClr val="000000"/>
              </a:solidFill>
              <a:ea typeface="Times New Roman" panose="02020603050405020304" pitchFamily="18" charset="0"/>
              <a:cs typeface="Bookman-Light"/>
            </a:endParaRPr>
          </a:p>
        </p:txBody>
      </p:sp>
      <p:grpSp>
        <p:nvGrpSpPr>
          <p:cNvPr id="61" name="Group 103"/>
          <p:cNvGrpSpPr>
            <a:grpSpLocks/>
          </p:cNvGrpSpPr>
          <p:nvPr/>
        </p:nvGrpSpPr>
        <p:grpSpPr bwMode="auto">
          <a:xfrm>
            <a:off x="1703388" y="5332414"/>
            <a:ext cx="3351212" cy="369887"/>
            <a:chOff x="300260" y="3563724"/>
            <a:chExt cx="3352200" cy="369332"/>
          </a:xfrm>
        </p:grpSpPr>
        <p:sp>
          <p:nvSpPr>
            <p:cNvPr id="24618" name="Rectangle 104"/>
            <p:cNvSpPr>
              <a:spLocks noChangeArrowheads="1"/>
            </p:cNvSpPr>
            <p:nvPr/>
          </p:nvSpPr>
          <p:spPr bwMode="auto">
            <a:xfrm>
              <a:off x="300260" y="3563724"/>
              <a:ext cx="3352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The  direction  of  vector R is</a:t>
              </a:r>
              <a:endParaRPr lang="en-IN" altLang="en-US">
                <a:solidFill>
                  <a:srgbClr val="000000"/>
                </a:solidFill>
                <a:ea typeface="Times New Roman" panose="02020603050405020304" pitchFamily="18" charset="0"/>
                <a:cs typeface="Bookman-Light"/>
              </a:endParaRPr>
            </a:p>
          </p:txBody>
        </p:sp>
        <p:cxnSp>
          <p:nvCxnSpPr>
            <p:cNvPr id="63" name="Straight Arrow Connector 62"/>
            <p:cNvCxnSpPr/>
            <p:nvPr/>
          </p:nvCxnSpPr>
          <p:spPr bwMode="auto">
            <a:xfrm>
              <a:off x="3099847" y="3617618"/>
              <a:ext cx="17150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65" name="Group 106"/>
          <p:cNvGrpSpPr>
            <a:grpSpLocks/>
          </p:cNvGrpSpPr>
          <p:nvPr/>
        </p:nvGrpSpPr>
        <p:grpSpPr bwMode="auto">
          <a:xfrm>
            <a:off x="5008564" y="5111751"/>
            <a:ext cx="2382837" cy="765175"/>
            <a:chOff x="5789438" y="4688958"/>
            <a:chExt cx="2382962" cy="765558"/>
          </a:xfrm>
        </p:grpSpPr>
        <p:sp>
          <p:nvSpPr>
            <p:cNvPr id="24614" name="Rectangle 32"/>
            <p:cNvSpPr>
              <a:spLocks noChangeArrowheads="1"/>
            </p:cNvSpPr>
            <p:nvPr/>
          </p:nvSpPr>
          <p:spPr bwMode="auto">
            <a:xfrm>
              <a:off x="6946291" y="4688958"/>
              <a:ext cx="9380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CC"/>
                  </a:solidFill>
                </a:rPr>
                <a:t>B sin </a:t>
              </a:r>
              <a:r>
                <a:rPr lang="el-GR" altLang="en-US" b="1">
                  <a:solidFill>
                    <a:srgbClr val="FFFFCC"/>
                  </a:solidFill>
                </a:rPr>
                <a:t>θ</a:t>
              </a:r>
              <a:endParaRPr lang="el-GR" altLang="en-US" b="1" baseline="-25000">
                <a:solidFill>
                  <a:srgbClr val="FFFFCC"/>
                </a:solidFill>
              </a:endParaRPr>
            </a:p>
          </p:txBody>
        </p:sp>
        <p:sp>
          <p:nvSpPr>
            <p:cNvPr id="24615" name="Line 33"/>
            <p:cNvSpPr>
              <a:spLocks noChangeShapeType="1"/>
            </p:cNvSpPr>
            <p:nvPr/>
          </p:nvSpPr>
          <p:spPr bwMode="auto">
            <a:xfrm>
              <a:off x="6708099" y="5091113"/>
              <a:ext cx="1437407"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4616" name="Text Box 34"/>
            <p:cNvSpPr txBox="1">
              <a:spLocks noChangeArrowheads="1"/>
            </p:cNvSpPr>
            <p:nvPr/>
          </p:nvSpPr>
          <p:spPr bwMode="auto">
            <a:xfrm>
              <a:off x="5789438" y="4904542"/>
              <a:ext cx="1086818" cy="369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CC"/>
                  </a:solidFill>
                </a:rPr>
                <a:t>tan </a:t>
              </a:r>
              <a:r>
                <a:rPr lang="el-GR" altLang="en-US" b="1">
                  <a:solidFill>
                    <a:srgbClr val="FFFFCC"/>
                  </a:solidFill>
                </a:rPr>
                <a:t>α</a:t>
              </a:r>
              <a:r>
                <a:rPr lang="en-US" altLang="en-US" b="1">
                  <a:solidFill>
                    <a:srgbClr val="FFFFCC"/>
                  </a:solidFill>
                </a:rPr>
                <a:t> =  </a:t>
              </a:r>
              <a:endParaRPr lang="en-US" altLang="en-US" b="1" baseline="-25000">
                <a:solidFill>
                  <a:srgbClr val="FFFFCC"/>
                </a:solidFill>
              </a:endParaRPr>
            </a:p>
          </p:txBody>
        </p:sp>
        <p:sp>
          <p:nvSpPr>
            <p:cNvPr id="24617" name="Rectangle 32"/>
            <p:cNvSpPr>
              <a:spLocks noChangeArrowheads="1"/>
            </p:cNvSpPr>
            <p:nvPr/>
          </p:nvSpPr>
          <p:spPr bwMode="auto">
            <a:xfrm>
              <a:off x="6749190" y="5085184"/>
              <a:ext cx="14232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FFCC"/>
                  </a:solidFill>
                </a:rPr>
                <a:t>A + B cos </a:t>
              </a:r>
              <a:r>
                <a:rPr lang="el-GR" altLang="en-US" b="1">
                  <a:solidFill>
                    <a:srgbClr val="FFFFCC"/>
                  </a:solidFill>
                </a:rPr>
                <a:t>θ</a:t>
              </a:r>
              <a:endParaRPr lang="el-GR" altLang="en-US" b="1" baseline="-25000">
                <a:solidFill>
                  <a:srgbClr val="FFFFCC"/>
                </a:solidFill>
              </a:endParaRPr>
            </a:p>
          </p:txBody>
        </p:sp>
      </p:grpSp>
      <p:sp>
        <p:nvSpPr>
          <p:cNvPr id="72" name="Rectangle 112"/>
          <p:cNvSpPr>
            <a:spLocks noChangeArrowheads="1"/>
          </p:cNvSpPr>
          <p:nvPr/>
        </p:nvSpPr>
        <p:spPr bwMode="auto">
          <a:xfrm>
            <a:off x="5899150" y="6094413"/>
            <a:ext cx="1892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b="1">
                <a:solidFill>
                  <a:srgbClr val="FFC000"/>
                </a:solidFill>
                <a:ea typeface="Times New Roman" panose="02020603050405020304" pitchFamily="18" charset="0"/>
                <a:cs typeface="Bookman-Light"/>
              </a:rPr>
              <a:t>(Law of sines)</a:t>
            </a:r>
            <a:endParaRPr lang="en-IN" altLang="en-US" sz="2000">
              <a:solidFill>
                <a:srgbClr val="000000"/>
              </a:solidFill>
              <a:ea typeface="Times New Roman" panose="02020603050405020304" pitchFamily="18" charset="0"/>
              <a:cs typeface="Bookman-Light"/>
            </a:endParaRPr>
          </a:p>
        </p:txBody>
      </p:sp>
      <p:grpSp>
        <p:nvGrpSpPr>
          <p:cNvPr id="74" name="Group 114"/>
          <p:cNvGrpSpPr>
            <a:grpSpLocks/>
          </p:cNvGrpSpPr>
          <p:nvPr/>
        </p:nvGrpSpPr>
        <p:grpSpPr bwMode="auto">
          <a:xfrm>
            <a:off x="3219451" y="5915026"/>
            <a:ext cx="2581275" cy="754063"/>
            <a:chOff x="6073033" y="4841284"/>
            <a:chExt cx="2582040" cy="753093"/>
          </a:xfrm>
        </p:grpSpPr>
        <p:grpSp>
          <p:nvGrpSpPr>
            <p:cNvPr id="24600" name="Group 115"/>
            <p:cNvGrpSpPr>
              <a:grpSpLocks/>
            </p:cNvGrpSpPr>
            <p:nvPr/>
          </p:nvGrpSpPr>
          <p:grpSpPr bwMode="auto">
            <a:xfrm>
              <a:off x="6073033" y="4841284"/>
              <a:ext cx="963891" cy="739934"/>
              <a:chOff x="6735739" y="4715852"/>
              <a:chExt cx="963891" cy="739934"/>
            </a:xfrm>
          </p:grpSpPr>
          <p:sp>
            <p:nvSpPr>
              <p:cNvPr id="4" name="Rectangle 32"/>
              <p:cNvSpPr>
                <a:spLocks noChangeArrowheads="1"/>
              </p:cNvSpPr>
              <p:nvPr/>
            </p:nvSpPr>
            <p:spPr bwMode="auto">
              <a:xfrm>
                <a:off x="6919397" y="4715852"/>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R</a:t>
                </a:r>
                <a:endParaRPr lang="el-GR" altLang="en-US" b="1" baseline="-25000">
                  <a:solidFill>
                    <a:srgbClr val="9933FF"/>
                  </a:solidFill>
                </a:endParaRPr>
              </a:p>
            </p:txBody>
          </p:sp>
          <p:sp>
            <p:nvSpPr>
              <p:cNvPr id="5" name="Line 33"/>
              <p:cNvSpPr>
                <a:spLocks noChangeShapeType="1"/>
              </p:cNvSpPr>
              <p:nvPr/>
            </p:nvSpPr>
            <p:spPr bwMode="auto">
              <a:xfrm>
                <a:off x="6746874" y="5091113"/>
                <a:ext cx="670560" cy="0"/>
              </a:xfrm>
              <a:prstGeom prst="line">
                <a:avLst/>
              </a:prstGeom>
              <a:noFill/>
              <a:ln w="19050">
                <a:solidFill>
                  <a:srgbClr val="99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4612" name="Rectangle 32"/>
              <p:cNvSpPr>
                <a:spLocks noChangeArrowheads="1"/>
              </p:cNvSpPr>
              <p:nvPr/>
            </p:nvSpPr>
            <p:spPr bwMode="auto">
              <a:xfrm>
                <a:off x="6735739" y="5086454"/>
                <a:ext cx="7072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sin </a:t>
                </a:r>
                <a:r>
                  <a:rPr lang="el-GR" altLang="en-US" b="1">
                    <a:solidFill>
                      <a:srgbClr val="9933FF"/>
                    </a:solidFill>
                  </a:rPr>
                  <a:t>θ</a:t>
                </a:r>
                <a:endParaRPr lang="el-GR" altLang="en-US" b="1" baseline="-25000">
                  <a:solidFill>
                    <a:srgbClr val="9933FF"/>
                  </a:solidFill>
                </a:endParaRPr>
              </a:p>
            </p:txBody>
          </p:sp>
          <p:sp>
            <p:nvSpPr>
              <p:cNvPr id="24613" name="Rectangle 128"/>
              <p:cNvSpPr>
                <a:spLocks noChangeArrowheads="1"/>
              </p:cNvSpPr>
              <p:nvPr/>
            </p:nvSpPr>
            <p:spPr bwMode="auto">
              <a:xfrm>
                <a:off x="7380312" y="491058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33FF"/>
                    </a:solidFill>
                  </a:rPr>
                  <a:t>=</a:t>
                </a:r>
                <a:endParaRPr lang="en-IN" altLang="en-US">
                  <a:solidFill>
                    <a:srgbClr val="9933FF"/>
                  </a:solidFill>
                </a:endParaRPr>
              </a:p>
            </p:txBody>
          </p:sp>
        </p:grpSp>
        <p:grpSp>
          <p:nvGrpSpPr>
            <p:cNvPr id="24601" name="Group 116"/>
            <p:cNvGrpSpPr>
              <a:grpSpLocks/>
            </p:cNvGrpSpPr>
            <p:nvPr/>
          </p:nvGrpSpPr>
          <p:grpSpPr bwMode="auto">
            <a:xfrm>
              <a:off x="7020653" y="4850576"/>
              <a:ext cx="952756" cy="738664"/>
              <a:chOff x="6746874" y="4715852"/>
              <a:chExt cx="952756" cy="738664"/>
            </a:xfrm>
          </p:grpSpPr>
          <p:sp>
            <p:nvSpPr>
              <p:cNvPr id="6" name="Rectangle 32"/>
              <p:cNvSpPr>
                <a:spLocks noChangeArrowheads="1"/>
              </p:cNvSpPr>
              <p:nvPr/>
            </p:nvSpPr>
            <p:spPr bwMode="auto">
              <a:xfrm>
                <a:off x="6919397" y="4715852"/>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A</a:t>
                </a:r>
                <a:endParaRPr lang="el-GR" altLang="en-US" b="1" baseline="-25000">
                  <a:solidFill>
                    <a:srgbClr val="9933FF"/>
                  </a:solidFill>
                </a:endParaRPr>
              </a:p>
            </p:txBody>
          </p:sp>
          <p:sp>
            <p:nvSpPr>
              <p:cNvPr id="7" name="Line 33"/>
              <p:cNvSpPr>
                <a:spLocks noChangeShapeType="1"/>
              </p:cNvSpPr>
              <p:nvPr/>
            </p:nvSpPr>
            <p:spPr bwMode="auto">
              <a:xfrm>
                <a:off x="6746874" y="5091113"/>
                <a:ext cx="670560" cy="0"/>
              </a:xfrm>
              <a:prstGeom prst="line">
                <a:avLst/>
              </a:prstGeom>
              <a:noFill/>
              <a:ln w="19050">
                <a:solidFill>
                  <a:srgbClr val="99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8" name="Rectangle 32"/>
              <p:cNvSpPr>
                <a:spLocks noChangeArrowheads="1"/>
              </p:cNvSpPr>
              <p:nvPr/>
            </p:nvSpPr>
            <p:spPr bwMode="auto">
              <a:xfrm>
                <a:off x="6749190" y="5085184"/>
                <a:ext cx="723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sin </a:t>
                </a:r>
                <a:r>
                  <a:rPr lang="el-GR" altLang="en-US" b="1">
                    <a:solidFill>
                      <a:srgbClr val="9933FF"/>
                    </a:solidFill>
                  </a:rPr>
                  <a:t>β</a:t>
                </a:r>
                <a:endParaRPr lang="el-GR" altLang="en-US" b="1" baseline="-25000">
                  <a:solidFill>
                    <a:srgbClr val="9933FF"/>
                  </a:solidFill>
                </a:endParaRPr>
              </a:p>
            </p:txBody>
          </p:sp>
          <p:sp>
            <p:nvSpPr>
              <p:cNvPr id="9" name="Rectangle 124"/>
              <p:cNvSpPr>
                <a:spLocks noChangeArrowheads="1"/>
              </p:cNvSpPr>
              <p:nvPr/>
            </p:nvSpPr>
            <p:spPr bwMode="auto">
              <a:xfrm>
                <a:off x="7380312" y="491058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33FF"/>
                    </a:solidFill>
                  </a:rPr>
                  <a:t>=</a:t>
                </a:r>
                <a:endParaRPr lang="en-IN" altLang="en-US">
                  <a:solidFill>
                    <a:srgbClr val="9933FF"/>
                  </a:solidFill>
                </a:endParaRPr>
              </a:p>
            </p:txBody>
          </p:sp>
        </p:grpSp>
        <p:grpSp>
          <p:nvGrpSpPr>
            <p:cNvPr id="24602" name="Group 117"/>
            <p:cNvGrpSpPr>
              <a:grpSpLocks/>
            </p:cNvGrpSpPr>
            <p:nvPr/>
          </p:nvGrpSpPr>
          <p:grpSpPr bwMode="auto">
            <a:xfrm>
              <a:off x="7929482" y="4855713"/>
              <a:ext cx="725591" cy="738664"/>
              <a:chOff x="6746874" y="4715852"/>
              <a:chExt cx="725591" cy="738664"/>
            </a:xfrm>
          </p:grpSpPr>
          <p:sp>
            <p:nvSpPr>
              <p:cNvPr id="10" name="Rectangle 32"/>
              <p:cNvSpPr>
                <a:spLocks noChangeArrowheads="1"/>
              </p:cNvSpPr>
              <p:nvPr/>
            </p:nvSpPr>
            <p:spPr bwMode="auto">
              <a:xfrm>
                <a:off x="6919397" y="4715852"/>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B</a:t>
                </a:r>
                <a:endParaRPr lang="el-GR" altLang="en-US" b="1" baseline="-25000">
                  <a:solidFill>
                    <a:srgbClr val="9933FF"/>
                  </a:solidFill>
                </a:endParaRPr>
              </a:p>
            </p:txBody>
          </p:sp>
          <p:sp>
            <p:nvSpPr>
              <p:cNvPr id="11" name="Line 33"/>
              <p:cNvSpPr>
                <a:spLocks noChangeShapeType="1"/>
              </p:cNvSpPr>
              <p:nvPr/>
            </p:nvSpPr>
            <p:spPr bwMode="auto">
              <a:xfrm>
                <a:off x="6746874" y="5091113"/>
                <a:ext cx="670560" cy="0"/>
              </a:xfrm>
              <a:prstGeom prst="line">
                <a:avLst/>
              </a:prstGeom>
              <a:noFill/>
              <a:ln w="19050">
                <a:solidFill>
                  <a:srgbClr val="99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12" name="Rectangle 32"/>
              <p:cNvSpPr>
                <a:spLocks noChangeArrowheads="1"/>
              </p:cNvSpPr>
              <p:nvPr/>
            </p:nvSpPr>
            <p:spPr bwMode="auto">
              <a:xfrm>
                <a:off x="6749190" y="5085184"/>
                <a:ext cx="723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9933FF"/>
                    </a:solidFill>
                  </a:rPr>
                  <a:t>sin </a:t>
                </a:r>
                <a:r>
                  <a:rPr lang="el-GR" altLang="en-US" b="1">
                    <a:solidFill>
                      <a:srgbClr val="9933FF"/>
                    </a:solidFill>
                  </a:rPr>
                  <a:t>α</a:t>
                </a:r>
                <a:endParaRPr lang="el-GR" altLang="en-US" b="1" baseline="-25000">
                  <a:solidFill>
                    <a:srgbClr val="9933FF"/>
                  </a:solidFill>
                </a:endParaRPr>
              </a:p>
            </p:txBody>
          </p:sp>
        </p:grpSp>
      </p:grpSp>
      <p:sp>
        <p:nvSpPr>
          <p:cNvPr id="95" name="Rectangle 129"/>
          <p:cNvSpPr>
            <a:spLocks noChangeArrowheads="1"/>
          </p:cNvSpPr>
          <p:nvPr/>
        </p:nvSpPr>
        <p:spPr bwMode="auto">
          <a:xfrm>
            <a:off x="2424114" y="6100763"/>
            <a:ext cx="59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and</a:t>
            </a:r>
            <a:endParaRPr lang="en-IN" altLang="en-US">
              <a:solidFill>
                <a:srgbClr val="000000"/>
              </a:solidFill>
              <a:ea typeface="Times New Roman" panose="02020603050405020304" pitchFamily="18" charset="0"/>
              <a:cs typeface="Bookman-Light"/>
            </a:endParaRPr>
          </a:p>
        </p:txBody>
      </p:sp>
      <p:sp>
        <p:nvSpPr>
          <p:cNvPr id="24597" name="TextBox 85"/>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24598" name="TextBox 87"/>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4599" name="TextBox 88"/>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0211742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mph" presetSubtype="0" fill="remove" grpId="0" nodeType="afterEffect">
                                  <p:stCondLst>
                                    <p:cond delay="0"/>
                                  </p:stCondLst>
                                  <p:childTnLst>
                                    <p:animClr clrSpc="rgb" dir="cw">
                                      <p:cBhvr override="childStyle">
                                        <p:cTn id="6" dur="250" autoRev="1" fill="remove"/>
                                        <p:tgtEl>
                                          <p:spTgt spid="21"/>
                                        </p:tgtEl>
                                        <p:attrNameLst>
                                          <p:attrName>style.color</p:attrName>
                                        </p:attrNameLst>
                                      </p:cBhvr>
                                      <p:to>
                                        <a:schemeClr val="bg1"/>
                                      </p:to>
                                    </p:animClr>
                                    <p:animClr clrSpc="rgb" dir="cw">
                                      <p:cBhvr>
                                        <p:cTn id="7" dur="250" autoRev="1" fill="remove"/>
                                        <p:tgtEl>
                                          <p:spTgt spid="21"/>
                                        </p:tgtEl>
                                        <p:attrNameLst>
                                          <p:attrName>fillcolor</p:attrName>
                                        </p:attrNameLst>
                                      </p:cBhvr>
                                      <p:to>
                                        <a:schemeClr val="bg1"/>
                                      </p:to>
                                    </p:animClr>
                                    <p:set>
                                      <p:cBhvr>
                                        <p:cTn id="8" dur="250" autoRev="1" fill="remove"/>
                                        <p:tgtEl>
                                          <p:spTgt spid="21"/>
                                        </p:tgtEl>
                                        <p:attrNameLst>
                                          <p:attrName>fill.type</p:attrName>
                                        </p:attrNameLst>
                                      </p:cBhvr>
                                      <p:to>
                                        <p:strVal val="solid"/>
                                      </p:to>
                                    </p:set>
                                    <p:set>
                                      <p:cBhvr>
                                        <p:cTn id="9" dur="250" autoRev="1" fill="remove"/>
                                        <p:tgtEl>
                                          <p:spTgt spid="21"/>
                                        </p:tgtEl>
                                        <p:attrNameLst>
                                          <p:attrName>fill.on</p:attrName>
                                        </p:attrNameLst>
                                      </p:cBhvr>
                                      <p:to>
                                        <p:strVal val="tru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4603"/>
                                        </p:tgtEl>
                                        <p:attrNameLst>
                                          <p:attrName>style.visibility</p:attrName>
                                        </p:attrNameLst>
                                      </p:cBhvr>
                                      <p:to>
                                        <p:strVal val="visible"/>
                                      </p:to>
                                    </p:set>
                                    <p:animEffect transition="in" filter="wipe(left)">
                                      <p:cBhvr>
                                        <p:cTn id="21" dur="500"/>
                                        <p:tgtEl>
                                          <p:spTgt spid="2460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4604"/>
                                        </p:tgtEl>
                                        <p:attrNameLst>
                                          <p:attrName>style.visibility</p:attrName>
                                        </p:attrNameLst>
                                      </p:cBhvr>
                                      <p:to>
                                        <p:strVal val="visible"/>
                                      </p:to>
                                    </p:set>
                                    <p:animEffect transition="in" filter="wipe(left)">
                                      <p:cBhvr>
                                        <p:cTn id="26" dur="500"/>
                                        <p:tgtEl>
                                          <p:spTgt spid="2460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605"/>
                                        </p:tgtEl>
                                        <p:attrNameLst>
                                          <p:attrName>style.visibility</p:attrName>
                                        </p:attrNameLst>
                                      </p:cBhvr>
                                      <p:to>
                                        <p:strVal val="visible"/>
                                      </p:to>
                                    </p:set>
                                    <p:animEffect transition="in" filter="wipe(left)">
                                      <p:cBhvr>
                                        <p:cTn id="31" dur="500"/>
                                        <p:tgtEl>
                                          <p:spTgt spid="2460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606"/>
                                        </p:tgtEl>
                                        <p:attrNameLst>
                                          <p:attrName>style.visibility</p:attrName>
                                        </p:attrNameLst>
                                      </p:cBhvr>
                                      <p:to>
                                        <p:strVal val="visible"/>
                                      </p:to>
                                    </p:set>
                                    <p:animEffect transition="in" filter="wipe(left)">
                                      <p:cBhvr>
                                        <p:cTn id="36" dur="500"/>
                                        <p:tgtEl>
                                          <p:spTgt spid="2460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4607"/>
                                        </p:tgtEl>
                                        <p:attrNameLst>
                                          <p:attrName>style.visibility</p:attrName>
                                        </p:attrNameLst>
                                      </p:cBhvr>
                                      <p:to>
                                        <p:strVal val="visible"/>
                                      </p:to>
                                    </p:set>
                                    <p:animEffect transition="in" filter="wipe(left)">
                                      <p:cBhvr>
                                        <p:cTn id="41" dur="500"/>
                                        <p:tgtEl>
                                          <p:spTgt spid="2460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4608"/>
                                        </p:tgtEl>
                                        <p:attrNameLst>
                                          <p:attrName>style.visibility</p:attrName>
                                        </p:attrNameLst>
                                      </p:cBhvr>
                                      <p:to>
                                        <p:strVal val="visible"/>
                                      </p:to>
                                    </p:set>
                                    <p:animEffect transition="in" filter="wipe(left)">
                                      <p:cBhvr>
                                        <p:cTn id="46" dur="500"/>
                                        <p:tgtEl>
                                          <p:spTgt spid="2460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4609"/>
                                        </p:tgtEl>
                                        <p:attrNameLst>
                                          <p:attrName>style.visibility</p:attrName>
                                        </p:attrNameLst>
                                      </p:cBhvr>
                                      <p:to>
                                        <p:strVal val="visible"/>
                                      </p:to>
                                    </p:set>
                                    <p:animEffect transition="in" filter="wipe(left)">
                                      <p:cBhvr>
                                        <p:cTn id="51" dur="500"/>
                                        <p:tgtEl>
                                          <p:spTgt spid="2460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4610"/>
                                        </p:tgtEl>
                                        <p:attrNameLst>
                                          <p:attrName>style.visibility</p:attrName>
                                        </p:attrNameLst>
                                      </p:cBhvr>
                                      <p:to>
                                        <p:strVal val="visible"/>
                                      </p:to>
                                    </p:set>
                                    <p:animEffect transition="in" filter="wipe(left)">
                                      <p:cBhvr>
                                        <p:cTn id="56" dur="500"/>
                                        <p:tgtEl>
                                          <p:spTgt spid="2461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4611"/>
                                        </p:tgtEl>
                                        <p:attrNameLst>
                                          <p:attrName>style.visibility</p:attrName>
                                        </p:attrNameLst>
                                      </p:cBhvr>
                                      <p:to>
                                        <p:strVal val="visible"/>
                                      </p:to>
                                    </p:set>
                                    <p:animEffect transition="in" filter="wipe(left)">
                                      <p:cBhvr>
                                        <p:cTn id="61" dur="500"/>
                                        <p:tgtEl>
                                          <p:spTgt spid="2461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1"/>
                                        </p:tgtEl>
                                        <p:attrNameLst>
                                          <p:attrName>style.visibility</p:attrName>
                                        </p:attrNameLst>
                                      </p:cBhvr>
                                      <p:to>
                                        <p:strVal val="visible"/>
                                      </p:to>
                                    </p:set>
                                    <p:animEffect transition="in" filter="wipe(left)">
                                      <p:cBhvr>
                                        <p:cTn id="66" dur="500"/>
                                        <p:tgtEl>
                                          <p:spTgt spid="9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94"/>
                                        </p:tgtEl>
                                        <p:attrNameLst>
                                          <p:attrName>style.visibility</p:attrName>
                                        </p:attrNameLst>
                                      </p:cBhvr>
                                      <p:to>
                                        <p:strVal val="visible"/>
                                      </p:to>
                                    </p:set>
                                    <p:animEffect transition="in" filter="wipe(left)">
                                      <p:cBhvr>
                                        <p:cTn id="71" dur="500"/>
                                        <p:tgtEl>
                                          <p:spTgt spid="9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02"/>
                                        </p:tgtEl>
                                        <p:attrNameLst>
                                          <p:attrName>style.visibility</p:attrName>
                                        </p:attrNameLst>
                                      </p:cBhvr>
                                      <p:to>
                                        <p:strVal val="visible"/>
                                      </p:to>
                                    </p:set>
                                    <p:animEffect transition="in" filter="wipe(left)">
                                      <p:cBhvr>
                                        <p:cTn id="76" dur="500"/>
                                        <p:tgtEl>
                                          <p:spTgt spid="102"/>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61"/>
                                        </p:tgtEl>
                                        <p:attrNameLst>
                                          <p:attrName>style.visibility</p:attrName>
                                        </p:attrNameLst>
                                      </p:cBhvr>
                                      <p:to>
                                        <p:strVal val="visible"/>
                                      </p:to>
                                    </p:set>
                                    <p:animEffect transition="in" filter="wipe(left)">
                                      <p:cBhvr>
                                        <p:cTn id="81" dur="500"/>
                                        <p:tgtEl>
                                          <p:spTgt spid="6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65"/>
                                        </p:tgtEl>
                                        <p:attrNameLst>
                                          <p:attrName>style.visibility</p:attrName>
                                        </p:attrNameLst>
                                      </p:cBhvr>
                                      <p:to>
                                        <p:strVal val="visible"/>
                                      </p:to>
                                    </p:set>
                                    <p:animEffect transition="in" filter="wipe(left)">
                                      <p:cBhvr>
                                        <p:cTn id="86" dur="500"/>
                                        <p:tgtEl>
                                          <p:spTgt spid="6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95"/>
                                        </p:tgtEl>
                                        <p:attrNameLst>
                                          <p:attrName>style.visibility</p:attrName>
                                        </p:attrNameLst>
                                      </p:cBhvr>
                                      <p:to>
                                        <p:strVal val="visible"/>
                                      </p:to>
                                    </p:set>
                                    <p:animEffect transition="in" filter="wipe(left)">
                                      <p:cBhvr>
                                        <p:cTn id="91" dur="500"/>
                                        <p:tgtEl>
                                          <p:spTgt spid="9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74"/>
                                        </p:tgtEl>
                                        <p:attrNameLst>
                                          <p:attrName>style.visibility</p:attrName>
                                        </p:attrNameLst>
                                      </p:cBhvr>
                                      <p:to>
                                        <p:strVal val="visible"/>
                                      </p:to>
                                    </p:set>
                                    <p:animEffect transition="in" filter="wipe(left)">
                                      <p:cBhvr>
                                        <p:cTn id="96" dur="500"/>
                                        <p:tgtEl>
                                          <p:spTgt spid="7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72"/>
                                        </p:tgtEl>
                                        <p:attrNameLst>
                                          <p:attrName>style.visibility</p:attrName>
                                        </p:attrNameLst>
                                      </p:cBhvr>
                                      <p:to>
                                        <p:strVal val="visible"/>
                                      </p:to>
                                    </p:set>
                                    <p:animEffect transition="in" filter="wipe(left)">
                                      <p:cBhvr>
                                        <p:cTn id="10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603" grpId="0"/>
      <p:bldP spid="24604" grpId="0"/>
      <p:bldP spid="24605" grpId="0"/>
      <p:bldP spid="24606" grpId="0"/>
      <p:bldP spid="24607" grpId="0"/>
      <p:bldP spid="24608" grpId="0"/>
      <p:bldP spid="24609" grpId="0"/>
      <p:bldP spid="24610" grpId="0"/>
      <p:bldP spid="24611" grpId="0"/>
      <p:bldP spid="102" grpId="0"/>
      <p:bldP spid="72" grpId="0"/>
      <p:bldP spid="9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0000"/>
              </a:solidFill>
            </a:endParaRPr>
          </a:p>
        </p:txBody>
      </p:sp>
      <p:sp>
        <p:nvSpPr>
          <p:cNvPr id="25603" name="Rectangle 6"/>
          <p:cNvSpPr>
            <a:spLocks noChangeArrowheads="1"/>
          </p:cNvSpPr>
          <p:nvPr/>
        </p:nvSpPr>
        <p:spPr bwMode="auto">
          <a:xfrm>
            <a:off x="1524000" y="-5149"/>
            <a:ext cx="2568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sz="1200">
                <a:solidFill>
                  <a:srgbClr val="333333"/>
                </a:solidFill>
                <a:latin typeface="Georgia Serif" charset="0"/>
                <a:cs typeface="Times New Roman" panose="02020603050405020304" pitchFamily="18" charset="0"/>
              </a:rPr>
              <a:t>]</a:t>
            </a:r>
            <a:r>
              <a:rPr lang="en-US" altLang="en-US" sz="800">
                <a:solidFill>
                  <a:srgbClr val="000000"/>
                </a:solidFill>
              </a:rPr>
              <a:t> </a:t>
            </a:r>
            <a:endParaRPr lang="en-US" altLang="en-US">
              <a:solidFill>
                <a:srgbClr val="000000"/>
              </a:solidFill>
            </a:endParaRPr>
          </a:p>
        </p:txBody>
      </p:sp>
      <p:sp>
        <p:nvSpPr>
          <p:cNvPr id="30" name="Rectangle 29"/>
          <p:cNvSpPr/>
          <p:nvPr/>
        </p:nvSpPr>
        <p:spPr>
          <a:xfrm>
            <a:off x="1774825" y="115889"/>
            <a:ext cx="4032250" cy="401637"/>
          </a:xfrm>
          <a:prstGeom prst="rect">
            <a:avLst/>
          </a:prstGeom>
        </p:spPr>
        <p:txBody>
          <a:bodyPr>
            <a:spAutoFit/>
          </a:bodyPr>
          <a:lstStyle/>
          <a:p>
            <a:pPr fontAlgn="base">
              <a:spcBef>
                <a:spcPct val="0"/>
              </a:spcBef>
              <a:spcAft>
                <a:spcPct val="0"/>
              </a:spcAft>
              <a:defRPr/>
            </a:pPr>
            <a:r>
              <a:rPr lang="en-US" sz="2000" b="1" dirty="0">
                <a:solidFill>
                  <a:srgbClr val="00FF00"/>
                </a:solidFill>
                <a:latin typeface="Arial"/>
                <a:ea typeface="Times New Roman" pitchFamily="18" charset="0"/>
                <a:cs typeface="Bookman-Demi" charset="0"/>
              </a:rPr>
              <a:t>PRODUCT OF TWO VECTORS</a:t>
            </a:r>
            <a:endParaRPr lang="en-IN" sz="2000" dirty="0">
              <a:solidFill>
                <a:srgbClr val="00FF00"/>
              </a:solidFill>
              <a:latin typeface="Arial"/>
              <a:cs typeface="Arial" panose="020B0604020202020204" pitchFamily="34" charset="0"/>
            </a:endParaRPr>
          </a:p>
        </p:txBody>
      </p:sp>
      <p:sp>
        <p:nvSpPr>
          <p:cNvPr id="31" name="Rectangle 2"/>
          <p:cNvSpPr>
            <a:spLocks noChangeArrowheads="1"/>
          </p:cNvSpPr>
          <p:nvPr/>
        </p:nvSpPr>
        <p:spPr bwMode="auto">
          <a:xfrm>
            <a:off x="1774826" y="477839"/>
            <a:ext cx="86407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defRPr/>
            </a:pPr>
            <a:r>
              <a:rPr lang="en-US" b="1" dirty="0">
                <a:solidFill>
                  <a:srgbClr val="FFC000"/>
                </a:solidFill>
                <a:latin typeface="Arial" panose="020B0604020202020204" pitchFamily="34" charset="0"/>
                <a:ea typeface="Times New Roman" pitchFamily="18" charset="0"/>
                <a:cs typeface="Bookman-Light" charset="0"/>
              </a:rPr>
              <a:t>In Physics, at Class XI level, there will be two types of product of vectors.</a:t>
            </a:r>
          </a:p>
          <a:p>
            <a:pPr fontAlgn="base">
              <a:spcBef>
                <a:spcPct val="0"/>
              </a:spcBef>
              <a:spcAft>
                <a:spcPct val="0"/>
              </a:spcAft>
              <a:defRPr/>
            </a:pPr>
            <a:r>
              <a:rPr lang="en-US" b="1" dirty="0">
                <a:solidFill>
                  <a:srgbClr val="FFC000"/>
                </a:solidFill>
                <a:latin typeface="Arial" panose="020B0604020202020204" pitchFamily="34" charset="0"/>
                <a:ea typeface="Times New Roman" pitchFamily="18" charset="0"/>
                <a:cs typeface="Bookman-Light" charset="0"/>
              </a:rPr>
              <a:t>They are:</a:t>
            </a:r>
          </a:p>
          <a:p>
            <a:pPr fontAlgn="base">
              <a:spcBef>
                <a:spcPct val="0"/>
              </a:spcBef>
              <a:spcAft>
                <a:spcPct val="0"/>
              </a:spcAft>
              <a:defRPr/>
            </a:pPr>
            <a:endParaRPr lang="en-US" b="1" dirty="0">
              <a:solidFill>
                <a:srgbClr val="FFFFCC"/>
              </a:solidFill>
              <a:latin typeface="Arial" panose="020B0604020202020204" pitchFamily="34" charset="0"/>
              <a:ea typeface="Times New Roman" pitchFamily="18" charset="0"/>
              <a:cs typeface="Bookman-Light" charset="0"/>
            </a:endParaRPr>
          </a:p>
          <a:p>
            <a:pPr marL="342900" indent="-342900" fontAlgn="base">
              <a:spcBef>
                <a:spcPct val="0"/>
              </a:spcBef>
              <a:spcAft>
                <a:spcPct val="0"/>
              </a:spcAft>
              <a:buFontTx/>
              <a:buAutoNum type="arabicPeriod"/>
              <a:defRPr/>
            </a:pPr>
            <a:r>
              <a:rPr lang="en-US" b="1" dirty="0">
                <a:solidFill>
                  <a:srgbClr val="00B0F0"/>
                </a:solidFill>
                <a:latin typeface="Arial" panose="020B0604020202020204" pitchFamily="34" charset="0"/>
                <a:ea typeface="Times New Roman" pitchFamily="18" charset="0"/>
                <a:cs typeface="Bookman-Light" charset="0"/>
              </a:rPr>
              <a:t>Dot or Scalar Product and </a:t>
            </a:r>
          </a:p>
          <a:p>
            <a:pPr marL="342900" indent="-342900" fontAlgn="base">
              <a:spcBef>
                <a:spcPct val="0"/>
              </a:spcBef>
              <a:spcAft>
                <a:spcPct val="0"/>
              </a:spcAft>
              <a:buFontTx/>
              <a:buAutoNum type="arabicPeriod"/>
              <a:defRPr/>
            </a:pPr>
            <a:r>
              <a:rPr lang="en-US" b="1" dirty="0">
                <a:solidFill>
                  <a:srgbClr val="FF7C80"/>
                </a:solidFill>
                <a:latin typeface="Arial" panose="020B0604020202020204" pitchFamily="34" charset="0"/>
                <a:ea typeface="Times New Roman" pitchFamily="18" charset="0"/>
                <a:cs typeface="Bookman-Light" charset="0"/>
              </a:rPr>
              <a:t>Cross or Vector Product</a:t>
            </a:r>
          </a:p>
        </p:txBody>
      </p:sp>
      <p:sp>
        <p:nvSpPr>
          <p:cNvPr id="32" name="Rectangle 31"/>
          <p:cNvSpPr/>
          <p:nvPr/>
        </p:nvSpPr>
        <p:spPr>
          <a:xfrm>
            <a:off x="1774826" y="2060575"/>
            <a:ext cx="4321175" cy="400050"/>
          </a:xfrm>
          <a:prstGeom prst="rect">
            <a:avLst/>
          </a:prstGeom>
        </p:spPr>
        <p:txBody>
          <a:bodyPr>
            <a:spAutoFit/>
          </a:bodyPr>
          <a:lstStyle/>
          <a:p>
            <a:pPr fontAlgn="base">
              <a:spcBef>
                <a:spcPct val="0"/>
              </a:spcBef>
              <a:spcAft>
                <a:spcPct val="0"/>
              </a:spcAft>
              <a:defRPr/>
            </a:pPr>
            <a:r>
              <a:rPr lang="en-US" sz="2000" b="1" dirty="0">
                <a:solidFill>
                  <a:srgbClr val="FFFF00"/>
                </a:solidFill>
                <a:latin typeface="Arial"/>
                <a:ea typeface="Times New Roman" pitchFamily="18" charset="0"/>
                <a:cs typeface="Bookman-Demi" charset="0"/>
              </a:rPr>
              <a:t>1.  Dot Product </a:t>
            </a:r>
            <a:r>
              <a:rPr lang="en-US" sz="2000" b="1" dirty="0">
                <a:solidFill>
                  <a:srgbClr val="9933FF"/>
                </a:solidFill>
                <a:latin typeface="Arial"/>
                <a:ea typeface="Times New Roman" pitchFamily="18" charset="0"/>
                <a:cs typeface="Bookman-Demi" charset="0"/>
              </a:rPr>
              <a:t>or </a:t>
            </a:r>
            <a:r>
              <a:rPr lang="en-US" sz="2000" b="1" dirty="0">
                <a:solidFill>
                  <a:srgbClr val="FFFF00"/>
                </a:solidFill>
                <a:latin typeface="Arial"/>
                <a:ea typeface="Times New Roman" pitchFamily="18" charset="0"/>
                <a:cs typeface="Bookman-Demi" charset="0"/>
              </a:rPr>
              <a:t>Scalar Product</a:t>
            </a:r>
            <a:endParaRPr lang="en-IN" sz="2000" dirty="0">
              <a:solidFill>
                <a:srgbClr val="FFFF00"/>
              </a:solidFill>
              <a:latin typeface="Arial"/>
              <a:cs typeface="Arial" panose="020B0604020202020204" pitchFamily="34" charset="0"/>
            </a:endParaRPr>
          </a:p>
        </p:txBody>
      </p:sp>
      <p:sp>
        <p:nvSpPr>
          <p:cNvPr id="25607" name="Rectangle 2"/>
          <p:cNvSpPr>
            <a:spLocks noChangeArrowheads="1"/>
          </p:cNvSpPr>
          <p:nvPr/>
        </p:nvSpPr>
        <p:spPr bwMode="auto">
          <a:xfrm>
            <a:off x="1774825" y="2455864"/>
            <a:ext cx="75501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66CC"/>
                </a:solidFill>
                <a:ea typeface="Times New Roman" panose="02020603050405020304" pitchFamily="18" charset="0"/>
                <a:cs typeface="Bookman-Light"/>
              </a:rPr>
              <a:t>In </a:t>
            </a:r>
            <a:r>
              <a:rPr lang="en-US" altLang="en-US" b="1">
                <a:solidFill>
                  <a:srgbClr val="FFFF00"/>
                </a:solidFill>
                <a:ea typeface="Times New Roman" panose="02020603050405020304" pitchFamily="18" charset="0"/>
                <a:cs typeface="Bookman-Light"/>
              </a:rPr>
              <a:t>dot</a:t>
            </a:r>
            <a:r>
              <a:rPr lang="en-US" altLang="en-US" b="1">
                <a:solidFill>
                  <a:srgbClr val="FF66CC"/>
                </a:solidFill>
                <a:ea typeface="Times New Roman" panose="02020603050405020304" pitchFamily="18" charset="0"/>
                <a:cs typeface="Bookman-Light"/>
              </a:rPr>
              <a:t> product, the symbol of multiplication between the vectors is represented by </a:t>
            </a:r>
            <a:r>
              <a:rPr lang="en-US" altLang="en-US" b="1">
                <a:solidFill>
                  <a:srgbClr val="FFFF00"/>
                </a:solidFill>
                <a:latin typeface="Verdana" panose="020B0604030504040204" pitchFamily="34" charset="0"/>
                <a:ea typeface="Times New Roman" panose="02020603050405020304" pitchFamily="18" charset="0"/>
                <a:cs typeface="Bookman-Light"/>
              </a:rPr>
              <a:t>‘</a:t>
            </a:r>
            <a:r>
              <a:rPr lang="en-US" altLang="en-US" b="1">
                <a:solidFill>
                  <a:srgbClr val="FFFF00"/>
                </a:solidFill>
                <a:ea typeface="Times New Roman" panose="02020603050405020304" pitchFamily="18" charset="0"/>
                <a:cs typeface="Bookman-Light"/>
              </a:rPr>
              <a:t> . </a:t>
            </a:r>
            <a:r>
              <a:rPr lang="en-US" altLang="en-US" b="1">
                <a:solidFill>
                  <a:srgbClr val="FFFF00"/>
                </a:solidFill>
                <a:latin typeface="Verdana" panose="020B0604030504040204" pitchFamily="34" charset="0"/>
                <a:ea typeface="Times New Roman" panose="02020603050405020304" pitchFamily="18" charset="0"/>
                <a:cs typeface="Bookman-Light"/>
              </a:rPr>
              <a:t>‘</a:t>
            </a:r>
            <a:r>
              <a:rPr lang="en-US" altLang="en-US" b="1">
                <a:solidFill>
                  <a:srgbClr val="FF66CC"/>
                </a:solidFill>
                <a:latin typeface="Verdana" panose="020B0604030504040204" pitchFamily="34" charset="0"/>
                <a:ea typeface="Times New Roman" panose="02020603050405020304" pitchFamily="18" charset="0"/>
                <a:cs typeface="Bookman-Light"/>
              </a:rPr>
              <a:t> </a:t>
            </a:r>
            <a:r>
              <a:rPr lang="en-US" altLang="en-US" b="1">
                <a:solidFill>
                  <a:srgbClr val="FF66CC"/>
                </a:solidFill>
                <a:ea typeface="Times New Roman" panose="02020603050405020304" pitchFamily="18" charset="0"/>
                <a:cs typeface="Bookman-Light"/>
              </a:rPr>
              <a:t> The result of the product is a </a:t>
            </a:r>
            <a:r>
              <a:rPr lang="en-US" altLang="en-US" b="1">
                <a:solidFill>
                  <a:srgbClr val="FFFF00"/>
                </a:solidFill>
                <a:ea typeface="Times New Roman" panose="02020603050405020304" pitchFamily="18" charset="0"/>
                <a:cs typeface="Bookman-Light"/>
              </a:rPr>
              <a:t>scalar</a:t>
            </a:r>
            <a:r>
              <a:rPr lang="en-US" altLang="en-US" b="1">
                <a:solidFill>
                  <a:srgbClr val="FF66CC"/>
                </a:solidFill>
                <a:ea typeface="Times New Roman" panose="02020603050405020304" pitchFamily="18" charset="0"/>
                <a:cs typeface="Bookman-Light"/>
              </a:rPr>
              <a:t> value.</a:t>
            </a:r>
          </a:p>
          <a:p>
            <a:pPr eaLnBrk="1" fontAlgn="base" hangingPunct="1">
              <a:spcBef>
                <a:spcPct val="0"/>
              </a:spcBef>
              <a:spcAft>
                <a:spcPct val="0"/>
              </a:spcAft>
            </a:pPr>
            <a:endParaRPr lang="en-US" altLang="en-US" b="1">
              <a:solidFill>
                <a:srgbClr val="FFFFCC"/>
              </a:solidFill>
              <a:ea typeface="Times New Roman" panose="02020603050405020304" pitchFamily="18" charset="0"/>
              <a:cs typeface="Bookman-Light"/>
            </a:endParaRPr>
          </a:p>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Eg.</a:t>
            </a:r>
          </a:p>
          <a:p>
            <a:pPr eaLnBrk="1" fontAlgn="base" hangingPunct="1">
              <a:spcBef>
                <a:spcPct val="0"/>
              </a:spcBef>
              <a:spcAft>
                <a:spcPct val="0"/>
              </a:spcAft>
            </a:pPr>
            <a:r>
              <a:rPr lang="en-US" altLang="en-US" b="1">
                <a:solidFill>
                  <a:srgbClr val="FFFFCC"/>
                </a:solidFill>
                <a:ea typeface="Times New Roman" panose="02020603050405020304" pitchFamily="18" charset="0"/>
                <a:cs typeface="Bookman-Light"/>
              </a:rPr>
              <a:t>      </a:t>
            </a:r>
            <a:r>
              <a:rPr lang="en-US" altLang="en-US" b="1">
                <a:solidFill>
                  <a:srgbClr val="00B0F0"/>
                </a:solidFill>
                <a:ea typeface="Times New Roman" panose="02020603050405020304" pitchFamily="18" charset="0"/>
                <a:cs typeface="Bookman-Light"/>
              </a:rPr>
              <a:t>Work is defined as the product of force and displacement.</a:t>
            </a:r>
          </a:p>
          <a:p>
            <a:pPr eaLnBrk="1" fontAlgn="base" hangingPunct="1">
              <a:spcBef>
                <a:spcPct val="0"/>
              </a:spcBef>
              <a:spcAft>
                <a:spcPct val="0"/>
              </a:spcAft>
            </a:pPr>
            <a:r>
              <a:rPr lang="en-US" altLang="en-US" b="1">
                <a:solidFill>
                  <a:srgbClr val="00B0F0"/>
                </a:solidFill>
                <a:ea typeface="Times New Roman" panose="02020603050405020304" pitchFamily="18" charset="0"/>
                <a:cs typeface="Bookman-Light"/>
              </a:rPr>
              <a:t>      Here force and displacement are vectors and work is a scalar.</a:t>
            </a:r>
          </a:p>
        </p:txBody>
      </p:sp>
      <p:grpSp>
        <p:nvGrpSpPr>
          <p:cNvPr id="2" name="Group 1"/>
          <p:cNvGrpSpPr>
            <a:grpSpLocks/>
          </p:cNvGrpSpPr>
          <p:nvPr/>
        </p:nvGrpSpPr>
        <p:grpSpPr bwMode="auto">
          <a:xfrm>
            <a:off x="8528051" y="4005263"/>
            <a:ext cx="1528763" cy="2000250"/>
            <a:chOff x="7004050" y="4005263"/>
            <a:chExt cx="1528763" cy="2000250"/>
          </a:xfrm>
        </p:grpSpPr>
        <p:cxnSp>
          <p:nvCxnSpPr>
            <p:cNvPr id="34" name="Straight Arrow Connector 33"/>
            <p:cNvCxnSpPr/>
            <p:nvPr/>
          </p:nvCxnSpPr>
          <p:spPr bwMode="auto">
            <a:xfrm flipV="1">
              <a:off x="7291388" y="4303713"/>
              <a:ext cx="509587" cy="1228725"/>
            </a:xfrm>
            <a:prstGeom prst="straightConnector1">
              <a:avLst/>
            </a:prstGeom>
            <a:ln w="28575">
              <a:solidFill>
                <a:srgbClr val="00FF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5635" name="Group 17"/>
            <p:cNvGrpSpPr>
              <a:grpSpLocks/>
            </p:cNvGrpSpPr>
            <p:nvPr/>
          </p:nvGrpSpPr>
          <p:grpSpPr bwMode="auto">
            <a:xfrm>
              <a:off x="7264400" y="4654550"/>
              <a:ext cx="352425" cy="369888"/>
              <a:chOff x="7736062" y="5147900"/>
              <a:chExt cx="351378" cy="369332"/>
            </a:xfrm>
          </p:grpSpPr>
          <p:sp>
            <p:nvSpPr>
              <p:cNvPr id="25646" name="Rectangle 18"/>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a:t>
                </a:r>
                <a:endParaRPr lang="en-IN" altLang="en-US">
                  <a:solidFill>
                    <a:srgbClr val="000000"/>
                  </a:solidFill>
                  <a:ea typeface="Times New Roman" panose="02020603050405020304" pitchFamily="18" charset="0"/>
                  <a:cs typeface="Bookman-Demi"/>
                </a:endParaRPr>
              </a:p>
            </p:txBody>
          </p:sp>
          <p:cxnSp>
            <p:nvCxnSpPr>
              <p:cNvPr id="38" name="Straight Arrow Connector 37"/>
              <p:cNvCxnSpPr/>
              <p:nvPr/>
            </p:nvCxnSpPr>
            <p:spPr bwMode="auto">
              <a:xfrm>
                <a:off x="7838943" y="5189113"/>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636" name="Rectangle 26"/>
            <p:cNvSpPr>
              <a:spLocks noChangeArrowheads="1"/>
            </p:cNvSpPr>
            <p:nvPr/>
          </p:nvSpPr>
          <p:spPr bwMode="auto">
            <a:xfrm>
              <a:off x="7624763" y="4005263"/>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25637" name="Rectangle 28"/>
            <p:cNvSpPr>
              <a:spLocks noChangeArrowheads="1"/>
            </p:cNvSpPr>
            <p:nvPr/>
          </p:nvSpPr>
          <p:spPr bwMode="auto">
            <a:xfrm>
              <a:off x="7004050" y="538797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cxnSp>
          <p:nvCxnSpPr>
            <p:cNvPr id="41" name="Straight Arrow Connector 40"/>
            <p:cNvCxnSpPr/>
            <p:nvPr/>
          </p:nvCxnSpPr>
          <p:spPr>
            <a:xfrm>
              <a:off x="7273925" y="5522913"/>
              <a:ext cx="969963" cy="234950"/>
            </a:xfrm>
            <a:prstGeom prst="straightConnector1">
              <a:avLst/>
            </a:prstGeom>
            <a:ln w="28575">
              <a:solidFill>
                <a:srgbClr val="FF99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5639" name="Group 17"/>
            <p:cNvGrpSpPr>
              <a:grpSpLocks/>
            </p:cNvGrpSpPr>
            <p:nvPr/>
          </p:nvGrpSpPr>
          <p:grpSpPr bwMode="auto">
            <a:xfrm>
              <a:off x="7389813" y="5637213"/>
              <a:ext cx="352425" cy="368300"/>
              <a:chOff x="7736062" y="5147900"/>
              <a:chExt cx="351378" cy="369332"/>
            </a:xfrm>
          </p:grpSpPr>
          <p:sp>
            <p:nvSpPr>
              <p:cNvPr id="25644" name="Rectangle 18"/>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B</a:t>
                </a:r>
                <a:endParaRPr lang="en-IN" altLang="en-US">
                  <a:solidFill>
                    <a:srgbClr val="000000"/>
                  </a:solidFill>
                  <a:ea typeface="Times New Roman" panose="02020603050405020304" pitchFamily="18" charset="0"/>
                  <a:cs typeface="Bookman-Demi"/>
                </a:endParaRPr>
              </a:p>
            </p:txBody>
          </p:sp>
          <p:cxnSp>
            <p:nvCxnSpPr>
              <p:cNvPr id="44" name="Straight Arrow Connector 43"/>
              <p:cNvCxnSpPr/>
              <p:nvPr/>
            </p:nvCxnSpPr>
            <p:spPr bwMode="auto">
              <a:xfrm>
                <a:off x="7838942" y="5189291"/>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5640" name="Group 4"/>
            <p:cNvGrpSpPr>
              <a:grpSpLocks/>
            </p:cNvGrpSpPr>
            <p:nvPr/>
          </p:nvGrpSpPr>
          <p:grpSpPr bwMode="auto">
            <a:xfrm>
              <a:off x="7288213" y="5218113"/>
              <a:ext cx="452437" cy="461962"/>
              <a:chOff x="7274109" y="4765485"/>
              <a:chExt cx="452315" cy="462601"/>
            </a:xfrm>
          </p:grpSpPr>
          <p:sp>
            <p:nvSpPr>
              <p:cNvPr id="25642" name="Rectangle 298"/>
              <p:cNvSpPr>
                <a:spLocks noChangeArrowheads="1"/>
              </p:cNvSpPr>
              <p:nvPr/>
            </p:nvSpPr>
            <p:spPr bwMode="auto">
              <a:xfrm>
                <a:off x="7380312" y="4765485"/>
                <a:ext cx="346112" cy="33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θ</a:t>
                </a:r>
              </a:p>
            </p:txBody>
          </p:sp>
          <p:sp>
            <p:nvSpPr>
              <p:cNvPr id="25643" name="Arc 299"/>
              <p:cNvSpPr>
                <a:spLocks/>
              </p:cNvSpPr>
              <p:nvPr/>
            </p:nvSpPr>
            <p:spPr bwMode="auto">
              <a:xfrm rot="881616">
                <a:off x="7274109" y="4904579"/>
                <a:ext cx="196698" cy="323507"/>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5641" name="Rectangle 26"/>
            <p:cNvSpPr>
              <a:spLocks noChangeArrowheads="1"/>
            </p:cNvSpPr>
            <p:nvPr/>
          </p:nvSpPr>
          <p:spPr bwMode="auto">
            <a:xfrm>
              <a:off x="8167688" y="561022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grpSp>
      <p:grpSp>
        <p:nvGrpSpPr>
          <p:cNvPr id="49" name="Group 22"/>
          <p:cNvGrpSpPr>
            <a:grpSpLocks/>
          </p:cNvGrpSpPr>
          <p:nvPr/>
        </p:nvGrpSpPr>
        <p:grpSpPr bwMode="auto">
          <a:xfrm>
            <a:off x="1774825" y="4354513"/>
            <a:ext cx="5545138" cy="647700"/>
            <a:chOff x="288032" y="1209526"/>
            <a:chExt cx="5544092" cy="645361"/>
          </a:xfrm>
        </p:grpSpPr>
        <p:sp>
          <p:nvSpPr>
            <p:cNvPr id="25631" name="Rectangle 19"/>
            <p:cNvSpPr>
              <a:spLocks noChangeArrowheads="1"/>
            </p:cNvSpPr>
            <p:nvPr/>
          </p:nvSpPr>
          <p:spPr bwMode="auto">
            <a:xfrm>
              <a:off x="288032" y="1209526"/>
              <a:ext cx="5544092" cy="64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00FF00"/>
                  </a:solidFill>
                  <a:ea typeface="Times New Roman" panose="02020603050405020304" pitchFamily="18" charset="0"/>
                  <a:cs typeface="Bookman-Light"/>
                </a:rPr>
                <a:t>Consider two vectors </a:t>
              </a:r>
              <a:r>
                <a:rPr lang="en-US" altLang="en-US" b="1">
                  <a:solidFill>
                    <a:srgbClr val="00FF00"/>
                  </a:solidFill>
                  <a:ea typeface="Times New Roman" panose="02020603050405020304" pitchFamily="18" charset="0"/>
                  <a:cs typeface="Bookman-Demi"/>
                </a:rPr>
                <a:t>A </a:t>
              </a:r>
              <a:r>
                <a:rPr lang="en-US" altLang="en-US" b="1">
                  <a:solidFill>
                    <a:srgbClr val="00FF00"/>
                  </a:solidFill>
                  <a:ea typeface="Times New Roman" panose="02020603050405020304" pitchFamily="18" charset="0"/>
                  <a:cs typeface="Bookman-Light"/>
                </a:rPr>
                <a:t>and </a:t>
              </a:r>
              <a:r>
                <a:rPr lang="en-US" altLang="en-US" b="1">
                  <a:solidFill>
                    <a:srgbClr val="00FF00"/>
                  </a:solidFill>
                  <a:ea typeface="Times New Roman" panose="02020603050405020304" pitchFamily="18" charset="0"/>
                  <a:cs typeface="Bookman-Demi"/>
                </a:rPr>
                <a:t>B  making an angle </a:t>
              </a:r>
              <a:r>
                <a:rPr lang="el-GR" altLang="en-US" b="1">
                  <a:solidFill>
                    <a:srgbClr val="00FF00"/>
                  </a:solidFill>
                  <a:ea typeface="Times New Roman" panose="02020603050405020304" pitchFamily="18" charset="0"/>
                  <a:cs typeface="Bookman-Demi"/>
                </a:rPr>
                <a:t>θ</a:t>
              </a:r>
              <a:r>
                <a:rPr lang="en-US" altLang="en-US" b="1">
                  <a:solidFill>
                    <a:srgbClr val="00FF00"/>
                  </a:solidFill>
                  <a:ea typeface="Times New Roman" panose="02020603050405020304" pitchFamily="18" charset="0"/>
                  <a:cs typeface="Bookman-Demi"/>
                </a:rPr>
                <a:t> with each other.</a:t>
              </a:r>
              <a:endParaRPr lang="en-US" altLang="en-US" b="1">
                <a:solidFill>
                  <a:srgbClr val="00FF00"/>
                </a:solidFill>
                <a:ea typeface="Times New Roman" panose="02020603050405020304" pitchFamily="18" charset="0"/>
                <a:cs typeface="Bookman-Light"/>
              </a:endParaRPr>
            </a:p>
          </p:txBody>
        </p:sp>
        <p:cxnSp>
          <p:nvCxnSpPr>
            <p:cNvPr id="51" name="Straight Arrow Connector 50"/>
            <p:cNvCxnSpPr/>
            <p:nvPr/>
          </p:nvCxnSpPr>
          <p:spPr bwMode="auto">
            <a:xfrm>
              <a:off x="2756129" y="1268051"/>
              <a:ext cx="1714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bwMode="auto">
            <a:xfrm>
              <a:off x="3464021" y="1268051"/>
              <a:ext cx="1714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617" name="Rectangle 6"/>
          <p:cNvSpPr>
            <a:spLocks noChangeArrowheads="1"/>
          </p:cNvSpPr>
          <p:nvPr/>
        </p:nvSpPr>
        <p:spPr bwMode="auto">
          <a:xfrm>
            <a:off x="1811338" y="501332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CC"/>
                </a:solidFill>
                <a:ea typeface="Times New Roman" panose="02020603050405020304" pitchFamily="18" charset="0"/>
                <a:cs typeface="Bookman-Light"/>
              </a:rPr>
              <a:t>The dot or scalar product is given by </a:t>
            </a:r>
            <a:endParaRPr lang="en-IN" altLang="en-US">
              <a:solidFill>
                <a:srgbClr val="000000"/>
              </a:solidFill>
              <a:ea typeface="Times New Roman" panose="02020603050405020304" pitchFamily="18" charset="0"/>
              <a:cs typeface="Bookman-Light"/>
            </a:endParaRPr>
          </a:p>
        </p:txBody>
      </p:sp>
      <p:grpSp>
        <p:nvGrpSpPr>
          <p:cNvPr id="25618" name="Group 2"/>
          <p:cNvGrpSpPr>
            <a:grpSpLocks/>
          </p:cNvGrpSpPr>
          <p:nvPr/>
        </p:nvGrpSpPr>
        <p:grpSpPr bwMode="auto">
          <a:xfrm>
            <a:off x="2927350" y="5435600"/>
            <a:ext cx="2509838" cy="369888"/>
            <a:chOff x="1835150" y="5435600"/>
            <a:chExt cx="2509838" cy="369888"/>
          </a:xfrm>
        </p:grpSpPr>
        <p:sp>
          <p:nvSpPr>
            <p:cNvPr id="25626" name="Rectangle 7"/>
            <p:cNvSpPr>
              <a:spLocks noChangeArrowheads="1"/>
            </p:cNvSpPr>
            <p:nvPr/>
          </p:nvSpPr>
          <p:spPr bwMode="auto">
            <a:xfrm>
              <a:off x="1835150" y="5435600"/>
              <a:ext cx="2509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9933FF"/>
                  </a:solidFill>
                </a:rPr>
                <a:t>A . B = | A | | B | cos </a:t>
              </a:r>
              <a:r>
                <a:rPr lang="el-GR" altLang="en-US" b="1">
                  <a:solidFill>
                    <a:srgbClr val="9933FF"/>
                  </a:solidFill>
                  <a:ea typeface="Times New Roman" panose="02020603050405020304" pitchFamily="18" charset="0"/>
                  <a:cs typeface="Bookman-Demi"/>
                </a:rPr>
                <a:t>θ</a:t>
              </a:r>
              <a:endParaRPr lang="en-IN" altLang="en-US" b="1">
                <a:solidFill>
                  <a:srgbClr val="9933FF"/>
                </a:solidFill>
              </a:endParaRPr>
            </a:p>
          </p:txBody>
        </p:sp>
        <p:cxnSp>
          <p:nvCxnSpPr>
            <p:cNvPr id="56" name="Straight Arrow Connector 55"/>
            <p:cNvCxnSpPr/>
            <p:nvPr/>
          </p:nvCxnSpPr>
          <p:spPr bwMode="auto">
            <a:xfrm>
              <a:off x="1920875" y="5464175"/>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bwMode="auto">
            <a:xfrm>
              <a:off x="3314700" y="5464175"/>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bwMode="auto">
            <a:xfrm>
              <a:off x="2292350" y="5464175"/>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bwMode="auto">
            <a:xfrm>
              <a:off x="2825750" y="5464175"/>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5619" name="Group 4"/>
          <p:cNvGrpSpPr>
            <a:grpSpLocks/>
          </p:cNvGrpSpPr>
          <p:nvPr/>
        </p:nvGrpSpPr>
        <p:grpSpPr bwMode="auto">
          <a:xfrm>
            <a:off x="2855913" y="5911851"/>
            <a:ext cx="2095500" cy="830263"/>
            <a:chOff x="3563888" y="5849204"/>
            <a:chExt cx="2096541" cy="829448"/>
          </a:xfrm>
        </p:grpSpPr>
        <p:sp>
          <p:nvSpPr>
            <p:cNvPr id="3" name="Line 33"/>
            <p:cNvSpPr>
              <a:spLocks noChangeShapeType="1"/>
            </p:cNvSpPr>
            <p:nvPr/>
          </p:nvSpPr>
          <p:spPr bwMode="auto">
            <a:xfrm>
              <a:off x="4541134" y="6234131"/>
              <a:ext cx="1079888"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4" name="Text Box 34"/>
            <p:cNvSpPr txBox="1">
              <a:spLocks noChangeArrowheads="1"/>
            </p:cNvSpPr>
            <p:nvPr/>
          </p:nvSpPr>
          <p:spPr bwMode="auto">
            <a:xfrm>
              <a:off x="3563888" y="6047653"/>
              <a:ext cx="10867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cos </a:t>
              </a:r>
              <a:r>
                <a:rPr lang="el-GR" altLang="en-US" b="1">
                  <a:solidFill>
                    <a:srgbClr val="00B0F0"/>
                  </a:solidFill>
                </a:rPr>
                <a:t>θ</a:t>
              </a:r>
              <a:r>
                <a:rPr lang="en-US" altLang="en-US" b="1">
                  <a:solidFill>
                    <a:srgbClr val="00B0F0"/>
                  </a:solidFill>
                </a:rPr>
                <a:t> =  </a:t>
              </a:r>
              <a:endParaRPr lang="en-US" altLang="en-US" b="1" baseline="-25000">
                <a:solidFill>
                  <a:srgbClr val="00B0F0"/>
                </a:solidFill>
              </a:endParaRPr>
            </a:p>
          </p:txBody>
        </p:sp>
        <p:grpSp>
          <p:nvGrpSpPr>
            <p:cNvPr id="5" name="Group 3"/>
            <p:cNvGrpSpPr>
              <a:grpSpLocks/>
            </p:cNvGrpSpPr>
            <p:nvPr/>
          </p:nvGrpSpPr>
          <p:grpSpPr bwMode="auto">
            <a:xfrm>
              <a:off x="4721685" y="5849204"/>
              <a:ext cx="765979" cy="369332"/>
              <a:chOff x="4654450" y="5795416"/>
              <a:chExt cx="765979" cy="369332"/>
            </a:xfrm>
          </p:grpSpPr>
          <p:sp>
            <p:nvSpPr>
              <p:cNvPr id="25623" name="Rectangle 7"/>
              <p:cNvSpPr>
                <a:spLocks noChangeArrowheads="1"/>
              </p:cNvSpPr>
              <p:nvPr/>
            </p:nvSpPr>
            <p:spPr bwMode="auto">
              <a:xfrm>
                <a:off x="4654450" y="5795416"/>
                <a:ext cx="765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A . B </a:t>
                </a:r>
                <a:endParaRPr lang="en-IN" altLang="en-US" b="1">
                  <a:solidFill>
                    <a:srgbClr val="00B0F0"/>
                  </a:solidFill>
                </a:endParaRPr>
              </a:p>
            </p:txBody>
          </p:sp>
          <p:cxnSp>
            <p:nvCxnSpPr>
              <p:cNvPr id="68" name="Straight Arrow Connector 67"/>
              <p:cNvCxnSpPr/>
              <p:nvPr/>
            </p:nvCxnSpPr>
            <p:spPr bwMode="auto">
              <a:xfrm>
                <a:off x="4740283" y="5823963"/>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bwMode="auto">
              <a:xfrm>
                <a:off x="5111942" y="5823963"/>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5620" name="Rectangle 7"/>
            <p:cNvSpPr>
              <a:spLocks noChangeArrowheads="1"/>
            </p:cNvSpPr>
            <p:nvPr/>
          </p:nvSpPr>
          <p:spPr bwMode="auto">
            <a:xfrm>
              <a:off x="4582442" y="6309320"/>
              <a:ext cx="1077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 A | | B |</a:t>
              </a:r>
              <a:endParaRPr lang="en-IN" altLang="en-US" b="1">
                <a:solidFill>
                  <a:srgbClr val="00B0F0"/>
                </a:solidFill>
              </a:endParaRPr>
            </a:p>
          </p:txBody>
        </p:sp>
        <p:cxnSp>
          <p:nvCxnSpPr>
            <p:cNvPr id="65" name="Straight Arrow Connector 64"/>
            <p:cNvCxnSpPr/>
            <p:nvPr/>
          </p:nvCxnSpPr>
          <p:spPr bwMode="auto">
            <a:xfrm>
              <a:off x="4788458" y="6337674"/>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bwMode="auto">
            <a:xfrm>
              <a:off x="5268121" y="6337674"/>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0" name="Rectangle 129"/>
          <p:cNvSpPr>
            <a:spLocks noChangeArrowheads="1"/>
          </p:cNvSpPr>
          <p:nvPr/>
        </p:nvSpPr>
        <p:spPr bwMode="auto">
          <a:xfrm>
            <a:off x="2208214" y="6102350"/>
            <a:ext cx="59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CC"/>
                </a:solidFill>
                <a:ea typeface="Times New Roman" panose="02020603050405020304" pitchFamily="18" charset="0"/>
                <a:cs typeface="Bookman-Light"/>
              </a:rPr>
              <a:t>and</a:t>
            </a:r>
            <a:endParaRPr lang="en-IN" altLang="en-US">
              <a:solidFill>
                <a:srgbClr val="FFFFCC"/>
              </a:solidFill>
              <a:ea typeface="Times New Roman" panose="02020603050405020304" pitchFamily="18" charset="0"/>
              <a:cs typeface="Bookman-Light"/>
            </a:endParaRPr>
          </a:p>
        </p:txBody>
      </p:sp>
      <p:sp>
        <p:nvSpPr>
          <p:cNvPr id="25614" name="TextBox 47"/>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25615" name="TextBox 49"/>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5616" name="TextBox 52"/>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1185264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31">
                                            <p:txEl>
                                              <p:pRg st="0" end="0"/>
                                            </p:txEl>
                                          </p:spTgt>
                                        </p:tgtEl>
                                        <p:attrNameLst>
                                          <p:attrName>style.visibility</p:attrName>
                                        </p:attrNameLst>
                                      </p:cBhvr>
                                      <p:to>
                                        <p:strVal val="visible"/>
                                      </p:to>
                                    </p:set>
                                    <p:animEffect transition="in" filter="wipe(up)">
                                      <p:cBhvr>
                                        <p:cTn id="14" dur="500"/>
                                        <p:tgtEl>
                                          <p:spTgt spid="31">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31">
                                            <p:txEl>
                                              <p:pRg st="1" end="1"/>
                                            </p:txEl>
                                          </p:spTgt>
                                        </p:tgtEl>
                                        <p:attrNameLst>
                                          <p:attrName>style.visibility</p:attrName>
                                        </p:attrNameLst>
                                      </p:cBhvr>
                                      <p:to>
                                        <p:strVal val="visible"/>
                                      </p:to>
                                    </p:set>
                                    <p:animEffect transition="in" filter="wipe(up)">
                                      <p:cBhvr>
                                        <p:cTn id="19" dur="500"/>
                                        <p:tgtEl>
                                          <p:spTgt spid="31">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31">
                                            <p:txEl>
                                              <p:pRg st="3" end="3"/>
                                            </p:txEl>
                                          </p:spTgt>
                                        </p:tgtEl>
                                        <p:attrNameLst>
                                          <p:attrName>style.visibility</p:attrName>
                                        </p:attrNameLst>
                                      </p:cBhvr>
                                      <p:to>
                                        <p:strVal val="visible"/>
                                      </p:to>
                                    </p:set>
                                    <p:animEffect transition="in" filter="wipe(up)">
                                      <p:cBhvr>
                                        <p:cTn id="24" dur="500"/>
                                        <p:tgtEl>
                                          <p:spTgt spid="31">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1">
                                            <p:txEl>
                                              <p:pRg st="4" end="4"/>
                                            </p:txEl>
                                          </p:spTgt>
                                        </p:tgtEl>
                                        <p:attrNameLst>
                                          <p:attrName>style.visibility</p:attrName>
                                        </p:attrNameLst>
                                      </p:cBhvr>
                                      <p:to>
                                        <p:strVal val="visible"/>
                                      </p:to>
                                    </p:set>
                                    <p:animEffect transition="in" filter="wipe(up)">
                                      <p:cBhvr>
                                        <p:cTn id="29" dur="500"/>
                                        <p:tgtEl>
                                          <p:spTgt spid="31">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7"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607">
                                            <p:txEl>
                                              <p:pRg st="0" end="0"/>
                                            </p:txEl>
                                          </p:spTgt>
                                        </p:tgtEl>
                                        <p:attrNameLst>
                                          <p:attrName>style.visibility</p:attrName>
                                        </p:attrNameLst>
                                      </p:cBhvr>
                                      <p:to>
                                        <p:strVal val="visible"/>
                                      </p:to>
                                    </p:set>
                                    <p:animEffect transition="in" filter="wipe(left)">
                                      <p:cBhvr>
                                        <p:cTn id="41" dur="500"/>
                                        <p:tgtEl>
                                          <p:spTgt spid="25607">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607">
                                            <p:txEl>
                                              <p:pRg st="2" end="2"/>
                                            </p:txEl>
                                          </p:spTgt>
                                        </p:tgtEl>
                                        <p:attrNameLst>
                                          <p:attrName>style.visibility</p:attrName>
                                        </p:attrNameLst>
                                      </p:cBhvr>
                                      <p:to>
                                        <p:strVal val="visible"/>
                                      </p:to>
                                    </p:set>
                                    <p:animEffect transition="in" filter="wipe(left)">
                                      <p:cBhvr>
                                        <p:cTn id="46" dur="500"/>
                                        <p:tgtEl>
                                          <p:spTgt spid="25607">
                                            <p:txEl>
                                              <p:pRg st="2" end="2"/>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607">
                                            <p:txEl>
                                              <p:pRg st="3" end="3"/>
                                            </p:txEl>
                                          </p:spTgt>
                                        </p:tgtEl>
                                        <p:attrNameLst>
                                          <p:attrName>style.visibility</p:attrName>
                                        </p:attrNameLst>
                                      </p:cBhvr>
                                      <p:to>
                                        <p:strVal val="visible"/>
                                      </p:to>
                                    </p:set>
                                    <p:animEffect transition="in" filter="wipe(left)">
                                      <p:cBhvr>
                                        <p:cTn id="51" dur="500"/>
                                        <p:tgtEl>
                                          <p:spTgt spid="25607">
                                            <p:txEl>
                                              <p:pRg st="3" end="3"/>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607">
                                            <p:txEl>
                                              <p:pRg st="4" end="4"/>
                                            </p:txEl>
                                          </p:spTgt>
                                        </p:tgtEl>
                                        <p:attrNameLst>
                                          <p:attrName>style.visibility</p:attrName>
                                        </p:attrNameLst>
                                      </p:cBhvr>
                                      <p:to>
                                        <p:strVal val="visible"/>
                                      </p:to>
                                    </p:set>
                                    <p:animEffect transition="in" filter="wipe(left)">
                                      <p:cBhvr>
                                        <p:cTn id="56" dur="500"/>
                                        <p:tgtEl>
                                          <p:spTgt spid="25607">
                                            <p:txEl>
                                              <p:pRg st="4" end="4"/>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left)">
                                      <p:cBhvr>
                                        <p:cTn id="61" dur="500"/>
                                        <p:tgtEl>
                                          <p:spTgt spid="4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16" fill="hold" nodeType="clickEffect">
                                  <p:stCondLst>
                                    <p:cond delay="0"/>
                                  </p:stCondLst>
                                  <p:childTnLst>
                                    <p:set>
                                      <p:cBhvr>
                                        <p:cTn id="65" dur="1" fill="hold">
                                          <p:stCondLst>
                                            <p:cond delay="0"/>
                                          </p:stCondLst>
                                        </p:cTn>
                                        <p:tgtEl>
                                          <p:spTgt spid="2"/>
                                        </p:tgtEl>
                                        <p:attrNameLst>
                                          <p:attrName>style.visibility</p:attrName>
                                        </p:attrNameLst>
                                      </p:cBhvr>
                                      <p:to>
                                        <p:strVal val="visible"/>
                                      </p:to>
                                    </p:set>
                                    <p:anim calcmode="lin" valueType="num">
                                      <p:cBhvr>
                                        <p:cTn id="66" dur="500" fill="hold"/>
                                        <p:tgtEl>
                                          <p:spTgt spid="2"/>
                                        </p:tgtEl>
                                        <p:attrNameLst>
                                          <p:attrName>ppt_w</p:attrName>
                                        </p:attrNameLst>
                                      </p:cBhvr>
                                      <p:tavLst>
                                        <p:tav tm="0">
                                          <p:val>
                                            <p:fltVal val="0"/>
                                          </p:val>
                                        </p:tav>
                                        <p:tav tm="100000">
                                          <p:val>
                                            <p:strVal val="#ppt_w"/>
                                          </p:val>
                                        </p:tav>
                                      </p:tavLst>
                                    </p:anim>
                                    <p:anim calcmode="lin" valueType="num">
                                      <p:cBhvr>
                                        <p:cTn id="67" dur="500" fill="hold"/>
                                        <p:tgtEl>
                                          <p:spTgt spid="2"/>
                                        </p:tgtEl>
                                        <p:attrNameLst>
                                          <p:attrName>ppt_h</p:attrName>
                                        </p:attrNameLst>
                                      </p:cBhvr>
                                      <p:tavLst>
                                        <p:tav tm="0">
                                          <p:val>
                                            <p:fltVal val="0"/>
                                          </p:val>
                                        </p:tav>
                                        <p:tav tm="100000">
                                          <p:val>
                                            <p:strVal val="#ppt_h"/>
                                          </p:val>
                                        </p:tav>
                                      </p:tavLst>
                                    </p:anim>
                                    <p:animEffect transition="in" filter="fade">
                                      <p:cBhvr>
                                        <p:cTn id="68" dur="500"/>
                                        <p:tgtEl>
                                          <p:spTgt spid="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5617"/>
                                        </p:tgtEl>
                                        <p:attrNameLst>
                                          <p:attrName>style.visibility</p:attrName>
                                        </p:attrNameLst>
                                      </p:cBhvr>
                                      <p:to>
                                        <p:strVal val="visible"/>
                                      </p:to>
                                    </p:set>
                                    <p:animEffect transition="in" filter="wipe(left)">
                                      <p:cBhvr>
                                        <p:cTn id="73" dur="500"/>
                                        <p:tgtEl>
                                          <p:spTgt spid="2561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5618"/>
                                        </p:tgtEl>
                                        <p:attrNameLst>
                                          <p:attrName>style.visibility</p:attrName>
                                        </p:attrNameLst>
                                      </p:cBhvr>
                                      <p:to>
                                        <p:strVal val="visible"/>
                                      </p:to>
                                    </p:set>
                                    <p:animEffect transition="in" filter="wipe(left)">
                                      <p:cBhvr>
                                        <p:cTn id="78" dur="500"/>
                                        <p:tgtEl>
                                          <p:spTgt spid="2561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70"/>
                                        </p:tgtEl>
                                        <p:attrNameLst>
                                          <p:attrName>style.visibility</p:attrName>
                                        </p:attrNameLst>
                                      </p:cBhvr>
                                      <p:to>
                                        <p:strVal val="visible"/>
                                      </p:to>
                                    </p:set>
                                    <p:animEffect transition="in" filter="wipe(left)">
                                      <p:cBhvr>
                                        <p:cTn id="83" dur="500"/>
                                        <p:tgtEl>
                                          <p:spTgt spid="7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3" presetClass="entr" presetSubtype="16" fill="hold" nodeType="clickEffect">
                                  <p:stCondLst>
                                    <p:cond delay="0"/>
                                  </p:stCondLst>
                                  <p:childTnLst>
                                    <p:set>
                                      <p:cBhvr>
                                        <p:cTn id="87" dur="1" fill="hold">
                                          <p:stCondLst>
                                            <p:cond delay="0"/>
                                          </p:stCondLst>
                                        </p:cTn>
                                        <p:tgtEl>
                                          <p:spTgt spid="25619"/>
                                        </p:tgtEl>
                                        <p:attrNameLst>
                                          <p:attrName>style.visibility</p:attrName>
                                        </p:attrNameLst>
                                      </p:cBhvr>
                                      <p:to>
                                        <p:strVal val="visible"/>
                                      </p:to>
                                    </p:set>
                                    <p:anim calcmode="lin" valueType="num">
                                      <p:cBhvr>
                                        <p:cTn id="88" dur="500" fill="hold"/>
                                        <p:tgtEl>
                                          <p:spTgt spid="25619"/>
                                        </p:tgtEl>
                                        <p:attrNameLst>
                                          <p:attrName>ppt_w</p:attrName>
                                        </p:attrNameLst>
                                      </p:cBhvr>
                                      <p:tavLst>
                                        <p:tav tm="0">
                                          <p:val>
                                            <p:fltVal val="0"/>
                                          </p:val>
                                        </p:tav>
                                        <p:tav tm="100000">
                                          <p:val>
                                            <p:strVal val="#ppt_w"/>
                                          </p:val>
                                        </p:tav>
                                      </p:tavLst>
                                    </p:anim>
                                    <p:anim calcmode="lin" valueType="num">
                                      <p:cBhvr>
                                        <p:cTn id="89" dur="500" fill="hold"/>
                                        <p:tgtEl>
                                          <p:spTgt spid="25619"/>
                                        </p:tgtEl>
                                        <p:attrNameLst>
                                          <p:attrName>ppt_h</p:attrName>
                                        </p:attrNameLst>
                                      </p:cBhvr>
                                      <p:tavLst>
                                        <p:tav tm="0">
                                          <p:val>
                                            <p:fltVal val="0"/>
                                          </p:val>
                                        </p:tav>
                                        <p:tav tm="100000">
                                          <p:val>
                                            <p:strVal val="#ppt_h"/>
                                          </p:val>
                                        </p:tav>
                                      </p:tavLst>
                                    </p:anim>
                                    <p:animEffect transition="in" filter="fade">
                                      <p:cBhvr>
                                        <p:cTn id="90" dur="500"/>
                                        <p:tgtEl>
                                          <p:spTgt spid="25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P spid="25617" grpId="0"/>
      <p:bldP spid="7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a:xfrm>
            <a:off x="1774826" y="115889"/>
            <a:ext cx="3457575" cy="401637"/>
          </a:xfrm>
          <a:prstGeom prst="rect">
            <a:avLst/>
          </a:prstGeom>
        </p:spPr>
        <p:txBody>
          <a:bodyPr>
            <a:spAutoFit/>
          </a:bodyPr>
          <a:lstStyle/>
          <a:p>
            <a:pPr fontAlgn="base">
              <a:spcBef>
                <a:spcPct val="0"/>
              </a:spcBef>
              <a:spcAft>
                <a:spcPct val="0"/>
              </a:spcAft>
              <a:defRPr/>
            </a:pPr>
            <a:r>
              <a:rPr lang="en-US" sz="2000" b="1" dirty="0">
                <a:solidFill>
                  <a:srgbClr val="FF00FF"/>
                </a:solidFill>
                <a:latin typeface="Arial"/>
                <a:ea typeface="Times New Roman" pitchFamily="18" charset="0"/>
                <a:cs typeface="Bookman-Demi" charset="0"/>
              </a:rPr>
              <a:t>Properties of  Dot Product</a:t>
            </a:r>
            <a:endParaRPr lang="en-IN" sz="2000" dirty="0">
              <a:solidFill>
                <a:srgbClr val="FF00FF"/>
              </a:solidFill>
              <a:latin typeface="Arial"/>
              <a:cs typeface="Arial" panose="020B0604020202020204" pitchFamily="34" charset="0"/>
            </a:endParaRPr>
          </a:p>
        </p:txBody>
      </p:sp>
      <p:sp>
        <p:nvSpPr>
          <p:cNvPr id="26627" name="Rectangle 7"/>
          <p:cNvSpPr>
            <a:spLocks noChangeArrowheads="1"/>
          </p:cNvSpPr>
          <p:nvPr/>
        </p:nvSpPr>
        <p:spPr bwMode="auto">
          <a:xfrm>
            <a:off x="1801814" y="539750"/>
            <a:ext cx="56213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buFontTx/>
              <a:buAutoNum type="arabicPeriod"/>
            </a:pPr>
            <a:r>
              <a:rPr lang="en-US" altLang="en-US" b="1">
                <a:solidFill>
                  <a:srgbClr val="00B0F0"/>
                </a:solidFill>
                <a:ea typeface="Times New Roman" panose="02020603050405020304" pitchFamily="18" charset="0"/>
                <a:cs typeface="Bookman-Demi"/>
              </a:rPr>
              <a:t>Dot product results in a </a:t>
            </a:r>
            <a:r>
              <a:rPr lang="en-US" altLang="en-US" b="1">
                <a:solidFill>
                  <a:srgbClr val="CCFF99"/>
                </a:solidFill>
                <a:ea typeface="Times New Roman" panose="02020603050405020304" pitchFamily="18" charset="0"/>
                <a:cs typeface="Bookman-Demi"/>
              </a:rPr>
              <a:t>scalar</a:t>
            </a:r>
            <a:r>
              <a:rPr lang="en-US" altLang="en-US" b="1">
                <a:solidFill>
                  <a:srgbClr val="00B0F0"/>
                </a:solidFill>
                <a:ea typeface="Times New Roman" panose="02020603050405020304" pitchFamily="18" charset="0"/>
                <a:cs typeface="Bookman-Demi"/>
              </a:rPr>
              <a:t> value.</a:t>
            </a:r>
          </a:p>
          <a:p>
            <a:pPr eaLnBrk="1" fontAlgn="base" hangingPunct="1">
              <a:spcBef>
                <a:spcPct val="0"/>
              </a:spcBef>
              <a:spcAft>
                <a:spcPct val="0"/>
              </a:spcAft>
              <a:buFontTx/>
              <a:buAutoNum type="arabicPeriod"/>
            </a:pPr>
            <a:r>
              <a:rPr lang="en-US" altLang="en-US" b="1">
                <a:solidFill>
                  <a:srgbClr val="FF6600"/>
                </a:solidFill>
                <a:ea typeface="Times New Roman" panose="02020603050405020304" pitchFamily="18" charset="0"/>
                <a:cs typeface="Bookman-Demi"/>
              </a:rPr>
              <a:t>Dot product or Scalar product is </a:t>
            </a:r>
            <a:r>
              <a:rPr lang="en-US" altLang="en-US" b="1">
                <a:solidFill>
                  <a:srgbClr val="00FF00"/>
                </a:solidFill>
                <a:ea typeface="Times New Roman" panose="02020603050405020304" pitchFamily="18" charset="0"/>
                <a:cs typeface="Bookman-Demi"/>
              </a:rPr>
              <a:t>commutative</a:t>
            </a:r>
            <a:r>
              <a:rPr lang="en-US" altLang="en-US" b="1">
                <a:solidFill>
                  <a:srgbClr val="FF6600"/>
                </a:solidFill>
                <a:ea typeface="Times New Roman" panose="02020603050405020304" pitchFamily="18" charset="0"/>
                <a:cs typeface="Bookman-Demi"/>
              </a:rPr>
              <a:t>.</a:t>
            </a:r>
            <a:endParaRPr lang="en-IN" altLang="en-US">
              <a:solidFill>
                <a:srgbClr val="FF6600"/>
              </a:solidFill>
              <a:ea typeface="Times New Roman" panose="02020603050405020304" pitchFamily="18" charset="0"/>
              <a:cs typeface="Bookman-Demi"/>
            </a:endParaRPr>
          </a:p>
        </p:txBody>
      </p:sp>
      <p:grpSp>
        <p:nvGrpSpPr>
          <p:cNvPr id="26628" name="Group 16"/>
          <p:cNvGrpSpPr>
            <a:grpSpLocks/>
          </p:cNvGrpSpPr>
          <p:nvPr/>
        </p:nvGrpSpPr>
        <p:grpSpPr bwMode="auto">
          <a:xfrm>
            <a:off x="1801813" y="1844675"/>
            <a:ext cx="2565400" cy="444500"/>
            <a:chOff x="278414" y="1196752"/>
            <a:chExt cx="2565394" cy="445495"/>
          </a:xfrm>
        </p:grpSpPr>
        <p:grpSp>
          <p:nvGrpSpPr>
            <p:cNvPr id="26786" name="Group 14"/>
            <p:cNvGrpSpPr>
              <a:grpSpLocks/>
            </p:cNvGrpSpPr>
            <p:nvPr/>
          </p:nvGrpSpPr>
          <p:grpSpPr bwMode="auto">
            <a:xfrm>
              <a:off x="691734" y="1196752"/>
              <a:ext cx="2152074" cy="445495"/>
              <a:chOff x="3188351" y="3429000"/>
              <a:chExt cx="2152074" cy="445495"/>
            </a:xfrm>
          </p:grpSpPr>
          <p:grpSp>
            <p:nvGrpSpPr>
              <p:cNvPr id="26788" name="Group 12"/>
              <p:cNvGrpSpPr>
                <a:grpSpLocks/>
              </p:cNvGrpSpPr>
              <p:nvPr/>
            </p:nvGrpSpPr>
            <p:grpSpPr bwMode="auto">
              <a:xfrm>
                <a:off x="3188351" y="3429000"/>
                <a:ext cx="1743689" cy="441340"/>
                <a:chOff x="3188351" y="3429000"/>
                <a:chExt cx="1743689" cy="441340"/>
              </a:xfrm>
            </p:grpSpPr>
            <p:grpSp>
              <p:nvGrpSpPr>
                <p:cNvPr id="26790" name="Group 4"/>
                <p:cNvGrpSpPr>
                  <a:grpSpLocks/>
                </p:cNvGrpSpPr>
                <p:nvPr/>
              </p:nvGrpSpPr>
              <p:grpSpPr bwMode="auto">
                <a:xfrm>
                  <a:off x="3188351" y="3429000"/>
                  <a:ext cx="447545" cy="432048"/>
                  <a:chOff x="3188351" y="3429000"/>
                  <a:chExt cx="447545" cy="432048"/>
                </a:xfrm>
              </p:grpSpPr>
              <p:grpSp>
                <p:nvGrpSpPr>
                  <p:cNvPr id="26807" name="Group 46"/>
                  <p:cNvGrpSpPr>
                    <a:grpSpLocks/>
                  </p:cNvGrpSpPr>
                  <p:nvPr/>
                </p:nvGrpSpPr>
                <p:grpSpPr bwMode="auto">
                  <a:xfrm>
                    <a:off x="3188351" y="3478218"/>
                    <a:ext cx="249259" cy="382830"/>
                    <a:chOff x="3806806" y="3161928"/>
                    <a:chExt cx="248786" cy="382470"/>
                  </a:xfrm>
                </p:grpSpPr>
                <p:sp>
                  <p:nvSpPr>
                    <p:cNvPr id="26812"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i</a:t>
                      </a:r>
                      <a:endParaRPr lang="en-IN" altLang="en-US" b="1">
                        <a:solidFill>
                          <a:srgbClr val="FF00FF"/>
                        </a:solidFill>
                      </a:endParaRPr>
                    </a:p>
                  </p:txBody>
                </p:sp>
                <p:sp>
                  <p:nvSpPr>
                    <p:cNvPr id="26813"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6808" name="Group 46"/>
                  <p:cNvGrpSpPr>
                    <a:grpSpLocks/>
                  </p:cNvGrpSpPr>
                  <p:nvPr/>
                </p:nvGrpSpPr>
                <p:grpSpPr bwMode="auto">
                  <a:xfrm>
                    <a:off x="3386637" y="3478218"/>
                    <a:ext cx="249259" cy="382830"/>
                    <a:chOff x="3806806" y="3161928"/>
                    <a:chExt cx="248786" cy="382470"/>
                  </a:xfrm>
                </p:grpSpPr>
                <p:sp>
                  <p:nvSpPr>
                    <p:cNvPr id="26810"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i</a:t>
                      </a:r>
                      <a:endParaRPr lang="en-IN" altLang="en-US" b="1">
                        <a:solidFill>
                          <a:srgbClr val="FF00FF"/>
                        </a:solidFill>
                      </a:endParaRPr>
                    </a:p>
                  </p:txBody>
                </p:sp>
                <p:sp>
                  <p:nvSpPr>
                    <p:cNvPr id="26811"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809" name="Rectangle 3"/>
                  <p:cNvSpPr>
                    <a:spLocks noChangeArrowheads="1"/>
                  </p:cNvSpPr>
                  <p:nvPr/>
                </p:nvSpPr>
                <p:spPr bwMode="auto">
                  <a:xfrm>
                    <a:off x="3283435" y="3429000"/>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ea typeface="Times New Roman" panose="02020603050405020304" pitchFamily="18" charset="0"/>
                        <a:cs typeface="Bookman-Demi"/>
                      </a:rPr>
                      <a:t>.</a:t>
                    </a:r>
                    <a:endParaRPr lang="en-IN" altLang="en-US">
                      <a:solidFill>
                        <a:srgbClr val="FF00FF"/>
                      </a:solidFill>
                      <a:ea typeface="Times New Roman" panose="02020603050405020304" pitchFamily="18" charset="0"/>
                      <a:cs typeface="Bookman-Demi"/>
                    </a:endParaRPr>
                  </a:p>
                </p:txBody>
              </p:sp>
            </p:grpSp>
            <p:grpSp>
              <p:nvGrpSpPr>
                <p:cNvPr id="26791" name="Group 130"/>
                <p:cNvGrpSpPr>
                  <a:grpSpLocks/>
                </p:cNvGrpSpPr>
                <p:nvPr/>
              </p:nvGrpSpPr>
              <p:grpSpPr bwMode="auto">
                <a:xfrm>
                  <a:off x="3764415" y="3429000"/>
                  <a:ext cx="447545" cy="432048"/>
                  <a:chOff x="3188351" y="3429000"/>
                  <a:chExt cx="447545" cy="432048"/>
                </a:xfrm>
              </p:grpSpPr>
              <p:grpSp>
                <p:nvGrpSpPr>
                  <p:cNvPr id="26800" name="Group 46"/>
                  <p:cNvGrpSpPr>
                    <a:grpSpLocks/>
                  </p:cNvGrpSpPr>
                  <p:nvPr/>
                </p:nvGrpSpPr>
                <p:grpSpPr bwMode="auto">
                  <a:xfrm>
                    <a:off x="3188351" y="3478218"/>
                    <a:ext cx="249259" cy="382830"/>
                    <a:chOff x="3806806" y="3161928"/>
                    <a:chExt cx="248786" cy="382470"/>
                  </a:xfrm>
                </p:grpSpPr>
                <p:sp>
                  <p:nvSpPr>
                    <p:cNvPr id="26805"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j</a:t>
                      </a:r>
                      <a:endParaRPr lang="en-IN" altLang="en-US" b="1">
                        <a:solidFill>
                          <a:srgbClr val="FF00FF"/>
                        </a:solidFill>
                      </a:endParaRPr>
                    </a:p>
                  </p:txBody>
                </p:sp>
                <p:sp>
                  <p:nvSpPr>
                    <p:cNvPr id="26806"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6801" name="Group 46"/>
                  <p:cNvGrpSpPr>
                    <a:grpSpLocks/>
                  </p:cNvGrpSpPr>
                  <p:nvPr/>
                </p:nvGrpSpPr>
                <p:grpSpPr bwMode="auto">
                  <a:xfrm>
                    <a:off x="3386637" y="3478218"/>
                    <a:ext cx="249259" cy="382830"/>
                    <a:chOff x="3806806" y="3161928"/>
                    <a:chExt cx="248786" cy="382470"/>
                  </a:xfrm>
                </p:grpSpPr>
                <p:sp>
                  <p:nvSpPr>
                    <p:cNvPr id="26803"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j</a:t>
                      </a:r>
                      <a:endParaRPr lang="en-IN" altLang="en-US" b="1">
                        <a:solidFill>
                          <a:srgbClr val="FF00FF"/>
                        </a:solidFill>
                      </a:endParaRPr>
                    </a:p>
                  </p:txBody>
                </p:sp>
                <p:sp>
                  <p:nvSpPr>
                    <p:cNvPr id="26804"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802" name="Rectangle 133"/>
                  <p:cNvSpPr>
                    <a:spLocks noChangeArrowheads="1"/>
                  </p:cNvSpPr>
                  <p:nvPr/>
                </p:nvSpPr>
                <p:spPr bwMode="auto">
                  <a:xfrm>
                    <a:off x="3283435" y="3429000"/>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ea typeface="Times New Roman" panose="02020603050405020304" pitchFamily="18" charset="0"/>
                        <a:cs typeface="Bookman-Demi"/>
                      </a:rPr>
                      <a:t>.</a:t>
                    </a:r>
                    <a:endParaRPr lang="en-IN" altLang="en-US">
                      <a:solidFill>
                        <a:srgbClr val="FF00FF"/>
                      </a:solidFill>
                      <a:ea typeface="Times New Roman" panose="02020603050405020304" pitchFamily="18" charset="0"/>
                      <a:cs typeface="Bookman-Demi"/>
                    </a:endParaRPr>
                  </a:p>
                </p:txBody>
              </p:sp>
            </p:grpSp>
            <p:sp>
              <p:nvSpPr>
                <p:cNvPr id="26792" name="Rectangle 5"/>
                <p:cNvSpPr>
                  <a:spLocks noChangeArrowheads="1"/>
                </p:cNvSpPr>
                <p:nvPr/>
              </p:nvSpPr>
              <p:spPr bwMode="auto">
                <a:xfrm>
                  <a:off x="3548697" y="3498308"/>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a:t>
                  </a:r>
                  <a:endParaRPr lang="en-IN" altLang="en-US">
                    <a:solidFill>
                      <a:srgbClr val="FF00FF"/>
                    </a:solidFill>
                  </a:endParaRPr>
                </a:p>
              </p:txBody>
            </p:sp>
            <p:sp>
              <p:nvSpPr>
                <p:cNvPr id="26793" name="Rectangle 138"/>
                <p:cNvSpPr>
                  <a:spLocks noChangeArrowheads="1"/>
                </p:cNvSpPr>
                <p:nvPr/>
              </p:nvSpPr>
              <p:spPr bwMode="auto">
                <a:xfrm>
                  <a:off x="4139952" y="3501008"/>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a:t>
                  </a:r>
                  <a:endParaRPr lang="en-IN" altLang="en-US">
                    <a:solidFill>
                      <a:srgbClr val="FF00FF"/>
                    </a:solidFill>
                  </a:endParaRPr>
                </a:p>
              </p:txBody>
            </p:sp>
            <p:grpSp>
              <p:nvGrpSpPr>
                <p:cNvPr id="26794" name="Group 8"/>
                <p:cNvGrpSpPr>
                  <a:grpSpLocks/>
                </p:cNvGrpSpPr>
                <p:nvPr/>
              </p:nvGrpSpPr>
              <p:grpSpPr bwMode="auto">
                <a:xfrm>
                  <a:off x="4364347" y="3429000"/>
                  <a:ext cx="567693" cy="437723"/>
                  <a:chOff x="4364347" y="3429000"/>
                  <a:chExt cx="567693" cy="437723"/>
                </a:xfrm>
              </p:grpSpPr>
              <p:sp>
                <p:nvSpPr>
                  <p:cNvPr id="26795" name="Rectangle 47"/>
                  <p:cNvSpPr>
                    <a:spLocks noChangeArrowheads="1"/>
                  </p:cNvSpPr>
                  <p:nvPr/>
                </p:nvSpPr>
                <p:spPr bwMode="auto">
                  <a:xfrm>
                    <a:off x="4364347" y="3497390"/>
                    <a:ext cx="312906"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k</a:t>
                    </a:r>
                    <a:endParaRPr lang="en-IN" altLang="en-US" b="1">
                      <a:solidFill>
                        <a:srgbClr val="FF00FF"/>
                      </a:solidFill>
                    </a:endParaRPr>
                  </a:p>
                </p:txBody>
              </p:sp>
              <p:sp>
                <p:nvSpPr>
                  <p:cNvPr id="26796" name="Line 37"/>
                  <p:cNvSpPr>
                    <a:spLocks noChangeShapeType="1"/>
                  </p:cNvSpPr>
                  <p:nvPr/>
                </p:nvSpPr>
                <p:spPr bwMode="auto">
                  <a:xfrm rot="5400000" flipH="1" flipV="1">
                    <a:off x="4484407" y="3501008"/>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97" name="Rectangle 47"/>
                  <p:cNvSpPr>
                    <a:spLocks noChangeArrowheads="1"/>
                  </p:cNvSpPr>
                  <p:nvPr/>
                </p:nvSpPr>
                <p:spPr bwMode="auto">
                  <a:xfrm>
                    <a:off x="4619134" y="349137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k</a:t>
                    </a:r>
                    <a:endParaRPr lang="en-IN" altLang="en-US" b="1">
                      <a:solidFill>
                        <a:srgbClr val="FF00FF"/>
                      </a:solidFill>
                    </a:endParaRPr>
                  </a:p>
                </p:txBody>
              </p:sp>
              <p:sp>
                <p:nvSpPr>
                  <p:cNvPr id="26798" name="Line 37"/>
                  <p:cNvSpPr>
                    <a:spLocks noChangeShapeType="1"/>
                  </p:cNvSpPr>
                  <p:nvPr/>
                </p:nvSpPr>
                <p:spPr bwMode="auto">
                  <a:xfrm rot="5400000" flipH="1" flipV="1">
                    <a:off x="4752641" y="3494989"/>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99" name="Rectangle 143"/>
                  <p:cNvSpPr>
                    <a:spLocks noChangeArrowheads="1"/>
                  </p:cNvSpPr>
                  <p:nvPr/>
                </p:nvSpPr>
                <p:spPr bwMode="auto">
                  <a:xfrm>
                    <a:off x="4515942" y="3429000"/>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ea typeface="Times New Roman" panose="02020603050405020304" pitchFamily="18" charset="0"/>
                        <a:cs typeface="Bookman-Demi"/>
                      </a:rPr>
                      <a:t>.</a:t>
                    </a:r>
                    <a:endParaRPr lang="en-IN" altLang="en-US">
                      <a:solidFill>
                        <a:srgbClr val="FF00FF"/>
                      </a:solidFill>
                      <a:ea typeface="Times New Roman" panose="02020603050405020304" pitchFamily="18" charset="0"/>
                      <a:cs typeface="Bookman-Demi"/>
                    </a:endParaRPr>
                  </a:p>
                </p:txBody>
              </p:sp>
            </p:grpSp>
          </p:grpSp>
          <p:sp>
            <p:nvSpPr>
              <p:cNvPr id="26789" name="Rectangle 13"/>
              <p:cNvSpPr>
                <a:spLocks noChangeArrowheads="1"/>
              </p:cNvSpPr>
              <p:nvPr/>
            </p:nvSpPr>
            <p:spPr bwMode="auto">
              <a:xfrm>
                <a:off x="4828746" y="3505163"/>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 1</a:t>
                </a:r>
                <a:endParaRPr lang="en-IN" altLang="en-US">
                  <a:solidFill>
                    <a:srgbClr val="FF00FF"/>
                  </a:solidFill>
                </a:endParaRPr>
              </a:p>
            </p:txBody>
          </p:sp>
        </p:grpSp>
        <p:sp>
          <p:nvSpPr>
            <p:cNvPr id="26787" name="Rectangle 15"/>
            <p:cNvSpPr>
              <a:spLocks noChangeArrowheads="1"/>
            </p:cNvSpPr>
            <p:nvPr/>
          </p:nvSpPr>
          <p:spPr bwMode="auto">
            <a:xfrm>
              <a:off x="278414" y="1259468"/>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4.</a:t>
              </a:r>
              <a:endParaRPr lang="en-IN" altLang="en-US">
                <a:solidFill>
                  <a:srgbClr val="FF00FF"/>
                </a:solidFill>
              </a:endParaRPr>
            </a:p>
          </p:txBody>
        </p:sp>
      </p:grpSp>
      <p:grpSp>
        <p:nvGrpSpPr>
          <p:cNvPr id="26629" name="Group 18"/>
          <p:cNvGrpSpPr>
            <a:grpSpLocks/>
          </p:cNvGrpSpPr>
          <p:nvPr/>
        </p:nvGrpSpPr>
        <p:grpSpPr bwMode="auto">
          <a:xfrm>
            <a:off x="1801813" y="2335214"/>
            <a:ext cx="2565400" cy="446087"/>
            <a:chOff x="278414" y="1687361"/>
            <a:chExt cx="2565394" cy="445495"/>
          </a:xfrm>
        </p:grpSpPr>
        <p:sp>
          <p:nvSpPr>
            <p:cNvPr id="26767" name="Rectangle 47"/>
            <p:cNvSpPr>
              <a:spLocks noChangeArrowheads="1"/>
            </p:cNvSpPr>
            <p:nvPr/>
          </p:nvSpPr>
          <p:spPr bwMode="auto">
            <a:xfrm>
              <a:off x="691734" y="1749729"/>
              <a:ext cx="249259" cy="36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i</a:t>
              </a:r>
              <a:endParaRPr lang="en-IN" altLang="en-US" b="1">
                <a:solidFill>
                  <a:srgbClr val="FFC000"/>
                </a:solidFill>
              </a:endParaRPr>
            </a:p>
          </p:txBody>
        </p:sp>
        <p:sp>
          <p:nvSpPr>
            <p:cNvPr id="26768" name="Line 37"/>
            <p:cNvSpPr>
              <a:spLocks noChangeShapeType="1"/>
            </p:cNvSpPr>
            <p:nvPr/>
          </p:nvSpPr>
          <p:spPr bwMode="auto">
            <a:xfrm rot="5400000" flipH="1" flipV="1">
              <a:off x="798347" y="1753347"/>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69" name="Rectangle 47"/>
            <p:cNvSpPr>
              <a:spLocks noChangeArrowheads="1"/>
            </p:cNvSpPr>
            <p:nvPr/>
          </p:nvSpPr>
          <p:spPr bwMode="auto">
            <a:xfrm>
              <a:off x="890020" y="1749729"/>
              <a:ext cx="249259" cy="36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j</a:t>
              </a:r>
              <a:endParaRPr lang="en-IN" altLang="en-US" b="1">
                <a:solidFill>
                  <a:srgbClr val="FFC000"/>
                </a:solidFill>
              </a:endParaRPr>
            </a:p>
          </p:txBody>
        </p:sp>
        <p:sp>
          <p:nvSpPr>
            <p:cNvPr id="26770" name="Line 37"/>
            <p:cNvSpPr>
              <a:spLocks noChangeShapeType="1"/>
            </p:cNvSpPr>
            <p:nvPr/>
          </p:nvSpPr>
          <p:spPr bwMode="auto">
            <a:xfrm rot="5400000" flipH="1" flipV="1">
              <a:off x="996633" y="1753347"/>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71" name="Rectangle 178"/>
            <p:cNvSpPr>
              <a:spLocks noChangeArrowheads="1"/>
            </p:cNvSpPr>
            <p:nvPr/>
          </p:nvSpPr>
          <p:spPr bwMode="auto">
            <a:xfrm>
              <a:off x="786818" y="1687361"/>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t>
              </a:r>
              <a:endParaRPr lang="en-IN" altLang="en-US">
                <a:solidFill>
                  <a:srgbClr val="FFC000"/>
                </a:solidFill>
                <a:ea typeface="Times New Roman" panose="02020603050405020304" pitchFamily="18" charset="0"/>
                <a:cs typeface="Bookman-Demi"/>
              </a:endParaRPr>
            </a:p>
          </p:txBody>
        </p:sp>
        <p:sp>
          <p:nvSpPr>
            <p:cNvPr id="26772" name="Rectangle 47"/>
            <p:cNvSpPr>
              <a:spLocks noChangeArrowheads="1"/>
            </p:cNvSpPr>
            <p:nvPr/>
          </p:nvSpPr>
          <p:spPr bwMode="auto">
            <a:xfrm>
              <a:off x="1267798" y="1749729"/>
              <a:ext cx="249259" cy="36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j</a:t>
              </a:r>
              <a:endParaRPr lang="en-IN" altLang="en-US" b="1">
                <a:solidFill>
                  <a:srgbClr val="FFC000"/>
                </a:solidFill>
              </a:endParaRPr>
            </a:p>
          </p:txBody>
        </p:sp>
        <p:sp>
          <p:nvSpPr>
            <p:cNvPr id="26773" name="Line 37"/>
            <p:cNvSpPr>
              <a:spLocks noChangeShapeType="1"/>
            </p:cNvSpPr>
            <p:nvPr/>
          </p:nvSpPr>
          <p:spPr bwMode="auto">
            <a:xfrm rot="5400000" flipH="1" flipV="1">
              <a:off x="1374411" y="1753347"/>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74" name="Rectangle 47"/>
            <p:cNvSpPr>
              <a:spLocks noChangeArrowheads="1"/>
            </p:cNvSpPr>
            <p:nvPr/>
          </p:nvSpPr>
          <p:spPr bwMode="auto">
            <a:xfrm>
              <a:off x="1439193" y="1749732"/>
              <a:ext cx="312906"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k</a:t>
              </a:r>
              <a:endParaRPr lang="en-IN" altLang="en-US" b="1">
                <a:solidFill>
                  <a:srgbClr val="FFC000"/>
                </a:solidFill>
              </a:endParaRPr>
            </a:p>
          </p:txBody>
        </p:sp>
        <p:sp>
          <p:nvSpPr>
            <p:cNvPr id="26775" name="Line 37"/>
            <p:cNvSpPr>
              <a:spLocks noChangeShapeType="1"/>
            </p:cNvSpPr>
            <p:nvPr/>
          </p:nvSpPr>
          <p:spPr bwMode="auto">
            <a:xfrm rot="5400000" flipH="1" flipV="1">
              <a:off x="1572700" y="1753350"/>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76" name="Rectangle 171"/>
            <p:cNvSpPr>
              <a:spLocks noChangeArrowheads="1"/>
            </p:cNvSpPr>
            <p:nvPr/>
          </p:nvSpPr>
          <p:spPr bwMode="auto">
            <a:xfrm>
              <a:off x="1362882" y="1687361"/>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t>
              </a:r>
              <a:endParaRPr lang="en-IN" altLang="en-US">
                <a:solidFill>
                  <a:srgbClr val="FFC000"/>
                </a:solidFill>
                <a:ea typeface="Times New Roman" panose="02020603050405020304" pitchFamily="18" charset="0"/>
                <a:cs typeface="Bookman-Demi"/>
              </a:endParaRPr>
            </a:p>
          </p:txBody>
        </p:sp>
        <p:sp>
          <p:nvSpPr>
            <p:cNvPr id="26777" name="Rectangle 161"/>
            <p:cNvSpPr>
              <a:spLocks noChangeArrowheads="1"/>
            </p:cNvSpPr>
            <p:nvPr/>
          </p:nvSpPr>
          <p:spPr bwMode="auto">
            <a:xfrm>
              <a:off x="1052080" y="175666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t>
              </a:r>
              <a:endParaRPr lang="en-IN" altLang="en-US">
                <a:solidFill>
                  <a:srgbClr val="FFC000"/>
                </a:solidFill>
              </a:endParaRPr>
            </a:p>
          </p:txBody>
        </p:sp>
        <p:sp>
          <p:nvSpPr>
            <p:cNvPr id="26778" name="Rectangle 162"/>
            <p:cNvSpPr>
              <a:spLocks noChangeArrowheads="1"/>
            </p:cNvSpPr>
            <p:nvPr/>
          </p:nvSpPr>
          <p:spPr bwMode="auto">
            <a:xfrm>
              <a:off x="1643335" y="1759369"/>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t>
              </a:r>
              <a:endParaRPr lang="en-IN" altLang="en-US">
                <a:solidFill>
                  <a:srgbClr val="FFC000"/>
                </a:solidFill>
              </a:endParaRPr>
            </a:p>
          </p:txBody>
        </p:sp>
        <p:sp>
          <p:nvSpPr>
            <p:cNvPr id="26779" name="Rectangle 47"/>
            <p:cNvSpPr>
              <a:spLocks noChangeArrowheads="1"/>
            </p:cNvSpPr>
            <p:nvPr/>
          </p:nvSpPr>
          <p:spPr bwMode="auto">
            <a:xfrm>
              <a:off x="1867730" y="1755751"/>
              <a:ext cx="312906"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k</a:t>
              </a:r>
              <a:endParaRPr lang="en-IN" altLang="en-US" b="1">
                <a:solidFill>
                  <a:srgbClr val="FFC000"/>
                </a:solidFill>
              </a:endParaRPr>
            </a:p>
          </p:txBody>
        </p:sp>
        <p:sp>
          <p:nvSpPr>
            <p:cNvPr id="26780" name="Line 37"/>
            <p:cNvSpPr>
              <a:spLocks noChangeShapeType="1"/>
            </p:cNvSpPr>
            <p:nvPr/>
          </p:nvSpPr>
          <p:spPr bwMode="auto">
            <a:xfrm rot="5400000" flipH="1" flipV="1">
              <a:off x="1987790" y="1759369"/>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81" name="Rectangle 47"/>
            <p:cNvSpPr>
              <a:spLocks noChangeArrowheads="1"/>
            </p:cNvSpPr>
            <p:nvPr/>
          </p:nvSpPr>
          <p:spPr bwMode="auto">
            <a:xfrm>
              <a:off x="2122517" y="1749732"/>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i</a:t>
              </a:r>
              <a:endParaRPr lang="en-IN" altLang="en-US" b="1">
                <a:solidFill>
                  <a:srgbClr val="FFC000"/>
                </a:solidFill>
              </a:endParaRPr>
            </a:p>
          </p:txBody>
        </p:sp>
        <p:sp>
          <p:nvSpPr>
            <p:cNvPr id="26782" name="Line 37"/>
            <p:cNvSpPr>
              <a:spLocks noChangeShapeType="1"/>
            </p:cNvSpPr>
            <p:nvPr/>
          </p:nvSpPr>
          <p:spPr bwMode="auto">
            <a:xfrm rot="5400000" flipH="1" flipV="1">
              <a:off x="2229130" y="1753350"/>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6783" name="Rectangle 168"/>
            <p:cNvSpPr>
              <a:spLocks noChangeArrowheads="1"/>
            </p:cNvSpPr>
            <p:nvPr/>
          </p:nvSpPr>
          <p:spPr bwMode="auto">
            <a:xfrm>
              <a:off x="2019325" y="1687361"/>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t>
              </a:r>
              <a:endParaRPr lang="en-IN" altLang="en-US">
                <a:solidFill>
                  <a:srgbClr val="FFC000"/>
                </a:solidFill>
                <a:ea typeface="Times New Roman" panose="02020603050405020304" pitchFamily="18" charset="0"/>
                <a:cs typeface="Bookman-Demi"/>
              </a:endParaRPr>
            </a:p>
          </p:txBody>
        </p:sp>
        <p:sp>
          <p:nvSpPr>
            <p:cNvPr id="26784" name="Rectangle 158"/>
            <p:cNvSpPr>
              <a:spLocks noChangeArrowheads="1"/>
            </p:cNvSpPr>
            <p:nvPr/>
          </p:nvSpPr>
          <p:spPr bwMode="auto">
            <a:xfrm>
              <a:off x="2332129" y="1763524"/>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 0</a:t>
              </a:r>
              <a:endParaRPr lang="en-IN" altLang="en-US">
                <a:solidFill>
                  <a:srgbClr val="FFC000"/>
                </a:solidFill>
              </a:endParaRPr>
            </a:p>
          </p:txBody>
        </p:sp>
        <p:sp>
          <p:nvSpPr>
            <p:cNvPr id="26785" name="Rectangle 156"/>
            <p:cNvSpPr>
              <a:spLocks noChangeArrowheads="1"/>
            </p:cNvSpPr>
            <p:nvPr/>
          </p:nvSpPr>
          <p:spPr bwMode="auto">
            <a:xfrm>
              <a:off x="278414" y="1750077"/>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5.</a:t>
              </a:r>
              <a:endParaRPr lang="en-IN" altLang="en-US">
                <a:solidFill>
                  <a:srgbClr val="FFC000"/>
                </a:solidFill>
              </a:endParaRPr>
            </a:p>
          </p:txBody>
        </p:sp>
      </p:grpSp>
      <p:grpSp>
        <p:nvGrpSpPr>
          <p:cNvPr id="26630" name="Group 6"/>
          <p:cNvGrpSpPr>
            <a:grpSpLocks/>
          </p:cNvGrpSpPr>
          <p:nvPr/>
        </p:nvGrpSpPr>
        <p:grpSpPr bwMode="auto">
          <a:xfrm>
            <a:off x="7543800" y="730251"/>
            <a:ext cx="1493838" cy="461963"/>
            <a:chOff x="5076056" y="5784874"/>
            <a:chExt cx="1493948" cy="461730"/>
          </a:xfrm>
        </p:grpSpPr>
        <p:grpSp>
          <p:nvGrpSpPr>
            <p:cNvPr id="26757" name="Group 5"/>
            <p:cNvGrpSpPr>
              <a:grpSpLocks/>
            </p:cNvGrpSpPr>
            <p:nvPr/>
          </p:nvGrpSpPr>
          <p:grpSpPr bwMode="auto">
            <a:xfrm>
              <a:off x="5076056" y="5877272"/>
              <a:ext cx="1465300" cy="369332"/>
              <a:chOff x="5076056" y="5877272"/>
              <a:chExt cx="1465300" cy="369332"/>
            </a:xfrm>
          </p:grpSpPr>
          <p:grpSp>
            <p:nvGrpSpPr>
              <p:cNvPr id="26759" name="Group 63"/>
              <p:cNvGrpSpPr>
                <a:grpSpLocks/>
              </p:cNvGrpSpPr>
              <p:nvPr/>
            </p:nvGrpSpPr>
            <p:grpSpPr bwMode="auto">
              <a:xfrm>
                <a:off x="5076056" y="5877272"/>
                <a:ext cx="964751" cy="369332"/>
                <a:chOff x="4654450" y="5795416"/>
                <a:chExt cx="964751" cy="369332"/>
              </a:xfrm>
            </p:grpSpPr>
            <p:sp>
              <p:nvSpPr>
                <p:cNvPr id="26764" name="Rectangle 7"/>
                <p:cNvSpPr>
                  <a:spLocks noChangeArrowheads="1"/>
                </p:cNvSpPr>
                <p:nvPr/>
              </p:nvSpPr>
              <p:spPr bwMode="auto">
                <a:xfrm>
                  <a:off x="4654450" y="5795416"/>
                  <a:ext cx="964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 B = </a:t>
                  </a:r>
                  <a:endParaRPr lang="en-IN" altLang="en-US" b="1">
                    <a:solidFill>
                      <a:srgbClr val="FF7C80"/>
                    </a:solidFill>
                  </a:endParaRPr>
                </a:p>
              </p:txBody>
            </p:sp>
            <p:cxnSp>
              <p:nvCxnSpPr>
                <p:cNvPr id="62" name="Straight Arrow Connector 61"/>
                <p:cNvCxnSpPr/>
                <p:nvPr/>
              </p:nvCxnSpPr>
              <p:spPr bwMode="auto">
                <a:xfrm>
                  <a:off x="4740181" y="5823607"/>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bwMode="auto">
                <a:xfrm>
                  <a:off x="5111684" y="5823607"/>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60" name="Group 70"/>
              <p:cNvGrpSpPr>
                <a:grpSpLocks/>
              </p:cNvGrpSpPr>
              <p:nvPr/>
            </p:nvGrpSpPr>
            <p:grpSpPr bwMode="auto">
              <a:xfrm>
                <a:off x="5839497" y="5877272"/>
                <a:ext cx="701859" cy="369332"/>
                <a:chOff x="4654450" y="5795416"/>
                <a:chExt cx="701859" cy="369332"/>
              </a:xfrm>
            </p:grpSpPr>
            <p:sp>
              <p:nvSpPr>
                <p:cNvPr id="26761" name="Rectangle 7"/>
                <p:cNvSpPr>
                  <a:spLocks noChangeArrowheads="1"/>
                </p:cNvSpPr>
                <p:nvPr/>
              </p:nvSpPr>
              <p:spPr bwMode="auto">
                <a:xfrm>
                  <a:off x="4654450" y="5795416"/>
                  <a:ext cx="701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B . A</a:t>
                  </a:r>
                  <a:endParaRPr lang="en-IN" altLang="en-US" b="1">
                    <a:solidFill>
                      <a:srgbClr val="FF7C80"/>
                    </a:solidFill>
                  </a:endParaRPr>
                </a:p>
              </p:txBody>
            </p:sp>
            <p:cxnSp>
              <p:nvCxnSpPr>
                <p:cNvPr id="59" name="Straight Arrow Connector 58"/>
                <p:cNvCxnSpPr/>
                <p:nvPr/>
              </p:nvCxnSpPr>
              <p:spPr bwMode="auto">
                <a:xfrm>
                  <a:off x="4740384" y="5823607"/>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bwMode="auto">
                <a:xfrm>
                  <a:off x="5111887" y="5823607"/>
                  <a:ext cx="17146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55" name="Rounded Rectangle 54"/>
            <p:cNvSpPr/>
            <p:nvPr/>
          </p:nvSpPr>
          <p:spPr bwMode="auto">
            <a:xfrm>
              <a:off x="5076056" y="5784874"/>
              <a:ext cx="1493948" cy="45221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7C80"/>
                </a:solidFill>
                <a:latin typeface="Arial"/>
              </a:endParaRPr>
            </a:p>
          </p:txBody>
        </p:sp>
      </p:grpSp>
      <p:grpSp>
        <p:nvGrpSpPr>
          <p:cNvPr id="26631" name="Group 7"/>
          <p:cNvGrpSpPr>
            <a:grpSpLocks/>
          </p:cNvGrpSpPr>
          <p:nvPr/>
        </p:nvGrpSpPr>
        <p:grpSpPr bwMode="auto">
          <a:xfrm>
            <a:off x="1789113" y="2598738"/>
            <a:ext cx="6265862" cy="830262"/>
            <a:chOff x="250824" y="4149080"/>
            <a:chExt cx="6265392" cy="829900"/>
          </a:xfrm>
        </p:grpSpPr>
        <p:grpSp>
          <p:nvGrpSpPr>
            <p:cNvPr id="26734" name="Group 22"/>
            <p:cNvGrpSpPr>
              <a:grpSpLocks/>
            </p:cNvGrpSpPr>
            <p:nvPr/>
          </p:nvGrpSpPr>
          <p:grpSpPr bwMode="auto">
            <a:xfrm>
              <a:off x="250824" y="4354514"/>
              <a:ext cx="3457575" cy="369332"/>
              <a:chOff x="288031" y="1209526"/>
              <a:chExt cx="3456922" cy="367998"/>
            </a:xfrm>
          </p:grpSpPr>
          <p:sp>
            <p:nvSpPr>
              <p:cNvPr id="26754" name="Rectangle 19"/>
              <p:cNvSpPr>
                <a:spLocks noChangeArrowheads="1"/>
              </p:cNvSpPr>
              <p:nvPr/>
            </p:nvSpPr>
            <p:spPr bwMode="auto">
              <a:xfrm>
                <a:off x="288031" y="1209526"/>
                <a:ext cx="3456922" cy="36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00B0F0"/>
                    </a:solidFill>
                    <a:ea typeface="Times New Roman" panose="02020603050405020304" pitchFamily="18" charset="0"/>
                    <a:cs typeface="Bookman-Light"/>
                  </a:rPr>
                  <a:t>6.  Component of A along B =</a:t>
                </a:r>
              </a:p>
            </p:txBody>
          </p:sp>
          <p:cxnSp>
            <p:nvCxnSpPr>
              <p:cNvPr id="66" name="Straight Arrow Connector 65"/>
              <p:cNvCxnSpPr/>
              <p:nvPr/>
            </p:nvCxnSpPr>
            <p:spPr bwMode="auto">
              <a:xfrm>
                <a:off x="2305211" y="1267292"/>
                <a:ext cx="17140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bwMode="auto">
              <a:xfrm>
                <a:off x="3208261" y="1254644"/>
                <a:ext cx="17140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35" name="Group 1"/>
            <p:cNvGrpSpPr>
              <a:grpSpLocks/>
            </p:cNvGrpSpPr>
            <p:nvPr/>
          </p:nvGrpSpPr>
          <p:grpSpPr bwMode="auto">
            <a:xfrm>
              <a:off x="3491880" y="4344134"/>
              <a:ext cx="1504386" cy="369332"/>
              <a:chOff x="1403350" y="5435600"/>
              <a:chExt cx="1504386" cy="369332"/>
            </a:xfrm>
          </p:grpSpPr>
          <p:sp>
            <p:nvSpPr>
              <p:cNvPr id="26752" name="Rectangle 7"/>
              <p:cNvSpPr>
                <a:spLocks noChangeArrowheads="1"/>
              </p:cNvSpPr>
              <p:nvPr/>
            </p:nvSpPr>
            <p:spPr bwMode="auto">
              <a:xfrm>
                <a:off x="1403350" y="5435600"/>
                <a:ext cx="15043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 A | cos </a:t>
                </a:r>
                <a:r>
                  <a:rPr lang="el-GR" altLang="en-US" b="1">
                    <a:solidFill>
                      <a:srgbClr val="00B0F0"/>
                    </a:solidFill>
                    <a:ea typeface="Times New Roman" panose="02020603050405020304" pitchFamily="18" charset="0"/>
                    <a:cs typeface="Bookman-Demi"/>
                  </a:rPr>
                  <a:t>θ</a:t>
                </a:r>
                <a:r>
                  <a:rPr lang="en-US" altLang="en-US" b="1">
                    <a:solidFill>
                      <a:srgbClr val="00B0F0"/>
                    </a:solidFill>
                    <a:ea typeface="Times New Roman" panose="02020603050405020304" pitchFamily="18" charset="0"/>
                    <a:cs typeface="Bookman-Demi"/>
                  </a:rPr>
                  <a:t> = </a:t>
                </a:r>
                <a:endParaRPr lang="en-IN" altLang="en-US" b="1">
                  <a:solidFill>
                    <a:srgbClr val="00B0F0"/>
                  </a:solidFill>
                </a:endParaRPr>
              </a:p>
            </p:txBody>
          </p:sp>
          <p:cxnSp>
            <p:nvCxnSpPr>
              <p:cNvPr id="70" name="Straight Arrow Connector 69"/>
              <p:cNvCxnSpPr/>
              <p:nvPr/>
            </p:nvCxnSpPr>
            <p:spPr bwMode="auto">
              <a:xfrm>
                <a:off x="1624371" y="5491262"/>
                <a:ext cx="17143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36" name="Group 3"/>
            <p:cNvGrpSpPr>
              <a:grpSpLocks/>
            </p:cNvGrpSpPr>
            <p:nvPr/>
          </p:nvGrpSpPr>
          <p:grpSpPr bwMode="auto">
            <a:xfrm>
              <a:off x="4886521" y="4149080"/>
              <a:ext cx="765599" cy="829900"/>
              <a:chOff x="2489135" y="5445224"/>
              <a:chExt cx="765599" cy="829900"/>
            </a:xfrm>
          </p:grpSpPr>
          <p:sp>
            <p:nvSpPr>
              <p:cNvPr id="26744" name="Line 33"/>
              <p:cNvSpPr>
                <a:spLocks noChangeShapeType="1"/>
              </p:cNvSpPr>
              <p:nvPr/>
            </p:nvSpPr>
            <p:spPr bwMode="auto">
              <a:xfrm>
                <a:off x="2530270" y="5830529"/>
                <a:ext cx="609266" cy="0"/>
              </a:xfrm>
              <a:prstGeom prst="line">
                <a:avLst/>
              </a:prstGeom>
              <a:noFill/>
              <a:ln w="1905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26745" name="Group 3"/>
              <p:cNvGrpSpPr>
                <a:grpSpLocks/>
              </p:cNvGrpSpPr>
              <p:nvPr/>
            </p:nvGrpSpPr>
            <p:grpSpPr bwMode="auto">
              <a:xfrm>
                <a:off x="2489135" y="5445224"/>
                <a:ext cx="765599" cy="369695"/>
                <a:chOff x="4654450" y="5795416"/>
                <a:chExt cx="765979" cy="369332"/>
              </a:xfrm>
            </p:grpSpPr>
            <p:sp>
              <p:nvSpPr>
                <p:cNvPr id="26749" name="Rectangle 7"/>
                <p:cNvSpPr>
                  <a:spLocks noChangeArrowheads="1"/>
                </p:cNvSpPr>
                <p:nvPr/>
              </p:nvSpPr>
              <p:spPr bwMode="auto">
                <a:xfrm>
                  <a:off x="4654450" y="5795416"/>
                  <a:ext cx="765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A . B </a:t>
                  </a:r>
                  <a:endParaRPr lang="en-IN" altLang="en-US" b="1">
                    <a:solidFill>
                      <a:srgbClr val="00B0F0"/>
                    </a:solidFill>
                  </a:endParaRPr>
                </a:p>
              </p:txBody>
            </p:sp>
            <p:cxnSp>
              <p:nvCxnSpPr>
                <p:cNvPr id="83" name="Straight Arrow Connector 82"/>
                <p:cNvCxnSpPr/>
                <p:nvPr/>
              </p:nvCxnSpPr>
              <p:spPr bwMode="auto">
                <a:xfrm>
                  <a:off x="4739666" y="5823951"/>
                  <a:ext cx="17152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bwMode="auto">
                <a:xfrm>
                  <a:off x="5111298" y="5823951"/>
                  <a:ext cx="17311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46" name="Group 2"/>
              <p:cNvGrpSpPr>
                <a:grpSpLocks/>
              </p:cNvGrpSpPr>
              <p:nvPr/>
            </p:nvGrpSpPr>
            <p:grpSpPr bwMode="auto">
              <a:xfrm>
                <a:off x="2556434" y="5905792"/>
                <a:ext cx="607859" cy="369332"/>
                <a:chOff x="2339752" y="5905792"/>
                <a:chExt cx="607859" cy="369332"/>
              </a:xfrm>
            </p:grpSpPr>
            <p:sp>
              <p:nvSpPr>
                <p:cNvPr id="26747" name="Rectangle 7"/>
                <p:cNvSpPr>
                  <a:spLocks noChangeArrowheads="1"/>
                </p:cNvSpPr>
                <p:nvPr/>
              </p:nvSpPr>
              <p:spPr bwMode="auto">
                <a:xfrm>
                  <a:off x="2339752" y="5905792"/>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 B |</a:t>
                  </a:r>
                  <a:endParaRPr lang="en-IN" altLang="en-US" b="1">
                    <a:solidFill>
                      <a:srgbClr val="00B0F0"/>
                    </a:solidFill>
                  </a:endParaRPr>
                </a:p>
              </p:txBody>
            </p:sp>
            <p:cxnSp>
              <p:nvCxnSpPr>
                <p:cNvPr id="80" name="Straight Arrow Connector 79"/>
                <p:cNvCxnSpPr/>
                <p:nvPr/>
              </p:nvCxnSpPr>
              <p:spPr bwMode="auto">
                <a:xfrm>
                  <a:off x="2556049" y="5933961"/>
                  <a:ext cx="17143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6737" name="Group 6"/>
            <p:cNvGrpSpPr>
              <a:grpSpLocks/>
            </p:cNvGrpSpPr>
            <p:nvPr/>
          </p:nvGrpSpPr>
          <p:grpSpPr bwMode="auto">
            <a:xfrm>
              <a:off x="5548445" y="4315108"/>
              <a:ext cx="967771" cy="396589"/>
              <a:chOff x="6268525" y="3546122"/>
              <a:chExt cx="967771" cy="396589"/>
            </a:xfrm>
          </p:grpSpPr>
          <p:grpSp>
            <p:nvGrpSpPr>
              <p:cNvPr id="26738" name="Group 4"/>
              <p:cNvGrpSpPr>
                <a:grpSpLocks/>
              </p:cNvGrpSpPr>
              <p:nvPr/>
            </p:nvGrpSpPr>
            <p:grpSpPr bwMode="auto">
              <a:xfrm>
                <a:off x="6470697" y="3546122"/>
                <a:ext cx="765599" cy="396589"/>
                <a:chOff x="6470697" y="3546122"/>
                <a:chExt cx="765599" cy="396589"/>
              </a:xfrm>
            </p:grpSpPr>
            <p:grpSp>
              <p:nvGrpSpPr>
                <p:cNvPr id="26740" name="Group 3"/>
                <p:cNvGrpSpPr>
                  <a:grpSpLocks/>
                </p:cNvGrpSpPr>
                <p:nvPr/>
              </p:nvGrpSpPr>
              <p:grpSpPr bwMode="auto">
                <a:xfrm>
                  <a:off x="6470697" y="3573016"/>
                  <a:ext cx="765599" cy="369695"/>
                  <a:chOff x="4654450" y="5795416"/>
                  <a:chExt cx="765979" cy="369332"/>
                </a:xfrm>
              </p:grpSpPr>
              <p:sp>
                <p:nvSpPr>
                  <p:cNvPr id="26742" name="Rectangle 7"/>
                  <p:cNvSpPr>
                    <a:spLocks noChangeArrowheads="1"/>
                  </p:cNvSpPr>
                  <p:nvPr/>
                </p:nvSpPr>
                <p:spPr bwMode="auto">
                  <a:xfrm>
                    <a:off x="4654450" y="5795416"/>
                    <a:ext cx="765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A . B </a:t>
                    </a:r>
                    <a:endParaRPr lang="en-IN" altLang="en-US" b="1">
                      <a:solidFill>
                        <a:srgbClr val="00B0F0"/>
                      </a:solidFill>
                    </a:endParaRPr>
                  </a:p>
                </p:txBody>
              </p:sp>
              <p:cxnSp>
                <p:nvCxnSpPr>
                  <p:cNvPr id="95" name="Straight Arrow Connector 94"/>
                  <p:cNvCxnSpPr/>
                  <p:nvPr/>
                </p:nvCxnSpPr>
                <p:spPr bwMode="auto">
                  <a:xfrm>
                    <a:off x="4724812" y="5824619"/>
                    <a:ext cx="18581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741" name="Line 37"/>
                <p:cNvSpPr>
                  <a:spLocks noChangeShapeType="1"/>
                </p:cNvSpPr>
                <p:nvPr/>
              </p:nvSpPr>
              <p:spPr bwMode="auto">
                <a:xfrm rot="5400000" flipH="1" flipV="1">
                  <a:off x="6963168" y="3562884"/>
                  <a:ext cx="3352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739" name="Rectangle 5"/>
              <p:cNvSpPr>
                <a:spLocks noChangeArrowheads="1"/>
              </p:cNvSpPr>
              <p:nvPr/>
            </p:nvSpPr>
            <p:spPr bwMode="auto">
              <a:xfrm>
                <a:off x="6268525" y="3573016"/>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B0F0"/>
                    </a:solidFill>
                  </a:rPr>
                  <a:t>=</a:t>
                </a:r>
                <a:endParaRPr lang="en-IN" altLang="en-US">
                  <a:solidFill>
                    <a:srgbClr val="00B0F0"/>
                  </a:solidFill>
                </a:endParaRPr>
              </a:p>
            </p:txBody>
          </p:sp>
        </p:grpSp>
      </p:grpSp>
      <p:grpSp>
        <p:nvGrpSpPr>
          <p:cNvPr id="26632" name="Group 100"/>
          <p:cNvGrpSpPr>
            <a:grpSpLocks/>
          </p:cNvGrpSpPr>
          <p:nvPr/>
        </p:nvGrpSpPr>
        <p:grpSpPr bwMode="auto">
          <a:xfrm>
            <a:off x="1789113" y="3606801"/>
            <a:ext cx="6273800" cy="830263"/>
            <a:chOff x="250824" y="4149080"/>
            <a:chExt cx="6274367" cy="829900"/>
          </a:xfrm>
        </p:grpSpPr>
        <p:grpSp>
          <p:nvGrpSpPr>
            <p:cNvPr id="26711" name="Group 22"/>
            <p:cNvGrpSpPr>
              <a:grpSpLocks/>
            </p:cNvGrpSpPr>
            <p:nvPr/>
          </p:nvGrpSpPr>
          <p:grpSpPr bwMode="auto">
            <a:xfrm>
              <a:off x="250824" y="4354514"/>
              <a:ext cx="3457575" cy="369332"/>
              <a:chOff x="288031" y="1209526"/>
              <a:chExt cx="3456922" cy="367998"/>
            </a:xfrm>
          </p:grpSpPr>
          <p:sp>
            <p:nvSpPr>
              <p:cNvPr id="26731" name="Rectangle 19"/>
              <p:cNvSpPr>
                <a:spLocks noChangeArrowheads="1"/>
              </p:cNvSpPr>
              <p:nvPr/>
            </p:nvSpPr>
            <p:spPr bwMode="auto">
              <a:xfrm>
                <a:off x="288031" y="1209526"/>
                <a:ext cx="3456922" cy="36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CCFF99"/>
                    </a:solidFill>
                    <a:ea typeface="Times New Roman" panose="02020603050405020304" pitchFamily="18" charset="0"/>
                    <a:cs typeface="Bookman-Light"/>
                  </a:rPr>
                  <a:t>7.  Component of B along A =</a:t>
                </a:r>
              </a:p>
            </p:txBody>
          </p:sp>
          <p:cxnSp>
            <p:nvCxnSpPr>
              <p:cNvPr id="123" name="Straight Arrow Connector 122"/>
              <p:cNvCxnSpPr/>
              <p:nvPr/>
            </p:nvCxnSpPr>
            <p:spPr bwMode="auto">
              <a:xfrm>
                <a:off x="2305544" y="1267292"/>
                <a:ext cx="17143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bwMode="auto">
              <a:xfrm>
                <a:off x="3208743" y="1254644"/>
                <a:ext cx="17143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12" name="Group 102"/>
            <p:cNvGrpSpPr>
              <a:grpSpLocks/>
            </p:cNvGrpSpPr>
            <p:nvPr/>
          </p:nvGrpSpPr>
          <p:grpSpPr bwMode="auto">
            <a:xfrm>
              <a:off x="3491880" y="4344134"/>
              <a:ext cx="1521570" cy="369332"/>
              <a:chOff x="1403350" y="5435600"/>
              <a:chExt cx="1521570" cy="369332"/>
            </a:xfrm>
          </p:grpSpPr>
          <p:sp>
            <p:nvSpPr>
              <p:cNvPr id="26729" name="Rectangle 7"/>
              <p:cNvSpPr>
                <a:spLocks noChangeArrowheads="1"/>
              </p:cNvSpPr>
              <p:nvPr/>
            </p:nvSpPr>
            <p:spPr bwMode="auto">
              <a:xfrm>
                <a:off x="1403350" y="5435600"/>
                <a:ext cx="1521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FF99"/>
                    </a:solidFill>
                  </a:rPr>
                  <a:t>| B | cos </a:t>
                </a:r>
                <a:r>
                  <a:rPr lang="el-GR" altLang="en-US" b="1">
                    <a:solidFill>
                      <a:srgbClr val="CCFF99"/>
                    </a:solidFill>
                    <a:ea typeface="Times New Roman" panose="02020603050405020304" pitchFamily="18" charset="0"/>
                    <a:cs typeface="Bookman-Demi"/>
                  </a:rPr>
                  <a:t>θ</a:t>
                </a:r>
                <a:r>
                  <a:rPr lang="en-US" altLang="en-US" b="1">
                    <a:solidFill>
                      <a:srgbClr val="CCFF99"/>
                    </a:solidFill>
                    <a:ea typeface="Times New Roman" panose="02020603050405020304" pitchFamily="18" charset="0"/>
                    <a:cs typeface="Bookman-Demi"/>
                  </a:rPr>
                  <a:t> = </a:t>
                </a:r>
                <a:endParaRPr lang="en-IN" altLang="en-US" b="1">
                  <a:solidFill>
                    <a:srgbClr val="CCFF99"/>
                  </a:solidFill>
                </a:endParaRPr>
              </a:p>
            </p:txBody>
          </p:sp>
          <p:cxnSp>
            <p:nvCxnSpPr>
              <p:cNvPr id="121" name="Straight Arrow Connector 120"/>
              <p:cNvCxnSpPr/>
              <p:nvPr/>
            </p:nvCxnSpPr>
            <p:spPr bwMode="auto">
              <a:xfrm>
                <a:off x="1623357" y="5491262"/>
                <a:ext cx="17146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13" name="Group 103"/>
            <p:cNvGrpSpPr>
              <a:grpSpLocks/>
            </p:cNvGrpSpPr>
            <p:nvPr/>
          </p:nvGrpSpPr>
          <p:grpSpPr bwMode="auto">
            <a:xfrm>
              <a:off x="4886521" y="4149080"/>
              <a:ext cx="765599" cy="829900"/>
              <a:chOff x="2489135" y="5445224"/>
              <a:chExt cx="765599" cy="829900"/>
            </a:xfrm>
          </p:grpSpPr>
          <p:sp>
            <p:nvSpPr>
              <p:cNvPr id="26721" name="Line 33"/>
              <p:cNvSpPr>
                <a:spLocks noChangeShapeType="1"/>
              </p:cNvSpPr>
              <p:nvPr/>
            </p:nvSpPr>
            <p:spPr bwMode="auto">
              <a:xfrm>
                <a:off x="2530270" y="5830529"/>
                <a:ext cx="609266" cy="0"/>
              </a:xfrm>
              <a:prstGeom prst="line">
                <a:avLst/>
              </a:prstGeom>
              <a:noFill/>
              <a:ln w="19050">
                <a:solidFill>
                  <a:srgbClr val="CC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26722" name="Group 3"/>
              <p:cNvGrpSpPr>
                <a:grpSpLocks/>
              </p:cNvGrpSpPr>
              <p:nvPr/>
            </p:nvGrpSpPr>
            <p:grpSpPr bwMode="auto">
              <a:xfrm>
                <a:off x="2489135" y="5445224"/>
                <a:ext cx="765599" cy="369695"/>
                <a:chOff x="4654450" y="5795416"/>
                <a:chExt cx="765979" cy="369332"/>
              </a:xfrm>
            </p:grpSpPr>
            <p:sp>
              <p:nvSpPr>
                <p:cNvPr id="26726" name="Rectangle 7"/>
                <p:cNvSpPr>
                  <a:spLocks noChangeArrowheads="1"/>
                </p:cNvSpPr>
                <p:nvPr/>
              </p:nvSpPr>
              <p:spPr bwMode="auto">
                <a:xfrm>
                  <a:off x="4654450" y="5795416"/>
                  <a:ext cx="765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FF99"/>
                      </a:solidFill>
                    </a:rPr>
                    <a:t>A . B </a:t>
                  </a:r>
                  <a:endParaRPr lang="en-IN" altLang="en-US" b="1">
                    <a:solidFill>
                      <a:srgbClr val="CCFF99"/>
                    </a:solidFill>
                  </a:endParaRPr>
                </a:p>
              </p:txBody>
            </p:sp>
            <p:cxnSp>
              <p:nvCxnSpPr>
                <p:cNvPr id="118" name="Straight Arrow Connector 117"/>
                <p:cNvCxnSpPr/>
                <p:nvPr/>
              </p:nvCxnSpPr>
              <p:spPr bwMode="auto">
                <a:xfrm>
                  <a:off x="4740447" y="5823950"/>
                  <a:ext cx="17155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bwMode="auto">
                <a:xfrm>
                  <a:off x="5112140" y="5823950"/>
                  <a:ext cx="17155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23" name="Group 113"/>
              <p:cNvGrpSpPr>
                <a:grpSpLocks/>
              </p:cNvGrpSpPr>
              <p:nvPr/>
            </p:nvGrpSpPr>
            <p:grpSpPr bwMode="auto">
              <a:xfrm>
                <a:off x="2556434" y="5905792"/>
                <a:ext cx="607859" cy="369332"/>
                <a:chOff x="2339752" y="5905792"/>
                <a:chExt cx="607859" cy="369332"/>
              </a:xfrm>
            </p:grpSpPr>
            <p:sp>
              <p:nvSpPr>
                <p:cNvPr id="26724" name="Rectangle 7"/>
                <p:cNvSpPr>
                  <a:spLocks noChangeArrowheads="1"/>
                </p:cNvSpPr>
                <p:nvPr/>
              </p:nvSpPr>
              <p:spPr bwMode="auto">
                <a:xfrm>
                  <a:off x="2339752" y="5905792"/>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FF99"/>
                      </a:solidFill>
                    </a:rPr>
                    <a:t>| A |</a:t>
                  </a:r>
                  <a:endParaRPr lang="en-IN" altLang="en-US" b="1">
                    <a:solidFill>
                      <a:srgbClr val="CCFF99"/>
                    </a:solidFill>
                  </a:endParaRPr>
                </a:p>
              </p:txBody>
            </p:sp>
            <p:cxnSp>
              <p:nvCxnSpPr>
                <p:cNvPr id="116" name="Straight Arrow Connector 115"/>
                <p:cNvCxnSpPr/>
                <p:nvPr/>
              </p:nvCxnSpPr>
              <p:spPr bwMode="auto">
                <a:xfrm>
                  <a:off x="2555276" y="5933961"/>
                  <a:ext cx="17146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6714" name="Group 104"/>
            <p:cNvGrpSpPr>
              <a:grpSpLocks/>
            </p:cNvGrpSpPr>
            <p:nvPr/>
          </p:nvGrpSpPr>
          <p:grpSpPr bwMode="auto">
            <a:xfrm>
              <a:off x="5548445" y="4315108"/>
              <a:ext cx="976746" cy="396232"/>
              <a:chOff x="6268525" y="3546122"/>
              <a:chExt cx="976746" cy="396232"/>
            </a:xfrm>
          </p:grpSpPr>
          <p:grpSp>
            <p:nvGrpSpPr>
              <p:cNvPr id="26715" name="Group 105"/>
              <p:cNvGrpSpPr>
                <a:grpSpLocks/>
              </p:cNvGrpSpPr>
              <p:nvPr/>
            </p:nvGrpSpPr>
            <p:grpSpPr bwMode="auto">
              <a:xfrm>
                <a:off x="6470700" y="3546122"/>
                <a:ext cx="774571" cy="396232"/>
                <a:chOff x="6470700" y="3546122"/>
                <a:chExt cx="774571" cy="396232"/>
              </a:xfrm>
            </p:grpSpPr>
            <p:grpSp>
              <p:nvGrpSpPr>
                <p:cNvPr id="26717" name="Group 3"/>
                <p:cNvGrpSpPr>
                  <a:grpSpLocks/>
                </p:cNvGrpSpPr>
                <p:nvPr/>
              </p:nvGrpSpPr>
              <p:grpSpPr bwMode="auto">
                <a:xfrm>
                  <a:off x="6470700" y="3573022"/>
                  <a:ext cx="774571" cy="369332"/>
                  <a:chOff x="4654450" y="5795416"/>
                  <a:chExt cx="774955" cy="368969"/>
                </a:xfrm>
              </p:grpSpPr>
              <p:sp>
                <p:nvSpPr>
                  <p:cNvPr id="26719" name="Rectangle 7"/>
                  <p:cNvSpPr>
                    <a:spLocks noChangeArrowheads="1"/>
                  </p:cNvSpPr>
                  <p:nvPr/>
                </p:nvSpPr>
                <p:spPr bwMode="auto">
                  <a:xfrm>
                    <a:off x="4654450" y="5795416"/>
                    <a:ext cx="774955" cy="36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FF99"/>
                        </a:solidFill>
                      </a:rPr>
                      <a:t>B . A </a:t>
                    </a:r>
                    <a:endParaRPr lang="en-IN" altLang="en-US" b="1">
                      <a:solidFill>
                        <a:srgbClr val="CCFF99"/>
                      </a:solidFill>
                    </a:endParaRPr>
                  </a:p>
                </p:txBody>
              </p:sp>
              <p:cxnSp>
                <p:nvCxnSpPr>
                  <p:cNvPr id="111" name="Straight Arrow Connector 110"/>
                  <p:cNvCxnSpPr/>
                  <p:nvPr/>
                </p:nvCxnSpPr>
                <p:spPr bwMode="auto">
                  <a:xfrm>
                    <a:off x="4740026" y="5824612"/>
                    <a:ext cx="17155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718" name="Line 37"/>
                <p:cNvSpPr>
                  <a:spLocks noChangeShapeType="1"/>
                </p:cNvSpPr>
                <p:nvPr/>
              </p:nvSpPr>
              <p:spPr bwMode="auto">
                <a:xfrm rot="5400000" flipH="1" flipV="1">
                  <a:off x="6963168" y="3562884"/>
                  <a:ext cx="3352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716" name="Rectangle 106"/>
              <p:cNvSpPr>
                <a:spLocks noChangeArrowheads="1"/>
              </p:cNvSpPr>
              <p:nvPr/>
            </p:nvSpPr>
            <p:spPr bwMode="auto">
              <a:xfrm>
                <a:off x="6268525" y="3573016"/>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CCFF99"/>
                    </a:solidFill>
                  </a:rPr>
                  <a:t>=</a:t>
                </a:r>
                <a:endParaRPr lang="en-IN" altLang="en-US">
                  <a:solidFill>
                    <a:srgbClr val="CCFF99"/>
                  </a:solidFill>
                </a:endParaRPr>
              </a:p>
            </p:txBody>
          </p:sp>
        </p:grpSp>
      </p:grpSp>
      <p:sp>
        <p:nvSpPr>
          <p:cNvPr id="112" name="Rectangle 7"/>
          <p:cNvSpPr>
            <a:spLocks noChangeArrowheads="1"/>
          </p:cNvSpPr>
          <p:nvPr/>
        </p:nvSpPr>
        <p:spPr bwMode="auto">
          <a:xfrm>
            <a:off x="1789113" y="1403350"/>
            <a:ext cx="350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Demi"/>
              </a:rPr>
              <a:t>3.   Dot product is </a:t>
            </a:r>
            <a:r>
              <a:rPr lang="en-US" altLang="en-US" b="1">
                <a:solidFill>
                  <a:srgbClr val="00FFFF"/>
                </a:solidFill>
                <a:ea typeface="Times New Roman" panose="02020603050405020304" pitchFamily="18" charset="0"/>
                <a:cs typeface="Bookman-Demi"/>
              </a:rPr>
              <a:t>distributive</a:t>
            </a:r>
            <a:r>
              <a:rPr lang="en-US" altLang="en-US" b="1">
                <a:solidFill>
                  <a:srgbClr val="FFFF00"/>
                </a:solidFill>
                <a:ea typeface="Times New Roman" panose="02020603050405020304" pitchFamily="18" charset="0"/>
                <a:cs typeface="Bookman-Demi"/>
              </a:rPr>
              <a:t>.</a:t>
            </a:r>
            <a:endParaRPr lang="en-IN" altLang="en-US">
              <a:solidFill>
                <a:srgbClr val="FFFF00"/>
              </a:solidFill>
              <a:ea typeface="Times New Roman" panose="02020603050405020304" pitchFamily="18" charset="0"/>
              <a:cs typeface="Bookman-Demi"/>
            </a:endParaRPr>
          </a:p>
        </p:txBody>
      </p:sp>
      <p:grpSp>
        <p:nvGrpSpPr>
          <p:cNvPr id="5" name="Group 4"/>
          <p:cNvGrpSpPr>
            <a:grpSpLocks/>
          </p:cNvGrpSpPr>
          <p:nvPr/>
        </p:nvGrpSpPr>
        <p:grpSpPr bwMode="auto">
          <a:xfrm>
            <a:off x="5232401" y="1341439"/>
            <a:ext cx="2944813" cy="460375"/>
            <a:chOff x="1232738" y="2606998"/>
            <a:chExt cx="2945282" cy="461776"/>
          </a:xfrm>
        </p:grpSpPr>
        <p:grpSp>
          <p:nvGrpSpPr>
            <p:cNvPr id="26696" name="Group 2"/>
            <p:cNvGrpSpPr>
              <a:grpSpLocks/>
            </p:cNvGrpSpPr>
            <p:nvPr/>
          </p:nvGrpSpPr>
          <p:grpSpPr bwMode="auto">
            <a:xfrm>
              <a:off x="1259632" y="2699442"/>
              <a:ext cx="1548244" cy="369332"/>
              <a:chOff x="1259632" y="2699442"/>
              <a:chExt cx="1548244" cy="369332"/>
            </a:xfrm>
          </p:grpSpPr>
          <p:sp>
            <p:nvSpPr>
              <p:cNvPr id="26707" name="Rectangle 7"/>
              <p:cNvSpPr>
                <a:spLocks noChangeArrowheads="1"/>
              </p:cNvSpPr>
              <p:nvPr/>
            </p:nvSpPr>
            <p:spPr bwMode="auto">
              <a:xfrm>
                <a:off x="1259632" y="2699442"/>
                <a:ext cx="1548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 (B + C) = </a:t>
                </a:r>
                <a:endParaRPr lang="en-IN" altLang="en-US" b="1">
                  <a:solidFill>
                    <a:srgbClr val="FF7C80"/>
                  </a:solidFill>
                </a:endParaRPr>
              </a:p>
            </p:txBody>
          </p:sp>
          <p:cxnSp>
            <p:nvCxnSpPr>
              <p:cNvPr id="128" name="Straight Arrow Connector 127"/>
              <p:cNvCxnSpPr/>
              <p:nvPr/>
            </p:nvCxnSpPr>
            <p:spPr bwMode="auto">
              <a:xfrm>
                <a:off x="1345469" y="2728015"/>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bwMode="auto">
              <a:xfrm>
                <a:off x="1794802" y="2728015"/>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bwMode="auto">
              <a:xfrm>
                <a:off x="2226671" y="2728015"/>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15" name="Rounded Rectangle 114"/>
            <p:cNvSpPr/>
            <p:nvPr/>
          </p:nvSpPr>
          <p:spPr bwMode="auto">
            <a:xfrm>
              <a:off x="1232738" y="2606998"/>
              <a:ext cx="2918290" cy="45222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7C80"/>
                </a:solidFill>
                <a:latin typeface="Arial"/>
              </a:endParaRPr>
            </a:p>
          </p:txBody>
        </p:sp>
        <p:grpSp>
          <p:nvGrpSpPr>
            <p:cNvPr id="26698" name="Group 3"/>
            <p:cNvGrpSpPr>
              <a:grpSpLocks/>
            </p:cNvGrpSpPr>
            <p:nvPr/>
          </p:nvGrpSpPr>
          <p:grpSpPr bwMode="auto">
            <a:xfrm>
              <a:off x="2627784" y="2695473"/>
              <a:ext cx="1550236" cy="373301"/>
              <a:chOff x="3103136" y="2695473"/>
              <a:chExt cx="1550236" cy="373301"/>
            </a:xfrm>
          </p:grpSpPr>
          <p:grpSp>
            <p:nvGrpSpPr>
              <p:cNvPr id="26699" name="Group 1"/>
              <p:cNvGrpSpPr>
                <a:grpSpLocks/>
              </p:cNvGrpSpPr>
              <p:nvPr/>
            </p:nvGrpSpPr>
            <p:grpSpPr bwMode="auto">
              <a:xfrm>
                <a:off x="3103136" y="2699442"/>
                <a:ext cx="900631" cy="369332"/>
                <a:chOff x="3103136" y="2699442"/>
                <a:chExt cx="900631" cy="369332"/>
              </a:xfrm>
            </p:grpSpPr>
            <p:sp>
              <p:nvSpPr>
                <p:cNvPr id="26704" name="Rectangle 7"/>
                <p:cNvSpPr>
                  <a:spLocks noChangeArrowheads="1"/>
                </p:cNvSpPr>
                <p:nvPr/>
              </p:nvSpPr>
              <p:spPr bwMode="auto">
                <a:xfrm>
                  <a:off x="3103136" y="2699442"/>
                  <a:ext cx="9006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 B +</a:t>
                  </a:r>
                  <a:endParaRPr lang="en-IN" altLang="en-US" b="1">
                    <a:solidFill>
                      <a:srgbClr val="FF7C80"/>
                    </a:solidFill>
                  </a:endParaRPr>
                </a:p>
              </p:txBody>
            </p:sp>
            <p:cxnSp>
              <p:nvCxnSpPr>
                <p:cNvPr id="126" name="Straight Arrow Connector 125"/>
                <p:cNvCxnSpPr/>
                <p:nvPr/>
              </p:nvCxnSpPr>
              <p:spPr bwMode="auto">
                <a:xfrm>
                  <a:off x="3560998" y="2728015"/>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bwMode="auto">
                <a:xfrm>
                  <a:off x="3203753" y="2721645"/>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6700" name="Group 130"/>
              <p:cNvGrpSpPr>
                <a:grpSpLocks/>
              </p:cNvGrpSpPr>
              <p:nvPr/>
            </p:nvGrpSpPr>
            <p:grpSpPr bwMode="auto">
              <a:xfrm>
                <a:off x="3887393" y="2695473"/>
                <a:ext cx="765979" cy="369332"/>
                <a:chOff x="3103136" y="2699442"/>
                <a:chExt cx="765979" cy="369332"/>
              </a:xfrm>
            </p:grpSpPr>
            <p:sp>
              <p:nvSpPr>
                <p:cNvPr id="26701" name="Rectangle 7"/>
                <p:cNvSpPr>
                  <a:spLocks noChangeArrowheads="1"/>
                </p:cNvSpPr>
                <p:nvPr/>
              </p:nvSpPr>
              <p:spPr bwMode="auto">
                <a:xfrm>
                  <a:off x="3103136" y="2699442"/>
                  <a:ext cx="765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 C </a:t>
                  </a:r>
                  <a:endParaRPr lang="en-IN" altLang="en-US" b="1">
                    <a:solidFill>
                      <a:srgbClr val="FF7C80"/>
                    </a:solidFill>
                  </a:endParaRPr>
                </a:p>
              </p:txBody>
            </p:sp>
            <p:cxnSp>
              <p:nvCxnSpPr>
                <p:cNvPr id="133" name="Straight Arrow Connector 132"/>
                <p:cNvCxnSpPr/>
                <p:nvPr/>
              </p:nvCxnSpPr>
              <p:spPr bwMode="auto">
                <a:xfrm>
                  <a:off x="3561091" y="2728799"/>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bwMode="auto">
                <a:xfrm>
                  <a:off x="3203846" y="2736760"/>
                  <a:ext cx="17147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grpSp>
        <p:nvGrpSpPr>
          <p:cNvPr id="7" name="Group 6"/>
          <p:cNvGrpSpPr>
            <a:grpSpLocks/>
          </p:cNvGrpSpPr>
          <p:nvPr/>
        </p:nvGrpSpPr>
        <p:grpSpPr bwMode="auto">
          <a:xfrm>
            <a:off x="1789114" y="4365625"/>
            <a:ext cx="2867025" cy="865188"/>
            <a:chOff x="264967" y="4769166"/>
            <a:chExt cx="2866873" cy="865188"/>
          </a:xfrm>
        </p:grpSpPr>
        <p:sp>
          <p:nvSpPr>
            <p:cNvPr id="26657" name="Rectangle 5"/>
            <p:cNvSpPr>
              <a:spLocks noChangeArrowheads="1"/>
            </p:cNvSpPr>
            <p:nvPr/>
          </p:nvSpPr>
          <p:spPr bwMode="auto">
            <a:xfrm>
              <a:off x="264967" y="478786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Light"/>
                </a:rPr>
                <a:t>8.  If </a:t>
              </a:r>
              <a:endParaRPr lang="en-IN" altLang="en-US">
                <a:solidFill>
                  <a:srgbClr val="000000"/>
                </a:solidFill>
                <a:ea typeface="Times New Roman" panose="02020603050405020304" pitchFamily="18" charset="0"/>
                <a:cs typeface="Bookman-Light"/>
              </a:endParaRPr>
            </a:p>
          </p:txBody>
        </p:sp>
        <p:grpSp>
          <p:nvGrpSpPr>
            <p:cNvPr id="26658" name="Group 7"/>
            <p:cNvGrpSpPr>
              <a:grpSpLocks/>
            </p:cNvGrpSpPr>
            <p:nvPr/>
          </p:nvGrpSpPr>
          <p:grpSpPr bwMode="auto">
            <a:xfrm>
              <a:off x="907753" y="4769166"/>
              <a:ext cx="2224087" cy="384175"/>
              <a:chOff x="1043608" y="4939710"/>
              <a:chExt cx="2223902" cy="383932"/>
            </a:xfrm>
          </p:grpSpPr>
          <p:grpSp>
            <p:nvGrpSpPr>
              <p:cNvPr id="26678" name="Group 8"/>
              <p:cNvGrpSpPr>
                <a:grpSpLocks/>
              </p:cNvGrpSpPr>
              <p:nvPr/>
            </p:nvGrpSpPr>
            <p:grpSpPr bwMode="auto">
              <a:xfrm>
                <a:off x="1043608" y="4939710"/>
                <a:ext cx="940394" cy="382588"/>
                <a:chOff x="8024094" y="5710708"/>
                <a:chExt cx="940394" cy="382588"/>
              </a:xfrm>
            </p:grpSpPr>
            <p:grpSp>
              <p:nvGrpSpPr>
                <p:cNvPr id="26689" name="Group 46"/>
                <p:cNvGrpSpPr>
                  <a:grpSpLocks/>
                </p:cNvGrpSpPr>
                <p:nvPr/>
              </p:nvGrpSpPr>
              <p:grpSpPr bwMode="auto">
                <a:xfrm>
                  <a:off x="8715250" y="5710708"/>
                  <a:ext cx="249238" cy="382588"/>
                  <a:chOff x="3806806" y="3161928"/>
                  <a:chExt cx="248786" cy="382470"/>
                </a:xfrm>
              </p:grpSpPr>
              <p:sp>
                <p:nvSpPr>
                  <p:cNvPr id="26694"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i</a:t>
                    </a:r>
                    <a:endParaRPr lang="en-IN" altLang="en-US" b="1">
                      <a:solidFill>
                        <a:srgbClr val="00FF00"/>
                      </a:solidFill>
                    </a:endParaRPr>
                  </a:p>
                </p:txBody>
              </p:sp>
              <p:sp>
                <p:nvSpPr>
                  <p:cNvPr id="26695"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90" name="Rectangle 20"/>
                <p:cNvSpPr>
                  <a:spLocks noChangeArrowheads="1"/>
                </p:cNvSpPr>
                <p:nvPr/>
              </p:nvSpPr>
              <p:spPr bwMode="auto">
                <a:xfrm>
                  <a:off x="8313570" y="5717519"/>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x</a:t>
                  </a:r>
                  <a:endParaRPr lang="en-IN" altLang="en-US" baseline="-25000">
                    <a:solidFill>
                      <a:srgbClr val="00FF00"/>
                    </a:solidFill>
                    <a:ea typeface="Times New Roman" panose="02020603050405020304" pitchFamily="18" charset="0"/>
                    <a:cs typeface="Bookman-Demi"/>
                  </a:endParaRPr>
                </a:p>
              </p:txBody>
            </p:sp>
            <p:grpSp>
              <p:nvGrpSpPr>
                <p:cNvPr id="26691" name="Group 21"/>
                <p:cNvGrpSpPr>
                  <a:grpSpLocks/>
                </p:cNvGrpSpPr>
                <p:nvPr/>
              </p:nvGrpSpPr>
              <p:grpSpPr bwMode="auto">
                <a:xfrm>
                  <a:off x="8024094" y="5718207"/>
                  <a:ext cx="312906" cy="369332"/>
                  <a:chOff x="7884368" y="5718207"/>
                  <a:chExt cx="312906" cy="369332"/>
                </a:xfrm>
              </p:grpSpPr>
              <p:sp>
                <p:nvSpPr>
                  <p:cNvPr id="26692" name="Rectangle 22"/>
                  <p:cNvSpPr>
                    <a:spLocks noChangeArrowheads="1"/>
                  </p:cNvSpPr>
                  <p:nvPr/>
                </p:nvSpPr>
                <p:spPr bwMode="auto">
                  <a:xfrm>
                    <a:off x="7884368" y="5718207"/>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Demi"/>
                      </a:rPr>
                      <a:t>a</a:t>
                    </a:r>
                    <a:endParaRPr lang="en-IN" altLang="en-US">
                      <a:solidFill>
                        <a:srgbClr val="00FF00"/>
                      </a:solidFill>
                      <a:ea typeface="Times New Roman" panose="02020603050405020304" pitchFamily="18" charset="0"/>
                      <a:cs typeface="Bookman-Demi"/>
                    </a:endParaRPr>
                  </a:p>
                </p:txBody>
              </p:sp>
              <p:cxnSp>
                <p:nvCxnSpPr>
                  <p:cNvPr id="189" name="Straight Arrow Connector 188"/>
                  <p:cNvCxnSpPr/>
                  <p:nvPr/>
                </p:nvCxnSpPr>
                <p:spPr bwMode="auto">
                  <a:xfrm>
                    <a:off x="7990833" y="5759890"/>
                    <a:ext cx="17142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6679" name="Group 9"/>
              <p:cNvGrpSpPr>
                <a:grpSpLocks/>
              </p:cNvGrpSpPr>
              <p:nvPr/>
            </p:nvGrpSpPr>
            <p:grpSpPr bwMode="auto">
              <a:xfrm>
                <a:off x="1907704" y="4939710"/>
                <a:ext cx="677812" cy="382588"/>
                <a:chOff x="3246116" y="4005064"/>
                <a:chExt cx="677812" cy="382588"/>
              </a:xfrm>
            </p:grpSpPr>
            <p:grpSp>
              <p:nvGrpSpPr>
                <p:cNvPr id="26685" name="Group 46"/>
                <p:cNvGrpSpPr>
                  <a:grpSpLocks/>
                </p:cNvGrpSpPr>
                <p:nvPr/>
              </p:nvGrpSpPr>
              <p:grpSpPr bwMode="auto">
                <a:xfrm>
                  <a:off x="3674690" y="4005064"/>
                  <a:ext cx="249238" cy="382588"/>
                  <a:chOff x="3806806" y="3161928"/>
                  <a:chExt cx="248786" cy="382470"/>
                </a:xfrm>
              </p:grpSpPr>
              <p:sp>
                <p:nvSpPr>
                  <p:cNvPr id="26687"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j</a:t>
                    </a:r>
                    <a:endParaRPr lang="en-IN" altLang="en-US" b="1">
                      <a:solidFill>
                        <a:srgbClr val="00FF00"/>
                      </a:solidFill>
                    </a:endParaRPr>
                  </a:p>
                </p:txBody>
              </p:sp>
              <p:sp>
                <p:nvSpPr>
                  <p:cNvPr id="26688"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86" name="Rectangle 16"/>
                <p:cNvSpPr>
                  <a:spLocks noChangeArrowheads="1"/>
                </p:cNvSpPr>
                <p:nvPr/>
              </p:nvSpPr>
              <p:spPr bwMode="auto">
                <a:xfrm>
                  <a:off x="3246116" y="4011875"/>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y</a:t>
                  </a:r>
                  <a:endParaRPr lang="en-IN" altLang="en-US" baseline="-25000">
                    <a:solidFill>
                      <a:srgbClr val="00FF00"/>
                    </a:solidFill>
                    <a:ea typeface="Times New Roman" panose="02020603050405020304" pitchFamily="18" charset="0"/>
                    <a:cs typeface="Bookman-Demi"/>
                  </a:endParaRPr>
                </a:p>
              </p:txBody>
            </p:sp>
          </p:grpSp>
          <p:grpSp>
            <p:nvGrpSpPr>
              <p:cNvPr id="26680" name="Group 10"/>
              <p:cNvGrpSpPr>
                <a:grpSpLocks/>
              </p:cNvGrpSpPr>
              <p:nvPr/>
            </p:nvGrpSpPr>
            <p:grpSpPr bwMode="auto">
              <a:xfrm>
                <a:off x="2526036" y="4941168"/>
                <a:ext cx="741474" cy="382474"/>
                <a:chOff x="2526036" y="4941168"/>
                <a:chExt cx="741474" cy="382474"/>
              </a:xfrm>
            </p:grpSpPr>
            <p:grpSp>
              <p:nvGrpSpPr>
                <p:cNvPr id="26681" name="Group 11"/>
                <p:cNvGrpSpPr>
                  <a:grpSpLocks/>
                </p:cNvGrpSpPr>
                <p:nvPr/>
              </p:nvGrpSpPr>
              <p:grpSpPr bwMode="auto">
                <a:xfrm>
                  <a:off x="2954604" y="4941168"/>
                  <a:ext cx="312906" cy="382474"/>
                  <a:chOff x="2954604" y="4941168"/>
                  <a:chExt cx="312906" cy="382474"/>
                </a:xfrm>
              </p:grpSpPr>
              <p:sp>
                <p:nvSpPr>
                  <p:cNvPr id="26683" name="Rectangle 47"/>
                  <p:cNvSpPr>
                    <a:spLocks noChangeArrowheads="1"/>
                  </p:cNvSpPr>
                  <p:nvPr/>
                </p:nvSpPr>
                <p:spPr bwMode="auto">
                  <a:xfrm>
                    <a:off x="2954604" y="495431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k</a:t>
                    </a:r>
                    <a:endParaRPr lang="en-IN" altLang="en-US" b="1">
                      <a:solidFill>
                        <a:srgbClr val="00FF00"/>
                      </a:solidFill>
                    </a:endParaRPr>
                  </a:p>
                </p:txBody>
              </p:sp>
              <p:sp>
                <p:nvSpPr>
                  <p:cNvPr id="26684" name="Line 37"/>
                  <p:cNvSpPr>
                    <a:spLocks noChangeShapeType="1"/>
                  </p:cNvSpPr>
                  <p:nvPr/>
                </p:nvSpPr>
                <p:spPr bwMode="auto">
                  <a:xfrm rot="5400000" flipH="1" flipV="1">
                    <a:off x="3074664" y="4957925"/>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82" name="Rectangle 12"/>
                <p:cNvSpPr>
                  <a:spLocks noChangeArrowheads="1"/>
                </p:cNvSpPr>
                <p:nvPr/>
              </p:nvSpPr>
              <p:spPr bwMode="auto">
                <a:xfrm>
                  <a:off x="2526036" y="4947979"/>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z</a:t>
                  </a:r>
                  <a:endParaRPr lang="en-IN" altLang="en-US" baseline="-25000">
                    <a:solidFill>
                      <a:srgbClr val="00FF00"/>
                    </a:solidFill>
                    <a:ea typeface="Times New Roman" panose="02020603050405020304" pitchFamily="18" charset="0"/>
                    <a:cs typeface="Bookman-Demi"/>
                  </a:endParaRPr>
                </a:p>
              </p:txBody>
            </p:sp>
          </p:grpSp>
        </p:grpSp>
        <p:grpSp>
          <p:nvGrpSpPr>
            <p:cNvPr id="26659" name="Group 26"/>
            <p:cNvGrpSpPr>
              <a:grpSpLocks/>
            </p:cNvGrpSpPr>
            <p:nvPr/>
          </p:nvGrpSpPr>
          <p:grpSpPr bwMode="auto">
            <a:xfrm>
              <a:off x="898228" y="5250179"/>
              <a:ext cx="2224087" cy="384175"/>
              <a:chOff x="1043608" y="4939710"/>
              <a:chExt cx="2223902" cy="383932"/>
            </a:xfrm>
          </p:grpSpPr>
          <p:grpSp>
            <p:nvGrpSpPr>
              <p:cNvPr id="26660" name="Group 27"/>
              <p:cNvGrpSpPr>
                <a:grpSpLocks/>
              </p:cNvGrpSpPr>
              <p:nvPr/>
            </p:nvGrpSpPr>
            <p:grpSpPr bwMode="auto">
              <a:xfrm>
                <a:off x="1043608" y="4939710"/>
                <a:ext cx="940394" cy="382588"/>
                <a:chOff x="8024094" y="5710708"/>
                <a:chExt cx="940394" cy="382588"/>
              </a:xfrm>
            </p:grpSpPr>
            <p:grpSp>
              <p:nvGrpSpPr>
                <p:cNvPr id="26671" name="Group 46"/>
                <p:cNvGrpSpPr>
                  <a:grpSpLocks/>
                </p:cNvGrpSpPr>
                <p:nvPr/>
              </p:nvGrpSpPr>
              <p:grpSpPr bwMode="auto">
                <a:xfrm>
                  <a:off x="8715250" y="5710708"/>
                  <a:ext cx="249238" cy="382588"/>
                  <a:chOff x="3806806" y="3161928"/>
                  <a:chExt cx="248786" cy="382470"/>
                </a:xfrm>
              </p:grpSpPr>
              <p:sp>
                <p:nvSpPr>
                  <p:cNvPr id="26676"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i</a:t>
                    </a:r>
                    <a:endParaRPr lang="en-IN" altLang="en-US" b="1">
                      <a:solidFill>
                        <a:srgbClr val="00FF00"/>
                      </a:solidFill>
                    </a:endParaRPr>
                  </a:p>
                </p:txBody>
              </p:sp>
              <p:sp>
                <p:nvSpPr>
                  <p:cNvPr id="26677"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72" name="Rectangle 39"/>
                <p:cNvSpPr>
                  <a:spLocks noChangeArrowheads="1"/>
                </p:cNvSpPr>
                <p:nvPr/>
              </p:nvSpPr>
              <p:spPr bwMode="auto">
                <a:xfrm>
                  <a:off x="8313570" y="5717519"/>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x</a:t>
                  </a:r>
                  <a:endParaRPr lang="en-IN" altLang="en-US" baseline="-25000">
                    <a:solidFill>
                      <a:srgbClr val="00FF00"/>
                    </a:solidFill>
                    <a:ea typeface="Times New Roman" panose="02020603050405020304" pitchFamily="18" charset="0"/>
                    <a:cs typeface="Bookman-Demi"/>
                  </a:endParaRPr>
                </a:p>
              </p:txBody>
            </p:sp>
            <p:grpSp>
              <p:nvGrpSpPr>
                <p:cNvPr id="26673" name="Group 40"/>
                <p:cNvGrpSpPr>
                  <a:grpSpLocks/>
                </p:cNvGrpSpPr>
                <p:nvPr/>
              </p:nvGrpSpPr>
              <p:grpSpPr bwMode="auto">
                <a:xfrm>
                  <a:off x="8024094" y="5718207"/>
                  <a:ext cx="325730" cy="369332"/>
                  <a:chOff x="7884368" y="5718207"/>
                  <a:chExt cx="325730" cy="369332"/>
                </a:xfrm>
              </p:grpSpPr>
              <p:sp>
                <p:nvSpPr>
                  <p:cNvPr id="26674" name="Rectangle 41"/>
                  <p:cNvSpPr>
                    <a:spLocks noChangeArrowheads="1"/>
                  </p:cNvSpPr>
                  <p:nvPr/>
                </p:nvSpPr>
                <p:spPr bwMode="auto">
                  <a:xfrm>
                    <a:off x="7884368" y="5718207"/>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Demi"/>
                      </a:rPr>
                      <a:t>b</a:t>
                    </a:r>
                    <a:endParaRPr lang="en-IN" altLang="en-US">
                      <a:solidFill>
                        <a:srgbClr val="00FF00"/>
                      </a:solidFill>
                      <a:ea typeface="Times New Roman" panose="02020603050405020304" pitchFamily="18" charset="0"/>
                      <a:cs typeface="Bookman-Demi"/>
                    </a:endParaRPr>
                  </a:p>
                </p:txBody>
              </p:sp>
              <p:cxnSp>
                <p:nvCxnSpPr>
                  <p:cNvPr id="208" name="Straight Arrow Connector 207"/>
                  <p:cNvCxnSpPr/>
                  <p:nvPr/>
                </p:nvCxnSpPr>
                <p:spPr bwMode="auto">
                  <a:xfrm>
                    <a:off x="7990834" y="5759889"/>
                    <a:ext cx="17142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6661" name="Group 28"/>
              <p:cNvGrpSpPr>
                <a:grpSpLocks/>
              </p:cNvGrpSpPr>
              <p:nvPr/>
            </p:nvGrpSpPr>
            <p:grpSpPr bwMode="auto">
              <a:xfrm>
                <a:off x="1907704" y="4939710"/>
                <a:ext cx="677812" cy="382588"/>
                <a:chOff x="3246116" y="4005064"/>
                <a:chExt cx="677812" cy="382588"/>
              </a:xfrm>
            </p:grpSpPr>
            <p:grpSp>
              <p:nvGrpSpPr>
                <p:cNvPr id="26667" name="Group 46"/>
                <p:cNvGrpSpPr>
                  <a:grpSpLocks/>
                </p:cNvGrpSpPr>
                <p:nvPr/>
              </p:nvGrpSpPr>
              <p:grpSpPr bwMode="auto">
                <a:xfrm>
                  <a:off x="3674690" y="4005064"/>
                  <a:ext cx="249238" cy="382588"/>
                  <a:chOff x="3806806" y="3161928"/>
                  <a:chExt cx="248786" cy="382470"/>
                </a:xfrm>
              </p:grpSpPr>
              <p:sp>
                <p:nvSpPr>
                  <p:cNvPr id="26669"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j</a:t>
                    </a:r>
                    <a:endParaRPr lang="en-IN" altLang="en-US" b="1">
                      <a:solidFill>
                        <a:srgbClr val="00FF00"/>
                      </a:solidFill>
                    </a:endParaRPr>
                  </a:p>
                </p:txBody>
              </p:sp>
              <p:sp>
                <p:nvSpPr>
                  <p:cNvPr id="26670"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68" name="Rectangle 35"/>
                <p:cNvSpPr>
                  <a:spLocks noChangeArrowheads="1"/>
                </p:cNvSpPr>
                <p:nvPr/>
              </p:nvSpPr>
              <p:spPr bwMode="auto">
                <a:xfrm>
                  <a:off x="3246116" y="4011875"/>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y</a:t>
                  </a:r>
                  <a:endParaRPr lang="en-IN" altLang="en-US" baseline="-25000">
                    <a:solidFill>
                      <a:srgbClr val="00FF00"/>
                    </a:solidFill>
                    <a:ea typeface="Times New Roman" panose="02020603050405020304" pitchFamily="18" charset="0"/>
                    <a:cs typeface="Bookman-Demi"/>
                  </a:endParaRPr>
                </a:p>
              </p:txBody>
            </p:sp>
          </p:grpSp>
          <p:grpSp>
            <p:nvGrpSpPr>
              <p:cNvPr id="26662" name="Group 29"/>
              <p:cNvGrpSpPr>
                <a:grpSpLocks/>
              </p:cNvGrpSpPr>
              <p:nvPr/>
            </p:nvGrpSpPr>
            <p:grpSpPr bwMode="auto">
              <a:xfrm>
                <a:off x="2526036" y="4941168"/>
                <a:ext cx="741474" cy="382474"/>
                <a:chOff x="2526036" y="4941168"/>
                <a:chExt cx="741474" cy="382474"/>
              </a:xfrm>
            </p:grpSpPr>
            <p:grpSp>
              <p:nvGrpSpPr>
                <p:cNvPr id="26663" name="Group 30"/>
                <p:cNvGrpSpPr>
                  <a:grpSpLocks/>
                </p:cNvGrpSpPr>
                <p:nvPr/>
              </p:nvGrpSpPr>
              <p:grpSpPr bwMode="auto">
                <a:xfrm>
                  <a:off x="2954604" y="4941168"/>
                  <a:ext cx="312906" cy="382474"/>
                  <a:chOff x="2954604" y="4941168"/>
                  <a:chExt cx="312906" cy="382474"/>
                </a:xfrm>
              </p:grpSpPr>
              <p:sp>
                <p:nvSpPr>
                  <p:cNvPr id="26665" name="Rectangle 47"/>
                  <p:cNvSpPr>
                    <a:spLocks noChangeArrowheads="1"/>
                  </p:cNvSpPr>
                  <p:nvPr/>
                </p:nvSpPr>
                <p:spPr bwMode="auto">
                  <a:xfrm>
                    <a:off x="2954604" y="495431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k</a:t>
                    </a:r>
                    <a:endParaRPr lang="en-IN" altLang="en-US" b="1">
                      <a:solidFill>
                        <a:srgbClr val="00FF00"/>
                      </a:solidFill>
                    </a:endParaRPr>
                  </a:p>
                </p:txBody>
              </p:sp>
              <p:sp>
                <p:nvSpPr>
                  <p:cNvPr id="26666" name="Line 37"/>
                  <p:cNvSpPr>
                    <a:spLocks noChangeShapeType="1"/>
                  </p:cNvSpPr>
                  <p:nvPr/>
                </p:nvSpPr>
                <p:spPr bwMode="auto">
                  <a:xfrm rot="5400000" flipH="1" flipV="1">
                    <a:off x="3074664" y="4957925"/>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6664" name="Rectangle 31"/>
                <p:cNvSpPr>
                  <a:spLocks noChangeArrowheads="1"/>
                </p:cNvSpPr>
                <p:nvPr/>
              </p:nvSpPr>
              <p:spPr bwMode="auto">
                <a:xfrm>
                  <a:off x="2526036" y="4947979"/>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z</a:t>
                  </a:r>
                  <a:endParaRPr lang="en-IN" altLang="en-US" baseline="-25000">
                    <a:solidFill>
                      <a:srgbClr val="00FF00"/>
                    </a:solidFill>
                    <a:ea typeface="Times New Roman" panose="02020603050405020304" pitchFamily="18" charset="0"/>
                    <a:cs typeface="Bookman-Demi"/>
                  </a:endParaRPr>
                </a:p>
              </p:txBody>
            </p:sp>
          </p:grpSp>
        </p:grpSp>
      </p:grpSp>
      <p:grpSp>
        <p:nvGrpSpPr>
          <p:cNvPr id="9" name="Group 8"/>
          <p:cNvGrpSpPr>
            <a:grpSpLocks/>
          </p:cNvGrpSpPr>
          <p:nvPr/>
        </p:nvGrpSpPr>
        <p:grpSpPr bwMode="auto">
          <a:xfrm>
            <a:off x="2176463" y="5329239"/>
            <a:ext cx="3852862" cy="377825"/>
            <a:chOff x="651833" y="5733256"/>
            <a:chExt cx="3853035" cy="376321"/>
          </a:xfrm>
        </p:grpSpPr>
        <p:sp>
          <p:nvSpPr>
            <p:cNvPr id="26652" name="Rectangle 7"/>
            <p:cNvSpPr>
              <a:spLocks noChangeArrowheads="1"/>
            </p:cNvSpPr>
            <p:nvPr/>
          </p:nvSpPr>
          <p:spPr bwMode="auto">
            <a:xfrm>
              <a:off x="651833" y="5733256"/>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Light"/>
                </a:rPr>
                <a:t>then</a:t>
              </a:r>
              <a:endParaRPr lang="en-IN" altLang="en-US">
                <a:solidFill>
                  <a:srgbClr val="000000"/>
                </a:solidFill>
                <a:ea typeface="Times New Roman" panose="02020603050405020304" pitchFamily="18" charset="0"/>
                <a:cs typeface="Bookman-Light"/>
              </a:endParaRPr>
            </a:p>
          </p:txBody>
        </p:sp>
        <p:grpSp>
          <p:nvGrpSpPr>
            <p:cNvPr id="26653" name="Group 63"/>
            <p:cNvGrpSpPr>
              <a:grpSpLocks/>
            </p:cNvGrpSpPr>
            <p:nvPr/>
          </p:nvGrpSpPr>
          <p:grpSpPr bwMode="auto">
            <a:xfrm>
              <a:off x="1421973" y="5740245"/>
              <a:ext cx="3082895" cy="369332"/>
              <a:chOff x="4654450" y="5795416"/>
              <a:chExt cx="3083132" cy="369146"/>
            </a:xfrm>
          </p:grpSpPr>
          <p:sp>
            <p:nvSpPr>
              <p:cNvPr id="26654" name="Rectangle 7"/>
              <p:cNvSpPr>
                <a:spLocks noChangeArrowheads="1"/>
              </p:cNvSpPr>
              <p:nvPr/>
            </p:nvSpPr>
            <p:spPr bwMode="auto">
              <a:xfrm>
                <a:off x="4654450" y="5795416"/>
                <a:ext cx="3083132" cy="36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 b = (</a:t>
                </a:r>
                <a:r>
                  <a:rPr lang="en-US" altLang="en-US">
                    <a:solidFill>
                      <a:srgbClr val="FF7C80"/>
                    </a:solidFill>
                  </a:rPr>
                  <a:t>a</a:t>
                </a:r>
                <a:r>
                  <a:rPr lang="en-US" altLang="en-US" baseline="-25000">
                    <a:solidFill>
                      <a:srgbClr val="FF7C80"/>
                    </a:solidFill>
                  </a:rPr>
                  <a:t>x</a:t>
                </a:r>
                <a:r>
                  <a:rPr lang="en-US" altLang="en-US">
                    <a:solidFill>
                      <a:srgbClr val="FF7C80"/>
                    </a:solidFill>
                  </a:rPr>
                  <a:t> b</a:t>
                </a:r>
                <a:r>
                  <a:rPr lang="en-US" altLang="en-US" baseline="-25000">
                    <a:solidFill>
                      <a:srgbClr val="FF7C80"/>
                    </a:solidFill>
                  </a:rPr>
                  <a:t>x</a:t>
                </a:r>
                <a:r>
                  <a:rPr lang="en-US" altLang="en-US">
                    <a:solidFill>
                      <a:srgbClr val="FF7C80"/>
                    </a:solidFill>
                  </a:rPr>
                  <a:t> + a</a:t>
                </a:r>
                <a:r>
                  <a:rPr lang="en-US" altLang="en-US" baseline="-25000">
                    <a:solidFill>
                      <a:srgbClr val="FF7C80"/>
                    </a:solidFill>
                  </a:rPr>
                  <a:t>y</a:t>
                </a:r>
                <a:r>
                  <a:rPr lang="en-US" altLang="en-US">
                    <a:solidFill>
                      <a:srgbClr val="FF7C80"/>
                    </a:solidFill>
                  </a:rPr>
                  <a:t> b</a:t>
                </a:r>
                <a:r>
                  <a:rPr lang="en-US" altLang="en-US" baseline="-25000">
                    <a:solidFill>
                      <a:srgbClr val="FF7C80"/>
                    </a:solidFill>
                  </a:rPr>
                  <a:t>y</a:t>
                </a:r>
                <a:r>
                  <a:rPr lang="en-US" altLang="en-US">
                    <a:solidFill>
                      <a:srgbClr val="FF7C80"/>
                    </a:solidFill>
                  </a:rPr>
                  <a:t> + a</a:t>
                </a:r>
                <a:r>
                  <a:rPr lang="en-US" altLang="en-US" baseline="-25000">
                    <a:solidFill>
                      <a:srgbClr val="FF7C80"/>
                    </a:solidFill>
                  </a:rPr>
                  <a:t>z</a:t>
                </a:r>
                <a:r>
                  <a:rPr lang="en-US" altLang="en-US">
                    <a:solidFill>
                      <a:srgbClr val="FF7C80"/>
                    </a:solidFill>
                  </a:rPr>
                  <a:t> b</a:t>
                </a:r>
                <a:r>
                  <a:rPr lang="en-US" altLang="en-US" baseline="-25000">
                    <a:solidFill>
                      <a:srgbClr val="FF7C80"/>
                    </a:solidFill>
                  </a:rPr>
                  <a:t>z</a:t>
                </a:r>
                <a:r>
                  <a:rPr lang="en-US" altLang="en-US" b="1">
                    <a:solidFill>
                      <a:srgbClr val="FF7C80"/>
                    </a:solidFill>
                  </a:rPr>
                  <a:t>)</a:t>
                </a:r>
                <a:endParaRPr lang="en-IN" altLang="en-US" b="1">
                  <a:solidFill>
                    <a:srgbClr val="FF7C80"/>
                  </a:solidFill>
                </a:endParaRPr>
              </a:p>
            </p:txBody>
          </p:sp>
          <p:cxnSp>
            <p:nvCxnSpPr>
              <p:cNvPr id="221" name="Straight Arrow Connector 220"/>
              <p:cNvCxnSpPr/>
              <p:nvPr/>
            </p:nvCxnSpPr>
            <p:spPr bwMode="auto">
              <a:xfrm>
                <a:off x="4740017" y="5876932"/>
                <a:ext cx="17147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bwMode="auto">
              <a:xfrm>
                <a:off x="5071846" y="5862708"/>
                <a:ext cx="17147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26637" name="TextBox 177"/>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26638" name="TextBox 178"/>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6639" name="TextBox 179"/>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grpSp>
        <p:nvGrpSpPr>
          <p:cNvPr id="26640" name="Group 63"/>
          <p:cNvGrpSpPr>
            <a:grpSpLocks/>
          </p:cNvGrpSpPr>
          <p:nvPr/>
        </p:nvGrpSpPr>
        <p:grpSpPr bwMode="auto">
          <a:xfrm>
            <a:off x="2959101" y="5751514"/>
            <a:ext cx="3082925" cy="369887"/>
            <a:chOff x="4654450" y="5795416"/>
            <a:chExt cx="3083132" cy="369146"/>
          </a:xfrm>
        </p:grpSpPr>
        <p:sp>
          <p:nvSpPr>
            <p:cNvPr id="26649" name="Rectangle 7"/>
            <p:cNvSpPr>
              <a:spLocks noChangeArrowheads="1"/>
            </p:cNvSpPr>
            <p:nvPr/>
          </p:nvSpPr>
          <p:spPr bwMode="auto">
            <a:xfrm>
              <a:off x="4654450" y="5795416"/>
              <a:ext cx="3083132" cy="36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 . a = (</a:t>
              </a:r>
              <a:r>
                <a:rPr lang="en-US" altLang="en-US">
                  <a:solidFill>
                    <a:srgbClr val="FFC000"/>
                  </a:solidFill>
                </a:rPr>
                <a:t>a</a:t>
              </a:r>
              <a:r>
                <a:rPr lang="en-US" altLang="en-US" baseline="-25000">
                  <a:solidFill>
                    <a:srgbClr val="FFC000"/>
                  </a:solidFill>
                </a:rPr>
                <a:t>x</a:t>
              </a:r>
              <a:r>
                <a:rPr lang="en-US" altLang="en-US">
                  <a:solidFill>
                    <a:srgbClr val="FFC000"/>
                  </a:solidFill>
                </a:rPr>
                <a:t> a</a:t>
              </a:r>
              <a:r>
                <a:rPr lang="en-US" altLang="en-US" baseline="-25000">
                  <a:solidFill>
                    <a:srgbClr val="FFC000"/>
                  </a:solidFill>
                </a:rPr>
                <a:t>x</a:t>
              </a:r>
              <a:r>
                <a:rPr lang="en-US" altLang="en-US">
                  <a:solidFill>
                    <a:srgbClr val="FFC000"/>
                  </a:solidFill>
                </a:rPr>
                <a:t> + a</a:t>
              </a:r>
              <a:r>
                <a:rPr lang="en-US" altLang="en-US" baseline="-25000">
                  <a:solidFill>
                    <a:srgbClr val="FFC000"/>
                  </a:solidFill>
                </a:rPr>
                <a:t>y</a:t>
              </a:r>
              <a:r>
                <a:rPr lang="en-US" altLang="en-US">
                  <a:solidFill>
                    <a:srgbClr val="FFC000"/>
                  </a:solidFill>
                </a:rPr>
                <a:t> a</a:t>
              </a:r>
              <a:r>
                <a:rPr lang="en-US" altLang="en-US" baseline="-25000">
                  <a:solidFill>
                    <a:srgbClr val="FFC000"/>
                  </a:solidFill>
                </a:rPr>
                <a:t>y</a:t>
              </a:r>
              <a:r>
                <a:rPr lang="en-US" altLang="en-US">
                  <a:solidFill>
                    <a:srgbClr val="FFC000"/>
                  </a:solidFill>
                </a:rPr>
                <a:t> + a</a:t>
              </a:r>
              <a:r>
                <a:rPr lang="en-US" altLang="en-US" baseline="-25000">
                  <a:solidFill>
                    <a:srgbClr val="FFC000"/>
                  </a:solidFill>
                </a:rPr>
                <a:t>z</a:t>
              </a:r>
              <a:r>
                <a:rPr lang="en-US" altLang="en-US">
                  <a:solidFill>
                    <a:srgbClr val="FFC000"/>
                  </a:solidFill>
                </a:rPr>
                <a:t> a</a:t>
              </a:r>
              <a:r>
                <a:rPr lang="en-US" altLang="en-US" baseline="-25000">
                  <a:solidFill>
                    <a:srgbClr val="FFC000"/>
                  </a:solidFill>
                </a:rPr>
                <a:t>z</a:t>
              </a:r>
              <a:r>
                <a:rPr lang="en-US" altLang="en-US" b="1">
                  <a:solidFill>
                    <a:srgbClr val="FFC000"/>
                  </a:solidFill>
                </a:rPr>
                <a:t>)</a:t>
              </a:r>
              <a:endParaRPr lang="en-IN" altLang="en-US" b="1">
                <a:solidFill>
                  <a:srgbClr val="FFC000"/>
                </a:solidFill>
              </a:endParaRPr>
            </a:p>
          </p:txBody>
        </p:sp>
        <p:cxnSp>
          <p:nvCxnSpPr>
            <p:cNvPr id="182" name="Straight Arrow Connector 181"/>
            <p:cNvCxnSpPr/>
            <p:nvPr/>
          </p:nvCxnSpPr>
          <p:spPr bwMode="auto">
            <a:xfrm>
              <a:off x="4740181" y="5876216"/>
              <a:ext cx="17146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p:nvPr/>
          </p:nvCxnSpPr>
          <p:spPr bwMode="auto">
            <a:xfrm>
              <a:off x="5071991" y="5876216"/>
              <a:ext cx="17146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641" name="Rectangle 7"/>
          <p:cNvSpPr>
            <a:spLocks noChangeArrowheads="1"/>
          </p:cNvSpPr>
          <p:nvPr/>
        </p:nvSpPr>
        <p:spPr bwMode="auto">
          <a:xfrm>
            <a:off x="6545264" y="5775325"/>
            <a:ext cx="22875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C000"/>
                </a:solidFill>
              </a:rPr>
              <a:t>a</a:t>
            </a:r>
            <a:r>
              <a:rPr lang="en-US" altLang="en-US" baseline="30000">
                <a:solidFill>
                  <a:srgbClr val="FFC000"/>
                </a:solidFill>
              </a:rPr>
              <a:t>2</a:t>
            </a:r>
            <a:r>
              <a:rPr lang="en-US" altLang="en-US">
                <a:solidFill>
                  <a:srgbClr val="FFC000"/>
                </a:solidFill>
              </a:rPr>
              <a:t> = (a</a:t>
            </a:r>
            <a:r>
              <a:rPr lang="en-US" altLang="en-US" baseline="-25000">
                <a:solidFill>
                  <a:srgbClr val="FFC000"/>
                </a:solidFill>
              </a:rPr>
              <a:t>x</a:t>
            </a:r>
            <a:r>
              <a:rPr lang="en-US" altLang="en-US" baseline="30000">
                <a:solidFill>
                  <a:srgbClr val="FFC000"/>
                </a:solidFill>
              </a:rPr>
              <a:t>2</a:t>
            </a:r>
            <a:r>
              <a:rPr lang="en-US" altLang="en-US">
                <a:solidFill>
                  <a:srgbClr val="FFC000"/>
                </a:solidFill>
              </a:rPr>
              <a:t> + a</a:t>
            </a:r>
            <a:r>
              <a:rPr lang="en-US" altLang="en-US" baseline="-25000">
                <a:solidFill>
                  <a:srgbClr val="FFC000"/>
                </a:solidFill>
              </a:rPr>
              <a:t>y</a:t>
            </a:r>
            <a:r>
              <a:rPr lang="en-US" altLang="en-US" baseline="30000">
                <a:solidFill>
                  <a:srgbClr val="FFC000"/>
                </a:solidFill>
              </a:rPr>
              <a:t>2</a:t>
            </a:r>
            <a:r>
              <a:rPr lang="en-US" altLang="en-US">
                <a:solidFill>
                  <a:srgbClr val="FFC000"/>
                </a:solidFill>
              </a:rPr>
              <a:t> + a</a:t>
            </a:r>
            <a:r>
              <a:rPr lang="en-US" altLang="en-US" baseline="-25000">
                <a:solidFill>
                  <a:srgbClr val="FFC000"/>
                </a:solidFill>
              </a:rPr>
              <a:t>z</a:t>
            </a:r>
            <a:r>
              <a:rPr lang="en-US" altLang="en-US" baseline="30000">
                <a:solidFill>
                  <a:srgbClr val="FFC000"/>
                </a:solidFill>
              </a:rPr>
              <a:t>2</a:t>
            </a:r>
            <a:r>
              <a:rPr lang="en-US" altLang="en-US">
                <a:solidFill>
                  <a:srgbClr val="FFC000"/>
                </a:solidFill>
              </a:rPr>
              <a:t>)</a:t>
            </a:r>
            <a:endParaRPr lang="en-IN" altLang="en-US">
              <a:solidFill>
                <a:srgbClr val="FFC000"/>
              </a:solidFill>
            </a:endParaRPr>
          </a:p>
        </p:txBody>
      </p:sp>
      <p:sp>
        <p:nvSpPr>
          <p:cNvPr id="2" name="Right Arrow 1"/>
          <p:cNvSpPr/>
          <p:nvPr/>
        </p:nvSpPr>
        <p:spPr>
          <a:xfrm>
            <a:off x="6019801" y="5911851"/>
            <a:ext cx="436563" cy="142875"/>
          </a:xfrm>
          <a:prstGeom prst="rightArrow">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C000"/>
              </a:solidFill>
              <a:latin typeface="Arial"/>
            </a:endParaRPr>
          </a:p>
        </p:txBody>
      </p:sp>
      <p:grpSp>
        <p:nvGrpSpPr>
          <p:cNvPr id="26643" name="Group 63"/>
          <p:cNvGrpSpPr>
            <a:grpSpLocks/>
          </p:cNvGrpSpPr>
          <p:nvPr/>
        </p:nvGrpSpPr>
        <p:grpSpPr bwMode="auto">
          <a:xfrm>
            <a:off x="2968625" y="6159501"/>
            <a:ext cx="3081338" cy="371475"/>
            <a:chOff x="4654450" y="5795416"/>
            <a:chExt cx="3083132" cy="369146"/>
          </a:xfrm>
        </p:grpSpPr>
        <p:sp>
          <p:nvSpPr>
            <p:cNvPr id="26646" name="Rectangle 7"/>
            <p:cNvSpPr>
              <a:spLocks noChangeArrowheads="1"/>
            </p:cNvSpPr>
            <p:nvPr/>
          </p:nvSpPr>
          <p:spPr bwMode="auto">
            <a:xfrm>
              <a:off x="4654450" y="5795416"/>
              <a:ext cx="3083132" cy="36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rPr>
                <a:t>b . b = (</a:t>
              </a:r>
              <a:r>
                <a:rPr lang="en-US" altLang="en-US">
                  <a:solidFill>
                    <a:srgbClr val="FF00FF"/>
                  </a:solidFill>
                </a:rPr>
                <a:t>b</a:t>
              </a:r>
              <a:r>
                <a:rPr lang="en-US" altLang="en-US" baseline="-25000">
                  <a:solidFill>
                    <a:srgbClr val="FF00FF"/>
                  </a:solidFill>
                </a:rPr>
                <a:t>x</a:t>
              </a:r>
              <a:r>
                <a:rPr lang="en-US" altLang="en-US">
                  <a:solidFill>
                    <a:srgbClr val="FF00FF"/>
                  </a:solidFill>
                </a:rPr>
                <a:t> b</a:t>
              </a:r>
              <a:r>
                <a:rPr lang="en-US" altLang="en-US" baseline="-25000">
                  <a:solidFill>
                    <a:srgbClr val="FF00FF"/>
                  </a:solidFill>
                </a:rPr>
                <a:t>x</a:t>
              </a:r>
              <a:r>
                <a:rPr lang="en-US" altLang="en-US">
                  <a:solidFill>
                    <a:srgbClr val="FF00FF"/>
                  </a:solidFill>
                </a:rPr>
                <a:t> + b</a:t>
              </a:r>
              <a:r>
                <a:rPr lang="en-US" altLang="en-US" baseline="-25000">
                  <a:solidFill>
                    <a:srgbClr val="FF00FF"/>
                  </a:solidFill>
                </a:rPr>
                <a:t>y</a:t>
              </a:r>
              <a:r>
                <a:rPr lang="en-US" altLang="en-US">
                  <a:solidFill>
                    <a:srgbClr val="FF00FF"/>
                  </a:solidFill>
                </a:rPr>
                <a:t> b</a:t>
              </a:r>
              <a:r>
                <a:rPr lang="en-US" altLang="en-US" baseline="-25000">
                  <a:solidFill>
                    <a:srgbClr val="FF00FF"/>
                  </a:solidFill>
                </a:rPr>
                <a:t>y</a:t>
              </a:r>
              <a:r>
                <a:rPr lang="en-US" altLang="en-US">
                  <a:solidFill>
                    <a:srgbClr val="FF00FF"/>
                  </a:solidFill>
                </a:rPr>
                <a:t> + b</a:t>
              </a:r>
              <a:r>
                <a:rPr lang="en-US" altLang="en-US" baseline="-25000">
                  <a:solidFill>
                    <a:srgbClr val="FF00FF"/>
                  </a:solidFill>
                </a:rPr>
                <a:t>z</a:t>
              </a:r>
              <a:r>
                <a:rPr lang="en-US" altLang="en-US">
                  <a:solidFill>
                    <a:srgbClr val="FF00FF"/>
                  </a:solidFill>
                </a:rPr>
                <a:t> b</a:t>
              </a:r>
              <a:r>
                <a:rPr lang="en-US" altLang="en-US" baseline="-25000">
                  <a:solidFill>
                    <a:srgbClr val="FF00FF"/>
                  </a:solidFill>
                </a:rPr>
                <a:t>z</a:t>
              </a:r>
              <a:r>
                <a:rPr lang="en-US" altLang="en-US" b="1">
                  <a:solidFill>
                    <a:srgbClr val="FF00FF"/>
                  </a:solidFill>
                </a:rPr>
                <a:t>)</a:t>
              </a:r>
              <a:endParaRPr lang="en-IN" altLang="en-US" b="1">
                <a:solidFill>
                  <a:srgbClr val="FF00FF"/>
                </a:solidFill>
              </a:endParaRPr>
            </a:p>
          </p:txBody>
        </p:sp>
        <p:cxnSp>
          <p:nvCxnSpPr>
            <p:cNvPr id="192" name="Straight Arrow Connector 191"/>
            <p:cNvCxnSpPr/>
            <p:nvPr/>
          </p:nvCxnSpPr>
          <p:spPr bwMode="auto">
            <a:xfrm>
              <a:off x="4740225" y="5877448"/>
              <a:ext cx="1715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p:nvPr/>
          </p:nvCxnSpPr>
          <p:spPr bwMode="auto">
            <a:xfrm>
              <a:off x="5072206" y="5877448"/>
              <a:ext cx="1715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644" name="Rectangle 7"/>
          <p:cNvSpPr>
            <a:spLocks noChangeArrowheads="1"/>
          </p:cNvSpPr>
          <p:nvPr/>
        </p:nvSpPr>
        <p:spPr bwMode="auto">
          <a:xfrm>
            <a:off x="6553200" y="6184900"/>
            <a:ext cx="22875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00FF"/>
                </a:solidFill>
              </a:rPr>
              <a:t>b</a:t>
            </a:r>
            <a:r>
              <a:rPr lang="en-US" altLang="en-US" baseline="30000">
                <a:solidFill>
                  <a:srgbClr val="FF00FF"/>
                </a:solidFill>
              </a:rPr>
              <a:t>2</a:t>
            </a:r>
            <a:r>
              <a:rPr lang="en-US" altLang="en-US">
                <a:solidFill>
                  <a:srgbClr val="FF00FF"/>
                </a:solidFill>
              </a:rPr>
              <a:t> = (b</a:t>
            </a:r>
            <a:r>
              <a:rPr lang="en-US" altLang="en-US" baseline="-25000">
                <a:solidFill>
                  <a:srgbClr val="FF00FF"/>
                </a:solidFill>
              </a:rPr>
              <a:t>x</a:t>
            </a:r>
            <a:r>
              <a:rPr lang="en-US" altLang="en-US" baseline="30000">
                <a:solidFill>
                  <a:srgbClr val="FF00FF"/>
                </a:solidFill>
              </a:rPr>
              <a:t>2</a:t>
            </a:r>
            <a:r>
              <a:rPr lang="en-US" altLang="en-US">
                <a:solidFill>
                  <a:srgbClr val="FF00FF"/>
                </a:solidFill>
              </a:rPr>
              <a:t> + b</a:t>
            </a:r>
            <a:r>
              <a:rPr lang="en-US" altLang="en-US" baseline="-25000">
                <a:solidFill>
                  <a:srgbClr val="FF00FF"/>
                </a:solidFill>
              </a:rPr>
              <a:t>y</a:t>
            </a:r>
            <a:r>
              <a:rPr lang="en-US" altLang="en-US" baseline="30000">
                <a:solidFill>
                  <a:srgbClr val="FF00FF"/>
                </a:solidFill>
              </a:rPr>
              <a:t>2</a:t>
            </a:r>
            <a:r>
              <a:rPr lang="en-US" altLang="en-US">
                <a:solidFill>
                  <a:srgbClr val="FF00FF"/>
                </a:solidFill>
              </a:rPr>
              <a:t> + b</a:t>
            </a:r>
            <a:r>
              <a:rPr lang="en-US" altLang="en-US" baseline="-25000">
                <a:solidFill>
                  <a:srgbClr val="FF00FF"/>
                </a:solidFill>
              </a:rPr>
              <a:t>z</a:t>
            </a:r>
            <a:r>
              <a:rPr lang="en-US" altLang="en-US" baseline="30000">
                <a:solidFill>
                  <a:srgbClr val="FF00FF"/>
                </a:solidFill>
              </a:rPr>
              <a:t>2</a:t>
            </a:r>
            <a:r>
              <a:rPr lang="en-US" altLang="en-US">
                <a:solidFill>
                  <a:srgbClr val="FF00FF"/>
                </a:solidFill>
              </a:rPr>
              <a:t>)</a:t>
            </a:r>
            <a:endParaRPr lang="en-IN" altLang="en-US">
              <a:solidFill>
                <a:srgbClr val="FF00FF"/>
              </a:solidFill>
            </a:endParaRPr>
          </a:p>
        </p:txBody>
      </p:sp>
      <p:sp>
        <p:nvSpPr>
          <p:cNvPr id="195" name="Right Arrow 194"/>
          <p:cNvSpPr/>
          <p:nvPr/>
        </p:nvSpPr>
        <p:spPr>
          <a:xfrm>
            <a:off x="6027738" y="6321426"/>
            <a:ext cx="436562" cy="142875"/>
          </a:xfrm>
          <a:prstGeom prst="rightArrow">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FF00FF"/>
              </a:solidFill>
              <a:latin typeface="Arial"/>
            </a:endParaRPr>
          </a:p>
        </p:txBody>
      </p:sp>
    </p:spTree>
    <p:extLst>
      <p:ext uri="{BB962C8B-B14F-4D97-AF65-F5344CB8AC3E}">
        <p14:creationId xmlns:p14="http://schemas.microsoft.com/office/powerpoint/2010/main" val="32284661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anim calcmode="lin" valueType="num">
                                      <p:cBhvr>
                                        <p:cTn id="8" dur="1000" fill="hold"/>
                                        <p:tgtEl>
                                          <p:spTgt spid="87"/>
                                        </p:tgtEl>
                                        <p:attrNameLst>
                                          <p:attrName>ppt_x</p:attrName>
                                        </p:attrNameLst>
                                      </p:cBhvr>
                                      <p:tavLst>
                                        <p:tav tm="0">
                                          <p:val>
                                            <p:strVal val="#ppt_x"/>
                                          </p:val>
                                        </p:tav>
                                        <p:tav tm="100000">
                                          <p:val>
                                            <p:strVal val="#ppt_x"/>
                                          </p:val>
                                        </p:tav>
                                      </p:tavLst>
                                    </p:anim>
                                    <p:anim calcmode="lin" valueType="num">
                                      <p:cBhvr>
                                        <p:cTn id="9"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26627">
                                            <p:txEl>
                                              <p:pRg st="0" end="0"/>
                                            </p:txEl>
                                          </p:spTgt>
                                        </p:tgtEl>
                                        <p:attrNameLst>
                                          <p:attrName>style.visibility</p:attrName>
                                        </p:attrNameLst>
                                      </p:cBhvr>
                                      <p:to>
                                        <p:strVal val="visible"/>
                                      </p:to>
                                    </p:set>
                                    <p:animEffect transition="in" filter="wipe(left)">
                                      <p:cBhvr>
                                        <p:cTn id="14" dur="500"/>
                                        <p:tgtEl>
                                          <p:spTgt spid="26627">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6627">
                                            <p:txEl>
                                              <p:pRg st="1" end="1"/>
                                            </p:txEl>
                                          </p:spTgt>
                                        </p:tgtEl>
                                        <p:attrNameLst>
                                          <p:attrName>style.visibility</p:attrName>
                                        </p:attrNameLst>
                                      </p:cBhvr>
                                      <p:to>
                                        <p:strVal val="visible"/>
                                      </p:to>
                                    </p:set>
                                    <p:animEffect transition="in" filter="wipe(left)">
                                      <p:cBhvr>
                                        <p:cTn id="19" dur="500"/>
                                        <p:tgtEl>
                                          <p:spTgt spid="26627">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26630"/>
                                        </p:tgtEl>
                                        <p:attrNameLst>
                                          <p:attrName>style.visibility</p:attrName>
                                        </p:attrNameLst>
                                      </p:cBhvr>
                                      <p:to>
                                        <p:strVal val="visible"/>
                                      </p:to>
                                    </p:set>
                                    <p:animEffect transition="in" filter="wipe(left)">
                                      <p:cBhvr>
                                        <p:cTn id="24" dur="500"/>
                                        <p:tgtEl>
                                          <p:spTgt spid="2663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2"/>
                                        </p:tgtEl>
                                        <p:attrNameLst>
                                          <p:attrName>style.visibility</p:attrName>
                                        </p:attrNameLst>
                                      </p:cBhvr>
                                      <p:to>
                                        <p:strVal val="visible"/>
                                      </p:to>
                                    </p:set>
                                    <p:animEffect transition="in" filter="wipe(left)">
                                      <p:cBhvr>
                                        <p:cTn id="29" dur="500"/>
                                        <p:tgtEl>
                                          <p:spTgt spid="1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6628"/>
                                        </p:tgtEl>
                                        <p:attrNameLst>
                                          <p:attrName>style.visibility</p:attrName>
                                        </p:attrNameLst>
                                      </p:cBhvr>
                                      <p:to>
                                        <p:strVal val="visible"/>
                                      </p:to>
                                    </p:set>
                                    <p:animEffect transition="in" filter="wipe(left)">
                                      <p:cBhvr>
                                        <p:cTn id="39" dur="500"/>
                                        <p:tgtEl>
                                          <p:spTgt spid="2662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6629"/>
                                        </p:tgtEl>
                                        <p:attrNameLst>
                                          <p:attrName>style.visibility</p:attrName>
                                        </p:attrNameLst>
                                      </p:cBhvr>
                                      <p:to>
                                        <p:strVal val="visible"/>
                                      </p:to>
                                    </p:set>
                                    <p:animEffect transition="in" filter="wipe(left)">
                                      <p:cBhvr>
                                        <p:cTn id="44" dur="500"/>
                                        <p:tgtEl>
                                          <p:spTgt spid="2662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6631"/>
                                        </p:tgtEl>
                                        <p:attrNameLst>
                                          <p:attrName>style.visibility</p:attrName>
                                        </p:attrNameLst>
                                      </p:cBhvr>
                                      <p:to>
                                        <p:strVal val="visible"/>
                                      </p:to>
                                    </p:set>
                                    <p:animEffect transition="in" filter="wipe(left)">
                                      <p:cBhvr>
                                        <p:cTn id="49" dur="500"/>
                                        <p:tgtEl>
                                          <p:spTgt spid="2663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6632"/>
                                        </p:tgtEl>
                                        <p:attrNameLst>
                                          <p:attrName>style.visibility</p:attrName>
                                        </p:attrNameLst>
                                      </p:cBhvr>
                                      <p:to>
                                        <p:strVal val="visible"/>
                                      </p:to>
                                    </p:set>
                                    <p:animEffect transition="in" filter="wipe(left)">
                                      <p:cBhvr>
                                        <p:cTn id="54" dur="500"/>
                                        <p:tgtEl>
                                          <p:spTgt spid="2663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11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4826" y="44450"/>
            <a:ext cx="4608513" cy="400050"/>
          </a:xfrm>
          <a:prstGeom prst="rect">
            <a:avLst/>
          </a:prstGeom>
        </p:spPr>
        <p:txBody>
          <a:bodyPr>
            <a:spAutoFit/>
          </a:bodyPr>
          <a:lstStyle/>
          <a:p>
            <a:pPr fontAlgn="base">
              <a:spcBef>
                <a:spcPct val="0"/>
              </a:spcBef>
              <a:spcAft>
                <a:spcPct val="0"/>
              </a:spcAft>
              <a:defRPr/>
            </a:pPr>
            <a:r>
              <a:rPr lang="en-US" sz="2000" b="1" dirty="0">
                <a:solidFill>
                  <a:srgbClr val="00CCFF"/>
                </a:solidFill>
                <a:latin typeface="Arial"/>
                <a:ea typeface="Times New Roman" pitchFamily="18" charset="0"/>
                <a:cs typeface="Bookman-Demi" charset="0"/>
              </a:rPr>
              <a:t>2.  Cross Product </a:t>
            </a:r>
            <a:r>
              <a:rPr lang="en-US" sz="2000" b="1" dirty="0">
                <a:solidFill>
                  <a:srgbClr val="FF0000"/>
                </a:solidFill>
                <a:latin typeface="Arial"/>
                <a:ea typeface="Times New Roman" pitchFamily="18" charset="0"/>
                <a:cs typeface="Bookman-Demi" charset="0"/>
              </a:rPr>
              <a:t>or </a:t>
            </a:r>
            <a:r>
              <a:rPr lang="en-US" sz="2000" b="1" dirty="0">
                <a:solidFill>
                  <a:srgbClr val="00CCFF"/>
                </a:solidFill>
                <a:latin typeface="Arial"/>
                <a:ea typeface="Times New Roman" pitchFamily="18" charset="0"/>
                <a:cs typeface="Bookman-Demi" charset="0"/>
              </a:rPr>
              <a:t>Vector Product</a:t>
            </a:r>
            <a:endParaRPr lang="en-IN" sz="2000" dirty="0">
              <a:solidFill>
                <a:srgbClr val="00CCFF"/>
              </a:solidFill>
              <a:latin typeface="Arial"/>
              <a:cs typeface="Arial" panose="020B0604020202020204" pitchFamily="34" charset="0"/>
            </a:endParaRPr>
          </a:p>
        </p:txBody>
      </p:sp>
      <p:sp>
        <p:nvSpPr>
          <p:cNvPr id="27651" name="Rectangle 2"/>
          <p:cNvSpPr>
            <a:spLocks noChangeArrowheads="1"/>
          </p:cNvSpPr>
          <p:nvPr/>
        </p:nvSpPr>
        <p:spPr bwMode="auto">
          <a:xfrm>
            <a:off x="1774825" y="439738"/>
            <a:ext cx="75501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In vector product, the symbol of multiplication between the vectors is represented by </a:t>
            </a:r>
            <a:r>
              <a:rPr lang="en-US" altLang="en-US" b="1">
                <a:solidFill>
                  <a:srgbClr val="FFFF00"/>
                </a:solidFill>
                <a:latin typeface="Verdana" panose="020B0604030504040204" pitchFamily="34" charset="0"/>
                <a:ea typeface="Times New Roman" panose="02020603050405020304" pitchFamily="18" charset="0"/>
                <a:cs typeface="Bookman-Light"/>
              </a:rPr>
              <a:t>‘</a:t>
            </a:r>
            <a:r>
              <a:rPr lang="en-US" altLang="en-US" b="1">
                <a:solidFill>
                  <a:srgbClr val="00FF00"/>
                </a:solidFill>
                <a:ea typeface="Times New Roman" panose="02020603050405020304" pitchFamily="18" charset="0"/>
                <a:cs typeface="Bookman-Light"/>
              </a:rPr>
              <a:t> x </a:t>
            </a:r>
            <a:r>
              <a:rPr lang="en-US" altLang="en-US" b="1">
                <a:solidFill>
                  <a:srgbClr val="FFFF00"/>
                </a:solidFill>
                <a:latin typeface="Verdana" panose="020B0604030504040204" pitchFamily="34" charset="0"/>
                <a:ea typeface="Times New Roman" panose="02020603050405020304" pitchFamily="18" charset="0"/>
                <a:cs typeface="Bookman-Light"/>
              </a:rPr>
              <a:t>‘</a:t>
            </a:r>
            <a:r>
              <a:rPr lang="en-US" altLang="en-US" b="1">
                <a:solidFill>
                  <a:srgbClr val="FF7C80"/>
                </a:solidFill>
                <a:ea typeface="Times New Roman" panose="02020603050405020304" pitchFamily="18" charset="0"/>
                <a:cs typeface="Bookman-Light"/>
              </a:rPr>
              <a:t>.  The result of the product is a </a:t>
            </a:r>
            <a:r>
              <a:rPr lang="en-US" altLang="en-US" b="1">
                <a:solidFill>
                  <a:srgbClr val="00FF00"/>
                </a:solidFill>
                <a:ea typeface="Times New Roman" panose="02020603050405020304" pitchFamily="18" charset="0"/>
                <a:cs typeface="Bookman-Light"/>
              </a:rPr>
              <a:t>vector</a:t>
            </a:r>
            <a:r>
              <a:rPr lang="en-US" altLang="en-US" b="1">
                <a:solidFill>
                  <a:srgbClr val="FF7C80"/>
                </a:solidFill>
                <a:ea typeface="Times New Roman" panose="02020603050405020304" pitchFamily="18" charset="0"/>
                <a:cs typeface="Bookman-Light"/>
              </a:rPr>
              <a:t>.</a:t>
            </a:r>
          </a:p>
          <a:p>
            <a:pPr eaLnBrk="1" fontAlgn="base" hangingPunct="1">
              <a:spcBef>
                <a:spcPct val="0"/>
              </a:spcBef>
              <a:spcAft>
                <a:spcPct val="0"/>
              </a:spcAft>
            </a:pPr>
            <a:endParaRPr lang="en-US" altLang="en-US" b="1">
              <a:solidFill>
                <a:srgbClr val="FFC000"/>
              </a:solidFill>
              <a:ea typeface="Times New Roman" panose="02020603050405020304" pitchFamily="18" charset="0"/>
              <a:cs typeface="Bookman-Light"/>
            </a:endParaRPr>
          </a:p>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Eg. </a:t>
            </a:r>
            <a:r>
              <a:rPr lang="en-US" altLang="en-US" b="1">
                <a:solidFill>
                  <a:srgbClr val="FFFFCC"/>
                </a:solidFill>
                <a:ea typeface="Times New Roman" panose="02020603050405020304" pitchFamily="18" charset="0"/>
                <a:cs typeface="Bookman-Light"/>
              </a:rPr>
              <a:t>Torque is defined as the product of force and moment  arm.</a:t>
            </a:r>
          </a:p>
          <a:p>
            <a:pPr eaLnBrk="1" fontAlgn="base" hangingPunct="1">
              <a:spcBef>
                <a:spcPct val="0"/>
              </a:spcBef>
              <a:spcAft>
                <a:spcPct val="0"/>
              </a:spcAft>
            </a:pPr>
            <a:r>
              <a:rPr lang="en-US" altLang="en-US" b="1">
                <a:solidFill>
                  <a:srgbClr val="FFFFCC"/>
                </a:solidFill>
                <a:ea typeface="Times New Roman" panose="02020603050405020304" pitchFamily="18" charset="0"/>
                <a:cs typeface="Bookman-Light"/>
              </a:rPr>
              <a:t>       Here force, moment arm and torque are all vectors.</a:t>
            </a:r>
          </a:p>
        </p:txBody>
      </p:sp>
      <p:grpSp>
        <p:nvGrpSpPr>
          <p:cNvPr id="18" name="Group 22"/>
          <p:cNvGrpSpPr>
            <a:grpSpLocks/>
          </p:cNvGrpSpPr>
          <p:nvPr/>
        </p:nvGrpSpPr>
        <p:grpSpPr bwMode="auto">
          <a:xfrm>
            <a:off x="1774825" y="1916113"/>
            <a:ext cx="5545138" cy="647700"/>
            <a:chOff x="288032" y="1209526"/>
            <a:chExt cx="5544092" cy="645361"/>
          </a:xfrm>
        </p:grpSpPr>
        <p:sp>
          <p:nvSpPr>
            <p:cNvPr id="27729" name="Rectangle 19"/>
            <p:cNvSpPr>
              <a:spLocks noChangeArrowheads="1"/>
            </p:cNvSpPr>
            <p:nvPr/>
          </p:nvSpPr>
          <p:spPr bwMode="auto">
            <a:xfrm>
              <a:off x="288032" y="1209526"/>
              <a:ext cx="5544092" cy="64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altLang="en-US" b="1">
                  <a:solidFill>
                    <a:srgbClr val="00FF00"/>
                  </a:solidFill>
                  <a:ea typeface="Times New Roman" panose="02020603050405020304" pitchFamily="18" charset="0"/>
                  <a:cs typeface="Bookman-Light"/>
                </a:rPr>
                <a:t>Consider two vectors </a:t>
              </a:r>
              <a:r>
                <a:rPr lang="en-US" altLang="en-US" b="1">
                  <a:solidFill>
                    <a:srgbClr val="00FF00"/>
                  </a:solidFill>
                  <a:ea typeface="Times New Roman" panose="02020603050405020304" pitchFamily="18" charset="0"/>
                  <a:cs typeface="Bookman-Demi"/>
                </a:rPr>
                <a:t>A </a:t>
              </a:r>
              <a:r>
                <a:rPr lang="en-US" altLang="en-US" b="1">
                  <a:solidFill>
                    <a:srgbClr val="00FF00"/>
                  </a:solidFill>
                  <a:ea typeface="Times New Roman" panose="02020603050405020304" pitchFamily="18" charset="0"/>
                  <a:cs typeface="Bookman-Light"/>
                </a:rPr>
                <a:t>and </a:t>
              </a:r>
              <a:r>
                <a:rPr lang="en-US" altLang="en-US" b="1">
                  <a:solidFill>
                    <a:srgbClr val="00FF00"/>
                  </a:solidFill>
                  <a:ea typeface="Times New Roman" panose="02020603050405020304" pitchFamily="18" charset="0"/>
                  <a:cs typeface="Bookman-Demi"/>
                </a:rPr>
                <a:t>B  making an angle </a:t>
              </a:r>
              <a:r>
                <a:rPr lang="el-GR" altLang="en-US" b="1">
                  <a:solidFill>
                    <a:srgbClr val="00FF00"/>
                  </a:solidFill>
                  <a:ea typeface="Times New Roman" panose="02020603050405020304" pitchFamily="18" charset="0"/>
                  <a:cs typeface="Bookman-Demi"/>
                </a:rPr>
                <a:t>θ</a:t>
              </a:r>
              <a:r>
                <a:rPr lang="en-US" altLang="en-US" b="1">
                  <a:solidFill>
                    <a:srgbClr val="00FF00"/>
                  </a:solidFill>
                  <a:ea typeface="Times New Roman" panose="02020603050405020304" pitchFamily="18" charset="0"/>
                  <a:cs typeface="Bookman-Demi"/>
                </a:rPr>
                <a:t> with each other.</a:t>
              </a:r>
              <a:endParaRPr lang="en-US" altLang="en-US" b="1">
                <a:solidFill>
                  <a:srgbClr val="00FF00"/>
                </a:solidFill>
                <a:ea typeface="Times New Roman" panose="02020603050405020304" pitchFamily="18" charset="0"/>
                <a:cs typeface="Bookman-Light"/>
              </a:endParaRPr>
            </a:p>
          </p:txBody>
        </p:sp>
        <p:cxnSp>
          <p:nvCxnSpPr>
            <p:cNvPr id="20" name="Straight Arrow Connector 19"/>
            <p:cNvCxnSpPr/>
            <p:nvPr/>
          </p:nvCxnSpPr>
          <p:spPr bwMode="auto">
            <a:xfrm>
              <a:off x="2756129" y="1268051"/>
              <a:ext cx="1714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bwMode="auto">
            <a:xfrm>
              <a:off x="3464021" y="1268051"/>
              <a:ext cx="17141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661" name="Rectangle 6"/>
          <p:cNvSpPr>
            <a:spLocks noChangeArrowheads="1"/>
          </p:cNvSpPr>
          <p:nvPr/>
        </p:nvSpPr>
        <p:spPr bwMode="auto">
          <a:xfrm>
            <a:off x="1811338" y="2513013"/>
            <a:ext cx="457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CCC"/>
                </a:solidFill>
                <a:ea typeface="Times New Roman" panose="02020603050405020304" pitchFamily="18" charset="0"/>
                <a:cs typeface="Bookman-Light"/>
              </a:rPr>
              <a:t>The cross or vector product is given by </a:t>
            </a:r>
            <a:endParaRPr lang="en-IN" altLang="en-US">
              <a:solidFill>
                <a:srgbClr val="FFCCCC"/>
              </a:solidFill>
              <a:ea typeface="Times New Roman" panose="02020603050405020304" pitchFamily="18" charset="0"/>
              <a:cs typeface="Bookman-Light"/>
            </a:endParaRPr>
          </a:p>
        </p:txBody>
      </p:sp>
      <p:sp>
        <p:nvSpPr>
          <p:cNvPr id="39" name="Rectangle 129"/>
          <p:cNvSpPr>
            <a:spLocks noChangeArrowheads="1"/>
          </p:cNvSpPr>
          <p:nvPr/>
        </p:nvSpPr>
        <p:spPr bwMode="auto">
          <a:xfrm>
            <a:off x="2208214" y="3592513"/>
            <a:ext cx="59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and</a:t>
            </a:r>
            <a:endParaRPr lang="en-IN" altLang="en-US">
              <a:solidFill>
                <a:srgbClr val="000000"/>
              </a:solidFill>
              <a:ea typeface="Times New Roman" panose="02020603050405020304" pitchFamily="18" charset="0"/>
              <a:cs typeface="Bookman-Light"/>
            </a:endParaRPr>
          </a:p>
        </p:txBody>
      </p:sp>
      <p:grpSp>
        <p:nvGrpSpPr>
          <p:cNvPr id="5" name="Group 4"/>
          <p:cNvGrpSpPr>
            <a:grpSpLocks/>
          </p:cNvGrpSpPr>
          <p:nvPr/>
        </p:nvGrpSpPr>
        <p:grpSpPr bwMode="auto">
          <a:xfrm>
            <a:off x="2927351" y="2894013"/>
            <a:ext cx="2663825" cy="387350"/>
            <a:chOff x="1403350" y="3392488"/>
            <a:chExt cx="2663825" cy="387350"/>
          </a:xfrm>
        </p:grpSpPr>
        <p:grpSp>
          <p:nvGrpSpPr>
            <p:cNvPr id="27720" name="Group 22"/>
            <p:cNvGrpSpPr>
              <a:grpSpLocks/>
            </p:cNvGrpSpPr>
            <p:nvPr/>
          </p:nvGrpSpPr>
          <p:grpSpPr bwMode="auto">
            <a:xfrm>
              <a:off x="1403350" y="3409950"/>
              <a:ext cx="2573338" cy="369888"/>
              <a:chOff x="1835150" y="5435600"/>
              <a:chExt cx="2704491" cy="368777"/>
            </a:xfrm>
          </p:grpSpPr>
          <p:sp>
            <p:nvSpPr>
              <p:cNvPr id="6" name="Rectangle 7"/>
              <p:cNvSpPr>
                <a:spLocks noChangeArrowheads="1"/>
              </p:cNvSpPr>
              <p:nvPr/>
            </p:nvSpPr>
            <p:spPr bwMode="auto">
              <a:xfrm>
                <a:off x="1835150" y="5435600"/>
                <a:ext cx="2704491"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defRPr/>
                </a:pPr>
                <a:r>
                  <a:rPr lang="en-US" b="1">
                    <a:solidFill>
                      <a:srgbClr val="333399">
                        <a:lumMod val="40000"/>
                        <a:lumOff val="60000"/>
                      </a:srgbClr>
                    </a:solidFill>
                    <a:latin typeface="Arial" panose="020B0604020202020204" pitchFamily="34" charset="0"/>
                    <a:cs typeface="Arial" panose="020B0604020202020204" pitchFamily="34" charset="0"/>
                  </a:rPr>
                  <a:t>A x B = | A | | B | sin </a:t>
                </a:r>
                <a:r>
                  <a:rPr lang="el-GR" b="1">
                    <a:solidFill>
                      <a:srgbClr val="333399">
                        <a:lumMod val="40000"/>
                        <a:lumOff val="60000"/>
                      </a:srgbClr>
                    </a:solidFill>
                    <a:latin typeface="Arial" panose="020B0604020202020204" pitchFamily="34" charset="0"/>
                    <a:ea typeface="Times New Roman" pitchFamily="18" charset="0"/>
                    <a:cs typeface="Bookman-Demi"/>
                  </a:rPr>
                  <a:t>θ</a:t>
                </a:r>
                <a:r>
                  <a:rPr lang="en-US" b="1">
                    <a:solidFill>
                      <a:srgbClr val="333399">
                        <a:lumMod val="40000"/>
                        <a:lumOff val="60000"/>
                      </a:srgbClr>
                    </a:solidFill>
                    <a:latin typeface="Arial" panose="020B0604020202020204" pitchFamily="34" charset="0"/>
                    <a:ea typeface="Times New Roman" pitchFamily="18" charset="0"/>
                    <a:cs typeface="Bookman-Demi"/>
                  </a:rPr>
                  <a:t> </a:t>
                </a:r>
                <a:endParaRPr lang="en-IN" b="1">
                  <a:solidFill>
                    <a:srgbClr val="333399">
                      <a:lumMod val="40000"/>
                      <a:lumOff val="60000"/>
                    </a:srgbClr>
                  </a:solidFill>
                  <a:latin typeface="Arial" panose="020B0604020202020204" pitchFamily="34" charset="0"/>
                  <a:cs typeface="Arial" panose="020B0604020202020204" pitchFamily="34" charset="0"/>
                </a:endParaRPr>
              </a:p>
            </p:txBody>
          </p:sp>
          <p:cxnSp>
            <p:nvCxnSpPr>
              <p:cNvPr id="25" name="Straight Arrow Connector 24"/>
              <p:cNvCxnSpPr/>
              <p:nvPr/>
            </p:nvCxnSpPr>
            <p:spPr bwMode="auto">
              <a:xfrm>
                <a:off x="1920239" y="5464089"/>
                <a:ext cx="17184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bwMode="auto">
              <a:xfrm>
                <a:off x="3453506" y="5464089"/>
                <a:ext cx="17184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bwMode="auto">
              <a:xfrm>
                <a:off x="2357362" y="5464089"/>
                <a:ext cx="17184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bwMode="auto">
              <a:xfrm>
                <a:off x="2934632" y="5464089"/>
                <a:ext cx="17351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7721" name="Group 51"/>
            <p:cNvGrpSpPr>
              <a:grpSpLocks/>
            </p:cNvGrpSpPr>
            <p:nvPr/>
          </p:nvGrpSpPr>
          <p:grpSpPr bwMode="auto">
            <a:xfrm>
              <a:off x="3741738" y="3392488"/>
              <a:ext cx="325437" cy="369887"/>
              <a:chOff x="2891102" y="5126527"/>
              <a:chExt cx="325730" cy="369332"/>
            </a:xfrm>
          </p:grpSpPr>
          <p:sp>
            <p:nvSpPr>
              <p:cNvPr id="27722" name="Rectangle 9"/>
              <p:cNvSpPr>
                <a:spLocks noChangeArrowheads="1"/>
              </p:cNvSpPr>
              <p:nvPr/>
            </p:nvSpPr>
            <p:spPr bwMode="auto">
              <a:xfrm>
                <a:off x="2891102" y="5126527"/>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FF66"/>
                    </a:solidFill>
                  </a:rPr>
                  <a:t>n</a:t>
                </a:r>
                <a:endParaRPr lang="en-IN" altLang="en-US" b="1">
                  <a:solidFill>
                    <a:srgbClr val="66FF66"/>
                  </a:solidFill>
                </a:endParaRPr>
              </a:p>
            </p:txBody>
          </p:sp>
          <p:sp>
            <p:nvSpPr>
              <p:cNvPr id="27723" name="Line 37"/>
              <p:cNvSpPr>
                <a:spLocks noChangeShapeType="1"/>
              </p:cNvSpPr>
              <p:nvPr/>
            </p:nvSpPr>
            <p:spPr bwMode="auto">
              <a:xfrm rot="5400000" flipH="1" flipV="1">
                <a:off x="3024310" y="5143586"/>
                <a:ext cx="33511"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sp>
        <p:nvSpPr>
          <p:cNvPr id="27666" name="Rectangle 6"/>
          <p:cNvSpPr>
            <a:spLocks noChangeArrowheads="1"/>
          </p:cNvSpPr>
          <p:nvPr/>
        </p:nvSpPr>
        <p:spPr bwMode="auto">
          <a:xfrm>
            <a:off x="1811339" y="4625976"/>
            <a:ext cx="81676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By </a:t>
            </a:r>
            <a:r>
              <a:rPr lang="en-US" altLang="en-US" b="1">
                <a:solidFill>
                  <a:srgbClr val="FF0000"/>
                </a:solidFill>
                <a:ea typeface="Times New Roman" panose="02020603050405020304" pitchFamily="18" charset="0"/>
                <a:cs typeface="Bookman-Light"/>
              </a:rPr>
              <a:t>Right Hand Thumb Rule </a:t>
            </a:r>
            <a:r>
              <a:rPr lang="en-US" altLang="en-US" b="1">
                <a:solidFill>
                  <a:srgbClr val="FF7C80"/>
                </a:solidFill>
                <a:ea typeface="Times New Roman" panose="02020603050405020304" pitchFamily="18" charset="0"/>
                <a:cs typeface="Bookman-Light"/>
              </a:rPr>
              <a:t>or </a:t>
            </a:r>
            <a:r>
              <a:rPr lang="en-US" altLang="en-US" b="1">
                <a:solidFill>
                  <a:srgbClr val="FF0000"/>
                </a:solidFill>
                <a:ea typeface="Times New Roman" panose="02020603050405020304" pitchFamily="18" charset="0"/>
                <a:cs typeface="Bookman-Light"/>
              </a:rPr>
              <a:t>Maxwell’s Cork Screw Rule</a:t>
            </a:r>
            <a:r>
              <a:rPr lang="en-US" altLang="en-US" b="1">
                <a:solidFill>
                  <a:srgbClr val="FF7C80"/>
                </a:solidFill>
                <a:ea typeface="Times New Roman" panose="02020603050405020304" pitchFamily="18" charset="0"/>
                <a:cs typeface="Bookman-Light"/>
              </a:rPr>
              <a:t>, the direction of the resultant in this case is </a:t>
            </a:r>
            <a:r>
              <a:rPr lang="en-US" altLang="en-US" b="1">
                <a:solidFill>
                  <a:srgbClr val="00FF00"/>
                </a:solidFill>
                <a:ea typeface="Times New Roman" panose="02020603050405020304" pitchFamily="18" charset="0"/>
                <a:cs typeface="Bookman-Light"/>
              </a:rPr>
              <a:t>perpendicular and into the plane</a:t>
            </a:r>
            <a:r>
              <a:rPr lang="en-US" altLang="en-US" b="1">
                <a:solidFill>
                  <a:srgbClr val="FF7C80"/>
                </a:solidFill>
                <a:ea typeface="Times New Roman" panose="02020603050405020304" pitchFamily="18" charset="0"/>
                <a:cs typeface="Bookman-Light"/>
              </a:rPr>
              <a:t> of the diagram. </a:t>
            </a:r>
            <a:endParaRPr lang="en-IN" altLang="en-US">
              <a:solidFill>
                <a:srgbClr val="FF7C80"/>
              </a:solidFill>
              <a:ea typeface="Times New Roman" panose="02020603050405020304" pitchFamily="18" charset="0"/>
              <a:cs typeface="Bookman-Light"/>
            </a:endParaRPr>
          </a:p>
        </p:txBody>
      </p:sp>
      <p:grpSp>
        <p:nvGrpSpPr>
          <p:cNvPr id="3" name="Group 2"/>
          <p:cNvGrpSpPr>
            <a:grpSpLocks/>
          </p:cNvGrpSpPr>
          <p:nvPr/>
        </p:nvGrpSpPr>
        <p:grpSpPr bwMode="auto">
          <a:xfrm>
            <a:off x="8861425" y="1484314"/>
            <a:ext cx="1555750" cy="2460625"/>
            <a:chOff x="7336730" y="2093913"/>
            <a:chExt cx="1555750" cy="2461372"/>
          </a:xfrm>
        </p:grpSpPr>
        <p:cxnSp>
          <p:nvCxnSpPr>
            <p:cNvPr id="4" name="Straight Arrow Connector 3"/>
            <p:cNvCxnSpPr/>
            <p:nvPr/>
          </p:nvCxnSpPr>
          <p:spPr bwMode="auto">
            <a:xfrm flipV="1">
              <a:off x="7651055" y="2392454"/>
              <a:ext cx="509588" cy="1229098"/>
            </a:xfrm>
            <a:prstGeom prst="straightConnector1">
              <a:avLst/>
            </a:prstGeom>
            <a:ln w="28575">
              <a:solidFill>
                <a:srgbClr val="00FF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7706" name="Group 17"/>
            <p:cNvGrpSpPr>
              <a:grpSpLocks/>
            </p:cNvGrpSpPr>
            <p:nvPr/>
          </p:nvGrpSpPr>
          <p:grpSpPr bwMode="auto">
            <a:xfrm>
              <a:off x="7624068" y="2743200"/>
              <a:ext cx="352425" cy="369888"/>
              <a:chOff x="7736062" y="5147900"/>
              <a:chExt cx="351378" cy="369332"/>
            </a:xfrm>
          </p:grpSpPr>
          <p:sp>
            <p:nvSpPr>
              <p:cNvPr id="27718" name="Rectangle 18"/>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A</a:t>
                </a:r>
                <a:endParaRPr lang="en-IN" altLang="en-US">
                  <a:solidFill>
                    <a:srgbClr val="000000"/>
                  </a:solidFill>
                  <a:ea typeface="Times New Roman" panose="02020603050405020304" pitchFamily="18" charset="0"/>
                  <a:cs typeface="Bookman-Demi"/>
                </a:endParaRPr>
              </a:p>
            </p:txBody>
          </p:sp>
          <p:cxnSp>
            <p:nvCxnSpPr>
              <p:cNvPr id="7" name="Straight Arrow Connector 6"/>
              <p:cNvCxnSpPr/>
              <p:nvPr/>
            </p:nvCxnSpPr>
            <p:spPr bwMode="auto">
              <a:xfrm>
                <a:off x="7838942" y="5189322"/>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707" name="Rectangle 26"/>
            <p:cNvSpPr>
              <a:spLocks noChangeArrowheads="1"/>
            </p:cNvSpPr>
            <p:nvPr/>
          </p:nvSpPr>
          <p:spPr bwMode="auto">
            <a:xfrm>
              <a:off x="7984430" y="2093913"/>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P</a:t>
              </a:r>
            </a:p>
          </p:txBody>
        </p:sp>
        <p:sp>
          <p:nvSpPr>
            <p:cNvPr id="27708" name="Rectangle 28"/>
            <p:cNvSpPr>
              <a:spLocks noChangeArrowheads="1"/>
            </p:cNvSpPr>
            <p:nvPr/>
          </p:nvSpPr>
          <p:spPr bwMode="auto">
            <a:xfrm>
              <a:off x="7336730" y="3449638"/>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O</a:t>
              </a:r>
            </a:p>
          </p:txBody>
        </p:sp>
        <p:cxnSp>
          <p:nvCxnSpPr>
            <p:cNvPr id="10" name="Straight Arrow Connector 9"/>
            <p:cNvCxnSpPr/>
            <p:nvPr/>
          </p:nvCxnSpPr>
          <p:spPr>
            <a:xfrm>
              <a:off x="7633593" y="3612024"/>
              <a:ext cx="969962" cy="235021"/>
            </a:xfrm>
            <a:prstGeom prst="straightConnector1">
              <a:avLst/>
            </a:prstGeom>
            <a:ln w="28575">
              <a:solidFill>
                <a:srgbClr val="FF99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7710" name="Group 17"/>
            <p:cNvGrpSpPr>
              <a:grpSpLocks/>
            </p:cNvGrpSpPr>
            <p:nvPr/>
          </p:nvGrpSpPr>
          <p:grpSpPr bwMode="auto">
            <a:xfrm>
              <a:off x="7763768" y="3725863"/>
              <a:ext cx="352425" cy="368300"/>
              <a:chOff x="7736062" y="5147900"/>
              <a:chExt cx="351378" cy="369332"/>
            </a:xfrm>
          </p:grpSpPr>
          <p:sp>
            <p:nvSpPr>
              <p:cNvPr id="27716" name="Rectangle 18"/>
              <p:cNvSpPr>
                <a:spLocks noChangeArrowheads="1"/>
              </p:cNvSpPr>
              <p:nvPr/>
            </p:nvSpPr>
            <p:spPr bwMode="auto">
              <a:xfrm>
                <a:off x="7736062" y="51479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B</a:t>
                </a:r>
                <a:endParaRPr lang="en-IN" altLang="en-US">
                  <a:solidFill>
                    <a:srgbClr val="000000"/>
                  </a:solidFill>
                  <a:ea typeface="Times New Roman" panose="02020603050405020304" pitchFamily="18" charset="0"/>
                  <a:cs typeface="Bookman-Demi"/>
                </a:endParaRPr>
              </a:p>
            </p:txBody>
          </p:sp>
          <p:cxnSp>
            <p:nvCxnSpPr>
              <p:cNvPr id="13" name="Straight Arrow Connector 12"/>
              <p:cNvCxnSpPr/>
              <p:nvPr/>
            </p:nvCxnSpPr>
            <p:spPr bwMode="auto">
              <a:xfrm>
                <a:off x="7838942" y="5189800"/>
                <a:ext cx="17094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7711" name="Group 4"/>
            <p:cNvGrpSpPr>
              <a:grpSpLocks/>
            </p:cNvGrpSpPr>
            <p:nvPr/>
          </p:nvGrpSpPr>
          <p:grpSpPr bwMode="auto">
            <a:xfrm>
              <a:off x="7647880" y="3306763"/>
              <a:ext cx="452438" cy="461962"/>
              <a:chOff x="7274109" y="4765485"/>
              <a:chExt cx="452315" cy="462601"/>
            </a:xfrm>
          </p:grpSpPr>
          <p:sp>
            <p:nvSpPr>
              <p:cNvPr id="27714" name="Rectangle 298"/>
              <p:cNvSpPr>
                <a:spLocks noChangeArrowheads="1"/>
              </p:cNvSpPr>
              <p:nvPr/>
            </p:nvSpPr>
            <p:spPr bwMode="auto">
              <a:xfrm>
                <a:off x="7380312" y="4765485"/>
                <a:ext cx="346112" cy="33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l-GR" altLang="en-US" sz="1600" b="1">
                    <a:solidFill>
                      <a:srgbClr val="FFFFCC"/>
                    </a:solidFill>
                  </a:rPr>
                  <a:t>θ</a:t>
                </a:r>
              </a:p>
            </p:txBody>
          </p:sp>
          <p:sp>
            <p:nvSpPr>
              <p:cNvPr id="27715" name="Arc 299"/>
              <p:cNvSpPr>
                <a:spLocks/>
              </p:cNvSpPr>
              <p:nvPr/>
            </p:nvSpPr>
            <p:spPr bwMode="auto">
              <a:xfrm rot="881616">
                <a:off x="7274109" y="4904579"/>
                <a:ext cx="196698" cy="323507"/>
              </a:xfrm>
              <a:custGeom>
                <a:avLst/>
                <a:gdLst>
                  <a:gd name="T0" fmla="*/ 0 w 20030"/>
                  <a:gd name="T1" fmla="*/ 0 h 21186"/>
                  <a:gd name="T2" fmla="*/ 0 w 20030"/>
                  <a:gd name="T3" fmla="*/ 0 h 21186"/>
                  <a:gd name="T4" fmla="*/ 0 w 20030"/>
                  <a:gd name="T5" fmla="*/ 0 h 21186"/>
                  <a:gd name="T6" fmla="*/ 0 60000 65536"/>
                  <a:gd name="T7" fmla="*/ 0 60000 65536"/>
                  <a:gd name="T8" fmla="*/ 0 60000 65536"/>
                </a:gdLst>
                <a:ahLst/>
                <a:cxnLst>
                  <a:cxn ang="T6">
                    <a:pos x="T0" y="T1"/>
                  </a:cxn>
                  <a:cxn ang="T7">
                    <a:pos x="T2" y="T3"/>
                  </a:cxn>
                  <a:cxn ang="T8">
                    <a:pos x="T4" y="T5"/>
                  </a:cxn>
                </a:cxnLst>
                <a:rect l="0" t="0" r="r" b="b"/>
                <a:pathLst>
                  <a:path w="20030" h="21186" fill="none" extrusionOk="0">
                    <a:moveTo>
                      <a:pt x="4210" y="0"/>
                    </a:moveTo>
                    <a:cubicBezTo>
                      <a:pt x="11355" y="1420"/>
                      <a:pt x="17303" y="6346"/>
                      <a:pt x="20030" y="13101"/>
                    </a:cubicBezTo>
                  </a:path>
                  <a:path w="20030" h="21186" stroke="0" extrusionOk="0">
                    <a:moveTo>
                      <a:pt x="4210" y="0"/>
                    </a:moveTo>
                    <a:cubicBezTo>
                      <a:pt x="11355" y="1420"/>
                      <a:pt x="17303" y="6346"/>
                      <a:pt x="20030" y="13101"/>
                    </a:cubicBezTo>
                    <a:lnTo>
                      <a:pt x="0" y="21186"/>
                    </a:lnTo>
                    <a:lnTo>
                      <a:pt x="4210" y="0"/>
                    </a:lnTo>
                    <a:close/>
                  </a:path>
                </a:pathLst>
              </a:custGeom>
              <a:noFill/>
              <a:ln w="28575">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7712" name="Rectangle 26"/>
            <p:cNvSpPr>
              <a:spLocks noChangeArrowheads="1"/>
            </p:cNvSpPr>
            <p:nvPr/>
          </p:nvSpPr>
          <p:spPr bwMode="auto">
            <a:xfrm>
              <a:off x="8527355" y="369887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r>
                <a:rPr lang="en-US" altLang="en-US" b="1">
                  <a:solidFill>
                    <a:srgbClr val="FFCC00"/>
                  </a:solidFill>
                </a:rPr>
                <a:t>Q</a:t>
              </a:r>
            </a:p>
          </p:txBody>
        </p:sp>
        <p:cxnSp>
          <p:nvCxnSpPr>
            <p:cNvPr id="71" name="Straight Arrow Connector 70"/>
            <p:cNvCxnSpPr/>
            <p:nvPr/>
          </p:nvCxnSpPr>
          <p:spPr bwMode="auto">
            <a:xfrm flipV="1">
              <a:off x="7654230" y="3621552"/>
              <a:ext cx="0" cy="933733"/>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669" name="Group 2"/>
          <p:cNvGrpSpPr>
            <a:grpSpLocks/>
          </p:cNvGrpSpPr>
          <p:nvPr/>
        </p:nvGrpSpPr>
        <p:grpSpPr bwMode="auto">
          <a:xfrm>
            <a:off x="1820863" y="4221164"/>
            <a:ext cx="8280400" cy="403225"/>
            <a:chOff x="296863" y="4787900"/>
            <a:chExt cx="8280400" cy="403225"/>
          </a:xfrm>
        </p:grpSpPr>
        <p:grpSp>
          <p:nvGrpSpPr>
            <p:cNvPr id="27696" name="Group 68"/>
            <p:cNvGrpSpPr>
              <a:grpSpLocks/>
            </p:cNvGrpSpPr>
            <p:nvPr/>
          </p:nvGrpSpPr>
          <p:grpSpPr bwMode="auto">
            <a:xfrm>
              <a:off x="296863" y="4787900"/>
              <a:ext cx="8280400" cy="403225"/>
              <a:chOff x="683568" y="5085184"/>
              <a:chExt cx="8280920" cy="403980"/>
            </a:xfrm>
          </p:grpSpPr>
          <p:grpSp>
            <p:nvGrpSpPr>
              <p:cNvPr id="27700" name="Group 60"/>
              <p:cNvGrpSpPr>
                <a:grpSpLocks/>
              </p:cNvGrpSpPr>
              <p:nvPr/>
            </p:nvGrpSpPr>
            <p:grpSpPr bwMode="auto">
              <a:xfrm>
                <a:off x="683568" y="5119832"/>
                <a:ext cx="830099" cy="369332"/>
                <a:chOff x="4654450" y="5795416"/>
                <a:chExt cx="830099" cy="369332"/>
              </a:xfrm>
            </p:grpSpPr>
            <p:sp>
              <p:nvSpPr>
                <p:cNvPr id="27702" name="Rectangle 7"/>
                <p:cNvSpPr>
                  <a:spLocks noChangeArrowheads="1"/>
                </p:cNvSpPr>
                <p:nvPr/>
              </p:nvSpPr>
              <p:spPr bwMode="auto">
                <a:xfrm>
                  <a:off x="4654450" y="5795416"/>
                  <a:ext cx="830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A x B </a:t>
                  </a:r>
                  <a:endParaRPr lang="en-IN" altLang="en-US" b="1">
                    <a:solidFill>
                      <a:srgbClr val="FFFF00"/>
                    </a:solidFill>
                  </a:endParaRPr>
                </a:p>
              </p:txBody>
            </p:sp>
            <p:cxnSp>
              <p:nvCxnSpPr>
                <p:cNvPr id="66" name="Straight Arrow Connector 65"/>
                <p:cNvCxnSpPr/>
                <p:nvPr/>
              </p:nvCxnSpPr>
              <p:spPr bwMode="auto">
                <a:xfrm>
                  <a:off x="4740180" y="5824387"/>
                  <a:ext cx="17146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bwMode="auto">
                <a:xfrm>
                  <a:off x="5165657" y="5824387"/>
                  <a:ext cx="17146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701" name="Rectangle 6"/>
              <p:cNvSpPr>
                <a:spLocks noChangeArrowheads="1"/>
              </p:cNvSpPr>
              <p:nvPr/>
            </p:nvSpPr>
            <p:spPr bwMode="auto">
              <a:xfrm>
                <a:off x="1368151" y="5085184"/>
                <a:ext cx="759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Light"/>
                  </a:rPr>
                  <a:t>means the vector A is rotated towards B and its effect is taken on B.</a:t>
                </a:r>
                <a:endParaRPr lang="en-IN" altLang="en-US">
                  <a:solidFill>
                    <a:srgbClr val="FFFF00"/>
                  </a:solidFill>
                  <a:ea typeface="Times New Roman" panose="02020603050405020304" pitchFamily="18" charset="0"/>
                  <a:cs typeface="Bookman-Light"/>
                </a:endParaRPr>
              </a:p>
            </p:txBody>
          </p:sp>
        </p:grpSp>
        <p:cxnSp>
          <p:nvCxnSpPr>
            <p:cNvPr id="68" name="Straight Arrow Connector 67"/>
            <p:cNvCxnSpPr/>
            <p:nvPr/>
          </p:nvCxnSpPr>
          <p:spPr bwMode="auto">
            <a:xfrm>
              <a:off x="3019425" y="4841875"/>
              <a:ext cx="16351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bwMode="auto">
            <a:xfrm>
              <a:off x="5272088" y="4829175"/>
              <a:ext cx="16351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bwMode="auto">
            <a:xfrm>
              <a:off x="8212138" y="4829175"/>
              <a:ext cx="16351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7670" name="Group 2"/>
          <p:cNvGrpSpPr>
            <a:grpSpLocks/>
          </p:cNvGrpSpPr>
          <p:nvPr/>
        </p:nvGrpSpPr>
        <p:grpSpPr bwMode="auto">
          <a:xfrm>
            <a:off x="5672138" y="2871789"/>
            <a:ext cx="3143250" cy="1201737"/>
            <a:chOff x="4148138" y="3370260"/>
            <a:chExt cx="3143250" cy="1201761"/>
          </a:xfrm>
        </p:grpSpPr>
        <p:grpSp>
          <p:nvGrpSpPr>
            <p:cNvPr id="27689" name="Group 56"/>
            <p:cNvGrpSpPr>
              <a:grpSpLocks/>
            </p:cNvGrpSpPr>
            <p:nvPr/>
          </p:nvGrpSpPr>
          <p:grpSpPr bwMode="auto">
            <a:xfrm>
              <a:off x="4148138" y="3370260"/>
              <a:ext cx="3143250" cy="1201761"/>
              <a:chOff x="3860303" y="3955431"/>
              <a:chExt cx="3143374" cy="1201786"/>
            </a:xfrm>
          </p:grpSpPr>
          <p:grpSp>
            <p:nvGrpSpPr>
              <p:cNvPr id="27692" name="Group 52"/>
              <p:cNvGrpSpPr>
                <a:grpSpLocks/>
              </p:cNvGrpSpPr>
              <p:nvPr/>
            </p:nvGrpSpPr>
            <p:grpSpPr bwMode="auto">
              <a:xfrm>
                <a:off x="4606310" y="3955431"/>
                <a:ext cx="325730" cy="369332"/>
                <a:chOff x="2891102" y="5126527"/>
                <a:chExt cx="325730" cy="369332"/>
              </a:xfrm>
            </p:grpSpPr>
            <p:sp>
              <p:nvSpPr>
                <p:cNvPr id="27694" name="Rectangle 9"/>
                <p:cNvSpPr>
                  <a:spLocks noChangeArrowheads="1"/>
                </p:cNvSpPr>
                <p:nvPr/>
              </p:nvSpPr>
              <p:spPr bwMode="auto">
                <a:xfrm>
                  <a:off x="2891102" y="5126527"/>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66FF66"/>
                      </a:solidFill>
                    </a:rPr>
                    <a:t>n</a:t>
                  </a:r>
                  <a:endParaRPr lang="en-IN" altLang="en-US" b="1">
                    <a:solidFill>
                      <a:srgbClr val="66FF66"/>
                    </a:solidFill>
                  </a:endParaRPr>
                </a:p>
              </p:txBody>
            </p:sp>
            <p:sp>
              <p:nvSpPr>
                <p:cNvPr id="27695" name="Line 37"/>
                <p:cNvSpPr>
                  <a:spLocks noChangeShapeType="1"/>
                </p:cNvSpPr>
                <p:nvPr/>
              </p:nvSpPr>
              <p:spPr bwMode="auto">
                <a:xfrm rot="5400000" flipH="1" flipV="1">
                  <a:off x="3024310" y="5143586"/>
                  <a:ext cx="33511"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7693" name="Rectangle 129"/>
              <p:cNvSpPr>
                <a:spLocks noChangeArrowheads="1"/>
              </p:cNvSpPr>
              <p:nvPr/>
            </p:nvSpPr>
            <p:spPr bwMode="auto">
              <a:xfrm>
                <a:off x="3860303" y="3956863"/>
                <a:ext cx="3143374" cy="120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Light"/>
                  </a:rPr>
                  <a:t>where     is the unit vector along a direction which is perpendicular to plane containing A and B.</a:t>
                </a:r>
                <a:endParaRPr lang="en-IN" altLang="en-US">
                  <a:solidFill>
                    <a:srgbClr val="000000"/>
                  </a:solidFill>
                  <a:ea typeface="Times New Roman" panose="02020603050405020304" pitchFamily="18" charset="0"/>
                  <a:cs typeface="Bookman-Light"/>
                </a:endParaRPr>
              </a:p>
            </p:txBody>
          </p:sp>
        </p:grpSp>
        <p:cxnSp>
          <p:nvCxnSpPr>
            <p:cNvPr id="72" name="Straight Arrow Connector 71"/>
            <p:cNvCxnSpPr/>
            <p:nvPr/>
          </p:nvCxnSpPr>
          <p:spPr bwMode="auto">
            <a:xfrm>
              <a:off x="5467350" y="4248165"/>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bwMode="auto">
            <a:xfrm>
              <a:off x="6142038" y="4252928"/>
              <a:ext cx="17145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660" name="TextBox 73"/>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8" name="TextBox 74"/>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7662" name="TextBox 75"/>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grpSp>
        <p:nvGrpSpPr>
          <p:cNvPr id="14" name="Group 13"/>
          <p:cNvGrpSpPr>
            <a:grpSpLocks/>
          </p:cNvGrpSpPr>
          <p:nvPr/>
        </p:nvGrpSpPr>
        <p:grpSpPr bwMode="auto">
          <a:xfrm>
            <a:off x="2855913" y="3349626"/>
            <a:ext cx="2095500" cy="868363"/>
            <a:chOff x="1331913" y="3847601"/>
            <a:chExt cx="2095500" cy="868862"/>
          </a:xfrm>
        </p:grpSpPr>
        <p:grpSp>
          <p:nvGrpSpPr>
            <p:cNvPr id="27677" name="Group 28"/>
            <p:cNvGrpSpPr>
              <a:grpSpLocks/>
            </p:cNvGrpSpPr>
            <p:nvPr/>
          </p:nvGrpSpPr>
          <p:grpSpPr bwMode="auto">
            <a:xfrm>
              <a:off x="1331913" y="3886200"/>
              <a:ext cx="2095500" cy="830263"/>
              <a:chOff x="3563888" y="5849204"/>
              <a:chExt cx="2096541" cy="829448"/>
            </a:xfrm>
          </p:grpSpPr>
          <p:sp>
            <p:nvSpPr>
              <p:cNvPr id="27680" name="Line 33"/>
              <p:cNvSpPr>
                <a:spLocks noChangeShapeType="1"/>
              </p:cNvSpPr>
              <p:nvPr/>
            </p:nvSpPr>
            <p:spPr bwMode="auto">
              <a:xfrm>
                <a:off x="4541134" y="6234131"/>
                <a:ext cx="1079888" cy="0"/>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7681" name="Text Box 34"/>
              <p:cNvSpPr txBox="1">
                <a:spLocks noChangeArrowheads="1"/>
              </p:cNvSpPr>
              <p:nvPr/>
            </p:nvSpPr>
            <p:spPr bwMode="auto">
              <a:xfrm>
                <a:off x="3563888" y="6047653"/>
                <a:ext cx="10867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sin </a:t>
                </a:r>
                <a:r>
                  <a:rPr lang="el-GR" altLang="en-US" b="1">
                    <a:solidFill>
                      <a:srgbClr val="00FFFF"/>
                    </a:solidFill>
                  </a:rPr>
                  <a:t>θ</a:t>
                </a:r>
                <a:r>
                  <a:rPr lang="en-US" altLang="en-US" b="1">
                    <a:solidFill>
                      <a:srgbClr val="00FFFF"/>
                    </a:solidFill>
                  </a:rPr>
                  <a:t> =  </a:t>
                </a:r>
                <a:endParaRPr lang="en-US" altLang="en-US" b="1" baseline="-25000">
                  <a:solidFill>
                    <a:srgbClr val="00FFFF"/>
                  </a:solidFill>
                </a:endParaRPr>
              </a:p>
            </p:txBody>
          </p:sp>
          <p:grpSp>
            <p:nvGrpSpPr>
              <p:cNvPr id="27682" name="Group 31"/>
              <p:cNvGrpSpPr>
                <a:grpSpLocks/>
              </p:cNvGrpSpPr>
              <p:nvPr/>
            </p:nvGrpSpPr>
            <p:grpSpPr bwMode="auto">
              <a:xfrm>
                <a:off x="4721685" y="5849204"/>
                <a:ext cx="830099" cy="369332"/>
                <a:chOff x="4654450" y="5795416"/>
                <a:chExt cx="830099" cy="369332"/>
              </a:xfrm>
            </p:grpSpPr>
            <p:sp>
              <p:nvSpPr>
                <p:cNvPr id="27686" name="Rectangle 7"/>
                <p:cNvSpPr>
                  <a:spLocks noChangeArrowheads="1"/>
                </p:cNvSpPr>
                <p:nvPr/>
              </p:nvSpPr>
              <p:spPr bwMode="auto">
                <a:xfrm>
                  <a:off x="4654450" y="5795416"/>
                  <a:ext cx="8300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A x B </a:t>
                  </a:r>
                  <a:endParaRPr lang="en-IN" altLang="en-US" b="1">
                    <a:solidFill>
                      <a:srgbClr val="00FFFF"/>
                    </a:solidFill>
                  </a:endParaRPr>
                </a:p>
              </p:txBody>
            </p:sp>
            <p:cxnSp>
              <p:nvCxnSpPr>
                <p:cNvPr id="37" name="Straight Arrow Connector 36"/>
                <p:cNvCxnSpPr/>
                <p:nvPr/>
              </p:nvCxnSpPr>
              <p:spPr bwMode="auto">
                <a:xfrm>
                  <a:off x="4740283" y="5823503"/>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bwMode="auto">
                <a:xfrm>
                  <a:off x="5165944" y="5823503"/>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683" name="Rectangle 7"/>
              <p:cNvSpPr>
                <a:spLocks noChangeArrowheads="1"/>
              </p:cNvSpPr>
              <p:nvPr/>
            </p:nvSpPr>
            <p:spPr bwMode="auto">
              <a:xfrm>
                <a:off x="4582442" y="6309320"/>
                <a:ext cx="1077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 A | | B |</a:t>
                </a:r>
                <a:endParaRPr lang="en-IN" altLang="en-US" b="1">
                  <a:solidFill>
                    <a:srgbClr val="00FFFF"/>
                  </a:solidFill>
                </a:endParaRPr>
              </a:p>
            </p:txBody>
          </p:sp>
          <p:cxnSp>
            <p:nvCxnSpPr>
              <p:cNvPr id="34" name="Straight Arrow Connector 33"/>
              <p:cNvCxnSpPr/>
              <p:nvPr/>
            </p:nvCxnSpPr>
            <p:spPr bwMode="auto">
              <a:xfrm>
                <a:off x="4788458" y="6337478"/>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bwMode="auto">
              <a:xfrm>
                <a:off x="5268121" y="6337478"/>
                <a:ext cx="171535"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678" name="Rectangle 11"/>
            <p:cNvSpPr>
              <a:spLocks noChangeArrowheads="1"/>
            </p:cNvSpPr>
            <p:nvPr/>
          </p:nvSpPr>
          <p:spPr bwMode="auto">
            <a:xfrm>
              <a:off x="2398313" y="3858717"/>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a:t>
              </a:r>
              <a:endParaRPr lang="en-IN" altLang="en-US">
                <a:solidFill>
                  <a:srgbClr val="000000"/>
                </a:solidFill>
              </a:endParaRPr>
            </a:p>
          </p:txBody>
        </p:sp>
        <p:sp>
          <p:nvSpPr>
            <p:cNvPr id="27679" name="Rectangle 73"/>
            <p:cNvSpPr>
              <a:spLocks noChangeArrowheads="1"/>
            </p:cNvSpPr>
            <p:nvPr/>
          </p:nvSpPr>
          <p:spPr bwMode="auto">
            <a:xfrm>
              <a:off x="3099078" y="3847601"/>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FF"/>
                  </a:solidFill>
                </a:rPr>
                <a:t>|</a:t>
              </a:r>
              <a:endParaRPr lang="en-IN" altLang="en-US">
                <a:solidFill>
                  <a:srgbClr val="000000"/>
                </a:solidFill>
              </a:endParaRPr>
            </a:p>
          </p:txBody>
        </p:sp>
      </p:grpSp>
      <p:sp>
        <p:nvSpPr>
          <p:cNvPr id="15" name="Arc 14"/>
          <p:cNvSpPr/>
          <p:nvPr/>
        </p:nvSpPr>
        <p:spPr>
          <a:xfrm rot="1613330">
            <a:off x="8616951" y="1820864"/>
            <a:ext cx="1666875" cy="1673225"/>
          </a:xfrm>
          <a:prstGeom prst="arc">
            <a:avLst>
              <a:gd name="adj1" fmla="val 16121051"/>
              <a:gd name="adj2" fmla="val 20038727"/>
            </a:avLst>
          </a:prstGeom>
          <a:ln w="28575">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fontAlgn="base">
              <a:spcBef>
                <a:spcPct val="0"/>
              </a:spcBef>
              <a:spcAft>
                <a:spcPct val="0"/>
              </a:spcAft>
              <a:defRPr/>
            </a:pPr>
            <a:endParaRPr lang="en-IN">
              <a:solidFill>
                <a:srgbClr val="000000"/>
              </a:solidFill>
              <a:latin typeface="Arial"/>
            </a:endParaRPr>
          </a:p>
        </p:txBody>
      </p:sp>
      <p:grpSp>
        <p:nvGrpSpPr>
          <p:cNvPr id="75" name="Group 2"/>
          <p:cNvGrpSpPr>
            <a:grpSpLocks/>
          </p:cNvGrpSpPr>
          <p:nvPr/>
        </p:nvGrpSpPr>
        <p:grpSpPr bwMode="auto">
          <a:xfrm>
            <a:off x="1820863" y="5516563"/>
            <a:ext cx="8280400" cy="404812"/>
            <a:chOff x="296863" y="4787904"/>
            <a:chExt cx="8280400" cy="403915"/>
          </a:xfrm>
        </p:grpSpPr>
        <p:grpSp>
          <p:nvGrpSpPr>
            <p:cNvPr id="27668" name="Group 68"/>
            <p:cNvGrpSpPr>
              <a:grpSpLocks/>
            </p:cNvGrpSpPr>
            <p:nvPr/>
          </p:nvGrpSpPr>
          <p:grpSpPr bwMode="auto">
            <a:xfrm>
              <a:off x="296863" y="4787904"/>
              <a:ext cx="8280400" cy="403915"/>
              <a:chOff x="683568" y="5085184"/>
              <a:chExt cx="8280920" cy="404671"/>
            </a:xfrm>
          </p:grpSpPr>
          <p:grpSp>
            <p:nvGrpSpPr>
              <p:cNvPr id="27672" name="Group 60"/>
              <p:cNvGrpSpPr>
                <a:grpSpLocks/>
              </p:cNvGrpSpPr>
              <p:nvPr/>
            </p:nvGrpSpPr>
            <p:grpSpPr bwMode="auto">
              <a:xfrm>
                <a:off x="683568" y="5119832"/>
                <a:ext cx="838744" cy="370023"/>
                <a:chOff x="4654450" y="5795416"/>
                <a:chExt cx="838744" cy="370023"/>
              </a:xfrm>
            </p:grpSpPr>
            <p:sp>
              <p:nvSpPr>
                <p:cNvPr id="27674" name="Rectangle 7"/>
                <p:cNvSpPr>
                  <a:spLocks noChangeArrowheads="1"/>
                </p:cNvSpPr>
                <p:nvPr/>
              </p:nvSpPr>
              <p:spPr bwMode="auto">
                <a:xfrm>
                  <a:off x="4654450" y="5795416"/>
                  <a:ext cx="838744" cy="37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B x A </a:t>
                  </a:r>
                  <a:endParaRPr lang="en-IN" altLang="en-US" b="1">
                    <a:solidFill>
                      <a:srgbClr val="FFFF00"/>
                    </a:solidFill>
                  </a:endParaRPr>
                </a:p>
              </p:txBody>
            </p:sp>
            <p:cxnSp>
              <p:nvCxnSpPr>
                <p:cNvPr id="83" name="Straight Arrow Connector 82"/>
                <p:cNvCxnSpPr/>
                <p:nvPr/>
              </p:nvCxnSpPr>
              <p:spPr bwMode="auto">
                <a:xfrm>
                  <a:off x="4740180" y="5824246"/>
                  <a:ext cx="17146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bwMode="auto">
                <a:xfrm>
                  <a:off x="5165657" y="5824246"/>
                  <a:ext cx="171461"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673" name="Rectangle 6"/>
              <p:cNvSpPr>
                <a:spLocks noChangeArrowheads="1"/>
              </p:cNvSpPr>
              <p:nvPr/>
            </p:nvSpPr>
            <p:spPr bwMode="auto">
              <a:xfrm>
                <a:off x="1368151" y="5085184"/>
                <a:ext cx="759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Light"/>
                  </a:rPr>
                  <a:t>means the vector B is rotated towards A and its effect is taken on A.</a:t>
                </a:r>
                <a:endParaRPr lang="en-IN" altLang="en-US">
                  <a:solidFill>
                    <a:srgbClr val="FFFF00"/>
                  </a:solidFill>
                  <a:ea typeface="Times New Roman" panose="02020603050405020304" pitchFamily="18" charset="0"/>
                  <a:cs typeface="Bookman-Light"/>
                </a:endParaRPr>
              </a:p>
            </p:txBody>
          </p:sp>
        </p:grpSp>
        <p:cxnSp>
          <p:nvCxnSpPr>
            <p:cNvPr id="77" name="Straight Arrow Connector 76"/>
            <p:cNvCxnSpPr/>
            <p:nvPr/>
          </p:nvCxnSpPr>
          <p:spPr bwMode="auto">
            <a:xfrm>
              <a:off x="3019425" y="4841759"/>
              <a:ext cx="163513"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bwMode="auto">
            <a:xfrm>
              <a:off x="5272088" y="4829088"/>
              <a:ext cx="16351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bwMode="auto">
            <a:xfrm>
              <a:off x="8212138" y="4829088"/>
              <a:ext cx="163512"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6" name="Rectangle 15"/>
          <p:cNvSpPr>
            <a:spLocks noChangeArrowheads="1"/>
          </p:cNvSpPr>
          <p:nvPr/>
        </p:nvSpPr>
        <p:spPr bwMode="auto">
          <a:xfrm>
            <a:off x="1811339" y="5876926"/>
            <a:ext cx="86058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ea typeface="Times New Roman" panose="02020603050405020304" pitchFamily="18" charset="0"/>
                <a:cs typeface="Bookman-Light"/>
              </a:rPr>
              <a:t>The resultant in this case is </a:t>
            </a:r>
            <a:r>
              <a:rPr lang="en-US" altLang="en-US" b="1">
                <a:solidFill>
                  <a:srgbClr val="00FF00"/>
                </a:solidFill>
                <a:ea typeface="Times New Roman" panose="02020603050405020304" pitchFamily="18" charset="0"/>
                <a:cs typeface="Bookman-Light"/>
              </a:rPr>
              <a:t>perpendicular and emerging out of the plane</a:t>
            </a:r>
            <a:r>
              <a:rPr lang="en-US" altLang="en-US" b="1">
                <a:solidFill>
                  <a:srgbClr val="FF7C80"/>
                </a:solidFill>
                <a:ea typeface="Times New Roman" panose="02020603050405020304" pitchFamily="18" charset="0"/>
                <a:cs typeface="Bookman-Light"/>
              </a:rPr>
              <a:t> of the diagram.</a:t>
            </a:r>
            <a:endParaRPr lang="en-IN" altLang="en-US">
              <a:solidFill>
                <a:srgbClr val="000000"/>
              </a:solidFill>
              <a:ea typeface="Times New Roman" panose="02020603050405020304" pitchFamily="18" charset="0"/>
              <a:cs typeface="Bookman-Light"/>
            </a:endParaRPr>
          </a:p>
        </p:txBody>
      </p:sp>
      <p:sp>
        <p:nvSpPr>
          <p:cNvPr id="17" name="Rectangle 16"/>
          <p:cNvSpPr>
            <a:spLocks noChangeArrowheads="1"/>
          </p:cNvSpPr>
          <p:nvPr/>
        </p:nvSpPr>
        <p:spPr bwMode="auto">
          <a:xfrm>
            <a:off x="1801813" y="6443664"/>
            <a:ext cx="5607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00FF"/>
                </a:solidFill>
                <a:ea typeface="Times New Roman" panose="02020603050405020304" pitchFamily="18" charset="0"/>
                <a:cs typeface="Bookman-Light"/>
              </a:rPr>
              <a:t>Closing and opening a tap is the best example.</a:t>
            </a:r>
          </a:p>
        </p:txBody>
      </p:sp>
    </p:spTree>
    <p:extLst>
      <p:ext uri="{BB962C8B-B14F-4D97-AF65-F5344CB8AC3E}">
        <p14:creationId xmlns:p14="http://schemas.microsoft.com/office/powerpoint/2010/main" val="440273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27651">
                                            <p:txEl>
                                              <p:pRg st="0" end="0"/>
                                            </p:txEl>
                                          </p:spTgt>
                                        </p:tgtEl>
                                        <p:attrNameLst>
                                          <p:attrName>style.visibility</p:attrName>
                                        </p:attrNameLst>
                                      </p:cBhvr>
                                      <p:to>
                                        <p:strVal val="visible"/>
                                      </p:to>
                                    </p:set>
                                    <p:animEffect transition="in" filter="wipe(up)">
                                      <p:cBhvr>
                                        <p:cTn id="14" dur="500"/>
                                        <p:tgtEl>
                                          <p:spTgt spid="27651">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7651">
                                            <p:txEl>
                                              <p:pRg st="2" end="2"/>
                                            </p:txEl>
                                          </p:spTgt>
                                        </p:tgtEl>
                                        <p:attrNameLst>
                                          <p:attrName>style.visibility</p:attrName>
                                        </p:attrNameLst>
                                      </p:cBhvr>
                                      <p:to>
                                        <p:strVal val="visible"/>
                                      </p:to>
                                    </p:set>
                                    <p:animEffect transition="in" filter="wipe(up)">
                                      <p:cBhvr>
                                        <p:cTn id="19" dur="500"/>
                                        <p:tgtEl>
                                          <p:spTgt spid="27651">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27651">
                                            <p:txEl>
                                              <p:pRg st="3" end="3"/>
                                            </p:txEl>
                                          </p:spTgt>
                                        </p:tgtEl>
                                        <p:attrNameLst>
                                          <p:attrName>style.visibility</p:attrName>
                                        </p:attrNameLst>
                                      </p:cBhvr>
                                      <p:to>
                                        <p:strVal val="visible"/>
                                      </p:to>
                                    </p:set>
                                    <p:animEffect transition="in" filter="wipe(up)">
                                      <p:cBhvr>
                                        <p:cTn id="24" dur="500"/>
                                        <p:tgtEl>
                                          <p:spTgt spid="27651">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661"/>
                                        </p:tgtEl>
                                        <p:attrNameLst>
                                          <p:attrName>style.visibility</p:attrName>
                                        </p:attrNameLst>
                                      </p:cBhvr>
                                      <p:to>
                                        <p:strVal val="visible"/>
                                      </p:to>
                                    </p:set>
                                    <p:animEffect transition="in" filter="wipe(left)">
                                      <p:cBhvr>
                                        <p:cTn id="41" dur="500"/>
                                        <p:tgtEl>
                                          <p:spTgt spid="2766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27670"/>
                                        </p:tgtEl>
                                        <p:attrNameLst>
                                          <p:attrName>style.visibility</p:attrName>
                                        </p:attrNameLst>
                                      </p:cBhvr>
                                      <p:to>
                                        <p:strVal val="visible"/>
                                      </p:to>
                                    </p:set>
                                    <p:animEffect transition="in" filter="wipe(up)">
                                      <p:cBhvr>
                                        <p:cTn id="51" dur="500"/>
                                        <p:tgtEl>
                                          <p:spTgt spid="2767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16"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27669"/>
                                        </p:tgtEl>
                                        <p:attrNameLst>
                                          <p:attrName>style.visibility</p:attrName>
                                        </p:attrNameLst>
                                      </p:cBhvr>
                                      <p:to>
                                        <p:strVal val="visible"/>
                                      </p:to>
                                    </p:set>
                                    <p:animEffect transition="in" filter="wipe(left)">
                                      <p:cBhvr>
                                        <p:cTn id="68" dur="500"/>
                                        <p:tgtEl>
                                          <p:spTgt spid="2766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up)">
                                      <p:cBhvr>
                                        <p:cTn id="73" dur="500"/>
                                        <p:tgtEl>
                                          <p:spTgt spid="1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27666"/>
                                        </p:tgtEl>
                                        <p:attrNameLst>
                                          <p:attrName>style.visibility</p:attrName>
                                        </p:attrNameLst>
                                      </p:cBhvr>
                                      <p:to>
                                        <p:strVal val="visible"/>
                                      </p:to>
                                    </p:set>
                                    <p:animEffect transition="in" filter="wipe(up)">
                                      <p:cBhvr>
                                        <p:cTn id="78" dur="500"/>
                                        <p:tgtEl>
                                          <p:spTgt spid="2766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5"/>
                                        </p:tgtEl>
                                        <p:attrNameLst>
                                          <p:attrName>style.visibility</p:attrName>
                                        </p:attrNameLst>
                                      </p:cBhvr>
                                      <p:to>
                                        <p:strVal val="visible"/>
                                      </p:to>
                                    </p:set>
                                    <p:animEffect transition="in" filter="wipe(left)">
                                      <p:cBhvr>
                                        <p:cTn id="83" dur="500"/>
                                        <p:tgtEl>
                                          <p:spTgt spid="7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 calcmode="lin" valueType="num">
                                      <p:cBhvr>
                                        <p:cTn id="88" dur="500" fill="hold"/>
                                        <p:tgtEl>
                                          <p:spTgt spid="16"/>
                                        </p:tgtEl>
                                        <p:attrNameLst>
                                          <p:attrName>ppt_w</p:attrName>
                                        </p:attrNameLst>
                                      </p:cBhvr>
                                      <p:tavLst>
                                        <p:tav tm="0">
                                          <p:val>
                                            <p:fltVal val="0"/>
                                          </p:val>
                                        </p:tav>
                                        <p:tav tm="100000">
                                          <p:val>
                                            <p:strVal val="#ppt_w"/>
                                          </p:val>
                                        </p:tav>
                                      </p:tavLst>
                                    </p:anim>
                                    <p:anim calcmode="lin" valueType="num">
                                      <p:cBhvr>
                                        <p:cTn id="89" dur="500" fill="hold"/>
                                        <p:tgtEl>
                                          <p:spTgt spid="16"/>
                                        </p:tgtEl>
                                        <p:attrNameLst>
                                          <p:attrName>ppt_h</p:attrName>
                                        </p:attrNameLst>
                                      </p:cBhvr>
                                      <p:tavLst>
                                        <p:tav tm="0">
                                          <p:val>
                                            <p:fltVal val="0"/>
                                          </p:val>
                                        </p:tav>
                                        <p:tav tm="100000">
                                          <p:val>
                                            <p:strVal val="#ppt_h"/>
                                          </p:val>
                                        </p:tav>
                                      </p:tavLst>
                                    </p:anim>
                                    <p:animEffect transition="in" filter="fade">
                                      <p:cBhvr>
                                        <p:cTn id="90" dur="500"/>
                                        <p:tgtEl>
                                          <p:spTgt spid="1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1" nodeType="click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childTnLst>
                          </p:cTn>
                        </p:par>
                        <p:par>
                          <p:cTn id="95" fill="hold" nodeType="afterGroup">
                            <p:stCondLst>
                              <p:cond delay="0"/>
                            </p:stCondLst>
                            <p:childTnLst>
                              <p:par>
                                <p:cTn id="96" presetID="8" presetClass="emph" presetSubtype="0" fill="hold" grpId="0" nodeType="afterEffect">
                                  <p:stCondLst>
                                    <p:cond delay="0"/>
                                  </p:stCondLst>
                                  <p:childTnLst>
                                    <p:animRot by="21600000">
                                      <p:cBhvr>
                                        <p:cTn id="97" dur="2000" fill="hold"/>
                                        <p:tgtEl>
                                          <p:spTgt spid="17"/>
                                        </p:tgtEl>
                                        <p:attrNameLst>
                                          <p:attrName>r</p:attrName>
                                        </p:attrNameLst>
                                      </p:cBhvr>
                                    </p:animRot>
                                  </p:childTnLst>
                                </p:cTn>
                              </p:par>
                            </p:childTnLst>
                          </p:cTn>
                        </p:par>
                        <p:par>
                          <p:cTn id="98" fill="hold" nodeType="afterGroup">
                            <p:stCondLst>
                              <p:cond delay="2000"/>
                            </p:stCondLst>
                            <p:childTnLst>
                              <p:par>
                                <p:cTn id="99" presetID="8" presetClass="emph" presetSubtype="0" fill="hold" grpId="2" nodeType="afterEffect">
                                  <p:stCondLst>
                                    <p:cond delay="0"/>
                                  </p:stCondLst>
                                  <p:childTnLst>
                                    <p:animRot by="-21600000">
                                      <p:cBhvr>
                                        <p:cTn id="100" dur="2000" fill="hold"/>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7661" grpId="0"/>
      <p:bldP spid="39" grpId="0"/>
      <p:bldP spid="27666" grpId="0"/>
      <p:bldP spid="16" grpId="0"/>
      <p:bldP spid="17" grpId="0"/>
      <p:bldP spid="17" grpId="1"/>
      <p:bldP spid="17" grpId="2"/>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3388" y="44450"/>
            <a:ext cx="3816350" cy="400050"/>
          </a:xfrm>
          <a:prstGeom prst="rect">
            <a:avLst/>
          </a:prstGeom>
        </p:spPr>
        <p:txBody>
          <a:bodyPr>
            <a:spAutoFit/>
          </a:bodyPr>
          <a:lstStyle/>
          <a:p>
            <a:pPr fontAlgn="base">
              <a:spcBef>
                <a:spcPct val="0"/>
              </a:spcBef>
              <a:spcAft>
                <a:spcPct val="0"/>
              </a:spcAft>
              <a:defRPr/>
            </a:pPr>
            <a:r>
              <a:rPr lang="en-US" sz="2000" b="1" dirty="0">
                <a:solidFill>
                  <a:srgbClr val="FFC000"/>
                </a:solidFill>
                <a:latin typeface="Arial"/>
                <a:ea typeface="Times New Roman" pitchFamily="18" charset="0"/>
                <a:cs typeface="Bookman-Demi" charset="0"/>
              </a:rPr>
              <a:t>Properties of  Cross Product</a:t>
            </a:r>
            <a:endParaRPr lang="en-IN" sz="2000" dirty="0">
              <a:solidFill>
                <a:srgbClr val="FFC000"/>
              </a:solidFill>
              <a:latin typeface="Arial"/>
              <a:cs typeface="Arial" panose="020B0604020202020204" pitchFamily="34" charset="0"/>
            </a:endParaRPr>
          </a:p>
        </p:txBody>
      </p:sp>
      <p:sp>
        <p:nvSpPr>
          <p:cNvPr id="28675" name="Rectangle 7"/>
          <p:cNvSpPr>
            <a:spLocks noChangeArrowheads="1"/>
          </p:cNvSpPr>
          <p:nvPr/>
        </p:nvSpPr>
        <p:spPr bwMode="auto">
          <a:xfrm>
            <a:off x="1730376" y="468313"/>
            <a:ext cx="6327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buFontTx/>
              <a:buAutoNum type="arabicPeriod"/>
            </a:pPr>
            <a:r>
              <a:rPr lang="en-US" altLang="en-US" b="1">
                <a:solidFill>
                  <a:srgbClr val="FF00FF"/>
                </a:solidFill>
                <a:ea typeface="Times New Roman" panose="02020603050405020304" pitchFamily="18" charset="0"/>
                <a:cs typeface="Bookman-Demi"/>
              </a:rPr>
              <a:t>Vector product results in a </a:t>
            </a:r>
            <a:r>
              <a:rPr lang="en-US" altLang="en-US" b="1">
                <a:solidFill>
                  <a:srgbClr val="FFFF00"/>
                </a:solidFill>
                <a:ea typeface="Times New Roman" panose="02020603050405020304" pitchFamily="18" charset="0"/>
                <a:cs typeface="Bookman-Demi"/>
              </a:rPr>
              <a:t>vector</a:t>
            </a:r>
            <a:r>
              <a:rPr lang="en-US" altLang="en-US" b="1">
                <a:solidFill>
                  <a:srgbClr val="FF00FF"/>
                </a:solidFill>
                <a:ea typeface="Times New Roman" panose="02020603050405020304" pitchFamily="18" charset="0"/>
                <a:cs typeface="Bookman-Demi"/>
              </a:rPr>
              <a:t>.</a:t>
            </a:r>
          </a:p>
          <a:p>
            <a:pPr eaLnBrk="1" fontAlgn="base" hangingPunct="1">
              <a:spcBef>
                <a:spcPct val="0"/>
              </a:spcBef>
              <a:spcAft>
                <a:spcPct val="0"/>
              </a:spcAft>
              <a:buFontTx/>
              <a:buAutoNum type="arabicPeriod"/>
            </a:pPr>
            <a:r>
              <a:rPr lang="en-US" altLang="en-US" b="1">
                <a:solidFill>
                  <a:srgbClr val="FF6600"/>
                </a:solidFill>
                <a:ea typeface="Times New Roman" panose="02020603050405020304" pitchFamily="18" charset="0"/>
                <a:cs typeface="Bookman-Demi"/>
              </a:rPr>
              <a:t>Vector product or Cross product is </a:t>
            </a:r>
            <a:r>
              <a:rPr lang="en-US" altLang="en-US" b="1">
                <a:solidFill>
                  <a:srgbClr val="00FF00"/>
                </a:solidFill>
                <a:ea typeface="Times New Roman" panose="02020603050405020304" pitchFamily="18" charset="0"/>
                <a:cs typeface="Bookman-Demi"/>
              </a:rPr>
              <a:t>not</a:t>
            </a:r>
            <a:r>
              <a:rPr lang="en-US" altLang="en-US" b="1">
                <a:solidFill>
                  <a:srgbClr val="FF6600"/>
                </a:solidFill>
                <a:ea typeface="Times New Roman" panose="02020603050405020304" pitchFamily="18" charset="0"/>
                <a:cs typeface="Bookman-Demi"/>
              </a:rPr>
              <a:t> </a:t>
            </a:r>
            <a:r>
              <a:rPr lang="en-US" altLang="en-US" b="1">
                <a:solidFill>
                  <a:srgbClr val="00FF00"/>
                </a:solidFill>
                <a:ea typeface="Times New Roman" panose="02020603050405020304" pitchFamily="18" charset="0"/>
                <a:cs typeface="Bookman-Demi"/>
              </a:rPr>
              <a:t>commutative</a:t>
            </a:r>
            <a:r>
              <a:rPr lang="en-US" altLang="en-US" b="1">
                <a:solidFill>
                  <a:srgbClr val="FF6600"/>
                </a:solidFill>
                <a:ea typeface="Times New Roman" panose="02020603050405020304" pitchFamily="18" charset="0"/>
                <a:cs typeface="Bookman-Demi"/>
              </a:rPr>
              <a:t>.</a:t>
            </a:r>
            <a:endParaRPr lang="en-IN" altLang="en-US">
              <a:solidFill>
                <a:srgbClr val="FF6600"/>
              </a:solidFill>
              <a:ea typeface="Times New Roman" panose="02020603050405020304" pitchFamily="18" charset="0"/>
              <a:cs typeface="Bookman-Demi"/>
            </a:endParaRPr>
          </a:p>
        </p:txBody>
      </p:sp>
      <p:grpSp>
        <p:nvGrpSpPr>
          <p:cNvPr id="28676" name="Group 16"/>
          <p:cNvGrpSpPr>
            <a:grpSpLocks/>
          </p:cNvGrpSpPr>
          <p:nvPr/>
        </p:nvGrpSpPr>
        <p:grpSpPr bwMode="auto">
          <a:xfrm>
            <a:off x="1730375" y="1233489"/>
            <a:ext cx="2565400" cy="395287"/>
            <a:chOff x="278414" y="1245971"/>
            <a:chExt cx="2565393" cy="396277"/>
          </a:xfrm>
        </p:grpSpPr>
        <p:grpSp>
          <p:nvGrpSpPr>
            <p:cNvPr id="28835" name="Group 14"/>
            <p:cNvGrpSpPr>
              <a:grpSpLocks/>
            </p:cNvGrpSpPr>
            <p:nvPr/>
          </p:nvGrpSpPr>
          <p:grpSpPr bwMode="auto">
            <a:xfrm>
              <a:off x="691734" y="1245971"/>
              <a:ext cx="2152073" cy="396277"/>
              <a:chOff x="3188352" y="3478221"/>
              <a:chExt cx="2152073" cy="396274"/>
            </a:xfrm>
          </p:grpSpPr>
          <p:grpSp>
            <p:nvGrpSpPr>
              <p:cNvPr id="28837" name="Group 12"/>
              <p:cNvGrpSpPr>
                <a:grpSpLocks/>
              </p:cNvGrpSpPr>
              <p:nvPr/>
            </p:nvGrpSpPr>
            <p:grpSpPr bwMode="auto">
              <a:xfrm>
                <a:off x="3188352" y="3478221"/>
                <a:ext cx="1743690" cy="392122"/>
                <a:chOff x="3188354" y="3478218"/>
                <a:chExt cx="1743686" cy="392122"/>
              </a:xfrm>
            </p:grpSpPr>
            <p:grpSp>
              <p:nvGrpSpPr>
                <p:cNvPr id="28839" name="Group 4"/>
                <p:cNvGrpSpPr>
                  <a:grpSpLocks/>
                </p:cNvGrpSpPr>
                <p:nvPr/>
              </p:nvGrpSpPr>
              <p:grpSpPr bwMode="auto">
                <a:xfrm>
                  <a:off x="3188354" y="3478218"/>
                  <a:ext cx="447545" cy="383675"/>
                  <a:chOff x="3188350" y="3478213"/>
                  <a:chExt cx="447545" cy="383680"/>
                </a:xfrm>
              </p:grpSpPr>
              <p:grpSp>
                <p:nvGrpSpPr>
                  <p:cNvPr id="28856" name="Group 46"/>
                  <p:cNvGrpSpPr>
                    <a:grpSpLocks/>
                  </p:cNvGrpSpPr>
                  <p:nvPr/>
                </p:nvGrpSpPr>
                <p:grpSpPr bwMode="auto">
                  <a:xfrm>
                    <a:off x="3188350" y="3478218"/>
                    <a:ext cx="249259" cy="382830"/>
                    <a:chOff x="3814059" y="3161928"/>
                    <a:chExt cx="249260" cy="382438"/>
                  </a:xfrm>
                </p:grpSpPr>
                <p:sp>
                  <p:nvSpPr>
                    <p:cNvPr id="28861" name="Rectangle 47"/>
                    <p:cNvSpPr>
                      <a:spLocks noChangeArrowheads="1"/>
                    </p:cNvSpPr>
                    <p:nvPr/>
                  </p:nvSpPr>
                  <p:spPr bwMode="auto">
                    <a:xfrm>
                      <a:off x="3814059" y="3175037"/>
                      <a:ext cx="249260" cy="3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i</a:t>
                      </a:r>
                      <a:endParaRPr lang="en-IN" altLang="en-US" b="1">
                        <a:solidFill>
                          <a:srgbClr val="FFFF00"/>
                        </a:solidFill>
                      </a:endParaRPr>
                    </a:p>
                  </p:txBody>
                </p:sp>
                <p:sp>
                  <p:nvSpPr>
                    <p:cNvPr id="28862"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8857" name="Group 46"/>
                  <p:cNvGrpSpPr>
                    <a:grpSpLocks/>
                  </p:cNvGrpSpPr>
                  <p:nvPr/>
                </p:nvGrpSpPr>
                <p:grpSpPr bwMode="auto">
                  <a:xfrm>
                    <a:off x="3386636" y="3478213"/>
                    <a:ext cx="249259" cy="382830"/>
                    <a:chOff x="3814059" y="3161928"/>
                    <a:chExt cx="249260" cy="382438"/>
                  </a:xfrm>
                </p:grpSpPr>
                <p:sp>
                  <p:nvSpPr>
                    <p:cNvPr id="28859" name="Rectangle 47"/>
                    <p:cNvSpPr>
                      <a:spLocks noChangeArrowheads="1"/>
                    </p:cNvSpPr>
                    <p:nvPr/>
                  </p:nvSpPr>
                  <p:spPr bwMode="auto">
                    <a:xfrm>
                      <a:off x="3814059" y="3175037"/>
                      <a:ext cx="249260" cy="3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i</a:t>
                      </a:r>
                      <a:endParaRPr lang="en-IN" altLang="en-US" b="1">
                        <a:solidFill>
                          <a:srgbClr val="FFFF00"/>
                        </a:solidFill>
                      </a:endParaRPr>
                    </a:p>
                  </p:txBody>
                </p:sp>
                <p:sp>
                  <p:nvSpPr>
                    <p:cNvPr id="28860"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858" name="Rectangle 3"/>
                  <p:cNvSpPr>
                    <a:spLocks noChangeArrowheads="1"/>
                  </p:cNvSpPr>
                  <p:nvPr/>
                </p:nvSpPr>
                <p:spPr bwMode="auto">
                  <a:xfrm>
                    <a:off x="3250580" y="3491633"/>
                    <a:ext cx="312905" cy="370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Demi"/>
                      </a:rPr>
                      <a:t>x</a:t>
                    </a:r>
                    <a:endParaRPr lang="en-IN" altLang="en-US">
                      <a:solidFill>
                        <a:srgbClr val="FFFF00"/>
                      </a:solidFill>
                      <a:ea typeface="Times New Roman" panose="02020603050405020304" pitchFamily="18" charset="0"/>
                      <a:cs typeface="Bookman-Demi"/>
                    </a:endParaRPr>
                  </a:p>
                </p:txBody>
              </p:sp>
            </p:grpSp>
            <p:grpSp>
              <p:nvGrpSpPr>
                <p:cNvPr id="28840" name="Group 130"/>
                <p:cNvGrpSpPr>
                  <a:grpSpLocks/>
                </p:cNvGrpSpPr>
                <p:nvPr/>
              </p:nvGrpSpPr>
              <p:grpSpPr bwMode="auto">
                <a:xfrm>
                  <a:off x="3764418" y="3478218"/>
                  <a:ext cx="447545" cy="383574"/>
                  <a:chOff x="3188350" y="3478213"/>
                  <a:chExt cx="447543" cy="383579"/>
                </a:xfrm>
              </p:grpSpPr>
              <p:grpSp>
                <p:nvGrpSpPr>
                  <p:cNvPr id="28849" name="Group 46"/>
                  <p:cNvGrpSpPr>
                    <a:grpSpLocks/>
                  </p:cNvGrpSpPr>
                  <p:nvPr/>
                </p:nvGrpSpPr>
                <p:grpSpPr bwMode="auto">
                  <a:xfrm>
                    <a:off x="3188350" y="3478218"/>
                    <a:ext cx="249259" cy="382830"/>
                    <a:chOff x="3814059" y="3161928"/>
                    <a:chExt cx="249260" cy="382438"/>
                  </a:xfrm>
                </p:grpSpPr>
                <p:sp>
                  <p:nvSpPr>
                    <p:cNvPr id="28854" name="Rectangle 47"/>
                    <p:cNvSpPr>
                      <a:spLocks noChangeArrowheads="1"/>
                    </p:cNvSpPr>
                    <p:nvPr/>
                  </p:nvSpPr>
                  <p:spPr bwMode="auto">
                    <a:xfrm>
                      <a:off x="3814059" y="3175037"/>
                      <a:ext cx="249260" cy="3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j</a:t>
                      </a:r>
                      <a:endParaRPr lang="en-IN" altLang="en-US" b="1">
                        <a:solidFill>
                          <a:srgbClr val="FFFF00"/>
                        </a:solidFill>
                      </a:endParaRPr>
                    </a:p>
                  </p:txBody>
                </p:sp>
                <p:sp>
                  <p:nvSpPr>
                    <p:cNvPr id="28855"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8850" name="Group 46"/>
                  <p:cNvGrpSpPr>
                    <a:grpSpLocks/>
                  </p:cNvGrpSpPr>
                  <p:nvPr/>
                </p:nvGrpSpPr>
                <p:grpSpPr bwMode="auto">
                  <a:xfrm>
                    <a:off x="3386634" y="3478213"/>
                    <a:ext cx="249259" cy="382830"/>
                    <a:chOff x="3814059" y="3161928"/>
                    <a:chExt cx="249260" cy="382438"/>
                  </a:xfrm>
                </p:grpSpPr>
                <p:sp>
                  <p:nvSpPr>
                    <p:cNvPr id="28852" name="Rectangle 47"/>
                    <p:cNvSpPr>
                      <a:spLocks noChangeArrowheads="1"/>
                    </p:cNvSpPr>
                    <p:nvPr/>
                  </p:nvSpPr>
                  <p:spPr bwMode="auto">
                    <a:xfrm>
                      <a:off x="3814059" y="3175037"/>
                      <a:ext cx="249260" cy="3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j</a:t>
                      </a:r>
                      <a:endParaRPr lang="en-IN" altLang="en-US" b="1">
                        <a:solidFill>
                          <a:srgbClr val="FFFF00"/>
                        </a:solidFill>
                      </a:endParaRPr>
                    </a:p>
                  </p:txBody>
                </p:sp>
                <p:sp>
                  <p:nvSpPr>
                    <p:cNvPr id="28853"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851" name="Rectangle 133"/>
                  <p:cNvSpPr>
                    <a:spLocks noChangeArrowheads="1"/>
                  </p:cNvSpPr>
                  <p:nvPr/>
                </p:nvSpPr>
                <p:spPr bwMode="auto">
                  <a:xfrm>
                    <a:off x="3252792" y="3491633"/>
                    <a:ext cx="312905" cy="37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Demi"/>
                      </a:rPr>
                      <a:t>x</a:t>
                    </a:r>
                    <a:endParaRPr lang="en-IN" altLang="en-US">
                      <a:solidFill>
                        <a:srgbClr val="FFFF00"/>
                      </a:solidFill>
                      <a:ea typeface="Times New Roman" panose="02020603050405020304" pitchFamily="18" charset="0"/>
                      <a:cs typeface="Bookman-Demi"/>
                    </a:endParaRPr>
                  </a:p>
                </p:txBody>
              </p:sp>
            </p:grpSp>
            <p:sp>
              <p:nvSpPr>
                <p:cNvPr id="28841" name="Rectangle 5"/>
                <p:cNvSpPr>
                  <a:spLocks noChangeArrowheads="1"/>
                </p:cNvSpPr>
                <p:nvPr/>
              </p:nvSpPr>
              <p:spPr bwMode="auto">
                <a:xfrm>
                  <a:off x="3548701" y="3498308"/>
                  <a:ext cx="3193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a:t>
                  </a:r>
                  <a:endParaRPr lang="en-IN" altLang="en-US">
                    <a:solidFill>
                      <a:srgbClr val="FFFF00"/>
                    </a:solidFill>
                  </a:endParaRPr>
                </a:p>
              </p:txBody>
            </p:sp>
            <p:sp>
              <p:nvSpPr>
                <p:cNvPr id="28842" name="Rectangle 138"/>
                <p:cNvSpPr>
                  <a:spLocks noChangeArrowheads="1"/>
                </p:cNvSpPr>
                <p:nvPr/>
              </p:nvSpPr>
              <p:spPr bwMode="auto">
                <a:xfrm>
                  <a:off x="4139954" y="3501008"/>
                  <a:ext cx="319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a:t>
                  </a:r>
                  <a:endParaRPr lang="en-IN" altLang="en-US">
                    <a:solidFill>
                      <a:srgbClr val="FFFF00"/>
                    </a:solidFill>
                  </a:endParaRPr>
                </a:p>
              </p:txBody>
            </p:sp>
            <p:grpSp>
              <p:nvGrpSpPr>
                <p:cNvPr id="28843" name="Group 8"/>
                <p:cNvGrpSpPr>
                  <a:grpSpLocks/>
                </p:cNvGrpSpPr>
                <p:nvPr/>
              </p:nvGrpSpPr>
              <p:grpSpPr bwMode="auto">
                <a:xfrm>
                  <a:off x="4364347" y="3478221"/>
                  <a:ext cx="567693" cy="388502"/>
                  <a:chOff x="4364344" y="3478219"/>
                  <a:chExt cx="567689" cy="388504"/>
                </a:xfrm>
              </p:grpSpPr>
              <p:sp>
                <p:nvSpPr>
                  <p:cNvPr id="28844" name="Rectangle 47"/>
                  <p:cNvSpPr>
                    <a:spLocks noChangeArrowheads="1"/>
                  </p:cNvSpPr>
                  <p:nvPr/>
                </p:nvSpPr>
                <p:spPr bwMode="auto">
                  <a:xfrm>
                    <a:off x="4364344" y="3497390"/>
                    <a:ext cx="312906"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k</a:t>
                    </a:r>
                    <a:endParaRPr lang="en-IN" altLang="en-US" b="1">
                      <a:solidFill>
                        <a:srgbClr val="FFFF00"/>
                      </a:solidFill>
                    </a:endParaRPr>
                  </a:p>
                </p:txBody>
              </p:sp>
              <p:sp>
                <p:nvSpPr>
                  <p:cNvPr id="28845" name="Line 37"/>
                  <p:cNvSpPr>
                    <a:spLocks noChangeShapeType="1"/>
                  </p:cNvSpPr>
                  <p:nvPr/>
                </p:nvSpPr>
                <p:spPr bwMode="auto">
                  <a:xfrm rot="5400000" flipH="1" flipV="1">
                    <a:off x="4484404" y="3501008"/>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46" name="Rectangle 47"/>
                  <p:cNvSpPr>
                    <a:spLocks noChangeArrowheads="1"/>
                  </p:cNvSpPr>
                  <p:nvPr/>
                </p:nvSpPr>
                <p:spPr bwMode="auto">
                  <a:xfrm>
                    <a:off x="4619127" y="3491372"/>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k</a:t>
                    </a:r>
                    <a:endParaRPr lang="en-IN" altLang="en-US" b="1">
                      <a:solidFill>
                        <a:srgbClr val="FFFF00"/>
                      </a:solidFill>
                    </a:endParaRPr>
                  </a:p>
                </p:txBody>
              </p:sp>
              <p:sp>
                <p:nvSpPr>
                  <p:cNvPr id="28847" name="Line 37"/>
                  <p:cNvSpPr>
                    <a:spLocks noChangeShapeType="1"/>
                  </p:cNvSpPr>
                  <p:nvPr/>
                </p:nvSpPr>
                <p:spPr bwMode="auto">
                  <a:xfrm rot="5400000" flipH="1" flipV="1">
                    <a:off x="4752634" y="3494987"/>
                    <a:ext cx="33537"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48" name="Rectangle 143"/>
                  <p:cNvSpPr>
                    <a:spLocks noChangeArrowheads="1"/>
                  </p:cNvSpPr>
                  <p:nvPr/>
                </p:nvSpPr>
                <p:spPr bwMode="auto">
                  <a:xfrm>
                    <a:off x="4489048" y="3482908"/>
                    <a:ext cx="312905" cy="37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ea typeface="Times New Roman" panose="02020603050405020304" pitchFamily="18" charset="0"/>
                        <a:cs typeface="Bookman-Demi"/>
                      </a:rPr>
                      <a:t>x</a:t>
                    </a:r>
                    <a:endParaRPr lang="en-IN" altLang="en-US">
                      <a:solidFill>
                        <a:srgbClr val="FFFF00"/>
                      </a:solidFill>
                      <a:ea typeface="Times New Roman" panose="02020603050405020304" pitchFamily="18" charset="0"/>
                      <a:cs typeface="Bookman-Demi"/>
                    </a:endParaRPr>
                  </a:p>
                </p:txBody>
              </p:sp>
            </p:grpSp>
          </p:grpSp>
          <p:sp>
            <p:nvSpPr>
              <p:cNvPr id="28838" name="Rectangle 13"/>
              <p:cNvSpPr>
                <a:spLocks noChangeArrowheads="1"/>
              </p:cNvSpPr>
              <p:nvPr/>
            </p:nvSpPr>
            <p:spPr bwMode="auto">
              <a:xfrm>
                <a:off x="4828746" y="3505163"/>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 0</a:t>
                </a:r>
                <a:endParaRPr lang="en-IN" altLang="en-US">
                  <a:solidFill>
                    <a:srgbClr val="FFFF00"/>
                  </a:solidFill>
                </a:endParaRPr>
              </a:p>
            </p:txBody>
          </p:sp>
        </p:grpSp>
        <p:sp>
          <p:nvSpPr>
            <p:cNvPr id="28836" name="Rectangle 15"/>
            <p:cNvSpPr>
              <a:spLocks noChangeArrowheads="1"/>
            </p:cNvSpPr>
            <p:nvPr/>
          </p:nvSpPr>
          <p:spPr bwMode="auto">
            <a:xfrm>
              <a:off x="278414" y="1259468"/>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00"/>
                  </a:solidFill>
                </a:rPr>
                <a:t>3.</a:t>
              </a:r>
              <a:endParaRPr lang="en-IN" altLang="en-US">
                <a:solidFill>
                  <a:srgbClr val="FFFF00"/>
                </a:solidFill>
              </a:endParaRPr>
            </a:p>
          </p:txBody>
        </p:sp>
      </p:grpSp>
      <p:grpSp>
        <p:nvGrpSpPr>
          <p:cNvPr id="28679" name="Group 82"/>
          <p:cNvGrpSpPr>
            <a:grpSpLocks/>
          </p:cNvGrpSpPr>
          <p:nvPr/>
        </p:nvGrpSpPr>
        <p:grpSpPr bwMode="auto">
          <a:xfrm>
            <a:off x="8007351" y="620713"/>
            <a:ext cx="1833563" cy="461962"/>
            <a:chOff x="1838624" y="6063614"/>
            <a:chExt cx="1834510" cy="461730"/>
          </a:xfrm>
        </p:grpSpPr>
        <p:grpSp>
          <p:nvGrpSpPr>
            <p:cNvPr id="28826" name="Group 74"/>
            <p:cNvGrpSpPr>
              <a:grpSpLocks/>
            </p:cNvGrpSpPr>
            <p:nvPr/>
          </p:nvGrpSpPr>
          <p:grpSpPr bwMode="auto">
            <a:xfrm>
              <a:off x="1907704" y="6156012"/>
              <a:ext cx="1157112" cy="369332"/>
              <a:chOff x="4654450" y="5795416"/>
              <a:chExt cx="1157112" cy="369332"/>
            </a:xfrm>
          </p:grpSpPr>
          <p:sp>
            <p:nvSpPr>
              <p:cNvPr id="28832" name="Rectangle 7"/>
              <p:cNvSpPr>
                <a:spLocks noChangeArrowheads="1"/>
              </p:cNvSpPr>
              <p:nvPr/>
            </p:nvSpPr>
            <p:spPr bwMode="auto">
              <a:xfrm>
                <a:off x="4654450" y="5795416"/>
                <a:ext cx="1157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CC"/>
                    </a:solidFill>
                  </a:rPr>
                  <a:t>A x B =   </a:t>
                </a:r>
                <a:endParaRPr lang="en-IN" altLang="en-US" b="1">
                  <a:solidFill>
                    <a:srgbClr val="FFFFCC"/>
                  </a:solidFill>
                </a:endParaRPr>
              </a:p>
            </p:txBody>
          </p:sp>
          <p:cxnSp>
            <p:nvCxnSpPr>
              <p:cNvPr id="120" name="Straight Arrow Connector 119"/>
              <p:cNvCxnSpPr/>
              <p:nvPr/>
            </p:nvCxnSpPr>
            <p:spPr bwMode="auto">
              <a:xfrm>
                <a:off x="4752144" y="5823608"/>
                <a:ext cx="1715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bwMode="auto">
              <a:xfrm>
                <a:off x="5165107" y="5823608"/>
                <a:ext cx="17153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827" name="Group 75"/>
            <p:cNvGrpSpPr>
              <a:grpSpLocks/>
            </p:cNvGrpSpPr>
            <p:nvPr/>
          </p:nvGrpSpPr>
          <p:grpSpPr bwMode="auto">
            <a:xfrm>
              <a:off x="2671145" y="6156012"/>
              <a:ext cx="971163" cy="369332"/>
              <a:chOff x="4654450" y="5795416"/>
              <a:chExt cx="971163" cy="369332"/>
            </a:xfrm>
          </p:grpSpPr>
          <p:sp>
            <p:nvSpPr>
              <p:cNvPr id="28829" name="Rectangle 7"/>
              <p:cNvSpPr>
                <a:spLocks noChangeArrowheads="1"/>
              </p:cNvSpPr>
              <p:nvPr/>
            </p:nvSpPr>
            <p:spPr bwMode="auto">
              <a:xfrm>
                <a:off x="4654450" y="5795416"/>
                <a:ext cx="971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FFCC"/>
                    </a:solidFill>
                  </a:rPr>
                  <a:t> - B x A</a:t>
                </a:r>
                <a:endParaRPr lang="en-IN" altLang="en-US" b="1">
                  <a:solidFill>
                    <a:srgbClr val="FFFFCC"/>
                  </a:solidFill>
                </a:endParaRPr>
              </a:p>
            </p:txBody>
          </p:sp>
          <p:cxnSp>
            <p:nvCxnSpPr>
              <p:cNvPr id="117" name="Straight Arrow Connector 116"/>
              <p:cNvCxnSpPr/>
              <p:nvPr/>
            </p:nvCxnSpPr>
            <p:spPr bwMode="auto">
              <a:xfrm>
                <a:off x="4957578" y="5823608"/>
                <a:ext cx="17153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p:nvPr/>
            </p:nvCxnSpPr>
            <p:spPr bwMode="auto">
              <a:xfrm>
                <a:off x="5354658" y="5823608"/>
                <a:ext cx="171538"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15" name="Rounded Rectangle 114"/>
            <p:cNvSpPr/>
            <p:nvPr/>
          </p:nvSpPr>
          <p:spPr bwMode="auto">
            <a:xfrm>
              <a:off x="1838624" y="6063614"/>
              <a:ext cx="1834510" cy="45221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IN">
                <a:solidFill>
                  <a:srgbClr val="66FFFF"/>
                </a:solidFill>
                <a:latin typeface="Arial"/>
              </a:endParaRPr>
            </a:p>
          </p:txBody>
        </p:sp>
      </p:grpSp>
      <p:grpSp>
        <p:nvGrpSpPr>
          <p:cNvPr id="13" name="Group 12"/>
          <p:cNvGrpSpPr>
            <a:grpSpLocks/>
          </p:cNvGrpSpPr>
          <p:nvPr/>
        </p:nvGrpSpPr>
        <p:grpSpPr bwMode="auto">
          <a:xfrm>
            <a:off x="1738313" y="1773239"/>
            <a:ext cx="1414462" cy="1273175"/>
            <a:chOff x="285750" y="2466676"/>
            <a:chExt cx="1413715" cy="1272927"/>
          </a:xfrm>
        </p:grpSpPr>
        <p:grpSp>
          <p:nvGrpSpPr>
            <p:cNvPr id="28790" name="Group 182"/>
            <p:cNvGrpSpPr>
              <a:grpSpLocks/>
            </p:cNvGrpSpPr>
            <p:nvPr/>
          </p:nvGrpSpPr>
          <p:grpSpPr bwMode="auto">
            <a:xfrm>
              <a:off x="285750" y="2466676"/>
              <a:ext cx="1406525" cy="409575"/>
              <a:chOff x="430213" y="2241520"/>
              <a:chExt cx="1405483" cy="409297"/>
            </a:xfrm>
          </p:grpSpPr>
          <p:grpSp>
            <p:nvGrpSpPr>
              <p:cNvPr id="28812" name="Group 181"/>
              <p:cNvGrpSpPr>
                <a:grpSpLocks/>
              </p:cNvGrpSpPr>
              <p:nvPr/>
            </p:nvGrpSpPr>
            <p:grpSpPr bwMode="auto">
              <a:xfrm>
                <a:off x="827584" y="2241520"/>
                <a:ext cx="1008112" cy="409297"/>
                <a:chOff x="827584" y="2241520"/>
                <a:chExt cx="1008112" cy="409297"/>
              </a:xfrm>
            </p:grpSpPr>
            <p:grpSp>
              <p:nvGrpSpPr>
                <p:cNvPr id="28814" name="Group 46"/>
                <p:cNvGrpSpPr>
                  <a:grpSpLocks/>
                </p:cNvGrpSpPr>
                <p:nvPr/>
              </p:nvGrpSpPr>
              <p:grpSpPr bwMode="auto">
                <a:xfrm>
                  <a:off x="827584" y="2241520"/>
                  <a:ext cx="249260" cy="381975"/>
                  <a:chOff x="3806806" y="3161928"/>
                  <a:chExt cx="248786" cy="382470"/>
                </a:xfrm>
              </p:grpSpPr>
              <p:sp>
                <p:nvSpPr>
                  <p:cNvPr id="28824"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i</a:t>
                    </a:r>
                    <a:endParaRPr lang="en-IN" altLang="en-US" b="1">
                      <a:solidFill>
                        <a:srgbClr val="00CCFF"/>
                      </a:solidFill>
                    </a:endParaRPr>
                  </a:p>
                </p:txBody>
              </p:sp>
              <p:sp>
                <p:nvSpPr>
                  <p:cNvPr id="28825"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8815" name="Group 46"/>
                <p:cNvGrpSpPr>
                  <a:grpSpLocks/>
                </p:cNvGrpSpPr>
                <p:nvPr/>
              </p:nvGrpSpPr>
              <p:grpSpPr bwMode="auto">
                <a:xfrm>
                  <a:off x="1115616" y="2241520"/>
                  <a:ext cx="249260" cy="381975"/>
                  <a:chOff x="3806806" y="3161928"/>
                  <a:chExt cx="248786" cy="382470"/>
                </a:xfrm>
              </p:grpSpPr>
              <p:sp>
                <p:nvSpPr>
                  <p:cNvPr id="28822"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j</a:t>
                    </a:r>
                    <a:endParaRPr lang="en-IN" altLang="en-US" b="1">
                      <a:solidFill>
                        <a:srgbClr val="00CCFF"/>
                      </a:solidFill>
                    </a:endParaRPr>
                  </a:p>
                </p:txBody>
              </p:sp>
              <p:sp>
                <p:nvSpPr>
                  <p:cNvPr id="28823"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816" name="Rectangle 3"/>
                <p:cNvSpPr>
                  <a:spLocks noChangeArrowheads="1"/>
                </p:cNvSpPr>
                <p:nvPr/>
              </p:nvSpPr>
              <p:spPr bwMode="auto">
                <a:xfrm>
                  <a:off x="867925" y="2267580"/>
                  <a:ext cx="3786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ea typeface="Times New Roman" panose="02020603050405020304" pitchFamily="18" charset="0"/>
                      <a:cs typeface="Bookman-Demi"/>
                    </a:rPr>
                    <a:t> x</a:t>
                  </a:r>
                  <a:endParaRPr lang="en-IN" altLang="en-US">
                    <a:solidFill>
                      <a:srgbClr val="00CCFF"/>
                    </a:solidFill>
                    <a:ea typeface="Times New Roman" panose="02020603050405020304" pitchFamily="18" charset="0"/>
                    <a:cs typeface="Bookman-Demi"/>
                  </a:endParaRPr>
                </a:p>
              </p:txBody>
            </p:sp>
            <p:sp>
              <p:nvSpPr>
                <p:cNvPr id="28817" name="Rectangle 5"/>
                <p:cNvSpPr>
                  <a:spLocks noChangeArrowheads="1"/>
                </p:cNvSpPr>
                <p:nvPr/>
              </p:nvSpPr>
              <p:spPr bwMode="auto">
                <a:xfrm>
                  <a:off x="1311928" y="2282310"/>
                  <a:ext cx="319319" cy="36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a:t>
                  </a:r>
                  <a:endParaRPr lang="en-IN" altLang="en-US">
                    <a:solidFill>
                      <a:srgbClr val="00CCFF"/>
                    </a:solidFill>
                  </a:endParaRPr>
                </a:p>
              </p:txBody>
            </p:sp>
            <p:grpSp>
              <p:nvGrpSpPr>
                <p:cNvPr id="28818" name="Group 180"/>
                <p:cNvGrpSpPr>
                  <a:grpSpLocks/>
                </p:cNvGrpSpPr>
                <p:nvPr/>
              </p:nvGrpSpPr>
              <p:grpSpPr bwMode="auto">
                <a:xfrm>
                  <a:off x="1522789" y="2246200"/>
                  <a:ext cx="312907" cy="382957"/>
                  <a:chOff x="2019536" y="2246200"/>
                  <a:chExt cx="312907" cy="382957"/>
                </a:xfrm>
              </p:grpSpPr>
              <p:sp>
                <p:nvSpPr>
                  <p:cNvPr id="28819" name="Rectangle 47"/>
                  <p:cNvSpPr>
                    <a:spLocks noChangeArrowheads="1"/>
                  </p:cNvSpPr>
                  <p:nvPr/>
                </p:nvSpPr>
                <p:spPr bwMode="auto">
                  <a:xfrm>
                    <a:off x="2019536" y="2260649"/>
                    <a:ext cx="312907" cy="36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k</a:t>
                    </a:r>
                    <a:endParaRPr lang="en-IN" altLang="en-US" b="1">
                      <a:solidFill>
                        <a:srgbClr val="00CCFF"/>
                      </a:solidFill>
                    </a:endParaRPr>
                  </a:p>
                </p:txBody>
              </p:sp>
              <p:sp>
                <p:nvSpPr>
                  <p:cNvPr id="28820" name="Line 37"/>
                  <p:cNvSpPr>
                    <a:spLocks noChangeShapeType="1"/>
                  </p:cNvSpPr>
                  <p:nvPr/>
                </p:nvSpPr>
                <p:spPr bwMode="auto">
                  <a:xfrm rot="5400000" flipH="1" flipV="1">
                    <a:off x="2139634" y="2264259"/>
                    <a:ext cx="33462"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21" name="Rectangle 143"/>
                  <p:cNvSpPr>
                    <a:spLocks noChangeArrowheads="1"/>
                  </p:cNvSpPr>
                  <p:nvPr/>
                </p:nvSpPr>
                <p:spPr bwMode="auto">
                  <a:xfrm>
                    <a:off x="2144237" y="2246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CCFF"/>
                      </a:solidFill>
                      <a:cs typeface="Times New Roman" panose="02020603050405020304" pitchFamily="18" charset="0"/>
                    </a:endParaRPr>
                  </a:p>
                </p:txBody>
              </p:sp>
            </p:grpSp>
          </p:grpSp>
          <p:sp>
            <p:nvSpPr>
              <p:cNvPr id="28813" name="Rectangle 15"/>
              <p:cNvSpPr>
                <a:spLocks noChangeArrowheads="1"/>
              </p:cNvSpPr>
              <p:nvPr/>
            </p:nvSpPr>
            <p:spPr bwMode="auto">
              <a:xfrm>
                <a:off x="430213" y="2254988"/>
                <a:ext cx="377027" cy="36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4.</a:t>
                </a:r>
                <a:endParaRPr lang="en-IN" altLang="en-US">
                  <a:solidFill>
                    <a:srgbClr val="00CCFF"/>
                  </a:solidFill>
                </a:endParaRPr>
              </a:p>
            </p:txBody>
          </p:sp>
        </p:grpSp>
        <p:grpSp>
          <p:nvGrpSpPr>
            <p:cNvPr id="28791" name="Group 10"/>
            <p:cNvGrpSpPr>
              <a:grpSpLocks/>
            </p:cNvGrpSpPr>
            <p:nvPr/>
          </p:nvGrpSpPr>
          <p:grpSpPr bwMode="auto">
            <a:xfrm>
              <a:off x="683568" y="2875507"/>
              <a:ext cx="1004590" cy="411162"/>
              <a:chOff x="683568" y="2153742"/>
              <a:chExt cx="1004590" cy="411162"/>
            </a:xfrm>
          </p:grpSpPr>
          <p:sp>
            <p:nvSpPr>
              <p:cNvPr id="28803" name="Rectangle 47"/>
              <p:cNvSpPr>
                <a:spLocks noChangeArrowheads="1"/>
              </p:cNvSpPr>
              <p:nvPr/>
            </p:nvSpPr>
            <p:spPr bwMode="auto">
              <a:xfrm>
                <a:off x="683568" y="2166884"/>
                <a:ext cx="249237" cy="36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j</a:t>
                </a:r>
                <a:endParaRPr lang="en-IN" altLang="en-US" b="1">
                  <a:solidFill>
                    <a:srgbClr val="00CCFF"/>
                  </a:solidFill>
                </a:endParaRPr>
              </a:p>
            </p:txBody>
          </p:sp>
          <p:sp>
            <p:nvSpPr>
              <p:cNvPr id="28804" name="Line 37"/>
              <p:cNvSpPr>
                <a:spLocks noChangeShapeType="1"/>
              </p:cNvSpPr>
              <p:nvPr/>
            </p:nvSpPr>
            <p:spPr bwMode="auto">
              <a:xfrm rot="5400000" flipH="1" flipV="1">
                <a:off x="790181" y="2170499"/>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05" name="Rectangle 47"/>
              <p:cNvSpPr>
                <a:spLocks noChangeArrowheads="1"/>
              </p:cNvSpPr>
              <p:nvPr/>
            </p:nvSpPr>
            <p:spPr bwMode="auto">
              <a:xfrm>
                <a:off x="935677" y="219377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k</a:t>
                </a:r>
                <a:endParaRPr lang="en-IN" altLang="en-US" b="1">
                  <a:solidFill>
                    <a:srgbClr val="00CCFF"/>
                  </a:solidFill>
                </a:endParaRPr>
              </a:p>
            </p:txBody>
          </p:sp>
          <p:sp>
            <p:nvSpPr>
              <p:cNvPr id="28806" name="Line 37"/>
              <p:cNvSpPr>
                <a:spLocks noChangeShapeType="1"/>
              </p:cNvSpPr>
              <p:nvPr/>
            </p:nvSpPr>
            <p:spPr bwMode="auto">
              <a:xfrm rot="5400000" flipH="1" flipV="1">
                <a:off x="1069184" y="2197393"/>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07" name="Rectangle 3"/>
              <p:cNvSpPr>
                <a:spLocks noChangeArrowheads="1"/>
              </p:cNvSpPr>
              <p:nvPr/>
            </p:nvSpPr>
            <p:spPr bwMode="auto">
              <a:xfrm>
                <a:off x="709808" y="2195017"/>
                <a:ext cx="379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ea typeface="Times New Roman" panose="02020603050405020304" pitchFamily="18" charset="0"/>
                    <a:cs typeface="Bookman-Demi"/>
                  </a:rPr>
                  <a:t> x</a:t>
                </a:r>
                <a:endParaRPr lang="en-IN" altLang="en-US">
                  <a:solidFill>
                    <a:srgbClr val="00CCFF"/>
                  </a:solidFill>
                  <a:ea typeface="Times New Roman" panose="02020603050405020304" pitchFamily="18" charset="0"/>
                  <a:cs typeface="Bookman-Demi"/>
                </a:endParaRPr>
              </a:p>
            </p:txBody>
          </p:sp>
          <p:sp>
            <p:nvSpPr>
              <p:cNvPr id="28808" name="Rectangle 5"/>
              <p:cNvSpPr>
                <a:spLocks noChangeArrowheads="1"/>
              </p:cNvSpPr>
              <p:nvPr/>
            </p:nvSpPr>
            <p:spPr bwMode="auto">
              <a:xfrm>
                <a:off x="1167755" y="2195017"/>
                <a:ext cx="319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a:t>
                </a:r>
                <a:endParaRPr lang="en-IN" altLang="en-US">
                  <a:solidFill>
                    <a:srgbClr val="00CCFF"/>
                  </a:solidFill>
                </a:endParaRPr>
              </a:p>
            </p:txBody>
          </p:sp>
          <p:sp>
            <p:nvSpPr>
              <p:cNvPr id="28809" name="Rectangle 47"/>
              <p:cNvSpPr>
                <a:spLocks noChangeArrowheads="1"/>
              </p:cNvSpPr>
              <p:nvPr/>
            </p:nvSpPr>
            <p:spPr bwMode="auto">
              <a:xfrm>
                <a:off x="1378894" y="2172940"/>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i</a:t>
                </a:r>
                <a:endParaRPr lang="en-IN" altLang="en-US" b="1">
                  <a:solidFill>
                    <a:srgbClr val="00CCFF"/>
                  </a:solidFill>
                </a:endParaRPr>
              </a:p>
            </p:txBody>
          </p:sp>
          <p:sp>
            <p:nvSpPr>
              <p:cNvPr id="28810" name="Line 37"/>
              <p:cNvSpPr>
                <a:spLocks noChangeShapeType="1"/>
              </p:cNvSpPr>
              <p:nvPr/>
            </p:nvSpPr>
            <p:spPr bwMode="auto">
              <a:xfrm rot="5400000" flipH="1" flipV="1">
                <a:off x="1498934" y="2176547"/>
                <a:ext cx="33430"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811" name="Rectangle 143"/>
              <p:cNvSpPr>
                <a:spLocks noChangeArrowheads="1"/>
              </p:cNvSpPr>
              <p:nvPr/>
            </p:nvSpPr>
            <p:spPr bwMode="auto">
              <a:xfrm>
                <a:off x="1503527" y="2158505"/>
                <a:ext cx="184631" cy="368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CCFF"/>
                  </a:solidFill>
                  <a:cs typeface="Times New Roman" panose="02020603050405020304" pitchFamily="18" charset="0"/>
                </a:endParaRPr>
              </a:p>
            </p:txBody>
          </p:sp>
        </p:grpSp>
        <p:grpSp>
          <p:nvGrpSpPr>
            <p:cNvPr id="28792" name="Group 11"/>
            <p:cNvGrpSpPr>
              <a:grpSpLocks/>
            </p:cNvGrpSpPr>
            <p:nvPr/>
          </p:nvGrpSpPr>
          <p:grpSpPr bwMode="auto">
            <a:xfrm>
              <a:off x="643227" y="3333204"/>
              <a:ext cx="1056238" cy="406399"/>
              <a:chOff x="656674" y="3310633"/>
              <a:chExt cx="1056238" cy="406399"/>
            </a:xfrm>
          </p:grpSpPr>
          <p:sp>
            <p:nvSpPr>
              <p:cNvPr id="28793" name="Line 37"/>
              <p:cNvSpPr>
                <a:spLocks noChangeShapeType="1"/>
              </p:cNvSpPr>
              <p:nvPr/>
            </p:nvSpPr>
            <p:spPr bwMode="auto">
              <a:xfrm rot="5400000" flipH="1" flipV="1">
                <a:off x="790181" y="3351233"/>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94" name="Line 37"/>
              <p:cNvSpPr>
                <a:spLocks noChangeShapeType="1"/>
              </p:cNvSpPr>
              <p:nvPr/>
            </p:nvSpPr>
            <p:spPr bwMode="auto">
              <a:xfrm rot="5400000" flipH="1" flipV="1">
                <a:off x="1158609" y="3349439"/>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95" name="Line 37"/>
              <p:cNvSpPr>
                <a:spLocks noChangeShapeType="1"/>
              </p:cNvSpPr>
              <p:nvPr/>
            </p:nvSpPr>
            <p:spPr bwMode="auto">
              <a:xfrm rot="5400000" flipH="1" flipV="1">
                <a:off x="1523688" y="3328593"/>
                <a:ext cx="33430"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nvGrpSpPr>
              <p:cNvPr id="28796" name="Group 9"/>
              <p:cNvGrpSpPr>
                <a:grpSpLocks/>
              </p:cNvGrpSpPr>
              <p:nvPr/>
            </p:nvGrpSpPr>
            <p:grpSpPr bwMode="auto">
              <a:xfrm>
                <a:off x="656674" y="3310633"/>
                <a:ext cx="1056238" cy="406399"/>
                <a:chOff x="656674" y="2564904"/>
                <a:chExt cx="1056238" cy="406399"/>
              </a:xfrm>
            </p:grpSpPr>
            <p:sp>
              <p:nvSpPr>
                <p:cNvPr id="28797" name="Rectangle 47"/>
                <p:cNvSpPr>
                  <a:spLocks noChangeArrowheads="1"/>
                </p:cNvSpPr>
                <p:nvPr/>
              </p:nvSpPr>
              <p:spPr bwMode="auto">
                <a:xfrm>
                  <a:off x="656674" y="2601969"/>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k</a:t>
                  </a:r>
                  <a:endParaRPr lang="en-IN" altLang="en-US" b="1">
                    <a:solidFill>
                      <a:srgbClr val="00CCFF"/>
                    </a:solidFill>
                  </a:endParaRPr>
                </a:p>
              </p:txBody>
            </p:sp>
            <p:sp>
              <p:nvSpPr>
                <p:cNvPr id="28798" name="Rectangle 47"/>
                <p:cNvSpPr>
                  <a:spLocks noChangeArrowheads="1"/>
                </p:cNvSpPr>
                <p:nvPr/>
              </p:nvSpPr>
              <p:spPr bwMode="auto">
                <a:xfrm>
                  <a:off x="1051995" y="2600177"/>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i</a:t>
                  </a:r>
                  <a:endParaRPr lang="en-IN" altLang="en-US" b="1">
                    <a:solidFill>
                      <a:srgbClr val="00CCFF"/>
                    </a:solidFill>
                  </a:endParaRPr>
                </a:p>
              </p:txBody>
            </p:sp>
            <p:sp>
              <p:nvSpPr>
                <p:cNvPr id="28799" name="Rectangle 3"/>
                <p:cNvSpPr>
                  <a:spLocks noChangeArrowheads="1"/>
                </p:cNvSpPr>
                <p:nvPr/>
              </p:nvSpPr>
              <p:spPr bwMode="auto">
                <a:xfrm>
                  <a:off x="812676" y="2601416"/>
                  <a:ext cx="379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ea typeface="Times New Roman" panose="02020603050405020304" pitchFamily="18" charset="0"/>
                      <a:cs typeface="Bookman-Demi"/>
                    </a:rPr>
                    <a:t> x</a:t>
                  </a:r>
                  <a:endParaRPr lang="en-IN" altLang="en-US">
                    <a:solidFill>
                      <a:srgbClr val="00CCFF"/>
                    </a:solidFill>
                    <a:ea typeface="Times New Roman" panose="02020603050405020304" pitchFamily="18" charset="0"/>
                    <a:cs typeface="Bookman-Demi"/>
                  </a:endParaRPr>
                </a:p>
              </p:txBody>
            </p:sp>
            <p:sp>
              <p:nvSpPr>
                <p:cNvPr id="28800" name="Rectangle 5"/>
                <p:cNvSpPr>
                  <a:spLocks noChangeArrowheads="1"/>
                </p:cNvSpPr>
                <p:nvPr/>
              </p:nvSpPr>
              <p:spPr bwMode="auto">
                <a:xfrm>
                  <a:off x="1187624" y="2601416"/>
                  <a:ext cx="319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a:t>
                  </a:r>
                  <a:endParaRPr lang="en-IN" altLang="en-US">
                    <a:solidFill>
                      <a:srgbClr val="00CCFF"/>
                    </a:solidFill>
                  </a:endParaRPr>
                </a:p>
              </p:txBody>
            </p:sp>
            <p:sp>
              <p:nvSpPr>
                <p:cNvPr id="28801" name="Rectangle 47"/>
                <p:cNvSpPr>
                  <a:spLocks noChangeArrowheads="1"/>
                </p:cNvSpPr>
                <p:nvPr/>
              </p:nvSpPr>
              <p:spPr bwMode="auto">
                <a:xfrm>
                  <a:off x="1417095" y="2579339"/>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CCFF"/>
                      </a:solidFill>
                    </a:rPr>
                    <a:t>j</a:t>
                  </a:r>
                  <a:endParaRPr lang="en-IN" altLang="en-US" b="1">
                    <a:solidFill>
                      <a:srgbClr val="00CCFF"/>
                    </a:solidFill>
                  </a:endParaRPr>
                </a:p>
              </p:txBody>
            </p:sp>
            <p:sp>
              <p:nvSpPr>
                <p:cNvPr id="28802" name="Rectangle 143"/>
                <p:cNvSpPr>
                  <a:spLocks noChangeArrowheads="1"/>
                </p:cNvSpPr>
                <p:nvPr/>
              </p:nvSpPr>
              <p:spPr bwMode="auto">
                <a:xfrm>
                  <a:off x="1528281" y="2564904"/>
                  <a:ext cx="184631" cy="368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00CCFF"/>
                    </a:solidFill>
                    <a:cs typeface="Times New Roman" panose="02020603050405020304" pitchFamily="18" charset="0"/>
                  </a:endParaRPr>
                </a:p>
              </p:txBody>
            </p:sp>
          </p:grpSp>
        </p:grpSp>
      </p:grpSp>
      <p:grpSp>
        <p:nvGrpSpPr>
          <p:cNvPr id="14" name="Group 13"/>
          <p:cNvGrpSpPr>
            <a:grpSpLocks/>
          </p:cNvGrpSpPr>
          <p:nvPr/>
        </p:nvGrpSpPr>
        <p:grpSpPr bwMode="auto">
          <a:xfrm>
            <a:off x="3613151" y="1798638"/>
            <a:ext cx="1547813" cy="1306512"/>
            <a:chOff x="288340" y="3802418"/>
            <a:chExt cx="1547356" cy="1305337"/>
          </a:xfrm>
        </p:grpSpPr>
        <p:grpSp>
          <p:nvGrpSpPr>
            <p:cNvPr id="28757" name="Group 4"/>
            <p:cNvGrpSpPr>
              <a:grpSpLocks/>
            </p:cNvGrpSpPr>
            <p:nvPr/>
          </p:nvGrpSpPr>
          <p:grpSpPr bwMode="auto">
            <a:xfrm>
              <a:off x="288340" y="3802418"/>
              <a:ext cx="1547356" cy="409574"/>
              <a:chOff x="2928814" y="2780929"/>
              <a:chExt cx="1547356" cy="409574"/>
            </a:xfrm>
          </p:grpSpPr>
          <p:sp>
            <p:nvSpPr>
              <p:cNvPr id="28780" name="Rectangle 47"/>
              <p:cNvSpPr>
                <a:spLocks noChangeArrowheads="1"/>
              </p:cNvSpPr>
              <p:nvPr/>
            </p:nvSpPr>
            <p:spPr bwMode="auto">
              <a:xfrm>
                <a:off x="3326480" y="2794058"/>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j</a:t>
                </a:r>
                <a:endParaRPr lang="en-IN" altLang="en-US" b="1">
                  <a:solidFill>
                    <a:srgbClr val="FFC000"/>
                  </a:solidFill>
                </a:endParaRPr>
              </a:p>
            </p:txBody>
          </p:sp>
          <p:sp>
            <p:nvSpPr>
              <p:cNvPr id="28781" name="Line 37"/>
              <p:cNvSpPr>
                <a:spLocks noChangeShapeType="1"/>
              </p:cNvSpPr>
              <p:nvPr/>
            </p:nvSpPr>
            <p:spPr bwMode="auto">
              <a:xfrm rot="5400000" flipH="1" flipV="1">
                <a:off x="3428906" y="27976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82" name="Rectangle 47"/>
              <p:cNvSpPr>
                <a:spLocks noChangeArrowheads="1"/>
              </p:cNvSpPr>
              <p:nvPr/>
            </p:nvSpPr>
            <p:spPr bwMode="auto">
              <a:xfrm>
                <a:off x="3614725" y="2816978"/>
                <a:ext cx="249445" cy="369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i</a:t>
                </a:r>
                <a:endParaRPr lang="en-IN" altLang="en-US" b="1">
                  <a:solidFill>
                    <a:srgbClr val="FFC000"/>
                  </a:solidFill>
                </a:endParaRPr>
              </a:p>
            </p:txBody>
          </p:sp>
          <p:sp>
            <p:nvSpPr>
              <p:cNvPr id="28783" name="Line 37"/>
              <p:cNvSpPr>
                <a:spLocks noChangeShapeType="1"/>
              </p:cNvSpPr>
              <p:nvPr/>
            </p:nvSpPr>
            <p:spPr bwMode="auto">
              <a:xfrm rot="5400000" flipH="1" flipV="1">
                <a:off x="3721457" y="27976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84" name="Rectangle 3"/>
              <p:cNvSpPr>
                <a:spLocks noChangeArrowheads="1"/>
              </p:cNvSpPr>
              <p:nvPr/>
            </p:nvSpPr>
            <p:spPr bwMode="auto">
              <a:xfrm>
                <a:off x="3362545" y="2807006"/>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 x</a:t>
                </a:r>
                <a:endParaRPr lang="en-IN" altLang="en-US">
                  <a:solidFill>
                    <a:srgbClr val="FFC000"/>
                  </a:solidFill>
                  <a:ea typeface="Times New Roman" panose="02020603050405020304" pitchFamily="18" charset="0"/>
                  <a:cs typeface="Bookman-Demi"/>
                </a:endParaRPr>
              </a:p>
            </p:txBody>
          </p:sp>
          <p:sp>
            <p:nvSpPr>
              <p:cNvPr id="28785" name="Rectangle 5"/>
              <p:cNvSpPr>
                <a:spLocks noChangeArrowheads="1"/>
              </p:cNvSpPr>
              <p:nvPr/>
            </p:nvSpPr>
            <p:spPr bwMode="auto">
              <a:xfrm>
                <a:off x="3811183" y="2821746"/>
                <a:ext cx="319556" cy="36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t>
                </a:r>
                <a:endParaRPr lang="en-IN" altLang="en-US">
                  <a:solidFill>
                    <a:srgbClr val="FFC000"/>
                  </a:solidFill>
                </a:endParaRPr>
              </a:p>
            </p:txBody>
          </p:sp>
          <p:sp>
            <p:nvSpPr>
              <p:cNvPr id="28786" name="Rectangle 47"/>
              <p:cNvSpPr>
                <a:spLocks noChangeArrowheads="1"/>
              </p:cNvSpPr>
              <p:nvPr/>
            </p:nvSpPr>
            <p:spPr bwMode="auto">
              <a:xfrm>
                <a:off x="4022200" y="2800070"/>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 k</a:t>
                </a:r>
                <a:endParaRPr lang="en-IN" altLang="en-US" b="1">
                  <a:solidFill>
                    <a:srgbClr val="FFC000"/>
                  </a:solidFill>
                </a:endParaRPr>
              </a:p>
            </p:txBody>
          </p:sp>
          <p:sp>
            <p:nvSpPr>
              <p:cNvPr id="28787" name="Line 37"/>
              <p:cNvSpPr>
                <a:spLocks noChangeShapeType="1"/>
              </p:cNvSpPr>
              <p:nvPr/>
            </p:nvSpPr>
            <p:spPr bwMode="auto">
              <a:xfrm rot="5400000" flipH="1" flipV="1">
                <a:off x="4294119" y="2803682"/>
                <a:ext cx="3348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88" name="Rectangle 143"/>
              <p:cNvSpPr>
                <a:spLocks noChangeArrowheads="1"/>
              </p:cNvSpPr>
              <p:nvPr/>
            </p:nvSpPr>
            <p:spPr bwMode="auto">
              <a:xfrm>
                <a:off x="4146993" y="2785611"/>
                <a:ext cx="184868" cy="369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FFC000"/>
                  </a:solidFill>
                  <a:cs typeface="Times New Roman" panose="02020603050405020304" pitchFamily="18" charset="0"/>
                </a:endParaRPr>
              </a:p>
            </p:txBody>
          </p:sp>
          <p:sp>
            <p:nvSpPr>
              <p:cNvPr id="28789" name="Rectangle 15"/>
              <p:cNvSpPr>
                <a:spLocks noChangeArrowheads="1"/>
              </p:cNvSpPr>
              <p:nvPr/>
            </p:nvSpPr>
            <p:spPr bwMode="auto">
              <a:xfrm>
                <a:off x="2928814" y="2794405"/>
                <a:ext cx="377307" cy="36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5.</a:t>
                </a:r>
                <a:endParaRPr lang="en-IN" altLang="en-US">
                  <a:solidFill>
                    <a:srgbClr val="FFC000"/>
                  </a:solidFill>
                </a:endParaRPr>
              </a:p>
            </p:txBody>
          </p:sp>
        </p:grpSp>
        <p:grpSp>
          <p:nvGrpSpPr>
            <p:cNvPr id="28758" name="Group 6"/>
            <p:cNvGrpSpPr>
              <a:grpSpLocks/>
            </p:cNvGrpSpPr>
            <p:nvPr/>
          </p:nvGrpSpPr>
          <p:grpSpPr bwMode="auto">
            <a:xfrm>
              <a:off x="625007" y="4233649"/>
              <a:ext cx="1146569" cy="410391"/>
              <a:chOff x="5521551" y="2932512"/>
              <a:chExt cx="1146569" cy="410391"/>
            </a:xfrm>
          </p:grpSpPr>
          <p:grpSp>
            <p:nvGrpSpPr>
              <p:cNvPr id="28770" name="Group 5"/>
              <p:cNvGrpSpPr>
                <a:grpSpLocks/>
              </p:cNvGrpSpPr>
              <p:nvPr/>
            </p:nvGrpSpPr>
            <p:grpSpPr bwMode="auto">
              <a:xfrm>
                <a:off x="5521551" y="2933329"/>
                <a:ext cx="312906" cy="382461"/>
                <a:chOff x="5534998" y="2933329"/>
                <a:chExt cx="312906" cy="382461"/>
              </a:xfrm>
            </p:grpSpPr>
            <p:sp>
              <p:nvSpPr>
                <p:cNvPr id="28778" name="Rectangle 47"/>
                <p:cNvSpPr>
                  <a:spLocks noChangeArrowheads="1"/>
                </p:cNvSpPr>
                <p:nvPr/>
              </p:nvSpPr>
              <p:spPr bwMode="auto">
                <a:xfrm>
                  <a:off x="5534998" y="294645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k</a:t>
                  </a:r>
                  <a:endParaRPr lang="en-IN" altLang="en-US" b="1">
                    <a:solidFill>
                      <a:srgbClr val="FFC000"/>
                    </a:solidFill>
                  </a:endParaRPr>
                </a:p>
              </p:txBody>
            </p:sp>
            <p:sp>
              <p:nvSpPr>
                <p:cNvPr id="28779" name="Line 37"/>
                <p:cNvSpPr>
                  <a:spLocks noChangeShapeType="1"/>
                </p:cNvSpPr>
                <p:nvPr/>
              </p:nvSpPr>
              <p:spPr bwMode="auto">
                <a:xfrm rot="5400000" flipH="1" flipV="1">
                  <a:off x="5658082" y="29500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71" name="Rectangle 47"/>
              <p:cNvSpPr>
                <a:spLocks noChangeArrowheads="1"/>
              </p:cNvSpPr>
              <p:nvPr/>
            </p:nvSpPr>
            <p:spPr bwMode="auto">
              <a:xfrm>
                <a:off x="5879837" y="2943164"/>
                <a:ext cx="249445" cy="369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j</a:t>
                </a:r>
                <a:endParaRPr lang="en-IN" altLang="en-US" b="1">
                  <a:solidFill>
                    <a:srgbClr val="FFC000"/>
                  </a:solidFill>
                </a:endParaRPr>
              </a:p>
            </p:txBody>
          </p:sp>
          <p:sp>
            <p:nvSpPr>
              <p:cNvPr id="28772" name="Line 37"/>
              <p:cNvSpPr>
                <a:spLocks noChangeShapeType="1"/>
              </p:cNvSpPr>
              <p:nvPr/>
            </p:nvSpPr>
            <p:spPr bwMode="auto">
              <a:xfrm rot="5400000" flipH="1" flipV="1">
                <a:off x="5990974" y="29500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73" name="Rectangle 3"/>
              <p:cNvSpPr>
                <a:spLocks noChangeArrowheads="1"/>
              </p:cNvSpPr>
              <p:nvPr/>
            </p:nvSpPr>
            <p:spPr bwMode="auto">
              <a:xfrm>
                <a:off x="5618615" y="2932512"/>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 x</a:t>
                </a:r>
                <a:endParaRPr lang="en-IN" altLang="en-US">
                  <a:solidFill>
                    <a:srgbClr val="FFC000"/>
                  </a:solidFill>
                  <a:ea typeface="Times New Roman" panose="02020603050405020304" pitchFamily="18" charset="0"/>
                  <a:cs typeface="Bookman-Demi"/>
                </a:endParaRPr>
              </a:p>
            </p:txBody>
          </p:sp>
          <p:sp>
            <p:nvSpPr>
              <p:cNvPr id="28774" name="Rectangle 5"/>
              <p:cNvSpPr>
                <a:spLocks noChangeArrowheads="1"/>
              </p:cNvSpPr>
              <p:nvPr/>
            </p:nvSpPr>
            <p:spPr bwMode="auto">
              <a:xfrm>
                <a:off x="6067253" y="2974146"/>
                <a:ext cx="319556" cy="36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t>
                </a:r>
                <a:endParaRPr lang="en-IN" altLang="en-US">
                  <a:solidFill>
                    <a:srgbClr val="FFC000"/>
                  </a:solidFill>
                </a:endParaRPr>
              </a:p>
            </p:txBody>
          </p:sp>
          <p:sp>
            <p:nvSpPr>
              <p:cNvPr id="28775" name="Rectangle 47"/>
              <p:cNvSpPr>
                <a:spLocks noChangeArrowheads="1"/>
              </p:cNvSpPr>
              <p:nvPr/>
            </p:nvSpPr>
            <p:spPr bwMode="auto">
              <a:xfrm>
                <a:off x="6278270" y="2952470"/>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 i</a:t>
                </a:r>
                <a:endParaRPr lang="en-IN" altLang="en-US" b="1">
                  <a:solidFill>
                    <a:srgbClr val="FFC000"/>
                  </a:solidFill>
                </a:endParaRPr>
              </a:p>
            </p:txBody>
          </p:sp>
          <p:sp>
            <p:nvSpPr>
              <p:cNvPr id="28776" name="Line 37"/>
              <p:cNvSpPr>
                <a:spLocks noChangeShapeType="1"/>
              </p:cNvSpPr>
              <p:nvPr/>
            </p:nvSpPr>
            <p:spPr bwMode="auto">
              <a:xfrm rot="5400000" flipH="1" flipV="1">
                <a:off x="6523295" y="2956082"/>
                <a:ext cx="3348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77" name="Rectangle 143"/>
              <p:cNvSpPr>
                <a:spLocks noChangeArrowheads="1"/>
              </p:cNvSpPr>
              <p:nvPr/>
            </p:nvSpPr>
            <p:spPr bwMode="auto">
              <a:xfrm>
                <a:off x="6403063" y="2938011"/>
                <a:ext cx="184868" cy="369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FFC000"/>
                  </a:solidFill>
                  <a:cs typeface="Times New Roman" panose="02020603050405020304" pitchFamily="18" charset="0"/>
                </a:endParaRPr>
              </a:p>
            </p:txBody>
          </p:sp>
        </p:grpSp>
        <p:grpSp>
          <p:nvGrpSpPr>
            <p:cNvPr id="28759" name="Group 244"/>
            <p:cNvGrpSpPr>
              <a:grpSpLocks/>
            </p:cNvGrpSpPr>
            <p:nvPr/>
          </p:nvGrpSpPr>
          <p:grpSpPr bwMode="auto">
            <a:xfrm>
              <a:off x="621892" y="4697364"/>
              <a:ext cx="1146569" cy="410391"/>
              <a:chOff x="5521551" y="2932512"/>
              <a:chExt cx="1146569" cy="410391"/>
            </a:xfrm>
          </p:grpSpPr>
          <p:grpSp>
            <p:nvGrpSpPr>
              <p:cNvPr id="28760" name="Group 245"/>
              <p:cNvGrpSpPr>
                <a:grpSpLocks/>
              </p:cNvGrpSpPr>
              <p:nvPr/>
            </p:nvGrpSpPr>
            <p:grpSpPr bwMode="auto">
              <a:xfrm>
                <a:off x="5521551" y="2933329"/>
                <a:ext cx="248786" cy="382461"/>
                <a:chOff x="5534998" y="2933329"/>
                <a:chExt cx="248786" cy="382461"/>
              </a:xfrm>
            </p:grpSpPr>
            <p:sp>
              <p:nvSpPr>
                <p:cNvPr id="28768" name="Rectangle 47"/>
                <p:cNvSpPr>
                  <a:spLocks noChangeArrowheads="1"/>
                </p:cNvSpPr>
                <p:nvPr/>
              </p:nvSpPr>
              <p:spPr bwMode="auto">
                <a:xfrm>
                  <a:off x="5534998" y="2946458"/>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i</a:t>
                  </a:r>
                  <a:endParaRPr lang="en-IN" altLang="en-US" b="1">
                    <a:solidFill>
                      <a:srgbClr val="FFC000"/>
                    </a:solidFill>
                  </a:endParaRPr>
                </a:p>
              </p:txBody>
            </p:sp>
            <p:sp>
              <p:nvSpPr>
                <p:cNvPr id="28769" name="Line 37"/>
                <p:cNvSpPr>
                  <a:spLocks noChangeShapeType="1"/>
                </p:cNvSpPr>
                <p:nvPr/>
              </p:nvSpPr>
              <p:spPr bwMode="auto">
                <a:xfrm rot="5400000" flipH="1" flipV="1">
                  <a:off x="5658082" y="29500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61" name="Rectangle 47"/>
              <p:cNvSpPr>
                <a:spLocks noChangeArrowheads="1"/>
              </p:cNvSpPr>
              <p:nvPr/>
            </p:nvSpPr>
            <p:spPr bwMode="auto">
              <a:xfrm>
                <a:off x="5879837" y="2943164"/>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k</a:t>
                </a:r>
                <a:endParaRPr lang="en-IN" altLang="en-US" b="1">
                  <a:solidFill>
                    <a:srgbClr val="FFC000"/>
                  </a:solidFill>
                </a:endParaRPr>
              </a:p>
            </p:txBody>
          </p:sp>
          <p:sp>
            <p:nvSpPr>
              <p:cNvPr id="28762" name="Line 37"/>
              <p:cNvSpPr>
                <a:spLocks noChangeShapeType="1"/>
              </p:cNvSpPr>
              <p:nvPr/>
            </p:nvSpPr>
            <p:spPr bwMode="auto">
              <a:xfrm rot="5400000" flipH="1" flipV="1">
                <a:off x="6004421" y="2950070"/>
                <a:ext cx="33484"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63" name="Rectangle 3"/>
              <p:cNvSpPr>
                <a:spLocks noChangeArrowheads="1"/>
              </p:cNvSpPr>
              <p:nvPr/>
            </p:nvSpPr>
            <p:spPr bwMode="auto">
              <a:xfrm>
                <a:off x="5618615" y="2932512"/>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ea typeface="Times New Roman" panose="02020603050405020304" pitchFamily="18" charset="0"/>
                    <a:cs typeface="Bookman-Demi"/>
                  </a:rPr>
                  <a:t> x</a:t>
                </a:r>
                <a:endParaRPr lang="en-IN" altLang="en-US">
                  <a:solidFill>
                    <a:srgbClr val="FFC000"/>
                  </a:solidFill>
                  <a:ea typeface="Times New Roman" panose="02020603050405020304" pitchFamily="18" charset="0"/>
                  <a:cs typeface="Bookman-Demi"/>
                </a:endParaRPr>
              </a:p>
            </p:txBody>
          </p:sp>
          <p:sp>
            <p:nvSpPr>
              <p:cNvPr id="28764" name="Rectangle 5"/>
              <p:cNvSpPr>
                <a:spLocks noChangeArrowheads="1"/>
              </p:cNvSpPr>
              <p:nvPr/>
            </p:nvSpPr>
            <p:spPr bwMode="auto">
              <a:xfrm>
                <a:off x="6067253" y="2974146"/>
                <a:ext cx="319556" cy="36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a:t>
                </a:r>
                <a:endParaRPr lang="en-IN" altLang="en-US">
                  <a:solidFill>
                    <a:srgbClr val="FFC000"/>
                  </a:solidFill>
                </a:endParaRPr>
              </a:p>
            </p:txBody>
          </p:sp>
          <p:sp>
            <p:nvSpPr>
              <p:cNvPr id="28765" name="Rectangle 47"/>
              <p:cNvSpPr>
                <a:spLocks noChangeArrowheads="1"/>
              </p:cNvSpPr>
              <p:nvPr/>
            </p:nvSpPr>
            <p:spPr bwMode="auto">
              <a:xfrm>
                <a:off x="6278270" y="2952470"/>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C000"/>
                    </a:solidFill>
                  </a:rPr>
                  <a:t>- j</a:t>
                </a:r>
                <a:endParaRPr lang="en-IN" altLang="en-US" b="1">
                  <a:solidFill>
                    <a:srgbClr val="FFC000"/>
                  </a:solidFill>
                </a:endParaRPr>
              </a:p>
            </p:txBody>
          </p:sp>
          <p:sp>
            <p:nvSpPr>
              <p:cNvPr id="28766" name="Line 37"/>
              <p:cNvSpPr>
                <a:spLocks noChangeShapeType="1"/>
              </p:cNvSpPr>
              <p:nvPr/>
            </p:nvSpPr>
            <p:spPr bwMode="auto">
              <a:xfrm rot="5400000" flipH="1" flipV="1">
                <a:off x="6523295" y="2956082"/>
                <a:ext cx="3348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767" name="Rectangle 143"/>
              <p:cNvSpPr>
                <a:spLocks noChangeArrowheads="1"/>
              </p:cNvSpPr>
              <p:nvPr/>
            </p:nvSpPr>
            <p:spPr bwMode="auto">
              <a:xfrm>
                <a:off x="6403063" y="2938011"/>
                <a:ext cx="184868" cy="369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en-IN" altLang="en-US">
                  <a:solidFill>
                    <a:srgbClr val="FFC000"/>
                  </a:solidFill>
                  <a:cs typeface="Times New Roman" panose="02020603050405020304" pitchFamily="18" charset="0"/>
                </a:endParaRPr>
              </a:p>
            </p:txBody>
          </p:sp>
        </p:grpSp>
      </p:grpSp>
      <p:grpSp>
        <p:nvGrpSpPr>
          <p:cNvPr id="258" name="Group 257"/>
          <p:cNvGrpSpPr>
            <a:grpSpLocks/>
          </p:cNvGrpSpPr>
          <p:nvPr/>
        </p:nvGrpSpPr>
        <p:grpSpPr bwMode="auto">
          <a:xfrm>
            <a:off x="1730376" y="3238500"/>
            <a:ext cx="2867025" cy="865188"/>
            <a:chOff x="264967" y="4769166"/>
            <a:chExt cx="2866873" cy="865188"/>
          </a:xfrm>
        </p:grpSpPr>
        <p:sp>
          <p:nvSpPr>
            <p:cNvPr id="28718" name="Rectangle 258"/>
            <p:cNvSpPr>
              <a:spLocks noChangeArrowheads="1"/>
            </p:cNvSpPr>
            <p:nvPr/>
          </p:nvSpPr>
          <p:spPr bwMode="auto">
            <a:xfrm>
              <a:off x="264967" y="478786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Light"/>
                </a:rPr>
                <a:t>6.  If </a:t>
              </a:r>
              <a:endParaRPr lang="en-IN" altLang="en-US">
                <a:solidFill>
                  <a:srgbClr val="000000"/>
                </a:solidFill>
                <a:ea typeface="Times New Roman" panose="02020603050405020304" pitchFamily="18" charset="0"/>
                <a:cs typeface="Bookman-Light"/>
              </a:endParaRPr>
            </a:p>
          </p:txBody>
        </p:sp>
        <p:grpSp>
          <p:nvGrpSpPr>
            <p:cNvPr id="28719" name="Group 7"/>
            <p:cNvGrpSpPr>
              <a:grpSpLocks/>
            </p:cNvGrpSpPr>
            <p:nvPr/>
          </p:nvGrpSpPr>
          <p:grpSpPr bwMode="auto">
            <a:xfrm>
              <a:off x="907753" y="4769166"/>
              <a:ext cx="2224087" cy="384175"/>
              <a:chOff x="1043608" y="4939710"/>
              <a:chExt cx="2223902" cy="383932"/>
            </a:xfrm>
          </p:grpSpPr>
          <p:grpSp>
            <p:nvGrpSpPr>
              <p:cNvPr id="28739" name="Group 8"/>
              <p:cNvGrpSpPr>
                <a:grpSpLocks/>
              </p:cNvGrpSpPr>
              <p:nvPr/>
            </p:nvGrpSpPr>
            <p:grpSpPr bwMode="auto">
              <a:xfrm>
                <a:off x="1043608" y="4939710"/>
                <a:ext cx="940394" cy="382588"/>
                <a:chOff x="8024094" y="5710708"/>
                <a:chExt cx="940394" cy="382588"/>
              </a:xfrm>
            </p:grpSpPr>
            <p:grpSp>
              <p:nvGrpSpPr>
                <p:cNvPr id="28750" name="Group 46"/>
                <p:cNvGrpSpPr>
                  <a:grpSpLocks/>
                </p:cNvGrpSpPr>
                <p:nvPr/>
              </p:nvGrpSpPr>
              <p:grpSpPr bwMode="auto">
                <a:xfrm>
                  <a:off x="8715250" y="5710708"/>
                  <a:ext cx="249238" cy="382588"/>
                  <a:chOff x="3806806" y="3161928"/>
                  <a:chExt cx="248786" cy="382470"/>
                </a:xfrm>
              </p:grpSpPr>
              <p:sp>
                <p:nvSpPr>
                  <p:cNvPr id="28755"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i</a:t>
                    </a:r>
                    <a:endParaRPr lang="en-IN" altLang="en-US" b="1">
                      <a:solidFill>
                        <a:srgbClr val="00FF00"/>
                      </a:solidFill>
                    </a:endParaRPr>
                  </a:p>
                </p:txBody>
              </p:sp>
              <p:sp>
                <p:nvSpPr>
                  <p:cNvPr id="28756"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51" name="Rectangle 20"/>
                <p:cNvSpPr>
                  <a:spLocks noChangeArrowheads="1"/>
                </p:cNvSpPr>
                <p:nvPr/>
              </p:nvSpPr>
              <p:spPr bwMode="auto">
                <a:xfrm>
                  <a:off x="8313570" y="5717519"/>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x</a:t>
                  </a:r>
                  <a:endParaRPr lang="en-IN" altLang="en-US" baseline="-25000">
                    <a:solidFill>
                      <a:srgbClr val="00FF00"/>
                    </a:solidFill>
                    <a:ea typeface="Times New Roman" panose="02020603050405020304" pitchFamily="18" charset="0"/>
                    <a:cs typeface="Bookman-Demi"/>
                  </a:endParaRPr>
                </a:p>
              </p:txBody>
            </p:sp>
            <p:grpSp>
              <p:nvGrpSpPr>
                <p:cNvPr id="28752" name="Group 21"/>
                <p:cNvGrpSpPr>
                  <a:grpSpLocks/>
                </p:cNvGrpSpPr>
                <p:nvPr/>
              </p:nvGrpSpPr>
              <p:grpSpPr bwMode="auto">
                <a:xfrm>
                  <a:off x="8024094" y="5718207"/>
                  <a:ext cx="312906" cy="369332"/>
                  <a:chOff x="7884368" y="5718207"/>
                  <a:chExt cx="312906" cy="369332"/>
                </a:xfrm>
              </p:grpSpPr>
              <p:sp>
                <p:nvSpPr>
                  <p:cNvPr id="28753" name="Rectangle 22"/>
                  <p:cNvSpPr>
                    <a:spLocks noChangeArrowheads="1"/>
                  </p:cNvSpPr>
                  <p:nvPr/>
                </p:nvSpPr>
                <p:spPr bwMode="auto">
                  <a:xfrm>
                    <a:off x="7884368" y="5718207"/>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Demi"/>
                      </a:rPr>
                      <a:t>a</a:t>
                    </a:r>
                    <a:endParaRPr lang="en-IN" altLang="en-US">
                      <a:solidFill>
                        <a:srgbClr val="00FF00"/>
                      </a:solidFill>
                      <a:ea typeface="Times New Roman" panose="02020603050405020304" pitchFamily="18" charset="0"/>
                      <a:cs typeface="Bookman-Demi"/>
                    </a:endParaRPr>
                  </a:p>
                </p:txBody>
              </p:sp>
              <p:cxnSp>
                <p:nvCxnSpPr>
                  <p:cNvPr id="295" name="Straight Arrow Connector 294"/>
                  <p:cNvCxnSpPr/>
                  <p:nvPr/>
                </p:nvCxnSpPr>
                <p:spPr bwMode="auto">
                  <a:xfrm>
                    <a:off x="7963850" y="5813830"/>
                    <a:ext cx="17142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8740" name="Group 9"/>
              <p:cNvGrpSpPr>
                <a:grpSpLocks/>
              </p:cNvGrpSpPr>
              <p:nvPr/>
            </p:nvGrpSpPr>
            <p:grpSpPr bwMode="auto">
              <a:xfrm>
                <a:off x="1907704" y="4939710"/>
                <a:ext cx="677812" cy="382588"/>
                <a:chOff x="3246116" y="4005064"/>
                <a:chExt cx="677812" cy="382588"/>
              </a:xfrm>
            </p:grpSpPr>
            <p:grpSp>
              <p:nvGrpSpPr>
                <p:cNvPr id="28746" name="Group 46"/>
                <p:cNvGrpSpPr>
                  <a:grpSpLocks/>
                </p:cNvGrpSpPr>
                <p:nvPr/>
              </p:nvGrpSpPr>
              <p:grpSpPr bwMode="auto">
                <a:xfrm>
                  <a:off x="3674690" y="4005064"/>
                  <a:ext cx="249238" cy="382588"/>
                  <a:chOff x="3806806" y="3161928"/>
                  <a:chExt cx="248786" cy="382470"/>
                </a:xfrm>
              </p:grpSpPr>
              <p:sp>
                <p:nvSpPr>
                  <p:cNvPr id="28748"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j</a:t>
                    </a:r>
                    <a:endParaRPr lang="en-IN" altLang="en-US" b="1">
                      <a:solidFill>
                        <a:srgbClr val="00FF00"/>
                      </a:solidFill>
                    </a:endParaRPr>
                  </a:p>
                </p:txBody>
              </p:sp>
              <p:sp>
                <p:nvSpPr>
                  <p:cNvPr id="28749"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47" name="Rectangle 16"/>
                <p:cNvSpPr>
                  <a:spLocks noChangeArrowheads="1"/>
                </p:cNvSpPr>
                <p:nvPr/>
              </p:nvSpPr>
              <p:spPr bwMode="auto">
                <a:xfrm>
                  <a:off x="3246116" y="4011875"/>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y</a:t>
                  </a:r>
                  <a:endParaRPr lang="en-IN" altLang="en-US" baseline="-25000">
                    <a:solidFill>
                      <a:srgbClr val="00FF00"/>
                    </a:solidFill>
                    <a:ea typeface="Times New Roman" panose="02020603050405020304" pitchFamily="18" charset="0"/>
                    <a:cs typeface="Bookman-Demi"/>
                  </a:endParaRPr>
                </a:p>
              </p:txBody>
            </p:sp>
          </p:grpSp>
          <p:grpSp>
            <p:nvGrpSpPr>
              <p:cNvPr id="28741" name="Group 10"/>
              <p:cNvGrpSpPr>
                <a:grpSpLocks/>
              </p:cNvGrpSpPr>
              <p:nvPr/>
            </p:nvGrpSpPr>
            <p:grpSpPr bwMode="auto">
              <a:xfrm>
                <a:off x="2526036" y="4941168"/>
                <a:ext cx="741474" cy="382474"/>
                <a:chOff x="2526036" y="4941168"/>
                <a:chExt cx="741474" cy="382474"/>
              </a:xfrm>
            </p:grpSpPr>
            <p:grpSp>
              <p:nvGrpSpPr>
                <p:cNvPr id="28742" name="Group 11"/>
                <p:cNvGrpSpPr>
                  <a:grpSpLocks/>
                </p:cNvGrpSpPr>
                <p:nvPr/>
              </p:nvGrpSpPr>
              <p:grpSpPr bwMode="auto">
                <a:xfrm>
                  <a:off x="2954604" y="4941168"/>
                  <a:ext cx="312906" cy="382474"/>
                  <a:chOff x="2954604" y="4941168"/>
                  <a:chExt cx="312906" cy="382474"/>
                </a:xfrm>
              </p:grpSpPr>
              <p:sp>
                <p:nvSpPr>
                  <p:cNvPr id="28744" name="Rectangle 47"/>
                  <p:cNvSpPr>
                    <a:spLocks noChangeArrowheads="1"/>
                  </p:cNvSpPr>
                  <p:nvPr/>
                </p:nvSpPr>
                <p:spPr bwMode="auto">
                  <a:xfrm>
                    <a:off x="2954604" y="495431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k</a:t>
                    </a:r>
                    <a:endParaRPr lang="en-IN" altLang="en-US" b="1">
                      <a:solidFill>
                        <a:srgbClr val="00FF00"/>
                      </a:solidFill>
                    </a:endParaRPr>
                  </a:p>
                </p:txBody>
              </p:sp>
              <p:sp>
                <p:nvSpPr>
                  <p:cNvPr id="28745" name="Line 37"/>
                  <p:cNvSpPr>
                    <a:spLocks noChangeShapeType="1"/>
                  </p:cNvSpPr>
                  <p:nvPr/>
                </p:nvSpPr>
                <p:spPr bwMode="auto">
                  <a:xfrm rot="5400000" flipH="1" flipV="1">
                    <a:off x="3074664" y="4957925"/>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43" name="Rectangle 12"/>
                <p:cNvSpPr>
                  <a:spLocks noChangeArrowheads="1"/>
                </p:cNvSpPr>
                <p:nvPr/>
              </p:nvSpPr>
              <p:spPr bwMode="auto">
                <a:xfrm>
                  <a:off x="2526036" y="4947979"/>
                  <a:ext cx="60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a</a:t>
                  </a:r>
                  <a:r>
                    <a:rPr lang="en-US" altLang="en-US" baseline="-25000">
                      <a:solidFill>
                        <a:srgbClr val="00FF00"/>
                      </a:solidFill>
                      <a:ea typeface="Times New Roman" panose="02020603050405020304" pitchFamily="18" charset="0"/>
                      <a:cs typeface="Bookman-Demi"/>
                    </a:rPr>
                    <a:t>z</a:t>
                  </a:r>
                  <a:endParaRPr lang="en-IN" altLang="en-US" baseline="-25000">
                    <a:solidFill>
                      <a:srgbClr val="00FF00"/>
                    </a:solidFill>
                    <a:ea typeface="Times New Roman" panose="02020603050405020304" pitchFamily="18" charset="0"/>
                    <a:cs typeface="Bookman-Demi"/>
                  </a:endParaRPr>
                </a:p>
              </p:txBody>
            </p:sp>
          </p:grpSp>
        </p:grpSp>
        <p:grpSp>
          <p:nvGrpSpPr>
            <p:cNvPr id="28720" name="Group 26"/>
            <p:cNvGrpSpPr>
              <a:grpSpLocks/>
            </p:cNvGrpSpPr>
            <p:nvPr/>
          </p:nvGrpSpPr>
          <p:grpSpPr bwMode="auto">
            <a:xfrm>
              <a:off x="898228" y="5250179"/>
              <a:ext cx="2224087" cy="384175"/>
              <a:chOff x="1043608" y="4939710"/>
              <a:chExt cx="2223902" cy="383932"/>
            </a:xfrm>
          </p:grpSpPr>
          <p:grpSp>
            <p:nvGrpSpPr>
              <p:cNvPr id="28721" name="Group 27"/>
              <p:cNvGrpSpPr>
                <a:grpSpLocks/>
              </p:cNvGrpSpPr>
              <p:nvPr/>
            </p:nvGrpSpPr>
            <p:grpSpPr bwMode="auto">
              <a:xfrm>
                <a:off x="1043608" y="4939710"/>
                <a:ext cx="940394" cy="382588"/>
                <a:chOff x="8024094" y="5710708"/>
                <a:chExt cx="940394" cy="382588"/>
              </a:xfrm>
            </p:grpSpPr>
            <p:grpSp>
              <p:nvGrpSpPr>
                <p:cNvPr id="28732" name="Group 46"/>
                <p:cNvGrpSpPr>
                  <a:grpSpLocks/>
                </p:cNvGrpSpPr>
                <p:nvPr/>
              </p:nvGrpSpPr>
              <p:grpSpPr bwMode="auto">
                <a:xfrm>
                  <a:off x="8715250" y="5710708"/>
                  <a:ext cx="249238" cy="382588"/>
                  <a:chOff x="3806806" y="3161928"/>
                  <a:chExt cx="248786" cy="382470"/>
                </a:xfrm>
              </p:grpSpPr>
              <p:sp>
                <p:nvSpPr>
                  <p:cNvPr id="28737"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i</a:t>
                    </a:r>
                    <a:endParaRPr lang="en-IN" altLang="en-US" b="1">
                      <a:solidFill>
                        <a:srgbClr val="00FF00"/>
                      </a:solidFill>
                    </a:endParaRPr>
                  </a:p>
                </p:txBody>
              </p:sp>
              <p:sp>
                <p:nvSpPr>
                  <p:cNvPr id="28738"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33" name="Rectangle 39"/>
                <p:cNvSpPr>
                  <a:spLocks noChangeArrowheads="1"/>
                </p:cNvSpPr>
                <p:nvPr/>
              </p:nvSpPr>
              <p:spPr bwMode="auto">
                <a:xfrm>
                  <a:off x="8313570" y="5717519"/>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x</a:t>
                  </a:r>
                  <a:endParaRPr lang="en-IN" altLang="en-US" baseline="-25000">
                    <a:solidFill>
                      <a:srgbClr val="00FF00"/>
                    </a:solidFill>
                    <a:ea typeface="Times New Roman" panose="02020603050405020304" pitchFamily="18" charset="0"/>
                    <a:cs typeface="Bookman-Demi"/>
                  </a:endParaRPr>
                </a:p>
              </p:txBody>
            </p:sp>
            <p:grpSp>
              <p:nvGrpSpPr>
                <p:cNvPr id="28734" name="Group 40"/>
                <p:cNvGrpSpPr>
                  <a:grpSpLocks/>
                </p:cNvGrpSpPr>
                <p:nvPr/>
              </p:nvGrpSpPr>
              <p:grpSpPr bwMode="auto">
                <a:xfrm>
                  <a:off x="8024094" y="5718207"/>
                  <a:ext cx="325730" cy="369332"/>
                  <a:chOff x="7884368" y="5718207"/>
                  <a:chExt cx="325730" cy="369332"/>
                </a:xfrm>
              </p:grpSpPr>
              <p:sp>
                <p:nvSpPr>
                  <p:cNvPr id="28735" name="Rectangle 41"/>
                  <p:cNvSpPr>
                    <a:spLocks noChangeArrowheads="1"/>
                  </p:cNvSpPr>
                  <p:nvPr/>
                </p:nvSpPr>
                <p:spPr bwMode="auto">
                  <a:xfrm>
                    <a:off x="7884368" y="5718207"/>
                    <a:ext cx="325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ea typeface="Times New Roman" panose="02020603050405020304" pitchFamily="18" charset="0"/>
                        <a:cs typeface="Bookman-Demi"/>
                      </a:rPr>
                      <a:t>b</a:t>
                    </a:r>
                    <a:endParaRPr lang="en-IN" altLang="en-US">
                      <a:solidFill>
                        <a:srgbClr val="00FF00"/>
                      </a:solidFill>
                      <a:ea typeface="Times New Roman" panose="02020603050405020304" pitchFamily="18" charset="0"/>
                      <a:cs typeface="Bookman-Demi"/>
                    </a:endParaRPr>
                  </a:p>
                </p:txBody>
              </p:sp>
              <p:cxnSp>
                <p:nvCxnSpPr>
                  <p:cNvPr id="277" name="Straight Arrow Connector 276"/>
                  <p:cNvCxnSpPr/>
                  <p:nvPr/>
                </p:nvCxnSpPr>
                <p:spPr bwMode="auto">
                  <a:xfrm>
                    <a:off x="7963850" y="5786860"/>
                    <a:ext cx="171427"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28722" name="Group 28"/>
              <p:cNvGrpSpPr>
                <a:grpSpLocks/>
              </p:cNvGrpSpPr>
              <p:nvPr/>
            </p:nvGrpSpPr>
            <p:grpSpPr bwMode="auto">
              <a:xfrm>
                <a:off x="1907704" y="4939710"/>
                <a:ext cx="677812" cy="382588"/>
                <a:chOff x="3246116" y="4005064"/>
                <a:chExt cx="677812" cy="382588"/>
              </a:xfrm>
            </p:grpSpPr>
            <p:grpSp>
              <p:nvGrpSpPr>
                <p:cNvPr id="28728" name="Group 46"/>
                <p:cNvGrpSpPr>
                  <a:grpSpLocks/>
                </p:cNvGrpSpPr>
                <p:nvPr/>
              </p:nvGrpSpPr>
              <p:grpSpPr bwMode="auto">
                <a:xfrm>
                  <a:off x="3674690" y="4005064"/>
                  <a:ext cx="249238" cy="382588"/>
                  <a:chOff x="3806806" y="3161928"/>
                  <a:chExt cx="248786" cy="382470"/>
                </a:xfrm>
              </p:grpSpPr>
              <p:sp>
                <p:nvSpPr>
                  <p:cNvPr id="28730"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j</a:t>
                    </a:r>
                    <a:endParaRPr lang="en-IN" altLang="en-US" b="1">
                      <a:solidFill>
                        <a:srgbClr val="00FF00"/>
                      </a:solidFill>
                    </a:endParaRPr>
                  </a:p>
                </p:txBody>
              </p:sp>
              <p:sp>
                <p:nvSpPr>
                  <p:cNvPr id="28731"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29" name="Rectangle 35"/>
                <p:cNvSpPr>
                  <a:spLocks noChangeArrowheads="1"/>
                </p:cNvSpPr>
                <p:nvPr/>
              </p:nvSpPr>
              <p:spPr bwMode="auto">
                <a:xfrm>
                  <a:off x="3246116" y="4011875"/>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y</a:t>
                  </a:r>
                  <a:endParaRPr lang="en-IN" altLang="en-US" baseline="-25000">
                    <a:solidFill>
                      <a:srgbClr val="00FF00"/>
                    </a:solidFill>
                    <a:ea typeface="Times New Roman" panose="02020603050405020304" pitchFamily="18" charset="0"/>
                    <a:cs typeface="Bookman-Demi"/>
                  </a:endParaRPr>
                </a:p>
              </p:txBody>
            </p:sp>
          </p:grpSp>
          <p:grpSp>
            <p:nvGrpSpPr>
              <p:cNvPr id="28723" name="Group 29"/>
              <p:cNvGrpSpPr>
                <a:grpSpLocks/>
              </p:cNvGrpSpPr>
              <p:nvPr/>
            </p:nvGrpSpPr>
            <p:grpSpPr bwMode="auto">
              <a:xfrm>
                <a:off x="2526036" y="4941168"/>
                <a:ext cx="741474" cy="382474"/>
                <a:chOff x="2526036" y="4941168"/>
                <a:chExt cx="741474" cy="382474"/>
              </a:xfrm>
            </p:grpSpPr>
            <p:grpSp>
              <p:nvGrpSpPr>
                <p:cNvPr id="28724" name="Group 30"/>
                <p:cNvGrpSpPr>
                  <a:grpSpLocks/>
                </p:cNvGrpSpPr>
                <p:nvPr/>
              </p:nvGrpSpPr>
              <p:grpSpPr bwMode="auto">
                <a:xfrm>
                  <a:off x="2954604" y="4941168"/>
                  <a:ext cx="312906" cy="382474"/>
                  <a:chOff x="2954604" y="4941168"/>
                  <a:chExt cx="312906" cy="382474"/>
                </a:xfrm>
              </p:grpSpPr>
              <p:sp>
                <p:nvSpPr>
                  <p:cNvPr id="28726" name="Rectangle 47"/>
                  <p:cNvSpPr>
                    <a:spLocks noChangeArrowheads="1"/>
                  </p:cNvSpPr>
                  <p:nvPr/>
                </p:nvSpPr>
                <p:spPr bwMode="auto">
                  <a:xfrm>
                    <a:off x="2954604" y="495431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k</a:t>
                    </a:r>
                    <a:endParaRPr lang="en-IN" altLang="en-US" b="1">
                      <a:solidFill>
                        <a:srgbClr val="00FF00"/>
                      </a:solidFill>
                    </a:endParaRPr>
                  </a:p>
                </p:txBody>
              </p:sp>
              <p:sp>
                <p:nvSpPr>
                  <p:cNvPr id="28727" name="Line 37"/>
                  <p:cNvSpPr>
                    <a:spLocks noChangeShapeType="1"/>
                  </p:cNvSpPr>
                  <p:nvPr/>
                </p:nvSpPr>
                <p:spPr bwMode="auto">
                  <a:xfrm rot="5400000" flipH="1" flipV="1">
                    <a:off x="3074664" y="4957925"/>
                    <a:ext cx="3351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25" name="Rectangle 31"/>
                <p:cNvSpPr>
                  <a:spLocks noChangeArrowheads="1"/>
                </p:cNvSpPr>
                <p:nvPr/>
              </p:nvSpPr>
              <p:spPr bwMode="auto">
                <a:xfrm>
                  <a:off x="2526036" y="4947979"/>
                  <a:ext cx="588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FF00"/>
                      </a:solidFill>
                      <a:ea typeface="Times New Roman" panose="02020603050405020304" pitchFamily="18" charset="0"/>
                      <a:cs typeface="Bookman-Demi"/>
                    </a:rPr>
                    <a:t>+ b</a:t>
                  </a:r>
                  <a:r>
                    <a:rPr lang="en-US" altLang="en-US" baseline="-25000">
                      <a:solidFill>
                        <a:srgbClr val="00FF00"/>
                      </a:solidFill>
                      <a:ea typeface="Times New Roman" panose="02020603050405020304" pitchFamily="18" charset="0"/>
                      <a:cs typeface="Bookman-Demi"/>
                    </a:rPr>
                    <a:t>z</a:t>
                  </a:r>
                  <a:endParaRPr lang="en-IN" altLang="en-US" baseline="-25000">
                    <a:solidFill>
                      <a:srgbClr val="00FF00"/>
                    </a:solidFill>
                    <a:ea typeface="Times New Roman" panose="02020603050405020304" pitchFamily="18" charset="0"/>
                    <a:cs typeface="Bookman-Demi"/>
                  </a:endParaRPr>
                </a:p>
              </p:txBody>
            </p:sp>
          </p:grpSp>
        </p:grpSp>
      </p:grpSp>
      <p:grpSp>
        <p:nvGrpSpPr>
          <p:cNvPr id="22" name="Group 21"/>
          <p:cNvGrpSpPr>
            <a:grpSpLocks/>
          </p:cNvGrpSpPr>
          <p:nvPr/>
        </p:nvGrpSpPr>
        <p:grpSpPr bwMode="auto">
          <a:xfrm>
            <a:off x="2338388" y="4278314"/>
            <a:ext cx="2678112" cy="1449387"/>
            <a:chOff x="1381700" y="5075892"/>
            <a:chExt cx="2678367" cy="1449452"/>
          </a:xfrm>
        </p:grpSpPr>
        <p:grpSp>
          <p:nvGrpSpPr>
            <p:cNvPr id="28700" name="Group 63"/>
            <p:cNvGrpSpPr>
              <a:grpSpLocks/>
            </p:cNvGrpSpPr>
            <p:nvPr/>
          </p:nvGrpSpPr>
          <p:grpSpPr bwMode="auto">
            <a:xfrm>
              <a:off x="1381700" y="5075892"/>
              <a:ext cx="909223" cy="369332"/>
              <a:chOff x="4654450" y="5795416"/>
              <a:chExt cx="909293" cy="369146"/>
            </a:xfrm>
          </p:grpSpPr>
          <p:sp>
            <p:nvSpPr>
              <p:cNvPr id="28715" name="Rectangle 7"/>
              <p:cNvSpPr>
                <a:spLocks noChangeArrowheads="1"/>
              </p:cNvSpPr>
              <p:nvPr/>
            </p:nvSpPr>
            <p:spPr bwMode="auto">
              <a:xfrm>
                <a:off x="4654450" y="5795416"/>
                <a:ext cx="909293" cy="36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a x b =</a:t>
                </a:r>
                <a:endParaRPr lang="en-IN" altLang="en-US" b="1">
                  <a:solidFill>
                    <a:srgbClr val="FF7C80"/>
                  </a:solidFill>
                </a:endParaRPr>
              </a:p>
            </p:txBody>
          </p:sp>
          <p:cxnSp>
            <p:nvCxnSpPr>
              <p:cNvPr id="302" name="Straight Arrow Connector 301"/>
              <p:cNvCxnSpPr/>
              <p:nvPr/>
            </p:nvCxnSpPr>
            <p:spPr bwMode="auto">
              <a:xfrm>
                <a:off x="4740190" y="5892209"/>
                <a:ext cx="17148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3" name="Straight Arrow Connector 302"/>
              <p:cNvCxnSpPr/>
              <p:nvPr/>
            </p:nvCxnSpPr>
            <p:spPr bwMode="auto">
              <a:xfrm>
                <a:off x="5140309" y="5850953"/>
                <a:ext cx="171480"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701" name="Group 19"/>
            <p:cNvGrpSpPr>
              <a:grpSpLocks/>
            </p:cNvGrpSpPr>
            <p:nvPr/>
          </p:nvGrpSpPr>
          <p:grpSpPr bwMode="auto">
            <a:xfrm>
              <a:off x="2339752" y="5085184"/>
              <a:ext cx="1720315" cy="1440160"/>
              <a:chOff x="2779677" y="5085184"/>
              <a:chExt cx="1720315" cy="1440160"/>
            </a:xfrm>
          </p:grpSpPr>
          <p:grpSp>
            <p:nvGrpSpPr>
              <p:cNvPr id="28702" name="Group 46"/>
              <p:cNvGrpSpPr>
                <a:grpSpLocks/>
              </p:cNvGrpSpPr>
              <p:nvPr/>
            </p:nvGrpSpPr>
            <p:grpSpPr bwMode="auto">
              <a:xfrm>
                <a:off x="2915816" y="5121198"/>
                <a:ext cx="249238" cy="382587"/>
                <a:chOff x="3806806" y="3161928"/>
                <a:chExt cx="248786" cy="382470"/>
              </a:xfrm>
            </p:grpSpPr>
            <p:sp>
              <p:nvSpPr>
                <p:cNvPr id="28713"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i</a:t>
                  </a:r>
                  <a:endParaRPr lang="en-IN" altLang="en-US" b="1">
                    <a:solidFill>
                      <a:srgbClr val="FF7C80"/>
                    </a:solidFill>
                  </a:endParaRPr>
                </a:p>
              </p:txBody>
            </p:sp>
            <p:sp>
              <p:nvSpPr>
                <p:cNvPr id="28714"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8703" name="Group 46"/>
              <p:cNvGrpSpPr>
                <a:grpSpLocks/>
              </p:cNvGrpSpPr>
              <p:nvPr/>
            </p:nvGrpSpPr>
            <p:grpSpPr bwMode="auto">
              <a:xfrm>
                <a:off x="3491880" y="5121197"/>
                <a:ext cx="249237" cy="382588"/>
                <a:chOff x="3806806" y="3161928"/>
                <a:chExt cx="248786" cy="382470"/>
              </a:xfrm>
            </p:grpSpPr>
            <p:sp>
              <p:nvSpPr>
                <p:cNvPr id="28711" name="Rectangle 47"/>
                <p:cNvSpPr>
                  <a:spLocks noChangeArrowheads="1"/>
                </p:cNvSpPr>
                <p:nvPr/>
              </p:nvSpPr>
              <p:spPr bwMode="auto">
                <a:xfrm>
                  <a:off x="3806806" y="317506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j</a:t>
                  </a:r>
                  <a:endParaRPr lang="en-IN" altLang="en-US" b="1">
                    <a:solidFill>
                      <a:srgbClr val="FF7C80"/>
                    </a:solidFill>
                  </a:endParaRPr>
                </a:p>
              </p:txBody>
            </p:sp>
            <p:sp>
              <p:nvSpPr>
                <p:cNvPr id="28712" name="Line 37"/>
                <p:cNvSpPr>
                  <a:spLocks noChangeShapeType="1"/>
                </p:cNvSpPr>
                <p:nvPr/>
              </p:nvSpPr>
              <p:spPr bwMode="auto">
                <a:xfrm rot="5400000" flipH="1" flipV="1">
                  <a:off x="3913201" y="3178680"/>
                  <a:ext cx="33505" cy="1"/>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8704" name="Group 14"/>
              <p:cNvGrpSpPr>
                <a:grpSpLocks/>
              </p:cNvGrpSpPr>
              <p:nvPr/>
            </p:nvGrpSpPr>
            <p:grpSpPr bwMode="auto">
              <a:xfrm>
                <a:off x="4067944" y="5085184"/>
                <a:ext cx="312737" cy="415925"/>
                <a:chOff x="4256088" y="5245894"/>
                <a:chExt cx="312737" cy="415925"/>
              </a:xfrm>
            </p:grpSpPr>
            <p:sp>
              <p:nvSpPr>
                <p:cNvPr id="28709" name="Rectangle 47"/>
                <p:cNvSpPr>
                  <a:spLocks noChangeArrowheads="1"/>
                </p:cNvSpPr>
                <p:nvPr/>
              </p:nvSpPr>
              <p:spPr bwMode="auto">
                <a:xfrm>
                  <a:off x="4256088" y="5291931"/>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k</a:t>
                  </a:r>
                  <a:endParaRPr lang="en-IN" altLang="en-US" b="1">
                    <a:solidFill>
                      <a:srgbClr val="FF7C80"/>
                    </a:solidFill>
                  </a:endParaRPr>
                </a:p>
              </p:txBody>
            </p:sp>
            <p:sp>
              <p:nvSpPr>
                <p:cNvPr id="28710" name="Line 37"/>
                <p:cNvSpPr>
                  <a:spLocks noChangeShapeType="1"/>
                </p:cNvSpPr>
                <p:nvPr/>
              </p:nvSpPr>
              <p:spPr bwMode="auto">
                <a:xfrm rot="5400000" flipH="1" flipV="1">
                  <a:off x="4375944" y="5262563"/>
                  <a:ext cx="33337" cy="0"/>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sp>
            <p:nvSpPr>
              <p:cNvPr id="28705" name="Rectangle 16"/>
              <p:cNvSpPr>
                <a:spLocks noChangeArrowheads="1"/>
              </p:cNvSpPr>
              <p:nvPr/>
            </p:nvSpPr>
            <p:spPr bwMode="auto">
              <a:xfrm>
                <a:off x="2893695" y="5503785"/>
                <a:ext cx="157927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7C80"/>
                    </a:solidFill>
                    <a:ea typeface="Times New Roman" panose="02020603050405020304" pitchFamily="18" charset="0"/>
                    <a:cs typeface="Bookman-Demi"/>
                  </a:rPr>
                  <a:t>a</a:t>
                </a:r>
                <a:r>
                  <a:rPr lang="en-US" altLang="en-US" baseline="-25000">
                    <a:solidFill>
                      <a:srgbClr val="FF7C80"/>
                    </a:solidFill>
                    <a:ea typeface="Times New Roman" panose="02020603050405020304" pitchFamily="18" charset="0"/>
                    <a:cs typeface="Bookman-Demi"/>
                  </a:rPr>
                  <a:t>x        </a:t>
                </a:r>
                <a:r>
                  <a:rPr lang="en-US" altLang="en-US">
                    <a:solidFill>
                      <a:srgbClr val="FF7C80"/>
                    </a:solidFill>
                    <a:ea typeface="Times New Roman" panose="02020603050405020304" pitchFamily="18" charset="0"/>
                    <a:cs typeface="Bookman-Demi"/>
                  </a:rPr>
                  <a:t>a</a:t>
                </a:r>
                <a:r>
                  <a:rPr lang="en-US" altLang="en-US" baseline="-25000">
                    <a:solidFill>
                      <a:srgbClr val="FF7C80"/>
                    </a:solidFill>
                    <a:ea typeface="Times New Roman" panose="02020603050405020304" pitchFamily="18" charset="0"/>
                    <a:cs typeface="Bookman-Demi"/>
                  </a:rPr>
                  <a:t>y         </a:t>
                </a:r>
                <a:r>
                  <a:rPr lang="en-US" altLang="en-US">
                    <a:solidFill>
                      <a:srgbClr val="FF7C80"/>
                    </a:solidFill>
                    <a:ea typeface="Times New Roman" panose="02020603050405020304" pitchFamily="18" charset="0"/>
                    <a:cs typeface="Bookman-Demi"/>
                  </a:rPr>
                  <a:t>a</a:t>
                </a:r>
                <a:r>
                  <a:rPr lang="en-US" altLang="en-US" baseline="-25000">
                    <a:solidFill>
                      <a:srgbClr val="FF7C80"/>
                    </a:solidFill>
                    <a:ea typeface="Times New Roman" panose="02020603050405020304" pitchFamily="18" charset="0"/>
                    <a:cs typeface="Bookman-Demi"/>
                  </a:rPr>
                  <a:t>z</a:t>
                </a:r>
                <a:endParaRPr lang="en-IN" altLang="en-US" baseline="-25000">
                  <a:solidFill>
                    <a:srgbClr val="FF7C80"/>
                  </a:solidFill>
                  <a:ea typeface="Times New Roman" panose="02020603050405020304" pitchFamily="18" charset="0"/>
                  <a:cs typeface="Bookman-Demi"/>
                </a:endParaRPr>
              </a:p>
              <a:p>
                <a:pPr eaLnBrk="1" fontAlgn="base" hangingPunct="1">
                  <a:spcBef>
                    <a:spcPct val="0"/>
                  </a:spcBef>
                  <a:spcAft>
                    <a:spcPct val="0"/>
                  </a:spcAft>
                </a:pPr>
                <a:r>
                  <a:rPr lang="en-US" altLang="en-US" baseline="-25000">
                    <a:solidFill>
                      <a:srgbClr val="FF7C80"/>
                    </a:solidFill>
                    <a:ea typeface="Times New Roman" panose="02020603050405020304" pitchFamily="18" charset="0"/>
                    <a:cs typeface="Bookman-Demi"/>
                  </a:rPr>
                  <a:t> </a:t>
                </a:r>
                <a:endParaRPr lang="en-IN" altLang="en-US" baseline="-25000">
                  <a:solidFill>
                    <a:srgbClr val="FF7C80"/>
                  </a:solidFill>
                  <a:ea typeface="Times New Roman" panose="02020603050405020304" pitchFamily="18" charset="0"/>
                  <a:cs typeface="Bookman-Demi"/>
                </a:endParaRPr>
              </a:p>
            </p:txBody>
          </p:sp>
          <p:sp>
            <p:nvSpPr>
              <p:cNvPr id="28706" name="Rectangle 314"/>
              <p:cNvSpPr>
                <a:spLocks noChangeArrowheads="1"/>
              </p:cNvSpPr>
              <p:nvPr/>
            </p:nvSpPr>
            <p:spPr bwMode="auto">
              <a:xfrm>
                <a:off x="2888922" y="5971346"/>
                <a:ext cx="157927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FF7C80"/>
                    </a:solidFill>
                    <a:ea typeface="Times New Roman" panose="02020603050405020304" pitchFamily="18" charset="0"/>
                    <a:cs typeface="Bookman-Demi"/>
                  </a:rPr>
                  <a:t>b</a:t>
                </a:r>
                <a:r>
                  <a:rPr lang="en-US" altLang="en-US" baseline="-25000">
                    <a:solidFill>
                      <a:srgbClr val="FF7C80"/>
                    </a:solidFill>
                    <a:ea typeface="Times New Roman" panose="02020603050405020304" pitchFamily="18" charset="0"/>
                    <a:cs typeface="Bookman-Demi"/>
                  </a:rPr>
                  <a:t>x        </a:t>
                </a:r>
                <a:r>
                  <a:rPr lang="en-US" altLang="en-US">
                    <a:solidFill>
                      <a:srgbClr val="FF7C80"/>
                    </a:solidFill>
                    <a:ea typeface="Times New Roman" panose="02020603050405020304" pitchFamily="18" charset="0"/>
                    <a:cs typeface="Bookman-Demi"/>
                  </a:rPr>
                  <a:t>b</a:t>
                </a:r>
                <a:r>
                  <a:rPr lang="en-US" altLang="en-US" baseline="-25000">
                    <a:solidFill>
                      <a:srgbClr val="FF7C80"/>
                    </a:solidFill>
                    <a:ea typeface="Times New Roman" panose="02020603050405020304" pitchFamily="18" charset="0"/>
                    <a:cs typeface="Bookman-Demi"/>
                  </a:rPr>
                  <a:t>y         </a:t>
                </a:r>
                <a:r>
                  <a:rPr lang="en-US" altLang="en-US">
                    <a:solidFill>
                      <a:srgbClr val="FF7C80"/>
                    </a:solidFill>
                    <a:ea typeface="Times New Roman" panose="02020603050405020304" pitchFamily="18" charset="0"/>
                    <a:cs typeface="Bookman-Demi"/>
                  </a:rPr>
                  <a:t>b</a:t>
                </a:r>
                <a:r>
                  <a:rPr lang="en-US" altLang="en-US" baseline="-25000">
                    <a:solidFill>
                      <a:srgbClr val="FF7C80"/>
                    </a:solidFill>
                    <a:ea typeface="Times New Roman" panose="02020603050405020304" pitchFamily="18" charset="0"/>
                    <a:cs typeface="Bookman-Demi"/>
                  </a:rPr>
                  <a:t>z</a:t>
                </a:r>
                <a:endParaRPr lang="en-IN" altLang="en-US" baseline="-25000">
                  <a:solidFill>
                    <a:srgbClr val="FF7C80"/>
                  </a:solidFill>
                  <a:ea typeface="Times New Roman" panose="02020603050405020304" pitchFamily="18" charset="0"/>
                  <a:cs typeface="Bookman-Demi"/>
                </a:endParaRPr>
              </a:p>
              <a:p>
                <a:pPr eaLnBrk="1" fontAlgn="base" hangingPunct="1">
                  <a:spcBef>
                    <a:spcPct val="0"/>
                  </a:spcBef>
                  <a:spcAft>
                    <a:spcPct val="0"/>
                  </a:spcAft>
                </a:pPr>
                <a:r>
                  <a:rPr lang="en-US" altLang="en-US" baseline="-25000">
                    <a:solidFill>
                      <a:srgbClr val="FF7C80"/>
                    </a:solidFill>
                    <a:ea typeface="Times New Roman" panose="02020603050405020304" pitchFamily="18" charset="0"/>
                    <a:cs typeface="Bookman-Demi"/>
                  </a:rPr>
                  <a:t> </a:t>
                </a:r>
                <a:endParaRPr lang="en-IN" altLang="en-US" baseline="-25000">
                  <a:solidFill>
                    <a:srgbClr val="FF7C80"/>
                  </a:solidFill>
                  <a:ea typeface="Times New Roman" panose="02020603050405020304" pitchFamily="18" charset="0"/>
                  <a:cs typeface="Bookman-Demi"/>
                </a:endParaRPr>
              </a:p>
            </p:txBody>
          </p:sp>
          <p:cxnSp>
            <p:nvCxnSpPr>
              <p:cNvPr id="19" name="Straight Connector 18"/>
              <p:cNvCxnSpPr/>
              <p:nvPr/>
            </p:nvCxnSpPr>
            <p:spPr>
              <a:xfrm>
                <a:off x="2778978" y="5085417"/>
                <a:ext cx="0" cy="1295458"/>
              </a:xfrm>
              <a:prstGeom prst="line">
                <a:avLst/>
              </a:prstGeom>
              <a:ln w="19050">
                <a:solidFill>
                  <a:srgbClr val="FF7C80"/>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p:cNvCxnSpPr/>
              <p:nvPr/>
            </p:nvCxnSpPr>
            <p:spPr>
              <a:xfrm>
                <a:off x="4499992" y="5085417"/>
                <a:ext cx="0" cy="1295458"/>
              </a:xfrm>
              <a:prstGeom prst="line">
                <a:avLst/>
              </a:prstGeom>
              <a:ln w="19050">
                <a:solidFill>
                  <a:srgbClr val="FF7C80"/>
                </a:solidFill>
              </a:ln>
            </p:spPr>
            <p:style>
              <a:lnRef idx="1">
                <a:schemeClr val="accent1"/>
              </a:lnRef>
              <a:fillRef idx="0">
                <a:schemeClr val="accent1"/>
              </a:fillRef>
              <a:effectRef idx="0">
                <a:schemeClr val="accent1"/>
              </a:effectRef>
              <a:fontRef idx="minor">
                <a:schemeClr val="tx1"/>
              </a:fontRef>
            </p:style>
          </p:cxnSp>
        </p:grpSp>
      </p:grpSp>
      <p:grpSp>
        <p:nvGrpSpPr>
          <p:cNvPr id="23" name="Group 22"/>
          <p:cNvGrpSpPr>
            <a:grpSpLocks/>
          </p:cNvGrpSpPr>
          <p:nvPr/>
        </p:nvGrpSpPr>
        <p:grpSpPr bwMode="auto">
          <a:xfrm>
            <a:off x="5024438" y="4262439"/>
            <a:ext cx="5535612" cy="390525"/>
            <a:chOff x="1966265" y="5724582"/>
            <a:chExt cx="5536897" cy="390780"/>
          </a:xfrm>
        </p:grpSpPr>
        <p:sp>
          <p:nvSpPr>
            <p:cNvPr id="28696" name="Rectangle 20"/>
            <p:cNvSpPr>
              <a:spLocks noChangeArrowheads="1"/>
            </p:cNvSpPr>
            <p:nvPr/>
          </p:nvSpPr>
          <p:spPr bwMode="auto">
            <a:xfrm>
              <a:off x="1966265" y="5746030"/>
              <a:ext cx="5536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 (a</a:t>
              </a:r>
              <a:r>
                <a:rPr lang="en-US" altLang="en-US" b="1" baseline="-25000">
                  <a:solidFill>
                    <a:srgbClr val="00FF00"/>
                  </a:solidFill>
                </a:rPr>
                <a:t>y </a:t>
              </a:r>
              <a:r>
                <a:rPr lang="en-US" altLang="en-US" b="1">
                  <a:solidFill>
                    <a:srgbClr val="00FF00"/>
                  </a:solidFill>
                </a:rPr>
                <a:t>b</a:t>
              </a:r>
              <a:r>
                <a:rPr lang="en-US" altLang="en-US" b="1" baseline="-25000">
                  <a:solidFill>
                    <a:srgbClr val="00FF00"/>
                  </a:solidFill>
                </a:rPr>
                <a:t>z</a:t>
              </a:r>
              <a:r>
                <a:rPr lang="en-US" altLang="en-US" b="1">
                  <a:solidFill>
                    <a:srgbClr val="00FF00"/>
                  </a:solidFill>
                </a:rPr>
                <a:t> – a</a:t>
              </a:r>
              <a:r>
                <a:rPr lang="en-US" altLang="en-US" b="1" baseline="-25000">
                  <a:solidFill>
                    <a:srgbClr val="00FF00"/>
                  </a:solidFill>
                </a:rPr>
                <a:t>z</a:t>
              </a:r>
              <a:r>
                <a:rPr lang="en-US" altLang="en-US" b="1">
                  <a:solidFill>
                    <a:srgbClr val="00FF00"/>
                  </a:solidFill>
                </a:rPr>
                <a:t> b</a:t>
              </a:r>
              <a:r>
                <a:rPr lang="en-US" altLang="en-US" b="1" baseline="-25000">
                  <a:solidFill>
                    <a:srgbClr val="00FF00"/>
                  </a:solidFill>
                </a:rPr>
                <a:t>y</a:t>
              </a:r>
              <a:r>
                <a:rPr lang="en-US" altLang="en-US" b="1">
                  <a:solidFill>
                    <a:srgbClr val="00FF00"/>
                  </a:solidFill>
                </a:rPr>
                <a:t>) i – (a</a:t>
              </a:r>
              <a:r>
                <a:rPr lang="en-US" altLang="en-US" b="1" baseline="-25000">
                  <a:solidFill>
                    <a:srgbClr val="00FF00"/>
                  </a:solidFill>
                </a:rPr>
                <a:t>x</a:t>
              </a:r>
              <a:r>
                <a:rPr lang="en-US" altLang="en-US" b="1">
                  <a:solidFill>
                    <a:srgbClr val="00FF00"/>
                  </a:solidFill>
                </a:rPr>
                <a:t> b</a:t>
              </a:r>
              <a:r>
                <a:rPr lang="en-US" altLang="en-US" b="1" baseline="-25000">
                  <a:solidFill>
                    <a:srgbClr val="00FF00"/>
                  </a:solidFill>
                </a:rPr>
                <a:t>z</a:t>
              </a:r>
              <a:r>
                <a:rPr lang="en-US" altLang="en-US" b="1">
                  <a:solidFill>
                    <a:srgbClr val="00FF00"/>
                  </a:solidFill>
                </a:rPr>
                <a:t> – a</a:t>
              </a:r>
              <a:r>
                <a:rPr lang="en-US" altLang="en-US" b="1" baseline="-25000">
                  <a:solidFill>
                    <a:srgbClr val="00FF00"/>
                  </a:solidFill>
                </a:rPr>
                <a:t>z</a:t>
              </a:r>
              <a:r>
                <a:rPr lang="en-US" altLang="en-US" b="1">
                  <a:solidFill>
                    <a:srgbClr val="00FF00"/>
                  </a:solidFill>
                </a:rPr>
                <a:t> b</a:t>
              </a:r>
              <a:r>
                <a:rPr lang="en-US" altLang="en-US" b="1" baseline="-25000">
                  <a:solidFill>
                    <a:srgbClr val="00FF00"/>
                  </a:solidFill>
                </a:rPr>
                <a:t>x</a:t>
              </a:r>
              <a:r>
                <a:rPr lang="en-US" altLang="en-US" b="1">
                  <a:solidFill>
                    <a:srgbClr val="00FF00"/>
                  </a:solidFill>
                </a:rPr>
                <a:t>) j + (a</a:t>
              </a:r>
              <a:r>
                <a:rPr lang="en-US" altLang="en-US" b="1" baseline="-25000">
                  <a:solidFill>
                    <a:srgbClr val="00FF00"/>
                  </a:solidFill>
                </a:rPr>
                <a:t>x</a:t>
              </a:r>
              <a:r>
                <a:rPr lang="en-US" altLang="en-US" b="1">
                  <a:solidFill>
                    <a:srgbClr val="00FF00"/>
                  </a:solidFill>
                </a:rPr>
                <a:t> b</a:t>
              </a:r>
              <a:r>
                <a:rPr lang="en-US" altLang="en-US" b="1" baseline="-25000">
                  <a:solidFill>
                    <a:srgbClr val="00FF00"/>
                  </a:solidFill>
                </a:rPr>
                <a:t>y</a:t>
              </a:r>
              <a:r>
                <a:rPr lang="en-US" altLang="en-US" b="1">
                  <a:solidFill>
                    <a:srgbClr val="00FF00"/>
                  </a:solidFill>
                </a:rPr>
                <a:t> – a</a:t>
              </a:r>
              <a:r>
                <a:rPr lang="en-US" altLang="en-US" b="1" baseline="-25000">
                  <a:solidFill>
                    <a:srgbClr val="00FF00"/>
                  </a:solidFill>
                </a:rPr>
                <a:t>y</a:t>
              </a:r>
              <a:r>
                <a:rPr lang="en-US" altLang="en-US" b="1">
                  <a:solidFill>
                    <a:srgbClr val="00FF00"/>
                  </a:solidFill>
                </a:rPr>
                <a:t>b</a:t>
              </a:r>
              <a:r>
                <a:rPr lang="en-US" altLang="en-US" b="1" baseline="-25000">
                  <a:solidFill>
                    <a:srgbClr val="00FF00"/>
                  </a:solidFill>
                </a:rPr>
                <a:t>x</a:t>
              </a:r>
              <a:r>
                <a:rPr lang="en-US" altLang="en-US" b="1">
                  <a:solidFill>
                    <a:srgbClr val="00FF00"/>
                  </a:solidFill>
                </a:rPr>
                <a:t>) k</a:t>
              </a:r>
              <a:endParaRPr lang="en-IN" altLang="en-US">
                <a:solidFill>
                  <a:srgbClr val="00FF00"/>
                </a:solidFill>
              </a:endParaRPr>
            </a:p>
          </p:txBody>
        </p:sp>
        <p:sp>
          <p:nvSpPr>
            <p:cNvPr id="28697" name="Line 37"/>
            <p:cNvSpPr>
              <a:spLocks noChangeShapeType="1"/>
            </p:cNvSpPr>
            <p:nvPr/>
          </p:nvSpPr>
          <p:spPr bwMode="auto">
            <a:xfrm rot="5400000" flipH="1" flipV="1">
              <a:off x="3704682" y="5741251"/>
              <a:ext cx="33337" cy="0"/>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698" name="Line 37"/>
            <p:cNvSpPr>
              <a:spLocks noChangeShapeType="1"/>
            </p:cNvSpPr>
            <p:nvPr/>
          </p:nvSpPr>
          <p:spPr bwMode="auto">
            <a:xfrm rot="5400000" flipH="1" flipV="1">
              <a:off x="5451094" y="5748254"/>
              <a:ext cx="33337" cy="0"/>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sp>
          <p:nvSpPr>
            <p:cNvPr id="28699" name="Line 37"/>
            <p:cNvSpPr>
              <a:spLocks noChangeShapeType="1"/>
            </p:cNvSpPr>
            <p:nvPr/>
          </p:nvSpPr>
          <p:spPr bwMode="auto">
            <a:xfrm rot="5400000" flipH="1" flipV="1">
              <a:off x="7192733" y="5743481"/>
              <a:ext cx="33337" cy="0"/>
            </a:xfrm>
            <a:prstGeom prst="line">
              <a:avLst/>
            </a:prstGeom>
            <a:noFill/>
            <a:ln w="19050">
              <a:solidFill>
                <a:srgbClr val="FFCC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IN">
                <a:solidFill>
                  <a:srgbClr val="000000"/>
                </a:solidFill>
                <a:latin typeface="Arial" panose="020B0604020202020204" pitchFamily="34" charset="0"/>
                <a:cs typeface="Arial" panose="020B0604020202020204" pitchFamily="34" charset="0"/>
              </a:endParaRPr>
            </a:p>
          </p:txBody>
        </p:sp>
      </p:grpSp>
      <p:grpSp>
        <p:nvGrpSpPr>
          <p:cNvPr id="27" name="Group 26"/>
          <p:cNvGrpSpPr>
            <a:grpSpLocks/>
          </p:cNvGrpSpPr>
          <p:nvPr/>
        </p:nvGrpSpPr>
        <p:grpSpPr bwMode="auto">
          <a:xfrm>
            <a:off x="2049463" y="5913439"/>
            <a:ext cx="6297612" cy="395287"/>
            <a:chOff x="1043608" y="5939988"/>
            <a:chExt cx="6297466" cy="396226"/>
          </a:xfrm>
        </p:grpSpPr>
        <p:grpSp>
          <p:nvGrpSpPr>
            <p:cNvPr id="28687" name="Group 23"/>
            <p:cNvGrpSpPr>
              <a:grpSpLocks/>
            </p:cNvGrpSpPr>
            <p:nvPr/>
          </p:nvGrpSpPr>
          <p:grpSpPr bwMode="auto">
            <a:xfrm>
              <a:off x="1043608" y="5949280"/>
              <a:ext cx="966931" cy="369332"/>
              <a:chOff x="4863052" y="2024231"/>
              <a:chExt cx="966931" cy="369332"/>
            </a:xfrm>
          </p:grpSpPr>
          <p:sp>
            <p:nvSpPr>
              <p:cNvPr id="28693" name="Rectangle 7"/>
              <p:cNvSpPr>
                <a:spLocks noChangeArrowheads="1"/>
              </p:cNvSpPr>
              <p:nvPr/>
            </p:nvSpPr>
            <p:spPr bwMode="auto">
              <a:xfrm>
                <a:off x="4863052" y="2024231"/>
                <a:ext cx="966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FF7C80"/>
                    </a:solidFill>
                  </a:rPr>
                  <a:t>| a x b |</a:t>
                </a:r>
                <a:endParaRPr lang="en-IN" altLang="en-US" b="1">
                  <a:solidFill>
                    <a:srgbClr val="FF7C80"/>
                  </a:solidFill>
                </a:endParaRPr>
              </a:p>
            </p:txBody>
          </p:sp>
          <p:cxnSp>
            <p:nvCxnSpPr>
              <p:cNvPr id="347" name="Straight Arrow Connector 346"/>
              <p:cNvCxnSpPr/>
              <p:nvPr/>
            </p:nvCxnSpPr>
            <p:spPr bwMode="auto">
              <a:xfrm>
                <a:off x="5071009" y="2107233"/>
                <a:ext cx="169859"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p:nvPr/>
            </p:nvCxnSpPr>
            <p:spPr bwMode="auto">
              <a:xfrm>
                <a:off x="5453589" y="2080181"/>
                <a:ext cx="171446" cy="0"/>
              </a:xfrm>
              <a:prstGeom prst="straightConnector1">
                <a:avLst/>
              </a:prstGeom>
              <a:ln w="19050">
                <a:solidFill>
                  <a:srgbClr val="FF996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688" name="Group 25"/>
            <p:cNvGrpSpPr>
              <a:grpSpLocks/>
            </p:cNvGrpSpPr>
            <p:nvPr/>
          </p:nvGrpSpPr>
          <p:grpSpPr bwMode="auto">
            <a:xfrm>
              <a:off x="1907704" y="5939988"/>
              <a:ext cx="5433370" cy="396226"/>
              <a:chOff x="1907704" y="5939988"/>
              <a:chExt cx="5433370" cy="396226"/>
            </a:xfrm>
          </p:grpSpPr>
          <p:sp>
            <p:nvSpPr>
              <p:cNvPr id="28689" name="Rectangle 350"/>
              <p:cNvSpPr>
                <a:spLocks noChangeArrowheads="1"/>
              </p:cNvSpPr>
              <p:nvPr/>
            </p:nvSpPr>
            <p:spPr bwMode="auto">
              <a:xfrm>
                <a:off x="1907704" y="5939988"/>
                <a:ext cx="54333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b="1">
                    <a:solidFill>
                      <a:srgbClr val="00FF00"/>
                    </a:solidFill>
                  </a:rPr>
                  <a:t>=   (a</a:t>
                </a:r>
                <a:r>
                  <a:rPr lang="en-US" altLang="en-US" b="1" baseline="-25000">
                    <a:solidFill>
                      <a:srgbClr val="00FF00"/>
                    </a:solidFill>
                  </a:rPr>
                  <a:t>y </a:t>
                </a:r>
                <a:r>
                  <a:rPr lang="en-US" altLang="en-US" b="1">
                    <a:solidFill>
                      <a:srgbClr val="00FF00"/>
                    </a:solidFill>
                  </a:rPr>
                  <a:t>b</a:t>
                </a:r>
                <a:r>
                  <a:rPr lang="en-US" altLang="en-US" b="1" baseline="-25000">
                    <a:solidFill>
                      <a:srgbClr val="00FF00"/>
                    </a:solidFill>
                  </a:rPr>
                  <a:t>z</a:t>
                </a:r>
                <a:r>
                  <a:rPr lang="en-US" altLang="en-US" b="1">
                    <a:solidFill>
                      <a:srgbClr val="00FF00"/>
                    </a:solidFill>
                  </a:rPr>
                  <a:t> – a</a:t>
                </a:r>
                <a:r>
                  <a:rPr lang="en-US" altLang="en-US" b="1" baseline="-25000">
                    <a:solidFill>
                      <a:srgbClr val="00FF00"/>
                    </a:solidFill>
                  </a:rPr>
                  <a:t>z</a:t>
                </a:r>
                <a:r>
                  <a:rPr lang="en-US" altLang="en-US" b="1">
                    <a:solidFill>
                      <a:srgbClr val="00FF00"/>
                    </a:solidFill>
                  </a:rPr>
                  <a:t> b</a:t>
                </a:r>
                <a:r>
                  <a:rPr lang="en-US" altLang="en-US" b="1" baseline="-25000">
                    <a:solidFill>
                      <a:srgbClr val="00FF00"/>
                    </a:solidFill>
                  </a:rPr>
                  <a:t>y</a:t>
                </a:r>
                <a:r>
                  <a:rPr lang="en-US" altLang="en-US" b="1">
                    <a:solidFill>
                      <a:srgbClr val="00FF00"/>
                    </a:solidFill>
                  </a:rPr>
                  <a:t>)</a:t>
                </a:r>
                <a:r>
                  <a:rPr lang="en-US" altLang="en-US" b="1" baseline="30000">
                    <a:solidFill>
                      <a:srgbClr val="00FF00"/>
                    </a:solidFill>
                  </a:rPr>
                  <a:t>2</a:t>
                </a:r>
                <a:r>
                  <a:rPr lang="en-US" altLang="en-US" b="1">
                    <a:solidFill>
                      <a:srgbClr val="00FF00"/>
                    </a:solidFill>
                  </a:rPr>
                  <a:t> + (a</a:t>
                </a:r>
                <a:r>
                  <a:rPr lang="en-US" altLang="en-US" b="1" baseline="-25000">
                    <a:solidFill>
                      <a:srgbClr val="00FF00"/>
                    </a:solidFill>
                  </a:rPr>
                  <a:t>x</a:t>
                </a:r>
                <a:r>
                  <a:rPr lang="en-US" altLang="en-US" b="1">
                    <a:solidFill>
                      <a:srgbClr val="00FF00"/>
                    </a:solidFill>
                  </a:rPr>
                  <a:t> b</a:t>
                </a:r>
                <a:r>
                  <a:rPr lang="en-US" altLang="en-US" b="1" baseline="-25000">
                    <a:solidFill>
                      <a:srgbClr val="00FF00"/>
                    </a:solidFill>
                  </a:rPr>
                  <a:t>z</a:t>
                </a:r>
                <a:r>
                  <a:rPr lang="en-US" altLang="en-US" b="1">
                    <a:solidFill>
                      <a:srgbClr val="00FF00"/>
                    </a:solidFill>
                  </a:rPr>
                  <a:t> – a</a:t>
                </a:r>
                <a:r>
                  <a:rPr lang="en-US" altLang="en-US" b="1" baseline="-25000">
                    <a:solidFill>
                      <a:srgbClr val="00FF00"/>
                    </a:solidFill>
                  </a:rPr>
                  <a:t>z</a:t>
                </a:r>
                <a:r>
                  <a:rPr lang="en-US" altLang="en-US" b="1">
                    <a:solidFill>
                      <a:srgbClr val="00FF00"/>
                    </a:solidFill>
                  </a:rPr>
                  <a:t> b</a:t>
                </a:r>
                <a:r>
                  <a:rPr lang="en-US" altLang="en-US" b="1" baseline="-25000">
                    <a:solidFill>
                      <a:srgbClr val="00FF00"/>
                    </a:solidFill>
                  </a:rPr>
                  <a:t>x</a:t>
                </a:r>
                <a:r>
                  <a:rPr lang="en-US" altLang="en-US" b="1">
                    <a:solidFill>
                      <a:srgbClr val="00FF00"/>
                    </a:solidFill>
                  </a:rPr>
                  <a:t>)</a:t>
                </a:r>
                <a:r>
                  <a:rPr lang="en-US" altLang="en-US" b="1" baseline="30000">
                    <a:solidFill>
                      <a:srgbClr val="00FF00"/>
                    </a:solidFill>
                  </a:rPr>
                  <a:t>2</a:t>
                </a:r>
                <a:r>
                  <a:rPr lang="en-US" altLang="en-US" b="1">
                    <a:solidFill>
                      <a:srgbClr val="00FF00"/>
                    </a:solidFill>
                  </a:rPr>
                  <a:t> + (a</a:t>
                </a:r>
                <a:r>
                  <a:rPr lang="en-US" altLang="en-US" b="1" baseline="-25000">
                    <a:solidFill>
                      <a:srgbClr val="00FF00"/>
                    </a:solidFill>
                  </a:rPr>
                  <a:t>x</a:t>
                </a:r>
                <a:r>
                  <a:rPr lang="en-US" altLang="en-US" b="1">
                    <a:solidFill>
                      <a:srgbClr val="00FF00"/>
                    </a:solidFill>
                  </a:rPr>
                  <a:t> b</a:t>
                </a:r>
                <a:r>
                  <a:rPr lang="en-US" altLang="en-US" b="1" baseline="-25000">
                    <a:solidFill>
                      <a:srgbClr val="00FF00"/>
                    </a:solidFill>
                  </a:rPr>
                  <a:t>y</a:t>
                </a:r>
                <a:r>
                  <a:rPr lang="en-US" altLang="en-US" b="1">
                    <a:solidFill>
                      <a:srgbClr val="00FF00"/>
                    </a:solidFill>
                  </a:rPr>
                  <a:t> – a</a:t>
                </a:r>
                <a:r>
                  <a:rPr lang="en-US" altLang="en-US" b="1" baseline="-25000">
                    <a:solidFill>
                      <a:srgbClr val="00FF00"/>
                    </a:solidFill>
                  </a:rPr>
                  <a:t>y</a:t>
                </a:r>
                <a:r>
                  <a:rPr lang="en-US" altLang="en-US" b="1">
                    <a:solidFill>
                      <a:srgbClr val="00FF00"/>
                    </a:solidFill>
                  </a:rPr>
                  <a:t>b</a:t>
                </a:r>
                <a:r>
                  <a:rPr lang="en-US" altLang="en-US" b="1" baseline="-25000">
                    <a:solidFill>
                      <a:srgbClr val="00FF00"/>
                    </a:solidFill>
                  </a:rPr>
                  <a:t>x</a:t>
                </a:r>
                <a:r>
                  <a:rPr lang="en-US" altLang="en-US" b="1">
                    <a:solidFill>
                      <a:srgbClr val="00FF00"/>
                    </a:solidFill>
                  </a:rPr>
                  <a:t>)</a:t>
                </a:r>
                <a:r>
                  <a:rPr lang="en-US" altLang="en-US" b="1" baseline="30000">
                    <a:solidFill>
                      <a:srgbClr val="00FF00"/>
                    </a:solidFill>
                  </a:rPr>
                  <a:t>2</a:t>
                </a:r>
                <a:endParaRPr lang="en-IN" altLang="en-US" baseline="30000">
                  <a:solidFill>
                    <a:srgbClr val="00FF00"/>
                  </a:solidFill>
                </a:endParaRPr>
              </a:p>
            </p:txBody>
          </p:sp>
          <p:grpSp>
            <p:nvGrpSpPr>
              <p:cNvPr id="28690" name="Group 24"/>
              <p:cNvGrpSpPr>
                <a:grpSpLocks/>
              </p:cNvGrpSpPr>
              <p:nvPr/>
            </p:nvGrpSpPr>
            <p:grpSpPr bwMode="auto">
              <a:xfrm>
                <a:off x="2178387" y="5947276"/>
                <a:ext cx="5124202" cy="388938"/>
                <a:chOff x="2178387" y="5947276"/>
                <a:chExt cx="5124202" cy="388938"/>
              </a:xfrm>
            </p:grpSpPr>
            <p:sp>
              <p:nvSpPr>
                <p:cNvPr id="28691" name="Freeform 64"/>
                <p:cNvSpPr>
                  <a:spLocks/>
                </p:cNvSpPr>
                <p:nvPr/>
              </p:nvSpPr>
              <p:spPr bwMode="auto">
                <a:xfrm>
                  <a:off x="2178387" y="5967340"/>
                  <a:ext cx="521405" cy="368874"/>
                </a:xfrm>
                <a:custGeom>
                  <a:avLst/>
                  <a:gdLst>
                    <a:gd name="T0" fmla="*/ 0 w 720"/>
                    <a:gd name="T1" fmla="*/ 2147483647 h 336"/>
                    <a:gd name="T2" fmla="*/ 2147483647 w 720"/>
                    <a:gd name="T3" fmla="*/ 2147483647 h 336"/>
                    <a:gd name="T4" fmla="*/ 2147483647 w 720"/>
                    <a:gd name="T5" fmla="*/ 2147483647 h 336"/>
                    <a:gd name="T6" fmla="*/ 2147483647 w 720"/>
                    <a:gd name="T7" fmla="*/ 0 h 336"/>
                    <a:gd name="T8" fmla="*/ 2147483647 w 720"/>
                    <a:gd name="T9" fmla="*/ 0 h 336"/>
                    <a:gd name="T10" fmla="*/ 0 60000 65536"/>
                    <a:gd name="T11" fmla="*/ 0 60000 65536"/>
                    <a:gd name="T12" fmla="*/ 0 60000 65536"/>
                    <a:gd name="T13" fmla="*/ 0 60000 65536"/>
                    <a:gd name="T14" fmla="*/ 0 60000 65536"/>
                    <a:gd name="T15" fmla="*/ 0 w 720"/>
                    <a:gd name="T16" fmla="*/ 0 h 336"/>
                    <a:gd name="T17" fmla="*/ 720 w 720"/>
                    <a:gd name="T18" fmla="*/ 336 h 336"/>
                  </a:gdLst>
                  <a:ahLst/>
                  <a:cxnLst>
                    <a:cxn ang="T10">
                      <a:pos x="T0" y="T1"/>
                    </a:cxn>
                    <a:cxn ang="T11">
                      <a:pos x="T2" y="T3"/>
                    </a:cxn>
                    <a:cxn ang="T12">
                      <a:pos x="T4" y="T5"/>
                    </a:cxn>
                    <a:cxn ang="T13">
                      <a:pos x="T6" y="T7"/>
                    </a:cxn>
                    <a:cxn ang="T14">
                      <a:pos x="T8" y="T9"/>
                    </a:cxn>
                  </a:cxnLst>
                  <a:rect l="T15" t="T16" r="T17" b="T18"/>
                  <a:pathLst>
                    <a:path w="720" h="336">
                      <a:moveTo>
                        <a:pt x="0" y="240"/>
                      </a:moveTo>
                      <a:lnTo>
                        <a:pt x="48" y="192"/>
                      </a:lnTo>
                      <a:lnTo>
                        <a:pt x="96" y="336"/>
                      </a:lnTo>
                      <a:lnTo>
                        <a:pt x="192" y="0"/>
                      </a:lnTo>
                      <a:lnTo>
                        <a:pt x="720" y="0"/>
                      </a:lnTo>
                    </a:path>
                  </a:pathLst>
                </a:custGeom>
                <a:noFill/>
                <a:ln w="19050">
                  <a:solidFill>
                    <a:srgbClr val="00FF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a:solidFill>
                        <a:srgbClr val="000000"/>
                      </a:solidFill>
                    </a:rPr>
                    <a:t> </a:t>
                  </a:r>
                  <a:endParaRPr lang="en-IN" altLang="en-US">
                    <a:solidFill>
                      <a:srgbClr val="000000"/>
                    </a:solidFill>
                  </a:endParaRPr>
                </a:p>
              </p:txBody>
            </p:sp>
            <p:cxnSp>
              <p:nvCxnSpPr>
                <p:cNvPr id="356" name="Straight Connector 355"/>
                <p:cNvCxnSpPr/>
                <p:nvPr/>
              </p:nvCxnSpPr>
              <p:spPr bwMode="auto">
                <a:xfrm flipV="1">
                  <a:off x="2480262" y="5947944"/>
                  <a:ext cx="4822713" cy="20687"/>
                </a:xfrm>
                <a:prstGeom prst="line">
                  <a:avLst/>
                </a:prstGeom>
                <a:ln w="19050">
                  <a:solidFill>
                    <a:srgbClr val="00FF99"/>
                  </a:solidFill>
                </a:ln>
              </p:spPr>
              <p:style>
                <a:lnRef idx="1">
                  <a:schemeClr val="accent1"/>
                </a:lnRef>
                <a:fillRef idx="0">
                  <a:schemeClr val="accent1"/>
                </a:fillRef>
                <a:effectRef idx="0">
                  <a:schemeClr val="accent1"/>
                </a:effectRef>
                <a:fontRef idx="minor">
                  <a:schemeClr val="tx1"/>
                </a:fontRef>
              </p:style>
            </p:cxnSp>
          </p:grpSp>
        </p:grpSp>
      </p:grpSp>
      <p:sp>
        <p:nvSpPr>
          <p:cNvPr id="28684" name="TextBox 190"/>
          <p:cNvSpPr txBox="1">
            <a:spLocks noChangeArrowheads="1"/>
          </p:cNvSpPr>
          <p:nvPr/>
        </p:nvSpPr>
        <p:spPr bwMode="auto">
          <a:xfrm>
            <a:off x="8759825" y="6464301"/>
            <a:ext cx="6492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firstslide"/>
              </a:rPr>
              <a:t>Home</a:t>
            </a:r>
            <a:endParaRPr lang="en-IN" altLang="en-US" sz="1200" b="1">
              <a:solidFill>
                <a:srgbClr val="0070C0"/>
              </a:solidFill>
            </a:endParaRPr>
          </a:p>
        </p:txBody>
      </p:sp>
      <p:sp>
        <p:nvSpPr>
          <p:cNvPr id="28685" name="TextBox 191"/>
          <p:cNvSpPr txBox="1">
            <a:spLocks noChangeArrowheads="1"/>
          </p:cNvSpPr>
          <p:nvPr/>
        </p:nvSpPr>
        <p:spPr bwMode="auto">
          <a:xfrm>
            <a:off x="9264651" y="6459538"/>
            <a:ext cx="5762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nextslide"/>
              </a:rPr>
              <a:t>Next</a:t>
            </a:r>
            <a:endParaRPr lang="en-IN" altLang="en-US" sz="1200" b="1">
              <a:solidFill>
                <a:srgbClr val="0070C0"/>
              </a:solidFill>
            </a:endParaRPr>
          </a:p>
        </p:txBody>
      </p:sp>
      <p:sp>
        <p:nvSpPr>
          <p:cNvPr id="28686" name="TextBox 192"/>
          <p:cNvSpPr txBox="1">
            <a:spLocks noChangeArrowheads="1"/>
          </p:cNvSpPr>
          <p:nvPr/>
        </p:nvSpPr>
        <p:spPr bwMode="auto">
          <a:xfrm>
            <a:off x="9696450" y="6464301"/>
            <a:ext cx="8636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0"/>
              </a:spcBef>
              <a:spcAft>
                <a:spcPct val="0"/>
              </a:spcAft>
            </a:pPr>
            <a:r>
              <a:rPr lang="en-US" altLang="en-US" sz="1200" b="1">
                <a:solidFill>
                  <a:srgbClr val="0070C0"/>
                </a:solidFill>
                <a:hlinkClick r:id="" action="ppaction://hlinkshowjump?jump=previousslide"/>
              </a:rPr>
              <a:t>Previous</a:t>
            </a:r>
            <a:endParaRPr lang="en-IN" altLang="en-US" sz="1200" b="1">
              <a:solidFill>
                <a:srgbClr val="0070C0"/>
              </a:solidFill>
            </a:endParaRPr>
          </a:p>
        </p:txBody>
      </p:sp>
    </p:spTree>
    <p:extLst>
      <p:ext uri="{BB962C8B-B14F-4D97-AF65-F5344CB8AC3E}">
        <p14:creationId xmlns:p14="http://schemas.microsoft.com/office/powerpoint/2010/main" val="352097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28675">
                                            <p:txEl>
                                              <p:pRg st="0" end="0"/>
                                            </p:txEl>
                                          </p:spTgt>
                                        </p:tgtEl>
                                        <p:attrNameLst>
                                          <p:attrName>style.visibility</p:attrName>
                                        </p:attrNameLst>
                                      </p:cBhvr>
                                      <p:to>
                                        <p:strVal val="visible"/>
                                      </p:to>
                                    </p:set>
                                    <p:animEffect transition="in" filter="wipe(left)">
                                      <p:cBhvr>
                                        <p:cTn id="14" dur="500"/>
                                        <p:tgtEl>
                                          <p:spTgt spid="28675">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8675">
                                            <p:txEl>
                                              <p:pRg st="1" end="1"/>
                                            </p:txEl>
                                          </p:spTgt>
                                        </p:tgtEl>
                                        <p:attrNameLst>
                                          <p:attrName>style.visibility</p:attrName>
                                        </p:attrNameLst>
                                      </p:cBhvr>
                                      <p:to>
                                        <p:strVal val="visible"/>
                                      </p:to>
                                    </p:set>
                                    <p:animEffect transition="in" filter="wipe(left)">
                                      <p:cBhvr>
                                        <p:cTn id="19" dur="500"/>
                                        <p:tgtEl>
                                          <p:spTgt spid="28675">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28679"/>
                                        </p:tgtEl>
                                        <p:attrNameLst>
                                          <p:attrName>style.visibility</p:attrName>
                                        </p:attrNameLst>
                                      </p:cBhvr>
                                      <p:to>
                                        <p:strVal val="visible"/>
                                      </p:to>
                                    </p:set>
                                    <p:anim calcmode="lin" valueType="num">
                                      <p:cBhvr>
                                        <p:cTn id="24" dur="500" fill="hold"/>
                                        <p:tgtEl>
                                          <p:spTgt spid="28679"/>
                                        </p:tgtEl>
                                        <p:attrNameLst>
                                          <p:attrName>ppt_w</p:attrName>
                                        </p:attrNameLst>
                                      </p:cBhvr>
                                      <p:tavLst>
                                        <p:tav tm="0">
                                          <p:val>
                                            <p:fltVal val="0"/>
                                          </p:val>
                                        </p:tav>
                                        <p:tav tm="100000">
                                          <p:val>
                                            <p:strVal val="#ppt_w"/>
                                          </p:val>
                                        </p:tav>
                                      </p:tavLst>
                                    </p:anim>
                                    <p:anim calcmode="lin" valueType="num">
                                      <p:cBhvr>
                                        <p:cTn id="25" dur="500" fill="hold"/>
                                        <p:tgtEl>
                                          <p:spTgt spid="28679"/>
                                        </p:tgtEl>
                                        <p:attrNameLst>
                                          <p:attrName>ppt_h</p:attrName>
                                        </p:attrNameLst>
                                      </p:cBhvr>
                                      <p:tavLst>
                                        <p:tav tm="0">
                                          <p:val>
                                            <p:fltVal val="0"/>
                                          </p:val>
                                        </p:tav>
                                        <p:tav tm="100000">
                                          <p:val>
                                            <p:strVal val="#ppt_h"/>
                                          </p:val>
                                        </p:tav>
                                      </p:tavLst>
                                    </p:anim>
                                    <p:animEffect transition="in" filter="fade">
                                      <p:cBhvr>
                                        <p:cTn id="26" dur="500"/>
                                        <p:tgtEl>
                                          <p:spTgt spid="2867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8676"/>
                                        </p:tgtEl>
                                        <p:attrNameLst>
                                          <p:attrName>style.visibility</p:attrName>
                                        </p:attrNameLst>
                                      </p:cBhvr>
                                      <p:to>
                                        <p:strVal val="visible"/>
                                      </p:to>
                                    </p:set>
                                    <p:animEffect transition="in" filter="wipe(left)">
                                      <p:cBhvr>
                                        <p:cTn id="31" dur="500"/>
                                        <p:tgtEl>
                                          <p:spTgt spid="2867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500"/>
                                        <p:tgtEl>
                                          <p:spTgt spid="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up)">
                                      <p:cBhvr>
                                        <p:cTn id="41" dur="500"/>
                                        <p:tgtEl>
                                          <p:spTgt spid="1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wipe(up)">
                                      <p:cBhvr>
                                        <p:cTn id="46" dur="500"/>
                                        <p:tgtEl>
                                          <p:spTgt spid="25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up)">
                                      <p:cBhvr>
                                        <p:cTn id="51" dur="500"/>
                                        <p:tgtEl>
                                          <p:spTgt spid="2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left)">
                                      <p:cBhvr>
                                        <p:cTn id="6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6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8_Avanti Accellerate">
  <a:themeElements>
    <a:clrScheme name="Custom 1">
      <a:dk1>
        <a:srgbClr val="002C46"/>
      </a:dk1>
      <a:lt1>
        <a:srgbClr val="FFFFFF"/>
      </a:lt1>
      <a:dk2>
        <a:srgbClr val="51515B"/>
      </a:dk2>
      <a:lt2>
        <a:srgbClr val="FBBE1A"/>
      </a:lt2>
      <a:accent1>
        <a:srgbClr val="E0742A"/>
      </a:accent1>
      <a:accent2>
        <a:srgbClr val="FBBE1A"/>
      </a:accent2>
      <a:accent3>
        <a:srgbClr val="5862AC"/>
      </a:accent3>
      <a:accent4>
        <a:srgbClr val="E03D3D"/>
      </a:accent4>
      <a:accent5>
        <a:srgbClr val="002C46"/>
      </a:accent5>
      <a:accent6>
        <a:srgbClr val="66CC00"/>
      </a:accent6>
      <a:hlink>
        <a:srgbClr val="FBBE1A"/>
      </a:hlink>
      <a:folHlink>
        <a:srgbClr val="E074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7041</Words>
  <Application>Microsoft Office PowerPoint</Application>
  <PresentationFormat>Widescreen</PresentationFormat>
  <Paragraphs>1785</Paragraphs>
  <Slides>105</Slides>
  <Notes>67</Notes>
  <HiddenSlides>0</HiddenSlides>
  <MMClips>0</MMClips>
  <ScaleCrop>false</ScaleCrop>
  <HeadingPairs>
    <vt:vector size="8" baseType="variant">
      <vt:variant>
        <vt:lpstr>Fonts Used</vt:lpstr>
      </vt:variant>
      <vt:variant>
        <vt:i4>14</vt:i4>
      </vt:variant>
      <vt:variant>
        <vt:lpstr>Theme</vt:lpstr>
      </vt:variant>
      <vt:variant>
        <vt:i4>15</vt:i4>
      </vt:variant>
      <vt:variant>
        <vt:lpstr>Embedded OLE Servers</vt:lpstr>
      </vt:variant>
      <vt:variant>
        <vt:i4>1</vt:i4>
      </vt:variant>
      <vt:variant>
        <vt:lpstr>Slide Titles</vt:lpstr>
      </vt:variant>
      <vt:variant>
        <vt:i4>105</vt:i4>
      </vt:variant>
    </vt:vector>
  </HeadingPairs>
  <TitlesOfParts>
    <vt:vector size="135" baseType="lpstr">
      <vt:lpstr>Arial</vt:lpstr>
      <vt:lpstr>Bookman-Demi</vt:lpstr>
      <vt:lpstr>Bookman-Light</vt:lpstr>
      <vt:lpstr>Bookman-LightItalic</vt:lpstr>
      <vt:lpstr>Calibri</vt:lpstr>
      <vt:lpstr>Calibri Light</vt:lpstr>
      <vt:lpstr>Cambria Math</vt:lpstr>
      <vt:lpstr>Georgia Serif</vt:lpstr>
      <vt:lpstr>Google Sans</vt:lpstr>
      <vt:lpstr>Helvetica Neue</vt:lpstr>
      <vt:lpstr>PT Sans</vt:lpstr>
      <vt:lpstr>Roboto</vt:lpstr>
      <vt:lpstr>Times New Roman</vt:lpstr>
      <vt:lpstr>Verdana</vt:lpstr>
      <vt:lpstr>Office Theme</vt:lpstr>
      <vt:lpstr>Avanti Accellerate</vt:lpstr>
      <vt:lpstr>1_Avanti Accellerate</vt:lpstr>
      <vt:lpstr>2_Avanti Accellerate</vt:lpstr>
      <vt:lpstr>Default Design</vt:lpstr>
      <vt:lpstr>1_Default Design</vt:lpstr>
      <vt:lpstr>3_Avanti Accellerate</vt:lpstr>
      <vt:lpstr>4_Avanti Accellerate</vt:lpstr>
      <vt:lpstr>5_Avanti Accellerate</vt:lpstr>
      <vt:lpstr>2_Default Design</vt:lpstr>
      <vt:lpstr>6_Avanti Accellerate</vt:lpstr>
      <vt:lpstr>3_Default Design</vt:lpstr>
      <vt:lpstr>7_Avanti Accellerate</vt:lpstr>
      <vt:lpstr>8_Avanti Accellerate</vt:lpstr>
      <vt:lpstr>4_Default Design</vt:lpstr>
      <vt:lpstr>Equation.DSMT4</vt:lpstr>
      <vt:lpstr>ASC 2026</vt:lpstr>
      <vt:lpstr>PowerPoint Presentation</vt:lpstr>
      <vt:lpstr>PowerPoint Presentation</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PowerPoint Presentation</vt:lpstr>
      <vt:lpstr>PowerPoint Presentation</vt:lpstr>
      <vt:lpstr>PowerPoint Presentation</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11P02.1 Physical Quantities and Units </vt:lpstr>
      <vt:lpstr>PowerPoint Presentation</vt:lpstr>
      <vt:lpstr>PowerPoint Presentation</vt:lpstr>
      <vt:lpstr>PowerPoint Presentation</vt:lpstr>
      <vt:lpstr>PowerPoint Presentation</vt:lpstr>
      <vt:lpstr>11P02.5 Dimensional Analysis and its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11P02.3 Errors in Measurements</vt:lpstr>
      <vt:lpstr>PowerPoint Presentation</vt:lpstr>
      <vt:lpstr>11P02.3 Errors in Measurements</vt:lpstr>
      <vt:lpstr>11P02.3 Errors in Measurements</vt:lpstr>
      <vt:lpstr>11P02.3 Errors in Measurements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 2026</dc:title>
  <dc:creator>Shailendrakumar Tiwari</dc:creator>
  <cp:lastModifiedBy>Shailendrakumar Tiwari</cp:lastModifiedBy>
  <cp:revision>17</cp:revision>
  <dcterms:created xsi:type="dcterms:W3CDTF">2026-08-05T08:13:37Z</dcterms:created>
  <dcterms:modified xsi:type="dcterms:W3CDTF">2026-08-06T06:58:17Z</dcterms:modified>
</cp:coreProperties>
</file>