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3" r:id="rId19"/>
    <p:sldId id="274" r:id="rId20"/>
    <p:sldId id="276" r:id="rId21"/>
    <p:sldId id="277" r:id="rId22"/>
    <p:sldId id="278" r:id="rId23"/>
    <p:sldId id="279" r:id="rId24"/>
    <p:sldId id="275" r:id="rId25"/>
    <p:sldId id="282" r:id="rId26"/>
    <p:sldId id="280" r:id="rId27"/>
    <p:sldId id="284" r:id="rId28"/>
    <p:sldId id="285" r:id="rId29"/>
    <p:sldId id="286" r:id="rId30"/>
    <p:sldId id="287" r:id="rId31"/>
    <p:sldId id="288" r:id="rId32"/>
    <p:sldId id="281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forms are how a web page listens to the user. Content is based on the W3Schools HTML Forms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flow: user, browser, server. Then read out the controls a form can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= how, name =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&lt;input&gt; is the most used form element. Its type attribute decides how it is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&lt;input type="text"&gt; defines a single-line text field. The placeholder attribute shows a hint inside the field until the user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field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type="password" hides the characters as dots or asterisks while the user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 buttons let the user pick only ONE option. Buttons that share the same name form one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Checkboxes let the user select ZERO or MORE options from a limited set of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&lt;select&gt; creates a drop-down list. Each &lt;option&gt; is one choice, and selected marks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&amp; option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&lt;textarea&gt; holds multi-line text. rows sets the visible height and cols the visible width in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and cols set the size of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Submit sends the form data to the server. Reset restores every field to its starting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Button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and time types show a native picker. Others include month and week; min and max limit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type="file" lets the user pick a file to send with the form. accept limits the file types the server accepts.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types validate the value or adapt the keyboard: email checks the format, number accepts numbers within min and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&lt;fieldset&gt; groups related elements and draws a box around them. &lt;legend&gt; gives that box a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says HOW the data is sent to the page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GET the submitted data is appended to the URL as name=value pairs, so it is visible in the address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POST the data is sent inside the body of the HTTP request, so it is not shown in the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use GET or POST?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defines WHERE to send the form data when the form is submitted. The value is a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&lt;form&gt; can mix many controls. Each has a name, and the submit button sends them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elements,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4A1430"/>
          </a:solidFill>
          <a:ln w="12700">
            <a:solidFill>
              <a:srgbClr val="4A1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5A1A38"/>
          </a:solidFill>
          <a:ln w="12700">
            <a:solidFill>
              <a:srgbClr val="5A1A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!!label"/>
          <p:cNvSpPr txBox="1"/>
          <p:nvPr/>
        </p:nvSpPr>
        <p:spPr>
          <a:xfrm>
            <a:off x="45720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W3SCHOOLS:HTML Forms </a:t>
            </a:r>
            <a:endParaRPr lang="en-US" sz="900" dirty="0"/>
          </a:p>
        </p:txBody>
      </p:sp>
      <p:sp>
        <p:nvSpPr>
          <p:cNvPr id="6" name="!!title"/>
          <p:cNvSpPr txBox="1"/>
          <p:nvPr/>
        </p:nvSpPr>
        <p:spPr>
          <a:xfrm>
            <a:off x="502920" y="16687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91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 Input for the Web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4894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· &lt;input&gt; · &lt;select&gt; · &lt;textarea&gt; · &lt;button&gt;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731520"/>
            <a:ext cx="3200400" cy="3520440"/>
          </a:xfrm>
          <a:prstGeom prst="rect">
            <a:avLst/>
          </a:prstGeom>
          <a:solidFill>
            <a:srgbClr val="3D1626"/>
          </a:solidFill>
          <a:ln w="12700">
            <a:solidFill>
              <a:srgbClr val="5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71500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cs typeface="Courier New" pitchFamily="34" charset="-120"/>
              </a:rPr>
              <a:t>Pratik Shah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D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••••••••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 HTML   ○ CSS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D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☑ Coding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 ▾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D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30-09-2026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200400" y="43891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!!label"/>
          <p:cNvSpPr txBox="1"/>
          <p:nvPr/>
        </p:nvSpPr>
        <p:spPr>
          <a:xfrm>
            <a:off x="457200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HTML forms?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 collect user input and send it to a server for processing. A form is a set of controls wrapped in the &lt;form&gt; element.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the form controls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66160" y="16002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7A1F3D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5661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data with GET or POST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675120" y="16002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6751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and processes the data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CAN CONTAIN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F0B3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5720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47088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6DDE4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1847088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36976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E9A0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236976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26864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F0B3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626864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16752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6DDE4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016752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06640" y="288036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E9A0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40664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F0B3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5720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47088" y="34290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6DDE4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1847088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buttons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36976" y="34290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E9A0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3236976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inputs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26864" y="34290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F0B3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4626864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16752" y="3429000"/>
            <a:ext cx="2670048" cy="411480"/>
          </a:xfrm>
          <a:prstGeom prst="roundRect">
            <a:avLst>
              <a:gd name="adj" fmla="val 22222"/>
            </a:avLst>
          </a:prstGeom>
          <a:solidFill>
            <a:srgbClr val="F6DDE4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016752" y="342900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number, URL &amp; search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...controls... 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&lt;form&gt; element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7186246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7186246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9383" y="1755648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...form controls...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7186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&lt;form&gt; element wraps every control and tells the browser how to send the collected data.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unless there is a submit button.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45736" y="2859786"/>
            <a:ext cx="3657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7498080" y="3566160"/>
            <a:ext cx="3108960" cy="310896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&lt;input&gt; element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85035"/>
              </p:ext>
            </p:extLst>
          </p:nvPr>
        </p:nvGraphicFramePr>
        <p:xfrm>
          <a:off x="457200" y="1280160"/>
          <a:ext cx="8171411" cy="2523744"/>
        </p:xfrm>
        <a:graphic>
          <a:graphicData uri="http://schemas.openxmlformats.org/drawingml/2006/table">
            <a:tbl>
              <a:tblPr/>
              <a:tblGrid>
                <a:gridCol w="2179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type="text"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single-line text input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type="radio"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radio button (select ONE of many choices)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type="checkbox"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checkbox (select ZERO or MORE of many choices)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type="submit"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submit button (submits the form)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type="button"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clickable 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657600" y="457200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fields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us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name: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 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name: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"Last 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type="text"&gt; defines a single-line text field. The placeholder attribute shows a hint inside the field until the user types.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hint disappears as soon as the user starts typing.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example.com/contact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us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97480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First name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429000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Last name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field attributes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of control. For a text field it is set to text.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control so the server can recognise its value.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an initial value inside the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of the field, in characters.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maxlength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number of characters the user can enter.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"Pratik"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maxlength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200400" y="43891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fields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&lt;h2&gt;Welcome Back&lt;/h2&gt;</a:t>
            </a:r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 name="pwd"</a:t>
            </a:r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placeholder="Password"&gt;</a:t>
            </a:r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 value="Login"&gt;</a:t>
            </a:r>
          </a:p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type="password" hides the characters as dots or asterisks while the user types.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masks the text on screen. Use HTTPS to protect it.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example.com/login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2468880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01752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937760" y="3017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buttons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 course: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checked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 let the user pick only ONE option. Buttons that share the same name form one group.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checked to preselect an option.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example.com/course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course: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87121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83480" y="2916936"/>
            <a:ext cx="91440" cy="9144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2120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23697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2120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7498080" y="3566160"/>
            <a:ext cx="3108960" cy="310896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914400" y="-137160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your skills: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"skill1"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checked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"skill2"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 let the user select ZERO or MORE options from a limited set of choices.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checkbox has its own name and value.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example.com/skills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skills: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8712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A1F3D"/>
          </a:solidFill>
          <a:ln w="1905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937760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2369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2120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657600" y="457200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lists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 city: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"mumbai"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"delhi"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selected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creates a drop-down list. Each &lt;option&gt; is one choice, and selected marks the default.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multiple attribute to allow several picks.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example.com/city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city: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97480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301752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56048" y="3566160"/>
            <a:ext cx="3438144" cy="256032"/>
          </a:xfrm>
          <a:prstGeom prst="rect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502920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300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option attributes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control sent to the server.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size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 scrolling list box with that many rows.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multiple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the user select several items.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 value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 sent when that option is selected.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 selected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the option the initial choice on page load.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"dropdown"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multiple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200400" y="43891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Textarea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message here..."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 holds multi-line text. rows sets the visible height and cols the visible width in characters.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placeholder hint disappears when the user types.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example.com/feedback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2468880"/>
            <a:ext cx="3474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here...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Textarea attributes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682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control sent to the server.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visible text rows in the box.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visible columns (width in characters).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"50"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7498080" y="3566160"/>
            <a:ext cx="3108960" cy="310896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914400" y="-137160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&amp; reset buttons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 Profile &lt;/h2&gt;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"/save"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“Parth"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sends the form data to the server. Reset restores every field to its starting value.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 type="button"&gt; can also run JavaScript.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example.com/save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937760" y="2468880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02920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Parth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97180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937760" y="2971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97180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6D55C"/>
          </a:solidFill>
          <a:ln w="12700">
            <a:solidFill>
              <a:srgbClr val="F6D5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263640" y="2971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data goes to /save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→ fields go back to defaults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657600" y="457200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 types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button that submits the form.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all form controls to their initial values.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button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a client-side script when clicked.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image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clickable button that uses an image as its background.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"logo.png"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time inputs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Birthday: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"bday"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"datetime-local"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"meet"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types show a native picker. Others include month and week; min and max limit the range.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always sent in a standard format.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example.com/booking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slot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5176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dd-mm-yyyy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4612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--:-- --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93776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84048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50292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dd-mm-yyyy --:-- --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200400" y="43891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upload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A FILE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File: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"/upload"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enctype=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"multipart/form-data"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"doc"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accept=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"image/*"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&gt;&lt;br&gt;&lt;br&gt;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type="file" lets the user pick a file to send with the form. accept limits the file types the server accepts.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need method="post" and enctype="multipart/form-data".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example.com/upload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FILE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File: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74320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6DDE4"/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937760" y="2743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chosen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3375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937760" y="3337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Email, number, URL &amp; search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</a:p>
          <a:p>
            <a:pPr marL="0" indent="0"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&lt;br&gt;&lt;input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"mail"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"you@mail.com"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(1-10)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&lt;br&gt;&lt;input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"qty"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&lt;br&gt;&lt;input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"site"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"https://..."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&lt;br&gt;&lt;input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"search"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r>
              <a:rPr lang="en-US" sz="9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</a:t>
            </a:r>
            <a:r>
              <a:rPr lang="en-US" sz="9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"Search..."</a:t>
            </a: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types validate the value or adapt the keyboard: email checks the format, number accepts numbers within min and max.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shows a hint inside the empty field.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example.com/signup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9625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2231136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231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you@mail.com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(1-10)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798064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502920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93776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364992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029200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https://...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3931920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502920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7498080" y="3566160"/>
            <a:ext cx="3108960" cy="310896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914400" y="-137160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&lt;fieldset&gt; tag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fieldset.html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</a:t>
            </a:r>
            <a:r>
              <a:rPr lang="en-US" sz="1050" dirty="0" err="1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action_page.php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 err="1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fieldset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&lt;legend&gt;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Personalia: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&lt;/legend&gt;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50" dirty="0" err="1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 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1050" dirty="0" err="1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fieldset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&lt;fieldset&gt; groups related elements and draws a box around them. &lt;legend&gt; gives that box a caption.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splitting a long form into sections.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example.com/personalia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937760" y="2148840"/>
            <a:ext cx="3474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20640" y="2039112"/>
            <a:ext cx="9601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120640" y="2039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Personalia: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2404872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521208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First name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283464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5120640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attribute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703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Default. Appends the form-data to the URL in name/value pairs: URL?name=value&amp;name=value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the form-data as an HTTP post transaction (in the request body).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A1F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dialog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a &lt;dialog&gt;: closes it and fires a submit event without sending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10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"get|post"</a:t>
            </a:r>
            <a:r>
              <a:rPr lang="en-US" sz="110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200400" y="43891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method="get"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GET the submitted data is appended to the URL as name=value pairs, so it is visible in the address bar.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 opens the result in a new tab.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</a:t>
            </a:r>
            <a:r>
              <a:rPr lang="en-US" sz="800" dirty="0" err="1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action_page.php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method="get"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7004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1868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Desai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6118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937760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611880"/>
            <a:ext cx="2103120" cy="329184"/>
          </a:xfrm>
          <a:prstGeom prst="rect">
            <a:avLst/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355080" y="3611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?fname=Arham&amp;lname=Desai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method="post"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"_blank"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POST the data is sent inside the body of the HTTP request, so it is not shown in the URL.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clean address bar with the GET example.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example.com/action_page.php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method="post"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7004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Dhairya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1868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6118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937760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3611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travels in the request body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7498080" y="3566160"/>
            <a:ext cx="3108960" cy="310896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-914400" y="-137160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GET or POST?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15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method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visible in the page address field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 is limited (about 3000 characters)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bookmarked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it for sensitive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non-secure data, like search queries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6DDE4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9377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private data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shown in the URL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size limitations, so it suits large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bookmarked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it for sensitive or personal information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657600" y="457200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attribute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name: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defines WHERE to send the form data when the form is submitted. The value is a URL.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sends the data to action_page.php on the server.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example.com/form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action attribute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7004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02920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Clement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1868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A6A72"/>
                </a:solidFill>
                <a:latin typeface="Calibri" pitchFamily="34" charset="0"/>
                <a:cs typeface="Calibri" pitchFamily="34" charset="-120"/>
              </a:rPr>
              <a:t>Creado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6118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937760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3611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 to /action_page.php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3">
            <a:extLst>
              <a:ext uri="{FF2B5EF4-FFF2-40B4-BE49-F238E27FC236}">
                <a16:creationId xmlns:a16="http://schemas.microsoft.com/office/drawing/2014/main" id="{CDDE151C-CBCE-41F1-042B-93FB240F94D4}"/>
              </a:ext>
            </a:extLst>
          </p:cNvPr>
          <p:cNvSpPr/>
          <p:nvPr/>
        </p:nvSpPr>
        <p:spPr>
          <a:xfrm>
            <a:off x="4562856" y="2414778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!!blob0"/>
          <p:cNvSpPr/>
          <p:nvPr/>
        </p:nvSpPr>
        <p:spPr>
          <a:xfrm>
            <a:off x="-1371600" y="3291840"/>
            <a:ext cx="3200400" cy="320040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4114800" y="-1645920"/>
            <a:ext cx="2194560" cy="219456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where the data is sent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save-form.html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"/save.php"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an attribute of the &lt;form&gt; tag. Its value is the URL of the page or program on the server (PHP, Python, Node...) that receives and processes the data when the user clicks Submit.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= WHERE the data goes, method = HOW it is sent.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81144" y="1281684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768215" y="136017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action="/save.php"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64024" y="1691640"/>
            <a:ext cx="3657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URL. Points to a file on the same website, such as /save.php or process.php. The most common choice.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768215" y="242239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action="https://site.com/save"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45736" y="2859786"/>
            <a:ext cx="3657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URL. A full web address, so the data can be sent to another website or an API.</a:t>
            </a:r>
            <a:endParaRPr lang="en-US" sz="1050" dirty="0"/>
          </a:p>
        </p:txBody>
      </p:sp>
      <p:sp>
        <p:nvSpPr>
          <p:cNvPr id="201" name="Shape 26">
            <a:extLst>
              <a:ext uri="{FF2B5EF4-FFF2-40B4-BE49-F238E27FC236}">
                <a16:creationId xmlns:a16="http://schemas.microsoft.com/office/drawing/2014/main" id="{CDDE151C-CBCE-41F1-042B-93FB240F94D4}"/>
              </a:ext>
            </a:extLst>
          </p:cNvPr>
          <p:cNvSpPr/>
          <p:nvPr/>
        </p:nvSpPr>
        <p:spPr>
          <a:xfrm>
            <a:off x="4562856" y="3547872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6D6"/>
          </a:solidFill>
          <a:ln w="12700">
            <a:solidFill>
              <a:srgbClr val="E6D3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Text 27"/>
          <p:cNvSpPr txBox="1"/>
          <p:nvPr/>
        </p:nvSpPr>
        <p:spPr>
          <a:xfrm>
            <a:off x="4768215" y="35554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left out</a:t>
            </a:r>
            <a:endParaRPr lang="en-US" sz="1400" dirty="0"/>
          </a:p>
        </p:txBody>
      </p:sp>
      <p:sp>
        <p:nvSpPr>
          <p:cNvPr id="203" name="Text 28"/>
          <p:cNvSpPr txBox="1"/>
          <p:nvPr/>
        </p:nvSpPr>
        <p:spPr>
          <a:xfrm>
            <a:off x="4745736" y="3992880"/>
            <a:ext cx="3657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submitted to the same page it is already on (its own URL).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0B3">
              <a:alpha val="80000"/>
            </a:srgbClr>
          </a:solidFill>
          <a:ln w="12700">
            <a:solidFill>
              <a:srgbClr val="FFF0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F6DDE4">
              <a:alpha val="70000"/>
            </a:srgbClr>
          </a:solidFill>
          <a:ln w="12700">
            <a:solidFill>
              <a:srgbClr val="F6DD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3657600" y="4572000"/>
            <a:ext cx="2377440" cy="2377440"/>
          </a:xfrm>
          <a:prstGeom prst="ellipse">
            <a:avLst/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!!title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form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!!editor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2B0F1A"/>
          </a:solidFill>
          <a:ln w="12700">
            <a:solidFill>
              <a:srgbClr val="2B0F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4023360" cy="310896"/>
          </a:xfrm>
          <a:prstGeom prst="rect">
            <a:avLst/>
          </a:prstGeom>
          <a:solidFill>
            <a:srgbClr val="3D1626"/>
          </a:solidFill>
          <a:ln w="12700">
            <a:solidFill>
              <a:srgbClr val="3D1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389888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05256" y="1389888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188720" y="1316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8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17373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 Register&lt;/h2&gt;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"/register"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"Email“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agree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 &lt;/textarea&gt;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F3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F2A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"Register"</a:t>
            </a: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&lt;form&gt; can mix many controls. Each has a name, and the submit button sends them all together.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control before publishing.</a:t>
            </a:r>
            <a:endParaRPr lang="en-US" sz="1050" dirty="0"/>
          </a:p>
        </p:txBody>
      </p:sp>
      <p:sp>
        <p:nvSpPr>
          <p:cNvPr id="19" name="!!browser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7A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91440" cy="91440"/>
          </a:xfrm>
          <a:prstGeom prst="ellipse">
            <a:avLst/>
          </a:prstGeom>
          <a:solidFill>
            <a:srgbClr val="E05A7A"/>
          </a:solidFill>
          <a:ln w="12700">
            <a:solidFill>
              <a:srgbClr val="E05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56048" y="1371600"/>
            <a:ext cx="91440" cy="91440"/>
          </a:xfrm>
          <a:prstGeom prst="ellipse">
            <a:avLst/>
          </a:prstGeom>
          <a:solidFill>
            <a:srgbClr val="E8B84A"/>
          </a:solidFill>
          <a:ln w="12700">
            <a:solidFill>
              <a:srgbClr val="E8B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1371600"/>
            <a:ext cx="91440" cy="91440"/>
          </a:xfrm>
          <a:prstGeom prst="ellipse">
            <a:avLst/>
          </a:prstGeom>
          <a:solidFill>
            <a:srgbClr val="F6E27A"/>
          </a:solidFill>
          <a:ln w="12700">
            <a:solidFill>
              <a:srgbClr val="F6E2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36192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937760" y="1536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example.com/register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1521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132320" y="11521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OUTPUT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ABOUT   CONTACT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937760" y="2423160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02920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724912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02920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026664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029200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3558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21208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3611880"/>
            <a:ext cx="347472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C9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37760" y="406908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4937760" y="4069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1097280" y="-1371600"/>
            <a:ext cx="2743200" cy="2743200"/>
          </a:xfrm>
          <a:prstGeom prst="ellipse">
            <a:avLst/>
          </a:prstGeom>
          <a:solidFill>
            <a:srgbClr val="3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5760720" y="2194560"/>
            <a:ext cx="3840480" cy="3840480"/>
          </a:xfrm>
          <a:prstGeom prst="ellipse">
            <a:avLst/>
          </a:prstGeom>
          <a:solidFill>
            <a:srgbClr val="5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HTML Input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E8B84A"/>
                </a:solidFill>
                <a:latin typeface="Calibri"/>
              </a:rPr>
              <a:t>A quick reference for &lt;input type="..."&gt;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D9C9CF"/>
                </a:solidFill>
                <a:latin typeface="Calibri"/>
              </a:rPr>
              <a:t>Website Designing (WSD) · Semester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D9C9C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Text &amp; information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822960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text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Single-line text field (default)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type="text" name="username"&gt;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password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Hides characters as typed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type="password" name="user_pwd"&gt;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email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Email format; browser validates it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type="email" name="user_email"&gt;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url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Needs a valid absolute URL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type="url" name="website"&gt;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tel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Phone numbers; numeric keypad on mobile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type="tel" name="phone"&gt;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search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Search queries; may show a clear (X)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type="search" name="q"&gt;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Numeric &amp; selection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822960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number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Numbers only, with stepper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type="number" name="age" min="1" max="100"&gt;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range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Slider within set limits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type="range" name="volume" min="0" max="11"&gt;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checkbox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On/off; pick multiple options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type="checkbox" name="agree" value="yes"&gt;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radio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Pick one from a group (same name)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type="radio" name="gender" value="m"&gt;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color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Opens native color picker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type="color" name="theme_color"&gt;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Date, time &amp; utility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8229600" cy="2926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date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Calendar: day, month, year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type="date" name="birthday"&gt;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time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Hours and minutes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type="time" name="alarm"&gt;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datetime-local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Date + time, no timezone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type="datetime-local" name="appointment"&gt;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month / week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Month-year or week-year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type="month" name="expire_card"&gt;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file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Opens file browser to upload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type="file" name="avatar"&gt;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hidden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Invisible data sent to server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type="hidden" name="user_id" value="987"&gt;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image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Image used as submit button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type="image" src="btn.png" alt="Submit"&gt;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Action buttons &amp; key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822960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R="73152" marT="27432" marB="27432" anchor="ctr">
                    <a:solidFill>
                      <a:srgbClr val="7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submit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Sends the form data to the server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type="submit" value="Send Form"&gt;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reset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Resets fields to initial values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type="reset" value="Reset Fields"&gt;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1226"/>
                          </a:solidFill>
                          <a:latin typeface="Courier New"/>
                        </a:rPr>
                        <a:t>button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No default action; use with JavaScript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A1226"/>
                          </a:solidFill>
                          <a:latin typeface="Courier New"/>
                        </a:rPr>
                        <a:t>&lt;input type="button" value="Click Me"&gt;</a:t>
                      </a:r>
                    </a:p>
                  </a:txBody>
                  <a:tcPr marR="73152" marT="27432" marB="27432" anchor="ctr">
                    <a:solidFill>
                      <a:srgbClr val="FFF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2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0B3"/>
                </a:solidFill>
                <a:latin typeface="Calibri"/>
              </a:rPr>
              <a:t>▸  Radio buttons need the same name to form a group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0B3"/>
                </a:solidFill>
                <a:latin typeface="Calibri"/>
              </a:rPr>
              <a:t>▸  Link every input to a &lt;label&gt; using for and id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0B3"/>
                </a:solidFill>
                <a:latin typeface="Calibri"/>
              </a:rPr>
              <a:t>▸  Use required, min, max, pattern for validation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0B3"/>
                </a:solidFill>
                <a:latin typeface="Calibri"/>
              </a:rPr>
              <a:t>▸  hidden is not secure: users can edit it in dev tools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0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4A1430"/>
          </a:solidFill>
          <a:ln w="12700">
            <a:solidFill>
              <a:srgbClr val="4A14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!!blob1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5A1A38"/>
          </a:solidFill>
          <a:ln w="12700">
            <a:solidFill>
              <a:srgbClr val="5A1A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!!blob2"/>
          <p:cNvSpPr/>
          <p:nvPr/>
        </p:nvSpPr>
        <p:spPr>
          <a:xfrm>
            <a:off x="5029200" y="-1463040"/>
            <a:ext cx="2194560" cy="219456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!!label"/>
          <p:cNvSpPr txBox="1"/>
          <p:nvPr/>
        </p:nvSpPr>
        <p:spPr>
          <a:xfrm>
            <a:off x="457200" y="29260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!!title"/>
          <p:cNvSpPr txBox="1"/>
          <p:nvPr/>
        </p:nvSpPr>
        <p:spPr>
          <a:xfrm>
            <a:off x="457200" y="47715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C000"/>
                </a:solidFill>
                <a:latin typeface="Big Caslon Medium" panose="02000603090000020003" pitchFamily="2" charset="-79"/>
                <a:cs typeface="Big Caslon Medium" panose="02000603090000020003" pitchFamily="2" charset="-79"/>
              </a:rPr>
              <a:t>What we learnt?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266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9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 · W3Schools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3D1626"/>
          </a:solidFill>
          <a:ln w="12700">
            <a:solidFill>
              <a:srgbClr val="5A2A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46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form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7876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D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97876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radio, date, file...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4944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D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944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drop-down list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01020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01020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text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2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D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52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button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0416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04165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controls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Practice 1: Login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914400" cy="292608"/>
          </a:xfrm>
          <a:prstGeom prst="round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2B0F1A"/>
                </a:solidFill>
                <a:latin typeface="Calibri"/>
              </a:rP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Create a login form with a username, a password and a Login button.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7A1F3D"/>
                </a:solidFill>
                <a:latin typeface="Calibri"/>
              </a:rPr>
              <a:t>USE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1226"/>
                </a:solidFill>
                <a:latin typeface="Courier New"/>
              </a:rPr>
              <a:t>text · password · submit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DC424B-0EF2-86A4-26BC-EF882AE1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89892"/>
            <a:ext cx="4971393" cy="2963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Practice 2: Quick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914400" cy="292608"/>
          </a:xfrm>
          <a:prstGeom prst="round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2B0F1A"/>
                </a:solidFill>
                <a:latin typeface="Calibri"/>
              </a:rP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Create a poll where the user picks one favourite language and any number of hobbies.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7A1F3D"/>
                </a:solidFill>
                <a:latin typeface="Calibri"/>
              </a:rPr>
              <a:t>USE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1226"/>
                </a:solidFill>
                <a:latin typeface="Courier New"/>
              </a:rPr>
              <a:t>radio · checkbox · submit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AF29BA-834E-438B-289F-13A0E2A4B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519" y="1188720"/>
            <a:ext cx="5162441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Practice 3: Student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914400" cy="292608"/>
          </a:xfrm>
          <a:prstGeom prst="roundRect">
            <a:avLst/>
          </a:prstGeom>
          <a:solidFill>
            <a:srgbClr val="7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Create a registration form with name, email, phone, date of birth, a course dropdown and an address.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7A1F3D"/>
                </a:solidFill>
                <a:latin typeface="Calibri"/>
              </a:rPr>
              <a:t>USE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1226"/>
                </a:solidFill>
                <a:latin typeface="Courier New"/>
              </a:rPr>
              <a:t>text · email · tel · date · select · textarea · submit · reset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62BB5A-F0B3-BCFD-5346-273E2C0D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047" y="1216694"/>
            <a:ext cx="4929723" cy="3223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Practice 4: Product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914400" cy="292608"/>
          </a:xfrm>
          <a:prstGeom prst="roundRect">
            <a:avLst/>
          </a:prstGeom>
          <a:solidFill>
            <a:srgbClr val="7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Create a feedback form with a rating slider, quantity, favourite colour, photo upload and a required agree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7A1F3D"/>
                </a:solidFill>
                <a:latin typeface="Calibri"/>
              </a:rPr>
              <a:t>USE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1226"/>
                </a:solidFill>
                <a:latin typeface="Courier New"/>
              </a:rPr>
              <a:t>range · number · color · file · checkbox · required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E295C-7B27-29E6-A4BB-A6D95593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217" y="1127840"/>
            <a:ext cx="5221342" cy="32131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486400" y="-1645920"/>
            <a:ext cx="2377440" cy="237744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7498079" y="3566160"/>
            <a:ext cx="3108960" cy="3108960"/>
          </a:xfrm>
          <a:prstGeom prst="ellipse">
            <a:avLst/>
          </a:prstGeom>
          <a:solidFill>
            <a:srgbClr val="FFF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4A1226"/>
                </a:solidFill>
                <a:latin typeface="Cambria"/>
              </a:rPr>
              <a:t>Practice 5: Event booking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6A72"/>
                </a:solidFill>
                <a:latin typeface="Calibri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914400" cy="292608"/>
          </a:xfrm>
          <a:prstGeom prst="roundRect">
            <a:avLst/>
          </a:prstGeom>
          <a:solidFill>
            <a:srgbClr val="2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E8B84A"/>
                </a:solidFill>
                <a:latin typeface="Calibri"/>
              </a:rPr>
              <a:t>Hard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Create a booking form with two fieldsets: Your details and Booking. Link every label with for and id, make key fields required, and use method="post" with an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7A1F3D"/>
                </a:solidFill>
                <a:latin typeface="Calibri"/>
              </a:rPr>
              <a:t>USE THESE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2004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4A1226"/>
                </a:solidFill>
                <a:latin typeface="Courier New"/>
              </a:rPr>
              <a:t>text · password · email · </a:t>
            </a:r>
            <a:r>
              <a:rPr lang="en-US" sz="1100" dirty="0" err="1">
                <a:solidFill>
                  <a:srgbClr val="4A1226"/>
                </a:solidFill>
                <a:latin typeface="Courier New"/>
              </a:rPr>
              <a:t>url</a:t>
            </a:r>
            <a:r>
              <a:rPr lang="en-US" sz="1100" dirty="0">
                <a:solidFill>
                  <a:srgbClr val="4A1226"/>
                </a:solidFill>
                <a:latin typeface="Courier New"/>
              </a:rPr>
              <a:t> · </a:t>
            </a:r>
            <a:r>
              <a:rPr lang="en-US" sz="1100" dirty="0" err="1">
                <a:solidFill>
                  <a:srgbClr val="4A1226"/>
                </a:solidFill>
                <a:latin typeface="Courier New"/>
              </a:rPr>
              <a:t>tel</a:t>
            </a:r>
            <a:r>
              <a:rPr lang="en-US" sz="1100" dirty="0">
                <a:solidFill>
                  <a:srgbClr val="4A1226"/>
                </a:solidFill>
                <a:latin typeface="Courier New"/>
              </a:rPr>
              <a:t> · search · number · range · color · checkbox · radio · date · time · datetime-local · month · week · file · hidden · image · submit · reset · button</a:t>
            </a:r>
            <a:endParaRPr sz="1100" b="0" dirty="0">
              <a:solidFill>
                <a:srgbClr val="4A1226"/>
              </a:solidFill>
              <a:latin typeface="Courier New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6D91C8-59B3-1FA7-EEC8-6F3FFFE4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5218314" cy="3703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23454-C51B-62B8-4058-F4B7B493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24823"/>
            <a:ext cx="3971037" cy="409385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857250"/>
            <a:ext cx="0" cy="3429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6F2B23C-CB76-5839-FCC6-32A6B0CF1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036" y="482600"/>
            <a:ext cx="2851689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4094</Words>
  <Application>Microsoft Office PowerPoint</Application>
  <PresentationFormat>On-screen Show (16:9)</PresentationFormat>
  <Paragraphs>797</Paragraphs>
  <Slides>38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Big Caslon Medium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JANAK MEVADA-57507260085</cp:lastModifiedBy>
  <cp:revision>23</cp:revision>
  <dcterms:created xsi:type="dcterms:W3CDTF">2026-09-29T12:02:26Z</dcterms:created>
  <dcterms:modified xsi:type="dcterms:W3CDTF">2026-10-01T17:21:11Z</dcterms:modified>
</cp:coreProperties>
</file>